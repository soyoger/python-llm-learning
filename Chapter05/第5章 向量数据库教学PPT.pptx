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20.svg" ContentType="image/svg+xml"/>
  <Override PartName="/ppt/media/image122.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6.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6.svg" ContentType="image/svg+xml"/>
  <Override PartName="/ppt/media/image48.svg" ContentType="image/svg+xml"/>
  <Override PartName="/ppt/media/image50.svg" ContentType="image/svg+xml"/>
  <Override PartName="/ppt/media/image53.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6.svg" ContentType="image/svg+xml"/>
  <Override PartName="/ppt/media/image88.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本次课程。今天我们将学习第五章的内容——向量数据库。随着人工智能技术的飞速发展，向量数据库作为支撑大语言模型等应用的关键技术，其重要性日益凸显。本章节将带领大家深入了解向量数据库的基本概念、核心原理以及实际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三个部分。首先，我们会介绍向量数据库的基本概念、特点以及它与传统数据库的区别和应用场景。接着，我们将深入探讨向量数据库的核心原理，包括向量距离的度量方法和相似度搜索算法。最后，我们将以Faiss为例，介绍向量数据库的实际应用和操作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现在我们进入第一章节：向量数据库简介。在这一部分，我们将了解向量数据库是如何产生的，它具有哪些独特的特点，以及它与我们熟悉的传统数据库有何不同，最后探讨它在实际中的应用场景。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什么是向量数据库。随着互联网的发展，非结构化数据激增，传统数据库已无法满足需求，新型数据库技术应运而生。向量数据库并非新概念，但随着大语言模型的兴起，它因能有效解决模型的上下文限制问题而变得至关重要。它的核心功能就是存储和高效检索向量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向量数据库之所以强大，是因为它具备一系列独特的特点。它采用向量化存储和索引技术，能够高效处理高维向量数据，这对于人工智能应用至关重要。同时，它还具备高性能、灵活性和可扩展性等优势，使其能够适应各种复杂的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为了更好地理解向量数据库，我们将它与传统的关系型数据库和NoSQL数据库进行对比。首先看数据存储方式，关系型数据库使用二维表格，NoSQL提供多种灵活的数据模型，而向量数据库则专注于高维向量的存储。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数据处理方面，关系型数据库擅长事务处理和复杂查询，但在大规模数据面前性能不足。NoSQL数据库则在扩展性和灵活性上表现出色。而向量数据库的核心优势在于对向量数据的高效处理和检索，这正是人工智能应用所需要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查询和索引方面，关系型数据库依赖SQL和B+树索引，适合关键字搜索。NoSQL数据库提供了更多样化的查询方式。而向量数据库则采用专门的向量索引技术，如近似最近邻搜索，来实现高效的相似性检索，这是其区别于其他数据库的关键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看适用场景。关系型数据库适用于传统的企业应用和事务处理。NoSQL数据库适合处理大规模的分布式数据。而向量数据库则在处理高维向量数据的检索方面表现突出，是构建智能推荐、语义搜索等AI应用的理想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在实际应用中我们如何选择数据库呢？以一个博客系统为例，后台管理适合用关系型数据库，全文检索适合用NoSQL，而如果要增加智能问答功能，则向量数据库是最佳选择。除了这个例子，向量数据库在推荐系统、人脸识别等多个领域都有广泛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了解了向量数据库的基本概念后，我们将深入其核心原理部分。这一章节将重点讲解向量之间是如何度量距离的，以及有哪些高效的相似度搜索算法来支撑向量数据库的快速检索能力。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介绍最常用的距离度量方法——欧式距离。它就像我们在几何空间中计算两点之间的直线距离一样，直观易懂。这里给出了它的数学公式和Python代码实现，大家可以看到，使用scipy库可以很方便地计算两个向量之间的欧式距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接下来是曼哈顿距离，它模拟的是在城市街区中，只能沿着街道行走的最短路径长度。它的计算方式是将两个向量在每个维度上的差值的绝对值相加。同样，我们也可以用scipy库轻松实现。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汉明距离主要用于比较两个等长的字符串或向量，计算它们在对应位置上有多少个元素是不同的。这种距离度量在信息编码和错误检测等领域非常有用。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切比雪夫距离关注的是两个向量在所有维度上差异最大的那个维度的值。它就像国际象棋中王的移动方式，可以横向、纵向或斜向移动一格，所以也叫棋盘距离。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介绍余弦距离，它实际上衡量的是两个向量方向的相似度，而不是它们之间的绝对距离。在文本相似度计算、推荐系统等领域，余弦相似度应用非常广泛。这里的代码返回的是余弦相似度，即1减去scipy库计算的余弦距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向量距离的度量方法后，我们来探讨如何高效地进行相似度搜索。向量数据库的核心流程是转换、存储和检索。但如果对海量数据进行暴力搜索，计算量会非常巨大。因此，我们需要高效的相似度搜索算法来解决这个问题，这也是向量数据库技术的核心所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基础的相似度搜索算法是K近邻算法，即KNN。它的思路很简单，就是计算查询向量与数据库中所有向量的距离，然后选出最近的k个。虽然结果准确，但它的计算量与数据量成正比，在数据量大时速度很慢，因此只适用于小规模数据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提高搜索效率，出现了许多近似最近邻搜索算法，HNSW就是其中的代表。它通过构建一个多层的图结构，将相似的向量连接起来，从而实现快速的近似搜索。这种方法是典型的“空间换时间”策略，虽然构建索引和占用内存的代价较高，但搜索速度和召回率都非常出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一种重要的近似算法是局部敏感哈希，即LSH。它的核心思想是通过哈希函数，让相似的向量有更大的概率被映射到同一个哈希值，从而可以快速缩小搜索范围。LSH算法速度快，内存效率高，适合处理大规模数据集的离线检索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前面介绍的几种算法，还有一些其他的方法也被用于相似度搜索。例如，倒排索引可以根据特征值快速定位相关向量，而向量量化方法则通过将向量空间划分成更小的区域来加速搜索。这些方法各有优劣，在实际应用中可以根据需求选择合适的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学习了理论知识后，我们将进入实践环节。在这一章节，我们将以目前非常流行的Faiss向量数据库为例，详细介绍如何在实际项目中使用向量数据库进行向量的存储和检索。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首先，我们来认识一下Faiss。它是由Facebook开源的一款高性能向量检索库，能够处理十亿级别的向量数据，并且支持GPU加速，是目前应用非常广泛的向量数据库之一。这里给出了它的CPU和GPU版本的安装命令。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一个简单的入门案例来学习Faiss的基本使用流程。整个过程分为三步：首先导入必要的库并生成模拟的向量数据；然后创建一个索引并将数据库向量添加进去；最后执行搜索，获取与查询向量最相似的Top-K结果。这个例子展示了Faiss使用的基本范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Faiss内置了多种我们之前学习过的距离度量方法，如欧式距离、曼哈顿距离、余弦相似度等。在创建索引时，我们可以通过指定MetricType来选择合适的度量方式，以满足不同的应用需求。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aiss提供了多种不同类型的索引，以适应不同的场景需求。比如，Flat索引结果最准确但效率低，适合小数据；HNSW索引速度快、召回率高，但内存占用大；PQ索引则在速度和内存上做了很好的平衡。选择合适的索引类型是优化Faiss性能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应用中，我们常常需要创建更复杂的索引结构。Faiss提供了索引工厂（index_factory）来简化这一过程。此外，Faiss还支持索引的写入、读取、克隆以及在CPU和GPU之间转换等操作，方便我们进行模型的保存、加载和部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实际部署中，为了让Faiss发挥最佳性能，我们需要进行一些优化。这包括调整索引的参数来找到速度和精度的最佳平衡点，利用Faiss的并行化能力来加速计算，以及对输入数据进行适当的预处理等。这些优化手段对于构建高性能的向量检索系统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最后，我们来总结一下本次学习的核心内容。我们了解了向量数据库的基本概念和特点，学习了向量距离的度量方法和关键的相似度搜索算法，并通过Faiss这个实际案例，掌握了向量数据库在项目中的应用和优化技巧。希望大家能够将这些知识应用到实际的AI项目开发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本次课程到此结束，感谢大家的聆听。接下来是问答环节，大家有任何问题都可以提出来，我们一起交流探讨。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3.svg"/><Relationship Id="rId7"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2.svg"/><Relationship Id="rId10" Type="http://schemas.openxmlformats.org/officeDocument/2006/relationships/notesSlide" Target="../notesSlides/notesSlide2.xml"/><Relationship Id="rId1" Type="http://schemas.openxmlformats.org/officeDocument/2006/relationships/image" Target="../media/image7.pn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1.svg"/><Relationship Id="rId7" Type="http://schemas.openxmlformats.org/officeDocument/2006/relationships/image" Target="../media/image20.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image" Target="../media/image15.svg"/><Relationship Id="rId10" Type="http://schemas.openxmlformats.org/officeDocument/2006/relationships/notesSlide" Target="../notesSlides/notesSlide3.xml"/><Relationship Id="rId1"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4.png"/><Relationship Id="rId4" Type="http://schemas.openxmlformats.org/officeDocument/2006/relationships/image" Target="../media/image2.svg"/><Relationship Id="rId3" Type="http://schemas.openxmlformats.org/officeDocument/2006/relationships/image" Target="../media/image7.png"/><Relationship Id="rId2" Type="http://schemas.openxmlformats.org/officeDocument/2006/relationships/image" Target="../media/image23.svg"/><Relationship Id="rId1" Type="http://schemas.openxmlformats.org/officeDocument/2006/relationships/image" Target="../media/image22.png"/></Relationships>
</file>

<file path=ppt/slides/_rels/slide5.xml.rels><?xml version="1.0" encoding="UTF-8" standalone="yes"?>
<Relationships xmlns="http://schemas.openxmlformats.org/package/2006/relationships"><Relationship Id="rId9" Type="http://schemas.openxmlformats.org/officeDocument/2006/relationships/image" Target="../media/image30.png"/><Relationship Id="rId8" Type="http://schemas.openxmlformats.org/officeDocument/2006/relationships/image" Target="../media/image29.svg"/><Relationship Id="rId7" Type="http://schemas.openxmlformats.org/officeDocument/2006/relationships/image" Target="../media/image28.png"/><Relationship Id="rId6" Type="http://schemas.openxmlformats.org/officeDocument/2006/relationships/image" Target="../media/image11.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svg"/><Relationship Id="rId14" Type="http://schemas.openxmlformats.org/officeDocument/2006/relationships/notesSlide" Target="../notesSlides/notesSlide5.xml"/><Relationship Id="rId13" Type="http://schemas.openxmlformats.org/officeDocument/2006/relationships/slideLayout" Target="../slideLayouts/slideLayout12.xml"/><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image" Target="../media/image31.sv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svg"/><Relationship Id="rId3" Type="http://schemas.openxmlformats.org/officeDocument/2006/relationships/image" Target="../media/image7.png"/><Relationship Id="rId2" Type="http://schemas.openxmlformats.org/officeDocument/2006/relationships/image" Target="../media/image35.svg"/><Relationship Id="rId1"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2.sv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37.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 Type="http://schemas.openxmlformats.org/officeDocument/2006/relationships/image" Target="../media/image2.sv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image" Target="../media/image46.svg"/><Relationship Id="rId3" Type="http://schemas.openxmlformats.org/officeDocument/2006/relationships/image" Target="../media/image45.png"/><Relationship Id="rId2" Type="http://schemas.openxmlformats.org/officeDocument/2006/relationships/image" Target="../media/image2.sv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31.svg"/><Relationship Id="rId7" Type="http://schemas.openxmlformats.org/officeDocument/2006/relationships/image" Target="../media/image54.png"/><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26.svg"/><Relationship Id="rId3" Type="http://schemas.openxmlformats.org/officeDocument/2006/relationships/image" Target="../media/image51.png"/><Relationship Id="rId2" Type="http://schemas.openxmlformats.org/officeDocument/2006/relationships/image" Target="../media/image50.svg"/><Relationship Id="rId16" Type="http://schemas.openxmlformats.org/officeDocument/2006/relationships/notesSlide" Target="../notesSlides/notesSlide10.xml"/><Relationship Id="rId15" Type="http://schemas.openxmlformats.org/officeDocument/2006/relationships/slideLayout" Target="../slideLayouts/slideLayout12.xml"/><Relationship Id="rId14" Type="http://schemas.openxmlformats.org/officeDocument/2006/relationships/image" Target="../media/image60.svg"/><Relationship Id="rId13" Type="http://schemas.openxmlformats.org/officeDocument/2006/relationships/image" Target="../media/image59.png"/><Relationship Id="rId12" Type="http://schemas.openxmlformats.org/officeDocument/2006/relationships/image" Target="../media/image58.svg"/><Relationship Id="rId11" Type="http://schemas.openxmlformats.org/officeDocument/2006/relationships/image" Target="../media/image57.png"/><Relationship Id="rId10" Type="http://schemas.openxmlformats.org/officeDocument/2006/relationships/image" Target="../media/image56.svg"/><Relationship Id="rId1" Type="http://schemas.openxmlformats.org/officeDocument/2006/relationships/image" Target="../media/image49.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image" Target="../media/image26.svg"/><Relationship Id="rId3" Type="http://schemas.openxmlformats.org/officeDocument/2006/relationships/image" Target="../media/image51.png"/><Relationship Id="rId2" Type="http://schemas.openxmlformats.org/officeDocument/2006/relationships/image" Target="../media/image62.svg"/><Relationship Id="rId1" Type="http://schemas.openxmlformats.org/officeDocument/2006/relationships/image" Target="../media/image61.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62.svg"/><Relationship Id="rId1" Type="http://schemas.openxmlformats.org/officeDocument/2006/relationships/image" Target="../media/image6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69.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68.svg"/><Relationship Id="rId1" Type="http://schemas.openxmlformats.org/officeDocument/2006/relationships/image" Target="../media/image67.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73.svg"/><Relationship Id="rId3" Type="http://schemas.openxmlformats.org/officeDocument/2006/relationships/image" Target="../media/image72.png"/><Relationship Id="rId2" Type="http://schemas.openxmlformats.org/officeDocument/2006/relationships/image" Target="../media/image71.svg"/><Relationship Id="rId1"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75.svg"/><Relationship Id="rId1" Type="http://schemas.openxmlformats.org/officeDocument/2006/relationships/image" Target="../media/image74.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77.svg"/><Relationship Id="rId1" Type="http://schemas.openxmlformats.org/officeDocument/2006/relationships/image" Target="../media/image76.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51.png"/><Relationship Id="rId4" Type="http://schemas.openxmlformats.org/officeDocument/2006/relationships/image" Target="../media/image81.svg"/><Relationship Id="rId3" Type="http://schemas.openxmlformats.org/officeDocument/2006/relationships/image" Target="../media/image80.png"/><Relationship Id="rId2" Type="http://schemas.openxmlformats.org/officeDocument/2006/relationships/image" Target="../media/image79.svg"/><Relationship Id="rId1" Type="http://schemas.openxmlformats.org/officeDocument/2006/relationships/image" Target="../media/image78.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6.svg"/><Relationship Id="rId7" Type="http://schemas.openxmlformats.org/officeDocument/2006/relationships/image" Target="../media/image85.png"/><Relationship Id="rId6" Type="http://schemas.openxmlformats.org/officeDocument/2006/relationships/image" Target="../media/image19.svg"/><Relationship Id="rId5" Type="http://schemas.openxmlformats.org/officeDocument/2006/relationships/image" Target="../media/image84.png"/><Relationship Id="rId4" Type="http://schemas.openxmlformats.org/officeDocument/2006/relationships/image" Target="../media/image83.svg"/><Relationship Id="rId3" Type="http://schemas.openxmlformats.org/officeDocument/2006/relationships/image" Target="../media/image82.png"/><Relationship Id="rId2" Type="http://schemas.openxmlformats.org/officeDocument/2006/relationships/image" Target="../media/image11.svg"/><Relationship Id="rId10" Type="http://schemas.openxmlformats.org/officeDocument/2006/relationships/notesSlide" Target="../notesSlides/notesSlide18.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9.svg"/><Relationship Id="rId7" Type="http://schemas.openxmlformats.org/officeDocument/2006/relationships/image" Target="../media/image89.png"/><Relationship Id="rId6" Type="http://schemas.openxmlformats.org/officeDocument/2006/relationships/image" Target="../media/image19.svg"/><Relationship Id="rId5" Type="http://schemas.openxmlformats.org/officeDocument/2006/relationships/image" Target="../media/image84.png"/><Relationship Id="rId4" Type="http://schemas.openxmlformats.org/officeDocument/2006/relationships/image" Target="../media/image88.svg"/><Relationship Id="rId3" Type="http://schemas.openxmlformats.org/officeDocument/2006/relationships/image" Target="../media/image87.png"/><Relationship Id="rId2" Type="http://schemas.openxmlformats.org/officeDocument/2006/relationships/image" Target="../media/image11.svg"/><Relationship Id="rId10" Type="http://schemas.openxmlformats.org/officeDocument/2006/relationships/notesSlide" Target="../notesSlides/notesSlide19.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6.svg"/><Relationship Id="rId7" Type="http://schemas.openxmlformats.org/officeDocument/2006/relationships/image" Target="../media/image85.png"/><Relationship Id="rId6" Type="http://schemas.openxmlformats.org/officeDocument/2006/relationships/image" Target="../media/image19.svg"/><Relationship Id="rId5" Type="http://schemas.openxmlformats.org/officeDocument/2006/relationships/image" Target="../media/image84.png"/><Relationship Id="rId4" Type="http://schemas.openxmlformats.org/officeDocument/2006/relationships/image" Target="../media/image88.svg"/><Relationship Id="rId3" Type="http://schemas.openxmlformats.org/officeDocument/2006/relationships/image" Target="../media/image87.png"/><Relationship Id="rId2" Type="http://schemas.openxmlformats.org/officeDocument/2006/relationships/image" Target="../media/image91.svg"/><Relationship Id="rId10" Type="http://schemas.openxmlformats.org/officeDocument/2006/relationships/notesSlide" Target="../notesSlides/notesSlide20.xml"/><Relationship Id="rId1" Type="http://schemas.openxmlformats.org/officeDocument/2006/relationships/image" Target="../media/image90.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2.xml"/><Relationship Id="rId4" Type="http://schemas.openxmlformats.org/officeDocument/2006/relationships/image" Target="../media/image77.svg"/><Relationship Id="rId3" Type="http://schemas.openxmlformats.org/officeDocument/2006/relationships/image" Target="../media/image76.png"/><Relationship Id="rId2" Type="http://schemas.openxmlformats.org/officeDocument/2006/relationships/image" Target="../media/image91.svg"/><Relationship Id="rId1" Type="http://schemas.openxmlformats.org/officeDocument/2006/relationships/image" Target="../media/image90.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51.png"/><Relationship Id="rId4" Type="http://schemas.openxmlformats.org/officeDocument/2006/relationships/image" Target="../media/image39.svg"/><Relationship Id="rId3" Type="http://schemas.openxmlformats.org/officeDocument/2006/relationships/image" Target="../media/image89.png"/><Relationship Id="rId2" Type="http://schemas.openxmlformats.org/officeDocument/2006/relationships/image" Target="../media/image2.sv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12.xml"/><Relationship Id="rId6" Type="http://schemas.openxmlformats.org/officeDocument/2006/relationships/image" Target="../media/image93.svg"/><Relationship Id="rId5" Type="http://schemas.openxmlformats.org/officeDocument/2006/relationships/image" Target="../media/image92.png"/><Relationship Id="rId4" Type="http://schemas.openxmlformats.org/officeDocument/2006/relationships/image" Target="../media/image17.svg"/><Relationship Id="rId3" Type="http://schemas.openxmlformats.org/officeDocument/2006/relationships/image" Target="../media/image24.png"/><Relationship Id="rId2" Type="http://schemas.openxmlformats.org/officeDocument/2006/relationships/image" Target="../media/image71.svg"/><Relationship Id="rId1" Type="http://schemas.openxmlformats.org/officeDocument/2006/relationships/image" Target="../media/image70.pn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51.png"/><Relationship Id="rId4" Type="http://schemas.openxmlformats.org/officeDocument/2006/relationships/image" Target="../media/image2.svg"/><Relationship Id="rId3" Type="http://schemas.openxmlformats.org/officeDocument/2006/relationships/image" Target="../media/image7.png"/><Relationship Id="rId2" Type="http://schemas.openxmlformats.org/officeDocument/2006/relationships/image" Target="../media/image66.svg"/><Relationship Id="rId1" Type="http://schemas.openxmlformats.org/officeDocument/2006/relationships/image" Target="../media/image65.png"/></Relationships>
</file>

<file path=ppt/slides/_rels/slide25.xml.rels><?xml version="1.0" encoding="UTF-8" standalone="yes"?>
<Relationships xmlns="http://schemas.openxmlformats.org/package/2006/relationships"><Relationship Id="rId9" Type="http://schemas.openxmlformats.org/officeDocument/2006/relationships/image" Target="../media/image100.png"/><Relationship Id="rId8" Type="http://schemas.openxmlformats.org/officeDocument/2006/relationships/image" Target="../media/image99.svg"/><Relationship Id="rId7" Type="http://schemas.openxmlformats.org/officeDocument/2006/relationships/image" Target="../media/image98.png"/><Relationship Id="rId6" Type="http://schemas.openxmlformats.org/officeDocument/2006/relationships/image" Target="../media/image97.svg"/><Relationship Id="rId5" Type="http://schemas.openxmlformats.org/officeDocument/2006/relationships/image" Target="../media/image96.png"/><Relationship Id="rId4" Type="http://schemas.openxmlformats.org/officeDocument/2006/relationships/image" Target="../media/image95.svg"/><Relationship Id="rId3" Type="http://schemas.openxmlformats.org/officeDocument/2006/relationships/image" Target="../media/image94.png"/><Relationship Id="rId2" Type="http://schemas.openxmlformats.org/officeDocument/2006/relationships/image" Target="../media/image77.svg"/><Relationship Id="rId14" Type="http://schemas.openxmlformats.org/officeDocument/2006/relationships/notesSlide" Target="../notesSlides/notesSlide25.xml"/><Relationship Id="rId13" Type="http://schemas.openxmlformats.org/officeDocument/2006/relationships/slideLayout" Target="../slideLayouts/slideLayout12.xml"/><Relationship Id="rId12" Type="http://schemas.openxmlformats.org/officeDocument/2006/relationships/image" Target="../media/image103.svg"/><Relationship Id="rId11" Type="http://schemas.openxmlformats.org/officeDocument/2006/relationships/image" Target="../media/image102.png"/><Relationship Id="rId10" Type="http://schemas.openxmlformats.org/officeDocument/2006/relationships/image" Target="../media/image101.svg"/><Relationship Id="rId1" Type="http://schemas.openxmlformats.org/officeDocument/2006/relationships/image" Target="../media/image76.png"/></Relationships>
</file>

<file path=ppt/slides/_rels/slide26.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svg"/><Relationship Id="rId7" Type="http://schemas.openxmlformats.org/officeDocument/2006/relationships/image" Target="../media/image104.png"/><Relationship Id="rId6" Type="http://schemas.openxmlformats.org/officeDocument/2006/relationships/image" Target="../media/image88.svg"/><Relationship Id="rId5" Type="http://schemas.openxmlformats.org/officeDocument/2006/relationships/image" Target="../media/image87.png"/><Relationship Id="rId4" Type="http://schemas.openxmlformats.org/officeDocument/2006/relationships/image" Target="../media/image91.svg"/><Relationship Id="rId3" Type="http://schemas.openxmlformats.org/officeDocument/2006/relationships/image" Target="../media/image90.png"/><Relationship Id="rId2" Type="http://schemas.openxmlformats.org/officeDocument/2006/relationships/image" Target="../media/image73.svg"/><Relationship Id="rId14" Type="http://schemas.openxmlformats.org/officeDocument/2006/relationships/notesSlide" Target="../notesSlides/notesSlide26.xml"/><Relationship Id="rId13" Type="http://schemas.openxmlformats.org/officeDocument/2006/relationships/slideLayout" Target="../slideLayouts/slideLayout12.xml"/><Relationship Id="rId12" Type="http://schemas.openxmlformats.org/officeDocument/2006/relationships/image" Target="../media/image31.svg"/><Relationship Id="rId11" Type="http://schemas.openxmlformats.org/officeDocument/2006/relationships/image" Target="../media/image54.png"/><Relationship Id="rId10" Type="http://schemas.openxmlformats.org/officeDocument/2006/relationships/image" Target="../media/image107.svg"/><Relationship Id="rId1" Type="http://schemas.openxmlformats.org/officeDocument/2006/relationships/image" Target="../media/image72.png"/></Relationships>
</file>

<file path=ppt/slides/_rels/slide27.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115.svg"/><Relationship Id="rId7" Type="http://schemas.openxmlformats.org/officeDocument/2006/relationships/image" Target="../media/image114.png"/><Relationship Id="rId6" Type="http://schemas.openxmlformats.org/officeDocument/2006/relationships/image" Target="../media/image113.svg"/><Relationship Id="rId5" Type="http://schemas.openxmlformats.org/officeDocument/2006/relationships/image" Target="../media/image112.png"/><Relationship Id="rId4" Type="http://schemas.openxmlformats.org/officeDocument/2006/relationships/image" Target="../media/image111.svg"/><Relationship Id="rId3" Type="http://schemas.openxmlformats.org/officeDocument/2006/relationships/image" Target="../media/image110.png"/><Relationship Id="rId2" Type="http://schemas.openxmlformats.org/officeDocument/2006/relationships/image" Target="../media/image109.svg"/><Relationship Id="rId14" Type="http://schemas.openxmlformats.org/officeDocument/2006/relationships/notesSlide" Target="../notesSlides/notesSlide27.xml"/><Relationship Id="rId13" Type="http://schemas.openxmlformats.org/officeDocument/2006/relationships/slideLayout" Target="../slideLayouts/slideLayout12.xml"/><Relationship Id="rId12" Type="http://schemas.openxmlformats.org/officeDocument/2006/relationships/image" Target="../media/image17.svg"/><Relationship Id="rId11" Type="http://schemas.openxmlformats.org/officeDocument/2006/relationships/image" Target="../media/image24.png"/><Relationship Id="rId10" Type="http://schemas.openxmlformats.org/officeDocument/2006/relationships/image" Target="../media/image117.svg"/><Relationship Id="rId1" Type="http://schemas.openxmlformats.org/officeDocument/2006/relationships/image" Target="../media/image108.pn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2.xml"/><Relationship Id="rId6" Type="http://schemas.openxmlformats.org/officeDocument/2006/relationships/image" Target="../media/image120.svg"/><Relationship Id="rId5" Type="http://schemas.openxmlformats.org/officeDocument/2006/relationships/image" Target="../media/image119.png"/><Relationship Id="rId4" Type="http://schemas.openxmlformats.org/officeDocument/2006/relationships/image" Target="../media/image29.svg"/><Relationship Id="rId3" Type="http://schemas.openxmlformats.org/officeDocument/2006/relationships/image" Target="../media/image118.png"/><Relationship Id="rId2" Type="http://schemas.openxmlformats.org/officeDocument/2006/relationships/image" Target="../media/image103.svg"/><Relationship Id="rId1" Type="http://schemas.openxmlformats.org/officeDocument/2006/relationships/image" Target="../media/image102.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69.png"/><Relationship Id="rId4" Type="http://schemas.openxmlformats.org/officeDocument/2006/relationships/image" Target="../media/image79.svg"/><Relationship Id="rId3" Type="http://schemas.openxmlformats.org/officeDocument/2006/relationships/image" Target="../media/image78.png"/><Relationship Id="rId2" Type="http://schemas.openxmlformats.org/officeDocument/2006/relationships/image" Target="../media/image2.svg"/><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122.svg"/><Relationship Id="rId1"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032000" y="1143000"/>
            <a:ext cx="8128000" cy="4572000"/>
          </a:xfrm>
          <a:prstGeom prst="roundRect">
            <a:avLst>
              <a:gd name="adj" fmla="val 5555"/>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6" name="AutoShape 6"/>
          <p:cNvSpPr/>
          <p:nvPr/>
        </p:nvSpPr>
        <p:spPr>
          <a:xfrm>
            <a:off x="2540000" y="2413000"/>
            <a:ext cx="711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288D1"/>
                </a:solidFill>
                <a:latin typeface="Noto Sans SC"/>
                <a:ea typeface="Noto Sans SC"/>
                <a:cs typeface="Noto Sans SC"/>
                <a:sym typeface="Noto Sans SC"/>
              </a:rPr>
              <a:t>第5章 向量数据库</a:t>
            </a:r>
            <a:endParaRPr lang="en-US" sz="1100"/>
          </a:p>
        </p:txBody>
      </p:sp>
      <p:sp>
        <p:nvSpPr>
          <p:cNvPr id="7" name="AutoShape 7"/>
          <p:cNvSpPr/>
          <p:nvPr/>
        </p:nvSpPr>
        <p:spPr>
          <a:xfrm>
            <a:off x="2540000" y="3175000"/>
            <a:ext cx="711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757575"/>
                </a:solidFill>
                <a:latin typeface="Noto Sans SC"/>
                <a:ea typeface="Noto Sans SC"/>
                <a:cs typeface="Noto Sans SC"/>
                <a:sym typeface="Noto Sans SC"/>
              </a:rPr>
              <a:t>大学教学课件</a:t>
            </a:r>
            <a:endParaRPr lang="en-US" sz="1100"/>
          </a:p>
        </p:txBody>
      </p:sp>
      <p:cxnSp>
        <p:nvCxnSpPr>
          <p:cNvPr id="8" name="Connector 8"/>
          <p:cNvCxnSpPr/>
          <p:nvPr/>
        </p:nvCxnSpPr>
        <p:spPr>
          <a:xfrm rot="-8594">
            <a:off x="3556008" y="3803650"/>
            <a:ext cx="5080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4064000"/>
            <a:ext cx="254000" cy="254000"/>
          </a:xfrm>
          <a:prstGeom prst="rect">
            <a:avLst/>
          </a:prstGeom>
        </p:spPr>
      </p:pic>
      <p:sp>
        <p:nvSpPr>
          <p:cNvPr id="10" name="AutoShape 10"/>
          <p:cNvSpPr/>
          <p:nvPr/>
        </p:nvSpPr>
        <p:spPr>
          <a:xfrm>
            <a:off x="3873500" y="4038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讲师：[讲师姓名]</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4064000"/>
            <a:ext cx="254000" cy="254000"/>
          </a:xfrm>
          <a:prstGeom prst="rect">
            <a:avLst/>
          </a:prstGeom>
        </p:spPr>
      </p:pic>
      <p:sp>
        <p:nvSpPr>
          <p:cNvPr id="12" name="AutoShape 12"/>
          <p:cNvSpPr/>
          <p:nvPr/>
        </p:nvSpPr>
        <p:spPr>
          <a:xfrm>
            <a:off x="6667500" y="4038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757575"/>
                </a:solidFill>
                <a:latin typeface="Noto Sans SC"/>
                <a:ea typeface="Noto Sans SC"/>
                <a:cs typeface="Noto Sans SC"/>
                <a:sym typeface="Noto Sans SC"/>
              </a:rPr>
              <a:t>日期：2026年3月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目录</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778000"/>
            <a:ext cx="33020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108200"/>
            <a:ext cx="406400" cy="406400"/>
          </a:xfrm>
          <a:prstGeom prst="rect">
            <a:avLst/>
          </a:prstGeom>
        </p:spPr>
      </p:pic>
      <p:sp>
        <p:nvSpPr>
          <p:cNvPr id="6" name="AutoShape 6"/>
          <p:cNvSpPr/>
          <p:nvPr/>
        </p:nvSpPr>
        <p:spPr>
          <a:xfrm>
            <a:off x="1524000" y="20828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5.1 向量数据库简介</a:t>
            </a:r>
            <a:endParaRPr lang="en-US" sz="1100"/>
          </a:p>
        </p:txBody>
      </p:sp>
      <p:cxnSp>
        <p:nvCxnSpPr>
          <p:cNvPr id="7" name="Connector 7"/>
          <p:cNvCxnSpPr/>
          <p:nvPr/>
        </p:nvCxnSpPr>
        <p:spPr>
          <a:xfrm rot="-15626">
            <a:off x="1016014" y="25971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794000"/>
            <a:ext cx="203200" cy="203200"/>
          </a:xfrm>
          <a:prstGeom prst="rect">
            <a:avLst/>
          </a:prstGeom>
        </p:spPr>
      </p:pic>
      <p:sp>
        <p:nvSpPr>
          <p:cNvPr id="9" name="AutoShape 9"/>
          <p:cNvSpPr/>
          <p:nvPr/>
        </p:nvSpPr>
        <p:spPr>
          <a:xfrm>
            <a:off x="1270000" y="276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向量数据库的简介</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149600"/>
            <a:ext cx="203200" cy="203200"/>
          </a:xfrm>
          <a:prstGeom prst="rect">
            <a:avLst/>
          </a:prstGeom>
        </p:spPr>
      </p:pic>
      <p:sp>
        <p:nvSpPr>
          <p:cNvPr id="11" name="AutoShape 11"/>
          <p:cNvSpPr/>
          <p:nvPr/>
        </p:nvSpPr>
        <p:spPr>
          <a:xfrm>
            <a:off x="1270000" y="3124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向量数据库的特点</a:t>
            </a:r>
            <a:endParaRPr lang="en-US" sz="1100"/>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05200"/>
            <a:ext cx="203200" cy="203200"/>
          </a:xfrm>
          <a:prstGeom prst="rect">
            <a:avLst/>
          </a:prstGeom>
        </p:spPr>
      </p:pic>
      <p:sp>
        <p:nvSpPr>
          <p:cNvPr id="13" name="AutoShape 13"/>
          <p:cNvSpPr/>
          <p:nvPr/>
        </p:nvSpPr>
        <p:spPr>
          <a:xfrm>
            <a:off x="1270000" y="34798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与传统数据库的比较</a:t>
            </a:r>
            <a:endParaRPr lang="en-US" sz="1100"/>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860800"/>
            <a:ext cx="203200" cy="203200"/>
          </a:xfrm>
          <a:prstGeom prst="rect">
            <a:avLst/>
          </a:prstGeom>
        </p:spPr>
      </p:pic>
      <p:sp>
        <p:nvSpPr>
          <p:cNvPr id="15" name="AutoShape 15"/>
          <p:cNvSpPr/>
          <p:nvPr/>
        </p:nvSpPr>
        <p:spPr>
          <a:xfrm>
            <a:off x="1270000" y="38354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向量数据库的使用场景</a:t>
            </a:r>
            <a:endParaRPr lang="en-US" sz="1100"/>
          </a:p>
        </p:txBody>
      </p:sp>
      <p:sp>
        <p:nvSpPr>
          <p:cNvPr id="16" name="AutoShape 16"/>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7" name="AutoShape 17"/>
          <p:cNvSpPr/>
          <p:nvPr/>
        </p:nvSpPr>
        <p:spPr>
          <a:xfrm>
            <a:off x="4445000" y="1778000"/>
            <a:ext cx="33020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2108200"/>
            <a:ext cx="406400" cy="406400"/>
          </a:xfrm>
          <a:prstGeom prst="rect">
            <a:avLst/>
          </a:prstGeom>
        </p:spPr>
      </p:pic>
      <p:sp>
        <p:nvSpPr>
          <p:cNvPr id="19" name="AutoShape 19"/>
          <p:cNvSpPr/>
          <p:nvPr/>
        </p:nvSpPr>
        <p:spPr>
          <a:xfrm>
            <a:off x="5207000" y="20828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5.2 向量数据库的原理</a:t>
            </a:r>
            <a:endParaRPr lang="en-US" sz="1100"/>
          </a:p>
        </p:txBody>
      </p:sp>
      <p:cxnSp>
        <p:nvCxnSpPr>
          <p:cNvPr id="20" name="Connector 20"/>
          <p:cNvCxnSpPr/>
          <p:nvPr/>
        </p:nvCxnSpPr>
        <p:spPr>
          <a:xfrm rot="-15626">
            <a:off x="4699014" y="25971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pic>
        <p:nvPicPr>
          <p:cNvPr id="21" name="Picture 2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794000"/>
            <a:ext cx="203200" cy="203200"/>
          </a:xfrm>
          <a:prstGeom prst="rect">
            <a:avLst/>
          </a:prstGeom>
        </p:spPr>
      </p:pic>
      <p:sp>
        <p:nvSpPr>
          <p:cNvPr id="22" name="AutoShape 22"/>
          <p:cNvSpPr/>
          <p:nvPr/>
        </p:nvSpPr>
        <p:spPr>
          <a:xfrm>
            <a:off x="4953000" y="276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向量距离的度量</a:t>
            </a:r>
            <a:endParaRPr lang="en-US" sz="1100"/>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3149600"/>
            <a:ext cx="203200" cy="203200"/>
          </a:xfrm>
          <a:prstGeom prst="rect">
            <a:avLst/>
          </a:prstGeom>
        </p:spPr>
      </p:pic>
      <p:sp>
        <p:nvSpPr>
          <p:cNvPr id="24" name="AutoShape 24"/>
          <p:cNvSpPr/>
          <p:nvPr/>
        </p:nvSpPr>
        <p:spPr>
          <a:xfrm>
            <a:off x="4953000" y="3124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相似度搜索算法</a:t>
            </a:r>
            <a:endParaRPr lang="en-US" sz="1100"/>
          </a:p>
        </p:txBody>
      </p:sp>
      <p:sp>
        <p:nvSpPr>
          <p:cNvPr id="25" name="AutoShape 25"/>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26" name="AutoShape 26"/>
          <p:cNvSpPr/>
          <p:nvPr/>
        </p:nvSpPr>
        <p:spPr>
          <a:xfrm>
            <a:off x="8128000" y="1778000"/>
            <a:ext cx="33020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82000" y="2108200"/>
            <a:ext cx="406400" cy="406400"/>
          </a:xfrm>
          <a:prstGeom prst="rect">
            <a:avLst/>
          </a:prstGeom>
        </p:spPr>
      </p:pic>
      <p:sp>
        <p:nvSpPr>
          <p:cNvPr id="28" name="AutoShape 28"/>
          <p:cNvSpPr/>
          <p:nvPr/>
        </p:nvSpPr>
        <p:spPr>
          <a:xfrm>
            <a:off x="8890000" y="2082800"/>
            <a:ext cx="2286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5.3 向量数据库的应用</a:t>
            </a:r>
            <a:endParaRPr lang="en-US" sz="1100"/>
          </a:p>
        </p:txBody>
      </p:sp>
      <p:cxnSp>
        <p:nvCxnSpPr>
          <p:cNvPr id="29" name="Connector 29"/>
          <p:cNvCxnSpPr/>
          <p:nvPr/>
        </p:nvCxnSpPr>
        <p:spPr>
          <a:xfrm rot="-15626">
            <a:off x="8382014" y="25971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pic>
        <p:nvPicPr>
          <p:cNvPr id="30" name="Picture 3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0" y="2794000"/>
            <a:ext cx="203200" cy="203200"/>
          </a:xfrm>
          <a:prstGeom prst="rect">
            <a:avLst/>
          </a:prstGeom>
        </p:spPr>
      </p:pic>
      <p:sp>
        <p:nvSpPr>
          <p:cNvPr id="31" name="AutoShape 31"/>
          <p:cNvSpPr/>
          <p:nvPr/>
        </p:nvSpPr>
        <p:spPr>
          <a:xfrm>
            <a:off x="8636000" y="2768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Faiss向量数据库</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09600" y="1905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5.1 向量数据库简介</a:t>
            </a:r>
            <a:endParaRPr lang="en-US" sz="1100"/>
          </a:p>
        </p:txBody>
      </p:sp>
      <p:sp>
        <p:nvSpPr>
          <p:cNvPr id="4" name="AutoShape 4"/>
          <p:cNvSpPr/>
          <p:nvPr/>
        </p:nvSpPr>
        <p:spPr>
          <a:xfrm>
            <a:off x="609600" y="1651000"/>
            <a:ext cx="2540000" cy="4064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74800" y="1955800"/>
            <a:ext cx="609600" cy="609600"/>
          </a:xfrm>
          <a:prstGeom prst="rect">
            <a:avLst/>
          </a:prstGeom>
        </p:spPr>
      </p:pic>
      <p:sp>
        <p:nvSpPr>
          <p:cNvPr id="6" name="AutoShape 6"/>
          <p:cNvSpPr/>
          <p:nvPr/>
        </p:nvSpPr>
        <p:spPr>
          <a:xfrm>
            <a:off x="736600" y="2667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起源与背景</a:t>
            </a:r>
            <a:endParaRPr lang="en-US" sz="1100"/>
          </a:p>
        </p:txBody>
      </p:sp>
      <p:cxnSp>
        <p:nvCxnSpPr>
          <p:cNvPr id="7" name="Connector 7"/>
          <p:cNvCxnSpPr/>
          <p:nvPr/>
        </p:nvCxnSpPr>
        <p:spPr>
          <a:xfrm rot="-42969">
            <a:off x="1117640" y="3105150"/>
            <a:ext cx="1016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8" name="AutoShape 8"/>
          <p:cNvSpPr/>
          <p:nvPr/>
        </p:nvSpPr>
        <p:spPr>
          <a:xfrm>
            <a:off x="800100" y="3238500"/>
            <a:ext cx="2159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探索向量数据库产生的技术背景，理解其在处理非结构化数据（如文本、图像）时的必要性。</a:t>
            </a:r>
            <a:endParaRPr lang="en-US" sz="1100"/>
          </a:p>
        </p:txBody>
      </p:sp>
      <p:sp>
        <p:nvSpPr>
          <p:cNvPr id="9" name="AutoShape 9"/>
          <p:cNvSpPr/>
          <p:nvPr/>
        </p:nvSpPr>
        <p:spPr>
          <a:xfrm>
            <a:off x="3403600" y="1651000"/>
            <a:ext cx="2540000" cy="4064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68800" y="1955800"/>
            <a:ext cx="609600" cy="609600"/>
          </a:xfrm>
          <a:prstGeom prst="rect">
            <a:avLst/>
          </a:prstGeom>
        </p:spPr>
      </p:pic>
      <p:sp>
        <p:nvSpPr>
          <p:cNvPr id="11" name="AutoShape 11"/>
          <p:cNvSpPr/>
          <p:nvPr/>
        </p:nvSpPr>
        <p:spPr>
          <a:xfrm>
            <a:off x="3530600" y="2667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核心特性</a:t>
            </a:r>
            <a:endParaRPr lang="en-US" sz="1100"/>
          </a:p>
        </p:txBody>
      </p:sp>
      <p:cxnSp>
        <p:nvCxnSpPr>
          <p:cNvPr id="12" name="Connector 12"/>
          <p:cNvCxnSpPr/>
          <p:nvPr/>
        </p:nvCxnSpPr>
        <p:spPr>
          <a:xfrm rot="-42969">
            <a:off x="3911640" y="3105150"/>
            <a:ext cx="1016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3" name="AutoShape 13"/>
          <p:cNvSpPr/>
          <p:nvPr/>
        </p:nvSpPr>
        <p:spPr>
          <a:xfrm>
            <a:off x="3594100" y="3238500"/>
            <a:ext cx="2159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分析高维向量存储、高效索引机制以及相似性检索算法等关键技术特性。</a:t>
            </a:r>
            <a:endParaRPr lang="en-US" sz="1100"/>
          </a:p>
        </p:txBody>
      </p:sp>
      <p:sp>
        <p:nvSpPr>
          <p:cNvPr id="14" name="AutoShape 14"/>
          <p:cNvSpPr/>
          <p:nvPr/>
        </p:nvSpPr>
        <p:spPr>
          <a:xfrm>
            <a:off x="6197600" y="1651000"/>
            <a:ext cx="2540000" cy="4064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62800" y="1955800"/>
            <a:ext cx="609600" cy="609600"/>
          </a:xfrm>
          <a:prstGeom prst="rect">
            <a:avLst/>
          </a:prstGeom>
        </p:spPr>
      </p:pic>
      <p:sp>
        <p:nvSpPr>
          <p:cNvPr id="16" name="AutoShape 16"/>
          <p:cNvSpPr/>
          <p:nvPr/>
        </p:nvSpPr>
        <p:spPr>
          <a:xfrm>
            <a:off x="6324600" y="2667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与传统数据库比较</a:t>
            </a:r>
            <a:endParaRPr lang="en-US" sz="1100"/>
          </a:p>
        </p:txBody>
      </p:sp>
      <p:cxnSp>
        <p:nvCxnSpPr>
          <p:cNvPr id="17" name="Connector 17"/>
          <p:cNvCxnSpPr/>
          <p:nvPr/>
        </p:nvCxnSpPr>
        <p:spPr>
          <a:xfrm rot="-42969">
            <a:off x="6705640" y="3105150"/>
            <a:ext cx="1016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8" name="AutoShape 18"/>
          <p:cNvSpPr/>
          <p:nvPr/>
        </p:nvSpPr>
        <p:spPr>
          <a:xfrm>
            <a:off x="6388100" y="3238500"/>
            <a:ext cx="2159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对比向量数据库与关系型数据库在数据模型、查询方式及适用场景上的本质区别。</a:t>
            </a:r>
            <a:endParaRPr lang="en-US" sz="1100"/>
          </a:p>
        </p:txBody>
      </p:sp>
      <p:sp>
        <p:nvSpPr>
          <p:cNvPr id="19" name="AutoShape 19"/>
          <p:cNvSpPr/>
          <p:nvPr/>
        </p:nvSpPr>
        <p:spPr>
          <a:xfrm>
            <a:off x="8991600" y="1651000"/>
            <a:ext cx="2540000" cy="4064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56800" y="1955800"/>
            <a:ext cx="609600" cy="609600"/>
          </a:xfrm>
          <a:prstGeom prst="rect">
            <a:avLst/>
          </a:prstGeom>
        </p:spPr>
      </p:pic>
      <p:sp>
        <p:nvSpPr>
          <p:cNvPr id="21" name="AutoShape 21"/>
          <p:cNvSpPr/>
          <p:nvPr/>
        </p:nvSpPr>
        <p:spPr>
          <a:xfrm>
            <a:off x="9118600" y="2667000"/>
            <a:ext cx="228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典型应用场景</a:t>
            </a:r>
            <a:endParaRPr lang="en-US" sz="1100"/>
          </a:p>
        </p:txBody>
      </p:sp>
      <p:cxnSp>
        <p:nvCxnSpPr>
          <p:cNvPr id="22" name="Connector 22"/>
          <p:cNvCxnSpPr/>
          <p:nvPr/>
        </p:nvCxnSpPr>
        <p:spPr>
          <a:xfrm rot="-42969">
            <a:off x="9499640" y="3105150"/>
            <a:ext cx="1016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23" name="AutoShape 23"/>
          <p:cNvSpPr/>
          <p:nvPr/>
        </p:nvSpPr>
        <p:spPr>
          <a:xfrm>
            <a:off x="9182100" y="3238500"/>
            <a:ext cx="2159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了解向量数据库在推荐系统、语义搜索、计算机视觉等领域的实际落地案例。</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5.1.1 向量数据库的简介</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2082800"/>
            <a:ext cx="609600" cy="609600"/>
          </a:xfrm>
          <a:prstGeom prst="rect">
            <a:avLst/>
          </a:prstGeom>
        </p:spPr>
      </p:pic>
      <p:sp>
        <p:nvSpPr>
          <p:cNvPr id="5" name="AutoShape 5"/>
          <p:cNvSpPr/>
          <p:nvPr/>
        </p:nvSpPr>
        <p:spPr>
          <a:xfrm>
            <a:off x="1066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技术演进背景</a:t>
            </a:r>
            <a:endParaRPr lang="en-US" sz="1100"/>
          </a:p>
        </p:txBody>
      </p:sp>
      <p:cxnSp>
        <p:nvCxnSpPr>
          <p:cNvPr id="6" name="Connector 6"/>
          <p:cNvCxnSpPr/>
          <p:nvPr/>
        </p:nvCxnSpPr>
        <p:spPr>
          <a:xfrm rot="-16215">
            <a:off x="1066815" y="3232150"/>
            <a:ext cx="26924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7" name="AutoShape 7"/>
          <p:cNvSpPr/>
          <p:nvPr/>
        </p:nvSpPr>
        <p:spPr>
          <a:xfrm>
            <a:off x="1066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随着非结构化数据（图片、文本、音频）的激增，传统关系型数据库已无法满足需求。技术从关系型数据库演进至NoSQL、图数据库，最终催生了专为向量数据设计的向量数据库。</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9800" y="2082800"/>
            <a:ext cx="609600" cy="609600"/>
          </a:xfrm>
          <a:prstGeom prst="rect">
            <a:avLst/>
          </a:prstGeom>
        </p:spPr>
      </p:pic>
      <p:sp>
        <p:nvSpPr>
          <p:cNvPr id="10" name="AutoShape 10"/>
          <p:cNvSpPr/>
          <p:nvPr/>
        </p:nvSpPr>
        <p:spPr>
          <a:xfrm>
            <a:off x="4749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核心定义与功能</a:t>
            </a:r>
            <a:endParaRPr lang="en-US" sz="1100"/>
          </a:p>
        </p:txBody>
      </p:sp>
      <p:cxnSp>
        <p:nvCxnSpPr>
          <p:cNvPr id="11" name="Connector 11"/>
          <p:cNvCxnSpPr/>
          <p:nvPr/>
        </p:nvCxnSpPr>
        <p:spPr>
          <a:xfrm rot="-16215">
            <a:off x="4749815" y="3232150"/>
            <a:ext cx="26924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2" name="AutoShape 12"/>
          <p:cNvSpPr/>
          <p:nvPr/>
        </p:nvSpPr>
        <p:spPr>
          <a:xfrm>
            <a:off x="4749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向量数据库是用于存储和查询向量的专用数据库。它将非结构化数据转换为Embedding向量，实现高效的存储与检索，是连接现实世界数据与AI模型的桥梁。</a:t>
            </a:r>
            <a:endParaRPr lang="en-US" sz="1100"/>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32800" y="2082800"/>
            <a:ext cx="609600" cy="609600"/>
          </a:xfrm>
          <a:prstGeom prst="rect">
            <a:avLst/>
          </a:prstGeom>
        </p:spPr>
      </p:pic>
      <p:sp>
        <p:nvSpPr>
          <p:cNvPr id="15" name="AutoShape 15"/>
          <p:cNvSpPr/>
          <p:nvPr/>
        </p:nvSpPr>
        <p:spPr>
          <a:xfrm>
            <a:off x="8432800" y="2794000"/>
            <a:ext cx="2692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与大模型(LLM)的协同</a:t>
            </a:r>
            <a:endParaRPr lang="en-US" sz="1100"/>
          </a:p>
        </p:txBody>
      </p:sp>
      <p:cxnSp>
        <p:nvCxnSpPr>
          <p:cNvPr id="16" name="Connector 16"/>
          <p:cNvCxnSpPr/>
          <p:nvPr/>
        </p:nvCxnSpPr>
        <p:spPr>
          <a:xfrm rot="-16215">
            <a:off x="8432815" y="3232150"/>
            <a:ext cx="26924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7" name="AutoShape 17"/>
          <p:cNvSpPr/>
          <p:nvPr/>
        </p:nvSpPr>
        <p:spPr>
          <a:xfrm>
            <a:off x="8432800" y="3365500"/>
            <a:ext cx="26924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针对LLM（如ChatGPT）的Tokens限制问题，向量数据库提供了高效的解决方案。它能扩展模型的上下文理解能力，使模型能够处理更长的文本和更多的数据，从而从幕后走向前台。</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5.1.2 向量数据库的特点</a:t>
            </a:r>
            <a:endParaRPr lang="en-US" sz="1100"/>
          </a:p>
        </p:txBody>
      </p:sp>
      <p:sp>
        <p:nvSpPr>
          <p:cNvPr id="3" name="AutoShape 3"/>
          <p:cNvSpPr/>
          <p:nvPr/>
        </p:nvSpPr>
        <p:spPr>
          <a:xfrm>
            <a:off x="762000" y="1651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向量化存储</a:t>
            </a:r>
            <a:endParaRPr lang="en-US" sz="1100"/>
          </a:p>
        </p:txBody>
      </p:sp>
      <p:sp>
        <p:nvSpPr>
          <p:cNvPr id="6" name="AutoShape 6"/>
          <p:cNvSpPr/>
          <p:nvPr/>
        </p:nvSpPr>
        <p:spPr>
          <a:xfrm>
            <a:off x="1016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摒弃传统行列结构，将数据转化为高维向量形式进行存储，更贴合AI数据特性。</a:t>
            </a:r>
            <a:endParaRPr lang="en-US" sz="1100"/>
          </a:p>
        </p:txBody>
      </p:sp>
      <p:sp>
        <p:nvSpPr>
          <p:cNvPr id="7" name="AutoShape 7"/>
          <p:cNvSpPr/>
          <p:nvPr/>
        </p:nvSpPr>
        <p:spPr>
          <a:xfrm>
            <a:off x="4445000" y="1651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9" name="AutoShape 9"/>
          <p:cNvSpPr/>
          <p:nvPr/>
        </p:nvSpPr>
        <p:spPr>
          <a:xfrm>
            <a:off x="5207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向量索引</a:t>
            </a:r>
            <a:endParaRPr lang="en-US" sz="1100"/>
          </a:p>
        </p:txBody>
      </p:sp>
      <p:sp>
        <p:nvSpPr>
          <p:cNvPr id="10" name="AutoShape 10"/>
          <p:cNvSpPr/>
          <p:nvPr/>
        </p:nvSpPr>
        <p:spPr>
          <a:xfrm>
            <a:off x="4699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集成ANN等高效索引算法，构建特殊索引结构，实现海量数据的毫秒级快速检索。</a:t>
            </a:r>
            <a:endParaRPr lang="en-US" sz="1100"/>
          </a:p>
        </p:txBody>
      </p:sp>
      <p:sp>
        <p:nvSpPr>
          <p:cNvPr id="11" name="AutoShape 11"/>
          <p:cNvSpPr/>
          <p:nvPr/>
        </p:nvSpPr>
        <p:spPr>
          <a:xfrm>
            <a:off x="8128000" y="1651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3" name="AutoShape 13"/>
          <p:cNvSpPr/>
          <p:nvPr/>
        </p:nvSpPr>
        <p:spPr>
          <a:xfrm>
            <a:off x="8890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高维向量检索</a:t>
            </a:r>
            <a:endParaRPr lang="en-US" sz="1100"/>
          </a:p>
        </p:txBody>
      </p:sp>
      <p:sp>
        <p:nvSpPr>
          <p:cNvPr id="14" name="AutoShape 14"/>
          <p:cNvSpPr/>
          <p:nvPr/>
        </p:nvSpPr>
        <p:spPr>
          <a:xfrm>
            <a:off x="8382000" y="2349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专为高维数据设计，高效支持相似度匹配，是实现语义搜索和推荐系统的核心能力。</a:t>
            </a:r>
            <a:endParaRPr lang="en-US" sz="1100"/>
          </a:p>
        </p:txBody>
      </p:sp>
      <p:sp>
        <p:nvSpPr>
          <p:cNvPr id="15" name="AutoShape 15"/>
          <p:cNvSpPr/>
          <p:nvPr/>
        </p:nvSpPr>
        <p:spPr>
          <a:xfrm>
            <a:off x="762000" y="3937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191000"/>
            <a:ext cx="406400" cy="406400"/>
          </a:xfrm>
          <a:prstGeom prst="rect">
            <a:avLst/>
          </a:prstGeom>
        </p:spPr>
      </p:pic>
      <p:sp>
        <p:nvSpPr>
          <p:cNvPr id="17" name="AutoShape 17"/>
          <p:cNvSpPr/>
          <p:nvPr/>
        </p:nvSpPr>
        <p:spPr>
          <a:xfrm>
            <a:off x="1524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高性能计算</a:t>
            </a:r>
            <a:endParaRPr lang="en-US" sz="1100"/>
          </a:p>
        </p:txBody>
      </p:sp>
      <p:sp>
        <p:nvSpPr>
          <p:cNvPr id="18" name="AutoShape 18"/>
          <p:cNvSpPr/>
          <p:nvPr/>
        </p:nvSpPr>
        <p:spPr>
          <a:xfrm>
            <a:off x="1016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底层采用向量化计算引擎，充分利用硬件加速，大幅提升数据处理与检索效率。</a:t>
            </a:r>
            <a:endParaRPr lang="en-US" sz="1100"/>
          </a:p>
        </p:txBody>
      </p:sp>
      <p:sp>
        <p:nvSpPr>
          <p:cNvPr id="19" name="AutoShape 19"/>
          <p:cNvSpPr/>
          <p:nvPr/>
        </p:nvSpPr>
        <p:spPr>
          <a:xfrm>
            <a:off x="4445000" y="3937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4191000"/>
            <a:ext cx="406400" cy="406400"/>
          </a:xfrm>
          <a:prstGeom prst="rect">
            <a:avLst/>
          </a:prstGeom>
        </p:spPr>
      </p:pic>
      <p:sp>
        <p:nvSpPr>
          <p:cNvPr id="21" name="AutoShape 21"/>
          <p:cNvSpPr/>
          <p:nvPr/>
        </p:nvSpPr>
        <p:spPr>
          <a:xfrm>
            <a:off x="5207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灵活性</a:t>
            </a:r>
            <a:endParaRPr lang="en-US" sz="1100"/>
          </a:p>
        </p:txBody>
      </p:sp>
      <p:sp>
        <p:nvSpPr>
          <p:cNvPr id="22" name="AutoShape 22"/>
          <p:cNvSpPr/>
          <p:nvPr/>
        </p:nvSpPr>
        <p:spPr>
          <a:xfrm>
            <a:off x="4699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兼容多种数据形态，支持稀疏向量、稠密向量等多种数据类型，适应多样化业务场景。</a:t>
            </a:r>
            <a:endParaRPr lang="en-US" sz="1100"/>
          </a:p>
        </p:txBody>
      </p:sp>
      <p:sp>
        <p:nvSpPr>
          <p:cNvPr id="23" name="AutoShape 23"/>
          <p:cNvSpPr/>
          <p:nvPr/>
        </p:nvSpPr>
        <p:spPr>
          <a:xfrm>
            <a:off x="8128000" y="3937000"/>
            <a:ext cx="3302000" cy="2032000"/>
          </a:xfrm>
          <a:prstGeom prst="roundRect">
            <a:avLst>
              <a:gd name="adj" fmla="val 6250"/>
            </a:avLst>
          </a:prstGeom>
          <a:solidFill>
            <a:srgbClr val="FFFFFF">
              <a:alpha val="100000"/>
            </a:srgbClr>
          </a:solidFill>
          <a:ln w="25400" cap="flat" cmpd="sng">
            <a:noFill/>
            <a:prstDash val="solid"/>
            <a:round/>
          </a:ln>
          <a:effectLst>
            <a:outerShdw blurRad="1016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191000"/>
            <a:ext cx="406400" cy="406400"/>
          </a:xfrm>
          <a:prstGeom prst="rect">
            <a:avLst/>
          </a:prstGeom>
        </p:spPr>
      </p:pic>
      <p:sp>
        <p:nvSpPr>
          <p:cNvPr id="25" name="AutoShape 25"/>
          <p:cNvSpPr/>
          <p:nvPr/>
        </p:nvSpPr>
        <p:spPr>
          <a:xfrm>
            <a:off x="8890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可扩展性</a:t>
            </a:r>
            <a:endParaRPr lang="en-US" sz="1100"/>
          </a:p>
        </p:txBody>
      </p:sp>
      <p:sp>
        <p:nvSpPr>
          <p:cNvPr id="26" name="AutoShape 26"/>
          <p:cNvSpPr/>
          <p:nvPr/>
        </p:nvSpPr>
        <p:spPr>
          <a:xfrm>
            <a:off x="8382000" y="4635500"/>
            <a:ext cx="2794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支持水平扩展架构，能够线性扩展存储与计算能力，从容应对海量数据增长需求。</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5.1.3 与传统数据库的比较 - 数据存储</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95500"/>
            <a:ext cx="635000" cy="635000"/>
          </a:xfrm>
          <a:prstGeom prst="rect">
            <a:avLst/>
          </a:prstGeom>
        </p:spPr>
      </p:pic>
      <p:sp>
        <p:nvSpPr>
          <p:cNvPr id="5" name="AutoShape 5"/>
          <p:cNvSpPr/>
          <p:nvPr/>
        </p:nvSpPr>
        <p:spPr>
          <a:xfrm>
            <a:off x="889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关系型数据库</a:t>
            </a:r>
            <a:endParaRPr lang="en-US" sz="1100"/>
          </a:p>
        </p:txBody>
      </p:sp>
      <p:cxnSp>
        <p:nvCxnSpPr>
          <p:cNvPr id="6" name="Connector 6"/>
          <p:cNvCxnSpPr/>
          <p:nvPr/>
        </p:nvCxnSpPr>
        <p:spPr>
          <a:xfrm rot="-17188">
            <a:off x="1143016" y="3295650"/>
            <a:ext cx="2540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3492500"/>
            <a:ext cx="2794000" cy="2032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以行和列的二维表格形式保存数据，采用结构化数据模型，强调数据的一致性和完整性。</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95500"/>
            <a:ext cx="635000" cy="635000"/>
          </a:xfrm>
          <a:prstGeom prst="rect">
            <a:avLst/>
          </a:prstGeom>
        </p:spPr>
      </p:pic>
      <p:sp>
        <p:nvSpPr>
          <p:cNvPr id="10" name="AutoShape 10"/>
          <p:cNvSpPr/>
          <p:nvPr/>
        </p:nvSpPr>
        <p:spPr>
          <a:xfrm>
            <a:off x="4572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NoSQL数据库</a:t>
            </a:r>
            <a:endParaRPr lang="en-US" sz="1100"/>
          </a:p>
        </p:txBody>
      </p:sp>
      <p:cxnSp>
        <p:nvCxnSpPr>
          <p:cNvPr id="11" name="Connector 11"/>
          <p:cNvCxnSpPr/>
          <p:nvPr/>
        </p:nvCxnSpPr>
        <p:spPr>
          <a:xfrm rot="-17188">
            <a:off x="4826016" y="3295650"/>
            <a:ext cx="2540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4699000" y="3492500"/>
            <a:ext cx="2794000" cy="2032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提供文档型、键值型、列簇型、图形数据库等多种灵活的数据模型，适合处理非结构化数据。</a:t>
            </a:r>
            <a:endParaRPr lang="en-US" sz="1100"/>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95500"/>
            <a:ext cx="635000" cy="635000"/>
          </a:xfrm>
          <a:prstGeom prst="rect">
            <a:avLst/>
          </a:prstGeom>
        </p:spPr>
      </p:pic>
      <p:sp>
        <p:nvSpPr>
          <p:cNvPr id="15" name="AutoShape 15"/>
          <p:cNvSpPr/>
          <p:nvPr/>
        </p:nvSpPr>
        <p:spPr>
          <a:xfrm>
            <a:off x="8255000" y="2857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向量数据库</a:t>
            </a:r>
            <a:endParaRPr lang="en-US" sz="1100"/>
          </a:p>
        </p:txBody>
      </p:sp>
      <p:cxnSp>
        <p:nvCxnSpPr>
          <p:cNvPr id="16" name="Connector 16"/>
          <p:cNvCxnSpPr/>
          <p:nvPr/>
        </p:nvCxnSpPr>
        <p:spPr>
          <a:xfrm rot="-17188">
            <a:off x="8509016" y="3295650"/>
            <a:ext cx="2540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7" name="AutoShape 17"/>
          <p:cNvSpPr/>
          <p:nvPr/>
        </p:nvSpPr>
        <p:spPr>
          <a:xfrm>
            <a:off x="8382000" y="3492500"/>
            <a:ext cx="2794000" cy="2032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专门设计用于存储和处理高维度向量数据，采用向量化存储和索引技术，支持高效的相似度检索。</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5.1.3 与传统数据库的比较 - 数据处理</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609600" cy="609600"/>
          </a:xfrm>
          <a:prstGeom prst="rect">
            <a:avLst/>
          </a:prstGeom>
        </p:spPr>
      </p:pic>
      <p:sp>
        <p:nvSpPr>
          <p:cNvPr id="5" name="AutoShape 5"/>
          <p:cNvSpPr/>
          <p:nvPr/>
        </p:nvSpPr>
        <p:spPr>
          <a:xfrm>
            <a:off x="1016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关系型数据库</a:t>
            </a:r>
            <a:endParaRPr lang="en-US" sz="1100"/>
          </a:p>
        </p:txBody>
      </p:sp>
      <p:cxnSp>
        <p:nvCxnSpPr>
          <p:cNvPr id="6" name="Connector 6"/>
          <p:cNvCxnSpPr/>
          <p:nvPr/>
        </p:nvCxnSpPr>
        <p:spPr>
          <a:xfrm rot="-15626">
            <a:off x="1016014" y="3168650"/>
            <a:ext cx="2794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3302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支持精确查询、范围查询及复杂查询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具备完善的事务处理能力 (ACID)</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处理大规模数据时性能受限</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32000"/>
            <a:ext cx="609600" cy="609600"/>
          </a:xfrm>
          <a:prstGeom prst="rect">
            <a:avLst/>
          </a:prstGeom>
        </p:spPr>
      </p:pic>
      <p:sp>
        <p:nvSpPr>
          <p:cNvPr id="10" name="AutoShape 10"/>
          <p:cNvSpPr/>
          <p:nvPr/>
        </p:nvSpPr>
        <p:spPr>
          <a:xfrm>
            <a:off x="4699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NoSQL数据库</a:t>
            </a:r>
            <a:endParaRPr lang="en-US" sz="1100"/>
          </a:p>
        </p:txBody>
      </p:sp>
      <p:cxnSp>
        <p:nvCxnSpPr>
          <p:cNvPr id="11" name="Connector 11"/>
          <p:cNvCxnSpPr/>
          <p:nvPr/>
        </p:nvCxnSpPr>
        <p:spPr>
          <a:xfrm rot="-15626">
            <a:off x="4699014" y="3168650"/>
            <a:ext cx="2794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4699000" y="3302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高扩展性和灵活性，适合分布式存储</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擅长处理大规模非结构化数据</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牺牲部分事务一致性换取性能</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32000"/>
            <a:ext cx="609600" cy="609600"/>
          </a:xfrm>
          <a:prstGeom prst="rect">
            <a:avLst/>
          </a:prstGeom>
        </p:spPr>
      </p:pic>
      <p:sp>
        <p:nvSpPr>
          <p:cNvPr id="15" name="AutoShape 15"/>
          <p:cNvSpPr/>
          <p:nvPr/>
        </p:nvSpPr>
        <p:spPr>
          <a:xfrm>
            <a:off x="8382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向量数据库</a:t>
            </a:r>
            <a:endParaRPr lang="en-US" sz="1100"/>
          </a:p>
        </p:txBody>
      </p:sp>
      <p:cxnSp>
        <p:nvCxnSpPr>
          <p:cNvPr id="16" name="Connector 16"/>
          <p:cNvCxnSpPr/>
          <p:nvPr/>
        </p:nvCxnSpPr>
        <p:spPr>
          <a:xfrm rot="-15626">
            <a:off x="8382014" y="3168650"/>
            <a:ext cx="2794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7" name="AutoShape 17"/>
          <p:cNvSpPr/>
          <p:nvPr/>
        </p:nvSpPr>
        <p:spPr>
          <a:xfrm>
            <a:off x="8382000" y="3302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专注于向量数据的高效存储与计算</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支持亿级向量的快速近似最近邻搜索</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专为AI应用场景（如语义检索）优化</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5.1.3 与传统数据库的比较 - 查询和索引</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032000"/>
            <a:ext cx="635000" cy="635000"/>
          </a:xfrm>
          <a:prstGeom prst="rect">
            <a:avLst/>
          </a:prstGeom>
        </p:spPr>
      </p:pic>
      <p:sp>
        <p:nvSpPr>
          <p:cNvPr id="5" name="AutoShape 5"/>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关系型数据库</a:t>
            </a:r>
            <a:endParaRPr lang="en-US" sz="1100"/>
          </a:p>
        </p:txBody>
      </p:sp>
      <p:cxnSp>
        <p:nvCxnSpPr>
          <p:cNvPr id="6" name="Connector 6"/>
          <p:cNvCxnSpPr/>
          <p:nvPr/>
        </p:nvCxnSpPr>
        <p:spPr>
          <a:xfrm rot="-15626">
            <a:off x="1016014" y="3232150"/>
            <a:ext cx="2794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7" name="AutoShape 7"/>
          <p:cNvSpPr/>
          <p:nvPr/>
        </p:nvSpPr>
        <p:spPr>
          <a:xfrm>
            <a:off x="952500" y="3365500"/>
            <a:ext cx="2921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使用标准 SQL 进行结构化查询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核心索引：B+树索引</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关键字搜索效率极高</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语义理解与模糊检索能力较弱</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032000"/>
            <a:ext cx="635000" cy="635000"/>
          </a:xfrm>
          <a:prstGeom prst="rect">
            <a:avLst/>
          </a:prstGeom>
        </p:spPr>
      </p:pic>
      <p:sp>
        <p:nvSpPr>
          <p:cNvPr id="10" name="AutoShape 10"/>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NoSQL 数据库</a:t>
            </a:r>
            <a:endParaRPr lang="en-US" sz="1100"/>
          </a:p>
        </p:txBody>
      </p:sp>
      <p:cxnSp>
        <p:nvCxnSpPr>
          <p:cNvPr id="11" name="Connector 11"/>
          <p:cNvCxnSpPr/>
          <p:nvPr/>
        </p:nvCxnSpPr>
        <p:spPr>
          <a:xfrm rot="-15626">
            <a:off x="4699014" y="3232150"/>
            <a:ext cx="2794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2" name="AutoShape 12"/>
          <p:cNvSpPr/>
          <p:nvPr/>
        </p:nvSpPr>
        <p:spPr>
          <a:xfrm>
            <a:off x="4635500" y="3365500"/>
            <a:ext cx="2921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支持文档查询、键值对查询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引入全文检索能力</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常用索引：倒排索引</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适合非结构化数据存储</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032000"/>
            <a:ext cx="635000" cy="635000"/>
          </a:xfrm>
          <a:prstGeom prst="rect">
            <a:avLst/>
          </a:prstGeom>
        </p:spPr>
      </p:pic>
      <p:sp>
        <p:nvSpPr>
          <p:cNvPr id="15" name="AutoShape 15"/>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向量数据库</a:t>
            </a:r>
            <a:endParaRPr lang="en-US" sz="1100"/>
          </a:p>
        </p:txBody>
      </p:sp>
      <p:cxnSp>
        <p:nvCxnSpPr>
          <p:cNvPr id="16" name="Connector 16"/>
          <p:cNvCxnSpPr/>
          <p:nvPr/>
        </p:nvCxnSpPr>
        <p:spPr>
          <a:xfrm rot="-15626">
            <a:off x="8382014" y="3232150"/>
            <a:ext cx="2794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7" name="AutoShape 17"/>
          <p:cNvSpPr/>
          <p:nvPr/>
        </p:nvSpPr>
        <p:spPr>
          <a:xfrm>
            <a:off x="8318500" y="3365500"/>
            <a:ext cx="2921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基于向量空间的相似性检索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核心索引：ANN (近似最近邻)</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返回 Top-K 相似结果</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专为 AI 语义理解设计</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5.1.3 与传统数据库的比较 - 适用场景</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778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55800" y="2159000"/>
            <a:ext cx="914400" cy="914400"/>
          </a:xfrm>
          <a:prstGeom prst="rect">
            <a:avLst/>
          </a:prstGeom>
        </p:spPr>
      </p:pic>
      <p:sp>
        <p:nvSpPr>
          <p:cNvPr id="6" name="AutoShape 6"/>
          <p:cNvSpPr/>
          <p:nvPr/>
        </p:nvSpPr>
        <p:spPr>
          <a:xfrm>
            <a:off x="889000" y="317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关系型数据库</a:t>
            </a:r>
            <a:endParaRPr lang="en-US" sz="1100"/>
          </a:p>
        </p:txBody>
      </p:sp>
      <p:cxnSp>
        <p:nvCxnSpPr>
          <p:cNvPr id="7" name="Connector 7"/>
          <p:cNvCxnSpPr/>
          <p:nvPr/>
        </p:nvCxnSpPr>
        <p:spPr>
          <a:xfrm rot="-17188">
            <a:off x="1143016" y="3676650"/>
            <a:ext cx="2540000"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8" name="AutoShape 8"/>
          <p:cNvSpPr/>
          <p:nvPr/>
        </p:nvSpPr>
        <p:spPr>
          <a:xfrm>
            <a:off x="952500" y="3810000"/>
            <a:ext cx="29210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企业核心应用系统</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复杂事务处理 (ACID)</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小规模结构化数据分析</a:t>
            </a:r>
            <a:endParaRPr lang="en-US" sz="14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sp>
        <p:nvSpPr>
          <p:cNvPr id="10" name="AutoShape 10"/>
          <p:cNvSpPr/>
          <p:nvPr/>
        </p:nvSpPr>
        <p:spPr>
          <a:xfrm>
            <a:off x="4445000" y="1778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8800" y="2159000"/>
            <a:ext cx="914400" cy="914400"/>
          </a:xfrm>
          <a:prstGeom prst="rect">
            <a:avLst/>
          </a:prstGeom>
        </p:spPr>
      </p:pic>
      <p:sp>
        <p:nvSpPr>
          <p:cNvPr id="12" name="AutoShape 12"/>
          <p:cNvSpPr/>
          <p:nvPr/>
        </p:nvSpPr>
        <p:spPr>
          <a:xfrm>
            <a:off x="4572000" y="317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NoSQL数据库</a:t>
            </a:r>
            <a:endParaRPr lang="en-US" sz="1100"/>
          </a:p>
        </p:txBody>
      </p:sp>
      <p:cxnSp>
        <p:nvCxnSpPr>
          <p:cNvPr id="13" name="Connector 13"/>
          <p:cNvCxnSpPr/>
          <p:nvPr/>
        </p:nvCxnSpPr>
        <p:spPr>
          <a:xfrm rot="-17188">
            <a:off x="4826016" y="3676650"/>
            <a:ext cx="2540000"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14" name="AutoShape 14"/>
          <p:cNvSpPr/>
          <p:nvPr/>
        </p:nvSpPr>
        <p:spPr>
          <a:xfrm>
            <a:off x="4635500" y="3810000"/>
            <a:ext cx="29210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海量非结构化数据存储</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高并发读写与分布式架构</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实时数据分析与检索</a:t>
            </a:r>
            <a:endParaRPr lang="en-US" sz="14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sp>
        <p:nvSpPr>
          <p:cNvPr id="16" name="AutoShape 16"/>
          <p:cNvSpPr/>
          <p:nvPr/>
        </p:nvSpPr>
        <p:spPr>
          <a:xfrm>
            <a:off x="8128000" y="1778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21800" y="2159000"/>
            <a:ext cx="914400" cy="914400"/>
          </a:xfrm>
          <a:prstGeom prst="rect">
            <a:avLst/>
          </a:prstGeom>
        </p:spPr>
      </p:pic>
      <p:sp>
        <p:nvSpPr>
          <p:cNvPr id="18" name="AutoShape 18"/>
          <p:cNvSpPr/>
          <p:nvPr/>
        </p:nvSpPr>
        <p:spPr>
          <a:xfrm>
            <a:off x="8255000" y="3175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向量数据库</a:t>
            </a:r>
            <a:endParaRPr lang="en-US" sz="1100"/>
          </a:p>
        </p:txBody>
      </p:sp>
      <p:cxnSp>
        <p:nvCxnSpPr>
          <p:cNvPr id="19" name="Connector 19"/>
          <p:cNvCxnSpPr/>
          <p:nvPr/>
        </p:nvCxnSpPr>
        <p:spPr>
          <a:xfrm rot="-17188">
            <a:off x="8509016" y="3676650"/>
            <a:ext cx="2540000"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20" name="AutoShape 20"/>
          <p:cNvSpPr/>
          <p:nvPr/>
        </p:nvSpPr>
        <p:spPr>
          <a:xfrm>
            <a:off x="8318500" y="3810000"/>
            <a:ext cx="29210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大规模高维向量检索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AI 语义搜索与推荐系统</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多模态数据处理 (文本/图像)</a:t>
            </a:r>
            <a:endParaRPr lang="en-US" sz="14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5.1.4 向量数据库的使用场景</a:t>
            </a:r>
            <a:endParaRPr lang="en-US" sz="1100"/>
          </a:p>
        </p:txBody>
      </p:sp>
      <p:sp>
        <p:nvSpPr>
          <p:cNvPr id="3" name="AutoShape 3"/>
          <p:cNvSpPr/>
          <p:nvPr/>
        </p:nvSpPr>
        <p:spPr>
          <a:xfrm>
            <a:off x="762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508000" cy="508000"/>
          </a:xfrm>
          <a:prstGeom prst="rect">
            <a:avLst/>
          </a:prstGeom>
        </p:spPr>
      </p:pic>
      <p:sp>
        <p:nvSpPr>
          <p:cNvPr id="5" name="AutoShape 5"/>
          <p:cNvSpPr/>
          <p:nvPr/>
        </p:nvSpPr>
        <p:spPr>
          <a:xfrm>
            <a:off x="1016000" y="2476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后台管理：结构化存储</a:t>
            </a:r>
            <a:endParaRPr lang="en-US" sz="1100"/>
          </a:p>
        </p:txBody>
      </p:sp>
      <p:sp>
        <p:nvSpPr>
          <p:cNvPr id="6" name="AutoShape 6"/>
          <p:cNvSpPr/>
          <p:nvPr/>
        </p:nvSpPr>
        <p:spPr>
          <a:xfrm>
            <a:off x="1016000" y="292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使用关系型数据库（如MySQL）存储用户信息、权限设置等结构化数据，确保数据的一致性。</a:t>
            </a:r>
            <a:endParaRPr lang="en-US" sz="1100"/>
          </a:p>
        </p:txBody>
      </p:sp>
      <p:sp>
        <p:nvSpPr>
          <p:cNvPr id="7" name="AutoShape 7"/>
          <p:cNvSpPr/>
          <p:nvPr/>
        </p:nvSpPr>
        <p:spPr>
          <a:xfrm>
            <a:off x="4445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508000" cy="508000"/>
          </a:xfrm>
          <a:prstGeom prst="rect">
            <a:avLst/>
          </a:prstGeom>
        </p:spPr>
      </p:pic>
      <p:sp>
        <p:nvSpPr>
          <p:cNvPr id="9" name="AutoShape 9"/>
          <p:cNvSpPr/>
          <p:nvPr/>
        </p:nvSpPr>
        <p:spPr>
          <a:xfrm>
            <a:off x="4699000" y="2476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全文检索：快速查找</a:t>
            </a:r>
            <a:endParaRPr lang="en-US" sz="1100"/>
          </a:p>
        </p:txBody>
      </p:sp>
      <p:sp>
        <p:nvSpPr>
          <p:cNvPr id="10" name="AutoShape 10"/>
          <p:cNvSpPr/>
          <p:nvPr/>
        </p:nvSpPr>
        <p:spPr>
          <a:xfrm>
            <a:off x="4699000" y="292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使用NoSQL数据库（如Elasticsearch）实现文章的快速检索，支持复杂的文本过滤与聚合。</a:t>
            </a:r>
            <a:endParaRPr lang="en-US" sz="1100"/>
          </a:p>
        </p:txBody>
      </p:sp>
      <p:sp>
        <p:nvSpPr>
          <p:cNvPr id="11" name="AutoShape 11"/>
          <p:cNvSpPr/>
          <p:nvPr/>
        </p:nvSpPr>
        <p:spPr>
          <a:xfrm>
            <a:off x="8128000" y="1651000"/>
            <a:ext cx="3302000" cy="2794000"/>
          </a:xfrm>
          <a:prstGeom prst="roundRect">
            <a:avLst>
              <a:gd name="adj" fmla="val 454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508000" cy="508000"/>
          </a:xfrm>
          <a:prstGeom prst="rect">
            <a:avLst/>
          </a:prstGeom>
        </p:spPr>
      </p:pic>
      <p:sp>
        <p:nvSpPr>
          <p:cNvPr id="13" name="AutoShape 13"/>
          <p:cNvSpPr/>
          <p:nvPr/>
        </p:nvSpPr>
        <p:spPr>
          <a:xfrm>
            <a:off x="8382000" y="2476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智能问答：语义理解</a:t>
            </a:r>
            <a:endParaRPr lang="en-US" sz="1100"/>
          </a:p>
        </p:txBody>
      </p:sp>
      <p:sp>
        <p:nvSpPr>
          <p:cNvPr id="14" name="AutoShape 14"/>
          <p:cNvSpPr/>
          <p:nvPr/>
        </p:nvSpPr>
        <p:spPr>
          <a:xfrm>
            <a:off x="8382000" y="2921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使用向量数据库构建RAG系统，实现基于语义理解的智能问答服务，提供精准的上下文回答。</a:t>
            </a:r>
            <a:endParaRPr lang="en-US" sz="1100"/>
          </a:p>
        </p:txBody>
      </p:sp>
      <p:sp>
        <p:nvSpPr>
          <p:cNvPr id="15" name="AutoShape 15"/>
          <p:cNvSpPr/>
          <p:nvPr/>
        </p:nvSpPr>
        <p:spPr>
          <a:xfrm>
            <a:off x="762000" y="4699000"/>
            <a:ext cx="10668000" cy="1397000"/>
          </a:xfrm>
          <a:prstGeom prst="roundRect">
            <a:avLst>
              <a:gd name="adj" fmla="val 909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406400" cy="406400"/>
          </a:xfrm>
          <a:prstGeom prst="rect">
            <a:avLst/>
          </a:prstGeom>
        </p:spPr>
      </p:pic>
      <p:sp>
        <p:nvSpPr>
          <p:cNvPr id="17" name="AutoShape 17"/>
          <p:cNvSpPr/>
          <p:nvPr/>
        </p:nvSpPr>
        <p:spPr>
          <a:xfrm>
            <a:off x="1524000" y="4953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其他广泛应用场景</a:t>
            </a:r>
            <a:endParaRPr lang="en-US" sz="1100"/>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461000"/>
            <a:ext cx="254000" cy="254000"/>
          </a:xfrm>
          <a:prstGeom prst="rect">
            <a:avLst/>
          </a:prstGeom>
        </p:spPr>
      </p:pic>
      <p:sp>
        <p:nvSpPr>
          <p:cNvPr id="19" name="AutoShape 19"/>
          <p:cNvSpPr/>
          <p:nvPr/>
        </p:nvSpPr>
        <p:spPr>
          <a:xfrm>
            <a:off x="1397000" y="5435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推荐系统中的相似性计算</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445000" y="5461000"/>
            <a:ext cx="254000" cy="254000"/>
          </a:xfrm>
          <a:prstGeom prst="rect">
            <a:avLst/>
          </a:prstGeom>
        </p:spPr>
      </p:pic>
      <p:sp>
        <p:nvSpPr>
          <p:cNvPr id="21" name="AutoShape 21"/>
          <p:cNvSpPr/>
          <p:nvPr/>
        </p:nvSpPr>
        <p:spPr>
          <a:xfrm>
            <a:off x="4826000" y="5435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人脸识别与图像检索</a:t>
            </a:r>
            <a:endParaRPr lang="en-US" sz="1100"/>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74000" y="5461000"/>
            <a:ext cx="254000" cy="254000"/>
          </a:xfrm>
          <a:prstGeom prst="rect">
            <a:avLst/>
          </a:prstGeom>
        </p:spPr>
      </p:pic>
      <p:sp>
        <p:nvSpPr>
          <p:cNvPr id="23" name="AutoShape 23"/>
          <p:cNvSpPr/>
          <p:nvPr/>
        </p:nvSpPr>
        <p:spPr>
          <a:xfrm>
            <a:off x="8255000" y="5435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文本相似性计算与语义搜索</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016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09600" y="254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288D1"/>
                </a:solidFill>
                <a:latin typeface="Noto Sans SC"/>
                <a:ea typeface="Noto Sans SC"/>
                <a:cs typeface="Noto Sans SC"/>
                <a:sym typeface="Noto Sans SC"/>
              </a:rPr>
              <a:t>5.2 向量数据库的原理</a:t>
            </a:r>
            <a:endParaRPr lang="en-US" sz="1100"/>
          </a:p>
        </p:txBody>
      </p:sp>
      <p:sp>
        <p:nvSpPr>
          <p:cNvPr id="4" name="AutoShape 4"/>
          <p:cNvSpPr/>
          <p:nvPr/>
        </p:nvSpPr>
        <p:spPr>
          <a:xfrm>
            <a:off x="609600" y="1524000"/>
            <a:ext cx="5207000" cy="4318000"/>
          </a:xfrm>
          <a:prstGeom prst="roundRect">
            <a:avLst>
              <a:gd name="adj" fmla="val 2941"/>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0600" y="1905000"/>
            <a:ext cx="609600" cy="609600"/>
          </a:xfrm>
          <a:prstGeom prst="rect">
            <a:avLst/>
          </a:prstGeom>
        </p:spPr>
      </p:pic>
      <p:sp>
        <p:nvSpPr>
          <p:cNvPr id="6" name="AutoShape 6"/>
          <p:cNvSpPr/>
          <p:nvPr/>
        </p:nvSpPr>
        <p:spPr>
          <a:xfrm>
            <a:off x="17272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核心一：向量距离度量</a:t>
            </a:r>
            <a:endParaRPr lang="en-US" sz="1100"/>
          </a:p>
        </p:txBody>
      </p:sp>
      <p:cxnSp>
        <p:nvCxnSpPr>
          <p:cNvPr id="7" name="Connector 7"/>
          <p:cNvCxnSpPr/>
          <p:nvPr/>
        </p:nvCxnSpPr>
        <p:spPr>
          <a:xfrm rot="-9822">
            <a:off x="990609" y="2597150"/>
            <a:ext cx="4445000" cy="12700"/>
          </a:xfrm>
          <a:prstGeom prst="straightConnector1">
            <a:avLst/>
          </a:prstGeom>
          <a:solidFill>
            <a:srgbClr val="DEE0E3">
              <a:alpha val="100000"/>
            </a:srgbClr>
          </a:solidFill>
          <a:ln w="12700" cap="flat" cmpd="sng">
            <a:solidFill>
              <a:srgbClr val="757575">
                <a:alpha val="20000"/>
              </a:srgbClr>
            </a:solidFill>
            <a:prstDash val="solid"/>
            <a:round/>
            <a:headEnd type="none" w="med" len="med"/>
            <a:tailEnd type="none" w="med" len="med"/>
          </a:ln>
        </p:spPr>
      </p:cxnSp>
      <p:sp>
        <p:nvSpPr>
          <p:cNvPr id="8" name="AutoShape 8"/>
          <p:cNvSpPr/>
          <p:nvPr/>
        </p:nvSpPr>
        <p:spPr>
          <a:xfrm>
            <a:off x="990600" y="2794000"/>
            <a:ext cx="4445000"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24242"/>
              </a:buClr>
              <a:buChar char="•"/>
              <a:defRPr/>
            </a:pPr>
            <a:r>
              <a:rPr lang="en-US" sz="1400" b="1" i="0" u="none" strike="noStrike">
                <a:solidFill>
                  <a:srgbClr val="424242"/>
                </a:solidFill>
                <a:latin typeface="Noto Sans SC"/>
                <a:ea typeface="Noto Sans SC"/>
                <a:cs typeface="Noto Sans SC"/>
                <a:sym typeface="Noto Sans SC"/>
              </a:rPr>
              <a:t>欧几里得距离 (Euclidean)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计算空间中两点间的直线距离，适用于标准向量空间。</a:t>
            </a:r>
            <a:endParaRPr lang="en-US" sz="1100"/>
          </a:p>
          <a:p>
            <a:pPr marL="177800" indent="-177800" algn="l">
              <a:lnSpc>
                <a:spcPct val="125000"/>
              </a:lnSpc>
              <a:buClr>
                <a:srgbClr val="424242"/>
              </a:buClr>
              <a:buChar char="•"/>
            </a:pPr>
            <a:r>
              <a:rPr lang="en-US" sz="1400" b="1" i="0" u="none" strike="noStrike">
                <a:solidFill>
                  <a:srgbClr val="424242"/>
                </a:solidFill>
                <a:latin typeface="Noto Sans SC"/>
                <a:ea typeface="Noto Sans SC"/>
                <a:cs typeface="Noto Sans SC"/>
                <a:sym typeface="Noto Sans SC"/>
              </a:rPr>
              <a:t>余弦相似度 (Cosine Similarity)</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衡量向量方向的一致性，常用于文本语义相似度计算。</a:t>
            </a:r>
            <a:endParaRPr lang="en-US" sz="1200" b="0" i="0" u="none" strike="noStrike">
              <a:solidFill>
                <a:srgbClr val="757575"/>
              </a:solidFill>
              <a:latin typeface="Noto Sans SC"/>
              <a:ea typeface="Noto Sans SC"/>
              <a:cs typeface="Noto Sans SC"/>
              <a:sym typeface="Noto Sans SC"/>
            </a:endParaRPr>
          </a:p>
          <a:p>
            <a:pPr marL="177800" indent="-177800" algn="l">
              <a:lnSpc>
                <a:spcPct val="125000"/>
              </a:lnSpc>
              <a:buClr>
                <a:srgbClr val="424242"/>
              </a:buClr>
              <a:buChar char="•"/>
            </a:pPr>
            <a:r>
              <a:rPr lang="en-US" sz="1400" b="1" i="0" u="none" strike="noStrike">
                <a:solidFill>
                  <a:srgbClr val="424242"/>
                </a:solidFill>
                <a:latin typeface="Noto Sans SC"/>
                <a:ea typeface="Noto Sans SC"/>
                <a:cs typeface="Noto Sans SC"/>
                <a:sym typeface="Noto Sans SC"/>
              </a:rPr>
              <a:t>点积 (Dot Product)</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反映向量在同一方向上的投影大小。</a:t>
            </a:r>
            <a:endParaRPr lang="en-US" sz="12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6121400" y="1524000"/>
            <a:ext cx="5207000" cy="4318000"/>
          </a:xfrm>
          <a:prstGeom prst="roundRect">
            <a:avLst>
              <a:gd name="adj" fmla="val 2941"/>
            </a:avLst>
          </a:prstGeom>
          <a:solidFill>
            <a:srgbClr val="FFFFFF">
              <a:alpha val="100000"/>
            </a:srgbClr>
          </a:solidFill>
          <a:ln w="25400" cap="flat" cmpd="sng">
            <a:noFill/>
            <a:prstDash val="solid"/>
            <a:round/>
          </a:ln>
          <a:effectLst>
            <a:outerShdw blurRad="190500" dist="1016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02400" y="1905000"/>
            <a:ext cx="609600" cy="609600"/>
          </a:xfrm>
          <a:prstGeom prst="rect">
            <a:avLst/>
          </a:prstGeom>
        </p:spPr>
      </p:pic>
      <p:sp>
        <p:nvSpPr>
          <p:cNvPr id="11" name="AutoShape 11"/>
          <p:cNvSpPr/>
          <p:nvPr/>
        </p:nvSpPr>
        <p:spPr>
          <a:xfrm>
            <a:off x="7239000" y="2006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核心二：相似度搜索算法</a:t>
            </a:r>
            <a:endParaRPr lang="en-US" sz="1100"/>
          </a:p>
        </p:txBody>
      </p:sp>
      <p:cxnSp>
        <p:nvCxnSpPr>
          <p:cNvPr id="12" name="Connector 12"/>
          <p:cNvCxnSpPr/>
          <p:nvPr/>
        </p:nvCxnSpPr>
        <p:spPr>
          <a:xfrm rot="-9822">
            <a:off x="6502409" y="2597150"/>
            <a:ext cx="4445000" cy="12700"/>
          </a:xfrm>
          <a:prstGeom prst="straightConnector1">
            <a:avLst/>
          </a:prstGeom>
          <a:solidFill>
            <a:srgbClr val="DEE0E3">
              <a:alpha val="100000"/>
            </a:srgbClr>
          </a:solidFill>
          <a:ln w="12700" cap="flat" cmpd="sng">
            <a:solidFill>
              <a:srgbClr val="757575">
                <a:alpha val="20000"/>
              </a:srgbClr>
            </a:solidFill>
            <a:prstDash val="solid"/>
            <a:round/>
            <a:headEnd type="none" w="med" len="med"/>
            <a:tailEnd type="none" w="med" len="med"/>
          </a:ln>
        </p:spPr>
      </p:cxnSp>
      <p:sp>
        <p:nvSpPr>
          <p:cNvPr id="13" name="AutoShape 13"/>
          <p:cNvSpPr/>
          <p:nvPr/>
        </p:nvSpPr>
        <p:spPr>
          <a:xfrm>
            <a:off x="6502400" y="2794000"/>
            <a:ext cx="4445000"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424242"/>
              </a:buClr>
              <a:buChar char="•"/>
              <a:defRPr/>
            </a:pPr>
            <a:r>
              <a:rPr lang="en-US" sz="1400" b="1" i="0" u="none" strike="noStrike">
                <a:solidFill>
                  <a:srgbClr val="424242"/>
                </a:solidFill>
                <a:latin typeface="Noto Sans SC"/>
                <a:ea typeface="Noto Sans SC"/>
                <a:cs typeface="Noto Sans SC"/>
                <a:sym typeface="Noto Sans SC"/>
              </a:rPr>
              <a:t>K近邻算法 (K-NN)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暴力搜索算法，遍历所有数据计算距离，准确率高但效率低。</a:t>
            </a:r>
            <a:endParaRPr lang="en-US" sz="1100"/>
          </a:p>
          <a:p>
            <a:pPr marL="177800" indent="-177800" algn="l">
              <a:lnSpc>
                <a:spcPct val="125000"/>
              </a:lnSpc>
              <a:buClr>
                <a:srgbClr val="424242"/>
              </a:buClr>
              <a:buChar char="•"/>
            </a:pPr>
            <a:r>
              <a:rPr lang="en-US" sz="1400" b="1" i="0" u="none" strike="noStrike">
                <a:solidFill>
                  <a:srgbClr val="424242"/>
                </a:solidFill>
                <a:latin typeface="Noto Sans SC"/>
                <a:ea typeface="Noto Sans SC"/>
                <a:cs typeface="Noto Sans SC"/>
                <a:sym typeface="Noto Sans SC"/>
              </a:rPr>
              <a:t>近似最近邻 (ANN)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通过构建索引（如HNSW、IVF）牺牲少量精度换取毫秒级检索速度。</a:t>
            </a:r>
            <a:endParaRPr lang="en-US" sz="1200" b="0" i="0" u="none" strike="noStrike">
              <a:solidFill>
                <a:srgbClr val="757575"/>
              </a:solidFill>
              <a:latin typeface="Noto Sans SC"/>
              <a:ea typeface="Noto Sans SC"/>
              <a:cs typeface="Noto Sans SC"/>
              <a:sym typeface="Noto Sans SC"/>
            </a:endParaRPr>
          </a:p>
          <a:p>
            <a:pPr marL="177800" indent="-177800" algn="l">
              <a:lnSpc>
                <a:spcPct val="125000"/>
              </a:lnSpc>
              <a:buClr>
                <a:srgbClr val="424242"/>
              </a:buClr>
              <a:buChar char="•"/>
            </a:pPr>
            <a:r>
              <a:rPr lang="en-US" sz="1400" b="1" i="0" u="none" strike="noStrike">
                <a:solidFill>
                  <a:srgbClr val="424242"/>
                </a:solidFill>
                <a:latin typeface="Noto Sans SC"/>
                <a:ea typeface="Noto Sans SC"/>
                <a:cs typeface="Noto Sans SC"/>
                <a:sym typeface="Noto Sans SC"/>
              </a:rPr>
              <a:t>量化技术 (Quantization)</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757575"/>
                </a:solidFill>
                <a:latin typeface="Noto Sans SC"/>
                <a:ea typeface="Noto Sans SC"/>
                <a:cs typeface="Noto Sans SC"/>
                <a:sym typeface="Noto Sans SC"/>
              </a:rPr>
              <a:t>通过降低向量维度或精度（如Scalar Quantization）减少存储和计算开销。</a:t>
            </a:r>
            <a:endParaRPr lang="en-US" sz="12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5.2.1 向量距离的度量 - 欧式距离</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04800" cy="304800"/>
          </a:xfrm>
          <a:prstGeom prst="rect">
            <a:avLst/>
          </a:prstGeom>
        </p:spPr>
      </p:pic>
      <p:sp>
        <p:nvSpPr>
          <p:cNvPr id="5" name="AutoShape 5"/>
          <p:cNvSpPr/>
          <p:nvPr/>
        </p:nvSpPr>
        <p:spPr>
          <a:xfrm>
            <a:off x="1397000" y="187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定义与数学原理</a:t>
            </a:r>
            <a:endParaRPr lang="en-US" sz="1100"/>
          </a:p>
        </p:txBody>
      </p:sp>
      <p:sp>
        <p:nvSpPr>
          <p:cNvPr id="6" name="AutoShape 6"/>
          <p:cNvSpPr/>
          <p:nvPr/>
        </p:nvSpPr>
        <p:spPr>
          <a:xfrm>
            <a:off x="1016000" y="2349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欧式距离（Euclidean Distance），也称为L2范数，是度量两个向量在n维空间中最短直线距离的标准方法。</a:t>
            </a:r>
            <a:endParaRPr lang="en-US" sz="1100"/>
          </a:p>
        </p:txBody>
      </p:sp>
      <p:cxnSp>
        <p:nvCxnSpPr>
          <p:cNvPr id="7" name="Connector 7"/>
          <p:cNvCxnSpPr/>
          <p:nvPr/>
        </p:nvCxnSpPr>
        <p:spPr>
          <a:xfrm rot="-9549">
            <a:off x="1016009" y="3422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304800" cy="304800"/>
          </a:xfrm>
          <a:prstGeom prst="rect">
            <a:avLst/>
          </a:prstGeom>
        </p:spPr>
      </p:pic>
      <p:sp>
        <p:nvSpPr>
          <p:cNvPr id="9" name="AutoShape 9"/>
          <p:cNvSpPr/>
          <p:nvPr/>
        </p:nvSpPr>
        <p:spPr>
          <a:xfrm>
            <a:off x="1397000" y="3657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计算公式</a:t>
            </a:r>
            <a:endParaRPr lang="en-US" sz="1100"/>
          </a:p>
        </p:txBody>
      </p:sp>
      <p:sp>
        <p:nvSpPr>
          <p:cNvPr id="10" name="AutoShape 10"/>
          <p:cNvSpPr/>
          <p:nvPr/>
        </p:nvSpPr>
        <p:spPr>
          <a:xfrm>
            <a:off x="1016000" y="4191000"/>
            <a:ext cx="4572000" cy="1270000"/>
          </a:xfrm>
          <a:prstGeom prst="roundRect">
            <a:avLst>
              <a:gd name="adj" fmla="val 10000"/>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4445000"/>
            <a:ext cx="431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212121"/>
                </a:solidFill>
                <a:latin typeface="Noto Sans SC"/>
                <a:ea typeface="Noto Sans SC"/>
                <a:cs typeface="Noto Sans SC"/>
                <a:sym typeface="Noto Sans SC"/>
              </a:rPr>
              <a:t>d(x,y) = √[Σ(xᵢ - yᵢ)²]</a:t>
            </a:r>
            <a:endParaRPr lang="en-US" sz="1100"/>
          </a:p>
        </p:txBody>
      </p:sp>
      <p:sp>
        <p:nvSpPr>
          <p:cNvPr id="12" name="AutoShape 12"/>
          <p:cNvSpPr/>
          <p:nvPr/>
        </p:nvSpPr>
        <p:spPr>
          <a:xfrm>
            <a:off x="6096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905000"/>
            <a:ext cx="304800" cy="304800"/>
          </a:xfrm>
          <a:prstGeom prst="rect">
            <a:avLst/>
          </a:prstGeom>
        </p:spPr>
      </p:pic>
      <p:sp>
        <p:nvSpPr>
          <p:cNvPr id="14" name="AutoShape 14"/>
          <p:cNvSpPr/>
          <p:nvPr/>
        </p:nvSpPr>
        <p:spPr>
          <a:xfrm>
            <a:off x="6731000" y="187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Python 代码实现 (SciPy)</a:t>
            </a:r>
            <a:endParaRPr lang="en-US" sz="1100"/>
          </a:p>
        </p:txBody>
      </p:sp>
      <p:sp>
        <p:nvSpPr>
          <p:cNvPr id="15" name="AutoShape 15"/>
          <p:cNvSpPr/>
          <p:nvPr/>
        </p:nvSpPr>
        <p:spPr>
          <a:xfrm>
            <a:off x="6350000" y="2413000"/>
            <a:ext cx="4572000" cy="3048000"/>
          </a:xfrm>
          <a:prstGeom prst="roundRect">
            <a:avLst>
              <a:gd name="adj" fmla="val 4166"/>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2603500"/>
            <a:ext cx="41910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678DD"/>
                </a:solidFill>
                <a:latin typeface="Noto Sans SC"/>
                <a:ea typeface="Noto Sans SC"/>
                <a:cs typeface="Noto Sans SC"/>
                <a:sym typeface="Noto Sans SC"/>
              </a:rPr>
              <a:t>from</a:t>
            </a:r>
            <a:r>
              <a:rPr lang="en-US" sz="1400" b="0" i="0" u="none" strike="noStrike">
                <a:solidFill>
                  <a:srgbClr val="DCDFE4"/>
                </a:solidFill>
                <a:latin typeface="Noto Sans SC"/>
                <a:ea typeface="Noto Sans SC"/>
                <a:cs typeface="Noto Sans SC"/>
                <a:sym typeface="Noto Sans SC"/>
              </a:rPr>
              <a:t>scipy.spatial</a:t>
            </a:r>
            <a:r>
              <a:rPr lang="en-US" sz="1400" b="0" i="0" u="none" strike="noStrike">
                <a:solidFill>
                  <a:srgbClr val="C678DD"/>
                </a:solidFill>
                <a:latin typeface="Noto Sans SC"/>
                <a:ea typeface="Noto Sans SC"/>
                <a:cs typeface="Noto Sans SC"/>
                <a:sym typeface="Noto Sans SC"/>
              </a:rPr>
              <a:t>import</a:t>
            </a:r>
            <a:r>
              <a:rPr lang="en-US" sz="1400" b="0" i="0" u="none" strike="noStrike">
                <a:solidFill>
                  <a:srgbClr val="DCDFE4"/>
                </a:solidFill>
                <a:latin typeface="Noto Sans SC"/>
                <a:ea typeface="Noto Sans SC"/>
                <a:cs typeface="Noto Sans SC"/>
                <a:sym typeface="Noto Sans SC"/>
              </a:rPr>
              <a:t>distance</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C678DD"/>
                </a:solidFill>
                <a:latin typeface="Noto Sans SC"/>
                <a:ea typeface="Noto Sans SC"/>
                <a:cs typeface="Noto Sans SC"/>
                <a:sym typeface="Noto Sans SC"/>
              </a:rPr>
              <a:t>def</a:t>
            </a:r>
            <a:r>
              <a:rPr lang="en-US" sz="1400" b="0" i="0" u="none" strike="noStrike">
                <a:solidFill>
                  <a:srgbClr val="61AFEF"/>
                </a:solidFill>
                <a:latin typeface="Noto Sans SC"/>
                <a:ea typeface="Noto Sans SC"/>
                <a:cs typeface="Noto Sans SC"/>
                <a:sym typeface="Noto Sans SC"/>
              </a:rPr>
              <a:t>euclidean_distance</a:t>
            </a:r>
            <a:r>
              <a:rPr lang="en-US" sz="1400" b="0" i="0" u="none" strike="noStrike">
                <a:solidFill>
                  <a:srgbClr val="DCDFE4"/>
                </a:solidFill>
                <a:latin typeface="Noto Sans SC"/>
                <a:ea typeface="Noto Sans SC"/>
                <a:cs typeface="Noto Sans SC"/>
                <a:sym typeface="Noto Sans SC"/>
              </a:rPr>
              <a:t>(v1, v2):</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C678DD"/>
                </a:solidFill>
                <a:latin typeface="Noto Sans SC"/>
                <a:ea typeface="Noto Sans SC"/>
                <a:cs typeface="Noto Sans SC"/>
                <a:sym typeface="Noto Sans SC"/>
              </a:rPr>
              <a:t>return</a:t>
            </a:r>
            <a:r>
              <a:rPr lang="en-US" sz="1400" b="0" i="0" u="none" strike="noStrike">
                <a:solidFill>
                  <a:srgbClr val="DCDFE4"/>
                </a:solidFill>
                <a:latin typeface="Noto Sans SC"/>
                <a:ea typeface="Noto Sans SC"/>
                <a:cs typeface="Noto Sans SC"/>
                <a:sym typeface="Noto Sans SC"/>
              </a:rPr>
              <a:t>distance.euclidean(v1, v2)</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5C6370"/>
                </a:solidFill>
                <a:latin typeface="Noto Sans SC"/>
                <a:ea typeface="Noto Sans SC"/>
                <a:cs typeface="Noto Sans SC"/>
                <a:sym typeface="Noto Sans SC"/>
              </a:rPr>
              <a:t># 示例调用</a:t>
            </a:r>
            <a:endParaRPr lang="en-US" sz="1400" b="0" i="0" u="none" strike="noStrike">
              <a:solidFill>
                <a:srgbClr val="5C6370"/>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vec1 = [1, 2, 3]</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vec2 = [4, 5, 6]</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print(euclidean_distance(vec1, vec2))</a:t>
            </a:r>
            <a:endParaRPr lang="en-US" sz="1400" b="0" i="0" u="none" strike="noStrike">
              <a:solidFill>
                <a:srgbClr val="DCDFE4"/>
              </a:solidFill>
              <a:latin typeface="Noto Sans SC"/>
              <a:ea typeface="Noto Sans SC"/>
              <a:cs typeface="Noto Sans SC"/>
              <a:sym typeface="Noto Sans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5.2.1 向量距离的度量 - 曼哈顿距离</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66800" y="1955800"/>
            <a:ext cx="355600" cy="355600"/>
          </a:xfrm>
          <a:prstGeom prst="rect">
            <a:avLst/>
          </a:prstGeom>
        </p:spPr>
      </p:pic>
      <p:sp>
        <p:nvSpPr>
          <p:cNvPr id="5" name="AutoShape 5"/>
          <p:cNvSpPr/>
          <p:nvPr/>
        </p:nvSpPr>
        <p:spPr>
          <a:xfrm>
            <a:off x="1524000" y="1930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定义与概念</a:t>
            </a:r>
            <a:endParaRPr lang="en-US" sz="1100"/>
          </a:p>
        </p:txBody>
      </p:sp>
      <p:sp>
        <p:nvSpPr>
          <p:cNvPr id="6" name="AutoShape 6"/>
          <p:cNvSpPr/>
          <p:nvPr/>
        </p:nvSpPr>
        <p:spPr>
          <a:xfrm>
            <a:off x="1066800" y="2349500"/>
            <a:ext cx="44704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曼哈顿距离，也称为出租车距离或城市街区距离，是两个向量在各维度上距离的绝对值之和。它模拟了在城市网格中行走的最短路径。</a:t>
            </a:r>
            <a:endParaRPr lang="en-US" sz="1100"/>
          </a:p>
        </p:txBody>
      </p:sp>
      <p:cxnSp>
        <p:nvCxnSpPr>
          <p:cNvPr id="7" name="Connector 7"/>
          <p:cNvCxnSpPr/>
          <p:nvPr/>
        </p:nvCxnSpPr>
        <p:spPr>
          <a:xfrm rot="-9766">
            <a:off x="1066809" y="3486150"/>
            <a:ext cx="44704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00" y="3746500"/>
            <a:ext cx="355600" cy="355600"/>
          </a:xfrm>
          <a:prstGeom prst="rect">
            <a:avLst/>
          </a:prstGeom>
        </p:spPr>
      </p:pic>
      <p:sp>
        <p:nvSpPr>
          <p:cNvPr id="9" name="AutoShape 9"/>
          <p:cNvSpPr/>
          <p:nvPr/>
        </p:nvSpPr>
        <p:spPr>
          <a:xfrm>
            <a:off x="1524000" y="37211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计算公式</a:t>
            </a:r>
            <a:endParaRPr lang="en-US" sz="1100"/>
          </a:p>
        </p:txBody>
      </p:sp>
      <p:sp>
        <p:nvSpPr>
          <p:cNvPr id="10" name="AutoShape 10"/>
          <p:cNvSpPr/>
          <p:nvPr/>
        </p:nvSpPr>
        <p:spPr>
          <a:xfrm>
            <a:off x="1066800" y="4191000"/>
            <a:ext cx="4470400" cy="1016000"/>
          </a:xfrm>
          <a:prstGeom prst="roundRect">
            <a:avLst>
              <a:gd name="adj" fmla="val 625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193800" y="4381500"/>
            <a:ext cx="42164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424242"/>
                </a:solidFill>
                <a:latin typeface="Noto Sans SC"/>
                <a:ea typeface="Noto Sans SC"/>
                <a:cs typeface="Noto Sans SC"/>
                <a:sym typeface="Noto Sans SC"/>
              </a:rPr>
              <a:t>d(x,y) = ∑|xᵢ - yᵢ|</a:t>
            </a:r>
            <a:endParaRPr lang="en-US" sz="1100"/>
          </a:p>
        </p:txBody>
      </p:sp>
      <p:sp>
        <p:nvSpPr>
          <p:cNvPr id="12" name="AutoShape 12"/>
          <p:cNvSpPr/>
          <p:nvPr/>
        </p:nvSpPr>
        <p:spPr>
          <a:xfrm>
            <a:off x="6223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27800" y="1955800"/>
            <a:ext cx="355600" cy="355600"/>
          </a:xfrm>
          <a:prstGeom prst="rect">
            <a:avLst/>
          </a:prstGeom>
        </p:spPr>
      </p:pic>
      <p:sp>
        <p:nvSpPr>
          <p:cNvPr id="14" name="AutoShape 14"/>
          <p:cNvSpPr/>
          <p:nvPr/>
        </p:nvSpPr>
        <p:spPr>
          <a:xfrm>
            <a:off x="6985000" y="1930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Python 代码实现</a:t>
            </a:r>
            <a:endParaRPr lang="en-US" sz="1100"/>
          </a:p>
        </p:txBody>
      </p:sp>
      <p:sp>
        <p:nvSpPr>
          <p:cNvPr id="15" name="AutoShape 15"/>
          <p:cNvSpPr/>
          <p:nvPr/>
        </p:nvSpPr>
        <p:spPr>
          <a:xfrm>
            <a:off x="6527800" y="2413000"/>
            <a:ext cx="4470400" cy="3048000"/>
          </a:xfrm>
          <a:prstGeom prst="roundRect">
            <a:avLst>
              <a:gd name="adj" fmla="val 2083"/>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654800" y="2603500"/>
            <a:ext cx="4216400" cy="266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678DD"/>
                </a:solidFill>
                <a:latin typeface="Noto Sans SC"/>
                <a:ea typeface="Noto Sans SC"/>
                <a:cs typeface="Noto Sans SC"/>
                <a:sym typeface="Noto Sans SC"/>
              </a:rPr>
              <a:t>from</a:t>
            </a:r>
            <a:r>
              <a:rPr lang="en-US" sz="1400" b="0" i="0" u="none" strike="noStrike">
                <a:solidFill>
                  <a:srgbClr val="DCDFE4"/>
                </a:solidFill>
                <a:latin typeface="Noto Sans SC"/>
                <a:ea typeface="Noto Sans SC"/>
                <a:cs typeface="Noto Sans SC"/>
                <a:sym typeface="Noto Sans SC"/>
              </a:rPr>
              <a:t>scipy.spatial</a:t>
            </a:r>
            <a:r>
              <a:rPr lang="en-US" sz="1400" b="0" i="0" u="none" strike="noStrike">
                <a:solidFill>
                  <a:srgbClr val="C678DD"/>
                </a:solidFill>
                <a:latin typeface="Noto Sans SC"/>
                <a:ea typeface="Noto Sans SC"/>
                <a:cs typeface="Noto Sans SC"/>
                <a:sym typeface="Noto Sans SC"/>
              </a:rPr>
              <a:t>import</a:t>
            </a:r>
            <a:r>
              <a:rPr lang="en-US" sz="1400" b="0" i="0" u="none" strike="noStrike">
                <a:solidFill>
                  <a:srgbClr val="DCDFE4"/>
                </a:solidFill>
                <a:latin typeface="Noto Sans SC"/>
                <a:ea typeface="Noto Sans SC"/>
                <a:cs typeface="Noto Sans SC"/>
                <a:sym typeface="Noto Sans SC"/>
              </a:rPr>
              <a:t>distance</a:t>
            </a:r>
            <a:endParaRPr lang="en-US" sz="1100"/>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C678DD"/>
                </a:solidFill>
                <a:latin typeface="Noto Sans SC"/>
                <a:ea typeface="Noto Sans SC"/>
                <a:cs typeface="Noto Sans SC"/>
                <a:sym typeface="Noto Sans SC"/>
              </a:rPr>
              <a:t>def</a:t>
            </a:r>
            <a:r>
              <a:rPr lang="en-US" sz="1400" b="0" i="0" u="none" strike="noStrike">
                <a:solidFill>
                  <a:srgbClr val="61AFEF"/>
                </a:solidFill>
                <a:latin typeface="Noto Sans SC"/>
                <a:ea typeface="Noto Sans SC"/>
                <a:cs typeface="Noto Sans SC"/>
                <a:sym typeface="Noto Sans SC"/>
              </a:rPr>
              <a:t>manhattan_distance</a:t>
            </a:r>
            <a:r>
              <a:rPr lang="en-US" sz="1400" b="0" i="0" u="none" strike="noStrike">
                <a:solidFill>
                  <a:srgbClr val="DCDFE4"/>
                </a:solidFill>
                <a:latin typeface="Noto Sans SC"/>
                <a:ea typeface="Noto Sans SC"/>
                <a:cs typeface="Noto Sans SC"/>
                <a:sym typeface="Noto Sans SC"/>
              </a:rPr>
              <a:t>(v1, v2):</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C678DD"/>
                </a:solidFill>
                <a:latin typeface="Noto Sans SC"/>
                <a:ea typeface="Noto Sans SC"/>
                <a:cs typeface="Noto Sans SC"/>
                <a:sym typeface="Noto Sans SC"/>
              </a:rPr>
              <a:t>return</a:t>
            </a:r>
            <a:r>
              <a:rPr lang="en-US" sz="1400" b="0" i="0" u="none" strike="noStrike">
                <a:solidFill>
                  <a:srgbClr val="DCDFE4"/>
                </a:solidFill>
                <a:latin typeface="Noto Sans SC"/>
                <a:ea typeface="Noto Sans SC"/>
                <a:cs typeface="Noto Sans SC"/>
                <a:sym typeface="Noto Sans SC"/>
              </a:rPr>
              <a:t>distance.cityblock(v1, v2)</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br>
              <a:rPr lang="en-US" sz="1400" b="0" i="0" u="none" strike="noStrike">
                <a:solidFill>
                  <a:srgbClr val="1F2329"/>
                </a:solidFill>
                <a:latin typeface="Noto Sans SC"/>
                <a:ea typeface="Noto Sans SC"/>
                <a:cs typeface="Noto Sans SC"/>
                <a:sym typeface="Noto Sans SC"/>
              </a:rPr>
            </a:br>
            <a:endParaRPr lang="en-US" sz="1400" b="0" i="0" u="none" strike="noStrike">
              <a:solidFill>
                <a:srgbClr val="1F2329"/>
              </a:solidFill>
              <a:latin typeface="Noto Sans SC"/>
              <a:ea typeface="Noto Sans SC"/>
              <a:cs typeface="Noto Sans SC"/>
              <a:sym typeface="Noto Sans SC"/>
            </a:endParaRPr>
          </a:p>
          <a:p>
            <a:pPr indent="0" algn="l">
              <a:lnSpc>
                <a:spcPct val="125000"/>
              </a:lnSpc>
            </a:pPr>
            <a:r>
              <a:rPr lang="en-US" sz="1400" b="0" i="0" u="none" strike="noStrike">
                <a:solidFill>
                  <a:srgbClr val="5C6370"/>
                </a:solidFill>
                <a:latin typeface="Noto Sans SC"/>
                <a:ea typeface="Noto Sans SC"/>
                <a:cs typeface="Noto Sans SC"/>
                <a:sym typeface="Noto Sans SC"/>
              </a:rPr>
              <a:t># 示例调用</a:t>
            </a:r>
            <a:endParaRPr lang="en-US" sz="1400" b="0" i="0" u="none" strike="noStrike">
              <a:solidFill>
                <a:srgbClr val="5C6370"/>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vec1 = [1, 2, 3]</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vec2 = [4, 5, 6]</a:t>
            </a:r>
            <a:endParaRPr lang="en-US" sz="1400" b="0" i="0" u="none" strike="noStrike">
              <a:solidFill>
                <a:srgbClr val="DCDFE4"/>
              </a:solidFill>
              <a:latin typeface="Noto Sans SC"/>
              <a:ea typeface="Noto Sans SC"/>
              <a:cs typeface="Noto Sans SC"/>
              <a:sym typeface="Noto Sans SC"/>
            </a:endParaRPr>
          </a:p>
          <a:p>
            <a:pPr indent="0" algn="l">
              <a:lnSpc>
                <a:spcPct val="125000"/>
              </a:lnSpc>
            </a:pPr>
            <a:r>
              <a:rPr lang="en-US" sz="1400" b="0" i="0" u="none" strike="noStrike">
                <a:solidFill>
                  <a:srgbClr val="DCDFE4"/>
                </a:solidFill>
                <a:latin typeface="Noto Sans SC"/>
                <a:ea typeface="Noto Sans SC"/>
                <a:cs typeface="Noto Sans SC"/>
                <a:sym typeface="Noto Sans SC"/>
              </a:rPr>
              <a:t>print(manhattan_distance(vec1, vec2))</a:t>
            </a:r>
            <a:endParaRPr lang="en-US" sz="1400" b="0" i="0" u="none" strike="noStrike">
              <a:solidFill>
                <a:srgbClr val="DCDFE4"/>
              </a:solidFill>
              <a:latin typeface="Noto Sans SC"/>
              <a:ea typeface="Noto Sans SC"/>
              <a:cs typeface="Noto Sans SC"/>
              <a:sym typeface="Noto Sans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5.2.1 向量距离的度量 - 汉明距离</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55600" cy="355600"/>
          </a:xfrm>
          <a:prstGeom prst="rect">
            <a:avLst/>
          </a:prstGeom>
        </p:spPr>
      </p:pic>
      <p:sp>
        <p:nvSpPr>
          <p:cNvPr id="5" name="AutoShape 5"/>
          <p:cNvSpPr/>
          <p:nvPr/>
        </p:nvSpPr>
        <p:spPr>
          <a:xfrm>
            <a:off x="1460500" y="1879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核心定义</a:t>
            </a:r>
            <a:endParaRPr lang="en-US" sz="1100"/>
          </a:p>
        </p:txBody>
      </p:sp>
      <p:sp>
        <p:nvSpPr>
          <p:cNvPr id="6" name="AutoShape 6"/>
          <p:cNvSpPr/>
          <p:nvPr/>
        </p:nvSpPr>
        <p:spPr>
          <a:xfrm>
            <a:off x="1016000" y="2286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汉明距离衡量的是两个等长字符串（或向量）在对应位置上不同字符的数量。它量化了信息的差异程度。</a:t>
            </a:r>
            <a:endParaRPr lang="en-US" sz="1100"/>
          </a:p>
        </p:txBody>
      </p:sp>
      <p:cxnSp>
        <p:nvCxnSpPr>
          <p:cNvPr id="7" name="Connector 7"/>
          <p:cNvCxnSpPr/>
          <p:nvPr/>
        </p:nvCxnSpPr>
        <p:spPr>
          <a:xfrm rot="-9549">
            <a:off x="1016009" y="34226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683000"/>
            <a:ext cx="355600" cy="355600"/>
          </a:xfrm>
          <a:prstGeom prst="rect">
            <a:avLst/>
          </a:prstGeom>
        </p:spPr>
      </p:pic>
      <p:sp>
        <p:nvSpPr>
          <p:cNvPr id="9" name="AutoShape 9"/>
          <p:cNvSpPr/>
          <p:nvPr/>
        </p:nvSpPr>
        <p:spPr>
          <a:xfrm>
            <a:off x="1460500" y="3657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适用场景</a:t>
            </a:r>
            <a:endParaRPr lang="en-US" sz="1100"/>
          </a:p>
        </p:txBody>
      </p:sp>
      <p:sp>
        <p:nvSpPr>
          <p:cNvPr id="10" name="AutoShape 10"/>
          <p:cNvSpPr/>
          <p:nvPr/>
        </p:nvSpPr>
        <p:spPr>
          <a:xfrm>
            <a:off x="1016000" y="4064000"/>
            <a:ext cx="4572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比较二进制字符串的差异</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信息编码与错误检测（如校验码）</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机器学习中特征向量的相似度计算</a:t>
            </a:r>
            <a:endParaRPr lang="en-US" sz="1400" b="0" i="0" u="none" strike="noStrike">
              <a:solidFill>
                <a:srgbClr val="757575"/>
              </a:solidFill>
              <a:latin typeface="Noto Sans SC"/>
              <a:ea typeface="Noto Sans SC"/>
              <a:cs typeface="Noto Sans SC"/>
              <a:sym typeface="Noto Sans SC"/>
            </a:endParaRPr>
          </a:p>
        </p:txBody>
      </p:sp>
      <p:sp>
        <p:nvSpPr>
          <p:cNvPr id="11" name="AutoShape 11"/>
          <p:cNvSpPr/>
          <p:nvPr/>
        </p:nvSpPr>
        <p:spPr>
          <a:xfrm>
            <a:off x="6096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905000"/>
            <a:ext cx="355600" cy="355600"/>
          </a:xfrm>
          <a:prstGeom prst="rect">
            <a:avLst/>
          </a:prstGeom>
        </p:spPr>
      </p:pic>
      <p:sp>
        <p:nvSpPr>
          <p:cNvPr id="13" name="AutoShape 13"/>
          <p:cNvSpPr/>
          <p:nvPr/>
        </p:nvSpPr>
        <p:spPr>
          <a:xfrm>
            <a:off x="6794500" y="18796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Python 实现 (SciPy)</a:t>
            </a:r>
            <a:endParaRPr lang="en-US" sz="1100"/>
          </a:p>
        </p:txBody>
      </p:sp>
      <p:sp>
        <p:nvSpPr>
          <p:cNvPr id="14" name="AutoShape 14"/>
          <p:cNvSpPr/>
          <p:nvPr/>
        </p:nvSpPr>
        <p:spPr>
          <a:xfrm>
            <a:off x="6350000" y="2413000"/>
            <a:ext cx="4572000" cy="3175000"/>
          </a:xfrm>
          <a:prstGeom prst="roundRect">
            <a:avLst>
              <a:gd name="adj" fmla="val 2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2603500"/>
            <a:ext cx="4191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Roboto Mono"/>
                <a:ea typeface="Roboto Mono"/>
                <a:cs typeface="Roboto Mono"/>
                <a:sym typeface="Roboto Mono"/>
              </a:rPr>
              <a:t># 导入距离计算模块</a:t>
            </a:r>
            <a:endParaRPr lang="en-US" sz="1100"/>
          </a:p>
          <a:p>
            <a:pPr indent="0" algn="l">
              <a:lnSpc>
                <a:spcPct val="125000"/>
              </a:lnSpc>
            </a:pPr>
            <a:r>
              <a:rPr lang="en-US" sz="1400" b="0" i="0" u="none" strike="noStrike">
                <a:solidFill>
                  <a:srgbClr val="0288D1"/>
                </a:solidFill>
                <a:latin typeface="Roboto Mono"/>
                <a:ea typeface="Roboto Mono"/>
                <a:cs typeface="Roboto Mono"/>
                <a:sym typeface="Roboto Mono"/>
              </a:rPr>
              <a:t>from</a:t>
            </a:r>
            <a:r>
              <a:rPr lang="en-US" sz="1400" b="0" i="0" u="none" strike="noStrike">
                <a:solidFill>
                  <a:srgbClr val="424242"/>
                </a:solidFill>
                <a:latin typeface="Roboto Mono"/>
                <a:ea typeface="Roboto Mono"/>
                <a:cs typeface="Roboto Mono"/>
                <a:sym typeface="Roboto Mono"/>
              </a:rPr>
              <a:t>scipy.spatial</a:t>
            </a:r>
            <a:r>
              <a:rPr lang="en-US" sz="1400" b="0" i="0" u="none" strike="noStrike">
                <a:solidFill>
                  <a:srgbClr val="0288D1"/>
                </a:solidFill>
                <a:latin typeface="Roboto Mono"/>
                <a:ea typeface="Roboto Mono"/>
                <a:cs typeface="Roboto Mono"/>
                <a:sym typeface="Roboto Mono"/>
              </a:rPr>
              <a:t>import</a:t>
            </a:r>
            <a:r>
              <a:rPr lang="en-US" sz="1400" b="0" i="0" u="none" strike="noStrike">
                <a:solidFill>
                  <a:srgbClr val="424242"/>
                </a:solidFill>
                <a:latin typeface="Roboto Mono"/>
                <a:ea typeface="Roboto Mono"/>
                <a:cs typeface="Roboto Mono"/>
                <a:sym typeface="Roboto Mono"/>
              </a:rPr>
              <a:t>distance</a:t>
            </a:r>
            <a:endParaRPr lang="en-US" sz="1400" b="0" i="0" u="none" strike="noStrike">
              <a:solidFill>
                <a:srgbClr val="424242"/>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0288D1"/>
                </a:solidFill>
                <a:latin typeface="Roboto Mono"/>
                <a:ea typeface="Roboto Mono"/>
                <a:cs typeface="Roboto Mono"/>
                <a:sym typeface="Roboto Mono"/>
              </a:rPr>
              <a:t>def</a:t>
            </a:r>
            <a:r>
              <a:rPr lang="en-US" sz="1400" b="0" i="0" u="none" strike="noStrike">
                <a:solidFill>
                  <a:srgbClr val="424242"/>
                </a:solidFill>
                <a:latin typeface="Roboto Mono"/>
                <a:ea typeface="Roboto Mono"/>
                <a:cs typeface="Roboto Mono"/>
                <a:sym typeface="Roboto Mono"/>
              </a:rPr>
              <a:t>hamming_distance(v1, v2):</a:t>
            </a:r>
            <a:endParaRPr lang="en-US" sz="1400" b="0" i="0" u="none" strike="noStrike">
              <a:solidFill>
                <a:srgbClr val="424242"/>
              </a:solidFill>
              <a:latin typeface="Roboto Mono"/>
              <a:ea typeface="Roboto Mono"/>
              <a:cs typeface="Roboto Mono"/>
              <a:sym typeface="Roboto Mono"/>
            </a:endParaRPr>
          </a:p>
          <a:p>
            <a:pPr indent="0" algn="l">
              <a:lnSpc>
                <a:spcPct val="125000"/>
              </a:lnSpc>
            </a:pPr>
            <a:r>
              <a:rPr lang="en-US" sz="1400" b="0" i="0" u="none" strike="noStrike">
                <a:solidFill>
                  <a:srgbClr val="0288D1"/>
                </a:solidFill>
                <a:latin typeface="Roboto Mono"/>
                <a:ea typeface="Roboto Mono"/>
                <a:cs typeface="Roboto Mono"/>
                <a:sym typeface="Roboto Mono"/>
              </a:rPr>
              <a:t>return</a:t>
            </a:r>
            <a:r>
              <a:rPr lang="en-US" sz="1400" b="0" i="0" u="none" strike="noStrike">
                <a:solidFill>
                  <a:srgbClr val="424242"/>
                </a:solidFill>
                <a:latin typeface="Roboto Mono"/>
                <a:ea typeface="Roboto Mono"/>
                <a:cs typeface="Roboto Mono"/>
                <a:sym typeface="Roboto Mono"/>
              </a:rPr>
              <a:t>distance.hamming(v1, v2)</a:t>
            </a:r>
            <a:endParaRPr lang="en-US" sz="1400" b="0" i="0" u="none" strike="noStrike">
              <a:solidFill>
                <a:srgbClr val="424242"/>
              </a:solidFill>
              <a:latin typeface="Roboto Mono"/>
              <a:ea typeface="Roboto Mono"/>
              <a:cs typeface="Roboto Mono"/>
              <a:sym typeface="Roboto Mono"/>
            </a:endParaRPr>
          </a:p>
          <a:p>
            <a:pPr indent="0" algn="l">
              <a:lnSpc>
                <a:spcPct val="125000"/>
              </a:lnSpc>
            </a:pPr>
          </a:p>
          <a:p>
            <a:pPr indent="0" algn="l">
              <a:lnSpc>
                <a:spcPct val="125000"/>
              </a:lnSpc>
            </a:pPr>
            <a:r>
              <a:rPr lang="en-US" sz="1400" b="0" i="0" u="none" strike="noStrike">
                <a:solidFill>
                  <a:srgbClr val="757575"/>
                </a:solidFill>
                <a:latin typeface="Roboto Mono"/>
                <a:ea typeface="Roboto Mono"/>
                <a:cs typeface="Roboto Mono"/>
                <a:sym typeface="Roboto Mono"/>
              </a:rPr>
              <a:t># 示例: 计算向量差异</a:t>
            </a:r>
            <a:endParaRPr lang="en-US" sz="1400" b="0" i="0" u="none" strike="noStrike">
              <a:solidFill>
                <a:srgbClr val="757575"/>
              </a:solidFill>
              <a:latin typeface="Roboto Mono"/>
              <a:ea typeface="Roboto Mono"/>
              <a:cs typeface="Roboto Mono"/>
              <a:sym typeface="Roboto Mono"/>
            </a:endParaRPr>
          </a:p>
          <a:p>
            <a:pPr indent="0" algn="l">
              <a:lnSpc>
                <a:spcPct val="125000"/>
              </a:lnSpc>
            </a:pPr>
            <a:r>
              <a:rPr lang="en-US" sz="1400" b="0" i="0" u="none" strike="noStrike">
                <a:solidFill>
                  <a:srgbClr val="424242"/>
                </a:solidFill>
                <a:latin typeface="Roboto Mono"/>
                <a:ea typeface="Roboto Mono"/>
                <a:cs typeface="Roboto Mono"/>
                <a:sym typeface="Roboto Mono"/>
              </a:rPr>
              <a:t>v1 = [1, 0, 1, 0]</a:t>
            </a:r>
            <a:endParaRPr lang="en-US" sz="1400" b="0" i="0" u="none" strike="noStrike">
              <a:solidFill>
                <a:srgbClr val="424242"/>
              </a:solidFill>
              <a:latin typeface="Roboto Mono"/>
              <a:ea typeface="Roboto Mono"/>
              <a:cs typeface="Roboto Mono"/>
              <a:sym typeface="Roboto Mono"/>
            </a:endParaRPr>
          </a:p>
          <a:p>
            <a:pPr indent="0" algn="l">
              <a:lnSpc>
                <a:spcPct val="125000"/>
              </a:lnSpc>
            </a:pPr>
            <a:r>
              <a:rPr lang="en-US" sz="1400" b="0" i="0" u="none" strike="noStrike">
                <a:solidFill>
                  <a:srgbClr val="424242"/>
                </a:solidFill>
                <a:latin typeface="Roboto Mono"/>
                <a:ea typeface="Roboto Mono"/>
                <a:cs typeface="Roboto Mono"/>
                <a:sym typeface="Roboto Mono"/>
              </a:rPr>
              <a:t>v2 = [1, 1, 0, 0]</a:t>
            </a:r>
            <a:endParaRPr lang="en-US" sz="1400" b="0" i="0" u="none" strike="noStrike">
              <a:solidFill>
                <a:srgbClr val="424242"/>
              </a:solidFill>
              <a:latin typeface="Roboto Mono"/>
              <a:ea typeface="Roboto Mono"/>
              <a:cs typeface="Roboto Mono"/>
              <a:sym typeface="Roboto Mono"/>
            </a:endParaRPr>
          </a:p>
          <a:p>
            <a:pPr indent="0" algn="l">
              <a:lnSpc>
                <a:spcPct val="125000"/>
              </a:lnSpc>
            </a:pPr>
            <a:r>
              <a:rPr lang="en-US" sz="1400" b="0" i="0" u="none" strike="noStrike">
                <a:solidFill>
                  <a:srgbClr val="424242"/>
                </a:solidFill>
                <a:latin typeface="Roboto Mono"/>
                <a:ea typeface="Roboto Mono"/>
                <a:cs typeface="Roboto Mono"/>
                <a:sym typeface="Roboto Mono"/>
              </a:rPr>
              <a:t>print(hamming_distance(v1, v2))</a:t>
            </a:r>
            <a:r>
              <a:rPr lang="en-US" sz="1400" b="0" i="0" u="none" strike="noStrike">
                <a:solidFill>
                  <a:srgbClr val="757575"/>
                </a:solidFill>
                <a:latin typeface="Roboto Mono"/>
                <a:ea typeface="Roboto Mono"/>
                <a:cs typeface="Roboto Mono"/>
                <a:sym typeface="Roboto Mono"/>
              </a:rPr>
              <a:t># 输出: 0.5 (即2/4)</a:t>
            </a:r>
            <a:endParaRPr lang="en-US" sz="1400" b="0" i="0" u="none" strike="noStrike">
              <a:solidFill>
                <a:srgbClr val="757575"/>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5.2.1 向量距离的度量 - 切比雪夫距离</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55600" cy="355600"/>
          </a:xfrm>
          <a:prstGeom prst="rect">
            <a:avLst/>
          </a:prstGeom>
        </p:spPr>
      </p:pic>
      <p:sp>
        <p:nvSpPr>
          <p:cNvPr id="5" name="AutoShape 5"/>
          <p:cNvSpPr/>
          <p:nvPr/>
        </p:nvSpPr>
        <p:spPr>
          <a:xfrm>
            <a:off x="1460500" y="1879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定义与原理</a:t>
            </a:r>
            <a:endParaRPr lang="en-US" sz="1100"/>
          </a:p>
        </p:txBody>
      </p:sp>
      <p:cxnSp>
        <p:nvCxnSpPr>
          <p:cNvPr id="6" name="Connector 6"/>
          <p:cNvCxnSpPr/>
          <p:nvPr/>
        </p:nvCxnSpPr>
        <p:spPr>
          <a:xfrm rot="-9549">
            <a:off x="1016009" y="2343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2540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757575"/>
                </a:solidFill>
                <a:latin typeface="Noto Sans SC"/>
                <a:ea typeface="Noto Sans SC"/>
                <a:cs typeface="Noto Sans SC"/>
                <a:sym typeface="Noto Sans SC"/>
              </a:rPr>
              <a:t>定义：</a:t>
            </a:r>
            <a:r>
              <a:rPr lang="en-US" sz="1400" b="0" i="0" u="none" strike="noStrike">
                <a:solidFill>
                  <a:srgbClr val="424242"/>
                </a:solidFill>
                <a:latin typeface="Noto Sans SC"/>
                <a:ea typeface="Noto Sans SC"/>
                <a:cs typeface="Noto Sans SC"/>
                <a:sym typeface="Noto Sans SC"/>
              </a:rPr>
              <a:t>切比雪夫距离（Chebyshev Distance），又称棋盘距离。它衡量的是两个向量在各维度上差值的最大值，类似于国际象棋中“王”的移动方式。</a:t>
            </a:r>
            <a:endParaRPr lang="en-US" sz="1100"/>
          </a:p>
        </p:txBody>
      </p:sp>
      <p:sp>
        <p:nvSpPr>
          <p:cNvPr id="8" name="AutoShape 8"/>
          <p:cNvSpPr/>
          <p:nvPr/>
        </p:nvSpPr>
        <p:spPr>
          <a:xfrm>
            <a:off x="1016000" y="3683000"/>
            <a:ext cx="4572000" cy="1905000"/>
          </a:xfrm>
          <a:prstGeom prst="roundRect">
            <a:avLst>
              <a:gd name="adj" fmla="val 6666"/>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873500"/>
            <a:ext cx="304800" cy="304800"/>
          </a:xfrm>
          <a:prstGeom prst="rect">
            <a:avLst/>
          </a:prstGeom>
        </p:spPr>
      </p:pic>
      <p:sp>
        <p:nvSpPr>
          <p:cNvPr id="10" name="AutoShape 10"/>
          <p:cNvSpPr/>
          <p:nvPr/>
        </p:nvSpPr>
        <p:spPr>
          <a:xfrm>
            <a:off x="1587500" y="38735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计算公式</a:t>
            </a:r>
            <a:endParaRPr lang="en-US" sz="1100"/>
          </a:p>
        </p:txBody>
      </p:sp>
      <p:sp>
        <p:nvSpPr>
          <p:cNvPr id="11" name="AutoShape 11"/>
          <p:cNvSpPr/>
          <p:nvPr/>
        </p:nvSpPr>
        <p:spPr>
          <a:xfrm>
            <a:off x="1206500" y="4318000"/>
            <a:ext cx="4191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24242"/>
                </a:solidFill>
                <a:latin typeface="Noto Sans SC"/>
                <a:ea typeface="Noto Sans SC"/>
                <a:cs typeface="Noto Sans SC"/>
                <a:sym typeface="Noto Sans SC"/>
              </a:rPr>
              <a:t>d(x, y) = max(|xᵢ - yᵢ|)</a:t>
            </a:r>
            <a:endParaRPr lang="en-US" sz="1100"/>
          </a:p>
          <a:p>
            <a:pPr indent="0" algn="ctr">
              <a:lnSpc>
                <a:spcPct val="125000"/>
              </a:lnSpc>
            </a:pPr>
            <a:r>
              <a:rPr lang="en-US" sz="1200" b="0" i="0" u="none" strike="noStrike">
                <a:solidFill>
                  <a:srgbClr val="9E9E9E"/>
                </a:solidFill>
                <a:latin typeface="Noto Sans SC"/>
                <a:ea typeface="Noto Sans SC"/>
                <a:cs typeface="Noto Sans SC"/>
                <a:sym typeface="Noto Sans SC"/>
              </a:rPr>
              <a:t>其中 i 代表维度索引</a:t>
            </a:r>
            <a:endParaRPr lang="en-US" sz="1200" b="0" i="0" u="none" strike="noStrike">
              <a:solidFill>
                <a:srgbClr val="9E9E9E"/>
              </a:solidFill>
              <a:latin typeface="Noto Sans SC"/>
              <a:ea typeface="Noto Sans SC"/>
              <a:cs typeface="Noto Sans SC"/>
              <a:sym typeface="Noto Sans SC"/>
            </a:endParaRPr>
          </a:p>
        </p:txBody>
      </p:sp>
      <p:sp>
        <p:nvSpPr>
          <p:cNvPr id="12" name="AutoShape 12"/>
          <p:cNvSpPr/>
          <p:nvPr/>
        </p:nvSpPr>
        <p:spPr>
          <a:xfrm>
            <a:off x="6096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905000"/>
            <a:ext cx="355600" cy="355600"/>
          </a:xfrm>
          <a:prstGeom prst="rect">
            <a:avLst/>
          </a:prstGeom>
        </p:spPr>
      </p:pic>
      <p:sp>
        <p:nvSpPr>
          <p:cNvPr id="14" name="AutoShape 14"/>
          <p:cNvSpPr/>
          <p:nvPr/>
        </p:nvSpPr>
        <p:spPr>
          <a:xfrm>
            <a:off x="6794500" y="18796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Python 代码实现</a:t>
            </a:r>
            <a:endParaRPr lang="en-US" sz="1100"/>
          </a:p>
        </p:txBody>
      </p:sp>
      <p:cxnSp>
        <p:nvCxnSpPr>
          <p:cNvPr id="15" name="Connector 15"/>
          <p:cNvCxnSpPr/>
          <p:nvPr/>
        </p:nvCxnSpPr>
        <p:spPr>
          <a:xfrm rot="-9549">
            <a:off x="6350009" y="2343150"/>
            <a:ext cx="4572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6" name="AutoShape 16"/>
          <p:cNvSpPr/>
          <p:nvPr/>
        </p:nvSpPr>
        <p:spPr>
          <a:xfrm>
            <a:off x="6350000" y="2540000"/>
            <a:ext cx="4572000" cy="3175000"/>
          </a:xfrm>
          <a:prstGeom prst="roundRect">
            <a:avLst>
              <a:gd name="adj" fmla="val 4000"/>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2730500"/>
            <a:ext cx="4191000" cy="279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678DD"/>
                </a:solidFill>
                <a:latin typeface="Noto Sans SC"/>
                <a:ea typeface="Noto Sans SC"/>
                <a:cs typeface="Noto Sans SC"/>
                <a:sym typeface="Noto Sans SC"/>
              </a:rPr>
              <a:t>from</a:t>
            </a:r>
            <a:r>
              <a:rPr lang="en-US" sz="1400" b="0" i="0" u="none" strike="noStrike">
                <a:solidFill>
                  <a:srgbClr val="424242"/>
                </a:solidFill>
                <a:latin typeface="Noto Sans SC"/>
                <a:ea typeface="Noto Sans SC"/>
                <a:cs typeface="Noto Sans SC"/>
                <a:sym typeface="Noto Sans SC"/>
              </a:rPr>
              <a:t>scipy.spatial</a:t>
            </a:r>
            <a:r>
              <a:rPr lang="en-US" sz="1400" b="0" i="0" u="none" strike="noStrike">
                <a:solidFill>
                  <a:srgbClr val="C678DD"/>
                </a:solidFill>
                <a:latin typeface="Noto Sans SC"/>
                <a:ea typeface="Noto Sans SC"/>
                <a:cs typeface="Noto Sans SC"/>
                <a:sym typeface="Noto Sans SC"/>
              </a:rPr>
              <a:t>import</a:t>
            </a:r>
            <a:r>
              <a:rPr lang="en-US" sz="1400" b="0" i="0" u="none" strike="noStrike">
                <a:solidFill>
                  <a:srgbClr val="424242"/>
                </a:solidFill>
                <a:latin typeface="Noto Sans SC"/>
                <a:ea typeface="Noto Sans SC"/>
                <a:cs typeface="Noto Sans SC"/>
                <a:sym typeface="Noto Sans SC"/>
              </a:rPr>
              <a:t>distance</a:t>
            </a:r>
            <a:endParaRPr lang="en-US" sz="1100"/>
          </a:p>
          <a:p>
            <a:pPr indent="0" algn="l">
              <a:lnSpc>
                <a:spcPct val="125000"/>
              </a:lnSpc>
            </a:pPr>
            <a:r>
              <a:rPr lang="en-US" sz="1400" b="0" i="0" u="none" strike="noStrike">
                <a:solidFill>
                  <a:srgbClr val="C678DD"/>
                </a:solidFill>
                <a:latin typeface="Noto Sans SC"/>
                <a:ea typeface="Noto Sans SC"/>
                <a:cs typeface="Noto Sans SC"/>
                <a:sym typeface="Noto Sans SC"/>
              </a:rPr>
              <a:t>def</a:t>
            </a:r>
            <a:r>
              <a:rPr lang="en-US" sz="1400" b="0" i="0" u="none" strike="noStrike">
                <a:solidFill>
                  <a:srgbClr val="61AFEF"/>
                </a:solidFill>
                <a:latin typeface="Noto Sans SC"/>
                <a:ea typeface="Noto Sans SC"/>
                <a:cs typeface="Noto Sans SC"/>
                <a:sym typeface="Noto Sans SC"/>
              </a:rPr>
              <a:t>chebyshev_distance</a:t>
            </a:r>
            <a:r>
              <a:rPr lang="en-US" sz="1400" b="0" i="0" u="none" strike="noStrike">
                <a:solidFill>
                  <a:srgbClr val="424242"/>
                </a:solidFill>
                <a:latin typeface="Noto Sans SC"/>
                <a:ea typeface="Noto Sans SC"/>
                <a:cs typeface="Noto Sans SC"/>
                <a:sym typeface="Noto Sans SC"/>
              </a:rPr>
              <a:t>(v1, v2):</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r>
              <a:rPr lang="en-US" sz="1400" b="0" i="0" u="none" strike="noStrike">
                <a:solidFill>
                  <a:srgbClr val="C678DD"/>
                </a:solidFill>
                <a:latin typeface="Noto Sans SC"/>
                <a:ea typeface="Noto Sans SC"/>
                <a:cs typeface="Noto Sans SC"/>
                <a:sym typeface="Noto Sans SC"/>
              </a:rPr>
              <a:t>return</a:t>
            </a:r>
            <a:r>
              <a:rPr lang="en-US" sz="1400" b="0" i="0" u="none" strike="noStrike">
                <a:solidFill>
                  <a:srgbClr val="424242"/>
                </a:solidFill>
                <a:latin typeface="Noto Sans SC"/>
                <a:ea typeface="Noto Sans SC"/>
                <a:cs typeface="Noto Sans SC"/>
                <a:sym typeface="Noto Sans SC"/>
              </a:rPr>
              <a:t>distance.chebyshev(v1, v2)</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p>
          <a:p>
            <a:pPr indent="0" algn="l">
              <a:lnSpc>
                <a:spcPct val="125000"/>
              </a:lnSpc>
            </a:pPr>
            <a:r>
              <a:rPr lang="en-US" sz="1400" b="0" i="0" u="none" strike="noStrike">
                <a:solidFill>
                  <a:srgbClr val="5C6370"/>
                </a:solidFill>
                <a:latin typeface="Noto Sans SC"/>
                <a:ea typeface="Noto Sans SC"/>
                <a:cs typeface="Noto Sans SC"/>
                <a:sym typeface="Noto Sans SC"/>
              </a:rPr>
              <a:t># 示例：计算两个向量的距离</a:t>
            </a:r>
            <a:endParaRPr lang="en-US" sz="1400" b="0" i="0" u="none" strike="noStrike">
              <a:solidFill>
                <a:srgbClr val="5C6370"/>
              </a:solidFill>
              <a:latin typeface="Noto Sans SC"/>
              <a:ea typeface="Noto Sans SC"/>
              <a:cs typeface="Noto Sans SC"/>
              <a:sym typeface="Noto Sans SC"/>
            </a:endParaRPr>
          </a:p>
          <a:p>
            <a:pPr indent="0" algn="l">
              <a:lnSpc>
                <a:spcPct val="125000"/>
              </a:lnSpc>
            </a:pPr>
            <a:r>
              <a:rPr lang="en-US" sz="1400" b="0" i="0" u="none" strike="noStrike">
                <a:solidFill>
                  <a:srgbClr val="424242"/>
                </a:solidFill>
                <a:latin typeface="Noto Sans SC"/>
                <a:ea typeface="Noto Sans SC"/>
                <a:cs typeface="Noto Sans SC"/>
                <a:sym typeface="Noto Sans SC"/>
              </a:rPr>
              <a:t>vec1 = [1, 2, 3]</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r>
              <a:rPr lang="en-US" sz="1400" b="0" i="0" u="none" strike="noStrike">
                <a:solidFill>
                  <a:srgbClr val="424242"/>
                </a:solidFill>
                <a:latin typeface="Noto Sans SC"/>
                <a:ea typeface="Noto Sans SC"/>
                <a:cs typeface="Noto Sans SC"/>
                <a:sym typeface="Noto Sans SC"/>
              </a:rPr>
              <a:t>vec2 = [4, 5, 6]</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r>
              <a:rPr lang="en-US" sz="1400" b="0" i="0" u="none" strike="noStrike">
                <a:solidFill>
                  <a:srgbClr val="424242"/>
                </a:solidFill>
                <a:latin typeface="Noto Sans SC"/>
                <a:ea typeface="Noto Sans SC"/>
                <a:cs typeface="Noto Sans SC"/>
                <a:sym typeface="Noto Sans SC"/>
              </a:rPr>
              <a:t>print(chebyshev_distance(vec1, vec2))</a:t>
            </a:r>
            <a:r>
              <a:rPr lang="en-US" sz="1400" b="0" i="0" u="none" strike="noStrike">
                <a:solidFill>
                  <a:srgbClr val="5C6370"/>
                </a:solidFill>
                <a:latin typeface="Noto Sans SC"/>
                <a:ea typeface="Noto Sans SC"/>
                <a:cs typeface="Noto Sans SC"/>
                <a:sym typeface="Noto Sans SC"/>
              </a:rPr>
              <a:t># 输出: 3</a:t>
            </a:r>
            <a:endParaRPr lang="en-US" sz="1400" b="0" i="0" u="none" strike="noStrike">
              <a:solidFill>
                <a:srgbClr val="5C6370"/>
              </a:solidFill>
              <a:latin typeface="Noto Sans SC"/>
              <a:ea typeface="Noto Sans SC"/>
              <a:cs typeface="Noto Sans SC"/>
              <a:sym typeface="Noto Sans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5.2.1 向量距离的度量 - 余弦距离</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304800" cy="304800"/>
          </a:xfrm>
          <a:prstGeom prst="rect">
            <a:avLst/>
          </a:prstGeom>
        </p:spPr>
      </p:pic>
      <p:sp>
        <p:nvSpPr>
          <p:cNvPr id="5" name="AutoShape 5"/>
          <p:cNvSpPr/>
          <p:nvPr/>
        </p:nvSpPr>
        <p:spPr>
          <a:xfrm>
            <a:off x="1397000" y="187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核心概念与定义</a:t>
            </a:r>
            <a:endParaRPr lang="en-US" sz="1100"/>
          </a:p>
        </p:txBody>
      </p:sp>
      <p:cxnSp>
        <p:nvCxnSpPr>
          <p:cNvPr id="6" name="Connector 6"/>
          <p:cNvCxnSpPr/>
          <p:nvPr/>
        </p:nvCxnSpPr>
        <p:spPr>
          <a:xfrm rot="-9549">
            <a:off x="1016009" y="2279650"/>
            <a:ext cx="4572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2413000"/>
            <a:ext cx="4572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余弦相似度衡量的是两个向量之间的夹角余弦值，主要反映它们在方向上的相似性，而非绝对距离。</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余弦距离 = 1 - 余弦相似度</a:t>
            </a:r>
            <a:endParaRPr lang="en-US" sz="1400" b="0" i="0" u="none" strike="noStrike">
              <a:solidFill>
                <a:srgbClr val="757575"/>
              </a:solidFill>
              <a:latin typeface="Noto Sans SC"/>
              <a:ea typeface="Noto Sans SC"/>
              <a:cs typeface="Noto Sans SC"/>
              <a:sym typeface="Noto Sans SC"/>
            </a:endParaRPr>
          </a:p>
        </p:txBody>
      </p:sp>
      <p:sp>
        <p:nvSpPr>
          <p:cNvPr id="8" name="AutoShape 8"/>
          <p:cNvSpPr/>
          <p:nvPr/>
        </p:nvSpPr>
        <p:spPr>
          <a:xfrm>
            <a:off x="1016000" y="3810000"/>
            <a:ext cx="4572000" cy="1778000"/>
          </a:xfrm>
          <a:prstGeom prst="roundRect">
            <a:avLst>
              <a:gd name="adj" fmla="val 7142"/>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937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数学公式</a:t>
            </a:r>
            <a:endParaRPr lang="en-US" sz="1100"/>
          </a:p>
        </p:txBody>
      </p:sp>
      <p:sp>
        <p:nvSpPr>
          <p:cNvPr id="10" name="AutoShape 10"/>
          <p:cNvSpPr/>
          <p:nvPr/>
        </p:nvSpPr>
        <p:spPr>
          <a:xfrm>
            <a:off x="1206500" y="4318000"/>
            <a:ext cx="4191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424242"/>
                </a:solidFill>
                <a:latin typeface="Noto Sans SC"/>
                <a:ea typeface="Noto Sans SC"/>
                <a:cs typeface="Noto Sans SC"/>
                <a:sym typeface="Noto Sans SC"/>
              </a:rPr>
              <a:t>Similarity = (x · y) / (||x|| · ||y||)</a:t>
            </a:r>
            <a:endParaRPr lang="en-US" sz="1100"/>
          </a:p>
        </p:txBody>
      </p:sp>
      <p:sp>
        <p:nvSpPr>
          <p:cNvPr id="11" name="AutoShape 11"/>
          <p:cNvSpPr/>
          <p:nvPr/>
        </p:nvSpPr>
        <p:spPr>
          <a:xfrm>
            <a:off x="6096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1905000"/>
            <a:ext cx="304800" cy="304800"/>
          </a:xfrm>
          <a:prstGeom prst="rect">
            <a:avLst/>
          </a:prstGeom>
        </p:spPr>
      </p:pic>
      <p:sp>
        <p:nvSpPr>
          <p:cNvPr id="13" name="AutoShape 13"/>
          <p:cNvSpPr/>
          <p:nvPr/>
        </p:nvSpPr>
        <p:spPr>
          <a:xfrm>
            <a:off x="6731000" y="18796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Python 代码实现</a:t>
            </a:r>
            <a:endParaRPr lang="en-US" sz="1100"/>
          </a:p>
        </p:txBody>
      </p:sp>
      <p:cxnSp>
        <p:nvCxnSpPr>
          <p:cNvPr id="14" name="Connector 14"/>
          <p:cNvCxnSpPr/>
          <p:nvPr/>
        </p:nvCxnSpPr>
        <p:spPr>
          <a:xfrm rot="-9549">
            <a:off x="6350009" y="2279650"/>
            <a:ext cx="4572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5" name="AutoShape 15"/>
          <p:cNvSpPr/>
          <p:nvPr/>
        </p:nvSpPr>
        <p:spPr>
          <a:xfrm>
            <a:off x="6350000" y="2413000"/>
            <a:ext cx="4572000" cy="3302000"/>
          </a:xfrm>
          <a:prstGeom prst="roundRect">
            <a:avLst>
              <a:gd name="adj" fmla="val 3846"/>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540500" y="2603500"/>
            <a:ext cx="4191000" cy="292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 导入必要的库</a:t>
            </a:r>
            <a:endParaRPr lang="en-US" sz="1100"/>
          </a:p>
          <a:p>
            <a:pPr indent="0" algn="l">
              <a:lnSpc>
                <a:spcPct val="125000"/>
              </a:lnSpc>
            </a:pPr>
            <a:r>
              <a:rPr lang="en-US" sz="1400" b="0" i="0" u="none" strike="noStrike">
                <a:solidFill>
                  <a:srgbClr val="0288D1"/>
                </a:solidFill>
                <a:latin typeface="Noto Sans SC"/>
                <a:ea typeface="Noto Sans SC"/>
                <a:cs typeface="Noto Sans SC"/>
                <a:sym typeface="Noto Sans SC"/>
              </a:rPr>
              <a:t>from</a:t>
            </a:r>
            <a:r>
              <a:rPr lang="en-US" sz="1400" b="0" i="0" u="none" strike="noStrike">
                <a:solidFill>
                  <a:srgbClr val="424242"/>
                </a:solidFill>
                <a:latin typeface="Noto Sans SC"/>
                <a:ea typeface="Noto Sans SC"/>
                <a:cs typeface="Noto Sans SC"/>
                <a:sym typeface="Noto Sans SC"/>
              </a:rPr>
              <a:t>scipy.spatial</a:t>
            </a:r>
            <a:r>
              <a:rPr lang="en-US" sz="1400" b="0" i="0" u="none" strike="noStrike">
                <a:solidFill>
                  <a:srgbClr val="0288D1"/>
                </a:solidFill>
                <a:latin typeface="Noto Sans SC"/>
                <a:ea typeface="Noto Sans SC"/>
                <a:cs typeface="Noto Sans SC"/>
                <a:sym typeface="Noto Sans SC"/>
              </a:rPr>
              <a:t>import</a:t>
            </a:r>
            <a:r>
              <a:rPr lang="en-US" sz="1400" b="0" i="0" u="none" strike="noStrike">
                <a:solidFill>
                  <a:srgbClr val="424242"/>
                </a:solidFill>
                <a:latin typeface="Noto Sans SC"/>
                <a:ea typeface="Noto Sans SC"/>
                <a:cs typeface="Noto Sans SC"/>
                <a:sym typeface="Noto Sans SC"/>
              </a:rPr>
              <a:t>distance</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p>
          <a:p>
            <a:pPr indent="0" algn="l">
              <a:lnSpc>
                <a:spcPct val="125000"/>
              </a:lnSpc>
            </a:pPr>
            <a:r>
              <a:rPr lang="en-US" sz="1400" b="0" i="0" u="none" strike="noStrike">
                <a:solidFill>
                  <a:srgbClr val="0288D1"/>
                </a:solidFill>
                <a:latin typeface="Noto Sans SC"/>
                <a:ea typeface="Noto Sans SC"/>
                <a:cs typeface="Noto Sans SC"/>
                <a:sym typeface="Noto Sans SC"/>
              </a:rPr>
              <a:t>def</a:t>
            </a:r>
            <a:r>
              <a:rPr lang="en-US" sz="1400" b="0" i="0" u="none" strike="noStrike">
                <a:solidFill>
                  <a:srgbClr val="424242"/>
                </a:solidFill>
                <a:latin typeface="Noto Sans SC"/>
                <a:ea typeface="Noto Sans SC"/>
                <a:cs typeface="Noto Sans SC"/>
                <a:sym typeface="Noto Sans SC"/>
              </a:rPr>
              <a:t>cosine_similarity(v1, v2):</a:t>
            </a:r>
            <a:endParaRPr lang="en-US" sz="1400" b="0" i="0" u="none" strike="noStrike">
              <a:solidFill>
                <a:srgbClr val="424242"/>
              </a:solidFill>
              <a:latin typeface="Noto Sans SC"/>
              <a:ea typeface="Noto Sans SC"/>
              <a:cs typeface="Noto Sans SC"/>
              <a:sym typeface="Noto Sans SC"/>
            </a:endParaRPr>
          </a:p>
          <a:p>
            <a:pPr indent="0" algn="l">
              <a:lnSpc>
                <a:spcPct val="125000"/>
              </a:lnSpc>
            </a:pPr>
            <a:r>
              <a:rPr lang="en-US" sz="1400" b="0" i="0" u="none" strike="noStrike">
                <a:solidFill>
                  <a:srgbClr val="757575"/>
                </a:solidFill>
                <a:latin typeface="Noto Sans SC"/>
                <a:ea typeface="Noto Sans SC"/>
                <a:cs typeface="Noto Sans SC"/>
                <a:sym typeface="Noto Sans SC"/>
              </a:rPr>
              <a:t># 计算余弦相似度</a:t>
            </a:r>
            <a:endParaRPr lang="en-US" sz="1400" b="0" i="0" u="none" strike="noStrike">
              <a:solidFill>
                <a:srgbClr val="757575"/>
              </a:solidFill>
              <a:latin typeface="Noto Sans SC"/>
              <a:ea typeface="Noto Sans SC"/>
              <a:cs typeface="Noto Sans SC"/>
              <a:sym typeface="Noto Sans SC"/>
            </a:endParaRPr>
          </a:p>
          <a:p>
            <a:pPr indent="0" algn="l">
              <a:lnSpc>
                <a:spcPct val="125000"/>
              </a:lnSpc>
            </a:pPr>
            <a:r>
              <a:rPr lang="en-US" sz="1400" b="0" i="0" u="none" strike="noStrike">
                <a:solidFill>
                  <a:srgbClr val="0288D1"/>
                </a:solidFill>
                <a:latin typeface="Noto Sans SC"/>
                <a:ea typeface="Noto Sans SC"/>
                <a:cs typeface="Noto Sans SC"/>
                <a:sym typeface="Noto Sans SC"/>
              </a:rPr>
              <a:t>return</a:t>
            </a:r>
            <a:r>
              <a:rPr lang="en-US" sz="1400" b="0" i="0" u="none" strike="noStrike">
                <a:solidFill>
                  <a:srgbClr val="424242"/>
                </a:solidFill>
                <a:latin typeface="Noto Sans SC"/>
                <a:ea typeface="Noto Sans SC"/>
                <a:cs typeface="Noto Sans SC"/>
                <a:sym typeface="Noto Sans SC"/>
              </a:rPr>
              <a:t>1 - distance.cosine(v1, v2)</a:t>
            </a:r>
            <a:endParaRPr lang="en-US" sz="14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5.2.2 相似度搜索算法 - 概述</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79500" y="2095500"/>
            <a:ext cx="609600" cy="609600"/>
          </a:xfrm>
          <a:prstGeom prst="rect">
            <a:avLst/>
          </a:prstGeom>
        </p:spPr>
      </p:pic>
      <p:sp>
        <p:nvSpPr>
          <p:cNvPr id="5" name="AutoShape 5"/>
          <p:cNvSpPr/>
          <p:nvPr/>
        </p:nvSpPr>
        <p:spPr>
          <a:xfrm>
            <a:off x="1079500" y="279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核心思想</a:t>
            </a:r>
            <a:endParaRPr lang="en-US" sz="1100"/>
          </a:p>
        </p:txBody>
      </p:sp>
      <p:cxnSp>
        <p:nvCxnSpPr>
          <p:cNvPr id="6" name="Connector 6"/>
          <p:cNvCxnSpPr/>
          <p:nvPr/>
        </p:nvCxnSpPr>
        <p:spPr>
          <a:xfrm rot="-16370">
            <a:off x="1079515" y="3232150"/>
            <a:ext cx="2667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79500" y="3365500"/>
            <a:ext cx="2667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将源数据转换为向量并存储，用户查询时转换为向量，与库中向量进行相似度计算，返回TOP-K相似结果。</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62500" y="2095500"/>
            <a:ext cx="609600" cy="609600"/>
          </a:xfrm>
          <a:prstGeom prst="rect">
            <a:avLst/>
          </a:prstGeom>
        </p:spPr>
      </p:pic>
      <p:sp>
        <p:nvSpPr>
          <p:cNvPr id="10" name="AutoShape 10"/>
          <p:cNvSpPr/>
          <p:nvPr/>
        </p:nvSpPr>
        <p:spPr>
          <a:xfrm>
            <a:off x="4762500" y="279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暴力搜索的局限</a:t>
            </a:r>
            <a:endParaRPr lang="en-US" sz="1100"/>
          </a:p>
        </p:txBody>
      </p:sp>
      <p:cxnSp>
        <p:nvCxnSpPr>
          <p:cNvPr id="11" name="Connector 11"/>
          <p:cNvCxnSpPr/>
          <p:nvPr/>
        </p:nvCxnSpPr>
        <p:spPr>
          <a:xfrm rot="-16370">
            <a:off x="4762515" y="3232150"/>
            <a:ext cx="2667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4762500" y="3365500"/>
            <a:ext cx="2667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对海量数据进行逐一计算，时间复杂度高，效率极低，无法满足实时应用的响应需求。</a:t>
            </a:r>
            <a:endParaRPr lang="en-US" sz="1100"/>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2095500"/>
            <a:ext cx="609600" cy="609600"/>
          </a:xfrm>
          <a:prstGeom prst="rect">
            <a:avLst/>
          </a:prstGeom>
        </p:spPr>
      </p:pic>
      <p:sp>
        <p:nvSpPr>
          <p:cNvPr id="15" name="AutoShape 15"/>
          <p:cNvSpPr/>
          <p:nvPr/>
        </p:nvSpPr>
        <p:spPr>
          <a:xfrm>
            <a:off x="8445500" y="27940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算法定义与价值</a:t>
            </a:r>
            <a:endParaRPr lang="en-US" sz="1100"/>
          </a:p>
        </p:txBody>
      </p:sp>
      <p:cxnSp>
        <p:nvCxnSpPr>
          <p:cNvPr id="16" name="Connector 16"/>
          <p:cNvCxnSpPr/>
          <p:nvPr/>
        </p:nvCxnSpPr>
        <p:spPr>
          <a:xfrm rot="-16370">
            <a:off x="8445515" y="3232150"/>
            <a:ext cx="2667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7" name="AutoShape 17"/>
          <p:cNvSpPr/>
          <p:nvPr/>
        </p:nvSpPr>
        <p:spPr>
          <a:xfrm>
            <a:off x="8445500" y="3365500"/>
            <a:ext cx="2667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用于在大规模向量数据集中快速找到与目标向量最相似的向量，是向量数据库性能的关键。</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5.2.2 相似度搜索算法 - KNN算法</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核心思想</a:t>
            </a:r>
            <a:endParaRPr lang="en-US" sz="1100"/>
          </a:p>
        </p:txBody>
      </p:sp>
      <p:cxnSp>
        <p:nvCxnSpPr>
          <p:cNvPr id="6" name="Connector 6"/>
          <p:cNvCxnSpPr/>
          <p:nvPr/>
        </p:nvCxnSpPr>
        <p:spPr>
          <a:xfrm rot="-9291">
            <a:off x="1016009" y="2343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7" name="AutoShape 7"/>
          <p:cNvSpPr/>
          <p:nvPr/>
        </p:nvSpPr>
        <p:spPr>
          <a:xfrm>
            <a:off x="1016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计算查询向量与数据集中所有向量的距离，选取距离最近的k个向量作为结果。本质是基于实例的学习。</a:t>
            </a:r>
            <a:endParaRPr lang="en-US" sz="1100"/>
          </a:p>
        </p:txBody>
      </p:sp>
      <p:sp>
        <p:nvSpPr>
          <p:cNvPr id="8" name="AutoShape 8"/>
          <p:cNvSpPr/>
          <p:nvPr/>
        </p:nvSpPr>
        <p:spPr>
          <a:xfrm>
            <a:off x="6223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05000"/>
            <a:ext cx="406400" cy="406400"/>
          </a:xfrm>
          <a:prstGeom prst="rect">
            <a:avLst/>
          </a:prstGeom>
        </p:spPr>
      </p:pic>
      <p:sp>
        <p:nvSpPr>
          <p:cNvPr id="10" name="AutoShape 10"/>
          <p:cNvSpPr/>
          <p:nvPr/>
        </p:nvSpPr>
        <p:spPr>
          <a:xfrm>
            <a:off x="6985000" y="1879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执行步骤</a:t>
            </a:r>
            <a:endParaRPr lang="en-US" sz="1100"/>
          </a:p>
        </p:txBody>
      </p:sp>
      <p:cxnSp>
        <p:nvCxnSpPr>
          <p:cNvPr id="11" name="Connector 11"/>
          <p:cNvCxnSpPr/>
          <p:nvPr/>
        </p:nvCxnSpPr>
        <p:spPr>
          <a:xfrm rot="-9291">
            <a:off x="6477009" y="2343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12" name="AutoShape 12"/>
          <p:cNvSpPr/>
          <p:nvPr/>
        </p:nvSpPr>
        <p:spPr>
          <a:xfrm>
            <a:off x="6477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1. 计算距离：计算查询点与所有样本点的距离。</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2. 排序：按距离从小到大排序。</a:t>
            </a:r>
            <a:endParaRPr lang="en-US" sz="1400" b="0" i="0" u="none" strike="noStrike">
              <a:solidFill>
                <a:srgbClr val="757575"/>
              </a:solidFill>
              <a:latin typeface="Noto Sans SC"/>
              <a:ea typeface="Noto Sans SC"/>
              <a:cs typeface="Noto Sans SC"/>
              <a:sym typeface="Noto Sans SC"/>
            </a:endParaRPr>
          </a:p>
          <a:p>
            <a:pPr indent="0" algn="l">
              <a:lnSpc>
                <a:spcPct val="125000"/>
              </a:lnSpc>
            </a:pPr>
            <a:r>
              <a:rPr lang="en-US" sz="1400" b="0" i="0" u="none" strike="noStrike">
                <a:solidFill>
                  <a:srgbClr val="757575"/>
                </a:solidFill>
                <a:latin typeface="Noto Sans SC"/>
                <a:ea typeface="Noto Sans SC"/>
                <a:cs typeface="Noto Sans SC"/>
                <a:sym typeface="Noto Sans SC"/>
              </a:rPr>
              <a:t>3. 选取：选取前k个样本作为邻居。</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762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406400" cy="406400"/>
          </a:xfrm>
          <a:prstGeom prst="rect">
            <a:avLst/>
          </a:prstGeom>
        </p:spPr>
      </p:pic>
      <p:sp>
        <p:nvSpPr>
          <p:cNvPr id="15" name="AutoShape 15"/>
          <p:cNvSpPr/>
          <p:nvPr/>
        </p:nvSpPr>
        <p:spPr>
          <a:xfrm>
            <a:off x="1524000" y="4292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优缺点分析</a:t>
            </a:r>
            <a:endParaRPr lang="en-US" sz="1100"/>
          </a:p>
        </p:txBody>
      </p:sp>
      <p:cxnSp>
        <p:nvCxnSpPr>
          <p:cNvPr id="16" name="Connector 16"/>
          <p:cNvCxnSpPr/>
          <p:nvPr/>
        </p:nvCxnSpPr>
        <p:spPr>
          <a:xfrm rot="-9291">
            <a:off x="1016009" y="4756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17" name="AutoShape 17"/>
          <p:cNvSpPr/>
          <p:nvPr/>
        </p:nvSpPr>
        <p:spPr>
          <a:xfrm>
            <a:off x="1016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优点：</a:t>
            </a:r>
            <a:r>
              <a:rPr lang="en-US" sz="1400" b="0" i="0" u="none" strike="noStrike">
                <a:solidFill>
                  <a:srgbClr val="757575"/>
                </a:solidFill>
                <a:latin typeface="Noto Sans SC"/>
                <a:ea typeface="Noto Sans SC"/>
                <a:cs typeface="Noto Sans SC"/>
                <a:sym typeface="Noto Sans SC"/>
              </a:rPr>
              <a:t>理论成熟，结果准确，无需训练过程。</a:t>
            </a:r>
            <a:endParaRPr lang="en-US" sz="1100"/>
          </a:p>
          <a:p>
            <a:pPr indent="0" algn="l">
              <a:lnSpc>
                <a:spcPct val="125000"/>
              </a:lnSpc>
            </a:pPr>
            <a:r>
              <a:rPr lang="en-US" sz="1400" b="1" i="0" u="none" strike="noStrike">
                <a:solidFill>
                  <a:srgbClr val="E65100"/>
                </a:solidFill>
                <a:latin typeface="Noto Sans SC"/>
                <a:ea typeface="Noto Sans SC"/>
                <a:cs typeface="Noto Sans SC"/>
                <a:sym typeface="Noto Sans SC"/>
              </a:rPr>
              <a:t>缺点：</a:t>
            </a:r>
            <a:r>
              <a:rPr lang="en-US" sz="1400" b="0" i="0" u="none" strike="noStrike">
                <a:solidFill>
                  <a:srgbClr val="757575"/>
                </a:solidFill>
                <a:latin typeface="Noto Sans SC"/>
                <a:ea typeface="Noto Sans SC"/>
                <a:cs typeface="Noto Sans SC"/>
                <a:sym typeface="Noto Sans SC"/>
              </a:rPr>
              <a:t>计算复杂度高（O(n)），内存开销大，大数据集效率低下。</a:t>
            </a:r>
            <a:endParaRPr lang="en-US" sz="14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6223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406400" cy="406400"/>
          </a:xfrm>
          <a:prstGeom prst="rect">
            <a:avLst/>
          </a:prstGeom>
        </p:spPr>
      </p:pic>
      <p:sp>
        <p:nvSpPr>
          <p:cNvPr id="20" name="AutoShape 20"/>
          <p:cNvSpPr/>
          <p:nvPr/>
        </p:nvSpPr>
        <p:spPr>
          <a:xfrm>
            <a:off x="6985000" y="42926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适用场景</a:t>
            </a:r>
            <a:endParaRPr lang="en-US" sz="1100"/>
          </a:p>
        </p:txBody>
      </p:sp>
      <p:cxnSp>
        <p:nvCxnSpPr>
          <p:cNvPr id="21" name="Connector 21"/>
          <p:cNvCxnSpPr/>
          <p:nvPr/>
        </p:nvCxnSpPr>
        <p:spPr>
          <a:xfrm rot="-9291">
            <a:off x="6477009" y="4756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22" name="AutoShape 22"/>
          <p:cNvSpPr/>
          <p:nvPr/>
        </p:nvSpPr>
        <p:spPr>
          <a:xfrm>
            <a:off x="6477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适用于小规模数据集（通常小于50万条），对实时性要求不高，且追求高召回率的场景。</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5.2.2 相似度搜索算法 - HNSW算法</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879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核心思想：多层导航小世界图</a:t>
            </a:r>
            <a:endParaRPr lang="en-US" sz="1100"/>
          </a:p>
        </p:txBody>
      </p:sp>
      <p:cxnSp>
        <p:nvCxnSpPr>
          <p:cNvPr id="6" name="Connector 6"/>
          <p:cNvCxnSpPr/>
          <p:nvPr/>
        </p:nvCxnSpPr>
        <p:spPr>
          <a:xfrm rot="-9291">
            <a:off x="1016009" y="2343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7" name="AutoShape 7"/>
          <p:cNvSpPr/>
          <p:nvPr/>
        </p:nvSpPr>
        <p:spPr>
          <a:xfrm>
            <a:off x="1016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一种基于图的近似最近邻搜索算法。通过构建多层导航小世界图（Hierarchical Navigable Small World），将相似向量连接，从而实现快速的近似搜索。</a:t>
            </a:r>
            <a:endParaRPr lang="en-US" sz="1100"/>
          </a:p>
        </p:txBody>
      </p:sp>
      <p:sp>
        <p:nvSpPr>
          <p:cNvPr id="8" name="AutoShape 8"/>
          <p:cNvSpPr/>
          <p:nvPr/>
        </p:nvSpPr>
        <p:spPr>
          <a:xfrm>
            <a:off x="6223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05000"/>
            <a:ext cx="406400" cy="406400"/>
          </a:xfrm>
          <a:prstGeom prst="rect">
            <a:avLst/>
          </a:prstGeom>
        </p:spPr>
      </p:pic>
      <p:sp>
        <p:nvSpPr>
          <p:cNvPr id="10" name="AutoShape 10"/>
          <p:cNvSpPr/>
          <p:nvPr/>
        </p:nvSpPr>
        <p:spPr>
          <a:xfrm>
            <a:off x="6985000" y="1879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核心特点：空间换时间</a:t>
            </a:r>
            <a:endParaRPr lang="en-US" sz="1100"/>
          </a:p>
        </p:txBody>
      </p:sp>
      <p:cxnSp>
        <p:nvCxnSpPr>
          <p:cNvPr id="11" name="Connector 11"/>
          <p:cNvCxnSpPr/>
          <p:nvPr/>
        </p:nvCxnSpPr>
        <p:spPr>
          <a:xfrm rot="-9291">
            <a:off x="6477009" y="2343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12" name="AutoShape 12"/>
          <p:cNvSpPr/>
          <p:nvPr/>
        </p:nvSpPr>
        <p:spPr>
          <a:xfrm>
            <a:off x="6477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采用典型的“空间换时间”策略。通过预建复杂的索引结构，显著提高在线搜索阶段的速度，适用于对检索延迟要求较高的场景。</a:t>
            </a:r>
            <a:endParaRPr lang="en-US" sz="1100"/>
          </a:p>
        </p:txBody>
      </p:sp>
      <p:sp>
        <p:nvSpPr>
          <p:cNvPr id="13" name="AutoShape 13"/>
          <p:cNvSpPr/>
          <p:nvPr/>
        </p:nvSpPr>
        <p:spPr>
          <a:xfrm>
            <a:off x="762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406400" cy="406400"/>
          </a:xfrm>
          <a:prstGeom prst="rect">
            <a:avLst/>
          </a:prstGeom>
        </p:spPr>
      </p:pic>
      <p:sp>
        <p:nvSpPr>
          <p:cNvPr id="15" name="AutoShape 15"/>
          <p:cNvSpPr/>
          <p:nvPr/>
        </p:nvSpPr>
        <p:spPr>
          <a:xfrm>
            <a:off x="1524000" y="429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性能权衡：高效与代价</a:t>
            </a:r>
            <a:endParaRPr lang="en-US" sz="1100"/>
          </a:p>
        </p:txBody>
      </p:sp>
      <p:cxnSp>
        <p:nvCxnSpPr>
          <p:cNvPr id="16" name="Connector 16"/>
          <p:cNvCxnSpPr/>
          <p:nvPr/>
        </p:nvCxnSpPr>
        <p:spPr>
          <a:xfrm rot="-9291">
            <a:off x="1016009" y="4756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17" name="AutoShape 17"/>
          <p:cNvSpPr/>
          <p:nvPr/>
        </p:nvSpPr>
        <p:spPr>
          <a:xfrm>
            <a:off x="1016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优点：检索速度极快，召回率高，在高维向量检索中表现优异。</a:t>
            </a:r>
            <a:endParaRPr lang="en-US" sz="1100"/>
          </a:p>
          <a:p>
            <a:pPr indent="0" algn="l">
              <a:lnSpc>
                <a:spcPct val="125000"/>
              </a:lnSpc>
            </a:pPr>
            <a:r>
              <a:rPr lang="en-US" sz="1400" b="0" i="0" u="none" strike="noStrike">
                <a:solidFill>
                  <a:srgbClr val="757575"/>
                </a:solidFill>
                <a:latin typeface="Noto Sans SC"/>
                <a:ea typeface="Noto Sans SC"/>
                <a:cs typeface="Noto Sans SC"/>
                <a:sym typeface="Noto Sans SC"/>
              </a:rPr>
              <a:t>缺点：索引构建时间较长，且索引文件体积大，对内存资源消耗较高。</a:t>
            </a:r>
            <a:endParaRPr lang="en-US" sz="1400" b="0" i="0" u="none" strike="noStrike">
              <a:solidFill>
                <a:srgbClr val="757575"/>
              </a:solidFill>
              <a:latin typeface="Noto Sans SC"/>
              <a:ea typeface="Noto Sans SC"/>
              <a:cs typeface="Noto Sans SC"/>
              <a:sym typeface="Noto Sans SC"/>
            </a:endParaRPr>
          </a:p>
        </p:txBody>
      </p:sp>
      <p:sp>
        <p:nvSpPr>
          <p:cNvPr id="18" name="AutoShape 18"/>
          <p:cNvSpPr/>
          <p:nvPr/>
        </p:nvSpPr>
        <p:spPr>
          <a:xfrm>
            <a:off x="6223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406400" cy="406400"/>
          </a:xfrm>
          <a:prstGeom prst="rect">
            <a:avLst/>
          </a:prstGeom>
        </p:spPr>
      </p:pic>
      <p:sp>
        <p:nvSpPr>
          <p:cNvPr id="20" name="AutoShape 20"/>
          <p:cNvSpPr/>
          <p:nvPr/>
        </p:nvSpPr>
        <p:spPr>
          <a:xfrm>
            <a:off x="6985000" y="4292600"/>
            <a:ext cx="4191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适用场景：高资源配置环境</a:t>
            </a:r>
            <a:endParaRPr lang="en-US" sz="1100"/>
          </a:p>
        </p:txBody>
      </p:sp>
      <p:cxnSp>
        <p:nvCxnSpPr>
          <p:cNvPr id="21" name="Connector 21"/>
          <p:cNvCxnSpPr/>
          <p:nvPr/>
        </p:nvCxnSpPr>
        <p:spPr>
          <a:xfrm rot="-9291">
            <a:off x="6477009" y="4756150"/>
            <a:ext cx="4699000" cy="12700"/>
          </a:xfrm>
          <a:prstGeom prst="line">
            <a:avLst/>
          </a:prstGeom>
          <a:solidFill>
            <a:srgbClr val="DEE0E3">
              <a:alpha val="100000"/>
            </a:srgbClr>
          </a:solidFill>
          <a:ln w="12700" cap="flat" cmpd="sng">
            <a:solidFill>
              <a:srgbClr val="0288D1">
                <a:alpha val="20000"/>
              </a:srgbClr>
            </a:solidFill>
            <a:prstDash val="solid"/>
            <a:round/>
            <a:headEnd type="none" w="med" len="med"/>
            <a:tailEnd type="none" w="med" len="med"/>
          </a:ln>
        </p:spPr>
      </p:cxnSp>
      <p:sp>
        <p:nvSpPr>
          <p:cNvPr id="22" name="AutoShape 22"/>
          <p:cNvSpPr/>
          <p:nvPr/>
        </p:nvSpPr>
        <p:spPr>
          <a:xfrm>
            <a:off x="6477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适用于拥有充足内存资源的服务器环境，且数据更新频率不高，允许离线构建索引的场景，如大规模图像检索、推荐系统等。</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5.2.2 相似度搜索算法 - LSH算法</a:t>
            </a:r>
            <a:endParaRPr lang="en-US" sz="1100"/>
          </a:p>
        </p:txBody>
      </p:sp>
      <p:sp>
        <p:nvSpPr>
          <p:cNvPr id="3" name="AutoShape 3"/>
          <p:cNvSpPr/>
          <p:nvPr/>
        </p:nvSpPr>
        <p:spPr>
          <a:xfrm>
            <a:off x="762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905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核心思想：局部敏感哈希</a:t>
            </a:r>
            <a:endParaRPr lang="en-US" sz="1100"/>
          </a:p>
        </p:txBody>
      </p:sp>
      <p:cxnSp>
        <p:nvCxnSpPr>
          <p:cNvPr id="6" name="Connector 6"/>
          <p:cNvCxnSpPr/>
          <p:nvPr/>
        </p:nvCxnSpPr>
        <p:spPr>
          <a:xfrm rot="-9291">
            <a:off x="1016009" y="2343150"/>
            <a:ext cx="4699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利用哈希函数将相似的向量映射到同一个“桶”中，从而快速筛选出候选集，避免全量比对。</a:t>
            </a:r>
            <a:endParaRPr lang="en-US" sz="1100"/>
          </a:p>
        </p:txBody>
      </p:sp>
      <p:sp>
        <p:nvSpPr>
          <p:cNvPr id="8" name="AutoShape 8"/>
          <p:cNvSpPr/>
          <p:nvPr/>
        </p:nvSpPr>
        <p:spPr>
          <a:xfrm>
            <a:off x="6223000" y="1651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905000"/>
            <a:ext cx="406400" cy="406400"/>
          </a:xfrm>
          <a:prstGeom prst="rect">
            <a:avLst/>
          </a:prstGeom>
        </p:spPr>
      </p:pic>
      <p:sp>
        <p:nvSpPr>
          <p:cNvPr id="10" name="AutoShape 10"/>
          <p:cNvSpPr/>
          <p:nvPr/>
        </p:nvSpPr>
        <p:spPr>
          <a:xfrm>
            <a:off x="6985000" y="1905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算法特点</a:t>
            </a:r>
            <a:endParaRPr lang="en-US" sz="1100"/>
          </a:p>
        </p:txBody>
      </p:sp>
      <p:cxnSp>
        <p:nvCxnSpPr>
          <p:cNvPr id="11" name="Connector 11"/>
          <p:cNvCxnSpPr/>
          <p:nvPr/>
        </p:nvCxnSpPr>
        <p:spPr>
          <a:xfrm rot="-9291">
            <a:off x="6477009" y="2343150"/>
            <a:ext cx="4699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6477000" y="2476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训练和检索速度极快，内存占用小，支持大规模数据的分批导入，适合高并发场景。</a:t>
            </a:r>
            <a:endParaRPr lang="en-US" sz="1100"/>
          </a:p>
        </p:txBody>
      </p:sp>
      <p:sp>
        <p:nvSpPr>
          <p:cNvPr id="13" name="AutoShape 13"/>
          <p:cNvSpPr/>
          <p:nvPr/>
        </p:nvSpPr>
        <p:spPr>
          <a:xfrm>
            <a:off x="762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318000"/>
            <a:ext cx="406400" cy="406400"/>
          </a:xfrm>
          <a:prstGeom prst="rect">
            <a:avLst/>
          </a:prstGeom>
        </p:spPr>
      </p:pic>
      <p:sp>
        <p:nvSpPr>
          <p:cNvPr id="15" name="AutoShape 15"/>
          <p:cNvSpPr/>
          <p:nvPr/>
        </p:nvSpPr>
        <p:spPr>
          <a:xfrm>
            <a:off x="1524000" y="4318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优缺点分析</a:t>
            </a:r>
            <a:endParaRPr lang="en-US" sz="1100"/>
          </a:p>
        </p:txBody>
      </p:sp>
      <p:cxnSp>
        <p:nvCxnSpPr>
          <p:cNvPr id="16" name="Connector 16"/>
          <p:cNvCxnSpPr/>
          <p:nvPr/>
        </p:nvCxnSpPr>
        <p:spPr>
          <a:xfrm rot="-9291">
            <a:off x="1016009" y="4756150"/>
            <a:ext cx="4699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7" name="AutoShape 17"/>
          <p:cNvSpPr/>
          <p:nvPr/>
        </p:nvSpPr>
        <p:spPr>
          <a:xfrm>
            <a:off x="1016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优势在于处理速度快；劣势在于作为近似算法，其召回率相对精确搜索较低，存在漏检风险。</a:t>
            </a:r>
            <a:endParaRPr lang="en-US" sz="1100"/>
          </a:p>
        </p:txBody>
      </p:sp>
      <p:sp>
        <p:nvSpPr>
          <p:cNvPr id="18" name="AutoShape 18"/>
          <p:cNvSpPr/>
          <p:nvPr/>
        </p:nvSpPr>
        <p:spPr>
          <a:xfrm>
            <a:off x="6223000" y="4064000"/>
            <a:ext cx="5207000" cy="2159000"/>
          </a:xfrm>
          <a:prstGeom prst="roundRect">
            <a:avLst>
              <a:gd name="adj" fmla="val 5882"/>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318000"/>
            <a:ext cx="406400" cy="406400"/>
          </a:xfrm>
          <a:prstGeom prst="rect">
            <a:avLst/>
          </a:prstGeom>
        </p:spPr>
      </p:pic>
      <p:sp>
        <p:nvSpPr>
          <p:cNvPr id="20" name="AutoShape 20"/>
          <p:cNvSpPr/>
          <p:nvPr/>
        </p:nvSpPr>
        <p:spPr>
          <a:xfrm>
            <a:off x="6985000" y="43180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适用场景</a:t>
            </a:r>
            <a:endParaRPr lang="en-US" sz="1100"/>
          </a:p>
        </p:txBody>
      </p:sp>
      <p:cxnSp>
        <p:nvCxnSpPr>
          <p:cNvPr id="21" name="Connector 21"/>
          <p:cNvCxnSpPr/>
          <p:nvPr/>
        </p:nvCxnSpPr>
        <p:spPr>
          <a:xfrm rot="-9291">
            <a:off x="6477009" y="4756150"/>
            <a:ext cx="4699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22" name="AutoShape 22"/>
          <p:cNvSpPr/>
          <p:nvPr/>
        </p:nvSpPr>
        <p:spPr>
          <a:xfrm>
            <a:off x="6477000" y="4889500"/>
            <a:ext cx="4699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适用于大数据集下的离线快速检索，如图像检索、推荐系统中的候选集生成等场景。</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5.2.2 相似度搜索算法 - 其他方法</a:t>
            </a:r>
            <a:endParaRPr lang="en-US" sz="1100"/>
          </a:p>
        </p:txBody>
      </p:sp>
      <p:sp>
        <p:nvSpPr>
          <p:cNvPr id="3" name="AutoShape 3"/>
          <p:cNvSpPr/>
          <p:nvPr/>
        </p:nvSpPr>
        <p:spPr>
          <a:xfrm>
            <a:off x="762000" y="1778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016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159000"/>
            <a:ext cx="609600" cy="609600"/>
          </a:xfrm>
          <a:prstGeom prst="rect">
            <a:avLst/>
          </a:prstGeom>
        </p:spPr>
      </p:pic>
      <p:sp>
        <p:nvSpPr>
          <p:cNvPr id="5" name="AutoShape 5"/>
          <p:cNvSpPr/>
          <p:nvPr/>
        </p:nvSpPr>
        <p:spPr>
          <a:xfrm>
            <a:off x="1905000" y="22098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倒排索引 (Inverted Index)</a:t>
            </a:r>
            <a:endParaRPr lang="en-US" sz="1100"/>
          </a:p>
        </p:txBody>
      </p:sp>
      <p:cxnSp>
        <p:nvCxnSpPr>
          <p:cNvPr id="6" name="Connector 6"/>
          <p:cNvCxnSpPr/>
          <p:nvPr/>
        </p:nvCxnSpPr>
        <p:spPr>
          <a:xfrm rot="-10110">
            <a:off x="1143009" y="2851150"/>
            <a:ext cx="4318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143000" y="3048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核心思想是记录每个特征值对应的向量列表。通过构建特征到向量的映射关系，能够快速定位具有相似特征的向量，从而避免全量搜索，显著提升检索效率。</a:t>
            </a:r>
            <a:endParaRPr lang="en-US" sz="1100"/>
          </a:p>
        </p:txBody>
      </p:sp>
      <p:sp>
        <p:nvSpPr>
          <p:cNvPr id="8" name="AutoShape 8"/>
          <p:cNvSpPr/>
          <p:nvPr/>
        </p:nvSpPr>
        <p:spPr>
          <a:xfrm>
            <a:off x="6350000" y="1778000"/>
            <a:ext cx="5080000" cy="3556000"/>
          </a:xfrm>
          <a:prstGeom prst="roundRect">
            <a:avLst>
              <a:gd name="adj" fmla="val 3571"/>
            </a:avLst>
          </a:prstGeom>
          <a:solidFill>
            <a:srgbClr val="FFFFFF">
              <a:alpha val="100000"/>
            </a:srgbClr>
          </a:solidFill>
          <a:ln w="25400" cap="flat" cmpd="sng">
            <a:noFill/>
            <a:prstDash val="solid"/>
            <a:round/>
          </a:ln>
          <a:effectLst>
            <a:outerShdw blurRad="254000" dist="1016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159000"/>
            <a:ext cx="609600" cy="609600"/>
          </a:xfrm>
          <a:prstGeom prst="rect">
            <a:avLst/>
          </a:prstGeom>
        </p:spPr>
      </p:pic>
      <p:sp>
        <p:nvSpPr>
          <p:cNvPr id="10" name="AutoShape 10"/>
          <p:cNvSpPr/>
          <p:nvPr/>
        </p:nvSpPr>
        <p:spPr>
          <a:xfrm>
            <a:off x="7493000" y="2209800"/>
            <a:ext cx="355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288D1"/>
                </a:solidFill>
                <a:latin typeface="Noto Sans SC"/>
                <a:ea typeface="Noto Sans SC"/>
                <a:cs typeface="Noto Sans SC"/>
                <a:sym typeface="Noto Sans SC"/>
              </a:rPr>
              <a:t>向量量化 (Vector Quantization)</a:t>
            </a:r>
            <a:endParaRPr lang="en-US" sz="1100"/>
          </a:p>
        </p:txBody>
      </p:sp>
      <p:cxnSp>
        <p:nvCxnSpPr>
          <p:cNvPr id="11" name="Connector 11"/>
          <p:cNvCxnSpPr/>
          <p:nvPr/>
        </p:nvCxnSpPr>
        <p:spPr>
          <a:xfrm rot="-10110">
            <a:off x="6731009" y="2851150"/>
            <a:ext cx="4318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6731000" y="3048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通过将高维向量空间划分为离散的区域（如乘积量化 PQ），用少量的量化值来近似表示原始向量。这种方法能大幅降低存储开销和计算复杂度，从而提高搜索速度。</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62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016000"/>
            <a:ext cx="6350000" cy="4826000"/>
          </a:xfrm>
          <a:prstGeom prst="roundRect">
            <a:avLst>
              <a:gd name="adj" fmla="val 3947"/>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143000" y="13970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CHAPTER 05</a:t>
            </a:r>
            <a:endParaRPr lang="en-US" sz="1100"/>
          </a:p>
        </p:txBody>
      </p:sp>
      <p:sp>
        <p:nvSpPr>
          <p:cNvPr id="5" name="AutoShape 5"/>
          <p:cNvSpPr/>
          <p:nvPr/>
        </p:nvSpPr>
        <p:spPr>
          <a:xfrm>
            <a:off x="1143000" y="1841500"/>
            <a:ext cx="558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0288D1"/>
                </a:solidFill>
                <a:latin typeface="Noto Sans SC"/>
                <a:ea typeface="Noto Sans SC"/>
                <a:cs typeface="Noto Sans SC"/>
                <a:sym typeface="Noto Sans SC"/>
              </a:rPr>
              <a:t>5.3 向量数据库的应用</a:t>
            </a:r>
            <a:endParaRPr lang="en-US" sz="1100"/>
          </a:p>
        </p:txBody>
      </p:sp>
      <p:cxnSp>
        <p:nvCxnSpPr>
          <p:cNvPr id="6" name="Connector 6"/>
          <p:cNvCxnSpPr/>
          <p:nvPr/>
        </p:nvCxnSpPr>
        <p:spPr>
          <a:xfrm rot="-7813">
            <a:off x="1143007" y="2660650"/>
            <a:ext cx="5588000" cy="12700"/>
          </a:xfrm>
          <a:prstGeom prst="straightConnector1">
            <a:avLst/>
          </a:prstGeom>
          <a:solidFill>
            <a:srgbClr val="DEE0E3">
              <a:alpha val="100000"/>
            </a:srgbClr>
          </a:solidFill>
          <a:ln w="25400" cap="flat" cmpd="sng">
            <a:solidFill>
              <a:srgbClr val="E0F7FA">
                <a:alpha val="100000"/>
              </a:srgbClr>
            </a:solidFill>
            <a:prstDash val="solid"/>
            <a:round/>
            <a:headEnd type="none" w="lg" len="lg"/>
            <a:tailEnd type="none" w="lg" len="lg"/>
          </a:ln>
        </p:spPr>
      </p:cxn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921000"/>
            <a:ext cx="609600" cy="609600"/>
          </a:xfrm>
          <a:prstGeom prst="rect">
            <a:avLst/>
          </a:prstGeom>
        </p:spPr>
      </p:pic>
      <p:sp>
        <p:nvSpPr>
          <p:cNvPr id="8" name="AutoShape 8"/>
          <p:cNvSpPr/>
          <p:nvPr/>
        </p:nvSpPr>
        <p:spPr>
          <a:xfrm>
            <a:off x="1879600" y="30226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57575"/>
                </a:solidFill>
                <a:latin typeface="Noto Sans SC"/>
                <a:ea typeface="Noto Sans SC"/>
                <a:cs typeface="Noto Sans SC"/>
                <a:sym typeface="Noto Sans SC"/>
              </a:rPr>
              <a:t>核心案例：Faiss 实战解析</a:t>
            </a:r>
            <a:endParaRPr lang="en-US" sz="1100"/>
          </a:p>
        </p:txBody>
      </p:sp>
      <p:sp>
        <p:nvSpPr>
          <p:cNvPr id="9" name="AutoShape 9"/>
          <p:cNvSpPr/>
          <p:nvPr/>
        </p:nvSpPr>
        <p:spPr>
          <a:xfrm>
            <a:off x="1143000" y="3556000"/>
            <a:ext cx="558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以目前工业界广泛使用的 Faiss 向量数据库为例，深入探讨向量存储、索引构建与高效检索的实际操作流程，帮助大家掌握从理论到工程落地的关键技术点。</a:t>
            </a:r>
            <a:endParaRPr lang="en-US" sz="1100"/>
          </a:p>
        </p:txBody>
      </p:sp>
      <p:sp>
        <p:nvSpPr>
          <p:cNvPr id="10" name="AutoShape 10"/>
          <p:cNvSpPr/>
          <p:nvPr/>
        </p:nvSpPr>
        <p:spPr>
          <a:xfrm>
            <a:off x="7366000" y="1016000"/>
            <a:ext cx="4064000" cy="2286000"/>
          </a:xfrm>
          <a:prstGeom prst="roundRect">
            <a:avLst>
              <a:gd name="adj" fmla="val 8333"/>
            </a:avLst>
          </a:prstGeom>
          <a:solidFill>
            <a:srgbClr val="FFFFFF">
              <a:alpha val="100000"/>
            </a:srgbClr>
          </a:solidFill>
          <a:ln w="25400" cap="flat" cmpd="sng">
            <a:noFill/>
            <a:prstDash val="solid"/>
            <a:round/>
          </a:ln>
          <a:effectLst>
            <a:outerShdw blurRad="190500" dist="63500" dir="5400000" algn="tl" rotWithShape="0">
              <a:srgbClr val="0288D1">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0" y="1270000"/>
            <a:ext cx="508000" cy="508000"/>
          </a:xfrm>
          <a:prstGeom prst="rect">
            <a:avLst/>
          </a:prstGeom>
        </p:spPr>
      </p:pic>
      <p:sp>
        <p:nvSpPr>
          <p:cNvPr id="12" name="AutoShape 12"/>
          <p:cNvSpPr/>
          <p:nvPr/>
        </p:nvSpPr>
        <p:spPr>
          <a:xfrm>
            <a:off x="7620000" y="1841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高效存储与管理</a:t>
            </a:r>
            <a:endParaRPr lang="en-US" sz="1100"/>
          </a:p>
        </p:txBody>
      </p:sp>
      <p:sp>
        <p:nvSpPr>
          <p:cNvPr id="13" name="AutoShape 13"/>
          <p:cNvSpPr/>
          <p:nvPr/>
        </p:nvSpPr>
        <p:spPr>
          <a:xfrm>
            <a:off x="7620000" y="22225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优化大规模向量数据的存储结构，支持海量数据的持久化与动态更新。</a:t>
            </a:r>
            <a:endParaRPr lang="en-US" sz="1100"/>
          </a:p>
        </p:txBody>
      </p:sp>
      <p:sp>
        <p:nvSpPr>
          <p:cNvPr id="14" name="AutoShape 14"/>
          <p:cNvSpPr/>
          <p:nvPr/>
        </p:nvSpPr>
        <p:spPr>
          <a:xfrm>
            <a:off x="7366000" y="3556000"/>
            <a:ext cx="4064000" cy="2286000"/>
          </a:xfrm>
          <a:prstGeom prst="roundRect">
            <a:avLst>
              <a:gd name="adj" fmla="val 8333"/>
            </a:avLst>
          </a:prstGeom>
          <a:solidFill>
            <a:srgbClr val="FFFFFF">
              <a:alpha val="100000"/>
            </a:srgbClr>
          </a:solidFill>
          <a:ln w="25400" cap="flat" cmpd="sng">
            <a:noFill/>
            <a:prstDash val="solid"/>
            <a:round/>
          </a:ln>
          <a:effectLst>
            <a:outerShdw blurRad="190500" dist="63500" dir="5400000" algn="tl" rotWithShape="0">
              <a:srgbClr val="0288D1">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0" y="3810000"/>
            <a:ext cx="508000" cy="508000"/>
          </a:xfrm>
          <a:prstGeom prst="rect">
            <a:avLst/>
          </a:prstGeom>
        </p:spPr>
      </p:pic>
      <p:sp>
        <p:nvSpPr>
          <p:cNvPr id="16" name="AutoShape 16"/>
          <p:cNvSpPr/>
          <p:nvPr/>
        </p:nvSpPr>
        <p:spPr>
          <a:xfrm>
            <a:off x="7620000" y="43815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高性能相似度检索</a:t>
            </a:r>
            <a:endParaRPr lang="en-US" sz="1100"/>
          </a:p>
        </p:txBody>
      </p:sp>
      <p:sp>
        <p:nvSpPr>
          <p:cNvPr id="17" name="AutoShape 17"/>
          <p:cNvSpPr/>
          <p:nvPr/>
        </p:nvSpPr>
        <p:spPr>
          <a:xfrm>
            <a:off x="7620000" y="4762500"/>
            <a:ext cx="330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757575"/>
                </a:solidFill>
                <a:latin typeface="Noto Sans SC"/>
                <a:ea typeface="Noto Sans SC"/>
                <a:cs typeface="Noto Sans SC"/>
                <a:sym typeface="Noto Sans SC"/>
              </a:rPr>
              <a:t>利用倒排索引等算法实现毫秒级的近邻搜索，满足实时业务场景需求。</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简介</a:t>
            </a:r>
            <a:endParaRPr lang="en-US" sz="1100"/>
          </a:p>
        </p:txBody>
      </p:sp>
      <p:sp>
        <p:nvSpPr>
          <p:cNvPr id="3" name="AutoShape 3"/>
          <p:cNvSpPr/>
          <p:nvPr/>
        </p:nvSpPr>
        <p:spPr>
          <a:xfrm>
            <a:off x="762000" y="1651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609600" cy="609600"/>
          </a:xfrm>
          <a:prstGeom prst="rect">
            <a:avLst/>
          </a:prstGeom>
        </p:spPr>
      </p:pic>
      <p:sp>
        <p:nvSpPr>
          <p:cNvPr id="5" name="AutoShape 5"/>
          <p:cNvSpPr/>
          <p:nvPr/>
        </p:nvSpPr>
        <p:spPr>
          <a:xfrm>
            <a:off x="1016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核心定义</a:t>
            </a:r>
            <a:endParaRPr lang="en-US" sz="1100"/>
          </a:p>
        </p:txBody>
      </p:sp>
      <p:cxnSp>
        <p:nvCxnSpPr>
          <p:cNvPr id="6" name="Connector 6"/>
          <p:cNvCxnSpPr/>
          <p:nvPr/>
        </p:nvCxnSpPr>
        <p:spPr>
          <a:xfrm rot="-15626">
            <a:off x="1016014" y="3041650"/>
            <a:ext cx="27940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7" name="AutoShape 7"/>
          <p:cNvSpPr/>
          <p:nvPr/>
        </p:nvSpPr>
        <p:spPr>
          <a:xfrm>
            <a:off x="1016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Faiss (Facebook AI Similarity Search) 是 Facebook AI 团队开源的高效向量检索库，专注于解决大规模相似性搜索问题。</a:t>
            </a:r>
            <a:endParaRPr lang="en-US" sz="1100"/>
          </a:p>
        </p:txBody>
      </p:sp>
      <p:sp>
        <p:nvSpPr>
          <p:cNvPr id="8" name="AutoShape 8"/>
          <p:cNvSpPr/>
          <p:nvPr/>
        </p:nvSpPr>
        <p:spPr>
          <a:xfrm>
            <a:off x="4445000" y="1651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609600" cy="609600"/>
          </a:xfrm>
          <a:prstGeom prst="rect">
            <a:avLst/>
          </a:prstGeom>
        </p:spPr>
      </p:pic>
      <p:sp>
        <p:nvSpPr>
          <p:cNvPr id="10" name="AutoShape 10"/>
          <p:cNvSpPr/>
          <p:nvPr/>
        </p:nvSpPr>
        <p:spPr>
          <a:xfrm>
            <a:off x="4699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核心优势</a:t>
            </a:r>
            <a:endParaRPr lang="en-US" sz="1100"/>
          </a:p>
        </p:txBody>
      </p:sp>
      <p:cxnSp>
        <p:nvCxnSpPr>
          <p:cNvPr id="11" name="Connector 11"/>
          <p:cNvCxnSpPr/>
          <p:nvPr/>
        </p:nvCxnSpPr>
        <p:spPr>
          <a:xfrm rot="-15626">
            <a:off x="4699014" y="3041650"/>
            <a:ext cx="27940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2" name="AutoShape 12"/>
          <p:cNvSpPr/>
          <p:nvPr/>
        </p:nvSpPr>
        <p:spPr>
          <a:xfrm>
            <a:off x="4699000" y="3175000"/>
            <a:ext cx="2794000" cy="2286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757575"/>
              </a:buClr>
              <a:buChar char="•"/>
              <a:defRPr/>
            </a:pPr>
            <a:r>
              <a:rPr lang="en-US" sz="1400" b="0" i="0" u="none" strike="noStrike">
                <a:solidFill>
                  <a:srgbClr val="757575"/>
                </a:solidFill>
                <a:latin typeface="Noto Sans SC"/>
                <a:ea typeface="Noto Sans SC"/>
                <a:cs typeface="Noto Sans SC"/>
                <a:sym typeface="Noto Sans SC"/>
              </a:rPr>
              <a:t>支持10亿量级向量高效检索</a:t>
            </a:r>
            <a:endParaRPr lang="en-US" sz="1100"/>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提供多种索引类型适应不同场景</a:t>
            </a:r>
            <a:endParaRPr lang="en-US" sz="1400" b="0" i="0" u="none" strike="noStrike">
              <a:solidFill>
                <a:srgbClr val="757575"/>
              </a:solidFill>
              <a:latin typeface="Noto Sans SC"/>
              <a:ea typeface="Noto Sans SC"/>
              <a:cs typeface="Noto Sans SC"/>
              <a:sym typeface="Noto Sans SC"/>
            </a:endParaRPr>
          </a:p>
          <a:p>
            <a:pPr marL="177800" indent="-177800" algn="l">
              <a:lnSpc>
                <a:spcPct val="125000"/>
              </a:lnSpc>
              <a:buClr>
                <a:srgbClr val="757575"/>
              </a:buClr>
              <a:buChar char="•"/>
            </a:pPr>
            <a:r>
              <a:rPr lang="en-US" sz="1400" b="0" i="0" u="none" strike="noStrike">
                <a:solidFill>
                  <a:srgbClr val="757575"/>
                </a:solidFill>
                <a:latin typeface="Noto Sans SC"/>
                <a:ea typeface="Noto Sans SC"/>
                <a:cs typeface="Noto Sans SC"/>
                <a:sym typeface="Noto Sans SC"/>
              </a:rPr>
              <a:t>部分索引支持GPU加速，性能卓越</a:t>
            </a:r>
            <a:endParaRPr lang="en-US" sz="1400" b="0" i="0" u="none" strike="noStrike">
              <a:solidFill>
                <a:srgbClr val="757575"/>
              </a:solidFill>
              <a:latin typeface="Noto Sans SC"/>
              <a:ea typeface="Noto Sans SC"/>
              <a:cs typeface="Noto Sans SC"/>
              <a:sym typeface="Noto Sans SC"/>
            </a:endParaRPr>
          </a:p>
        </p:txBody>
      </p:sp>
      <p:sp>
        <p:nvSpPr>
          <p:cNvPr id="13" name="AutoShape 13"/>
          <p:cNvSpPr/>
          <p:nvPr/>
        </p:nvSpPr>
        <p:spPr>
          <a:xfrm>
            <a:off x="8128000" y="1651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609600" cy="609600"/>
          </a:xfrm>
          <a:prstGeom prst="rect">
            <a:avLst/>
          </a:prstGeom>
        </p:spPr>
      </p:pic>
      <p:sp>
        <p:nvSpPr>
          <p:cNvPr id="15" name="AutoShape 15"/>
          <p:cNvSpPr/>
          <p:nvPr/>
        </p:nvSpPr>
        <p:spPr>
          <a:xfrm>
            <a:off x="8382000" y="2603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快速安装</a:t>
            </a:r>
            <a:endParaRPr lang="en-US" sz="1100"/>
          </a:p>
        </p:txBody>
      </p:sp>
      <p:cxnSp>
        <p:nvCxnSpPr>
          <p:cNvPr id="16" name="Connector 16"/>
          <p:cNvCxnSpPr/>
          <p:nvPr/>
        </p:nvCxnSpPr>
        <p:spPr>
          <a:xfrm rot="-15626">
            <a:off x="8382014" y="3041650"/>
            <a:ext cx="2794000" cy="12700"/>
          </a:xfrm>
          <a:prstGeom prst="line">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7" name="AutoShape 17"/>
          <p:cNvSpPr/>
          <p:nvPr/>
        </p:nvSpPr>
        <p:spPr>
          <a:xfrm>
            <a:off x="8382000" y="3175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CPU 模式：</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pip install faiss-cpu==1.8.0</a:t>
            </a:r>
            <a:endParaRPr lang="en-US" sz="1300" b="0" i="0" u="none" strike="noStrike">
              <a:solidFill>
                <a:srgbClr val="757575"/>
              </a:solidFill>
              <a:latin typeface="Noto Sans SC"/>
              <a:ea typeface="Noto Sans SC"/>
              <a:cs typeface="Noto Sans SC"/>
              <a:sym typeface="Noto Sans SC"/>
            </a:endParaRPr>
          </a:p>
          <a:p>
            <a:pPr indent="0" algn="l">
              <a:lnSpc>
                <a:spcPct val="125000"/>
              </a:lnSpc>
            </a:pPr>
            <a:br>
              <a:rPr lang="en-US" sz="1600" b="0" i="0" u="none" strike="noStrike">
                <a:solidFill>
                  <a:srgbClr val="1F2329"/>
                </a:solidFill>
                <a:latin typeface="Noto Sans SC"/>
                <a:ea typeface="Noto Sans SC"/>
                <a:cs typeface="Noto Sans SC"/>
                <a:sym typeface="Noto Sans SC"/>
              </a:rPr>
            </a:br>
            <a:endParaRPr lang="en-US" sz="1600" b="0" i="0" u="none" strike="noStrike">
              <a:solidFill>
                <a:srgbClr val="1F2329"/>
              </a:solidFill>
              <a:latin typeface="Noto Sans SC"/>
              <a:ea typeface="Noto Sans SC"/>
              <a:cs typeface="Noto Sans SC"/>
              <a:sym typeface="Noto Sans SC"/>
            </a:endParaRPr>
          </a:p>
          <a:p>
            <a:pPr indent="0" algn="l">
              <a:lnSpc>
                <a:spcPct val="125000"/>
              </a:lnSpc>
            </a:pPr>
            <a:r>
              <a:rPr lang="en-US" sz="1400" b="1" i="0" u="none" strike="noStrike">
                <a:solidFill>
                  <a:srgbClr val="0288D1"/>
                </a:solidFill>
                <a:latin typeface="Noto Sans SC"/>
                <a:ea typeface="Noto Sans SC"/>
                <a:cs typeface="Noto Sans SC"/>
                <a:sym typeface="Noto Sans SC"/>
              </a:rPr>
              <a:t>GPU 模式：</a:t>
            </a:r>
            <a:endParaRPr lang="en-US" sz="1400" b="1" i="0" u="none" strike="noStrike">
              <a:solidFill>
                <a:srgbClr val="0288D1"/>
              </a:solidFill>
              <a:latin typeface="Noto Sans SC"/>
              <a:ea typeface="Noto Sans SC"/>
              <a:cs typeface="Noto Sans SC"/>
              <a:sym typeface="Noto Sans SC"/>
            </a:endParaRPr>
          </a:p>
          <a:p>
            <a:pPr indent="0" algn="l">
              <a:lnSpc>
                <a:spcPct val="125000"/>
              </a:lnSpc>
            </a:pPr>
            <a:r>
              <a:rPr lang="en-US" sz="1300" b="0" i="0" u="none" strike="noStrike">
                <a:solidFill>
                  <a:srgbClr val="757575"/>
                </a:solidFill>
                <a:latin typeface="Noto Sans SC"/>
                <a:ea typeface="Noto Sans SC"/>
                <a:cs typeface="Noto Sans SC"/>
                <a:sym typeface="Noto Sans SC"/>
              </a:rPr>
              <a:t>pip install faiss-gpu==1.8.0</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入门案例</a:t>
            </a:r>
            <a:endParaRPr lang="en-US" sz="1100"/>
          </a:p>
        </p:txBody>
      </p:sp>
      <p:sp>
        <p:nvSpPr>
          <p:cNvPr id="3" name="AutoShape 3"/>
          <p:cNvSpPr/>
          <p:nvPr/>
        </p:nvSpPr>
        <p:spPr>
          <a:xfrm>
            <a:off x="762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905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步骤1：导入与数据生成</a:t>
            </a:r>
            <a:endParaRPr lang="en-US" sz="1100"/>
          </a:p>
        </p:txBody>
      </p:sp>
      <p:cxnSp>
        <p:nvCxnSpPr>
          <p:cNvPr id="6" name="Connector 6"/>
          <p:cNvCxnSpPr/>
          <p:nvPr/>
        </p:nvCxnSpPr>
        <p:spPr>
          <a:xfrm rot="-15626">
            <a:off x="1016014" y="24066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7" name="AutoShape 7"/>
          <p:cNvSpPr/>
          <p:nvPr/>
        </p:nvSpPr>
        <p:spPr>
          <a:xfrm>
            <a:off x="1016000" y="2603500"/>
            <a:ext cx="2794000" cy="3111500"/>
          </a:xfrm>
          <a:prstGeom prst="roundRect">
            <a:avLst>
              <a:gd name="adj" fmla="val 2272"/>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730500"/>
            <a:ext cx="2540000" cy="285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import faiss</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import numpy as np</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d = 64 # 向量维度</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nb = 100000 # 库向量数</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nq = 10000 # 查询向量数</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xb = np.random.random((nb, d)).astype('float32')</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xq = np.random.random((nq, d)).astype('float32')</a:t>
            </a:r>
            <a:endParaRPr lang="en-US" sz="1200" b="0" i="0" u="none" strike="noStrike">
              <a:solidFill>
                <a:srgbClr val="757575"/>
              </a:solidFill>
              <a:latin typeface="Noto Sans SC"/>
              <a:ea typeface="Noto Sans SC"/>
              <a:cs typeface="Noto Sans SC"/>
              <a:sym typeface="Noto Sans SC"/>
            </a:endParaRPr>
          </a:p>
        </p:txBody>
      </p:sp>
      <p:sp>
        <p:nvSpPr>
          <p:cNvPr id="9" name="AutoShape 9"/>
          <p:cNvSpPr/>
          <p:nvPr/>
        </p:nvSpPr>
        <p:spPr>
          <a:xfrm>
            <a:off x="4445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11" name="AutoShape 11"/>
          <p:cNvSpPr/>
          <p:nvPr/>
        </p:nvSpPr>
        <p:spPr>
          <a:xfrm>
            <a:off x="5207000" y="1905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步骤2：创建索引并添加</a:t>
            </a:r>
            <a:endParaRPr lang="en-US" sz="1100"/>
          </a:p>
        </p:txBody>
      </p:sp>
      <p:cxnSp>
        <p:nvCxnSpPr>
          <p:cNvPr id="12" name="Connector 12"/>
          <p:cNvCxnSpPr/>
          <p:nvPr/>
        </p:nvCxnSpPr>
        <p:spPr>
          <a:xfrm rot="-15626">
            <a:off x="4699014" y="24066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13" name="AutoShape 13"/>
          <p:cNvSpPr/>
          <p:nvPr/>
        </p:nvSpPr>
        <p:spPr>
          <a:xfrm>
            <a:off x="4699000" y="2603500"/>
            <a:ext cx="2794000" cy="3111500"/>
          </a:xfrm>
          <a:prstGeom prst="roundRect">
            <a:avLst>
              <a:gd name="adj" fmla="val 2272"/>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826000" y="2730500"/>
            <a:ext cx="2540000" cy="285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 创建Flat索引，使用L2距离</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index = faiss.IndexFlatL2(d)</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p>
          <a:p>
            <a:pPr indent="0" algn="l">
              <a:lnSpc>
                <a:spcPct val="125000"/>
              </a:lnSpc>
            </a:pPr>
            <a:r>
              <a:rPr lang="en-US" sz="1200" b="0" i="0" u="none" strike="noStrike">
                <a:solidFill>
                  <a:srgbClr val="757575"/>
                </a:solidFill>
                <a:latin typeface="Noto Sans SC"/>
                <a:ea typeface="Noto Sans SC"/>
                <a:cs typeface="Noto Sans SC"/>
                <a:sym typeface="Noto Sans SC"/>
              </a:rPr>
              <a:t># 将数据库向量添加到索引中</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index.add(xb)</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p>
          <a:p>
            <a:pPr indent="0" algn="l">
              <a:lnSpc>
                <a:spcPct val="125000"/>
              </a:lnSpc>
            </a:pPr>
            <a:r>
              <a:rPr lang="en-US" sz="1200" b="0" i="0" u="none" strike="noStrike">
                <a:solidFill>
                  <a:srgbClr val="757575"/>
                </a:solidFill>
                <a:latin typeface="Noto Sans SC"/>
                <a:ea typeface="Noto Sans SC"/>
                <a:cs typeface="Noto Sans SC"/>
                <a:sym typeface="Noto Sans SC"/>
              </a:rPr>
              <a:t># 查看索引状态</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print(index.ntotal)</a:t>
            </a:r>
            <a:endParaRPr lang="en-US" sz="1200" b="0" i="0" u="none" strike="noStrike">
              <a:solidFill>
                <a:srgbClr val="757575"/>
              </a:solidFill>
              <a:latin typeface="Noto Sans SC"/>
              <a:ea typeface="Noto Sans SC"/>
              <a:cs typeface="Noto Sans SC"/>
              <a:sym typeface="Noto Sans SC"/>
            </a:endParaRPr>
          </a:p>
        </p:txBody>
      </p:sp>
      <p:sp>
        <p:nvSpPr>
          <p:cNvPr id="15" name="AutoShape 15"/>
          <p:cNvSpPr/>
          <p:nvPr/>
        </p:nvSpPr>
        <p:spPr>
          <a:xfrm>
            <a:off x="8128000" y="1651000"/>
            <a:ext cx="3302000" cy="4318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00000">
                <a:alpha val="1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7" name="AutoShape 17"/>
          <p:cNvSpPr/>
          <p:nvPr/>
        </p:nvSpPr>
        <p:spPr>
          <a:xfrm>
            <a:off x="8890000" y="1905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步骤3：执行搜索并输出</a:t>
            </a:r>
            <a:endParaRPr lang="en-US" sz="1100"/>
          </a:p>
        </p:txBody>
      </p:sp>
      <p:cxnSp>
        <p:nvCxnSpPr>
          <p:cNvPr id="18" name="Connector 18"/>
          <p:cNvCxnSpPr/>
          <p:nvPr/>
        </p:nvCxnSpPr>
        <p:spPr>
          <a:xfrm rot="-15626">
            <a:off x="8382014" y="2406650"/>
            <a:ext cx="2794000" cy="12700"/>
          </a:xfrm>
          <a:prstGeom prst="line">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sp>
        <p:nvSpPr>
          <p:cNvPr id="19" name="AutoShape 19"/>
          <p:cNvSpPr/>
          <p:nvPr/>
        </p:nvSpPr>
        <p:spPr>
          <a:xfrm>
            <a:off x="8382000" y="2603500"/>
            <a:ext cx="2794000" cy="3111500"/>
          </a:xfrm>
          <a:prstGeom prst="roundRect">
            <a:avLst>
              <a:gd name="adj" fmla="val 2272"/>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509000" y="2730500"/>
            <a:ext cx="2540000" cy="285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757575"/>
                </a:solidFill>
                <a:latin typeface="Noto Sans SC"/>
                <a:ea typeface="Noto Sans SC"/>
                <a:cs typeface="Noto Sans SC"/>
                <a:sym typeface="Noto Sans SC"/>
              </a:rPr>
              <a:t>k = 4 # 返回Top-4结果</a:t>
            </a:r>
            <a:endParaRPr lang="en-US" sz="1100"/>
          </a:p>
          <a:p>
            <a:pPr indent="0" algn="l">
              <a:lnSpc>
                <a:spcPct val="125000"/>
              </a:lnSpc>
            </a:pPr>
            <a:r>
              <a:rPr lang="en-US" sz="1200" b="0" i="0" u="none" strike="noStrike">
                <a:solidFill>
                  <a:srgbClr val="757575"/>
                </a:solidFill>
                <a:latin typeface="Noto Sans SC"/>
                <a:ea typeface="Noto Sans SC"/>
                <a:cs typeface="Noto Sans SC"/>
                <a:sym typeface="Noto Sans SC"/>
              </a:rPr>
              <a:t># D为距离矩阵，I为索引矩阵</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D, I = index.search(xq, k)</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p>
          <a:p>
            <a:pPr indent="0" algn="l">
              <a:lnSpc>
                <a:spcPct val="125000"/>
              </a:lnSpc>
            </a:pPr>
            <a:r>
              <a:rPr lang="en-US" sz="1200" b="0" i="0" u="none" strike="noStrike">
                <a:solidFill>
                  <a:srgbClr val="757575"/>
                </a:solidFill>
                <a:latin typeface="Noto Sans SC"/>
                <a:ea typeface="Noto Sans SC"/>
                <a:cs typeface="Noto Sans SC"/>
                <a:sym typeface="Noto Sans SC"/>
              </a:rPr>
              <a:t># 输出前5个查询的结果</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print("Indices:\n", I[:5])</a:t>
            </a:r>
            <a:endParaRPr lang="en-US" sz="1200" b="0" i="0" u="none" strike="noStrike">
              <a:solidFill>
                <a:srgbClr val="757575"/>
              </a:solidFill>
              <a:latin typeface="Noto Sans SC"/>
              <a:ea typeface="Noto Sans SC"/>
              <a:cs typeface="Noto Sans SC"/>
              <a:sym typeface="Noto Sans SC"/>
            </a:endParaRPr>
          </a:p>
          <a:p>
            <a:pPr indent="0" algn="l">
              <a:lnSpc>
                <a:spcPct val="125000"/>
              </a:lnSpc>
            </a:pPr>
            <a:r>
              <a:rPr lang="en-US" sz="1200" b="0" i="0" u="none" strike="noStrike">
                <a:solidFill>
                  <a:srgbClr val="757575"/>
                </a:solidFill>
                <a:latin typeface="Noto Sans SC"/>
                <a:ea typeface="Noto Sans SC"/>
                <a:cs typeface="Noto Sans SC"/>
                <a:sym typeface="Noto Sans SC"/>
              </a:rPr>
              <a:t>print("Distances:\n", D[:5])</a:t>
            </a:r>
            <a:endParaRPr lang="en-US" sz="12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相似度度量</a:t>
            </a:r>
            <a:endParaRPr lang="en-US" sz="1100"/>
          </a:p>
        </p:txBody>
      </p:sp>
      <p:sp>
        <p:nvSpPr>
          <p:cNvPr id="3" name="AutoShape 3"/>
          <p:cNvSpPr/>
          <p:nvPr/>
        </p:nvSpPr>
        <p:spPr>
          <a:xfrm>
            <a:off x="762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905000"/>
            <a:ext cx="406400" cy="406400"/>
          </a:xfrm>
          <a:prstGeom prst="rect">
            <a:avLst/>
          </a:prstGeom>
        </p:spPr>
      </p:pic>
      <p:sp>
        <p:nvSpPr>
          <p:cNvPr id="5" name="AutoShape 5"/>
          <p:cNvSpPr/>
          <p:nvPr/>
        </p:nvSpPr>
        <p:spPr>
          <a:xfrm>
            <a:off x="1524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内积 (余弦相似度)</a:t>
            </a:r>
            <a:endParaRPr lang="en-US" sz="1100"/>
          </a:p>
        </p:txBody>
      </p:sp>
      <p:sp>
        <p:nvSpPr>
          <p:cNvPr id="6" name="AutoShape 6"/>
          <p:cNvSpPr/>
          <p:nvPr/>
        </p:nvSpPr>
        <p:spPr>
          <a:xfrm>
            <a:off x="1016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METRIC_INNER_PRODUCT</a:t>
            </a:r>
            <a:endParaRPr lang="en-US" sz="1100"/>
          </a:p>
        </p:txBody>
      </p:sp>
      <p:sp>
        <p:nvSpPr>
          <p:cNvPr id="7" name="AutoShape 7"/>
          <p:cNvSpPr/>
          <p:nvPr/>
        </p:nvSpPr>
        <p:spPr>
          <a:xfrm>
            <a:off x="1016000" y="273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适用于归一化向量的相似度计算，常用于文本检索、推荐系统等场景。</a:t>
            </a:r>
            <a:endParaRPr lang="en-US" sz="1100"/>
          </a:p>
        </p:txBody>
      </p:sp>
      <p:sp>
        <p:nvSpPr>
          <p:cNvPr id="8" name="AutoShape 8"/>
          <p:cNvSpPr/>
          <p:nvPr/>
        </p:nvSpPr>
        <p:spPr>
          <a:xfrm>
            <a:off x="4445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905000"/>
            <a:ext cx="406400" cy="406400"/>
          </a:xfrm>
          <a:prstGeom prst="rect">
            <a:avLst/>
          </a:prstGeom>
        </p:spPr>
      </p:pic>
      <p:sp>
        <p:nvSpPr>
          <p:cNvPr id="10" name="AutoShape 10"/>
          <p:cNvSpPr/>
          <p:nvPr/>
        </p:nvSpPr>
        <p:spPr>
          <a:xfrm>
            <a:off x="5207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欧式距离 (L2范数)</a:t>
            </a:r>
            <a:endParaRPr lang="en-US" sz="1100"/>
          </a:p>
        </p:txBody>
      </p:sp>
      <p:sp>
        <p:nvSpPr>
          <p:cNvPr id="11" name="AutoShape 11"/>
          <p:cNvSpPr/>
          <p:nvPr/>
        </p:nvSpPr>
        <p:spPr>
          <a:xfrm>
            <a:off x="4699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METRIC_L2</a:t>
            </a:r>
            <a:endParaRPr lang="en-US" sz="1100"/>
          </a:p>
        </p:txBody>
      </p:sp>
      <p:sp>
        <p:nvSpPr>
          <p:cNvPr id="12" name="AutoShape 12"/>
          <p:cNvSpPr/>
          <p:nvPr/>
        </p:nvSpPr>
        <p:spPr>
          <a:xfrm>
            <a:off x="4699000" y="273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衡量向量空间中两点间的直线距离，是最常用的度量方式之一。</a:t>
            </a:r>
            <a:endParaRPr lang="en-US" sz="1100"/>
          </a:p>
        </p:txBody>
      </p:sp>
      <p:sp>
        <p:nvSpPr>
          <p:cNvPr id="13" name="AutoShape 13"/>
          <p:cNvSpPr/>
          <p:nvPr/>
        </p:nvSpPr>
        <p:spPr>
          <a:xfrm>
            <a:off x="8128000" y="1651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905000"/>
            <a:ext cx="406400" cy="406400"/>
          </a:xfrm>
          <a:prstGeom prst="rect">
            <a:avLst/>
          </a:prstGeom>
        </p:spPr>
      </p:pic>
      <p:sp>
        <p:nvSpPr>
          <p:cNvPr id="15" name="AutoShape 15"/>
          <p:cNvSpPr/>
          <p:nvPr/>
        </p:nvSpPr>
        <p:spPr>
          <a:xfrm>
            <a:off x="8890000" y="1905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曼哈顿距离 (L1)</a:t>
            </a:r>
            <a:endParaRPr lang="en-US" sz="1100"/>
          </a:p>
        </p:txBody>
      </p:sp>
      <p:sp>
        <p:nvSpPr>
          <p:cNvPr id="16" name="AutoShape 16"/>
          <p:cNvSpPr/>
          <p:nvPr/>
        </p:nvSpPr>
        <p:spPr>
          <a:xfrm>
            <a:off x="8382000" y="2349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METRIC_L1</a:t>
            </a:r>
            <a:endParaRPr lang="en-US" sz="1100"/>
          </a:p>
        </p:txBody>
      </p:sp>
      <p:sp>
        <p:nvSpPr>
          <p:cNvPr id="17" name="AutoShape 17"/>
          <p:cNvSpPr/>
          <p:nvPr/>
        </p:nvSpPr>
        <p:spPr>
          <a:xfrm>
            <a:off x="8382000" y="2730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坐标绝对值差之和，反映在网格中移动的距离，对异常值不敏感。</a:t>
            </a:r>
            <a:endParaRPr lang="en-US" sz="1100"/>
          </a:p>
        </p:txBody>
      </p:sp>
      <p:sp>
        <p:nvSpPr>
          <p:cNvPr id="18" name="AutoShape 18"/>
          <p:cNvSpPr/>
          <p:nvPr/>
        </p:nvSpPr>
        <p:spPr>
          <a:xfrm>
            <a:off x="762000" y="393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191000"/>
            <a:ext cx="406400" cy="406400"/>
          </a:xfrm>
          <a:prstGeom prst="rect">
            <a:avLst/>
          </a:prstGeom>
        </p:spPr>
      </p:pic>
      <p:sp>
        <p:nvSpPr>
          <p:cNvPr id="20" name="AutoShape 20"/>
          <p:cNvSpPr/>
          <p:nvPr/>
        </p:nvSpPr>
        <p:spPr>
          <a:xfrm>
            <a:off x="1524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切比雪夫距离 (L∞)</a:t>
            </a:r>
            <a:endParaRPr lang="en-US" sz="1100"/>
          </a:p>
        </p:txBody>
      </p:sp>
      <p:sp>
        <p:nvSpPr>
          <p:cNvPr id="21" name="AutoShape 21"/>
          <p:cNvSpPr/>
          <p:nvPr/>
        </p:nvSpPr>
        <p:spPr>
          <a:xfrm>
            <a:off x="1016000" y="4635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METRIC_Linf</a:t>
            </a:r>
            <a:endParaRPr lang="en-US" sz="1100"/>
          </a:p>
        </p:txBody>
      </p:sp>
      <p:sp>
        <p:nvSpPr>
          <p:cNvPr id="22" name="AutoShape 22"/>
          <p:cNvSpPr/>
          <p:nvPr/>
        </p:nvSpPr>
        <p:spPr>
          <a:xfrm>
            <a:off x="1016000" y="501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坐标差的最大值，适用于棋盘距离等场景。</a:t>
            </a:r>
            <a:endParaRPr lang="en-US" sz="1100"/>
          </a:p>
        </p:txBody>
      </p:sp>
      <p:sp>
        <p:nvSpPr>
          <p:cNvPr id="23" name="AutoShape 23"/>
          <p:cNvSpPr/>
          <p:nvPr/>
        </p:nvSpPr>
        <p:spPr>
          <a:xfrm>
            <a:off x="4445000" y="393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4191000"/>
            <a:ext cx="406400" cy="406400"/>
          </a:xfrm>
          <a:prstGeom prst="rect">
            <a:avLst/>
          </a:prstGeom>
        </p:spPr>
      </p:pic>
      <p:sp>
        <p:nvSpPr>
          <p:cNvPr id="25" name="AutoShape 25"/>
          <p:cNvSpPr/>
          <p:nvPr/>
        </p:nvSpPr>
        <p:spPr>
          <a:xfrm>
            <a:off x="5207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其他专业度量</a:t>
            </a:r>
            <a:endParaRPr lang="en-US" sz="1100"/>
          </a:p>
        </p:txBody>
      </p:sp>
      <p:sp>
        <p:nvSpPr>
          <p:cNvPr id="26" name="AutoShape 26"/>
          <p:cNvSpPr/>
          <p:nvPr/>
        </p:nvSpPr>
        <p:spPr>
          <a:xfrm>
            <a:off x="4699000" y="4635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Canberra / BrayCurtis 等</a:t>
            </a:r>
            <a:endParaRPr lang="en-US" sz="1100"/>
          </a:p>
        </p:txBody>
      </p:sp>
      <p:sp>
        <p:nvSpPr>
          <p:cNvPr id="27" name="AutoShape 27"/>
          <p:cNvSpPr/>
          <p:nvPr/>
        </p:nvSpPr>
        <p:spPr>
          <a:xfrm>
            <a:off x="4699000" y="501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支持 Canberra、BrayCurtis、JensenShannon 等多种专业统计距离度量。</a:t>
            </a:r>
            <a:endParaRPr lang="en-US" sz="1100"/>
          </a:p>
        </p:txBody>
      </p:sp>
      <p:sp>
        <p:nvSpPr>
          <p:cNvPr id="28" name="AutoShape 28"/>
          <p:cNvSpPr/>
          <p:nvPr/>
        </p:nvSpPr>
        <p:spPr>
          <a:xfrm>
            <a:off x="8128000" y="3937000"/>
            <a:ext cx="3302000" cy="2032000"/>
          </a:xfrm>
          <a:prstGeom prst="roundRect">
            <a:avLst>
              <a:gd name="adj" fmla="val 6250"/>
            </a:avLst>
          </a:prstGeom>
          <a:solidFill>
            <a:srgbClr val="FFFFFF">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4191000"/>
            <a:ext cx="406400" cy="406400"/>
          </a:xfrm>
          <a:prstGeom prst="rect">
            <a:avLst/>
          </a:prstGeom>
        </p:spPr>
      </p:pic>
      <p:sp>
        <p:nvSpPr>
          <p:cNvPr id="30" name="AutoShape 30"/>
          <p:cNvSpPr/>
          <p:nvPr/>
        </p:nvSpPr>
        <p:spPr>
          <a:xfrm>
            <a:off x="8890000" y="419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配置方式</a:t>
            </a:r>
            <a:endParaRPr lang="en-US" sz="1100"/>
          </a:p>
        </p:txBody>
      </p:sp>
      <p:sp>
        <p:nvSpPr>
          <p:cNvPr id="31" name="AutoShape 31"/>
          <p:cNvSpPr/>
          <p:nvPr/>
        </p:nvSpPr>
        <p:spPr>
          <a:xfrm>
            <a:off x="8382000" y="4635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MetricType 枚举定义</a:t>
            </a:r>
            <a:endParaRPr lang="en-US" sz="1100"/>
          </a:p>
        </p:txBody>
      </p:sp>
      <p:sp>
        <p:nvSpPr>
          <p:cNvPr id="32" name="AutoShape 32"/>
          <p:cNvSpPr/>
          <p:nvPr/>
        </p:nvSpPr>
        <p:spPr>
          <a:xfrm>
            <a:off x="8382000" y="5016500"/>
            <a:ext cx="2794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9E9E9E"/>
                </a:solidFill>
                <a:latin typeface="Noto Sans SC"/>
                <a:ea typeface="Noto Sans SC"/>
                <a:cs typeface="Noto Sans SC"/>
                <a:sym typeface="Noto Sans SC"/>
              </a:rPr>
              <a:t>在创建索引时，通过指定 MetricType 参数来选择所需的相似度度量方式。</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索引分类</a:t>
            </a:r>
            <a:endParaRPr lang="en-US" sz="1100"/>
          </a:p>
        </p:txBody>
      </p:sp>
      <p:sp>
        <p:nvSpPr>
          <p:cNvPr id="3" name="AutoShape 3"/>
          <p:cNvSpPr/>
          <p:nvPr/>
        </p:nvSpPr>
        <p:spPr>
          <a:xfrm>
            <a:off x="762000" y="165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41500"/>
            <a:ext cx="304800" cy="304800"/>
          </a:xfrm>
          <a:prstGeom prst="rect">
            <a:avLst/>
          </a:prstGeom>
        </p:spPr>
      </p:pic>
      <p:sp>
        <p:nvSpPr>
          <p:cNvPr id="5" name="AutoShape 5"/>
          <p:cNvSpPr/>
          <p:nvPr/>
        </p:nvSpPr>
        <p:spPr>
          <a:xfrm>
            <a:off x="13335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Flat 索引</a:t>
            </a:r>
            <a:endParaRPr lang="en-US" sz="1100"/>
          </a:p>
        </p:txBody>
      </p:sp>
      <p:cxnSp>
        <p:nvCxnSpPr>
          <p:cNvPr id="6" name="Connector 6"/>
          <p:cNvCxnSpPr/>
          <p:nvPr/>
        </p:nvCxnSpPr>
        <p:spPr>
          <a:xfrm rot="-14323">
            <a:off x="952513" y="221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7" name="AutoShape 7"/>
          <p:cNvSpPr/>
          <p:nvPr/>
        </p:nvSpPr>
        <p:spPr>
          <a:xfrm>
            <a:off x="952500" y="228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结果准确，召回率最高</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内存占用大，速度慢</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小规模数据集 (&lt;50万)</a:t>
            </a:r>
            <a:endParaRPr lang="en-US" sz="1200" b="0" i="0" u="none" strike="noStrike">
              <a:solidFill>
                <a:srgbClr val="424242"/>
              </a:solidFill>
              <a:latin typeface="Noto Sans SC"/>
              <a:ea typeface="Noto Sans SC"/>
              <a:cs typeface="Noto Sans SC"/>
              <a:sym typeface="Noto Sans SC"/>
            </a:endParaRPr>
          </a:p>
        </p:txBody>
      </p:sp>
      <p:sp>
        <p:nvSpPr>
          <p:cNvPr id="8" name="AutoShape 8"/>
          <p:cNvSpPr/>
          <p:nvPr/>
        </p:nvSpPr>
        <p:spPr>
          <a:xfrm>
            <a:off x="4381500" y="165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841500"/>
            <a:ext cx="304800" cy="304800"/>
          </a:xfrm>
          <a:prstGeom prst="rect">
            <a:avLst/>
          </a:prstGeom>
        </p:spPr>
      </p:pic>
      <p:sp>
        <p:nvSpPr>
          <p:cNvPr id="10" name="AutoShape 10"/>
          <p:cNvSpPr/>
          <p:nvPr/>
        </p:nvSpPr>
        <p:spPr>
          <a:xfrm>
            <a:off x="49530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IVF 索引</a:t>
            </a:r>
            <a:endParaRPr lang="en-US" sz="1100"/>
          </a:p>
        </p:txBody>
      </p:sp>
      <p:cxnSp>
        <p:nvCxnSpPr>
          <p:cNvPr id="11" name="Connector 11"/>
          <p:cNvCxnSpPr/>
          <p:nvPr/>
        </p:nvCxnSpPr>
        <p:spPr>
          <a:xfrm rot="-14323">
            <a:off x="4572013" y="221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2" name="AutoShape 12"/>
          <p:cNvSpPr/>
          <p:nvPr/>
        </p:nvSpPr>
        <p:spPr>
          <a:xfrm>
            <a:off x="4572000" y="228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利用倒排索引，效率提升</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中等规模数据下速度较慢</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中等规模数据集 (&lt;1亿)</a:t>
            </a:r>
            <a:endParaRPr lang="en-US" sz="1200" b="0" i="0" u="none" strike="noStrike">
              <a:solidFill>
                <a:srgbClr val="424242"/>
              </a:solidFill>
              <a:latin typeface="Noto Sans SC"/>
              <a:ea typeface="Noto Sans SC"/>
              <a:cs typeface="Noto Sans SC"/>
              <a:sym typeface="Noto Sans SC"/>
            </a:endParaRPr>
          </a:p>
        </p:txBody>
      </p:sp>
      <p:sp>
        <p:nvSpPr>
          <p:cNvPr id="13" name="AutoShape 13"/>
          <p:cNvSpPr/>
          <p:nvPr/>
        </p:nvSpPr>
        <p:spPr>
          <a:xfrm>
            <a:off x="8001000" y="165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1841500"/>
            <a:ext cx="304800" cy="304800"/>
          </a:xfrm>
          <a:prstGeom prst="rect">
            <a:avLst/>
          </a:prstGeom>
        </p:spPr>
      </p:pic>
      <p:sp>
        <p:nvSpPr>
          <p:cNvPr id="15" name="AutoShape 15"/>
          <p:cNvSpPr/>
          <p:nvPr/>
        </p:nvSpPr>
        <p:spPr>
          <a:xfrm>
            <a:off x="8572500" y="180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PQ 索引</a:t>
            </a:r>
            <a:endParaRPr lang="en-US" sz="1100"/>
          </a:p>
        </p:txBody>
      </p:sp>
      <p:cxnSp>
        <p:nvCxnSpPr>
          <p:cNvPr id="16" name="Connector 16"/>
          <p:cNvCxnSpPr/>
          <p:nvPr/>
        </p:nvCxnSpPr>
        <p:spPr>
          <a:xfrm rot="-14323">
            <a:off x="8191513" y="221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17" name="AutoShape 17"/>
          <p:cNvSpPr/>
          <p:nvPr/>
        </p:nvSpPr>
        <p:spPr>
          <a:xfrm>
            <a:off x="8191500" y="228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速度极快，内存占用极少</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召回率下降较多</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内存受限，追求极速检索</a:t>
            </a:r>
            <a:endParaRPr lang="en-US" sz="1200" b="0" i="0" u="none" strike="noStrike">
              <a:solidFill>
                <a:srgbClr val="424242"/>
              </a:solidFill>
              <a:latin typeface="Noto Sans SC"/>
              <a:ea typeface="Noto Sans SC"/>
              <a:cs typeface="Noto Sans SC"/>
              <a:sym typeface="Noto Sans SC"/>
            </a:endParaRPr>
          </a:p>
        </p:txBody>
      </p:sp>
      <p:sp>
        <p:nvSpPr>
          <p:cNvPr id="18" name="AutoShape 18"/>
          <p:cNvSpPr/>
          <p:nvPr/>
        </p:nvSpPr>
        <p:spPr>
          <a:xfrm>
            <a:off x="762000" y="419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4381500"/>
            <a:ext cx="304800" cy="304800"/>
          </a:xfrm>
          <a:prstGeom prst="rect">
            <a:avLst/>
          </a:prstGeom>
        </p:spPr>
      </p:pic>
      <p:sp>
        <p:nvSpPr>
          <p:cNvPr id="20" name="AutoShape 20"/>
          <p:cNvSpPr/>
          <p:nvPr/>
        </p:nvSpPr>
        <p:spPr>
          <a:xfrm>
            <a:off x="1333500" y="434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LSH 索引</a:t>
            </a:r>
            <a:endParaRPr lang="en-US" sz="1100"/>
          </a:p>
        </p:txBody>
      </p:sp>
      <p:cxnSp>
        <p:nvCxnSpPr>
          <p:cNvPr id="21" name="Connector 21"/>
          <p:cNvCxnSpPr/>
          <p:nvPr/>
        </p:nvCxnSpPr>
        <p:spPr>
          <a:xfrm rot="-14323">
            <a:off x="952513" y="475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22" name="AutoShape 22"/>
          <p:cNvSpPr/>
          <p:nvPr/>
        </p:nvSpPr>
        <p:spPr>
          <a:xfrm>
            <a:off x="952500" y="482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训练检索快，内存占用小</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召回率较差，精度较低</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大数据集，离线快速检索</a:t>
            </a:r>
            <a:endParaRPr lang="en-US" sz="1200" b="0" i="0" u="none" strike="noStrike">
              <a:solidFill>
                <a:srgbClr val="424242"/>
              </a:solidFill>
              <a:latin typeface="Noto Sans SC"/>
              <a:ea typeface="Noto Sans SC"/>
              <a:cs typeface="Noto Sans SC"/>
              <a:sym typeface="Noto Sans SC"/>
            </a:endParaRPr>
          </a:p>
        </p:txBody>
      </p:sp>
      <p:sp>
        <p:nvSpPr>
          <p:cNvPr id="23" name="AutoShape 23"/>
          <p:cNvSpPr/>
          <p:nvPr/>
        </p:nvSpPr>
        <p:spPr>
          <a:xfrm>
            <a:off x="4381500" y="419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381500"/>
            <a:ext cx="304800" cy="304800"/>
          </a:xfrm>
          <a:prstGeom prst="rect">
            <a:avLst/>
          </a:prstGeom>
        </p:spPr>
      </p:pic>
      <p:sp>
        <p:nvSpPr>
          <p:cNvPr id="25" name="AutoShape 25"/>
          <p:cNvSpPr/>
          <p:nvPr/>
        </p:nvSpPr>
        <p:spPr>
          <a:xfrm>
            <a:off x="4953000" y="434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HNSW 索引</a:t>
            </a:r>
            <a:endParaRPr lang="en-US" sz="1100"/>
          </a:p>
        </p:txBody>
      </p:sp>
      <p:cxnSp>
        <p:nvCxnSpPr>
          <p:cNvPr id="26" name="Connector 26"/>
          <p:cNvCxnSpPr/>
          <p:nvPr/>
        </p:nvCxnSpPr>
        <p:spPr>
          <a:xfrm rot="-14323">
            <a:off x="4572013" y="475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27" name="AutoShape 27"/>
          <p:cNvSpPr/>
          <p:nvPr/>
        </p:nvSpPr>
        <p:spPr>
          <a:xfrm>
            <a:off x="4572000" y="482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检索速度快，召回率高</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构建索引慢，内存占用大</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内存充足，离线构建索引</a:t>
            </a:r>
            <a:endParaRPr lang="en-US" sz="1200" b="0" i="0" u="none" strike="noStrike">
              <a:solidFill>
                <a:srgbClr val="424242"/>
              </a:solidFill>
              <a:latin typeface="Noto Sans SC"/>
              <a:ea typeface="Noto Sans SC"/>
              <a:cs typeface="Noto Sans SC"/>
              <a:sym typeface="Noto Sans SC"/>
            </a:endParaRPr>
          </a:p>
        </p:txBody>
      </p:sp>
      <p:sp>
        <p:nvSpPr>
          <p:cNvPr id="28" name="AutoShape 28"/>
          <p:cNvSpPr/>
          <p:nvPr/>
        </p:nvSpPr>
        <p:spPr>
          <a:xfrm>
            <a:off x="8001000" y="4191000"/>
            <a:ext cx="3429000" cy="2286000"/>
          </a:xfrm>
          <a:prstGeom prst="roundRect">
            <a:avLst>
              <a:gd name="adj" fmla="val 555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91500" y="4381500"/>
            <a:ext cx="304800" cy="304800"/>
          </a:xfrm>
          <a:prstGeom prst="rect">
            <a:avLst/>
          </a:prstGeom>
        </p:spPr>
      </p:pic>
      <p:sp>
        <p:nvSpPr>
          <p:cNvPr id="30" name="AutoShape 30"/>
          <p:cNvSpPr/>
          <p:nvPr/>
        </p:nvSpPr>
        <p:spPr>
          <a:xfrm>
            <a:off x="8572500" y="434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组合策略 (IVF+PQ)</a:t>
            </a:r>
            <a:endParaRPr lang="en-US" sz="1100"/>
          </a:p>
        </p:txBody>
      </p:sp>
      <p:cxnSp>
        <p:nvCxnSpPr>
          <p:cNvPr id="31" name="Connector 31"/>
          <p:cNvCxnSpPr/>
          <p:nvPr/>
        </p:nvCxnSpPr>
        <p:spPr>
          <a:xfrm rot="-14323">
            <a:off x="8191513" y="4756150"/>
            <a:ext cx="3048000" cy="12700"/>
          </a:xfrm>
          <a:prstGeom prst="straightConnector1">
            <a:avLst/>
          </a:prstGeom>
          <a:solidFill>
            <a:srgbClr val="DEE0E3">
              <a:alpha val="100000"/>
            </a:srgbClr>
          </a:solidFill>
          <a:ln w="12700" cap="flat" cmpd="sng">
            <a:solidFill>
              <a:srgbClr val="E0F7FA">
                <a:alpha val="100000"/>
              </a:srgbClr>
            </a:solidFill>
            <a:prstDash val="solid"/>
            <a:round/>
            <a:headEnd type="none" w="med" len="med"/>
            <a:tailEnd type="none" w="med" len="med"/>
          </a:ln>
        </p:spPr>
      </p:cxnSp>
      <p:sp>
        <p:nvSpPr>
          <p:cNvPr id="32" name="AutoShape 32"/>
          <p:cNvSpPr/>
          <p:nvPr/>
        </p:nvSpPr>
        <p:spPr>
          <a:xfrm>
            <a:off x="8191500" y="4826000"/>
            <a:ext cx="304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757575"/>
                </a:solidFill>
                <a:latin typeface="Noto Sans SC"/>
                <a:ea typeface="Noto Sans SC"/>
                <a:cs typeface="Noto Sans SC"/>
                <a:sym typeface="Noto Sans SC"/>
              </a:rPr>
              <a:t>优点：</a:t>
            </a:r>
            <a:r>
              <a:rPr lang="en-US" sz="1200" b="0" i="0" u="none" strike="noStrike">
                <a:solidFill>
                  <a:srgbClr val="424242"/>
                </a:solidFill>
                <a:latin typeface="Noto Sans SC"/>
                <a:ea typeface="Noto Sans SC"/>
                <a:cs typeface="Noto Sans SC"/>
                <a:sym typeface="Noto Sans SC"/>
              </a:rPr>
              <a:t>平衡了速度、精度与内存</a:t>
            </a:r>
            <a:endParaRPr lang="en-US" sz="1100"/>
          </a:p>
          <a:p>
            <a:pPr indent="0" algn="l">
              <a:lnSpc>
                <a:spcPct val="125000"/>
              </a:lnSpc>
            </a:pPr>
            <a:r>
              <a:rPr lang="en-US" sz="1200" b="1" i="0" u="none" strike="noStrike">
                <a:solidFill>
                  <a:srgbClr val="757575"/>
                </a:solidFill>
                <a:latin typeface="Noto Sans SC"/>
                <a:ea typeface="Noto Sans SC"/>
                <a:cs typeface="Noto Sans SC"/>
                <a:sym typeface="Noto Sans SC"/>
              </a:rPr>
              <a:t>缺点：</a:t>
            </a:r>
            <a:r>
              <a:rPr lang="en-US" sz="1200" b="0" i="0" u="none" strike="noStrike">
                <a:solidFill>
                  <a:srgbClr val="424242"/>
                </a:solidFill>
                <a:latin typeface="Noto Sans SC"/>
                <a:ea typeface="Noto Sans SC"/>
                <a:cs typeface="Noto Sans SC"/>
                <a:sym typeface="Noto Sans SC"/>
              </a:rPr>
              <a:t>参数调优相对复杂</a:t>
            </a:r>
            <a:endParaRPr lang="en-US" sz="1200" b="0" i="0" u="none" strike="noStrike">
              <a:solidFill>
                <a:srgbClr val="424242"/>
              </a:solidFill>
              <a:latin typeface="Noto Sans SC"/>
              <a:ea typeface="Noto Sans SC"/>
              <a:cs typeface="Noto Sans SC"/>
              <a:sym typeface="Noto Sans SC"/>
            </a:endParaRPr>
          </a:p>
          <a:p>
            <a:pPr indent="0" algn="l">
              <a:lnSpc>
                <a:spcPct val="125000"/>
              </a:lnSpc>
            </a:pPr>
            <a:r>
              <a:rPr lang="en-US" sz="1200" b="1" i="0" u="none" strike="noStrike">
                <a:solidFill>
                  <a:srgbClr val="757575"/>
                </a:solidFill>
                <a:latin typeface="Noto Sans SC"/>
                <a:ea typeface="Noto Sans SC"/>
                <a:cs typeface="Noto Sans SC"/>
                <a:sym typeface="Noto Sans SC"/>
              </a:rPr>
              <a:t>场景：</a:t>
            </a:r>
            <a:r>
              <a:rPr lang="en-US" sz="1200" b="0" i="0" u="none" strike="noStrike">
                <a:solidFill>
                  <a:srgbClr val="424242"/>
                </a:solidFill>
                <a:latin typeface="Noto Sans SC"/>
                <a:ea typeface="Noto Sans SC"/>
                <a:cs typeface="Noto Sans SC"/>
                <a:sym typeface="Noto Sans SC"/>
              </a:rPr>
              <a:t>大规模生产环境首选方案</a:t>
            </a:r>
            <a:endParaRPr lang="en-US" sz="1200" b="0" i="0" u="none" strike="noStrike">
              <a:solidFill>
                <a:srgbClr val="424242"/>
              </a:solidFill>
              <a:latin typeface="Noto Sans SC"/>
              <a:ea typeface="Noto Sans SC"/>
              <a:cs typeface="Noto Sans SC"/>
              <a:sym typeface="Noto Sans S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索引创建与操作</a:t>
            </a:r>
            <a:endParaRPr lang="en-US" sz="1100"/>
          </a:p>
        </p:txBody>
      </p:sp>
      <p:sp>
        <p:nvSpPr>
          <p:cNvPr id="3" name="AutoShape 3"/>
          <p:cNvSpPr/>
          <p:nvPr/>
        </p:nvSpPr>
        <p:spPr>
          <a:xfrm>
            <a:off x="762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762000" y="1651000"/>
            <a:ext cx="5080000" cy="609600"/>
          </a:xfrm>
          <a:prstGeom prst="roundRect">
            <a:avLst>
              <a:gd name="adj" fmla="val 20833"/>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778000"/>
            <a:ext cx="355600" cy="355600"/>
          </a:xfrm>
          <a:prstGeom prst="rect">
            <a:avLst/>
          </a:prstGeom>
        </p:spPr>
      </p:pic>
      <p:sp>
        <p:nvSpPr>
          <p:cNvPr id="6" name="AutoShape 6"/>
          <p:cNvSpPr/>
          <p:nvPr/>
        </p:nvSpPr>
        <p:spPr>
          <a:xfrm>
            <a:off x="1397000" y="17272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索引工厂创建复杂索引</a:t>
            </a:r>
            <a:endParaRPr lang="en-US" sz="1100"/>
          </a:p>
        </p:txBody>
      </p:sp>
      <p:sp>
        <p:nvSpPr>
          <p:cNvPr id="7" name="AutoShape 7"/>
          <p:cNvSpPr/>
          <p:nvPr/>
        </p:nvSpPr>
        <p:spPr>
          <a:xfrm>
            <a:off x="1016000" y="2413000"/>
            <a:ext cx="4572000" cy="1524000"/>
          </a:xfrm>
          <a:prstGeom prst="roundRect">
            <a:avLst>
              <a:gd name="adj" fmla="val 4166"/>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540000"/>
            <a:ext cx="4318000" cy="127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 使用 index_factory 创建复合索引</a:t>
            </a:r>
            <a:endParaRPr lang="en-US" sz="1100"/>
          </a:p>
          <a:p>
            <a:pPr indent="0" algn="l">
              <a:lnSpc>
                <a:spcPct val="125000"/>
              </a:lnSpc>
            </a:pPr>
            <a:r>
              <a:rPr lang="en-US" sz="1400" b="0" i="0" u="none" strike="noStrike">
                <a:solidFill>
                  <a:srgbClr val="0288D1"/>
                </a:solidFill>
                <a:latin typeface="Noto Sans SC"/>
                <a:ea typeface="Noto Sans SC"/>
                <a:cs typeface="Noto Sans SC"/>
                <a:sym typeface="Noto Sans SC"/>
              </a:rPr>
              <a:t>index = faiss.index_factory(dim, "PCA80,Flat", faiss.METRIC_L2)</a:t>
            </a:r>
            <a:endParaRPr lang="en-US" sz="1400" b="0" i="0" u="none" strike="noStrike">
              <a:solidFill>
                <a:srgbClr val="0288D1"/>
              </a:solidFill>
              <a:latin typeface="Noto Sans SC"/>
              <a:ea typeface="Noto Sans SC"/>
              <a:cs typeface="Noto Sans SC"/>
              <a:sym typeface="Noto Sans SC"/>
            </a:endParaRPr>
          </a:p>
        </p:txBody>
      </p:sp>
      <p:sp>
        <p:nvSpPr>
          <p:cNvPr id="9" name="AutoShape 9"/>
          <p:cNvSpPr/>
          <p:nvPr/>
        </p:nvSpPr>
        <p:spPr>
          <a:xfrm>
            <a:off x="1016000" y="4064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核心参数说明：</a:t>
            </a:r>
            <a:endParaRPr lang="en-US" sz="1100"/>
          </a:p>
          <a:p>
            <a:pPr marL="165100" indent="-165100" algn="l">
              <a:lnSpc>
                <a:spcPct val="125000"/>
              </a:lnSpc>
              <a:buClr>
                <a:srgbClr val="757575"/>
              </a:buClr>
              <a:buChar char="•"/>
            </a:pPr>
            <a:r>
              <a:rPr lang="en-US" sz="1300" b="0" i="0" u="none" strike="noStrike">
                <a:solidFill>
                  <a:srgbClr val="757575"/>
                </a:solidFill>
                <a:latin typeface="Noto Sans SC"/>
                <a:ea typeface="Noto Sans SC"/>
                <a:cs typeface="Noto Sans SC"/>
                <a:sym typeface="Noto Sans SC"/>
              </a:rPr>
              <a:t>dim: 向量维度</a:t>
            </a:r>
            <a:endParaRPr lang="en-US" sz="1300" b="0" i="0" u="none" strike="noStrike">
              <a:solidFill>
                <a:srgbClr val="757575"/>
              </a:solidFill>
              <a:latin typeface="Noto Sans SC"/>
              <a:ea typeface="Noto Sans SC"/>
              <a:cs typeface="Noto Sans SC"/>
              <a:sym typeface="Noto Sans SC"/>
            </a:endParaRPr>
          </a:p>
          <a:p>
            <a:pPr marL="165100" indent="-165100" algn="l">
              <a:lnSpc>
                <a:spcPct val="125000"/>
              </a:lnSpc>
              <a:buClr>
                <a:srgbClr val="757575"/>
              </a:buClr>
              <a:buChar char="•"/>
            </a:pPr>
            <a:r>
              <a:rPr lang="en-US" sz="1300" b="0" i="0" u="none" strike="noStrike">
                <a:solidFill>
                  <a:srgbClr val="757575"/>
                </a:solidFill>
                <a:latin typeface="Noto Sans SC"/>
                <a:ea typeface="Noto Sans SC"/>
                <a:cs typeface="Noto Sans SC"/>
                <a:sym typeface="Noto Sans SC"/>
              </a:rPr>
              <a:t>"PCA80,Flat": 索引描述符，先降维再存储</a:t>
            </a:r>
            <a:endParaRPr lang="en-US" sz="1300" b="0" i="0" u="none" strike="noStrike">
              <a:solidFill>
                <a:srgbClr val="757575"/>
              </a:solidFill>
              <a:latin typeface="Noto Sans SC"/>
              <a:ea typeface="Noto Sans SC"/>
              <a:cs typeface="Noto Sans SC"/>
              <a:sym typeface="Noto Sans SC"/>
            </a:endParaRPr>
          </a:p>
          <a:p>
            <a:pPr marL="165100" indent="-165100" algn="l">
              <a:lnSpc>
                <a:spcPct val="125000"/>
              </a:lnSpc>
              <a:buClr>
                <a:srgbClr val="757575"/>
              </a:buClr>
              <a:buChar char="•"/>
            </a:pPr>
            <a:r>
              <a:rPr lang="en-US" sz="1300" b="0" i="0" u="none" strike="noStrike">
                <a:solidFill>
                  <a:srgbClr val="757575"/>
                </a:solidFill>
                <a:latin typeface="Noto Sans SC"/>
                <a:ea typeface="Noto Sans SC"/>
                <a:cs typeface="Noto Sans SC"/>
                <a:sym typeface="Noto Sans SC"/>
              </a:rPr>
              <a:t>METRIC_L2: 距离度量方式（欧氏距离）</a:t>
            </a:r>
            <a:endParaRPr lang="en-US" sz="1300" b="0" i="0" u="none" strike="noStrike">
              <a:solidFill>
                <a:srgbClr val="757575"/>
              </a:solidFill>
              <a:latin typeface="Noto Sans SC"/>
              <a:ea typeface="Noto Sans SC"/>
              <a:cs typeface="Noto Sans SC"/>
              <a:sym typeface="Noto Sans SC"/>
            </a:endParaRPr>
          </a:p>
        </p:txBody>
      </p:sp>
      <p:sp>
        <p:nvSpPr>
          <p:cNvPr id="10" name="AutoShape 10"/>
          <p:cNvSpPr/>
          <p:nvPr/>
        </p:nvSpPr>
        <p:spPr>
          <a:xfrm>
            <a:off x="6096000" y="1651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6096000" y="1651000"/>
            <a:ext cx="5080000" cy="609600"/>
          </a:xfrm>
          <a:prstGeom prst="roundRect">
            <a:avLst>
              <a:gd name="adj" fmla="val 20833"/>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1778000"/>
            <a:ext cx="355600" cy="355600"/>
          </a:xfrm>
          <a:prstGeom prst="rect">
            <a:avLst/>
          </a:prstGeom>
        </p:spPr>
      </p:pic>
      <p:sp>
        <p:nvSpPr>
          <p:cNvPr id="13" name="AutoShape 13"/>
          <p:cNvSpPr/>
          <p:nvPr/>
        </p:nvSpPr>
        <p:spPr>
          <a:xfrm>
            <a:off x="6731000" y="17272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索引常用操作 API</a:t>
            </a:r>
            <a:endParaRPr lang="en-US" sz="1100"/>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2476500"/>
            <a:ext cx="304800" cy="304800"/>
          </a:xfrm>
          <a:prstGeom prst="rect">
            <a:avLst/>
          </a:prstGeom>
        </p:spPr>
      </p:pic>
      <p:sp>
        <p:nvSpPr>
          <p:cNvPr id="15" name="AutoShape 15"/>
          <p:cNvSpPr/>
          <p:nvPr/>
        </p:nvSpPr>
        <p:spPr>
          <a:xfrm>
            <a:off x="6731000" y="2438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写入索引 (Save)</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faiss.write_index(index, 'demo.index')</a:t>
            </a:r>
            <a:endParaRPr lang="en-US" sz="1300" b="0" i="0" u="none" strike="noStrike">
              <a:solidFill>
                <a:srgbClr val="757575"/>
              </a:solidFill>
              <a:latin typeface="Noto Sans SC"/>
              <a:ea typeface="Noto Sans SC"/>
              <a:cs typeface="Noto Sans SC"/>
              <a:sym typeface="Noto Sans SC"/>
            </a:endParaRPr>
          </a:p>
        </p:txBody>
      </p:sp>
      <p:cxnSp>
        <p:nvCxnSpPr>
          <p:cNvPr id="16" name="Connector 16"/>
          <p:cNvCxnSpPr/>
          <p:nvPr/>
        </p:nvCxnSpPr>
        <p:spPr>
          <a:xfrm rot="-9549">
            <a:off x="6350009" y="3041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3238500"/>
            <a:ext cx="304800" cy="304800"/>
          </a:xfrm>
          <a:prstGeom prst="rect">
            <a:avLst/>
          </a:prstGeom>
        </p:spPr>
      </p:pic>
      <p:sp>
        <p:nvSpPr>
          <p:cNvPr id="18" name="AutoShape 18"/>
          <p:cNvSpPr/>
          <p:nvPr/>
        </p:nvSpPr>
        <p:spPr>
          <a:xfrm>
            <a:off x="6731000" y="3200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读取索引 (Load)</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index = faiss.read_index('demo.index')</a:t>
            </a:r>
            <a:endParaRPr lang="en-US" sz="1300" b="0" i="0" u="none" strike="noStrike">
              <a:solidFill>
                <a:srgbClr val="757575"/>
              </a:solidFill>
              <a:latin typeface="Noto Sans SC"/>
              <a:ea typeface="Noto Sans SC"/>
              <a:cs typeface="Noto Sans SC"/>
              <a:sym typeface="Noto Sans SC"/>
            </a:endParaRPr>
          </a:p>
        </p:txBody>
      </p:sp>
      <p:cxnSp>
        <p:nvCxnSpPr>
          <p:cNvPr id="19" name="Connector 19"/>
          <p:cNvCxnSpPr/>
          <p:nvPr/>
        </p:nvCxnSpPr>
        <p:spPr>
          <a:xfrm rot="-9549">
            <a:off x="6350009" y="3803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0" y="4000500"/>
            <a:ext cx="304800" cy="304800"/>
          </a:xfrm>
          <a:prstGeom prst="rect">
            <a:avLst/>
          </a:prstGeom>
        </p:spPr>
      </p:pic>
      <p:sp>
        <p:nvSpPr>
          <p:cNvPr id="21" name="AutoShape 21"/>
          <p:cNvSpPr/>
          <p:nvPr/>
        </p:nvSpPr>
        <p:spPr>
          <a:xfrm>
            <a:off x="6731000" y="3962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克隆索引 (Clone)</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index_clone = faiss.clone_index(index)</a:t>
            </a:r>
            <a:endParaRPr lang="en-US" sz="1300" b="0" i="0" u="none" strike="noStrike">
              <a:solidFill>
                <a:srgbClr val="757575"/>
              </a:solidFill>
              <a:latin typeface="Noto Sans SC"/>
              <a:ea typeface="Noto Sans SC"/>
              <a:cs typeface="Noto Sans SC"/>
              <a:sym typeface="Noto Sans SC"/>
            </a:endParaRPr>
          </a:p>
        </p:txBody>
      </p:sp>
      <p:cxnSp>
        <p:nvCxnSpPr>
          <p:cNvPr id="22" name="Connector 22"/>
          <p:cNvCxnSpPr/>
          <p:nvPr/>
        </p:nvCxnSpPr>
        <p:spPr>
          <a:xfrm rot="-9549">
            <a:off x="6350009" y="4565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0" y="4762500"/>
            <a:ext cx="304800" cy="304800"/>
          </a:xfrm>
          <a:prstGeom prst="rect">
            <a:avLst/>
          </a:prstGeom>
        </p:spPr>
      </p:pic>
      <p:sp>
        <p:nvSpPr>
          <p:cNvPr id="24" name="AutoShape 24"/>
          <p:cNvSpPr/>
          <p:nvPr/>
        </p:nvSpPr>
        <p:spPr>
          <a:xfrm>
            <a:off x="6731000" y="4724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CPU/GPU 转换 (Device)</a:t>
            </a:r>
            <a:endParaRPr lang="en-US" sz="1100"/>
          </a:p>
          <a:p>
            <a:pPr indent="0" algn="l">
              <a:lnSpc>
                <a:spcPct val="125000"/>
              </a:lnSpc>
            </a:pPr>
            <a:r>
              <a:rPr lang="en-US" sz="1300" b="0" i="0" u="none" strike="noStrike">
                <a:solidFill>
                  <a:srgbClr val="757575"/>
                </a:solidFill>
                <a:latin typeface="Noto Sans SC"/>
                <a:ea typeface="Noto Sans SC"/>
                <a:cs typeface="Noto Sans SC"/>
                <a:sym typeface="Noto Sans SC"/>
              </a:rPr>
              <a:t>index_gpu = faiss.index_cpu_to_gpu(res, 0, index)</a:t>
            </a:r>
            <a:endParaRPr lang="en-US" sz="1300" b="0" i="0" u="none" strike="noStrike">
              <a:solidFill>
                <a:srgbClr val="757575"/>
              </a:solidFill>
              <a:latin typeface="Noto Sans SC"/>
              <a:ea typeface="Noto Sans SC"/>
              <a:cs typeface="Noto Sans SC"/>
              <a:sym typeface="Noto Sans SC"/>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5.3.1 Faiss向量数据库 - 优化</a:t>
            </a:r>
            <a:endParaRPr lang="en-US" sz="1100"/>
          </a:p>
        </p:txBody>
      </p:sp>
      <p:sp>
        <p:nvSpPr>
          <p:cNvPr id="3" name="AutoShape 3"/>
          <p:cNvSpPr/>
          <p:nvPr/>
        </p:nvSpPr>
        <p:spPr>
          <a:xfrm>
            <a:off x="762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2095500"/>
            <a:ext cx="762000" cy="762000"/>
          </a:xfrm>
          <a:prstGeom prst="rect">
            <a:avLst/>
          </a:prstGeom>
        </p:spPr>
      </p:pic>
      <p:sp>
        <p:nvSpPr>
          <p:cNvPr id="5" name="AutoShape 5"/>
          <p:cNvSpPr/>
          <p:nvPr/>
        </p:nvSpPr>
        <p:spPr>
          <a:xfrm>
            <a:off x="1016000" y="298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参数优化</a:t>
            </a:r>
            <a:endParaRPr lang="en-US" sz="1100"/>
          </a:p>
        </p:txBody>
      </p:sp>
      <p:sp>
        <p:nvSpPr>
          <p:cNvPr id="6" name="AutoShape 6"/>
          <p:cNvSpPr/>
          <p:nvPr/>
        </p:nvSpPr>
        <p:spPr>
          <a:xfrm>
            <a:off x="1016000" y="3429000"/>
            <a:ext cx="2794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调整索引的参数（如IVF的聚类中心数、PQ的分段数等）以平衡检索速度和精度，找到最佳性能平衡点。</a:t>
            </a:r>
            <a:endParaRPr lang="en-US" sz="1100"/>
          </a:p>
        </p:txBody>
      </p:sp>
      <p:sp>
        <p:nvSpPr>
          <p:cNvPr id="7" name="AutoShape 7"/>
          <p:cNvSpPr/>
          <p:nvPr/>
        </p:nvSpPr>
        <p:spPr>
          <a:xfrm>
            <a:off x="4445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2095500"/>
            <a:ext cx="762000" cy="762000"/>
          </a:xfrm>
          <a:prstGeom prst="rect">
            <a:avLst/>
          </a:prstGeom>
        </p:spPr>
      </p:pic>
      <p:sp>
        <p:nvSpPr>
          <p:cNvPr id="9" name="AutoShape 9"/>
          <p:cNvSpPr/>
          <p:nvPr/>
        </p:nvSpPr>
        <p:spPr>
          <a:xfrm>
            <a:off x="4699000" y="298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并行化加速</a:t>
            </a:r>
            <a:endParaRPr lang="en-US" sz="1100"/>
          </a:p>
        </p:txBody>
      </p:sp>
      <p:sp>
        <p:nvSpPr>
          <p:cNvPr id="10" name="AutoShape 10"/>
          <p:cNvSpPr/>
          <p:nvPr/>
        </p:nvSpPr>
        <p:spPr>
          <a:xfrm>
            <a:off x="4699000" y="3429000"/>
            <a:ext cx="2794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利用Faiss库的多线程支持，通过设置环境变量或使用多GPU配置，显著加速索引构建和搜索过程。</a:t>
            </a:r>
            <a:endParaRPr lang="en-US" sz="1100"/>
          </a:p>
        </p:txBody>
      </p:sp>
      <p:sp>
        <p:nvSpPr>
          <p:cNvPr id="11" name="AutoShape 11"/>
          <p:cNvSpPr/>
          <p:nvPr/>
        </p:nvSpPr>
        <p:spPr>
          <a:xfrm>
            <a:off x="8128000" y="1778000"/>
            <a:ext cx="3302000" cy="3810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98000" y="2095500"/>
            <a:ext cx="762000" cy="762000"/>
          </a:xfrm>
          <a:prstGeom prst="rect">
            <a:avLst/>
          </a:prstGeom>
        </p:spPr>
      </p:pic>
      <p:sp>
        <p:nvSpPr>
          <p:cNvPr id="13" name="AutoShape 13"/>
          <p:cNvSpPr/>
          <p:nvPr/>
        </p:nvSpPr>
        <p:spPr>
          <a:xfrm>
            <a:off x="8382000" y="2984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数据预处理</a:t>
            </a:r>
            <a:endParaRPr lang="en-US" sz="1100"/>
          </a:p>
        </p:txBody>
      </p:sp>
      <p:sp>
        <p:nvSpPr>
          <p:cNvPr id="14" name="AutoShape 14"/>
          <p:cNvSpPr/>
          <p:nvPr/>
        </p:nvSpPr>
        <p:spPr>
          <a:xfrm>
            <a:off x="8382000" y="3429000"/>
            <a:ext cx="2794000" cy="1905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757575"/>
                </a:solidFill>
                <a:latin typeface="Noto Sans SC"/>
                <a:ea typeface="Noto Sans SC"/>
                <a:cs typeface="Noto Sans SC"/>
                <a:sym typeface="Noto Sans SC"/>
              </a:rPr>
              <a:t>对原始向量进行归一化、降维等预处理操作，不仅能提升检索效率，还能优化最终的检索效果。</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288D1"/>
                </a:solidFill>
                <a:latin typeface="Noto Sans SC"/>
                <a:ea typeface="Noto Sans SC"/>
                <a:cs typeface="Noto Sans SC"/>
                <a:sym typeface="Noto Sans SC"/>
              </a:rPr>
              <a:t>课程总结</a:t>
            </a:r>
            <a:endParaRPr lang="en-US" sz="1100"/>
          </a:p>
        </p:txBody>
      </p:sp>
      <p:sp>
        <p:nvSpPr>
          <p:cNvPr id="3" name="AutoShape 3"/>
          <p:cNvSpPr/>
          <p:nvPr/>
        </p:nvSpPr>
        <p:spPr>
          <a:xfrm>
            <a:off x="762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609600" cy="609600"/>
          </a:xfrm>
          <a:prstGeom prst="rect">
            <a:avLst/>
          </a:prstGeom>
        </p:spPr>
      </p:pic>
      <p:sp>
        <p:nvSpPr>
          <p:cNvPr id="5" name="AutoShape 5"/>
          <p:cNvSpPr/>
          <p:nvPr/>
        </p:nvSpPr>
        <p:spPr>
          <a:xfrm>
            <a:off x="1016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核心概念</a:t>
            </a:r>
            <a:endParaRPr lang="en-US" sz="1100"/>
          </a:p>
        </p:txBody>
      </p:sp>
      <p:cxnSp>
        <p:nvCxnSpPr>
          <p:cNvPr id="6" name="Connector 6"/>
          <p:cNvCxnSpPr/>
          <p:nvPr/>
        </p:nvCxnSpPr>
        <p:spPr>
          <a:xfrm rot="-15626">
            <a:off x="1016014" y="3168650"/>
            <a:ext cx="2794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7" name="AutoShape 7"/>
          <p:cNvSpPr/>
          <p:nvPr/>
        </p:nvSpPr>
        <p:spPr>
          <a:xfrm>
            <a:off x="1016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向量数据库是存储和检索高维向量的数据库，是AI应用的关键支撑技术，解决了传统数据库无法高效处理非结构化数据的难题。</a:t>
            </a:r>
            <a:endParaRPr lang="en-US" sz="1100"/>
          </a:p>
        </p:txBody>
      </p:sp>
      <p:sp>
        <p:nvSpPr>
          <p:cNvPr id="8" name="AutoShape 8"/>
          <p:cNvSpPr/>
          <p:nvPr/>
        </p:nvSpPr>
        <p:spPr>
          <a:xfrm>
            <a:off x="4445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2032000"/>
            <a:ext cx="609600" cy="609600"/>
          </a:xfrm>
          <a:prstGeom prst="rect">
            <a:avLst/>
          </a:prstGeom>
        </p:spPr>
      </p:pic>
      <p:sp>
        <p:nvSpPr>
          <p:cNvPr id="10" name="AutoShape 10"/>
          <p:cNvSpPr/>
          <p:nvPr/>
        </p:nvSpPr>
        <p:spPr>
          <a:xfrm>
            <a:off x="4699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关键技术</a:t>
            </a:r>
            <a:endParaRPr lang="en-US" sz="1100"/>
          </a:p>
        </p:txBody>
      </p:sp>
      <p:cxnSp>
        <p:nvCxnSpPr>
          <p:cNvPr id="11" name="Connector 11"/>
          <p:cNvCxnSpPr/>
          <p:nvPr/>
        </p:nvCxnSpPr>
        <p:spPr>
          <a:xfrm rot="-15626">
            <a:off x="4699014" y="3168650"/>
            <a:ext cx="2794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2" name="AutoShape 12"/>
          <p:cNvSpPr/>
          <p:nvPr/>
        </p:nvSpPr>
        <p:spPr>
          <a:xfrm>
            <a:off x="4699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核心在于高效的向量距离度量（如欧式距离、余弦相似度）和相似度搜索算法（如KNN、HNSW、LSH），确保大规模数据下的检索性能。</a:t>
            </a:r>
            <a:endParaRPr lang="en-US" sz="1100"/>
          </a:p>
        </p:txBody>
      </p:sp>
      <p:sp>
        <p:nvSpPr>
          <p:cNvPr id="13" name="AutoShape 13"/>
          <p:cNvSpPr/>
          <p:nvPr/>
        </p:nvSpPr>
        <p:spPr>
          <a:xfrm>
            <a:off x="8128000" y="1778000"/>
            <a:ext cx="3302000" cy="4064000"/>
          </a:xfrm>
          <a:prstGeom prst="roundRect">
            <a:avLst>
              <a:gd name="adj" fmla="val 3846"/>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2032000"/>
            <a:ext cx="609600" cy="609600"/>
          </a:xfrm>
          <a:prstGeom prst="rect">
            <a:avLst/>
          </a:prstGeom>
        </p:spPr>
      </p:pic>
      <p:sp>
        <p:nvSpPr>
          <p:cNvPr id="15" name="AutoShape 15"/>
          <p:cNvSpPr/>
          <p:nvPr/>
        </p:nvSpPr>
        <p:spPr>
          <a:xfrm>
            <a:off x="8382000" y="27305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实际应用</a:t>
            </a:r>
            <a:endParaRPr lang="en-US" sz="1100"/>
          </a:p>
        </p:txBody>
      </p:sp>
      <p:cxnSp>
        <p:nvCxnSpPr>
          <p:cNvPr id="16" name="Connector 16"/>
          <p:cNvCxnSpPr/>
          <p:nvPr/>
        </p:nvCxnSpPr>
        <p:spPr>
          <a:xfrm rot="-15626">
            <a:off x="8382014" y="3168650"/>
            <a:ext cx="2794000" cy="12700"/>
          </a:xfrm>
          <a:prstGeom prst="line">
            <a:avLst/>
          </a:prstGeom>
          <a:solidFill>
            <a:srgbClr val="DEE0E3">
              <a:alpha val="100000"/>
            </a:srgbClr>
          </a:solidFill>
          <a:ln w="25400" cap="flat" cmpd="sng">
            <a:solidFill>
              <a:srgbClr val="E0F7FA">
                <a:alpha val="100000"/>
              </a:srgbClr>
            </a:solidFill>
            <a:prstDash val="solid"/>
            <a:round/>
            <a:headEnd type="none" w="lg" len="lg"/>
            <a:tailEnd type="none" w="lg" len="lg"/>
          </a:ln>
        </p:spPr>
      </p:cxnSp>
      <p:sp>
        <p:nvSpPr>
          <p:cNvPr id="17" name="AutoShape 17"/>
          <p:cNvSpPr/>
          <p:nvPr/>
        </p:nvSpPr>
        <p:spPr>
          <a:xfrm>
            <a:off x="8382000" y="3302000"/>
            <a:ext cx="2794000" cy="228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757575"/>
                </a:solidFill>
                <a:latin typeface="Noto Sans SC"/>
                <a:ea typeface="Noto Sans SC"/>
                <a:cs typeface="Noto Sans SC"/>
                <a:sym typeface="Noto Sans SC"/>
              </a:rPr>
              <a:t>以Faiss为例，掌握了向量数据库的基本使用流程、索引选择和优化方法，能够将理论知识转化为实际的项目开发能力。</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525000" y="4445000"/>
            <a:ext cx="3810000" cy="381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1016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288D1"/>
                </a:solidFill>
                <a:latin typeface="Noto Sans SC"/>
                <a:ea typeface="Noto Sans SC"/>
                <a:cs typeface="Noto Sans SC"/>
                <a:sym typeface="Noto Sans SC"/>
              </a:rPr>
              <a:t>感谢聆听</a:t>
            </a:r>
            <a:endParaRPr lang="en-US" sz="1100"/>
          </a:p>
        </p:txBody>
      </p:sp>
      <p:sp>
        <p:nvSpPr>
          <p:cNvPr id="5" name="AutoShape 5"/>
          <p:cNvSpPr/>
          <p:nvPr/>
        </p:nvSpPr>
        <p:spPr>
          <a:xfrm>
            <a:off x="1016000" y="3048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757575"/>
                </a:solidFill>
                <a:latin typeface="Noto Sans SC"/>
                <a:ea typeface="Noto Sans SC"/>
                <a:cs typeface="Noto Sans SC"/>
                <a:sym typeface="Noto Sans SC"/>
              </a:rPr>
              <a:t>Q&amp;A 问答环节</a:t>
            </a:r>
            <a:endParaRPr lang="en-US" sz="1100"/>
          </a:p>
        </p:txBody>
      </p:sp>
      <p:cxnSp>
        <p:nvCxnSpPr>
          <p:cNvPr id="6" name="Connector 6"/>
          <p:cNvCxnSpPr/>
          <p:nvPr/>
        </p:nvCxnSpPr>
        <p:spPr>
          <a:xfrm rot="-34376">
            <a:off x="5461032" y="3803650"/>
            <a:ext cx="1270000" cy="12700"/>
          </a:xfrm>
          <a:prstGeom prst="straightConnector1">
            <a:avLst/>
          </a:prstGeom>
          <a:solidFill>
            <a:srgbClr val="DEE0E3">
              <a:alpha val="100000"/>
            </a:srgbClr>
          </a:solidFill>
          <a:ln w="38100" cap="flat" cmpd="sng">
            <a:solidFill>
              <a:srgbClr val="0288D1">
                <a:alpha val="100000"/>
              </a:srgbClr>
            </a:solidFill>
            <a:prstDash val="solid"/>
            <a:round/>
            <a:headEnd type="none" w="lg" len="lg"/>
            <a:tailEnd type="none" w="lg" len="lg"/>
          </a:ln>
        </p:spPr>
      </p:cxn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92800" y="4191000"/>
            <a:ext cx="406400" cy="406400"/>
          </a:xfrm>
          <a:prstGeom prst="rect">
            <a:avLst/>
          </a:prstGeom>
        </p:spPr>
      </p:pic>
      <p:sp>
        <p:nvSpPr>
          <p:cNvPr id="8" name="AutoShape 8"/>
          <p:cNvSpPr/>
          <p:nvPr/>
        </p:nvSpPr>
        <p:spPr>
          <a:xfrm>
            <a:off x="2286000" y="4699000"/>
            <a:ext cx="762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757575"/>
                </a:solidFill>
                <a:latin typeface="Noto Sans SC"/>
                <a:ea typeface="Noto Sans SC"/>
                <a:cs typeface="Noto Sans SC"/>
                <a:sym typeface="Noto Sans SC"/>
              </a:rPr>
              <a:t>欢迎提出问题，共同探讨与交流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7006</Words>
  <Application>WPS 演示</Application>
  <PresentationFormat/>
  <Paragraphs>599</Paragraphs>
  <Slides>30</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30</vt:i4>
      </vt:variant>
    </vt:vector>
  </HeadingPairs>
  <TitlesOfParts>
    <vt:vector size="47"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Roboto Mono</vt:lpstr>
      <vt:lpstr>Noto Sans SC</vt:lpstr>
      <vt:lpstr>Roboto Mono</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2026-03-10T15:53:42Z</dcterms:created>
  <dcterms:modified xsi:type="dcterms:W3CDTF">2026-03-10T15:53:42Z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551FBFE59AD2569E863EB0698D186CED_42</vt:lpwstr>
  </property>
  <property fmtid="{D5CDD505-2E9C-101B-9397-08002B2CF9AE}" pid="3" name="KSOProductBuildVer">
    <vt:lpwstr>2052-7.2.1.8947</vt:lpwstr>
  </property>
</Properties>
</file>