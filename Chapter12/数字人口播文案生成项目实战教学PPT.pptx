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00.svg" ContentType="image/svg+xml"/>
  <Override PartName="/ppt/media/image102.svg" ContentType="image/svg+xml"/>
  <Override PartName="/ppt/media/image104.svg" ContentType="image/svg+xml"/>
  <Override PartName="/ppt/media/image107.svg" ContentType="image/svg+xml"/>
  <Override PartName="/ppt/media/image110.svg" ContentType="image/svg+xml"/>
  <Override PartName="/ppt/media/image112.svg" ContentType="image/svg+xml"/>
  <Override PartName="/ppt/media/image114.svg" ContentType="image/svg+xml"/>
  <Override PartName="/ppt/media/image116.svg" ContentType="image/svg+xml"/>
  <Override PartName="/ppt/media/image12.svg" ContentType="image/svg+xml"/>
  <Override PartName="/ppt/media/image120.svg" ContentType="image/svg+xml"/>
  <Override PartName="/ppt/media/image123.svg" ContentType="image/svg+xml"/>
  <Override PartName="/ppt/media/image125.svg" ContentType="image/svg+xml"/>
  <Override PartName="/ppt/media/image127.svg" ContentType="image/svg+xml"/>
  <Override PartName="/ppt/media/image129.svg" ContentType="image/svg+xml"/>
  <Override PartName="/ppt/media/image131.svg" ContentType="image/svg+xml"/>
  <Override PartName="/ppt/media/image133.svg" ContentType="image/svg+xml"/>
  <Override PartName="/ppt/media/image137.svg" ContentType="image/svg+xml"/>
  <Override PartName="/ppt/media/image14.svg" ContentType="image/svg+xml"/>
  <Override PartName="/ppt/media/image140.svg" ContentType="image/svg+xml"/>
  <Override PartName="/ppt/media/image142.svg" ContentType="image/svg+xml"/>
  <Override PartName="/ppt/media/image144.svg" ContentType="image/svg+xml"/>
  <Override PartName="/ppt/media/image146.svg" ContentType="image/svg+xml"/>
  <Override PartName="/ppt/media/image148.svg" ContentType="image/svg+xml"/>
  <Override PartName="/ppt/media/image150.svg" ContentType="image/svg+xml"/>
  <Override PartName="/ppt/media/image152.svg" ContentType="image/svg+xml"/>
  <Override PartName="/ppt/media/image154.svg" ContentType="image/svg+xml"/>
  <Override PartName="/ppt/media/image156.svg" ContentType="image/svg+xml"/>
  <Override PartName="/ppt/media/image16.svg" ContentType="image/svg+xml"/>
  <Override PartName="/ppt/media/image160.svg" ContentType="image/svg+xml"/>
  <Override PartName="/ppt/media/image162.svg" ContentType="image/svg+xml"/>
  <Override PartName="/ppt/media/image164.svg" ContentType="image/svg+xml"/>
  <Override PartName="/ppt/media/image166.svg" ContentType="image/svg+xml"/>
  <Override PartName="/ppt/media/image168.svg" ContentType="image/svg+xml"/>
  <Override PartName="/ppt/media/image170.svg" ContentType="image/svg+xml"/>
  <Override PartName="/ppt/media/image172.svg" ContentType="image/svg+xml"/>
  <Override PartName="/ppt/media/image174.svg" ContentType="image/svg+xml"/>
  <Override PartName="/ppt/media/image177.svg" ContentType="image/svg+xml"/>
  <Override PartName="/ppt/media/image18.svg" ContentType="image/svg+xml"/>
  <Override PartName="/ppt/media/image181.svg" ContentType="image/svg+xml"/>
  <Override PartName="/ppt/media/image183.svg" ContentType="image/svg+xml"/>
  <Override PartName="/ppt/media/image185.svg" ContentType="image/svg+xml"/>
  <Override PartName="/ppt/media/image187.svg" ContentType="image/svg+xml"/>
  <Override PartName="/ppt/media/image189.svg" ContentType="image/svg+xml"/>
  <Override PartName="/ppt/media/image191.svg" ContentType="image/svg+xml"/>
  <Override PartName="/ppt/media/image193.svg" ContentType="image/svg+xml"/>
  <Override PartName="/ppt/media/image195.svg" ContentType="image/svg+xml"/>
  <Override PartName="/ppt/media/image197.svg" ContentType="image/svg+xml"/>
  <Override PartName="/ppt/media/image199.svg" ContentType="image/svg+xml"/>
  <Override PartName="/ppt/media/image2.svg" ContentType="image/svg+xml"/>
  <Override PartName="/ppt/media/image202.svg" ContentType="image/svg+xml"/>
  <Override PartName="/ppt/media/image204.svg" ContentType="image/svg+xml"/>
  <Override PartName="/ppt/media/image206.svg" ContentType="image/svg+xml"/>
  <Override PartName="/ppt/media/image208.svg" ContentType="image/svg+xml"/>
  <Override PartName="/ppt/media/image21.svg" ContentType="image/svg+xml"/>
  <Override PartName="/ppt/media/image210.svg" ContentType="image/svg+xml"/>
  <Override PartName="/ppt/media/image212.svg" ContentType="image/svg+xml"/>
  <Override PartName="/ppt/media/image214.svg" ContentType="image/svg+xml"/>
  <Override PartName="/ppt/media/image216.svg" ContentType="image/svg+xml"/>
  <Override PartName="/ppt/media/image218.svg" ContentType="image/svg+xml"/>
  <Override PartName="/ppt/media/image220.svg" ContentType="image/svg+xml"/>
  <Override PartName="/ppt/media/image222.svg" ContentType="image/svg+xml"/>
  <Override PartName="/ppt/media/image224.svg" ContentType="image/svg+xml"/>
  <Override PartName="/ppt/media/image226.svg" ContentType="image/svg+xml"/>
  <Override PartName="/ppt/media/image228.svg" ContentType="image/svg+xml"/>
  <Override PartName="/ppt/media/image23.svg" ContentType="image/svg+xml"/>
  <Override PartName="/ppt/media/image230.svg" ContentType="image/svg+xml"/>
  <Override PartName="/ppt/media/image232.svg" ContentType="image/svg+xml"/>
  <Override PartName="/ppt/media/image234.svg" ContentType="image/svg+xml"/>
  <Override PartName="/ppt/media/image236.svg" ContentType="image/svg+xml"/>
  <Override PartName="/ppt/media/image238.svg" ContentType="image/svg+xml"/>
  <Override PartName="/ppt/media/image240.svg" ContentType="image/svg+xml"/>
  <Override PartName="/ppt/media/image242.svg" ContentType="image/svg+xml"/>
  <Override PartName="/ppt/media/image244.svg" ContentType="image/svg+xml"/>
  <Override PartName="/ppt/media/image246.svg" ContentType="image/svg+xml"/>
  <Override PartName="/ppt/media/image248.svg" ContentType="image/svg+xml"/>
  <Override PartName="/ppt/media/image25.svg" ContentType="image/svg+xml"/>
  <Override PartName="/ppt/media/image250.svg" ContentType="image/svg+xml"/>
  <Override PartName="/ppt/media/image252.svg" ContentType="image/svg+xml"/>
  <Override PartName="/ppt/media/image254.svg" ContentType="image/svg+xml"/>
  <Override PartName="/ppt/media/image256.svg" ContentType="image/svg+xml"/>
  <Override PartName="/ppt/media/image258.svg" ContentType="image/svg+xml"/>
  <Override PartName="/ppt/media/image260.svg" ContentType="image/svg+xml"/>
  <Override PartName="/ppt/media/image262.svg" ContentType="image/svg+xml"/>
  <Override PartName="/ppt/media/image264.svg" ContentType="image/svg+xml"/>
  <Override PartName="/ppt/media/image266.svg" ContentType="image/svg+xml"/>
  <Override PartName="/ppt/media/image268.svg" ContentType="image/svg+xml"/>
  <Override PartName="/ppt/media/image27.svg" ContentType="image/svg+xml"/>
  <Override PartName="/ppt/media/image270.svg" ContentType="image/svg+xml"/>
  <Override PartName="/ppt/media/image272.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5.svg" ContentType="image/svg+xml"/>
  <Override PartName="/ppt/media/image67.svg" ContentType="image/svg+xml"/>
  <Override PartName="/ppt/media/image69.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78.svg" ContentType="image/svg+xml"/>
  <Override PartName="/ppt/media/image8.svg" ContentType="image/svg+xml"/>
  <Override PartName="/ppt/media/image80.svg" ContentType="image/svg+xml"/>
  <Override PartName="/ppt/media/image84.svg" ContentType="image/svg+xml"/>
  <Override PartName="/ppt/media/image87.svg" ContentType="image/svg+xml"/>
  <Override PartName="/ppt/media/image90.svg" ContentType="image/svg+xml"/>
  <Override PartName="/ppt/media/image92.svg" ContentType="image/svg+xml"/>
  <Override PartName="/ppt/media/image94.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来到本次课程。今天我们将深入探讨“数字人口播文案生成项目实战”这一主题。随着AIGC技术的发展，数字人直播已经成为电商领域的新趋势。本课程将结合理论与实践，帮助大家掌握数字人口播台词的生成技巧和项目运作方法。希望通过本次学习，大家能够将所学知识应用到实际工作中，提升数字人直播的运营效率和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课程将分为三个主要部分。首先，我们将概述数字人口播台词生成的基本概念、特点和防封策略。其次，我们会详细讲解不同类型的Prompt模板，包括整段式、分段式商品台词模板以及互动问答模板。最后，我们将通过一个完整的项目实战案例，将前面所学的理论知识应用到实际操作中，从项目准备、执行到优化，全面展示数字人口播台词生成的全过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章：数字人口播台词生成概述。在这一章中，我们将首先了解数字人直播台词在公域和私域流量中的不同特点，学习如何科学地编排台词结构，并掌握在各大平台进行直播时的关键防封策略，确保我们的直播内容既有效又合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首先我们来理解两个核心概念：公域流量和私域流量。</a:t>
            </a:r>
            <a:endParaRPr lang="en-US" sz="1400" b="0" i="0" u="none" strike="noStrike">
              <a:solidFill>
                <a:srgbClr val="000000"/>
              </a:solidFill>
            </a:endParaRPr>
          </a:p>
          <a:p>
            <a:pPr indent="0" algn="l">
              <a:lnSpc>
                <a:spcPct val="100000"/>
              </a:lnSpc>
            </a:pPr>
            <a:r>
              <a:rPr lang="en-US" sz="1400" b="0" i="0" u="none" strike="noStrike">
                <a:solidFill>
                  <a:srgbClr val="000000"/>
                </a:solidFill>
              </a:rPr>
              <a:t>公域流量就像我们在繁华的商业街开店，人流量大，但竞争也激烈，需要不断投入广告来吸引顾客。它的核心是覆盖面广，目标是拉新。</a:t>
            </a:r>
            <a:endParaRPr lang="en-US" sz="1400" b="0" i="0" u="none" strike="noStrike">
              <a:solidFill>
                <a:srgbClr val="000000"/>
              </a:solidFill>
            </a:endParaRPr>
          </a:p>
          <a:p>
            <a:pPr indent="0" algn="l">
              <a:lnSpc>
                <a:spcPct val="100000"/>
              </a:lnSpc>
            </a:pPr>
            <a:r>
              <a:rPr lang="en-US" sz="1400" b="0" i="0" u="none" strike="noStrike">
                <a:solidFill>
                  <a:srgbClr val="000000"/>
                </a:solidFill>
              </a:rPr>
              <a:t>而私域流量则像是我们把顾客邀请到自己的家里做客，我们可以更深入地了解他们，提供个性化的服务，建立长期的信任关系。它的核心是用户粘性高，目标是留存和复购。</a:t>
            </a:r>
            <a:endParaRPr lang="en-US" sz="1400" b="0" i="0" u="none" strike="noStrike">
              <a:solidFill>
                <a:srgbClr val="000000"/>
              </a:solidFill>
            </a:endParaRPr>
          </a:p>
          <a:p>
            <a:pPr indent="0" algn="l">
              <a:lnSpc>
                <a:spcPct val="100000"/>
              </a:lnSpc>
            </a:pPr>
            <a:r>
              <a:rPr lang="en-US" sz="1400" b="0" i="0" u="none" strike="noStrike">
                <a:solidFill>
                  <a:srgbClr val="000000"/>
                </a:solidFill>
              </a:rPr>
              <a:t>理解这两者的区别，是我们制定不同直播策略的基础。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表格从多个维度对比了公域流量和私域流量的差异。大家可以看到，公域流量的特点是“广而泛”，追求大规模曝光；而私域流量则是“精而深”，注重用户的深度运营和长期价值。这些差异直接决定了我们在公域和私域直播时，台词内容、互动方式和营销目标的不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随着市场环境的变化，增长模型也在不断演进。传统的AARRR模型以获客为中心，但在当前流量成本高企的情况下，这种模式的边际效益正在递减。因此，更注重用户留存的RARRA模型应运而生。这一转变告诉我们，在数字人直播中，尤其是在私域运营中，我们不能只关注一时的流量，更要关注如何留住用户，通过优质的内容和服务建立长期的用户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这张表格非常关键，它直接对比了公域和私域模式下数字人直播台词的差异。</a:t>
            </a:r>
            <a:endParaRPr lang="en-US" sz="1400" b="0" i="0" u="none" strike="noStrike">
              <a:solidFill>
                <a:srgbClr val="000000"/>
              </a:solidFill>
            </a:endParaRPr>
          </a:p>
          <a:p>
            <a:pPr indent="0" algn="l">
              <a:lnSpc>
                <a:spcPct val="100000"/>
              </a:lnSpc>
            </a:pPr>
            <a:r>
              <a:rPr lang="en-US" sz="1400" b="0" i="0" u="none" strike="noStrike">
                <a:solidFill>
                  <a:srgbClr val="000000"/>
                </a:solidFill>
              </a:rPr>
              <a:t>在公域直播中，我们的台词需要快速抓住观众眼球，突出产品最核心的卖点和优惠，因为我们面对的是全网陌生流量，需要在短时间内建立吸引力。</a:t>
            </a:r>
            <a:endParaRPr lang="en-US" sz="1400" b="0" i="0" u="none" strike="noStrike">
              <a:solidFill>
                <a:srgbClr val="000000"/>
              </a:solidFill>
            </a:endParaRPr>
          </a:p>
          <a:p>
            <a:pPr indent="0" algn="l">
              <a:lnSpc>
                <a:spcPct val="100000"/>
              </a:lnSpc>
            </a:pPr>
            <a:r>
              <a:rPr lang="en-US" sz="1400" b="0" i="0" u="none" strike="noStrike">
                <a:solidFill>
                  <a:srgbClr val="000000"/>
                </a:solidFill>
              </a:rPr>
              <a:t>而在私域直播中，我们的台词则可以更深入、更个性化，侧重于与用户建立情感连接，提供更专业的产品信息和使用建议，因为我们面对的是忠实粉丝，需要维护长期关系。</a:t>
            </a:r>
            <a:endParaRPr lang="en-US" sz="1400" b="0" i="0" u="none" strike="noStrike">
              <a:solidFill>
                <a:srgbClr val="000000"/>
              </a:solidFill>
            </a:endParaRPr>
          </a:p>
          <a:p>
            <a:pPr indent="0" algn="l">
              <a:lnSpc>
                <a:spcPct val="100000"/>
              </a:lnSpc>
            </a:pPr>
            <a:r>
              <a:rPr lang="en-US" sz="1400" b="0" i="0" u="none" strike="noStrike">
                <a:solidFill>
                  <a:srgbClr val="000000"/>
                </a:solidFill>
              </a:rPr>
              <a:t>理解这些差异，是我们撰写高质量直播台词的关键。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公域和私域的台词特点后，我们再来看看台词的编排方式。早期的数字人直播台词多采用整段式，就像一篇完整的稿子，主播从头读到尾。但随着直播运营的精细化，分段式台词逐渐成为主流。分段式台词将内容拆分成引导、痛点、卖点、互动等多个模块，使得直播流程更清晰，信息传递更高效，也更易于我们进行管理和优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里我们看一个实际的例子。这是使用HeyGen平台生成的护手霜直播台词，大家可以看到，系统自动将内容分成了7个不同的场景。虽然它没有明确标注每个场景的具体功能，但这种分段式的结构已经非常清晰了。这为我们手动编写分段式台词提供了很好的参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实践经验，我们总结出了一个通用的分段式撰写框架。这个框架包含七个核心模块：引导话术、用户痛点、产品卖点、使用方法、优惠机制、商品促单和互动话术。这个框架逻辑清晰，覆盖了直播的主要环节，大家可以根据不同的产品和场景，填充具体的内容，快速生成高质量的直播台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在进行数字人直播之前，我们必须了解各大平台的政策态度。这张表格总结了截至2024年8月主要平台对数字人直播的态度。</a:t>
            </a:r>
            <a:endParaRPr lang="en-US" sz="1400" b="0" i="0" u="none" strike="noStrike">
              <a:solidFill>
                <a:srgbClr val="000000"/>
              </a:solidFill>
            </a:endParaRPr>
          </a:p>
          <a:p>
            <a:pPr indent="0" algn="l">
              <a:lnSpc>
                <a:spcPct val="100000"/>
              </a:lnSpc>
            </a:pPr>
            <a:r>
              <a:rPr lang="en-US" sz="1400" b="0" i="0" u="none" strike="noStrike">
                <a:solidFill>
                  <a:srgbClr val="000000"/>
                </a:solidFill>
              </a:rPr>
              <a:t>可以看到，传统的货架电商平台如京东、淘宝普遍持支持态度，而以内容为主的兴趣电商平台如抖音、视频号则态度谨慎，甚至有明确的限制。</a:t>
            </a:r>
            <a:endParaRPr lang="en-US" sz="1400" b="0" i="0" u="none" strike="noStrike">
              <a:solidFill>
                <a:srgbClr val="000000"/>
              </a:solidFill>
            </a:endParaRPr>
          </a:p>
          <a:p>
            <a:pPr indent="0" algn="l">
              <a:lnSpc>
                <a:spcPct val="100000"/>
              </a:lnSpc>
            </a:pPr>
            <a:r>
              <a:rPr lang="en-US" sz="1400" b="0" i="0" u="none" strike="noStrike">
                <a:solidFill>
                  <a:srgbClr val="000000"/>
                </a:solidFill>
              </a:rPr>
              <a:t>了解这些政策，能帮助我们选择合适的直播平台，并制定相应的合规策略。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什么不同平台的态度会有如此大的差异呢？这主要源于它们的平台定位不同。传统电商平台更看重交易效率，数字人直播能帮助商家降本增效，自然受到欢迎。而内容平台则把用户体验和内容质量放在首位，它们担心数字人直播会带来大量低质、重复的内容，从而影响平台的长期发展。理解这一点，我们就能更好地理解平台规则，并采取相应的防封措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确保直播顺利进行，我们需要采取一系列防封策略。首先，内容和画面质量是基础，高质量的内容是平台和用户都欢迎的。其次，要避免画面单调重复，这很容易被平台判定为录播。最后，一个简单但有效的技巧是在画面中加入真实时钟，这能显著增加直播的真实感，降低被误封的风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刚才提到的几点，还有几个策略也非常重要。使用合适的背景音乐可以有效提升直播的氛围。采用双人搭档的形式，能让直播内容更丰富，避免单一主播带来的枯燥感。最重要的一点是，尽可能加入真人互动环节，这不仅能提升用户体验，也是许多内容平台对数字人直播的明确要求，是避免被封号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形式上的策略，内容上的合规更为重要，其中敏感词的预防与治理是重中之重。使用敏感词不仅可能导致直播间被封，还可能损害品牌形象，甚至带来法律风险。因此，建立完善的敏感词审核机制，是保障数字人直播安全、合规运营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如何有效预防和治理敏感词呢？这里有四个关键方法。首先，要建立一个全面的敏感词库，并根据政策和业务变化不断更新。其次，要采用人工审核和技术过滤相结合的方式，确保万无一失。同时，利用AI技术进行实时监控是提高效率的有效手段。最后，加强对内容创作者的培训，从源头提升内容的合规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数字人口播台词的基本概念和防封策略后，我们进入第二章：数字人口播台词Prompt模板。Prompt是与大语言模型沟通的桥梁，一个好的Prompt能够让AI生成高质量、符合预期的内容。在这一章，我们将学习三种常用的Prompt模板，并掌握它们的使用方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首先我们来看整段式商品台词的Prompt模板。这种模板适用于那些产品线比较多、运营资源有限的中小商家。它的目标很明确，就是快速生成一段能够突出商品卖点、促进销售的完整台词，操作简单高效。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一个标准的整段式Prompt模板包含六个核心部分：角色、技能、商品信息、平台规范、输出要求和敏感词库。通过明确这些要素，我们可以引导AI生成符合我们需求的、合规的商品介绍台词。接下来，我们通过一个具体的例子来看看这个模板是如何使用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一个为护手霜产品撰写的整段式Prompt模板示例。大家可以看到，我们按照刚才讲的结构，详细填写了角色、技能、商品信息等各个部分。特别是在商品信息中，我们提供了直播间名称、产品规格、功效、优惠活动等所有关键信息。同时，我们也明确了输出格式和需要规避的敏感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将刚才的Prompt输入到大语言模型（如ChatGPT-4o）后，我们得到了这样一段生成结果。可以看到，AI准确理解了我们的要求，生成了一段完整、流畅且符合规范的商品介绍台词。它涵盖了产品的核心卖点和优惠信息，达到了我们预期的效果。这就是整段式Prompt模板的实际应用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接下来我们学习分段式商品台词的Prompt模板。与整段式不同，分段式模板更适合那些追求精细化运营的品牌商家。它能够生成结构清晰、逻辑连贯的分段台词，让我们的直播流程更加专业和可控。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分段式Prompt模板的结构和整段式基本一致，主要的区别在于输出要求部分。在分段式模板中，我们会明确要求AI按照我们之前学习的分段式撰写框架（引导、痛点、卖点等）来生成内容，从而得到结构清晰的分段台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护手霜的分段式Prompt模板示例。大家可以看到，在输出要求部分，我们明确指定了AI需要按照引导、痛点、卖点等七个模块来生成台词。这样，AI就能为我们生成结构清晰、层次分明的分段式内容，方便我们直接使用或进一步优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使用分段式模板生成的护手霜台词结果。可以看到，AI严格按照我们指定的七个模块生成了内容，每一段都有明确的主题和功能。这种分段式的结构让直播流程一目了然，主播可以清晰地知道每个环节该说什么，大大提升了直播的专业性和可控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除了商品介绍，互动问答也是直播中非常重要的一环。互动问答台词的Prompt模板就是为了帮助我们提前准备好应对观众常见问题的答案，让数字人能够更智能、更自然地与观众互动，从而提升直播的整体效果。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互动问答模板的结构与前两种模板类似，但增加了“常见问题”这一部分。我们需要提前梳理出观众可能关心的问题，比如产品成分、使用方法、售后政策等，然后让AI基于这些问题和商品信息，生成专业、友好的回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这是护手霜的互动问答Prompt模板示例。我们在模板中列出了四个常见问题，并提供了详细的商品信息作为回答依据。这样，AI就能针对这些问题，生成准确、专业的答案，帮助数字人更好地与观众互动。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这是使用互动问答模板生成的结果。可以看到，AI针对每个问题都给出了准确、专业且友好的回答。这些回答不仅解答了用户的疑问，还体现了品牌的专业性和贴心服务，有助于提升用户的购买信心和满意度。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学习了理论和模板之后，我们进入第三章：数字人口播台词生成项目实战。在这一章，我们将通过一个具体的项目案例，从头到尾完整地演示如何运用所学知识生成高质量的数字人口播台词，包括项目准备、执行、优化和总结，让大家真正做到学以致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实战项目背景是这样的：一家美妆品牌推出了一款新的保湿面霜，希望通过数字人直播来推广销售。我们的项目目标非常明确，就是为这款面霜生成高质量的商品介绍和互动问答台词，并确保内容合规，同时通过实践来优化我们的Prompt模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项目的第一步是准备工作，其中最重要的就是收集详细的商品信息。我们需要了解产品的方方面面，包括它的成分、功效、卖点、优惠活动等等。这些信息是我们撰写Prompt和生成高质量台词的基础。信息收集得越全面，生成的内容就越准确、越有说服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商品信息，我们还必须研究目标平台的规范。不同平台对数字人直播的态度和规则各不相同，我们需要提前了解这些规则，整理出敏感词库，并制定相应的合规策略，以确保我们的直播内容不会因为违规而被封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准备工作完成后，我们开始执行项目。首先，我们使用整段式模板为保湿面霜生成了商品介绍台词。从结果来看，AI准确地整合了产品信息，生成了一段完整、流畅的介绍，达到了预期效果。这验证了整段式模板的有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着，我们使用分段式模板生成了台词。大家可以看到，生成的内容结构清晰，分为引导、痛点、卖点等七个部分，逻辑非常连贯。与整段式相比，分段式的台词更适合数字人按流程进行播报，也更便于我们进行后期的调整和优化，效果更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然后，我们为这款面霜生成了互动问答台词。AI针对我们预设的几个常见问题，给出了准确、专业的回答。这些回答能够帮助数字人更好地与观众互动，解答他们的疑问，从而提升用户体验和购买转化率。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生成初稿后，我们还可以进行进一步的优化。一个有效的方法是构建知识库。我们可以将产品的详细资料、用户好评、专业评测等信息整合起来，然后在Prompt中引导AI参考这个知识库来生成内容。这样可以让生成的台词更加专业、详实，更能打动消费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优化前后的产品卖点对比。优化前的描述比较笼统，而优化后的描述则加入了具体的成分（玻尿酸、神经酰胺）和数据（提升含水量50%），这些信息都来自于我们构建的知识库。可以看出，优化后的内容更加专业、更有说服力，能够显著提升用户的信任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项目实战结束后，我们进行总结与反思。通过这次项目，我们成功生成了符合要求的台词，并验证和优化了我们的方法。我们也总结出了一些宝贵的经验，比如信息收集的重要性、模板选择的策略以及持续优化的必要性。这些经验将帮助我们在未来的项目中做得更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现在我们对本次课程进行总结。首先，在第一部分，我们学习了数字人口播台词的核心特点，包括公域和私域的差异、台词编排的最佳实践以及确保直播安全的防封策略。这些是我们开展数字人直播的基础。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在第二部分，我们重点学习了三种实用的Prompt模板：整段式、分段式和互动问答模板。我们掌握了它们的结构、适用场景和使用方法，这些模板是我们高效生成数字人口播台词的核心工具。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在第三部分，我们通过一个完整的项目实战，将前面所学的理论和工具应用到了实际工作中。我们了解了项目的完整流程，并掌握了基于知识库的内容优化方法。最重要的是，我们认识到，数字人直播是一个不断发展的领域，需要我们持续学习和优化，才能不断提升运营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为了帮助大家巩固所学知识，我们最后回顾一下课程中的几个关键术语。理解这些术语的含义，对于我们理解数字人直播的运营逻辑和掌握相关技能至关重要。</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首先是流量概念，我们区分了公域流量和私域流量。公域流量覆盖面广但粘性低，适合做广度；私域流量粘性高，适合做深度运营。</a:t>
            </a:r>
            <a:endParaRPr lang="en-US" sz="1400" b="0" i="0" u="none" strike="noStrike">
              <a:solidFill>
                <a:srgbClr val="000000"/>
              </a:solidFill>
            </a:endParaRPr>
          </a:p>
          <a:p>
            <a:pPr indent="0" algn="l">
              <a:lnSpc>
                <a:spcPct val="100000"/>
              </a:lnSpc>
            </a:pPr>
            <a:r>
              <a:rPr lang="en-US" sz="1400" b="0" i="0" u="none" strike="noStrike">
                <a:solidFill>
                  <a:srgbClr val="000000"/>
                </a:solidFill>
              </a:rPr>
              <a:t>其次是增长模型，AARRR模型强调获客第一，而RARRA模型则更强调留存第一，这代表了不同阶段的运营策略。</a:t>
            </a:r>
            <a:endParaRPr lang="en-US" sz="1400" b="0" i="0" u="none" strike="noStrike">
              <a:solidFill>
                <a:srgbClr val="000000"/>
              </a:solidFill>
            </a:endParaRPr>
          </a:p>
          <a:p>
            <a:pPr indent="0" algn="l">
              <a:lnSpc>
                <a:spcPct val="100000"/>
              </a:lnSpc>
            </a:pPr>
            <a:r>
              <a:rPr lang="en-US" sz="1400" b="0" i="0" u="none" strike="noStrike">
                <a:solidFill>
                  <a:srgbClr val="000000"/>
                </a:solidFill>
              </a:rPr>
              <a:t>最后是技术相关的术语，Prompt是我们控制AI生成内容的关键指令，而敏感词则是我们在内容创作中必须规避的红线。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课程的主要内容就到这里。现在是问答环节，大家有任何关于数字人口播文案生成的问题，都可以提出来，我们一起交流探讨。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感谢大家的参与和聆听！希望通过本次课程，大家能够对数字人口播文案生成有一个全面而深入的了解，并能够将所学知识应用到实际工作中。本次课程到此结束，谢谢大家！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19.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s>
</file>

<file path=ppt/slides/_rels/slide5.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image" Target="../media/image27.svg"/><Relationship Id="rId7" Type="http://schemas.openxmlformats.org/officeDocument/2006/relationships/image" Target="../media/image26.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 Id="rId3" Type="http://schemas.openxmlformats.org/officeDocument/2006/relationships/image" Target="../media/image22.png"/><Relationship Id="rId22" Type="http://schemas.openxmlformats.org/officeDocument/2006/relationships/notesSlide" Target="../notesSlides/notesSlide5.xml"/><Relationship Id="rId21" Type="http://schemas.openxmlformats.org/officeDocument/2006/relationships/slideLayout" Target="../slideLayouts/slideLayout12.xml"/><Relationship Id="rId20" Type="http://schemas.openxmlformats.org/officeDocument/2006/relationships/image" Target="../media/image39.svg"/><Relationship Id="rId2" Type="http://schemas.openxmlformats.org/officeDocument/2006/relationships/image" Target="../media/image21.svg"/><Relationship Id="rId19" Type="http://schemas.openxmlformats.org/officeDocument/2006/relationships/image" Target="../media/image38.png"/><Relationship Id="rId18" Type="http://schemas.openxmlformats.org/officeDocument/2006/relationships/image" Target="../media/image37.svg"/><Relationship Id="rId17" Type="http://schemas.openxmlformats.org/officeDocument/2006/relationships/image" Target="../media/image36.png"/><Relationship Id="rId16" Type="http://schemas.openxmlformats.org/officeDocument/2006/relationships/image" Target="../media/image35.svg"/><Relationship Id="rId15" Type="http://schemas.openxmlformats.org/officeDocument/2006/relationships/image" Target="../media/image34.png"/><Relationship Id="rId14" Type="http://schemas.openxmlformats.org/officeDocument/2006/relationships/image" Target="../media/image33.svg"/><Relationship Id="rId13" Type="http://schemas.openxmlformats.org/officeDocument/2006/relationships/image" Target="../media/image32.png"/><Relationship Id="rId12" Type="http://schemas.openxmlformats.org/officeDocument/2006/relationships/image" Target="../media/image31.svg"/><Relationship Id="rId11" Type="http://schemas.openxmlformats.org/officeDocument/2006/relationships/image" Target="../media/image30.png"/><Relationship Id="rId10" Type="http://schemas.openxmlformats.org/officeDocument/2006/relationships/image" Target="../media/image29.svg"/><Relationship Id="rId1" Type="http://schemas.openxmlformats.org/officeDocument/2006/relationships/image" Target="../media/image20.png"/></Relationships>
</file>

<file path=ppt/slides/_rels/slide6.xml.rels><?xml version="1.0" encoding="UTF-8" standalone="yes"?>
<Relationships xmlns="http://schemas.openxmlformats.org/package/2006/relationships"><Relationship Id="rId9" Type="http://schemas.openxmlformats.org/officeDocument/2006/relationships/image" Target="../media/image48.png"/><Relationship Id="rId8" Type="http://schemas.openxmlformats.org/officeDocument/2006/relationships/image" Target="../media/image47.svg"/><Relationship Id="rId7" Type="http://schemas.openxmlformats.org/officeDocument/2006/relationships/image" Target="../media/image46.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 Id="rId3" Type="http://schemas.openxmlformats.org/officeDocument/2006/relationships/image" Target="../media/image42.png"/><Relationship Id="rId24" Type="http://schemas.openxmlformats.org/officeDocument/2006/relationships/notesSlide" Target="../notesSlides/notesSlide6.xml"/><Relationship Id="rId23" Type="http://schemas.openxmlformats.org/officeDocument/2006/relationships/slideLayout" Target="../slideLayouts/slideLayout12.xml"/><Relationship Id="rId22" Type="http://schemas.openxmlformats.org/officeDocument/2006/relationships/image" Target="../media/image61.svg"/><Relationship Id="rId21" Type="http://schemas.openxmlformats.org/officeDocument/2006/relationships/image" Target="../media/image60.png"/><Relationship Id="rId20" Type="http://schemas.openxmlformats.org/officeDocument/2006/relationships/image" Target="../media/image59.svg"/><Relationship Id="rId2" Type="http://schemas.openxmlformats.org/officeDocument/2006/relationships/image" Target="../media/image41.svg"/><Relationship Id="rId19" Type="http://schemas.openxmlformats.org/officeDocument/2006/relationships/image" Target="../media/image58.png"/><Relationship Id="rId18" Type="http://schemas.openxmlformats.org/officeDocument/2006/relationships/image" Target="../media/image57.svg"/><Relationship Id="rId17" Type="http://schemas.openxmlformats.org/officeDocument/2006/relationships/image" Target="../media/image56.png"/><Relationship Id="rId16" Type="http://schemas.openxmlformats.org/officeDocument/2006/relationships/image" Target="../media/image55.svg"/><Relationship Id="rId15" Type="http://schemas.openxmlformats.org/officeDocument/2006/relationships/image" Target="../media/image54.png"/><Relationship Id="rId14" Type="http://schemas.openxmlformats.org/officeDocument/2006/relationships/image" Target="../media/image53.svg"/><Relationship Id="rId13" Type="http://schemas.openxmlformats.org/officeDocument/2006/relationships/image" Target="../media/image52.png"/><Relationship Id="rId12" Type="http://schemas.openxmlformats.org/officeDocument/2006/relationships/image" Target="../media/image51.svg"/><Relationship Id="rId11" Type="http://schemas.openxmlformats.org/officeDocument/2006/relationships/image" Target="../media/image50.png"/><Relationship Id="rId10" Type="http://schemas.openxmlformats.org/officeDocument/2006/relationships/image" Target="../media/image49.svg"/><Relationship Id="rId1" Type="http://schemas.openxmlformats.org/officeDocument/2006/relationships/image" Target="../media/image40.png"/></Relationships>
</file>

<file path=ppt/slides/_rels/slide7.xml.rels><?xml version="1.0" encoding="UTF-8" standalone="yes"?>
<Relationships xmlns="http://schemas.openxmlformats.org/package/2006/relationships"><Relationship Id="rId9" Type="http://schemas.openxmlformats.org/officeDocument/2006/relationships/image" Target="../media/image68.png"/><Relationship Id="rId8" Type="http://schemas.openxmlformats.org/officeDocument/2006/relationships/image" Target="../media/image67.svg"/><Relationship Id="rId7" Type="http://schemas.openxmlformats.org/officeDocument/2006/relationships/image" Target="../media/image66.png"/><Relationship Id="rId6" Type="http://schemas.openxmlformats.org/officeDocument/2006/relationships/image" Target="../media/image65.svg"/><Relationship Id="rId5" Type="http://schemas.openxmlformats.org/officeDocument/2006/relationships/image" Target="../media/image64.png"/><Relationship Id="rId4" Type="http://schemas.openxmlformats.org/officeDocument/2006/relationships/image" Target="../media/image25.svg"/><Relationship Id="rId3" Type="http://schemas.openxmlformats.org/officeDocument/2006/relationships/image" Target="../media/image63.png"/><Relationship Id="rId20" Type="http://schemas.openxmlformats.org/officeDocument/2006/relationships/notesSlide" Target="../notesSlides/notesSlide7.xml"/><Relationship Id="rId2" Type="http://schemas.openxmlformats.org/officeDocument/2006/relationships/image" Target="../media/image21.svg"/><Relationship Id="rId19" Type="http://schemas.openxmlformats.org/officeDocument/2006/relationships/slideLayout" Target="../slideLayouts/slideLayout12.xml"/><Relationship Id="rId18" Type="http://schemas.openxmlformats.org/officeDocument/2006/relationships/image" Target="../media/image10.svg"/><Relationship Id="rId17" Type="http://schemas.openxmlformats.org/officeDocument/2006/relationships/image" Target="../media/image19.png"/><Relationship Id="rId16" Type="http://schemas.openxmlformats.org/officeDocument/2006/relationships/image" Target="../media/image75.svg"/><Relationship Id="rId15" Type="http://schemas.openxmlformats.org/officeDocument/2006/relationships/image" Target="../media/image74.png"/><Relationship Id="rId14" Type="http://schemas.openxmlformats.org/officeDocument/2006/relationships/image" Target="../media/image73.svg"/><Relationship Id="rId13" Type="http://schemas.openxmlformats.org/officeDocument/2006/relationships/image" Target="../media/image72.png"/><Relationship Id="rId12" Type="http://schemas.openxmlformats.org/officeDocument/2006/relationships/image" Target="../media/image71.svg"/><Relationship Id="rId11" Type="http://schemas.openxmlformats.org/officeDocument/2006/relationships/image" Target="../media/image70.png"/><Relationship Id="rId10" Type="http://schemas.openxmlformats.org/officeDocument/2006/relationships/image" Target="../media/image69.svg"/><Relationship Id="rId1" Type="http://schemas.openxmlformats.org/officeDocument/2006/relationships/image" Target="../media/image62.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2.xml"/><Relationship Id="rId5" Type="http://schemas.openxmlformats.org/officeDocument/2006/relationships/image" Target="../media/image80.svg"/><Relationship Id="rId4" Type="http://schemas.openxmlformats.org/officeDocument/2006/relationships/image" Target="../media/image79.png"/><Relationship Id="rId3" Type="http://schemas.openxmlformats.org/officeDocument/2006/relationships/image" Target="../media/image78.svg"/><Relationship Id="rId2" Type="http://schemas.openxmlformats.org/officeDocument/2006/relationships/image" Target="../media/image77.svg"/><Relationship Id="rId1" Type="http://schemas.openxmlformats.org/officeDocument/2006/relationships/image" Target="../media/image76.pn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2.xml"/><Relationship Id="rId7" Type="http://schemas.openxmlformats.org/officeDocument/2006/relationships/image" Target="../media/image85.png"/><Relationship Id="rId6" Type="http://schemas.openxmlformats.org/officeDocument/2006/relationships/image" Target="../media/image84.svg"/><Relationship Id="rId5" Type="http://schemas.openxmlformats.org/officeDocument/2006/relationships/image" Target="../media/image83.png"/><Relationship Id="rId4" Type="http://schemas.openxmlformats.org/officeDocument/2006/relationships/image" Target="../media/image80.svg"/><Relationship Id="rId3" Type="http://schemas.openxmlformats.org/officeDocument/2006/relationships/image" Target="../media/image82.png"/><Relationship Id="rId2" Type="http://schemas.openxmlformats.org/officeDocument/2006/relationships/image" Target="../media/image73.svg"/><Relationship Id="rId1" Type="http://schemas.openxmlformats.org/officeDocument/2006/relationships/image" Target="../media/image81.png"/></Relationships>
</file>

<file path=ppt/slides/_rels/slide10.xml.rels><?xml version="1.0" encoding="UTF-8" standalone="yes"?>
<Relationships xmlns="http://schemas.openxmlformats.org/package/2006/relationships"><Relationship Id="rId9" Type="http://schemas.openxmlformats.org/officeDocument/2006/relationships/image" Target="../media/image93.png"/><Relationship Id="rId8" Type="http://schemas.openxmlformats.org/officeDocument/2006/relationships/image" Target="../media/image92.svg"/><Relationship Id="rId7" Type="http://schemas.openxmlformats.org/officeDocument/2006/relationships/image" Target="../media/image91.png"/><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53.svg"/><Relationship Id="rId3" Type="http://schemas.openxmlformats.org/officeDocument/2006/relationships/image" Target="../media/image88.png"/><Relationship Id="rId2" Type="http://schemas.openxmlformats.org/officeDocument/2006/relationships/image" Target="../media/image87.svg"/><Relationship Id="rId16" Type="http://schemas.openxmlformats.org/officeDocument/2006/relationships/notesSlide" Target="../notesSlides/notesSlide10.xml"/><Relationship Id="rId15" Type="http://schemas.openxmlformats.org/officeDocument/2006/relationships/slideLayout" Target="../slideLayouts/slideLayout12.xml"/><Relationship Id="rId14" Type="http://schemas.openxmlformats.org/officeDocument/2006/relationships/image" Target="../media/image98.svg"/><Relationship Id="rId13" Type="http://schemas.openxmlformats.org/officeDocument/2006/relationships/image" Target="../media/image97.png"/><Relationship Id="rId12" Type="http://schemas.openxmlformats.org/officeDocument/2006/relationships/image" Target="../media/image96.svg"/><Relationship Id="rId11" Type="http://schemas.openxmlformats.org/officeDocument/2006/relationships/image" Target="../media/image95.png"/><Relationship Id="rId10" Type="http://schemas.openxmlformats.org/officeDocument/2006/relationships/image" Target="../media/image94.svg"/><Relationship Id="rId1" Type="http://schemas.openxmlformats.org/officeDocument/2006/relationships/image" Target="../media/image86.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92.svg"/><Relationship Id="rId7" Type="http://schemas.openxmlformats.org/officeDocument/2006/relationships/image" Target="../media/image105.png"/><Relationship Id="rId6" Type="http://schemas.openxmlformats.org/officeDocument/2006/relationships/image" Target="../media/image104.svg"/><Relationship Id="rId5" Type="http://schemas.openxmlformats.org/officeDocument/2006/relationships/image" Target="../media/image103.png"/><Relationship Id="rId4" Type="http://schemas.openxmlformats.org/officeDocument/2006/relationships/image" Target="../media/image102.svg"/><Relationship Id="rId3" Type="http://schemas.openxmlformats.org/officeDocument/2006/relationships/image" Target="../media/image101.png"/><Relationship Id="rId2" Type="http://schemas.openxmlformats.org/officeDocument/2006/relationships/image" Target="../media/image100.svg"/><Relationship Id="rId10" Type="http://schemas.openxmlformats.org/officeDocument/2006/relationships/notesSlide" Target="../notesSlides/notesSlide11.xml"/><Relationship Id="rId1" Type="http://schemas.openxmlformats.org/officeDocument/2006/relationships/image" Target="../media/image99.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2.xml"/><Relationship Id="rId6" Type="http://schemas.openxmlformats.org/officeDocument/2006/relationships/image" Target="../media/image92.svg"/><Relationship Id="rId5" Type="http://schemas.openxmlformats.org/officeDocument/2006/relationships/image" Target="../media/image105.png"/><Relationship Id="rId4" Type="http://schemas.openxmlformats.org/officeDocument/2006/relationships/image" Target="../media/image102.svg"/><Relationship Id="rId3" Type="http://schemas.openxmlformats.org/officeDocument/2006/relationships/image" Target="../media/image101.png"/><Relationship Id="rId2" Type="http://schemas.openxmlformats.org/officeDocument/2006/relationships/image" Target="../media/image107.svg"/><Relationship Id="rId1" Type="http://schemas.openxmlformats.org/officeDocument/2006/relationships/image" Target="../media/image106.pn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14.svg"/><Relationship Id="rId7" Type="http://schemas.openxmlformats.org/officeDocument/2006/relationships/image" Target="../media/image113.png"/><Relationship Id="rId6" Type="http://schemas.openxmlformats.org/officeDocument/2006/relationships/image" Target="../media/image112.svg"/><Relationship Id="rId5" Type="http://schemas.openxmlformats.org/officeDocument/2006/relationships/image" Target="../media/image111.png"/><Relationship Id="rId4" Type="http://schemas.openxmlformats.org/officeDocument/2006/relationships/image" Target="../media/image110.svg"/><Relationship Id="rId3" Type="http://schemas.openxmlformats.org/officeDocument/2006/relationships/image" Target="../media/image109.png"/><Relationship Id="rId2" Type="http://schemas.openxmlformats.org/officeDocument/2006/relationships/image" Target="../media/image90.svg"/><Relationship Id="rId10" Type="http://schemas.openxmlformats.org/officeDocument/2006/relationships/notesSlide" Target="../notesSlides/notesSlide13.xml"/><Relationship Id="rId1" Type="http://schemas.openxmlformats.org/officeDocument/2006/relationships/image" Target="../media/image108.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2.xml"/><Relationship Id="rId6" Type="http://schemas.openxmlformats.org/officeDocument/2006/relationships/image" Target="../media/image39.svg"/><Relationship Id="rId5" Type="http://schemas.openxmlformats.org/officeDocument/2006/relationships/image" Target="../media/image118.png"/><Relationship Id="rId4" Type="http://schemas.openxmlformats.org/officeDocument/2006/relationships/image" Target="../media/image18.svg"/><Relationship Id="rId3" Type="http://schemas.openxmlformats.org/officeDocument/2006/relationships/image" Target="../media/image117.png"/><Relationship Id="rId2" Type="http://schemas.openxmlformats.org/officeDocument/2006/relationships/image" Target="../media/image116.svg"/><Relationship Id="rId1" Type="http://schemas.openxmlformats.org/officeDocument/2006/relationships/image" Target="../media/image115.pn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5.svg"/><Relationship Id="rId7" Type="http://schemas.openxmlformats.org/officeDocument/2006/relationships/image" Target="../media/image124.png"/><Relationship Id="rId6" Type="http://schemas.openxmlformats.org/officeDocument/2006/relationships/image" Target="../media/image123.svg"/><Relationship Id="rId5" Type="http://schemas.openxmlformats.org/officeDocument/2006/relationships/image" Target="../media/image122.png"/><Relationship Id="rId4" Type="http://schemas.openxmlformats.org/officeDocument/2006/relationships/image" Target="../media/image51.svg"/><Relationship Id="rId3" Type="http://schemas.openxmlformats.org/officeDocument/2006/relationships/image" Target="../media/image121.png"/><Relationship Id="rId2" Type="http://schemas.openxmlformats.org/officeDocument/2006/relationships/image" Target="../media/image120.svg"/><Relationship Id="rId10" Type="http://schemas.openxmlformats.org/officeDocument/2006/relationships/notesSlide" Target="../notesSlides/notesSlide15.xml"/><Relationship Id="rId1" Type="http://schemas.openxmlformats.org/officeDocument/2006/relationships/image" Target="../media/image119.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31.svg"/><Relationship Id="rId7" Type="http://schemas.openxmlformats.org/officeDocument/2006/relationships/image" Target="../media/image130.png"/><Relationship Id="rId6" Type="http://schemas.openxmlformats.org/officeDocument/2006/relationships/image" Target="../media/image129.svg"/><Relationship Id="rId5" Type="http://schemas.openxmlformats.org/officeDocument/2006/relationships/image" Target="../media/image128.png"/><Relationship Id="rId4" Type="http://schemas.openxmlformats.org/officeDocument/2006/relationships/image" Target="../media/image120.svg"/><Relationship Id="rId3" Type="http://schemas.openxmlformats.org/officeDocument/2006/relationships/image" Target="../media/image119.png"/><Relationship Id="rId2" Type="http://schemas.openxmlformats.org/officeDocument/2006/relationships/image" Target="../media/image127.svg"/><Relationship Id="rId10" Type="http://schemas.openxmlformats.org/officeDocument/2006/relationships/notesSlide" Target="../notesSlides/notesSlide16.xml"/><Relationship Id="rId1" Type="http://schemas.openxmlformats.org/officeDocument/2006/relationships/image" Target="../media/image126.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2.xml"/><Relationship Id="rId6" Type="http://schemas.openxmlformats.org/officeDocument/2006/relationships/image" Target="../media/image98.svg"/><Relationship Id="rId5" Type="http://schemas.openxmlformats.org/officeDocument/2006/relationships/image" Target="../media/image135.png"/><Relationship Id="rId4" Type="http://schemas.openxmlformats.org/officeDocument/2006/relationships/image" Target="../media/image6.svg"/><Relationship Id="rId3" Type="http://schemas.openxmlformats.org/officeDocument/2006/relationships/image" Target="../media/image134.png"/><Relationship Id="rId2" Type="http://schemas.openxmlformats.org/officeDocument/2006/relationships/image" Target="../media/image133.svg"/><Relationship Id="rId1" Type="http://schemas.openxmlformats.org/officeDocument/2006/relationships/image" Target="../media/image132.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12.xml"/><Relationship Id="rId6" Type="http://schemas.openxmlformats.org/officeDocument/2006/relationships/image" Target="../media/image92.svg"/><Relationship Id="rId5" Type="http://schemas.openxmlformats.org/officeDocument/2006/relationships/image" Target="../media/image105.png"/><Relationship Id="rId4" Type="http://schemas.openxmlformats.org/officeDocument/2006/relationships/image" Target="../media/image137.svg"/><Relationship Id="rId3" Type="http://schemas.openxmlformats.org/officeDocument/2006/relationships/image" Target="../media/image136.png"/><Relationship Id="rId2" Type="http://schemas.openxmlformats.org/officeDocument/2006/relationships/image" Target="../media/image100.svg"/><Relationship Id="rId1" Type="http://schemas.openxmlformats.org/officeDocument/2006/relationships/image" Target="../media/image99.png"/></Relationships>
</file>

<file path=ppt/slides/_rels/slide19.xml.rels><?xml version="1.0" encoding="UTF-8" standalone="yes"?>
<Relationships xmlns="http://schemas.openxmlformats.org/package/2006/relationships"><Relationship Id="rId9" Type="http://schemas.openxmlformats.org/officeDocument/2006/relationships/image" Target="../media/image81.png"/><Relationship Id="rId8" Type="http://schemas.openxmlformats.org/officeDocument/2006/relationships/image" Target="../media/image144.svg"/><Relationship Id="rId7" Type="http://schemas.openxmlformats.org/officeDocument/2006/relationships/image" Target="../media/image143.png"/><Relationship Id="rId6" Type="http://schemas.openxmlformats.org/officeDocument/2006/relationships/image" Target="../media/image142.svg"/><Relationship Id="rId5" Type="http://schemas.openxmlformats.org/officeDocument/2006/relationships/image" Target="../media/image141.png"/><Relationship Id="rId4" Type="http://schemas.openxmlformats.org/officeDocument/2006/relationships/image" Target="../media/image140.svg"/><Relationship Id="rId3" Type="http://schemas.openxmlformats.org/officeDocument/2006/relationships/image" Target="../media/image139.png"/><Relationship Id="rId2" Type="http://schemas.openxmlformats.org/officeDocument/2006/relationships/image" Target="../media/image27.svg"/><Relationship Id="rId14" Type="http://schemas.openxmlformats.org/officeDocument/2006/relationships/notesSlide" Target="../notesSlides/notesSlide19.xml"/><Relationship Id="rId13" Type="http://schemas.openxmlformats.org/officeDocument/2006/relationships/slideLayout" Target="../slideLayouts/slideLayout12.xml"/><Relationship Id="rId12" Type="http://schemas.openxmlformats.org/officeDocument/2006/relationships/image" Target="../media/image146.svg"/><Relationship Id="rId11" Type="http://schemas.openxmlformats.org/officeDocument/2006/relationships/image" Target="../media/image145.png"/><Relationship Id="rId10" Type="http://schemas.openxmlformats.org/officeDocument/2006/relationships/image" Target="../media/image73.svg"/><Relationship Id="rId1" Type="http://schemas.openxmlformats.org/officeDocument/2006/relationships/image" Target="../media/image138.png"/></Relationships>
</file>

<file path=ppt/slides/_rels/slide20.xml.rels><?xml version="1.0" encoding="UTF-8" standalone="yes"?>
<Relationships xmlns="http://schemas.openxmlformats.org/package/2006/relationships"><Relationship Id="rId9" Type="http://schemas.openxmlformats.org/officeDocument/2006/relationships/image" Target="../media/image145.png"/><Relationship Id="rId8" Type="http://schemas.openxmlformats.org/officeDocument/2006/relationships/image" Target="../media/image152.svg"/><Relationship Id="rId7" Type="http://schemas.openxmlformats.org/officeDocument/2006/relationships/image" Target="../media/image151.png"/><Relationship Id="rId6" Type="http://schemas.openxmlformats.org/officeDocument/2006/relationships/image" Target="../media/image107.svg"/><Relationship Id="rId5" Type="http://schemas.openxmlformats.org/officeDocument/2006/relationships/image" Target="../media/image106.png"/><Relationship Id="rId4" Type="http://schemas.openxmlformats.org/officeDocument/2006/relationships/image" Target="../media/image150.svg"/><Relationship Id="rId3" Type="http://schemas.openxmlformats.org/officeDocument/2006/relationships/image" Target="../media/image149.png"/><Relationship Id="rId2" Type="http://schemas.openxmlformats.org/officeDocument/2006/relationships/image" Target="../media/image148.svg"/><Relationship Id="rId14" Type="http://schemas.openxmlformats.org/officeDocument/2006/relationships/notesSlide" Target="../notesSlides/notesSlide20.xml"/><Relationship Id="rId13" Type="http://schemas.openxmlformats.org/officeDocument/2006/relationships/slideLayout" Target="../slideLayouts/slideLayout12.xml"/><Relationship Id="rId12" Type="http://schemas.openxmlformats.org/officeDocument/2006/relationships/image" Target="../media/image154.svg"/><Relationship Id="rId11" Type="http://schemas.openxmlformats.org/officeDocument/2006/relationships/image" Target="../media/image153.png"/><Relationship Id="rId10" Type="http://schemas.openxmlformats.org/officeDocument/2006/relationships/image" Target="../media/image146.svg"/><Relationship Id="rId1" Type="http://schemas.openxmlformats.org/officeDocument/2006/relationships/image" Target="../media/image147.pn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svg"/><Relationship Id="rId7" Type="http://schemas.openxmlformats.org/officeDocument/2006/relationships/image" Target="../media/image158.png"/><Relationship Id="rId6" Type="http://schemas.openxmlformats.org/officeDocument/2006/relationships/image" Target="../media/image14.svg"/><Relationship Id="rId5" Type="http://schemas.openxmlformats.org/officeDocument/2006/relationships/image" Target="../media/image157.png"/><Relationship Id="rId4" Type="http://schemas.openxmlformats.org/officeDocument/2006/relationships/image" Target="../media/image156.svg"/><Relationship Id="rId3" Type="http://schemas.openxmlformats.org/officeDocument/2006/relationships/image" Target="../media/image155.png"/><Relationship Id="rId2" Type="http://schemas.openxmlformats.org/officeDocument/2006/relationships/image" Target="../media/image73.svg"/><Relationship Id="rId10" Type="http://schemas.openxmlformats.org/officeDocument/2006/relationships/notesSlide" Target="../notesSlides/notesSlide21.xml"/><Relationship Id="rId1" Type="http://schemas.openxmlformats.org/officeDocument/2006/relationships/image" Target="../media/image81.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12.xml"/><Relationship Id="rId4" Type="http://schemas.openxmlformats.org/officeDocument/2006/relationships/image" Target="../media/image137.svg"/><Relationship Id="rId3" Type="http://schemas.openxmlformats.org/officeDocument/2006/relationships/image" Target="../media/image136.png"/><Relationship Id="rId2" Type="http://schemas.openxmlformats.org/officeDocument/2006/relationships/image" Target="../media/image160.svg"/><Relationship Id="rId1" Type="http://schemas.openxmlformats.org/officeDocument/2006/relationships/image" Target="../media/image159.png"/></Relationships>
</file>

<file path=ppt/slides/_rels/slide23.xml.rels><?xml version="1.0" encoding="UTF-8" standalone="yes"?>
<Relationships xmlns="http://schemas.openxmlformats.org/package/2006/relationships"><Relationship Id="rId9" Type="http://schemas.openxmlformats.org/officeDocument/2006/relationships/image" Target="../media/image167.png"/><Relationship Id="rId8" Type="http://schemas.openxmlformats.org/officeDocument/2006/relationships/image" Target="../media/image166.svg"/><Relationship Id="rId7" Type="http://schemas.openxmlformats.org/officeDocument/2006/relationships/image" Target="../media/image165.png"/><Relationship Id="rId6" Type="http://schemas.openxmlformats.org/officeDocument/2006/relationships/image" Target="../media/image164.svg"/><Relationship Id="rId5" Type="http://schemas.openxmlformats.org/officeDocument/2006/relationships/image" Target="../media/image163.png"/><Relationship Id="rId4" Type="http://schemas.openxmlformats.org/officeDocument/2006/relationships/image" Target="../media/image162.svg"/><Relationship Id="rId3" Type="http://schemas.openxmlformats.org/officeDocument/2006/relationships/image" Target="../media/image161.png"/><Relationship Id="rId2" Type="http://schemas.openxmlformats.org/officeDocument/2006/relationships/image" Target="../media/image148.svg"/><Relationship Id="rId14" Type="http://schemas.openxmlformats.org/officeDocument/2006/relationships/notesSlide" Target="../notesSlides/notesSlide23.xml"/><Relationship Id="rId13" Type="http://schemas.openxmlformats.org/officeDocument/2006/relationships/slideLayout" Target="../slideLayouts/slideLayout12.xml"/><Relationship Id="rId12" Type="http://schemas.openxmlformats.org/officeDocument/2006/relationships/image" Target="../media/image170.svg"/><Relationship Id="rId11" Type="http://schemas.openxmlformats.org/officeDocument/2006/relationships/image" Target="../media/image169.png"/><Relationship Id="rId10" Type="http://schemas.openxmlformats.org/officeDocument/2006/relationships/image" Target="../media/image168.svg"/><Relationship Id="rId1" Type="http://schemas.openxmlformats.org/officeDocument/2006/relationships/image" Target="../media/image147.pn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46.svg"/><Relationship Id="rId7" Type="http://schemas.openxmlformats.org/officeDocument/2006/relationships/image" Target="../media/image145.png"/><Relationship Id="rId6" Type="http://schemas.openxmlformats.org/officeDocument/2006/relationships/image" Target="../media/image174.svg"/><Relationship Id="rId5" Type="http://schemas.openxmlformats.org/officeDocument/2006/relationships/image" Target="../media/image173.png"/><Relationship Id="rId4" Type="http://schemas.openxmlformats.org/officeDocument/2006/relationships/image" Target="../media/image172.svg"/><Relationship Id="rId3" Type="http://schemas.openxmlformats.org/officeDocument/2006/relationships/image" Target="../media/image171.png"/><Relationship Id="rId2" Type="http://schemas.openxmlformats.org/officeDocument/2006/relationships/image" Target="../media/image148.svg"/><Relationship Id="rId10" Type="http://schemas.openxmlformats.org/officeDocument/2006/relationships/notesSlide" Target="../notesSlides/notesSlide24.xml"/><Relationship Id="rId1" Type="http://schemas.openxmlformats.org/officeDocument/2006/relationships/image" Target="../media/image147.png"/></Relationships>
</file>

<file path=ppt/slides/_rels/slide25.xml.rels><?xml version="1.0" encoding="UTF-8" standalone="yes"?>
<Relationships xmlns="http://schemas.openxmlformats.org/package/2006/relationships"><Relationship Id="rId9" Type="http://schemas.openxmlformats.org/officeDocument/2006/relationships/image" Target="../media/image178.png"/><Relationship Id="rId8" Type="http://schemas.openxmlformats.org/officeDocument/2006/relationships/image" Target="../media/image92.svg"/><Relationship Id="rId7" Type="http://schemas.openxmlformats.org/officeDocument/2006/relationships/image" Target="../media/image105.png"/><Relationship Id="rId6" Type="http://schemas.openxmlformats.org/officeDocument/2006/relationships/image" Target="../media/image90.svg"/><Relationship Id="rId5" Type="http://schemas.openxmlformats.org/officeDocument/2006/relationships/image" Target="../media/image108.png"/><Relationship Id="rId4" Type="http://schemas.openxmlformats.org/officeDocument/2006/relationships/image" Target="../media/image177.svg"/><Relationship Id="rId3" Type="http://schemas.openxmlformats.org/officeDocument/2006/relationships/image" Target="../media/image176.png"/><Relationship Id="rId2" Type="http://schemas.openxmlformats.org/officeDocument/2006/relationships/image" Target="../media/image87.svg"/><Relationship Id="rId18" Type="http://schemas.openxmlformats.org/officeDocument/2006/relationships/notesSlide" Target="../notesSlides/notesSlide25.xml"/><Relationship Id="rId17" Type="http://schemas.openxmlformats.org/officeDocument/2006/relationships/slideLayout" Target="../slideLayouts/slideLayout12.xml"/><Relationship Id="rId16" Type="http://schemas.openxmlformats.org/officeDocument/2006/relationships/image" Target="../media/image181.svg"/><Relationship Id="rId15" Type="http://schemas.openxmlformats.org/officeDocument/2006/relationships/image" Target="../media/image180.png"/><Relationship Id="rId14" Type="http://schemas.openxmlformats.org/officeDocument/2006/relationships/image" Target="../media/image156.svg"/><Relationship Id="rId13" Type="http://schemas.openxmlformats.org/officeDocument/2006/relationships/image" Target="../media/image155.png"/><Relationship Id="rId12" Type="http://schemas.openxmlformats.org/officeDocument/2006/relationships/image" Target="../media/image96.svg"/><Relationship Id="rId11" Type="http://schemas.openxmlformats.org/officeDocument/2006/relationships/image" Target="../media/image179.png"/><Relationship Id="rId10" Type="http://schemas.openxmlformats.org/officeDocument/2006/relationships/image" Target="../media/image94.svg"/><Relationship Id="rId1" Type="http://schemas.openxmlformats.org/officeDocument/2006/relationships/image" Target="../media/image175.png"/></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85.svg"/><Relationship Id="rId7" Type="http://schemas.openxmlformats.org/officeDocument/2006/relationships/image" Target="../media/image184.png"/><Relationship Id="rId6" Type="http://schemas.openxmlformats.org/officeDocument/2006/relationships/image" Target="../media/image129.svg"/><Relationship Id="rId5" Type="http://schemas.openxmlformats.org/officeDocument/2006/relationships/image" Target="../media/image128.png"/><Relationship Id="rId4" Type="http://schemas.openxmlformats.org/officeDocument/2006/relationships/image" Target="../media/image183.svg"/><Relationship Id="rId3" Type="http://schemas.openxmlformats.org/officeDocument/2006/relationships/image" Target="../media/image182.png"/><Relationship Id="rId2" Type="http://schemas.openxmlformats.org/officeDocument/2006/relationships/image" Target="../media/image98.svg"/><Relationship Id="rId10" Type="http://schemas.openxmlformats.org/officeDocument/2006/relationships/notesSlide" Target="../notesSlides/notesSlide26.xml"/><Relationship Id="rId1" Type="http://schemas.openxmlformats.org/officeDocument/2006/relationships/image" Target="../media/image135.png"/></Relationships>
</file>

<file path=ppt/slides/_rels/slide27.xml.rels><?xml version="1.0" encoding="UTF-8" standalone="yes"?>
<Relationships xmlns="http://schemas.openxmlformats.org/package/2006/relationships"><Relationship Id="rId9" Type="http://schemas.openxmlformats.org/officeDocument/2006/relationships/image" Target="../media/image190.png"/><Relationship Id="rId8" Type="http://schemas.openxmlformats.org/officeDocument/2006/relationships/image" Target="../media/image189.svg"/><Relationship Id="rId7" Type="http://schemas.openxmlformats.org/officeDocument/2006/relationships/image" Target="../media/image188.png"/><Relationship Id="rId6" Type="http://schemas.openxmlformats.org/officeDocument/2006/relationships/image" Target="../media/image142.svg"/><Relationship Id="rId5" Type="http://schemas.openxmlformats.org/officeDocument/2006/relationships/image" Target="../media/image141.png"/><Relationship Id="rId4" Type="http://schemas.openxmlformats.org/officeDocument/2006/relationships/image" Target="../media/image187.svg"/><Relationship Id="rId3" Type="http://schemas.openxmlformats.org/officeDocument/2006/relationships/image" Target="../media/image186.png"/><Relationship Id="rId2" Type="http://schemas.openxmlformats.org/officeDocument/2006/relationships/image" Target="../media/image27.svg"/><Relationship Id="rId14" Type="http://schemas.openxmlformats.org/officeDocument/2006/relationships/notesSlide" Target="../notesSlides/notesSlide27.xml"/><Relationship Id="rId13" Type="http://schemas.openxmlformats.org/officeDocument/2006/relationships/slideLayout" Target="../slideLayouts/slideLayout12.xml"/><Relationship Id="rId12" Type="http://schemas.openxmlformats.org/officeDocument/2006/relationships/image" Target="../media/image146.svg"/><Relationship Id="rId11" Type="http://schemas.openxmlformats.org/officeDocument/2006/relationships/image" Target="../media/image145.png"/><Relationship Id="rId10" Type="http://schemas.openxmlformats.org/officeDocument/2006/relationships/image" Target="../media/image191.svg"/><Relationship Id="rId1" Type="http://schemas.openxmlformats.org/officeDocument/2006/relationships/image" Target="../media/image138.png"/></Relationships>
</file>

<file path=ppt/slides/_rels/slide28.xml.rels><?xml version="1.0" encoding="UTF-8" standalone="yes"?>
<Relationships xmlns="http://schemas.openxmlformats.org/package/2006/relationships"><Relationship Id="rId9" Type="http://schemas.openxmlformats.org/officeDocument/2006/relationships/image" Target="../media/image105.png"/><Relationship Id="rId8" Type="http://schemas.openxmlformats.org/officeDocument/2006/relationships/image" Target="../media/image195.svg"/><Relationship Id="rId7" Type="http://schemas.openxmlformats.org/officeDocument/2006/relationships/image" Target="../media/image194.png"/><Relationship Id="rId6" Type="http://schemas.openxmlformats.org/officeDocument/2006/relationships/image" Target="../media/image189.svg"/><Relationship Id="rId5" Type="http://schemas.openxmlformats.org/officeDocument/2006/relationships/image" Target="../media/image188.png"/><Relationship Id="rId4" Type="http://schemas.openxmlformats.org/officeDocument/2006/relationships/image" Target="../media/image193.svg"/><Relationship Id="rId3" Type="http://schemas.openxmlformats.org/officeDocument/2006/relationships/image" Target="../media/image192.png"/><Relationship Id="rId2" Type="http://schemas.openxmlformats.org/officeDocument/2006/relationships/image" Target="../media/image27.svg"/><Relationship Id="rId12" Type="http://schemas.openxmlformats.org/officeDocument/2006/relationships/notesSlide" Target="../notesSlides/notesSlide28.xml"/><Relationship Id="rId11" Type="http://schemas.openxmlformats.org/officeDocument/2006/relationships/slideLayout" Target="../slideLayouts/slideLayout12.xml"/><Relationship Id="rId10" Type="http://schemas.openxmlformats.org/officeDocument/2006/relationships/image" Target="../media/image92.svg"/><Relationship Id="rId1" Type="http://schemas.openxmlformats.org/officeDocument/2006/relationships/image" Target="../media/image138.pn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12.xml"/><Relationship Id="rId4" Type="http://schemas.openxmlformats.org/officeDocument/2006/relationships/image" Target="../media/image80.svg"/><Relationship Id="rId3" Type="http://schemas.openxmlformats.org/officeDocument/2006/relationships/image" Target="../media/image82.png"/><Relationship Id="rId2" Type="http://schemas.openxmlformats.org/officeDocument/2006/relationships/image" Target="../media/image197.svg"/><Relationship Id="rId1" Type="http://schemas.openxmlformats.org/officeDocument/2006/relationships/image" Target="../media/image196.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2.xml"/><Relationship Id="rId2" Type="http://schemas.openxmlformats.org/officeDocument/2006/relationships/image" Target="../media/image129.svg"/><Relationship Id="rId1" Type="http://schemas.openxmlformats.org/officeDocument/2006/relationships/image" Target="../media/image128.png"/></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19.png"/><Relationship Id="rId4" Type="http://schemas.openxmlformats.org/officeDocument/2006/relationships/image" Target="../media/image137.svg"/><Relationship Id="rId3" Type="http://schemas.openxmlformats.org/officeDocument/2006/relationships/image" Target="../media/image136.png"/><Relationship Id="rId2" Type="http://schemas.openxmlformats.org/officeDocument/2006/relationships/image" Target="../media/image199.svg"/><Relationship Id="rId1" Type="http://schemas.openxmlformats.org/officeDocument/2006/relationships/image" Target="../media/image198.png"/></Relationships>
</file>

<file path=ppt/slides/_rels/slide32.xml.rels><?xml version="1.0" encoding="UTF-8" standalone="yes"?>
<Relationships xmlns="http://schemas.openxmlformats.org/package/2006/relationships"><Relationship Id="rId9" Type="http://schemas.openxmlformats.org/officeDocument/2006/relationships/image" Target="../media/image155.png"/><Relationship Id="rId8" Type="http://schemas.openxmlformats.org/officeDocument/2006/relationships/image" Target="../media/image202.svg"/><Relationship Id="rId7" Type="http://schemas.openxmlformats.org/officeDocument/2006/relationships/image" Target="../media/image201.png"/><Relationship Id="rId6" Type="http://schemas.openxmlformats.org/officeDocument/2006/relationships/image" Target="../media/image94.svg"/><Relationship Id="rId5" Type="http://schemas.openxmlformats.org/officeDocument/2006/relationships/image" Target="../media/image178.png"/><Relationship Id="rId4" Type="http://schemas.openxmlformats.org/officeDocument/2006/relationships/image" Target="../media/image8.svg"/><Relationship Id="rId3" Type="http://schemas.openxmlformats.org/officeDocument/2006/relationships/image" Target="../media/image200.png"/><Relationship Id="rId2" Type="http://schemas.openxmlformats.org/officeDocument/2006/relationships/image" Target="../media/image73.svg"/><Relationship Id="rId14" Type="http://schemas.openxmlformats.org/officeDocument/2006/relationships/notesSlide" Target="../notesSlides/notesSlide32.xml"/><Relationship Id="rId13" Type="http://schemas.openxmlformats.org/officeDocument/2006/relationships/slideLayout" Target="../slideLayouts/slideLayout12.xml"/><Relationship Id="rId12" Type="http://schemas.openxmlformats.org/officeDocument/2006/relationships/image" Target="../media/image204.svg"/><Relationship Id="rId11" Type="http://schemas.openxmlformats.org/officeDocument/2006/relationships/image" Target="../media/image203.png"/><Relationship Id="rId10" Type="http://schemas.openxmlformats.org/officeDocument/2006/relationships/image" Target="../media/image156.svg"/><Relationship Id="rId1" Type="http://schemas.openxmlformats.org/officeDocument/2006/relationships/image" Target="../media/image81.png"/></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10.svg"/><Relationship Id="rId7" Type="http://schemas.openxmlformats.org/officeDocument/2006/relationships/image" Target="../media/image209.png"/><Relationship Id="rId6" Type="http://schemas.openxmlformats.org/officeDocument/2006/relationships/image" Target="../media/image114.svg"/><Relationship Id="rId5" Type="http://schemas.openxmlformats.org/officeDocument/2006/relationships/image" Target="../media/image113.png"/><Relationship Id="rId4" Type="http://schemas.openxmlformats.org/officeDocument/2006/relationships/image" Target="../media/image208.svg"/><Relationship Id="rId3" Type="http://schemas.openxmlformats.org/officeDocument/2006/relationships/image" Target="../media/image207.png"/><Relationship Id="rId2" Type="http://schemas.openxmlformats.org/officeDocument/2006/relationships/image" Target="../media/image206.svg"/><Relationship Id="rId10" Type="http://schemas.openxmlformats.org/officeDocument/2006/relationships/notesSlide" Target="../notesSlides/notesSlide33.xml"/><Relationship Id="rId1" Type="http://schemas.openxmlformats.org/officeDocument/2006/relationships/image" Target="../media/image205.png"/></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16.svg"/><Relationship Id="rId7" Type="http://schemas.openxmlformats.org/officeDocument/2006/relationships/image" Target="../media/image215.png"/><Relationship Id="rId6" Type="http://schemas.openxmlformats.org/officeDocument/2006/relationships/image" Target="../media/image214.svg"/><Relationship Id="rId5" Type="http://schemas.openxmlformats.org/officeDocument/2006/relationships/image" Target="../media/image213.png"/><Relationship Id="rId4" Type="http://schemas.openxmlformats.org/officeDocument/2006/relationships/image" Target="../media/image152.svg"/><Relationship Id="rId3" Type="http://schemas.openxmlformats.org/officeDocument/2006/relationships/image" Target="../media/image151.png"/><Relationship Id="rId2" Type="http://schemas.openxmlformats.org/officeDocument/2006/relationships/image" Target="../media/image212.svg"/><Relationship Id="rId10" Type="http://schemas.openxmlformats.org/officeDocument/2006/relationships/notesSlide" Target="../notesSlides/notesSlide34.xml"/><Relationship Id="rId1" Type="http://schemas.openxmlformats.org/officeDocument/2006/relationships/image" Target="../media/image211.png"/></Relationships>
</file>

<file path=ppt/slides/_rels/slide35.xml.rels><?xml version="1.0" encoding="UTF-8" standalone="yes"?>
<Relationships xmlns="http://schemas.openxmlformats.org/package/2006/relationships"><Relationship Id="rId9" Type="http://schemas.openxmlformats.org/officeDocument/2006/relationships/image" Target="../media/image178.png"/><Relationship Id="rId8" Type="http://schemas.openxmlformats.org/officeDocument/2006/relationships/image" Target="../media/image224.svg"/><Relationship Id="rId7" Type="http://schemas.openxmlformats.org/officeDocument/2006/relationships/image" Target="../media/image223.png"/><Relationship Id="rId6" Type="http://schemas.openxmlformats.org/officeDocument/2006/relationships/image" Target="../media/image222.svg"/><Relationship Id="rId5" Type="http://schemas.openxmlformats.org/officeDocument/2006/relationships/image" Target="../media/image221.png"/><Relationship Id="rId4" Type="http://schemas.openxmlformats.org/officeDocument/2006/relationships/image" Target="../media/image220.svg"/><Relationship Id="rId3" Type="http://schemas.openxmlformats.org/officeDocument/2006/relationships/image" Target="../media/image219.png"/><Relationship Id="rId20" Type="http://schemas.openxmlformats.org/officeDocument/2006/relationships/notesSlide" Target="../notesSlides/notesSlide35.xml"/><Relationship Id="rId2" Type="http://schemas.openxmlformats.org/officeDocument/2006/relationships/image" Target="../media/image218.svg"/><Relationship Id="rId19" Type="http://schemas.openxmlformats.org/officeDocument/2006/relationships/slideLayout" Target="../slideLayouts/slideLayout12.xml"/><Relationship Id="rId18" Type="http://schemas.openxmlformats.org/officeDocument/2006/relationships/image" Target="../media/image92.svg"/><Relationship Id="rId17" Type="http://schemas.openxmlformats.org/officeDocument/2006/relationships/image" Target="../media/image105.png"/><Relationship Id="rId16" Type="http://schemas.openxmlformats.org/officeDocument/2006/relationships/image" Target="../media/image226.svg"/><Relationship Id="rId15" Type="http://schemas.openxmlformats.org/officeDocument/2006/relationships/image" Target="../media/image225.png"/><Relationship Id="rId14" Type="http://schemas.openxmlformats.org/officeDocument/2006/relationships/image" Target="../media/image197.svg"/><Relationship Id="rId13" Type="http://schemas.openxmlformats.org/officeDocument/2006/relationships/image" Target="../media/image196.png"/><Relationship Id="rId12" Type="http://schemas.openxmlformats.org/officeDocument/2006/relationships/image" Target="../media/image96.svg"/><Relationship Id="rId11" Type="http://schemas.openxmlformats.org/officeDocument/2006/relationships/image" Target="../media/image179.png"/><Relationship Id="rId10" Type="http://schemas.openxmlformats.org/officeDocument/2006/relationships/image" Target="../media/image94.svg"/><Relationship Id="rId1" Type="http://schemas.openxmlformats.org/officeDocument/2006/relationships/image" Target="../media/image217.png"/></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72.svg"/><Relationship Id="rId7" Type="http://schemas.openxmlformats.org/officeDocument/2006/relationships/image" Target="../media/image171.png"/><Relationship Id="rId6" Type="http://schemas.openxmlformats.org/officeDocument/2006/relationships/image" Target="../media/image232.svg"/><Relationship Id="rId5" Type="http://schemas.openxmlformats.org/officeDocument/2006/relationships/image" Target="../media/image231.png"/><Relationship Id="rId4" Type="http://schemas.openxmlformats.org/officeDocument/2006/relationships/image" Target="../media/image230.svg"/><Relationship Id="rId3" Type="http://schemas.openxmlformats.org/officeDocument/2006/relationships/image" Target="../media/image229.png"/><Relationship Id="rId2" Type="http://schemas.openxmlformats.org/officeDocument/2006/relationships/image" Target="../media/image228.svg"/><Relationship Id="rId10" Type="http://schemas.openxmlformats.org/officeDocument/2006/relationships/notesSlide" Target="../notesSlides/notesSlide36.xml"/><Relationship Id="rId1" Type="http://schemas.openxmlformats.org/officeDocument/2006/relationships/image" Target="../media/image227.png"/></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37.xml"/><Relationship Id="rId7" Type="http://schemas.openxmlformats.org/officeDocument/2006/relationships/slideLayout" Target="../slideLayouts/slideLayout12.xml"/><Relationship Id="rId6" Type="http://schemas.openxmlformats.org/officeDocument/2006/relationships/image" Target="../media/image238.svg"/><Relationship Id="rId5" Type="http://schemas.openxmlformats.org/officeDocument/2006/relationships/image" Target="../media/image237.png"/><Relationship Id="rId4" Type="http://schemas.openxmlformats.org/officeDocument/2006/relationships/image" Target="../media/image236.svg"/><Relationship Id="rId3" Type="http://schemas.openxmlformats.org/officeDocument/2006/relationships/image" Target="../media/image235.png"/><Relationship Id="rId2" Type="http://schemas.openxmlformats.org/officeDocument/2006/relationships/image" Target="../media/image234.svg"/><Relationship Id="rId1" Type="http://schemas.openxmlformats.org/officeDocument/2006/relationships/image" Target="../media/image233.png"/></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slideLayout" Target="../slideLayouts/slideLayout12.xml"/><Relationship Id="rId6" Type="http://schemas.openxmlformats.org/officeDocument/2006/relationships/image" Target="../media/image244.svg"/><Relationship Id="rId5" Type="http://schemas.openxmlformats.org/officeDocument/2006/relationships/image" Target="../media/image243.png"/><Relationship Id="rId4" Type="http://schemas.openxmlformats.org/officeDocument/2006/relationships/image" Target="../media/image242.svg"/><Relationship Id="rId3" Type="http://schemas.openxmlformats.org/officeDocument/2006/relationships/image" Target="../media/image241.png"/><Relationship Id="rId2" Type="http://schemas.openxmlformats.org/officeDocument/2006/relationships/image" Target="../media/image240.svg"/><Relationship Id="rId1" Type="http://schemas.openxmlformats.org/officeDocument/2006/relationships/image" Target="../media/image239.png"/></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slideLayout" Target="../slideLayouts/slideLayout12.xml"/><Relationship Id="rId6" Type="http://schemas.openxmlformats.org/officeDocument/2006/relationships/image" Target="../media/image250.svg"/><Relationship Id="rId5" Type="http://schemas.openxmlformats.org/officeDocument/2006/relationships/image" Target="../media/image249.png"/><Relationship Id="rId4" Type="http://schemas.openxmlformats.org/officeDocument/2006/relationships/image" Target="../media/image248.svg"/><Relationship Id="rId3" Type="http://schemas.openxmlformats.org/officeDocument/2006/relationships/image" Target="../media/image247.png"/><Relationship Id="rId2" Type="http://schemas.openxmlformats.org/officeDocument/2006/relationships/image" Target="../media/image246.svg"/><Relationship Id="rId1" Type="http://schemas.openxmlformats.org/officeDocument/2006/relationships/image" Target="../media/image245.png"/></Relationships>
</file>

<file path=ppt/slides/_rels/slide40.xml.rels><?xml version="1.0" encoding="UTF-8" standalone="yes"?>
<Relationships xmlns="http://schemas.openxmlformats.org/package/2006/relationships"><Relationship Id="rId8" Type="http://schemas.openxmlformats.org/officeDocument/2006/relationships/notesSlide" Target="../notesSlides/notesSlide40.xml"/><Relationship Id="rId7" Type="http://schemas.openxmlformats.org/officeDocument/2006/relationships/slideLayout" Target="../slideLayouts/slideLayout12.xml"/><Relationship Id="rId6" Type="http://schemas.openxmlformats.org/officeDocument/2006/relationships/image" Target="../media/image256.svg"/><Relationship Id="rId5" Type="http://schemas.openxmlformats.org/officeDocument/2006/relationships/image" Target="../media/image255.png"/><Relationship Id="rId4" Type="http://schemas.openxmlformats.org/officeDocument/2006/relationships/image" Target="../media/image254.svg"/><Relationship Id="rId3" Type="http://schemas.openxmlformats.org/officeDocument/2006/relationships/image" Target="../media/image253.png"/><Relationship Id="rId2" Type="http://schemas.openxmlformats.org/officeDocument/2006/relationships/image" Target="../media/image252.svg"/><Relationship Id="rId1" Type="http://schemas.openxmlformats.org/officeDocument/2006/relationships/image" Target="../media/image251.png"/></Relationships>
</file>

<file path=ppt/slides/_rels/slide4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92.svg"/><Relationship Id="rId7" Type="http://schemas.openxmlformats.org/officeDocument/2006/relationships/image" Target="../media/image105.png"/><Relationship Id="rId6" Type="http://schemas.openxmlformats.org/officeDocument/2006/relationships/image" Target="../media/image258.svg"/><Relationship Id="rId5" Type="http://schemas.openxmlformats.org/officeDocument/2006/relationships/image" Target="../media/image257.png"/><Relationship Id="rId4" Type="http://schemas.openxmlformats.org/officeDocument/2006/relationships/image" Target="../media/image174.svg"/><Relationship Id="rId3" Type="http://schemas.openxmlformats.org/officeDocument/2006/relationships/image" Target="../media/image173.png"/><Relationship Id="rId2" Type="http://schemas.openxmlformats.org/officeDocument/2006/relationships/image" Target="../media/image152.svg"/><Relationship Id="rId10" Type="http://schemas.openxmlformats.org/officeDocument/2006/relationships/notesSlide" Target="../notesSlides/notesSlide41.xml"/><Relationship Id="rId1" Type="http://schemas.openxmlformats.org/officeDocument/2006/relationships/image" Target="../media/image151.png"/></Relationships>
</file>

<file path=ppt/slides/_rels/slide42.xml.rels><?xml version="1.0" encoding="UTF-8" standalone="yes"?>
<Relationships xmlns="http://schemas.openxmlformats.org/package/2006/relationships"><Relationship Id="rId8" Type="http://schemas.openxmlformats.org/officeDocument/2006/relationships/notesSlide" Target="../notesSlides/notesSlide42.xml"/><Relationship Id="rId7" Type="http://schemas.openxmlformats.org/officeDocument/2006/relationships/slideLayout" Target="../slideLayouts/slideLayout12.xml"/><Relationship Id="rId6" Type="http://schemas.openxmlformats.org/officeDocument/2006/relationships/image" Target="../media/image262.svg"/><Relationship Id="rId5" Type="http://schemas.openxmlformats.org/officeDocument/2006/relationships/image" Target="../media/image261.png"/><Relationship Id="rId4" Type="http://schemas.openxmlformats.org/officeDocument/2006/relationships/image" Target="../media/image140.svg"/><Relationship Id="rId3" Type="http://schemas.openxmlformats.org/officeDocument/2006/relationships/image" Target="../media/image139.png"/><Relationship Id="rId2" Type="http://schemas.openxmlformats.org/officeDocument/2006/relationships/image" Target="../media/image260.svg"/><Relationship Id="rId1" Type="http://schemas.openxmlformats.org/officeDocument/2006/relationships/image" Target="../media/image259.png"/></Relationships>
</file>

<file path=ppt/slides/_rels/slide43.xml.rels><?xml version="1.0" encoding="UTF-8" standalone="yes"?>
<Relationships xmlns="http://schemas.openxmlformats.org/package/2006/relationships"><Relationship Id="rId9" Type="http://schemas.openxmlformats.org/officeDocument/2006/relationships/image" Target="../media/image267.png"/><Relationship Id="rId8" Type="http://schemas.openxmlformats.org/officeDocument/2006/relationships/image" Target="../media/image238.svg"/><Relationship Id="rId7" Type="http://schemas.openxmlformats.org/officeDocument/2006/relationships/image" Target="../media/image237.png"/><Relationship Id="rId6" Type="http://schemas.openxmlformats.org/officeDocument/2006/relationships/image" Target="../media/image266.svg"/><Relationship Id="rId5" Type="http://schemas.openxmlformats.org/officeDocument/2006/relationships/image" Target="../media/image265.png"/><Relationship Id="rId4" Type="http://schemas.openxmlformats.org/officeDocument/2006/relationships/image" Target="../media/image51.svg"/><Relationship Id="rId3" Type="http://schemas.openxmlformats.org/officeDocument/2006/relationships/image" Target="../media/image121.png"/><Relationship Id="rId2" Type="http://schemas.openxmlformats.org/officeDocument/2006/relationships/image" Target="../media/image264.svg"/><Relationship Id="rId14" Type="http://schemas.openxmlformats.org/officeDocument/2006/relationships/notesSlide" Target="../notesSlides/notesSlide43.xml"/><Relationship Id="rId13" Type="http://schemas.openxmlformats.org/officeDocument/2006/relationships/slideLayout" Target="../slideLayouts/slideLayout12.xml"/><Relationship Id="rId12" Type="http://schemas.openxmlformats.org/officeDocument/2006/relationships/image" Target="../media/image146.svg"/><Relationship Id="rId11" Type="http://schemas.openxmlformats.org/officeDocument/2006/relationships/image" Target="../media/image145.png"/><Relationship Id="rId10" Type="http://schemas.openxmlformats.org/officeDocument/2006/relationships/image" Target="../media/image268.svg"/><Relationship Id="rId1" Type="http://schemas.openxmlformats.org/officeDocument/2006/relationships/image" Target="../media/image263.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12.xml"/><Relationship Id="rId2" Type="http://schemas.openxmlformats.org/officeDocument/2006/relationships/image" Target="../media/image270.svg"/><Relationship Id="rId1" Type="http://schemas.openxmlformats.org/officeDocument/2006/relationships/image" Target="../media/image269.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12.xml"/><Relationship Id="rId2" Type="http://schemas.openxmlformats.org/officeDocument/2006/relationships/image" Target="../media/image272.svg"/><Relationship Id="rId1" Type="http://schemas.openxmlformats.org/officeDocument/2006/relationships/image" Target="../media/image27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1270000"/>
            <a:ext cx="3810000" cy="3810000"/>
          </a:xfrm>
          <a:prstGeom prst="ellipse">
            <a:avLst/>
          </a:prstGeom>
          <a:solidFill>
            <a:srgbClr val="0277BD">
              <a:alpha val="10000"/>
            </a:srgbClr>
          </a:solidFill>
          <a:ln cap="flat" cmpd="sng">
            <a:solidFill>
              <a:srgbClr val="0066A4">
                <a:alpha val="1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9652000" y="4318000"/>
            <a:ext cx="5080000" cy="5080000"/>
          </a:xfrm>
          <a:prstGeom prst="ellipse">
            <a:avLst/>
          </a:prstGeom>
          <a:solidFill>
            <a:srgbClr val="FF9800">
              <a:alpha val="10000"/>
            </a:srgbClr>
          </a:solidFill>
          <a:ln cap="flat" cmpd="sng">
            <a:solidFill>
              <a:srgbClr val="E68900">
                <a:alpha val="1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635000" y="1143000"/>
            <a:ext cx="10922000" cy="4572000"/>
          </a:xfrm>
          <a:prstGeom prst="roundRect">
            <a:avLst>
              <a:gd name="adj" fmla="val 5555"/>
            </a:avLst>
          </a:prstGeom>
          <a:solidFill>
            <a:srgbClr val="FFFFFF">
              <a:alpha val="100000"/>
            </a:srgbClr>
          </a:solidFill>
          <a:ln cap="flat" cmpd="sng">
            <a:solidFill>
              <a:srgbClr val="E6CFCF">
                <a:alpha val="100000"/>
              </a:srgbClr>
            </a:solid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1397000"/>
            <a:ext cx="609600" cy="609600"/>
          </a:xfrm>
          <a:prstGeom prst="rect">
            <a:avLst/>
          </a:prstGeom>
        </p:spPr>
      </p:pic>
      <p:sp>
        <p:nvSpPr>
          <p:cNvPr id="6" name="AutoShape 6"/>
          <p:cNvSpPr/>
          <p:nvPr/>
        </p:nvSpPr>
        <p:spPr>
          <a:xfrm>
            <a:off x="1016000" y="2159000"/>
            <a:ext cx="10160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77BD"/>
                </a:solidFill>
                <a:latin typeface="Noto Sans SC"/>
                <a:ea typeface="Noto Sans SC"/>
                <a:cs typeface="Noto Sans SC"/>
                <a:sym typeface="Noto Sans SC"/>
              </a:rPr>
              <a:t>数字人口播文案生成项目实战</a:t>
            </a:r>
            <a:endParaRPr lang="en-US" sz="1100"/>
          </a:p>
        </p:txBody>
      </p:sp>
      <p:sp>
        <p:nvSpPr>
          <p:cNvPr id="7" name="AutoShape 7"/>
          <p:cNvSpPr/>
          <p:nvPr/>
        </p:nvSpPr>
        <p:spPr>
          <a:xfrm>
            <a:off x="1016000" y="2857500"/>
            <a:ext cx="1016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90A4AE"/>
                </a:solidFill>
                <a:latin typeface="Noto Sans SC"/>
                <a:ea typeface="Noto Sans SC"/>
                <a:cs typeface="Noto Sans SC"/>
                <a:sym typeface="Noto Sans SC"/>
              </a:rPr>
              <a:t>大学教学课件 · 理论与实践结合</a:t>
            </a:r>
            <a:endParaRPr lang="en-US" sz="1100"/>
          </a:p>
        </p:txBody>
      </p:sp>
      <p:cxnSp>
        <p:nvCxnSpPr>
          <p:cNvPr id="8" name="Connector 8"/>
          <p:cNvCxnSpPr/>
          <p:nvPr/>
        </p:nvCxnSpPr>
        <p:spPr>
          <a:xfrm rot="-34376">
            <a:off x="5461032" y="3422650"/>
            <a:ext cx="1270000" cy="12700"/>
          </a:xfrm>
          <a:prstGeom prst="line">
            <a:avLst/>
          </a:prstGeom>
          <a:solidFill>
            <a:srgbClr val="DEE0E3">
              <a:alpha val="100000"/>
            </a:srgbClr>
          </a:solidFill>
          <a:ln w="25400" cap="flat" cmpd="sng">
            <a:solidFill>
              <a:srgbClr val="FF9800">
                <a:alpha val="100000"/>
              </a:srgbClr>
            </a:solidFill>
            <a:prstDash val="solid"/>
            <a:round/>
            <a:headEnd type="none" w="lg" len="lg"/>
            <a:tailEnd type="none" w="lg" len="lg"/>
          </a:ln>
        </p:spPr>
      </p:cxnSp>
      <p:sp>
        <p:nvSpPr>
          <p:cNvPr id="9" name="AutoShape 9"/>
          <p:cNvSpPr/>
          <p:nvPr/>
        </p:nvSpPr>
        <p:spPr>
          <a:xfrm>
            <a:off x="1016000" y="3683000"/>
            <a:ext cx="1016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a:solidFill>
                  <a:srgbClr val="90A4AE"/>
                </a:solidFill>
                <a:latin typeface="Noto Sans SC"/>
                <a:ea typeface="Noto Sans SC"/>
                <a:cs typeface="Noto Sans SC"/>
                <a:sym typeface="Noto Sans SC"/>
              </a:rPr>
              <a:t>讲师：</a:t>
            </a:r>
            <a:r>
              <a:rPr lang="en-US" sz="1600" b="1" i="0" u="none" strike="noStrike">
                <a:solidFill>
                  <a:srgbClr val="0277BD"/>
                </a:solidFill>
                <a:latin typeface="Noto Sans SC"/>
                <a:ea typeface="Noto Sans SC"/>
                <a:cs typeface="Noto Sans SC"/>
                <a:sym typeface="Noto Sans SC"/>
              </a:rPr>
              <a:t>[请在此处填写讲师姓名]</a:t>
            </a:r>
            <a:endParaRPr lang="en-US" sz="1100"/>
          </a:p>
        </p:txBody>
      </p:sp>
      <p:sp>
        <p:nvSpPr>
          <p:cNvPr id="10" name="AutoShape 10"/>
          <p:cNvSpPr/>
          <p:nvPr/>
        </p:nvSpPr>
        <p:spPr>
          <a:xfrm>
            <a:off x="1016000" y="4064000"/>
            <a:ext cx="1016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a:solidFill>
                  <a:srgbClr val="90A4AE"/>
                </a:solidFill>
                <a:latin typeface="Noto Sans SC"/>
                <a:ea typeface="Noto Sans SC"/>
                <a:cs typeface="Noto Sans SC"/>
                <a:sym typeface="Noto Sans SC"/>
              </a:rPr>
              <a:t>日期：</a:t>
            </a:r>
            <a:r>
              <a:rPr lang="en-US" sz="1600" b="1" i="0" u="none" strike="noStrike">
                <a:solidFill>
                  <a:srgbClr val="0277BD"/>
                </a:solidFill>
                <a:latin typeface="Noto Sans SC"/>
                <a:ea typeface="Noto Sans SC"/>
                <a:cs typeface="Noto Sans SC"/>
                <a:sym typeface="Noto Sans SC"/>
              </a:rPr>
              <a:t>[请在此处填写日期]</a:t>
            </a:r>
            <a:endParaRPr lang="en-US" sz="1100"/>
          </a:p>
        </p:txBody>
      </p:sp>
      <p:sp>
        <p:nvSpPr>
          <p:cNvPr id="11" name="AutoShape 11"/>
          <p:cNvSpPr/>
          <p:nvPr/>
        </p:nvSpPr>
        <p:spPr>
          <a:xfrm>
            <a:off x="635000" y="5638800"/>
            <a:ext cx="10922000" cy="76200"/>
          </a:xfrm>
          <a:prstGeom prst="roundRect">
            <a:avLst>
              <a:gd name="adj" fmla="val 0"/>
            </a:avLst>
          </a:prstGeom>
          <a:gradFill rotWithShape="1">
            <a:gsLst>
              <a:gs pos="0">
                <a:srgbClr val="0277BD">
                  <a:alpha val="100000"/>
                </a:srgbClr>
              </a:gs>
              <a:gs pos="100000">
                <a:srgbClr val="FF9800">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0584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目录</a:t>
            </a:r>
            <a:endParaRPr lang="en-US" sz="1100"/>
          </a:p>
        </p:txBody>
      </p:sp>
      <p:sp>
        <p:nvSpPr>
          <p:cNvPr id="3" name="AutoShape 3"/>
          <p:cNvSpPr/>
          <p:nvPr/>
        </p:nvSpPr>
        <p:spPr>
          <a:xfrm>
            <a:off x="762000" y="1143000"/>
            <a:ext cx="508000" cy="50800"/>
          </a:xfrm>
          <a:prstGeom prst="roundRect">
            <a:avLst>
              <a:gd name="adj" fmla="val 0"/>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762000" y="1651000"/>
            <a:ext cx="3302000" cy="76200"/>
          </a:xfrm>
          <a:prstGeom prst="roundRect">
            <a:avLst>
              <a:gd name="adj" fmla="val 166666"/>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68500"/>
            <a:ext cx="406400" cy="406400"/>
          </a:xfrm>
          <a:prstGeom prst="rect">
            <a:avLst/>
          </a:prstGeom>
        </p:spPr>
      </p:pic>
      <p:sp>
        <p:nvSpPr>
          <p:cNvPr id="7" name="AutoShape 7"/>
          <p:cNvSpPr/>
          <p:nvPr/>
        </p:nvSpPr>
        <p:spPr>
          <a:xfrm>
            <a:off x="1524000" y="1930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12.1 概述</a:t>
            </a:r>
            <a:endParaRPr lang="en-US" sz="1100"/>
          </a:p>
        </p:txBody>
      </p:sp>
      <p:sp>
        <p:nvSpPr>
          <p:cNvPr id="8" name="AutoShape 8"/>
          <p:cNvSpPr/>
          <p:nvPr/>
        </p:nvSpPr>
        <p:spPr>
          <a:xfrm>
            <a:off x="1016000" y="2540000"/>
            <a:ext cx="2794000" cy="228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546E7A"/>
              </a:buClr>
              <a:buChar char="•"/>
              <a:defRPr/>
            </a:pPr>
            <a:r>
              <a:rPr lang="en-US" sz="1400" b="0" i="0" u="none" strike="noStrike">
                <a:solidFill>
                  <a:srgbClr val="546E7A"/>
                </a:solidFill>
                <a:latin typeface="Noto Sans SC"/>
                <a:ea typeface="Noto Sans SC"/>
                <a:cs typeface="Noto Sans SC"/>
                <a:sym typeface="Noto Sans SC"/>
              </a:rPr>
              <a:t>数字人直播的台词特点</a:t>
            </a:r>
            <a:endParaRPr lang="en-US" sz="1100"/>
          </a:p>
          <a:p>
            <a:pPr marL="177800" indent="-177800" algn="l">
              <a:lnSpc>
                <a:spcPct val="125000"/>
              </a:lnSpc>
              <a:buClr>
                <a:srgbClr val="546E7A"/>
              </a:buClr>
              <a:buChar char="•"/>
            </a:pPr>
            <a:r>
              <a:rPr lang="en-US" sz="1400" b="0" i="0" u="none" strike="noStrike">
                <a:solidFill>
                  <a:srgbClr val="546E7A"/>
                </a:solidFill>
                <a:latin typeface="Noto Sans SC"/>
                <a:ea typeface="Noto Sans SC"/>
                <a:cs typeface="Noto Sans SC"/>
                <a:sym typeface="Noto Sans SC"/>
              </a:rPr>
              <a:t>数字人直播的台词编排</a:t>
            </a:r>
            <a:endParaRPr lang="en-US" sz="1400" b="0" i="0" u="none" strike="noStrike">
              <a:solidFill>
                <a:srgbClr val="546E7A"/>
              </a:solidFill>
              <a:latin typeface="Noto Sans SC"/>
              <a:ea typeface="Noto Sans SC"/>
              <a:cs typeface="Noto Sans SC"/>
              <a:sym typeface="Noto Sans SC"/>
            </a:endParaRPr>
          </a:p>
          <a:p>
            <a:pPr marL="177800" indent="-177800" algn="l">
              <a:lnSpc>
                <a:spcPct val="125000"/>
              </a:lnSpc>
              <a:buClr>
                <a:srgbClr val="546E7A"/>
              </a:buClr>
              <a:buChar char="•"/>
            </a:pPr>
            <a:r>
              <a:rPr lang="en-US" sz="1400" b="0" i="0" u="none" strike="noStrike">
                <a:solidFill>
                  <a:srgbClr val="546E7A"/>
                </a:solidFill>
                <a:latin typeface="Noto Sans SC"/>
                <a:ea typeface="Noto Sans SC"/>
                <a:cs typeface="Noto Sans SC"/>
                <a:sym typeface="Noto Sans SC"/>
              </a:rPr>
              <a:t>数字人直播的防封策略</a:t>
            </a:r>
            <a:endParaRPr lang="en-US" sz="1400" b="0" i="0" u="none" strike="noStrike">
              <a:solidFill>
                <a:srgbClr val="546E7A"/>
              </a:solidFill>
              <a:latin typeface="Noto Sans SC"/>
              <a:ea typeface="Noto Sans SC"/>
              <a:cs typeface="Noto Sans SC"/>
              <a:sym typeface="Noto Sans SC"/>
            </a:endParaRPr>
          </a:p>
        </p:txBody>
      </p:sp>
      <p:sp>
        <p:nvSpPr>
          <p:cNvPr id="9" name="AutoShape 9"/>
          <p:cNvSpPr/>
          <p:nvPr/>
        </p:nvSpPr>
        <p:spPr>
          <a:xfrm>
            <a:off x="4445000" y="1651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10" name="AutoShape 10"/>
          <p:cNvSpPr/>
          <p:nvPr/>
        </p:nvSpPr>
        <p:spPr>
          <a:xfrm>
            <a:off x="4445000" y="1651000"/>
            <a:ext cx="3302000" cy="76200"/>
          </a:xfrm>
          <a:prstGeom prst="roundRect">
            <a:avLst>
              <a:gd name="adj" fmla="val 166666"/>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968500"/>
            <a:ext cx="406400" cy="406400"/>
          </a:xfrm>
          <a:prstGeom prst="rect">
            <a:avLst/>
          </a:prstGeom>
        </p:spPr>
      </p:pic>
      <p:sp>
        <p:nvSpPr>
          <p:cNvPr id="12" name="AutoShape 12"/>
          <p:cNvSpPr/>
          <p:nvPr/>
        </p:nvSpPr>
        <p:spPr>
          <a:xfrm>
            <a:off x="5207000" y="1930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12.2 Prompt模版</a:t>
            </a:r>
            <a:endParaRPr lang="en-US" sz="1100"/>
          </a:p>
        </p:txBody>
      </p:sp>
      <p:sp>
        <p:nvSpPr>
          <p:cNvPr id="13" name="AutoShape 13"/>
          <p:cNvSpPr/>
          <p:nvPr/>
        </p:nvSpPr>
        <p:spPr>
          <a:xfrm>
            <a:off x="4699000" y="2540000"/>
            <a:ext cx="2794000" cy="228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546E7A"/>
              </a:buClr>
              <a:buChar char="•"/>
              <a:defRPr/>
            </a:pPr>
            <a:r>
              <a:rPr lang="en-US" sz="1400" b="0" i="0" u="none" strike="noStrike">
                <a:solidFill>
                  <a:srgbClr val="546E7A"/>
                </a:solidFill>
                <a:latin typeface="Noto Sans SC"/>
                <a:ea typeface="Noto Sans SC"/>
                <a:cs typeface="Noto Sans SC"/>
                <a:sym typeface="Noto Sans SC"/>
              </a:rPr>
              <a:t>整段式商品台词Prompt</a:t>
            </a:r>
            <a:endParaRPr lang="en-US" sz="1100"/>
          </a:p>
          <a:p>
            <a:pPr marL="177800" indent="-177800" algn="l">
              <a:lnSpc>
                <a:spcPct val="125000"/>
              </a:lnSpc>
              <a:buClr>
                <a:srgbClr val="546E7A"/>
              </a:buClr>
              <a:buChar char="•"/>
            </a:pPr>
            <a:r>
              <a:rPr lang="en-US" sz="1400" b="0" i="0" u="none" strike="noStrike">
                <a:solidFill>
                  <a:srgbClr val="546E7A"/>
                </a:solidFill>
                <a:latin typeface="Noto Sans SC"/>
                <a:ea typeface="Noto Sans SC"/>
                <a:cs typeface="Noto Sans SC"/>
                <a:sym typeface="Noto Sans SC"/>
              </a:rPr>
              <a:t>分段式商品台词Prompt</a:t>
            </a:r>
            <a:endParaRPr lang="en-US" sz="1400" b="0" i="0" u="none" strike="noStrike">
              <a:solidFill>
                <a:srgbClr val="546E7A"/>
              </a:solidFill>
              <a:latin typeface="Noto Sans SC"/>
              <a:ea typeface="Noto Sans SC"/>
              <a:cs typeface="Noto Sans SC"/>
              <a:sym typeface="Noto Sans SC"/>
            </a:endParaRPr>
          </a:p>
          <a:p>
            <a:pPr marL="177800" indent="-177800" algn="l">
              <a:lnSpc>
                <a:spcPct val="125000"/>
              </a:lnSpc>
              <a:buClr>
                <a:srgbClr val="546E7A"/>
              </a:buClr>
              <a:buChar char="•"/>
            </a:pPr>
            <a:r>
              <a:rPr lang="en-US" sz="1400" b="0" i="0" u="none" strike="noStrike">
                <a:solidFill>
                  <a:srgbClr val="546E7A"/>
                </a:solidFill>
                <a:latin typeface="Noto Sans SC"/>
                <a:ea typeface="Noto Sans SC"/>
                <a:cs typeface="Noto Sans SC"/>
                <a:sym typeface="Noto Sans SC"/>
              </a:rPr>
              <a:t>互动问答台词Prompt</a:t>
            </a:r>
            <a:endParaRPr lang="en-US" sz="1400" b="0" i="0" u="none" strike="noStrike">
              <a:solidFill>
                <a:srgbClr val="546E7A"/>
              </a:solidFill>
              <a:latin typeface="Noto Sans SC"/>
              <a:ea typeface="Noto Sans SC"/>
              <a:cs typeface="Noto Sans SC"/>
              <a:sym typeface="Noto Sans SC"/>
            </a:endParaRPr>
          </a:p>
        </p:txBody>
      </p:sp>
      <p:sp>
        <p:nvSpPr>
          <p:cNvPr id="14" name="AutoShape 14"/>
          <p:cNvSpPr/>
          <p:nvPr/>
        </p:nvSpPr>
        <p:spPr>
          <a:xfrm>
            <a:off x="8128000" y="1651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15" name="AutoShape 15"/>
          <p:cNvSpPr/>
          <p:nvPr/>
        </p:nvSpPr>
        <p:spPr>
          <a:xfrm>
            <a:off x="8128000" y="1651000"/>
            <a:ext cx="3302000" cy="76200"/>
          </a:xfrm>
          <a:prstGeom prst="roundRect">
            <a:avLst>
              <a:gd name="adj" fmla="val 166666"/>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68500"/>
            <a:ext cx="406400" cy="406400"/>
          </a:xfrm>
          <a:prstGeom prst="rect">
            <a:avLst/>
          </a:prstGeom>
        </p:spPr>
      </p:pic>
      <p:sp>
        <p:nvSpPr>
          <p:cNvPr id="17" name="AutoShape 17"/>
          <p:cNvSpPr/>
          <p:nvPr/>
        </p:nvSpPr>
        <p:spPr>
          <a:xfrm>
            <a:off x="8890000" y="1930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12.3 项目实战</a:t>
            </a:r>
            <a:endParaRPr lang="en-US" sz="1100"/>
          </a:p>
        </p:txBody>
      </p:sp>
      <p:sp>
        <p:nvSpPr>
          <p:cNvPr id="18" name="AutoShape 18"/>
          <p:cNvSpPr/>
          <p:nvPr/>
        </p:nvSpPr>
        <p:spPr>
          <a:xfrm>
            <a:off x="8382000" y="2540000"/>
            <a:ext cx="2794000" cy="228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546E7A"/>
              </a:buClr>
              <a:buChar char="•"/>
              <a:defRPr/>
            </a:pPr>
            <a:r>
              <a:rPr lang="en-US" sz="1400" b="0" i="0" u="none" strike="noStrike">
                <a:solidFill>
                  <a:srgbClr val="546E7A"/>
                </a:solidFill>
                <a:latin typeface="Noto Sans SC"/>
                <a:ea typeface="Noto Sans SC"/>
                <a:cs typeface="Noto Sans SC"/>
                <a:sym typeface="Noto Sans SC"/>
              </a:rPr>
              <a:t>项目背景与目标设定</a:t>
            </a:r>
            <a:endParaRPr lang="en-US" sz="1100"/>
          </a:p>
          <a:p>
            <a:pPr marL="177800" indent="-177800" algn="l">
              <a:lnSpc>
                <a:spcPct val="125000"/>
              </a:lnSpc>
              <a:buClr>
                <a:srgbClr val="546E7A"/>
              </a:buClr>
              <a:buChar char="•"/>
            </a:pPr>
            <a:r>
              <a:rPr lang="en-US" sz="1400" b="0" i="0" u="none" strike="noStrike">
                <a:solidFill>
                  <a:srgbClr val="546E7A"/>
                </a:solidFill>
                <a:latin typeface="Noto Sans SC"/>
                <a:ea typeface="Noto Sans SC"/>
                <a:cs typeface="Noto Sans SC"/>
                <a:sym typeface="Noto Sans SC"/>
              </a:rPr>
              <a:t>项目准备与执行流程</a:t>
            </a:r>
            <a:endParaRPr lang="en-US" sz="1400" b="0" i="0" u="none" strike="noStrike">
              <a:solidFill>
                <a:srgbClr val="546E7A"/>
              </a:solidFill>
              <a:latin typeface="Noto Sans SC"/>
              <a:ea typeface="Noto Sans SC"/>
              <a:cs typeface="Noto Sans SC"/>
              <a:sym typeface="Noto Sans SC"/>
            </a:endParaRPr>
          </a:p>
          <a:p>
            <a:pPr marL="177800" indent="-177800" algn="l">
              <a:lnSpc>
                <a:spcPct val="125000"/>
              </a:lnSpc>
              <a:buClr>
                <a:srgbClr val="546E7A"/>
              </a:buClr>
              <a:buChar char="•"/>
            </a:pPr>
            <a:r>
              <a:rPr lang="en-US" sz="1400" b="0" i="0" u="none" strike="noStrike">
                <a:solidFill>
                  <a:srgbClr val="546E7A"/>
                </a:solidFill>
                <a:latin typeface="Noto Sans SC"/>
                <a:ea typeface="Noto Sans SC"/>
                <a:cs typeface="Noto Sans SC"/>
                <a:sym typeface="Noto Sans SC"/>
              </a:rPr>
              <a:t>项目优化与经验总结</a:t>
            </a:r>
            <a:endParaRPr lang="en-US" sz="1400" b="0" i="0" u="none" strike="noStrike">
              <a:solidFill>
                <a:srgbClr val="546E7A"/>
              </a:solidFill>
              <a:latin typeface="Noto Sans SC"/>
              <a:ea typeface="Noto Sans SC"/>
              <a:cs typeface="Noto Sans SC"/>
              <a:sym typeface="Noto Sans SC"/>
            </a:endParaRPr>
          </a:p>
        </p:txBody>
      </p:sp>
      <p:sp>
        <p:nvSpPr>
          <p:cNvPr id="19" name="AutoShape 19"/>
          <p:cNvSpPr/>
          <p:nvPr/>
        </p:nvSpPr>
        <p:spPr>
          <a:xfrm>
            <a:off x="762000" y="5588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90A4AE"/>
                </a:solidFill>
                <a:latin typeface="Noto Sans SC"/>
                <a:ea typeface="Noto Sans SC"/>
                <a:cs typeface="Noto Sans SC"/>
                <a:sym typeface="Noto Sans SC"/>
              </a:rPr>
              <a:t>从理论基础到实战应用，全方位掌握数字人口播台词生成技术</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890000" y="-1270000"/>
            <a:ext cx="3810000" cy="381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4445000"/>
            <a:ext cx="2540000" cy="254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09600" y="609600"/>
            <a:ext cx="71501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12.1 数字人口播台词生成概述</a:t>
            </a:r>
            <a:endParaRPr lang="en-US" sz="1100"/>
          </a:p>
        </p:txBody>
      </p:sp>
      <p:sp>
        <p:nvSpPr>
          <p:cNvPr id="5" name="AutoShape 5"/>
          <p:cNvSpPr/>
          <p:nvPr/>
        </p:nvSpPr>
        <p:spPr>
          <a:xfrm>
            <a:off x="609600" y="1333500"/>
            <a:ext cx="762000" cy="50800"/>
          </a:xfrm>
          <a:prstGeom prst="roundRect">
            <a:avLst>
              <a:gd name="adj" fmla="val 0"/>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09600" y="1587500"/>
            <a:ext cx="109728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0" i="0" u="none" strike="noStrike">
                <a:solidFill>
                  <a:srgbClr val="546E7A"/>
                </a:solidFill>
                <a:latin typeface="Noto Sans SC"/>
                <a:ea typeface="Noto Sans SC"/>
                <a:cs typeface="Noto Sans SC"/>
                <a:sym typeface="Noto Sans SC"/>
              </a:rPr>
              <a:t>本章节将介绍数字人直播台词的核心特点、编排方式以及在不同平台进行直播时需要注意的防封策略，为后续的模板学习和项目实战打下坚实基础。</a:t>
            </a:r>
            <a:endParaRPr lang="en-US" sz="1100"/>
          </a:p>
        </p:txBody>
      </p:sp>
      <p:sp>
        <p:nvSpPr>
          <p:cNvPr id="7" name="AutoShape 7"/>
          <p:cNvSpPr/>
          <p:nvPr/>
        </p:nvSpPr>
        <p:spPr>
          <a:xfrm>
            <a:off x="609600" y="2794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19300" y="3048000"/>
            <a:ext cx="609600" cy="609600"/>
          </a:xfrm>
          <a:prstGeom prst="rect">
            <a:avLst/>
          </a:prstGeom>
        </p:spPr>
      </p:pic>
      <p:sp>
        <p:nvSpPr>
          <p:cNvPr id="9" name="AutoShape 9"/>
          <p:cNvSpPr/>
          <p:nvPr/>
        </p:nvSpPr>
        <p:spPr>
          <a:xfrm>
            <a:off x="863600" y="3810000"/>
            <a:ext cx="292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核心特点</a:t>
            </a:r>
            <a:endParaRPr lang="en-US" sz="1100"/>
          </a:p>
        </p:txBody>
      </p:sp>
      <p:sp>
        <p:nvSpPr>
          <p:cNvPr id="10" name="AutoShape 10"/>
          <p:cNvSpPr/>
          <p:nvPr/>
        </p:nvSpPr>
        <p:spPr>
          <a:xfrm>
            <a:off x="863600" y="4254500"/>
            <a:ext cx="2921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0" i="0" u="none" strike="noStrike">
                <a:solidFill>
                  <a:srgbClr val="90A4AE"/>
                </a:solidFill>
                <a:latin typeface="Noto Sans SC"/>
                <a:ea typeface="Noto Sans SC"/>
                <a:cs typeface="Noto Sans SC"/>
                <a:sym typeface="Noto Sans SC"/>
              </a:rPr>
              <a:t>深入解析公域与私域流量中，数字人直播台词的独特属性与表现形式。</a:t>
            </a:r>
            <a:endParaRPr lang="en-US" sz="1100"/>
          </a:p>
        </p:txBody>
      </p:sp>
      <p:sp>
        <p:nvSpPr>
          <p:cNvPr id="11" name="AutoShape 11"/>
          <p:cNvSpPr/>
          <p:nvPr/>
        </p:nvSpPr>
        <p:spPr>
          <a:xfrm>
            <a:off x="4381500" y="2794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91200" y="3048000"/>
            <a:ext cx="609600" cy="609600"/>
          </a:xfrm>
          <a:prstGeom prst="rect">
            <a:avLst/>
          </a:prstGeom>
        </p:spPr>
      </p:pic>
      <p:sp>
        <p:nvSpPr>
          <p:cNvPr id="13" name="AutoShape 13"/>
          <p:cNvSpPr/>
          <p:nvPr/>
        </p:nvSpPr>
        <p:spPr>
          <a:xfrm>
            <a:off x="4635500" y="3810000"/>
            <a:ext cx="292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编排方式</a:t>
            </a:r>
            <a:endParaRPr lang="en-US" sz="1100"/>
          </a:p>
        </p:txBody>
      </p:sp>
      <p:sp>
        <p:nvSpPr>
          <p:cNvPr id="14" name="AutoShape 14"/>
          <p:cNvSpPr/>
          <p:nvPr/>
        </p:nvSpPr>
        <p:spPr>
          <a:xfrm>
            <a:off x="4635500" y="4254500"/>
            <a:ext cx="2921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0" i="0" u="none" strike="noStrike">
                <a:solidFill>
                  <a:srgbClr val="90A4AE"/>
                </a:solidFill>
                <a:latin typeface="Noto Sans SC"/>
                <a:ea typeface="Noto Sans SC"/>
                <a:cs typeface="Noto Sans SC"/>
                <a:sym typeface="Noto Sans SC"/>
              </a:rPr>
              <a:t>学习科学的台词结构设计，提升直播内容的逻辑性与吸引力。</a:t>
            </a:r>
            <a:endParaRPr lang="en-US" sz="1100"/>
          </a:p>
        </p:txBody>
      </p:sp>
      <p:sp>
        <p:nvSpPr>
          <p:cNvPr id="15" name="AutoShape 15"/>
          <p:cNvSpPr/>
          <p:nvPr/>
        </p:nvSpPr>
        <p:spPr>
          <a:xfrm>
            <a:off x="8153400" y="2794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63100" y="3048000"/>
            <a:ext cx="609600" cy="609600"/>
          </a:xfrm>
          <a:prstGeom prst="rect">
            <a:avLst/>
          </a:prstGeom>
        </p:spPr>
      </p:pic>
      <p:sp>
        <p:nvSpPr>
          <p:cNvPr id="17" name="AutoShape 17"/>
          <p:cNvSpPr/>
          <p:nvPr/>
        </p:nvSpPr>
        <p:spPr>
          <a:xfrm>
            <a:off x="8407400" y="3810000"/>
            <a:ext cx="292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防封策略</a:t>
            </a:r>
            <a:endParaRPr lang="en-US" sz="1100"/>
          </a:p>
        </p:txBody>
      </p:sp>
      <p:sp>
        <p:nvSpPr>
          <p:cNvPr id="18" name="AutoShape 18"/>
          <p:cNvSpPr/>
          <p:nvPr/>
        </p:nvSpPr>
        <p:spPr>
          <a:xfrm>
            <a:off x="8407400" y="4254500"/>
            <a:ext cx="2921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0" i="0" u="none" strike="noStrike">
                <a:solidFill>
                  <a:srgbClr val="90A4AE"/>
                </a:solidFill>
                <a:latin typeface="Noto Sans SC"/>
                <a:ea typeface="Noto Sans SC"/>
                <a:cs typeface="Noto Sans SC"/>
                <a:sym typeface="Noto Sans SC"/>
              </a:rPr>
              <a:t>掌握各平台规则，规避违规风险，确保直播内容合规有效。</a:t>
            </a:r>
            <a:endParaRPr lang="en-US" sz="1100"/>
          </a:p>
        </p:txBody>
      </p:sp>
      <p:sp>
        <p:nvSpPr>
          <p:cNvPr id="19" name="AutoShape 19"/>
          <p:cNvSpPr/>
          <p:nvPr/>
        </p:nvSpPr>
        <p:spPr>
          <a:xfrm>
            <a:off x="0" y="6705600"/>
            <a:ext cx="12192000" cy="1524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数字人直播：公域与私域概念</a:t>
            </a:r>
            <a:endParaRPr lang="en-US" sz="1100"/>
          </a:p>
        </p:txBody>
      </p:sp>
      <p:sp>
        <p:nvSpPr>
          <p:cNvPr id="3" name="AutoShape 3"/>
          <p:cNvSpPr/>
          <p:nvPr/>
        </p:nvSpPr>
        <p:spPr>
          <a:xfrm>
            <a:off x="762000" y="1524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524000"/>
            <a:ext cx="5080000" cy="76200"/>
          </a:xfrm>
          <a:prstGeom prst="roundRect">
            <a:avLst>
              <a:gd name="adj" fmla="val 166666"/>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841500"/>
            <a:ext cx="406400" cy="406400"/>
          </a:xfrm>
          <a:prstGeom prst="rect">
            <a:avLst/>
          </a:prstGeom>
        </p:spPr>
      </p:pic>
      <p:sp>
        <p:nvSpPr>
          <p:cNvPr id="6" name="AutoShape 6"/>
          <p:cNvSpPr/>
          <p:nvPr/>
        </p:nvSpPr>
        <p:spPr>
          <a:xfrm>
            <a:off x="1524000" y="1778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公域流量 (Public Domain)</a:t>
            </a:r>
            <a:endParaRPr lang="en-US" sz="1100"/>
          </a:p>
        </p:txBody>
      </p:sp>
      <p:sp>
        <p:nvSpPr>
          <p:cNvPr id="7" name="AutoShape 7"/>
          <p:cNvSpPr/>
          <p:nvPr/>
        </p:nvSpPr>
        <p:spPr>
          <a:xfrm>
            <a:off x="1016000" y="2286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90A4AE"/>
                </a:solidFill>
                <a:latin typeface="Noto Sans SC"/>
                <a:ea typeface="Noto Sans SC"/>
                <a:cs typeface="Noto Sans SC"/>
                <a:sym typeface="Noto Sans SC"/>
              </a:rPr>
              <a:t>定义：</a:t>
            </a:r>
            <a:r>
              <a:rPr lang="en-US" sz="1400" b="0" i="0" u="none" strike="noStrike">
                <a:solidFill>
                  <a:srgbClr val="455A64"/>
                </a:solidFill>
                <a:latin typeface="Noto Sans SC"/>
                <a:ea typeface="Noto Sans SC"/>
                <a:cs typeface="Noto Sans SC"/>
                <a:sym typeface="Noto Sans SC"/>
              </a:rPr>
              <a:t>在公开平台（社交媒体、搜索引擎、电商平台）进行营销，面向所有公众。</a:t>
            </a:r>
            <a:endParaRPr lang="en-US" sz="1100"/>
          </a:p>
        </p:txBody>
      </p:sp>
      <p:sp>
        <p:nvSpPr>
          <p:cNvPr id="8" name="AutoShape 8"/>
          <p:cNvSpPr/>
          <p:nvPr/>
        </p:nvSpPr>
        <p:spPr>
          <a:xfrm>
            <a:off x="1016000" y="3048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90A4AE"/>
                </a:solidFill>
                <a:latin typeface="Noto Sans SC"/>
                <a:ea typeface="Noto Sans SC"/>
                <a:cs typeface="Noto Sans SC"/>
                <a:sym typeface="Noto Sans SC"/>
              </a:rPr>
              <a:t>特点：</a:t>
            </a:r>
            <a:r>
              <a:rPr lang="en-US" sz="1400" b="0" i="0" u="none" strike="noStrike">
                <a:solidFill>
                  <a:srgbClr val="455A64"/>
                </a:solidFill>
                <a:latin typeface="Noto Sans SC"/>
                <a:ea typeface="Noto Sans SC"/>
                <a:cs typeface="Noto Sans SC"/>
                <a:sym typeface="Noto Sans SC"/>
              </a:rPr>
              <a:t>覆盖面广、曝光度高，目标是吸引新用户，提升品牌知名度。</a:t>
            </a:r>
            <a:endParaRPr lang="en-US" sz="1100"/>
          </a:p>
        </p:txBody>
      </p:sp>
      <p:sp>
        <p:nvSpPr>
          <p:cNvPr id="9" name="AutoShape 9"/>
          <p:cNvSpPr/>
          <p:nvPr/>
        </p:nvSpPr>
        <p:spPr>
          <a:xfrm>
            <a:off x="1016000" y="3810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90A4AE"/>
                </a:solidFill>
                <a:latin typeface="Noto Sans SC"/>
                <a:ea typeface="Noto Sans SC"/>
                <a:cs typeface="Noto Sans SC"/>
                <a:sym typeface="Noto Sans SC"/>
              </a:rPr>
              <a:t>举例：</a:t>
            </a:r>
            <a:r>
              <a:rPr lang="en-US" sz="1400" b="0" i="0" u="none" strike="noStrike">
                <a:solidFill>
                  <a:srgbClr val="455A64"/>
                </a:solidFill>
                <a:latin typeface="Noto Sans SC"/>
                <a:ea typeface="Noto Sans SC"/>
                <a:cs typeface="Noto Sans SC"/>
                <a:sym typeface="Noto Sans SC"/>
              </a:rPr>
              <a:t>淘宝/京东广告投放、抖音/快手短视频发布。</a:t>
            </a:r>
            <a:endParaRPr lang="en-US" sz="1100"/>
          </a:p>
        </p:txBody>
      </p:sp>
      <p:sp>
        <p:nvSpPr>
          <p:cNvPr id="10" name="AutoShape 10"/>
          <p:cNvSpPr/>
          <p:nvPr/>
        </p:nvSpPr>
        <p:spPr>
          <a:xfrm>
            <a:off x="6350000" y="1524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FF9800">
                <a:alpha val="15000"/>
              </a:srgbClr>
            </a:outerShdw>
          </a:effectLst>
        </p:spPr>
        <p:txBody>
          <a:bodyPr vert="horz" wrap="square" lIns="63500" tIns="63500" rIns="63500" bIns="63500" rtlCol="0" anchor="ctr"/>
          <a:lstStyle/>
          <a:p>
            <a:pPr algn="ctr">
              <a:defRPr/>
            </a:pPr>
          </a:p>
        </p:txBody>
      </p:sp>
      <p:sp>
        <p:nvSpPr>
          <p:cNvPr id="11" name="AutoShape 11"/>
          <p:cNvSpPr/>
          <p:nvPr/>
        </p:nvSpPr>
        <p:spPr>
          <a:xfrm>
            <a:off x="6350000" y="1524000"/>
            <a:ext cx="5080000" cy="76200"/>
          </a:xfrm>
          <a:prstGeom prst="roundRect">
            <a:avLst>
              <a:gd name="adj" fmla="val 166666"/>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841500"/>
            <a:ext cx="406400" cy="406400"/>
          </a:xfrm>
          <a:prstGeom prst="rect">
            <a:avLst/>
          </a:prstGeom>
        </p:spPr>
      </p:pic>
      <p:sp>
        <p:nvSpPr>
          <p:cNvPr id="13" name="AutoShape 13"/>
          <p:cNvSpPr/>
          <p:nvPr/>
        </p:nvSpPr>
        <p:spPr>
          <a:xfrm>
            <a:off x="7112000" y="1778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9800"/>
                </a:solidFill>
                <a:latin typeface="Noto Sans SC"/>
                <a:ea typeface="Noto Sans SC"/>
                <a:cs typeface="Noto Sans SC"/>
                <a:sym typeface="Noto Sans SC"/>
              </a:rPr>
              <a:t>私域流量 (Private Domain)</a:t>
            </a:r>
            <a:endParaRPr lang="en-US" sz="1100"/>
          </a:p>
        </p:txBody>
      </p:sp>
      <p:sp>
        <p:nvSpPr>
          <p:cNvPr id="14" name="AutoShape 14"/>
          <p:cNvSpPr/>
          <p:nvPr/>
        </p:nvSpPr>
        <p:spPr>
          <a:xfrm>
            <a:off x="6604000" y="2286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90A4AE"/>
                </a:solidFill>
                <a:latin typeface="Noto Sans SC"/>
                <a:ea typeface="Noto Sans SC"/>
                <a:cs typeface="Noto Sans SC"/>
                <a:sym typeface="Noto Sans SC"/>
              </a:rPr>
              <a:t>定义：</a:t>
            </a:r>
            <a:r>
              <a:rPr lang="en-US" sz="1400" b="0" i="0" u="none" strike="noStrike">
                <a:solidFill>
                  <a:srgbClr val="455A64"/>
                </a:solidFill>
                <a:latin typeface="Noto Sans SC"/>
                <a:ea typeface="Noto Sans SC"/>
                <a:cs typeface="Noto Sans SC"/>
                <a:sym typeface="Noto Sans SC"/>
              </a:rPr>
              <a:t>在自有平台（微信社群、会员系统、品牌APP）进行营销，面向已有客户。</a:t>
            </a:r>
            <a:endParaRPr lang="en-US" sz="1100"/>
          </a:p>
        </p:txBody>
      </p:sp>
      <p:sp>
        <p:nvSpPr>
          <p:cNvPr id="15" name="AutoShape 15"/>
          <p:cNvSpPr/>
          <p:nvPr/>
        </p:nvSpPr>
        <p:spPr>
          <a:xfrm>
            <a:off x="6604000" y="3048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90A4AE"/>
                </a:solidFill>
                <a:latin typeface="Noto Sans SC"/>
                <a:ea typeface="Noto Sans SC"/>
                <a:cs typeface="Noto Sans SC"/>
                <a:sym typeface="Noto Sans SC"/>
              </a:rPr>
              <a:t>特点：</a:t>
            </a:r>
            <a:r>
              <a:rPr lang="en-US" sz="1400" b="0" i="0" u="none" strike="noStrike">
                <a:solidFill>
                  <a:srgbClr val="455A64"/>
                </a:solidFill>
                <a:latin typeface="Noto Sans SC"/>
                <a:ea typeface="Noto Sans SC"/>
                <a:cs typeface="Noto Sans SC"/>
                <a:sym typeface="Noto Sans SC"/>
              </a:rPr>
              <a:t>用户黏性高、营销精准，目标是维系老用户，提高复购率。</a:t>
            </a:r>
            <a:endParaRPr lang="en-US" sz="1100"/>
          </a:p>
        </p:txBody>
      </p:sp>
      <p:sp>
        <p:nvSpPr>
          <p:cNvPr id="16" name="AutoShape 16"/>
          <p:cNvSpPr/>
          <p:nvPr/>
        </p:nvSpPr>
        <p:spPr>
          <a:xfrm>
            <a:off x="6604000" y="3810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90A4AE"/>
                </a:solidFill>
                <a:latin typeface="Noto Sans SC"/>
                <a:ea typeface="Noto Sans SC"/>
                <a:cs typeface="Noto Sans SC"/>
                <a:sym typeface="Noto Sans SC"/>
              </a:rPr>
              <a:t>举例：</a:t>
            </a:r>
            <a:r>
              <a:rPr lang="en-US" sz="1400" b="0" i="0" u="none" strike="noStrike">
                <a:solidFill>
                  <a:srgbClr val="455A64"/>
                </a:solidFill>
                <a:latin typeface="Noto Sans SC"/>
                <a:ea typeface="Noto Sans SC"/>
                <a:cs typeface="Noto Sans SC"/>
                <a:sym typeface="Noto Sans SC"/>
              </a:rPr>
              <a:t>品牌粉丝群、会员专属优惠、邮件订阅。</a:t>
            </a:r>
            <a:endParaRPr lang="en-US" sz="1100"/>
          </a:p>
        </p:txBody>
      </p:sp>
      <p:sp>
        <p:nvSpPr>
          <p:cNvPr id="17" name="AutoShape 17"/>
          <p:cNvSpPr/>
          <p:nvPr/>
        </p:nvSpPr>
        <p:spPr>
          <a:xfrm>
            <a:off x="762000" y="5461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651500"/>
            <a:ext cx="381000" cy="381000"/>
          </a:xfrm>
          <a:prstGeom prst="rect">
            <a:avLst/>
          </a:prstGeom>
        </p:spPr>
      </p:pic>
      <p:sp>
        <p:nvSpPr>
          <p:cNvPr id="19" name="AutoShape 19"/>
          <p:cNvSpPr/>
          <p:nvPr/>
        </p:nvSpPr>
        <p:spPr>
          <a:xfrm>
            <a:off x="1524000" y="5588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核心差异：</a:t>
            </a:r>
            <a:r>
              <a:rPr lang="en-US" sz="1600" b="0" i="0" u="none" strike="noStrike">
                <a:solidFill>
                  <a:srgbClr val="455A64"/>
                </a:solidFill>
                <a:latin typeface="Noto Sans SC"/>
                <a:ea typeface="Noto Sans SC"/>
                <a:cs typeface="Noto Sans SC"/>
                <a:sym typeface="Noto Sans SC"/>
              </a:rPr>
              <a:t>公域流量追求“广度”与“曝光”，私域流量追求“深度”与“留存”。</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051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数字人直播：公域与私域流量对比</a:t>
            </a:r>
            <a:endParaRPr lang="en-US" sz="1100"/>
          </a:p>
        </p:txBody>
      </p:sp>
      <p:sp>
        <p:nvSpPr>
          <p:cNvPr id="3" name="AutoShape 3"/>
          <p:cNvSpPr/>
          <p:nvPr/>
        </p:nvSpPr>
        <p:spPr>
          <a:xfrm>
            <a:off x="762000" y="1270000"/>
            <a:ext cx="5080000" cy="4572000"/>
          </a:xfrm>
          <a:prstGeom prst="roundRect">
            <a:avLst>
              <a:gd name="adj" fmla="val 2777"/>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6350000" y="1270000"/>
            <a:ext cx="5080000" cy="4572000"/>
          </a:xfrm>
          <a:prstGeom prst="roundRect">
            <a:avLst>
              <a:gd name="adj" fmla="val 2777"/>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762000" y="1270000"/>
            <a:ext cx="5080000" cy="635000"/>
          </a:xfrm>
          <a:prstGeom prst="roundRect">
            <a:avLst>
              <a:gd name="adj" fmla="val 2000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397000"/>
            <a:ext cx="381000" cy="381000"/>
          </a:xfrm>
          <a:prstGeom prst="rect">
            <a:avLst/>
          </a:prstGeom>
        </p:spPr>
      </p:pic>
      <p:sp>
        <p:nvSpPr>
          <p:cNvPr id="7" name="AutoShape 7"/>
          <p:cNvSpPr/>
          <p:nvPr/>
        </p:nvSpPr>
        <p:spPr>
          <a:xfrm>
            <a:off x="1524000" y="1333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公域流量 (Public Domain)</a:t>
            </a:r>
            <a:endParaRPr lang="en-US" sz="1100"/>
          </a:p>
        </p:txBody>
      </p:sp>
      <p:sp>
        <p:nvSpPr>
          <p:cNvPr id="8" name="AutoShape 8"/>
          <p:cNvSpPr/>
          <p:nvPr/>
        </p:nvSpPr>
        <p:spPr>
          <a:xfrm>
            <a:off x="6350000" y="1270000"/>
            <a:ext cx="5080000" cy="635000"/>
          </a:xfrm>
          <a:prstGeom prst="roundRect">
            <a:avLst>
              <a:gd name="adj" fmla="val 20000"/>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397000"/>
            <a:ext cx="381000" cy="381000"/>
          </a:xfrm>
          <a:prstGeom prst="rect">
            <a:avLst/>
          </a:prstGeom>
        </p:spPr>
      </p:pic>
      <p:sp>
        <p:nvSpPr>
          <p:cNvPr id="10" name="AutoShape 10"/>
          <p:cNvSpPr/>
          <p:nvPr/>
        </p:nvSpPr>
        <p:spPr>
          <a:xfrm>
            <a:off x="7112000" y="1333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私域流量 (Private Domain)</a:t>
            </a:r>
            <a:endParaRPr lang="en-US" sz="1100"/>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2159000"/>
            <a:ext cx="304800" cy="304800"/>
          </a:xfrm>
          <a:prstGeom prst="rect">
            <a:avLst/>
          </a:prstGeom>
        </p:spPr>
      </p:pic>
      <p:sp>
        <p:nvSpPr>
          <p:cNvPr id="12" name="AutoShape 12"/>
          <p:cNvSpPr/>
          <p:nvPr/>
        </p:nvSpPr>
        <p:spPr>
          <a:xfrm>
            <a:off x="1397000" y="20955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广泛不特定人群</a:t>
            </a:r>
            <a:endParaRPr lang="en-US" sz="1100"/>
          </a:p>
          <a:p>
            <a:pPr indent="0" algn="l">
              <a:lnSpc>
                <a:spcPct val="125000"/>
              </a:lnSpc>
            </a:pPr>
            <a:r>
              <a:rPr lang="en-US" sz="1300" b="0" i="0" u="none" strike="noStrike">
                <a:solidFill>
                  <a:srgbClr val="90A4AE"/>
                </a:solidFill>
                <a:latin typeface="Noto Sans SC"/>
                <a:ea typeface="Noto Sans SC"/>
                <a:cs typeface="Noto Sans SC"/>
                <a:sym typeface="Noto Sans SC"/>
              </a:rPr>
              <a:t>规模大，覆盖范围广，追求曝光</a:t>
            </a:r>
            <a:endParaRPr lang="en-US" sz="1300" b="0" i="0" u="none" strike="noStrike">
              <a:solidFill>
                <a:srgbClr val="90A4AE"/>
              </a:solidFill>
              <a:latin typeface="Noto Sans SC"/>
              <a:ea typeface="Noto Sans SC"/>
              <a:cs typeface="Noto Sans SC"/>
              <a:sym typeface="Noto Sans SC"/>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2159000"/>
            <a:ext cx="304800" cy="304800"/>
          </a:xfrm>
          <a:prstGeom prst="rect">
            <a:avLst/>
          </a:prstGeom>
        </p:spPr>
      </p:pic>
      <p:sp>
        <p:nvSpPr>
          <p:cNvPr id="14" name="AutoShape 14"/>
          <p:cNvSpPr/>
          <p:nvPr/>
        </p:nvSpPr>
        <p:spPr>
          <a:xfrm>
            <a:off x="6985000" y="20955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800"/>
                </a:solidFill>
                <a:latin typeface="Noto Sans SC"/>
                <a:ea typeface="Noto Sans SC"/>
                <a:cs typeface="Noto Sans SC"/>
                <a:sym typeface="Noto Sans SC"/>
              </a:rPr>
              <a:t>特定受众/已有客户</a:t>
            </a:r>
            <a:endParaRPr lang="en-US" sz="1100"/>
          </a:p>
          <a:p>
            <a:pPr indent="0" algn="l">
              <a:lnSpc>
                <a:spcPct val="125000"/>
              </a:lnSpc>
            </a:pPr>
            <a:r>
              <a:rPr lang="en-US" sz="1300" b="0" i="0" u="none" strike="noStrike">
                <a:solidFill>
                  <a:srgbClr val="90A4AE"/>
                </a:solidFill>
                <a:latin typeface="Noto Sans SC"/>
                <a:ea typeface="Noto Sans SC"/>
                <a:cs typeface="Noto Sans SC"/>
                <a:sym typeface="Noto Sans SC"/>
              </a:rPr>
              <a:t>规模相对较小，精准度高，注重留存</a:t>
            </a:r>
            <a:endParaRPr lang="en-US" sz="1300" b="0" i="0" u="none" strike="noStrike">
              <a:solidFill>
                <a:srgbClr val="90A4AE"/>
              </a:solidFill>
              <a:latin typeface="Noto Sans SC"/>
              <a:ea typeface="Noto Sans SC"/>
              <a:cs typeface="Noto Sans SC"/>
              <a:sym typeface="Noto Sans SC"/>
            </a:endParaR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2984500"/>
            <a:ext cx="304800" cy="304800"/>
          </a:xfrm>
          <a:prstGeom prst="rect">
            <a:avLst/>
          </a:prstGeom>
        </p:spPr>
      </p:pic>
      <p:sp>
        <p:nvSpPr>
          <p:cNvPr id="16" name="AutoShape 16"/>
          <p:cNvSpPr/>
          <p:nvPr/>
        </p:nvSpPr>
        <p:spPr>
          <a:xfrm>
            <a:off x="1397000" y="29210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平台分发与广告投放</a:t>
            </a:r>
            <a:endParaRPr lang="en-US" sz="1100"/>
          </a:p>
          <a:p>
            <a:pPr indent="0" algn="l">
              <a:lnSpc>
                <a:spcPct val="125000"/>
              </a:lnSpc>
            </a:pPr>
            <a:r>
              <a:rPr lang="en-US" sz="1300" b="0" i="0" u="none" strike="noStrike">
                <a:solidFill>
                  <a:srgbClr val="90A4AE"/>
                </a:solidFill>
                <a:latin typeface="Noto Sans SC"/>
                <a:ea typeface="Noto Sans SC"/>
                <a:cs typeface="Noto Sans SC"/>
                <a:sym typeface="Noto Sans SC"/>
              </a:rPr>
              <a:t>搜索引擎、社交媒体，依赖算法推荐</a:t>
            </a:r>
            <a:endParaRPr lang="en-US" sz="1300" b="0" i="0" u="none" strike="noStrike">
              <a:solidFill>
                <a:srgbClr val="90A4AE"/>
              </a:solidFill>
              <a:latin typeface="Noto Sans SC"/>
              <a:ea typeface="Noto Sans SC"/>
              <a:cs typeface="Noto Sans SC"/>
              <a:sym typeface="Noto Sans SC"/>
            </a:endParaRPr>
          </a:p>
        </p:txBody>
      </p:sp>
      <p:pic>
        <p:nvPicPr>
          <p:cNvPr id="17" name="Picture 1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2984500"/>
            <a:ext cx="304800" cy="304800"/>
          </a:xfrm>
          <a:prstGeom prst="rect">
            <a:avLst/>
          </a:prstGeom>
        </p:spPr>
      </p:pic>
      <p:sp>
        <p:nvSpPr>
          <p:cNvPr id="18" name="AutoShape 18"/>
          <p:cNvSpPr/>
          <p:nvPr/>
        </p:nvSpPr>
        <p:spPr>
          <a:xfrm>
            <a:off x="6985000" y="29210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800"/>
                </a:solidFill>
                <a:latin typeface="Noto Sans SC"/>
                <a:ea typeface="Noto Sans SC"/>
                <a:cs typeface="Noto Sans SC"/>
                <a:sym typeface="Noto Sans SC"/>
              </a:rPr>
              <a:t>自有社群与会员体系</a:t>
            </a:r>
            <a:endParaRPr lang="en-US" sz="1100"/>
          </a:p>
          <a:p>
            <a:pPr indent="0" algn="l">
              <a:lnSpc>
                <a:spcPct val="125000"/>
              </a:lnSpc>
            </a:pPr>
            <a:r>
              <a:rPr lang="en-US" sz="1300" b="0" i="0" u="none" strike="noStrike">
                <a:solidFill>
                  <a:srgbClr val="90A4AE"/>
                </a:solidFill>
                <a:latin typeface="Noto Sans SC"/>
                <a:ea typeface="Noto Sans SC"/>
                <a:cs typeface="Noto Sans SC"/>
                <a:sym typeface="Noto Sans SC"/>
              </a:rPr>
              <a:t>品牌私域池、邮件订阅，可控性强</a:t>
            </a:r>
            <a:endParaRPr lang="en-US" sz="1300" b="0" i="0" u="none" strike="noStrike">
              <a:solidFill>
                <a:srgbClr val="90A4AE"/>
              </a:solidFill>
              <a:latin typeface="Noto Sans SC"/>
              <a:ea typeface="Noto Sans SC"/>
              <a:cs typeface="Noto Sans SC"/>
              <a:sym typeface="Noto Sans SC"/>
            </a:endParaRPr>
          </a:p>
        </p:txBody>
      </p:sp>
      <p:pic>
        <p:nvPicPr>
          <p:cNvPr id="19" name="Picture 19"/>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6000" y="3810000"/>
            <a:ext cx="304800" cy="304800"/>
          </a:xfrm>
          <a:prstGeom prst="rect">
            <a:avLst/>
          </a:prstGeom>
        </p:spPr>
      </p:pic>
      <p:sp>
        <p:nvSpPr>
          <p:cNvPr id="20" name="AutoShape 20"/>
          <p:cNvSpPr/>
          <p:nvPr/>
        </p:nvSpPr>
        <p:spPr>
          <a:xfrm>
            <a:off x="1397000" y="37465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广泛营销，追求转化</a:t>
            </a:r>
            <a:endParaRPr lang="en-US" sz="1100"/>
          </a:p>
          <a:p>
            <a:pPr indent="0" algn="l">
              <a:lnSpc>
                <a:spcPct val="125000"/>
              </a:lnSpc>
            </a:pPr>
            <a:r>
              <a:rPr lang="en-US" sz="1300" b="0" i="0" u="none" strike="noStrike">
                <a:solidFill>
                  <a:srgbClr val="90A4AE"/>
                </a:solidFill>
                <a:latin typeface="Noto Sans SC"/>
                <a:ea typeface="Noto Sans SC"/>
                <a:cs typeface="Noto Sans SC"/>
                <a:sym typeface="Noto Sans SC"/>
              </a:rPr>
              <a:t>用户价值不确定，转化周期较长，维护成本高</a:t>
            </a:r>
            <a:endParaRPr lang="en-US" sz="1300" b="0" i="0" u="none" strike="noStrike">
              <a:solidFill>
                <a:srgbClr val="90A4AE"/>
              </a:solidFill>
              <a:latin typeface="Noto Sans SC"/>
              <a:ea typeface="Noto Sans SC"/>
              <a:cs typeface="Noto Sans SC"/>
              <a:sym typeface="Noto Sans SC"/>
            </a:endParaRPr>
          </a:p>
        </p:txBody>
      </p:sp>
      <p:pic>
        <p:nvPicPr>
          <p:cNvPr id="21" name="Picture 21"/>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604000" y="3810000"/>
            <a:ext cx="304800" cy="304800"/>
          </a:xfrm>
          <a:prstGeom prst="rect">
            <a:avLst/>
          </a:prstGeom>
        </p:spPr>
      </p:pic>
      <p:sp>
        <p:nvSpPr>
          <p:cNvPr id="22" name="AutoShape 22"/>
          <p:cNvSpPr/>
          <p:nvPr/>
        </p:nvSpPr>
        <p:spPr>
          <a:xfrm>
            <a:off x="6985000" y="37465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800"/>
                </a:solidFill>
                <a:latin typeface="Noto Sans SC"/>
                <a:ea typeface="Noto Sans SC"/>
                <a:cs typeface="Noto Sans SC"/>
                <a:sym typeface="Noto Sans SC"/>
              </a:rPr>
              <a:t>深度运营，注重复购</a:t>
            </a:r>
            <a:endParaRPr lang="en-US" sz="1100"/>
          </a:p>
          <a:p>
            <a:pPr indent="0" algn="l">
              <a:lnSpc>
                <a:spcPct val="125000"/>
              </a:lnSpc>
            </a:pPr>
            <a:r>
              <a:rPr lang="en-US" sz="1300" b="0" i="0" u="none" strike="noStrike">
                <a:solidFill>
                  <a:srgbClr val="90A4AE"/>
                </a:solidFill>
                <a:latin typeface="Noto Sans SC"/>
                <a:ea typeface="Noto Sans SC"/>
                <a:cs typeface="Noto Sans SC"/>
                <a:sym typeface="Noto Sans SC"/>
              </a:rPr>
              <a:t>高客户终身价值，付费意愿强，数据集中</a:t>
            </a:r>
            <a:endParaRPr lang="en-US" sz="1300" b="0" i="0" u="none" strike="noStrike">
              <a:solidFill>
                <a:srgbClr val="90A4AE"/>
              </a:solidFill>
              <a:latin typeface="Noto Sans SC"/>
              <a:ea typeface="Noto Sans SC"/>
              <a:cs typeface="Noto Sans SC"/>
              <a:sym typeface="Noto Sans SC"/>
            </a:endParaRPr>
          </a:p>
        </p:txBody>
      </p:sp>
      <p:pic>
        <p:nvPicPr>
          <p:cNvPr id="23" name="Picture 23"/>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16000" y="4635500"/>
            <a:ext cx="304800" cy="304800"/>
          </a:xfrm>
          <a:prstGeom prst="rect">
            <a:avLst/>
          </a:prstGeom>
        </p:spPr>
      </p:pic>
      <p:sp>
        <p:nvSpPr>
          <p:cNvPr id="24" name="AutoShape 24"/>
          <p:cNvSpPr/>
          <p:nvPr/>
        </p:nvSpPr>
        <p:spPr>
          <a:xfrm>
            <a:off x="1397000" y="45720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吸引点击与留资</a:t>
            </a:r>
            <a:endParaRPr lang="en-US" sz="1100"/>
          </a:p>
          <a:p>
            <a:pPr indent="0" algn="l">
              <a:lnSpc>
                <a:spcPct val="125000"/>
              </a:lnSpc>
            </a:pPr>
            <a:r>
              <a:rPr lang="en-US" sz="1300" b="0" i="0" u="none" strike="noStrike">
                <a:solidFill>
                  <a:srgbClr val="90A4AE"/>
                </a:solidFill>
                <a:latin typeface="Noto Sans SC"/>
                <a:ea typeface="Noto Sans SC"/>
                <a:cs typeface="Noto Sans SC"/>
                <a:sym typeface="Noto Sans SC"/>
              </a:rPr>
              <a:t>强调利益点、促销活动、引导关注</a:t>
            </a:r>
            <a:endParaRPr lang="en-US" sz="1300" b="0" i="0" u="none" strike="noStrike">
              <a:solidFill>
                <a:srgbClr val="90A4AE"/>
              </a:solidFill>
              <a:latin typeface="Noto Sans SC"/>
              <a:ea typeface="Noto Sans SC"/>
              <a:cs typeface="Noto Sans SC"/>
              <a:sym typeface="Noto Sans SC"/>
            </a:endParaRPr>
          </a:p>
        </p:txBody>
      </p:sp>
      <p:pic>
        <p:nvPicPr>
          <p:cNvPr id="25" name="Picture 25"/>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604000" y="4635500"/>
            <a:ext cx="304800" cy="304800"/>
          </a:xfrm>
          <a:prstGeom prst="rect">
            <a:avLst/>
          </a:prstGeom>
        </p:spPr>
      </p:pic>
      <p:sp>
        <p:nvSpPr>
          <p:cNvPr id="26" name="AutoShape 26"/>
          <p:cNvSpPr/>
          <p:nvPr/>
        </p:nvSpPr>
        <p:spPr>
          <a:xfrm>
            <a:off x="6985000" y="45720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800"/>
                </a:solidFill>
                <a:latin typeface="Noto Sans SC"/>
                <a:ea typeface="Noto Sans SC"/>
                <a:cs typeface="Noto Sans SC"/>
                <a:sym typeface="Noto Sans SC"/>
              </a:rPr>
              <a:t>激活互动与复购</a:t>
            </a:r>
            <a:endParaRPr lang="en-US" sz="1100"/>
          </a:p>
          <a:p>
            <a:pPr indent="0" algn="l">
              <a:lnSpc>
                <a:spcPct val="125000"/>
              </a:lnSpc>
            </a:pPr>
            <a:r>
              <a:rPr lang="en-US" sz="1300" b="0" i="0" u="none" strike="noStrike">
                <a:solidFill>
                  <a:srgbClr val="90A4AE"/>
                </a:solidFill>
                <a:latin typeface="Noto Sans SC"/>
                <a:ea typeface="Noto Sans SC"/>
                <a:cs typeface="Noto Sans SC"/>
                <a:sym typeface="Noto Sans SC"/>
              </a:rPr>
              <a:t>强调服务、福利、会员专属感、促单转化</a:t>
            </a:r>
            <a:endParaRPr lang="en-US" sz="1300" b="0" i="0" u="none" strike="noStrike">
              <a:solidFill>
                <a:srgbClr val="90A4AE"/>
              </a:solidFill>
              <a:latin typeface="Noto Sans SC"/>
              <a:ea typeface="Noto Sans SC"/>
              <a:cs typeface="Noto Sans SC"/>
              <a:sym typeface="Noto Sans SC"/>
            </a:endParaRPr>
          </a:p>
        </p:txBody>
      </p:sp>
      <p:sp>
        <p:nvSpPr>
          <p:cNvPr id="27" name="AutoShape 27"/>
          <p:cNvSpPr/>
          <p:nvPr/>
        </p:nvSpPr>
        <p:spPr>
          <a:xfrm>
            <a:off x="762000" y="5969000"/>
            <a:ext cx="10668000" cy="508000"/>
          </a:xfrm>
          <a:prstGeom prst="roundRect">
            <a:avLst>
              <a:gd name="adj" fmla="val 250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1016000" y="6032500"/>
            <a:ext cx="1016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77BD"/>
                </a:solidFill>
                <a:latin typeface="Noto Sans SC"/>
                <a:ea typeface="Noto Sans SC"/>
                <a:cs typeface="Noto Sans SC"/>
                <a:sym typeface="Noto Sans SC"/>
              </a:rPr>
              <a:t>核心差异：</a:t>
            </a:r>
            <a:r>
              <a:rPr lang="en-US" sz="1400" b="0" i="0" u="none" strike="noStrike">
                <a:solidFill>
                  <a:srgbClr val="0277BD"/>
                </a:solidFill>
                <a:latin typeface="Noto Sans SC"/>
                <a:ea typeface="Noto Sans SC"/>
                <a:cs typeface="Noto Sans SC"/>
                <a:sym typeface="Noto Sans SC"/>
              </a:rPr>
              <a:t>公域流量是“广而泛”的流量获取，私域流量是“精而深”的用户运营。</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2065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12.1.1 数字人直播的台词特点 - 增长模型演变</a:t>
            </a:r>
            <a:endParaRPr lang="en-US" sz="1100"/>
          </a:p>
        </p:txBody>
      </p:sp>
      <p:sp>
        <p:nvSpPr>
          <p:cNvPr id="3" name="AutoShape 3"/>
          <p:cNvSpPr/>
          <p:nvPr/>
        </p:nvSpPr>
        <p:spPr>
          <a:xfrm>
            <a:off x="762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587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AARRR模型 (获客为先)</a:t>
            </a:r>
            <a:endParaRPr lang="en-US" sz="1100"/>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095500"/>
            <a:ext cx="254000" cy="254000"/>
          </a:xfrm>
          <a:prstGeom prst="rect">
            <a:avLst/>
          </a:prstGeom>
        </p:spPr>
      </p:pic>
      <p:sp>
        <p:nvSpPr>
          <p:cNvPr id="6" name="AutoShape 6"/>
          <p:cNvSpPr/>
          <p:nvPr/>
        </p:nvSpPr>
        <p:spPr>
          <a:xfrm>
            <a:off x="1397000" y="2057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74F"/>
                </a:solidFill>
                <a:latin typeface="Noto Sans SC"/>
                <a:ea typeface="Noto Sans SC"/>
                <a:cs typeface="Noto Sans SC"/>
                <a:sym typeface="Noto Sans SC"/>
              </a:rPr>
              <a:t>获客 (Acquisition)：</a:t>
            </a:r>
            <a:r>
              <a:rPr lang="en-US" sz="1400" b="0" i="0" u="none" strike="noStrike">
                <a:solidFill>
                  <a:srgbClr val="546E7A"/>
                </a:solidFill>
                <a:latin typeface="Noto Sans SC"/>
                <a:ea typeface="Noto Sans SC"/>
                <a:cs typeface="Noto Sans SC"/>
                <a:sym typeface="Noto Sans SC"/>
              </a:rPr>
              <a:t>获取新用户</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476500"/>
            <a:ext cx="254000" cy="254000"/>
          </a:xfrm>
          <a:prstGeom prst="rect">
            <a:avLst/>
          </a:prstGeom>
        </p:spPr>
      </p:pic>
      <p:sp>
        <p:nvSpPr>
          <p:cNvPr id="8" name="AutoShape 8"/>
          <p:cNvSpPr/>
          <p:nvPr/>
        </p:nvSpPr>
        <p:spPr>
          <a:xfrm>
            <a:off x="1397000" y="2438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74F"/>
                </a:solidFill>
                <a:latin typeface="Noto Sans SC"/>
                <a:ea typeface="Noto Sans SC"/>
                <a:cs typeface="Noto Sans SC"/>
                <a:sym typeface="Noto Sans SC"/>
              </a:rPr>
              <a:t>激活 (Activation)：</a:t>
            </a:r>
            <a:r>
              <a:rPr lang="en-US" sz="1400" b="0" i="0" u="none" strike="noStrike">
                <a:solidFill>
                  <a:srgbClr val="546E7A"/>
                </a:solidFill>
                <a:latin typeface="Noto Sans SC"/>
                <a:ea typeface="Noto Sans SC"/>
                <a:cs typeface="Noto Sans SC"/>
                <a:sym typeface="Noto Sans SC"/>
              </a:rPr>
              <a:t>引导用户首次使用</a:t>
            </a:r>
            <a:endParaRPr lang="en-US" sz="1100"/>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2857500"/>
            <a:ext cx="254000" cy="254000"/>
          </a:xfrm>
          <a:prstGeom prst="rect">
            <a:avLst/>
          </a:prstGeom>
        </p:spPr>
      </p:pic>
      <p:sp>
        <p:nvSpPr>
          <p:cNvPr id="10" name="AutoShape 10"/>
          <p:cNvSpPr/>
          <p:nvPr/>
        </p:nvSpPr>
        <p:spPr>
          <a:xfrm>
            <a:off x="1397000" y="2819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74F"/>
                </a:solidFill>
                <a:latin typeface="Noto Sans SC"/>
                <a:ea typeface="Noto Sans SC"/>
                <a:cs typeface="Noto Sans SC"/>
                <a:sym typeface="Noto Sans SC"/>
              </a:rPr>
              <a:t>留存 (Retention)：</a:t>
            </a:r>
            <a:r>
              <a:rPr lang="en-US" sz="1400" b="0" i="0" u="none" strike="noStrike">
                <a:solidFill>
                  <a:srgbClr val="546E7A"/>
                </a:solidFill>
                <a:latin typeface="Noto Sans SC"/>
                <a:ea typeface="Noto Sans SC"/>
                <a:cs typeface="Noto Sans SC"/>
                <a:sym typeface="Noto Sans SC"/>
              </a:rPr>
              <a:t>提高用户粘性</a:t>
            </a:r>
            <a:endParaRPr lang="en-US" sz="1100"/>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238500"/>
            <a:ext cx="254000" cy="254000"/>
          </a:xfrm>
          <a:prstGeom prst="rect">
            <a:avLst/>
          </a:prstGeom>
        </p:spPr>
      </p:pic>
      <p:sp>
        <p:nvSpPr>
          <p:cNvPr id="12" name="AutoShape 12"/>
          <p:cNvSpPr/>
          <p:nvPr/>
        </p:nvSpPr>
        <p:spPr>
          <a:xfrm>
            <a:off x="1397000" y="3200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74F"/>
                </a:solidFill>
                <a:latin typeface="Noto Sans SC"/>
                <a:ea typeface="Noto Sans SC"/>
                <a:cs typeface="Noto Sans SC"/>
                <a:sym typeface="Noto Sans SC"/>
              </a:rPr>
              <a:t>营收 (Revenue)：</a:t>
            </a:r>
            <a:r>
              <a:rPr lang="en-US" sz="1400" b="0" i="0" u="none" strike="noStrike">
                <a:solidFill>
                  <a:srgbClr val="546E7A"/>
                </a:solidFill>
                <a:latin typeface="Noto Sans SC"/>
                <a:ea typeface="Noto Sans SC"/>
                <a:cs typeface="Noto Sans SC"/>
                <a:sym typeface="Noto Sans SC"/>
              </a:rPr>
              <a:t>实现商业变现</a:t>
            </a:r>
            <a:endParaRPr lang="en-US" sz="1100"/>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3619500"/>
            <a:ext cx="254000" cy="254000"/>
          </a:xfrm>
          <a:prstGeom prst="rect">
            <a:avLst/>
          </a:prstGeom>
        </p:spPr>
      </p:pic>
      <p:sp>
        <p:nvSpPr>
          <p:cNvPr id="14" name="AutoShape 14"/>
          <p:cNvSpPr/>
          <p:nvPr/>
        </p:nvSpPr>
        <p:spPr>
          <a:xfrm>
            <a:off x="1397000" y="3581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74F"/>
                </a:solidFill>
                <a:latin typeface="Noto Sans SC"/>
                <a:ea typeface="Noto Sans SC"/>
                <a:cs typeface="Noto Sans SC"/>
                <a:sym typeface="Noto Sans SC"/>
              </a:rPr>
              <a:t>推荐 (Referral)：</a:t>
            </a:r>
            <a:r>
              <a:rPr lang="en-US" sz="1400" b="0" i="0" u="none" strike="noStrike">
                <a:solidFill>
                  <a:srgbClr val="546E7A"/>
                </a:solidFill>
                <a:latin typeface="Noto Sans SC"/>
                <a:ea typeface="Noto Sans SC"/>
                <a:cs typeface="Noto Sans SC"/>
                <a:sym typeface="Noto Sans SC"/>
              </a:rPr>
              <a:t>促进用户推荐</a:t>
            </a:r>
            <a:endParaRPr lang="en-US" sz="1100"/>
          </a:p>
        </p:txBody>
      </p:sp>
      <p:sp>
        <p:nvSpPr>
          <p:cNvPr id="15" name="AutoShape 15"/>
          <p:cNvSpPr/>
          <p:nvPr/>
        </p:nvSpPr>
        <p:spPr>
          <a:xfrm>
            <a:off x="952500" y="4127500"/>
            <a:ext cx="4699000" cy="635000"/>
          </a:xfrm>
          <a:prstGeom prst="roundRect">
            <a:avLst>
              <a:gd name="adj" fmla="val 10000"/>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79500" y="41910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277BD"/>
                </a:solidFill>
                <a:latin typeface="Noto Sans SC"/>
                <a:ea typeface="Noto Sans SC"/>
                <a:cs typeface="Noto Sans SC"/>
                <a:sym typeface="Noto Sans SC"/>
              </a:rPr>
              <a:t>核心理念：</a:t>
            </a:r>
            <a:r>
              <a:rPr lang="en-US" sz="1300" b="0" i="0" u="none" strike="noStrike">
                <a:solidFill>
                  <a:srgbClr val="0277BD"/>
                </a:solidFill>
                <a:latin typeface="Noto Sans SC"/>
                <a:ea typeface="Noto Sans SC"/>
                <a:cs typeface="Noto Sans SC"/>
                <a:sym typeface="Noto Sans SC"/>
              </a:rPr>
              <a:t>以快速获取大量新用户为首要目标。</a:t>
            </a:r>
            <a:endParaRPr lang="en-US" sz="1100"/>
          </a:p>
        </p:txBody>
      </p:sp>
      <p:sp>
        <p:nvSpPr>
          <p:cNvPr id="17" name="AutoShape 17"/>
          <p:cNvSpPr/>
          <p:nvPr/>
        </p:nvSpPr>
        <p:spPr>
          <a:xfrm>
            <a:off x="6350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FF9800">
                <a:alpha val="15000"/>
              </a:srgbClr>
            </a:outerShdw>
          </a:effectLst>
        </p:spPr>
        <p:txBody>
          <a:bodyPr vert="horz" wrap="square" lIns="63500" tIns="63500" rIns="63500" bIns="63500" rtlCol="0" anchor="ctr"/>
          <a:lstStyle/>
          <a:p>
            <a:pPr algn="ctr">
              <a:defRPr/>
            </a:pPr>
          </a:p>
        </p:txBody>
      </p:sp>
      <p:sp>
        <p:nvSpPr>
          <p:cNvPr id="18" name="AutoShape 18"/>
          <p:cNvSpPr/>
          <p:nvPr/>
        </p:nvSpPr>
        <p:spPr>
          <a:xfrm>
            <a:off x="6604000" y="1587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9800"/>
                </a:solidFill>
                <a:latin typeface="Noto Sans SC"/>
                <a:ea typeface="Noto Sans SC"/>
                <a:cs typeface="Noto Sans SC"/>
                <a:sym typeface="Noto Sans SC"/>
              </a:rPr>
              <a:t>RARRA模型 (留存为先)</a:t>
            </a:r>
            <a:endParaRPr lang="en-US" sz="1100"/>
          </a:p>
        </p:txBody>
      </p:sp>
      <p:pic>
        <p:nvPicPr>
          <p:cNvPr id="19" name="Picture 1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2095500"/>
            <a:ext cx="254000" cy="254000"/>
          </a:xfrm>
          <a:prstGeom prst="rect">
            <a:avLst/>
          </a:prstGeom>
        </p:spPr>
      </p:pic>
      <p:sp>
        <p:nvSpPr>
          <p:cNvPr id="20" name="AutoShape 20"/>
          <p:cNvSpPr/>
          <p:nvPr/>
        </p:nvSpPr>
        <p:spPr>
          <a:xfrm>
            <a:off x="6985000" y="2057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74F"/>
                </a:solidFill>
                <a:latin typeface="Noto Sans SC"/>
                <a:ea typeface="Noto Sans SC"/>
                <a:cs typeface="Noto Sans SC"/>
                <a:sym typeface="Noto Sans SC"/>
              </a:rPr>
              <a:t>留存 (Retention)：</a:t>
            </a:r>
            <a:r>
              <a:rPr lang="en-US" sz="1400" b="0" i="0" u="none" strike="noStrike">
                <a:solidFill>
                  <a:srgbClr val="546E7A"/>
                </a:solidFill>
                <a:latin typeface="Noto Sans SC"/>
                <a:ea typeface="Noto Sans SC"/>
                <a:cs typeface="Noto Sans SC"/>
                <a:sym typeface="Noto Sans SC"/>
              </a:rPr>
              <a:t>优先提升用户留存率</a:t>
            </a:r>
            <a:endParaRPr lang="en-US" sz="1100"/>
          </a:p>
        </p:txBody>
      </p:sp>
      <p:pic>
        <p:nvPicPr>
          <p:cNvPr id="21" name="Picture 2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04000" y="2476500"/>
            <a:ext cx="254000" cy="254000"/>
          </a:xfrm>
          <a:prstGeom prst="rect">
            <a:avLst/>
          </a:prstGeom>
        </p:spPr>
      </p:pic>
      <p:sp>
        <p:nvSpPr>
          <p:cNvPr id="22" name="AutoShape 22"/>
          <p:cNvSpPr/>
          <p:nvPr/>
        </p:nvSpPr>
        <p:spPr>
          <a:xfrm>
            <a:off x="6985000" y="2438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74F"/>
                </a:solidFill>
                <a:latin typeface="Noto Sans SC"/>
                <a:ea typeface="Noto Sans SC"/>
                <a:cs typeface="Noto Sans SC"/>
                <a:sym typeface="Noto Sans SC"/>
              </a:rPr>
              <a:t>激活 (Activation)：</a:t>
            </a:r>
            <a:r>
              <a:rPr lang="en-US" sz="1400" b="0" i="0" u="none" strike="noStrike">
                <a:solidFill>
                  <a:srgbClr val="546E7A"/>
                </a:solidFill>
                <a:latin typeface="Noto Sans SC"/>
                <a:ea typeface="Noto Sans SC"/>
                <a:cs typeface="Noto Sans SC"/>
                <a:sym typeface="Noto Sans SC"/>
              </a:rPr>
              <a:t>深度激活留存用户</a:t>
            </a:r>
            <a:endParaRPr lang="en-US" sz="1100"/>
          </a:p>
        </p:txBody>
      </p:sp>
      <p:pic>
        <p:nvPicPr>
          <p:cNvPr id="23" name="Picture 23"/>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604000" y="2857500"/>
            <a:ext cx="254000" cy="254000"/>
          </a:xfrm>
          <a:prstGeom prst="rect">
            <a:avLst/>
          </a:prstGeom>
        </p:spPr>
      </p:pic>
      <p:sp>
        <p:nvSpPr>
          <p:cNvPr id="24" name="AutoShape 24"/>
          <p:cNvSpPr/>
          <p:nvPr/>
        </p:nvSpPr>
        <p:spPr>
          <a:xfrm>
            <a:off x="6985000" y="2819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74F"/>
                </a:solidFill>
                <a:latin typeface="Noto Sans SC"/>
                <a:ea typeface="Noto Sans SC"/>
                <a:cs typeface="Noto Sans SC"/>
                <a:sym typeface="Noto Sans SC"/>
              </a:rPr>
              <a:t>推荐 (Referral)：</a:t>
            </a:r>
            <a:r>
              <a:rPr lang="en-US" sz="1400" b="0" i="0" u="none" strike="noStrike">
                <a:solidFill>
                  <a:srgbClr val="546E7A"/>
                </a:solidFill>
                <a:latin typeface="Noto Sans SC"/>
                <a:ea typeface="Noto Sans SC"/>
                <a:cs typeface="Noto Sans SC"/>
                <a:sym typeface="Noto Sans SC"/>
              </a:rPr>
              <a:t>鼓励满意用户推荐</a:t>
            </a:r>
            <a:endParaRPr lang="en-US" sz="1100"/>
          </a:p>
        </p:txBody>
      </p:sp>
      <p:pic>
        <p:nvPicPr>
          <p:cNvPr id="25" name="Picture 25"/>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604000" y="3238500"/>
            <a:ext cx="254000" cy="254000"/>
          </a:xfrm>
          <a:prstGeom prst="rect">
            <a:avLst/>
          </a:prstGeom>
        </p:spPr>
      </p:pic>
      <p:sp>
        <p:nvSpPr>
          <p:cNvPr id="26" name="AutoShape 26"/>
          <p:cNvSpPr/>
          <p:nvPr/>
        </p:nvSpPr>
        <p:spPr>
          <a:xfrm>
            <a:off x="6985000" y="3200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74F"/>
                </a:solidFill>
                <a:latin typeface="Noto Sans SC"/>
                <a:ea typeface="Noto Sans SC"/>
                <a:cs typeface="Noto Sans SC"/>
                <a:sym typeface="Noto Sans SC"/>
              </a:rPr>
              <a:t>营收 (Revenue)：</a:t>
            </a:r>
            <a:r>
              <a:rPr lang="en-US" sz="1400" b="0" i="0" u="none" strike="noStrike">
                <a:solidFill>
                  <a:srgbClr val="546E7A"/>
                </a:solidFill>
                <a:latin typeface="Noto Sans SC"/>
                <a:ea typeface="Noto Sans SC"/>
                <a:cs typeface="Noto Sans SC"/>
                <a:sym typeface="Noto Sans SC"/>
              </a:rPr>
              <a:t>从忠实用户获取收益</a:t>
            </a:r>
            <a:endParaRPr lang="en-US" sz="1100"/>
          </a:p>
        </p:txBody>
      </p:sp>
      <p:pic>
        <p:nvPicPr>
          <p:cNvPr id="27" name="Picture 27"/>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604000" y="3619500"/>
            <a:ext cx="254000" cy="254000"/>
          </a:xfrm>
          <a:prstGeom prst="rect">
            <a:avLst/>
          </a:prstGeom>
        </p:spPr>
      </p:pic>
      <p:sp>
        <p:nvSpPr>
          <p:cNvPr id="28" name="AutoShape 28"/>
          <p:cNvSpPr/>
          <p:nvPr/>
        </p:nvSpPr>
        <p:spPr>
          <a:xfrm>
            <a:off x="6985000" y="3581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74F"/>
                </a:solidFill>
                <a:latin typeface="Noto Sans SC"/>
                <a:ea typeface="Noto Sans SC"/>
                <a:cs typeface="Noto Sans SC"/>
                <a:sym typeface="Noto Sans SC"/>
              </a:rPr>
              <a:t>获客 (Acquisition)：</a:t>
            </a:r>
            <a:r>
              <a:rPr lang="en-US" sz="1400" b="0" i="0" u="none" strike="noStrike">
                <a:solidFill>
                  <a:srgbClr val="546E7A"/>
                </a:solidFill>
                <a:latin typeface="Noto Sans SC"/>
                <a:ea typeface="Noto Sans SC"/>
                <a:cs typeface="Noto Sans SC"/>
                <a:sym typeface="Noto Sans SC"/>
              </a:rPr>
              <a:t>基于推荐和口碑获客</a:t>
            </a:r>
            <a:endParaRPr lang="en-US" sz="1100"/>
          </a:p>
        </p:txBody>
      </p:sp>
      <p:sp>
        <p:nvSpPr>
          <p:cNvPr id="29" name="AutoShape 29"/>
          <p:cNvSpPr/>
          <p:nvPr/>
        </p:nvSpPr>
        <p:spPr>
          <a:xfrm>
            <a:off x="6540500" y="4127500"/>
            <a:ext cx="4699000" cy="635000"/>
          </a:xfrm>
          <a:prstGeom prst="roundRect">
            <a:avLst>
              <a:gd name="adj" fmla="val 10000"/>
            </a:avLst>
          </a:prstGeom>
          <a:solidFill>
            <a:srgbClr val="FF9800">
              <a:alpha val="1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667500" y="41910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65100"/>
                </a:solidFill>
                <a:latin typeface="Noto Sans SC"/>
                <a:ea typeface="Noto Sans SC"/>
                <a:cs typeface="Noto Sans SC"/>
                <a:sym typeface="Noto Sans SC"/>
              </a:rPr>
              <a:t>核心理念：</a:t>
            </a:r>
            <a:r>
              <a:rPr lang="en-US" sz="1300" b="0" i="0" u="none" strike="noStrike">
                <a:solidFill>
                  <a:srgbClr val="E65100"/>
                </a:solidFill>
                <a:latin typeface="Noto Sans SC"/>
                <a:ea typeface="Noto Sans SC"/>
                <a:cs typeface="Noto Sans SC"/>
                <a:sym typeface="Noto Sans SC"/>
              </a:rPr>
              <a:t>流量红利消退，重心转向用户留存，实现可持续发展。</a:t>
            </a:r>
            <a:endParaRPr lang="en-US" sz="1100"/>
          </a:p>
        </p:txBody>
      </p:sp>
      <p:sp>
        <p:nvSpPr>
          <p:cNvPr id="31" name="AutoShape 31"/>
          <p:cNvSpPr/>
          <p:nvPr/>
        </p:nvSpPr>
        <p:spPr>
          <a:xfrm>
            <a:off x="762000" y="5334000"/>
            <a:ext cx="10668000" cy="1016000"/>
          </a:xfrm>
          <a:prstGeom prst="roundRect">
            <a:avLst>
              <a:gd name="adj" fmla="val 12500"/>
            </a:avLst>
          </a:prstGeom>
          <a:solidFill>
            <a:srgbClr val="FFFFFF">
              <a:alpha val="100000"/>
            </a:srgbClr>
          </a:solidFill>
          <a:ln w="12700" cap="flat" cmpd="sng">
            <a:solidFill>
              <a:srgbClr val="90A4AE">
                <a:alpha val="100000"/>
              </a:srgbClr>
            </a:solidFill>
            <a:prstDash val="solid"/>
            <a:round/>
          </a:ln>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16000" y="5588000"/>
            <a:ext cx="508000" cy="508000"/>
          </a:xfrm>
          <a:prstGeom prst="rect">
            <a:avLst/>
          </a:prstGeom>
        </p:spPr>
      </p:pic>
      <p:sp>
        <p:nvSpPr>
          <p:cNvPr id="33" name="AutoShape 33"/>
          <p:cNvSpPr/>
          <p:nvPr/>
        </p:nvSpPr>
        <p:spPr>
          <a:xfrm>
            <a:off x="1651000" y="54610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74F"/>
                </a:solidFill>
                <a:latin typeface="Noto Sans SC"/>
                <a:ea typeface="Noto Sans SC"/>
                <a:cs typeface="Noto Sans SC"/>
                <a:sym typeface="Noto Sans SC"/>
              </a:rPr>
              <a:t>核心洞察：</a:t>
            </a:r>
            <a:endParaRPr lang="en-US" sz="1100"/>
          </a:p>
          <a:p>
            <a:pPr indent="0" algn="l">
              <a:lnSpc>
                <a:spcPct val="125000"/>
              </a:lnSpc>
            </a:pPr>
            <a:r>
              <a:rPr lang="en-US" sz="1400" b="0" i="0" u="none" strike="noStrike">
                <a:solidFill>
                  <a:srgbClr val="546E7A"/>
                </a:solidFill>
                <a:latin typeface="Noto Sans SC"/>
                <a:ea typeface="Noto Sans SC"/>
                <a:cs typeface="Noto Sans SC"/>
                <a:sym typeface="Noto Sans SC"/>
              </a:rPr>
              <a:t>在数字人直播与私域运营中，不能只关注一时的流量，更要关注如何留住用户，通过优质内容和服务建立长期关系，实现从“流量思维”到“留量思维”的转变。</a:t>
            </a:r>
            <a:endParaRPr lang="en-US" sz="1400" b="0" i="0" u="none" strike="noStrike">
              <a:solidFill>
                <a:srgbClr val="546E7A"/>
              </a:solidFill>
              <a:latin typeface="Noto Sans SC"/>
              <a:ea typeface="Noto Sans SC"/>
              <a:cs typeface="Noto Sans SC"/>
              <a:sym typeface="Noto Sans S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数字人直播：公域与私域台词对比</a:t>
            </a:r>
            <a:endParaRPr lang="en-US" sz="1100"/>
          </a:p>
        </p:txBody>
      </p:sp>
      <p:sp>
        <p:nvSpPr>
          <p:cNvPr id="3" name="AutoShape 3"/>
          <p:cNvSpPr/>
          <p:nvPr/>
        </p:nvSpPr>
        <p:spPr>
          <a:xfrm>
            <a:off x="762000" y="1270000"/>
            <a:ext cx="5080000" cy="4826000"/>
          </a:xfrm>
          <a:prstGeom prst="roundRect">
            <a:avLst>
              <a:gd name="adj" fmla="val 263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270000"/>
            <a:ext cx="5080000" cy="635000"/>
          </a:xfrm>
          <a:prstGeom prst="roundRect">
            <a:avLst>
              <a:gd name="adj" fmla="val 2000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397000"/>
            <a:ext cx="381000" cy="381000"/>
          </a:xfrm>
          <a:prstGeom prst="rect">
            <a:avLst/>
          </a:prstGeom>
        </p:spPr>
      </p:pic>
      <p:sp>
        <p:nvSpPr>
          <p:cNvPr id="6" name="AutoShape 6"/>
          <p:cNvSpPr/>
          <p:nvPr/>
        </p:nvSpPr>
        <p:spPr>
          <a:xfrm>
            <a:off x="1524000" y="1333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公域模式：流量曝光与广度</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95500"/>
            <a:ext cx="254000" cy="254000"/>
          </a:xfrm>
          <a:prstGeom prst="rect">
            <a:avLst/>
          </a:prstGeom>
        </p:spPr>
      </p:pic>
      <p:sp>
        <p:nvSpPr>
          <p:cNvPr id="8" name="AutoShape 8"/>
          <p:cNvSpPr/>
          <p:nvPr/>
        </p:nvSpPr>
        <p:spPr>
          <a:xfrm>
            <a:off x="1397000" y="2057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目标人群：全网曝光</a:t>
            </a:r>
            <a:endParaRPr lang="en-US" sz="1100"/>
          </a:p>
        </p:txBody>
      </p:sp>
      <p:sp>
        <p:nvSpPr>
          <p:cNvPr id="9" name="AutoShape 9"/>
          <p:cNvSpPr/>
          <p:nvPr/>
        </p:nvSpPr>
        <p:spPr>
          <a:xfrm>
            <a:off x="1397000" y="23876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90A4AE"/>
                </a:solidFill>
                <a:latin typeface="Noto Sans SC"/>
                <a:ea typeface="Noto Sans SC"/>
                <a:cs typeface="Noto Sans SC"/>
                <a:sym typeface="Noto Sans SC"/>
              </a:rPr>
              <a:t>面向全网用户，追求大规模曝光和高流量吸引，依赖算法推荐。</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2984500"/>
            <a:ext cx="254000" cy="254000"/>
          </a:xfrm>
          <a:prstGeom prst="rect">
            <a:avLst/>
          </a:prstGeom>
        </p:spPr>
      </p:pic>
      <p:sp>
        <p:nvSpPr>
          <p:cNvPr id="11" name="AutoShape 11"/>
          <p:cNvSpPr/>
          <p:nvPr/>
        </p:nvSpPr>
        <p:spPr>
          <a:xfrm>
            <a:off x="1397000" y="2946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内容策略：视觉冲击与卖点</a:t>
            </a:r>
            <a:endParaRPr lang="en-US" sz="1100"/>
          </a:p>
        </p:txBody>
      </p:sp>
      <p:sp>
        <p:nvSpPr>
          <p:cNvPr id="12" name="AutoShape 12"/>
          <p:cNvSpPr/>
          <p:nvPr/>
        </p:nvSpPr>
        <p:spPr>
          <a:xfrm>
            <a:off x="1397000" y="32766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90A4AE"/>
                </a:solidFill>
                <a:latin typeface="Noto Sans SC"/>
                <a:ea typeface="Noto Sans SC"/>
                <a:cs typeface="Noto Sans SC"/>
                <a:sym typeface="Noto Sans SC"/>
              </a:rPr>
              <a:t>强调品牌宣传与产品亮点，语言浅显易懂，聚焦核心卖点。</a:t>
            </a:r>
            <a:endParaRPr lang="en-US" sz="1100"/>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873500"/>
            <a:ext cx="254000" cy="254000"/>
          </a:xfrm>
          <a:prstGeom prst="rect">
            <a:avLst/>
          </a:prstGeom>
        </p:spPr>
      </p:pic>
      <p:sp>
        <p:nvSpPr>
          <p:cNvPr id="14" name="AutoShape 14"/>
          <p:cNvSpPr/>
          <p:nvPr/>
        </p:nvSpPr>
        <p:spPr>
          <a:xfrm>
            <a:off x="1397000" y="3835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互动促销：直接显性</a:t>
            </a:r>
            <a:endParaRPr lang="en-US" sz="1100"/>
          </a:p>
        </p:txBody>
      </p:sp>
      <p:sp>
        <p:nvSpPr>
          <p:cNvPr id="15" name="AutoShape 15"/>
          <p:cNvSpPr/>
          <p:nvPr/>
        </p:nvSpPr>
        <p:spPr>
          <a:xfrm>
            <a:off x="1397000" y="41656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90A4AE"/>
                </a:solidFill>
                <a:latin typeface="Noto Sans SC"/>
                <a:ea typeface="Noto Sans SC"/>
                <a:cs typeface="Noto Sans SC"/>
                <a:sym typeface="Noto Sans SC"/>
              </a:rPr>
              <a:t>互动广泛浅显，促销信息直接显眼，如限时折扣、优惠券等。</a:t>
            </a:r>
            <a:endParaRPr lang="en-US" sz="1100"/>
          </a:p>
        </p:txBody>
      </p:sp>
      <p:sp>
        <p:nvSpPr>
          <p:cNvPr id="16" name="AutoShape 16"/>
          <p:cNvSpPr/>
          <p:nvPr/>
        </p:nvSpPr>
        <p:spPr>
          <a:xfrm>
            <a:off x="6350000" y="1270000"/>
            <a:ext cx="5080000" cy="4826000"/>
          </a:xfrm>
          <a:prstGeom prst="roundRect">
            <a:avLst>
              <a:gd name="adj" fmla="val 2631"/>
            </a:avLst>
          </a:prstGeom>
          <a:solidFill>
            <a:srgbClr val="FFFFFF">
              <a:alpha val="100000"/>
            </a:srgbClr>
          </a:solidFill>
          <a:ln w="25400" cap="flat" cmpd="sng">
            <a:noFill/>
            <a:prstDash val="solid"/>
            <a:round/>
          </a:ln>
          <a:effectLst>
            <a:outerShdw blurRad="127000" dist="50800" dir="5400000" algn="tl" rotWithShape="0">
              <a:srgbClr val="FF9800">
                <a:alpha val="15000"/>
              </a:srgbClr>
            </a:outerShdw>
          </a:effectLst>
        </p:spPr>
        <p:txBody>
          <a:bodyPr vert="horz" wrap="square" lIns="63500" tIns="63500" rIns="63500" bIns="63500" rtlCol="0" anchor="ctr"/>
          <a:lstStyle/>
          <a:p>
            <a:pPr algn="ctr">
              <a:defRPr/>
            </a:pPr>
          </a:p>
        </p:txBody>
      </p:sp>
      <p:sp>
        <p:nvSpPr>
          <p:cNvPr id="17" name="AutoShape 17"/>
          <p:cNvSpPr/>
          <p:nvPr/>
        </p:nvSpPr>
        <p:spPr>
          <a:xfrm>
            <a:off x="6350000" y="1270000"/>
            <a:ext cx="5080000" cy="635000"/>
          </a:xfrm>
          <a:prstGeom prst="roundRect">
            <a:avLst>
              <a:gd name="adj" fmla="val 20000"/>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1397000"/>
            <a:ext cx="381000" cy="381000"/>
          </a:xfrm>
          <a:prstGeom prst="rect">
            <a:avLst/>
          </a:prstGeom>
        </p:spPr>
      </p:pic>
      <p:sp>
        <p:nvSpPr>
          <p:cNvPr id="19" name="AutoShape 19"/>
          <p:cNvSpPr/>
          <p:nvPr/>
        </p:nvSpPr>
        <p:spPr>
          <a:xfrm>
            <a:off x="7112000" y="1333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私域模式：深度连接与信任</a:t>
            </a:r>
            <a:endParaRPr lang="en-US" sz="1100"/>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2095500"/>
            <a:ext cx="254000" cy="254000"/>
          </a:xfrm>
          <a:prstGeom prst="rect">
            <a:avLst/>
          </a:prstGeom>
        </p:spPr>
      </p:pic>
      <p:sp>
        <p:nvSpPr>
          <p:cNvPr id="21" name="AutoShape 21"/>
          <p:cNvSpPr/>
          <p:nvPr/>
        </p:nvSpPr>
        <p:spPr>
          <a:xfrm>
            <a:off x="6985000" y="2057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800"/>
                </a:solidFill>
                <a:latin typeface="Noto Sans SC"/>
                <a:ea typeface="Noto Sans SC"/>
                <a:cs typeface="Noto Sans SC"/>
                <a:sym typeface="Noto Sans SC"/>
              </a:rPr>
              <a:t>目标人群：忠实粉丝</a:t>
            </a:r>
            <a:endParaRPr lang="en-US" sz="1100"/>
          </a:p>
        </p:txBody>
      </p:sp>
      <p:sp>
        <p:nvSpPr>
          <p:cNvPr id="22" name="AutoShape 22"/>
          <p:cNvSpPr/>
          <p:nvPr/>
        </p:nvSpPr>
        <p:spPr>
          <a:xfrm>
            <a:off x="6985000" y="23876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90A4AE"/>
                </a:solidFill>
                <a:latin typeface="Noto Sans SC"/>
                <a:ea typeface="Noto Sans SC"/>
                <a:cs typeface="Noto Sans SC"/>
                <a:sym typeface="Noto Sans SC"/>
              </a:rPr>
              <a:t>面向品牌会员与粉丝，注重深度互动和用户关系维护。</a:t>
            </a:r>
            <a:endParaRPr lang="en-US" sz="1100"/>
          </a:p>
        </p:txBody>
      </p:sp>
      <p:pic>
        <p:nvPicPr>
          <p:cNvPr id="23" name="Picture 2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04000" y="2984500"/>
            <a:ext cx="254000" cy="254000"/>
          </a:xfrm>
          <a:prstGeom prst="rect">
            <a:avLst/>
          </a:prstGeom>
        </p:spPr>
      </p:pic>
      <p:sp>
        <p:nvSpPr>
          <p:cNvPr id="24" name="AutoShape 24"/>
          <p:cNvSpPr/>
          <p:nvPr/>
        </p:nvSpPr>
        <p:spPr>
          <a:xfrm>
            <a:off x="6985000" y="2946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800"/>
                </a:solidFill>
                <a:latin typeface="Noto Sans SC"/>
                <a:ea typeface="Noto Sans SC"/>
                <a:cs typeface="Noto Sans SC"/>
                <a:sym typeface="Noto Sans SC"/>
              </a:rPr>
              <a:t>内容策略：专业深度与情感</a:t>
            </a:r>
            <a:endParaRPr lang="en-US" sz="1100"/>
          </a:p>
        </p:txBody>
      </p:sp>
      <p:sp>
        <p:nvSpPr>
          <p:cNvPr id="25" name="AutoShape 25"/>
          <p:cNvSpPr/>
          <p:nvPr/>
        </p:nvSpPr>
        <p:spPr>
          <a:xfrm>
            <a:off x="6985000" y="32766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90A4AE"/>
                </a:solidFill>
                <a:latin typeface="Noto Sans SC"/>
                <a:ea typeface="Noto Sans SC"/>
                <a:cs typeface="Noto Sans SC"/>
                <a:sym typeface="Noto Sans SC"/>
              </a:rPr>
              <a:t>内容专业深入，包含个性化建议，强调情感连接与长期价值。</a:t>
            </a:r>
            <a:endParaRPr lang="en-US" sz="1100"/>
          </a:p>
        </p:txBody>
      </p:sp>
      <p:pic>
        <p:nvPicPr>
          <p:cNvPr id="26" name="Picture 26"/>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604000" y="3873500"/>
            <a:ext cx="254000" cy="254000"/>
          </a:xfrm>
          <a:prstGeom prst="rect">
            <a:avLst/>
          </a:prstGeom>
        </p:spPr>
      </p:pic>
      <p:sp>
        <p:nvSpPr>
          <p:cNvPr id="27" name="AutoShape 27"/>
          <p:cNvSpPr/>
          <p:nvPr/>
        </p:nvSpPr>
        <p:spPr>
          <a:xfrm>
            <a:off x="6985000" y="3835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800"/>
                </a:solidFill>
                <a:latin typeface="Noto Sans SC"/>
                <a:ea typeface="Noto Sans SC"/>
                <a:cs typeface="Noto Sans SC"/>
                <a:sym typeface="Noto Sans SC"/>
              </a:rPr>
              <a:t>互动促销：专属定制</a:t>
            </a:r>
            <a:endParaRPr lang="en-US" sz="1100"/>
          </a:p>
        </p:txBody>
      </p:sp>
      <p:sp>
        <p:nvSpPr>
          <p:cNvPr id="28" name="AutoShape 28"/>
          <p:cNvSpPr/>
          <p:nvPr/>
        </p:nvSpPr>
        <p:spPr>
          <a:xfrm>
            <a:off x="6985000" y="41656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90A4AE"/>
                </a:solidFill>
                <a:latin typeface="Noto Sans SC"/>
                <a:ea typeface="Noto Sans SC"/>
                <a:cs typeface="Noto Sans SC"/>
                <a:sym typeface="Noto Sans SC"/>
              </a:rPr>
              <a:t>互动一对一，促销策略隐性定制化，提供专属福利。</a:t>
            </a:r>
            <a:endParaRPr lang="en-US" sz="1100"/>
          </a:p>
        </p:txBody>
      </p:sp>
      <p:sp>
        <p:nvSpPr>
          <p:cNvPr id="29" name="AutoShape 29"/>
          <p:cNvSpPr/>
          <p:nvPr/>
        </p:nvSpPr>
        <p:spPr>
          <a:xfrm>
            <a:off x="762000" y="5461000"/>
            <a:ext cx="10668000" cy="762000"/>
          </a:xfrm>
          <a:prstGeom prst="roundRect">
            <a:avLst>
              <a:gd name="adj" fmla="val 16666"/>
            </a:avLst>
          </a:prstGeom>
          <a:solidFill>
            <a:srgbClr val="FFFFFF">
              <a:alpha val="60000"/>
            </a:srgbClr>
          </a:solidFill>
          <a:ln w="12700" cap="flat" cmpd="sng">
            <a:solidFill>
              <a:srgbClr val="90A4AE">
                <a:alpha val="100000"/>
              </a:srgbClr>
            </a:solidFill>
            <a:prstDash val="dash"/>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16000" y="5651500"/>
            <a:ext cx="381000" cy="381000"/>
          </a:xfrm>
          <a:prstGeom prst="rect">
            <a:avLst/>
          </a:prstGeom>
        </p:spPr>
      </p:pic>
      <p:sp>
        <p:nvSpPr>
          <p:cNvPr id="31" name="AutoShape 31"/>
          <p:cNvSpPr/>
          <p:nvPr/>
        </p:nvSpPr>
        <p:spPr>
          <a:xfrm>
            <a:off x="1524000" y="5588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核心差异总结：</a:t>
            </a:r>
            <a:r>
              <a:rPr lang="en-US" sz="1400" b="0" i="0" u="none" strike="noStrike">
                <a:solidFill>
                  <a:srgbClr val="455A64"/>
                </a:solidFill>
                <a:latin typeface="Noto Sans SC"/>
                <a:ea typeface="Noto Sans SC"/>
                <a:cs typeface="Noto Sans SC"/>
                <a:sym typeface="Noto Sans SC"/>
              </a:rPr>
              <a:t>公域追求“广撒网”和“快节奏”，利用视觉和价格吸引眼球；私域注重“深耕”和“细作”，通过专业内容和情感链接建立长期信任。</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数字人直播的台词编排：从整段到分段</a:t>
            </a:r>
            <a:endParaRPr lang="en-US" sz="1100"/>
          </a:p>
        </p:txBody>
      </p:sp>
      <p:sp>
        <p:nvSpPr>
          <p:cNvPr id="3" name="AutoShape 3"/>
          <p:cNvSpPr/>
          <p:nvPr/>
        </p:nvSpPr>
        <p:spPr>
          <a:xfrm>
            <a:off x="762000" y="1524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524000"/>
            <a:ext cx="5080000" cy="609600"/>
          </a:xfrm>
          <a:prstGeom prst="roundRect">
            <a:avLst>
              <a:gd name="adj" fmla="val 20833"/>
            </a:avLst>
          </a:prstGeom>
          <a:solidFill>
            <a:srgbClr val="90A4A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651000"/>
            <a:ext cx="355600" cy="355600"/>
          </a:xfrm>
          <a:prstGeom prst="rect">
            <a:avLst/>
          </a:prstGeom>
        </p:spPr>
      </p:pic>
      <p:sp>
        <p:nvSpPr>
          <p:cNvPr id="6" name="AutoShape 6"/>
          <p:cNvSpPr/>
          <p:nvPr/>
        </p:nvSpPr>
        <p:spPr>
          <a:xfrm>
            <a:off x="1397000" y="1574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整段式台词 (传统模式)</a:t>
            </a:r>
            <a:endParaRPr lang="en-US" sz="1100"/>
          </a:p>
        </p:txBody>
      </p:sp>
      <p:sp>
        <p:nvSpPr>
          <p:cNvPr id="7" name="AutoShape 7"/>
          <p:cNvSpPr/>
          <p:nvPr/>
        </p:nvSpPr>
        <p:spPr>
          <a:xfrm>
            <a:off x="1016000" y="2286000"/>
            <a:ext cx="4572000" cy="228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0277BD"/>
                </a:solidFill>
                <a:latin typeface="Noto Sans SC"/>
                <a:ea typeface="Noto Sans SC"/>
                <a:cs typeface="Noto Sans SC"/>
                <a:sym typeface="Noto Sans SC"/>
              </a:rPr>
              <a:t>特点：</a:t>
            </a:r>
            <a:r>
              <a:rPr lang="en-US" sz="1500" b="0" i="0" u="none" strike="noStrike">
                <a:solidFill>
                  <a:srgbClr val="546E7A"/>
                </a:solidFill>
                <a:latin typeface="Noto Sans SC"/>
                <a:ea typeface="Noto Sans SC"/>
                <a:cs typeface="Noto Sans SC"/>
                <a:sym typeface="Noto Sans SC"/>
              </a:rPr>
              <a:t>将所有信息整合在一段或几段长文本中，结构松散，缺乏明确的逻辑层次。</a:t>
            </a:r>
            <a:endParaRPr lang="en-US" sz="1100"/>
          </a:p>
          <a:p>
            <a:pPr indent="0" algn="l">
              <a:lnSpc>
                <a:spcPct val="108000"/>
              </a:lnSpc>
            </a:pPr>
            <a:r>
              <a:rPr lang="en-US" sz="1600" b="1" i="0" u="none" strike="noStrike">
                <a:solidFill>
                  <a:srgbClr val="0277BD"/>
                </a:solidFill>
                <a:latin typeface="Noto Sans SC"/>
                <a:ea typeface="Noto Sans SC"/>
                <a:cs typeface="Noto Sans SC"/>
                <a:sym typeface="Noto Sans SC"/>
              </a:rPr>
              <a:t>缺点：</a:t>
            </a:r>
            <a:r>
              <a:rPr lang="en-US" sz="1500" b="0" i="0" u="none" strike="noStrike">
                <a:solidFill>
                  <a:srgbClr val="546E7A"/>
                </a:solidFill>
                <a:latin typeface="Noto Sans SC"/>
                <a:ea typeface="Noto Sans SC"/>
                <a:cs typeface="Noto Sans SC"/>
                <a:sym typeface="Noto Sans SC"/>
              </a:rPr>
              <a:t>不利于数字人主播的表达，观众难以抓住重点，也不利于后期的修改和优化。</a:t>
            </a:r>
            <a:endParaRPr lang="en-US" sz="1500" b="0" i="0" u="none" strike="noStrike">
              <a:solidFill>
                <a:srgbClr val="546E7A"/>
              </a:solidFill>
              <a:latin typeface="Noto Sans SC"/>
              <a:ea typeface="Noto Sans SC"/>
              <a:cs typeface="Noto Sans SC"/>
              <a:sym typeface="Noto Sans SC"/>
            </a:endParaRPr>
          </a:p>
        </p:txBody>
      </p:sp>
      <p:sp>
        <p:nvSpPr>
          <p:cNvPr id="8" name="AutoShape 8"/>
          <p:cNvSpPr/>
          <p:nvPr/>
        </p:nvSpPr>
        <p:spPr>
          <a:xfrm>
            <a:off x="6350000" y="1524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6350000" y="1524000"/>
            <a:ext cx="5080000" cy="609600"/>
          </a:xfrm>
          <a:prstGeom prst="roundRect">
            <a:avLst>
              <a:gd name="adj" fmla="val 20833"/>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40500" y="1651000"/>
            <a:ext cx="355600" cy="355600"/>
          </a:xfrm>
          <a:prstGeom prst="rect">
            <a:avLst/>
          </a:prstGeom>
        </p:spPr>
      </p:pic>
      <p:sp>
        <p:nvSpPr>
          <p:cNvPr id="11" name="AutoShape 11"/>
          <p:cNvSpPr/>
          <p:nvPr/>
        </p:nvSpPr>
        <p:spPr>
          <a:xfrm>
            <a:off x="6985000" y="1574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分段式台词 (推荐模式)</a:t>
            </a:r>
            <a:endParaRPr lang="en-US" sz="1100"/>
          </a:p>
        </p:txBody>
      </p:sp>
      <p:sp>
        <p:nvSpPr>
          <p:cNvPr id="12" name="AutoShape 12"/>
          <p:cNvSpPr/>
          <p:nvPr/>
        </p:nvSpPr>
        <p:spPr>
          <a:xfrm>
            <a:off x="6604000" y="2286000"/>
            <a:ext cx="4572000" cy="228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FF9800"/>
                </a:solidFill>
                <a:latin typeface="Noto Sans SC"/>
                <a:ea typeface="Noto Sans SC"/>
                <a:cs typeface="Noto Sans SC"/>
                <a:sym typeface="Noto Sans SC"/>
              </a:rPr>
              <a:t>特点：</a:t>
            </a:r>
            <a:r>
              <a:rPr lang="en-US" sz="1500" b="0" i="0" u="none" strike="noStrike">
                <a:solidFill>
                  <a:srgbClr val="546E7A"/>
                </a:solidFill>
                <a:latin typeface="Noto Sans SC"/>
                <a:ea typeface="Noto Sans SC"/>
                <a:cs typeface="Noto Sans SC"/>
                <a:sym typeface="Noto Sans SC"/>
              </a:rPr>
              <a:t>将直播内容按照逻辑结构分解为多个独立的片段，每个片段有明确的主题和功能。</a:t>
            </a:r>
            <a:endParaRPr lang="en-US" sz="1100"/>
          </a:p>
          <a:p>
            <a:pPr indent="0" algn="l">
              <a:lnSpc>
                <a:spcPct val="108000"/>
              </a:lnSpc>
            </a:pPr>
            <a:r>
              <a:rPr lang="en-US" sz="1600" b="1" i="0" u="none" strike="noStrike">
                <a:solidFill>
                  <a:srgbClr val="FF9800"/>
                </a:solidFill>
                <a:latin typeface="Noto Sans SC"/>
                <a:ea typeface="Noto Sans SC"/>
                <a:cs typeface="Noto Sans SC"/>
                <a:sym typeface="Noto Sans SC"/>
              </a:rPr>
              <a:t>优点：</a:t>
            </a:r>
            <a:r>
              <a:rPr lang="en-US" sz="1500" b="0" i="0" u="none" strike="noStrike">
                <a:solidFill>
                  <a:srgbClr val="546E7A"/>
                </a:solidFill>
                <a:latin typeface="Noto Sans SC"/>
                <a:ea typeface="Noto Sans SC"/>
                <a:cs typeface="Noto Sans SC"/>
                <a:sym typeface="Noto Sans SC"/>
              </a:rPr>
              <a:t>结构清晰，逻辑连贯，便于数字人主播按流程播报，也便于运营人员根据直播效果进行灵活调整和优化。</a:t>
            </a:r>
            <a:endParaRPr lang="en-US" sz="1500" b="0" i="0" u="none" strike="noStrike">
              <a:solidFill>
                <a:srgbClr val="546E7A"/>
              </a:solidFill>
              <a:latin typeface="Noto Sans SC"/>
              <a:ea typeface="Noto Sans SC"/>
              <a:cs typeface="Noto Sans SC"/>
              <a:sym typeface="Noto Sans SC"/>
            </a:endParaRPr>
          </a:p>
        </p:txBody>
      </p:sp>
      <p:sp>
        <p:nvSpPr>
          <p:cNvPr id="13" name="AutoShape 13"/>
          <p:cNvSpPr/>
          <p:nvPr/>
        </p:nvSpPr>
        <p:spPr>
          <a:xfrm>
            <a:off x="762000" y="5461000"/>
            <a:ext cx="10668000" cy="889000"/>
          </a:xfrm>
          <a:prstGeom prst="roundRect">
            <a:avLst>
              <a:gd name="adj" fmla="val 14285"/>
            </a:avLst>
          </a:prstGeom>
          <a:solidFill>
            <a:srgbClr val="FFFFFF">
              <a:alpha val="6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651500"/>
            <a:ext cx="508000" cy="508000"/>
          </a:xfrm>
          <a:prstGeom prst="rect">
            <a:avLst/>
          </a:prstGeom>
        </p:spPr>
      </p:pic>
      <p:sp>
        <p:nvSpPr>
          <p:cNvPr id="15" name="AutoShape 15"/>
          <p:cNvSpPr/>
          <p:nvPr/>
        </p:nvSpPr>
        <p:spPr>
          <a:xfrm>
            <a:off x="1651000" y="55880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核心策略：</a:t>
            </a:r>
            <a:r>
              <a:rPr lang="en-US" sz="1600" b="0" i="0" u="none" strike="noStrike">
                <a:solidFill>
                  <a:srgbClr val="546E7A"/>
                </a:solidFill>
                <a:latin typeface="Noto Sans SC"/>
                <a:ea typeface="Noto Sans SC"/>
                <a:cs typeface="Noto Sans SC"/>
                <a:sym typeface="Noto Sans SC"/>
              </a:rPr>
              <a:t>采用“模块化”思维，将引导、痛点、卖点、互动等环节拆解，实现精细化运营。</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12.1.2 数字人直播的台词编排 - HeyGen示例</a:t>
            </a:r>
            <a:endParaRPr lang="en-US" sz="1100"/>
          </a:p>
        </p:txBody>
      </p:sp>
      <p:sp>
        <p:nvSpPr>
          <p:cNvPr id="3" name="AutoShape 3"/>
          <p:cNvSpPr/>
          <p:nvPr/>
        </p:nvSpPr>
        <p:spPr>
          <a:xfrm>
            <a:off x="762000" y="1524000"/>
            <a:ext cx="5334000" cy="1143000"/>
          </a:xfrm>
          <a:prstGeom prst="roundRect">
            <a:avLst>
              <a:gd name="adj" fmla="val 11111"/>
            </a:avLst>
          </a:prstGeom>
          <a:solidFill>
            <a:srgbClr val="FFFFFF">
              <a:alpha val="100000"/>
            </a:srgbClr>
          </a:solidFill>
          <a:ln w="25400" cap="flat" cmpd="sng">
            <a:noFill/>
            <a:prstDash val="solid"/>
            <a:round/>
          </a:ln>
          <a:effectLst>
            <a:outerShdw blurRad="1016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6510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HeyGen分段式AI台词</a:t>
            </a:r>
            <a:endParaRPr lang="en-US" sz="1100"/>
          </a:p>
          <a:p>
            <a:pPr indent="0" algn="l">
              <a:lnSpc>
                <a:spcPct val="125000"/>
              </a:lnSpc>
            </a:pPr>
            <a:r>
              <a:rPr lang="en-US" sz="1400" b="0" i="0" u="none" strike="noStrike">
                <a:solidFill>
                  <a:srgbClr val="90A4AE"/>
                </a:solidFill>
                <a:latin typeface="Noto Sans SC"/>
                <a:ea typeface="Noto Sans SC"/>
                <a:cs typeface="Noto Sans SC"/>
                <a:sym typeface="Noto Sans SC"/>
              </a:rPr>
              <a:t>基于护手霜产品生成的实战案例，展示AI生成脚本的实际效果。</a:t>
            </a:r>
            <a:endParaRPr lang="en-US" sz="1400" b="0" i="0" u="none" strike="noStrike">
              <a:solidFill>
                <a:srgbClr val="90A4AE"/>
              </a:solidFill>
              <a:latin typeface="Noto Sans SC"/>
              <a:ea typeface="Noto Sans SC"/>
              <a:cs typeface="Noto Sans SC"/>
              <a:sym typeface="Noto Sans SC"/>
            </a:endParaRPr>
          </a:p>
        </p:txBody>
      </p:sp>
      <p:sp>
        <p:nvSpPr>
          <p:cNvPr id="6" name="AutoShape 6"/>
          <p:cNvSpPr/>
          <p:nvPr/>
        </p:nvSpPr>
        <p:spPr>
          <a:xfrm>
            <a:off x="762000" y="2857500"/>
            <a:ext cx="5334000" cy="1143000"/>
          </a:xfrm>
          <a:prstGeom prst="roundRect">
            <a:avLst>
              <a:gd name="adj" fmla="val 11111"/>
            </a:avLst>
          </a:prstGeom>
          <a:solidFill>
            <a:srgbClr val="FFFFFF">
              <a:alpha val="100000"/>
            </a:srgbClr>
          </a:solidFill>
          <a:ln w="25400" cap="flat" cmpd="sng">
            <a:noFill/>
            <a:prstDash val="solid"/>
            <a:round/>
          </a:ln>
          <a:effectLst>
            <a:outerShdw blurRad="1016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11500"/>
            <a:ext cx="406400" cy="406400"/>
          </a:xfrm>
          <a:prstGeom prst="rect">
            <a:avLst/>
          </a:prstGeom>
        </p:spPr>
      </p:pic>
      <p:sp>
        <p:nvSpPr>
          <p:cNvPr id="8" name="AutoShape 8"/>
          <p:cNvSpPr/>
          <p:nvPr/>
        </p:nvSpPr>
        <p:spPr>
          <a:xfrm>
            <a:off x="1524000" y="29845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结构化场景划分</a:t>
            </a:r>
            <a:endParaRPr lang="en-US" sz="1100"/>
          </a:p>
          <a:p>
            <a:pPr indent="0" algn="l">
              <a:lnSpc>
                <a:spcPct val="125000"/>
              </a:lnSpc>
            </a:pPr>
            <a:r>
              <a:rPr lang="en-US" sz="1400" b="0" i="0" u="none" strike="noStrike">
                <a:solidFill>
                  <a:srgbClr val="90A4AE"/>
                </a:solidFill>
                <a:latin typeface="Noto Sans SC"/>
                <a:ea typeface="Noto Sans SC"/>
                <a:cs typeface="Noto Sans SC"/>
                <a:sym typeface="Noto Sans SC"/>
              </a:rPr>
              <a:t>台词自动拆分为7个场景(SCENE)，覆盖开场、产品介绍及优惠说明等环节。</a:t>
            </a:r>
            <a:endParaRPr lang="en-US" sz="1400" b="0" i="0" u="none" strike="noStrike">
              <a:solidFill>
                <a:srgbClr val="90A4AE"/>
              </a:solidFill>
              <a:latin typeface="Noto Sans SC"/>
              <a:ea typeface="Noto Sans SC"/>
              <a:cs typeface="Noto Sans SC"/>
              <a:sym typeface="Noto Sans SC"/>
            </a:endParaRPr>
          </a:p>
        </p:txBody>
      </p:sp>
      <p:sp>
        <p:nvSpPr>
          <p:cNvPr id="9" name="AutoShape 9"/>
          <p:cNvSpPr/>
          <p:nvPr/>
        </p:nvSpPr>
        <p:spPr>
          <a:xfrm>
            <a:off x="762000" y="4191000"/>
            <a:ext cx="5334000" cy="1143000"/>
          </a:xfrm>
          <a:prstGeom prst="roundRect">
            <a:avLst>
              <a:gd name="adj" fmla="val 11111"/>
            </a:avLst>
          </a:prstGeom>
          <a:solidFill>
            <a:srgbClr val="FFFFFF">
              <a:alpha val="100000"/>
            </a:srgbClr>
          </a:solidFill>
          <a:ln w="25400" cap="flat" cmpd="sng">
            <a:noFill/>
            <a:prstDash val="solid"/>
            <a:round/>
          </a:ln>
          <a:effectLst>
            <a:outerShdw blurRad="1016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445000"/>
            <a:ext cx="406400" cy="406400"/>
          </a:xfrm>
          <a:prstGeom prst="rect">
            <a:avLst/>
          </a:prstGeom>
        </p:spPr>
      </p:pic>
      <p:sp>
        <p:nvSpPr>
          <p:cNvPr id="11" name="AutoShape 11"/>
          <p:cNvSpPr/>
          <p:nvPr/>
        </p:nvSpPr>
        <p:spPr>
          <a:xfrm>
            <a:off x="1524000" y="43180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流程清晰易复用</a:t>
            </a:r>
            <a:endParaRPr lang="en-US" sz="1100"/>
          </a:p>
          <a:p>
            <a:pPr indent="0" algn="l">
              <a:lnSpc>
                <a:spcPct val="125000"/>
              </a:lnSpc>
            </a:pPr>
            <a:r>
              <a:rPr lang="en-US" sz="1400" b="0" i="0" u="none" strike="noStrike">
                <a:solidFill>
                  <a:srgbClr val="90A4AE"/>
                </a:solidFill>
                <a:latin typeface="Noto Sans SC"/>
                <a:ea typeface="Noto Sans SC"/>
                <a:cs typeface="Noto Sans SC"/>
                <a:sym typeface="Noto Sans SC"/>
              </a:rPr>
              <a:t>分段式结构直观展示直播流程，降低理解成本，便于后续手动优化与复用。</a:t>
            </a:r>
            <a:endParaRPr lang="en-US" sz="1400" b="0" i="0" u="none" strike="noStrike">
              <a:solidFill>
                <a:srgbClr val="90A4AE"/>
              </a:solidFill>
              <a:latin typeface="Noto Sans SC"/>
              <a:ea typeface="Noto Sans SC"/>
              <a:cs typeface="Noto Sans SC"/>
              <a:sym typeface="Noto Sans SC"/>
            </a:endParaRPr>
          </a:p>
        </p:txBody>
      </p:sp>
      <p:sp>
        <p:nvSpPr>
          <p:cNvPr id="12" name="AutoShape 12"/>
          <p:cNvSpPr/>
          <p:nvPr/>
        </p:nvSpPr>
        <p:spPr>
          <a:xfrm>
            <a:off x="6350000" y="1524000"/>
            <a:ext cx="5080000" cy="2794000"/>
          </a:xfrm>
          <a:prstGeom prst="roundRect">
            <a:avLst>
              <a:gd name="adj" fmla="val 4545"/>
            </a:avLst>
          </a:prstGeom>
          <a:solidFill>
            <a:srgbClr val="FFFFFF">
              <a:alpha val="100000"/>
            </a:srgbClr>
          </a:solidFill>
          <a:ln w="25400" cap="flat" cmpd="sng">
            <a:noFill/>
            <a:prstDash val="solid"/>
            <a:round/>
          </a:ln>
          <a:effectLst>
            <a:outerShdw blurRad="127000" dist="63500" dir="5400000" algn="tl" rotWithShape="0">
              <a:srgbClr val="000000">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srcRect l="100" r="100"/>
          <a:stretch>
            <a:fillRect/>
          </a:stretch>
        </p:blipFill>
        <p:spPr>
          <a:xfrm>
            <a:off x="6477000" y="1625600"/>
            <a:ext cx="4826000" cy="2603500"/>
          </a:xfrm>
          <a:prstGeom prst="roundRect">
            <a:avLst>
              <a:gd name="adj" fmla="val 2439"/>
            </a:avLst>
          </a:prstGeom>
          <a:noFill/>
          <a:ln w="25400" cap="flat" cmpd="sng">
            <a:noFill/>
            <a:prstDash val="solid"/>
            <a:round/>
          </a:ln>
        </p:spPr>
      </p:pic>
      <p:sp>
        <p:nvSpPr>
          <p:cNvPr id="14" name="AutoShape 14"/>
          <p:cNvSpPr/>
          <p:nvPr/>
        </p:nvSpPr>
        <p:spPr>
          <a:xfrm>
            <a:off x="6350000" y="4445000"/>
            <a:ext cx="508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90A4AE"/>
                </a:solidFill>
                <a:latin typeface="Noto Sans SC"/>
                <a:ea typeface="Noto Sans SC"/>
                <a:cs typeface="Noto Sans SC"/>
                <a:sym typeface="Noto Sans SC"/>
              </a:rPr>
              <a:t>图：HeyGen平台生成的分段式AI台词界面截图</a:t>
            </a:r>
            <a:endParaRPr lang="en-US" sz="1100"/>
          </a:p>
        </p:txBody>
      </p:sp>
      <p:sp>
        <p:nvSpPr>
          <p:cNvPr id="15" name="AutoShape 15"/>
          <p:cNvSpPr/>
          <p:nvPr/>
        </p:nvSpPr>
        <p:spPr>
          <a:xfrm>
            <a:off x="762000" y="5588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5880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 核心启示：</a:t>
            </a:r>
            <a:r>
              <a:rPr lang="en-US" sz="1600" b="0" i="0" u="none" strike="noStrike">
                <a:solidFill>
                  <a:srgbClr val="546E7A"/>
                </a:solidFill>
                <a:latin typeface="Noto Sans SC"/>
                <a:ea typeface="Noto Sans SC"/>
                <a:cs typeface="Noto Sans SC"/>
                <a:sym typeface="Noto Sans SC"/>
              </a:rPr>
              <a:t>AI生成的分段式脚本为我们提供了标准化的框架，在此基础上进行个性化调整，能显著提升直播文案的创作效率。</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1074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12.1.2 数字人直播的台词编排 - 分段式撰写框架</a:t>
            </a:r>
            <a:endParaRPr lang="en-US" sz="1100"/>
          </a:p>
        </p:txBody>
      </p:sp>
      <p:sp>
        <p:nvSpPr>
          <p:cNvPr id="3" name="AutoShape 3"/>
          <p:cNvSpPr/>
          <p:nvPr/>
        </p:nvSpPr>
        <p:spPr>
          <a:xfrm>
            <a:off x="762000" y="1397000"/>
            <a:ext cx="24765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14500" y="1587500"/>
            <a:ext cx="508000" cy="508000"/>
          </a:xfrm>
          <a:prstGeom prst="rect">
            <a:avLst/>
          </a:prstGeom>
        </p:spPr>
      </p:pic>
      <p:sp>
        <p:nvSpPr>
          <p:cNvPr id="5" name="AutoShape 5"/>
          <p:cNvSpPr/>
          <p:nvPr/>
        </p:nvSpPr>
        <p:spPr>
          <a:xfrm>
            <a:off x="889000" y="2159000"/>
            <a:ext cx="22225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引导话术</a:t>
            </a:r>
            <a:endParaRPr lang="en-US" sz="1100"/>
          </a:p>
        </p:txBody>
      </p:sp>
      <p:sp>
        <p:nvSpPr>
          <p:cNvPr id="6" name="AutoShape 6"/>
          <p:cNvSpPr/>
          <p:nvPr/>
        </p:nvSpPr>
        <p:spPr>
          <a:xfrm>
            <a:off x="889000" y="2540000"/>
            <a:ext cx="22225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200" b="0" i="0" u="none" strike="noStrike">
                <a:solidFill>
                  <a:srgbClr val="90A4AE"/>
                </a:solidFill>
                <a:latin typeface="Noto Sans SC"/>
                <a:ea typeface="Noto Sans SC"/>
                <a:cs typeface="Noto Sans SC"/>
                <a:sym typeface="Noto Sans SC"/>
              </a:rPr>
              <a:t>开场白吸引观众，简明介绍主题，快速建立连接</a:t>
            </a:r>
            <a:endParaRPr lang="en-US" sz="1100"/>
          </a:p>
        </p:txBody>
      </p:sp>
      <p:sp>
        <p:nvSpPr>
          <p:cNvPr id="7" name="AutoShape 7"/>
          <p:cNvSpPr/>
          <p:nvPr/>
        </p:nvSpPr>
        <p:spPr>
          <a:xfrm>
            <a:off x="3492500" y="1397000"/>
            <a:ext cx="24765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45000" y="1587500"/>
            <a:ext cx="508000" cy="508000"/>
          </a:xfrm>
          <a:prstGeom prst="rect">
            <a:avLst/>
          </a:prstGeom>
        </p:spPr>
      </p:pic>
      <p:sp>
        <p:nvSpPr>
          <p:cNvPr id="9" name="AutoShape 9"/>
          <p:cNvSpPr/>
          <p:nvPr/>
        </p:nvSpPr>
        <p:spPr>
          <a:xfrm>
            <a:off x="3619500" y="2159000"/>
            <a:ext cx="22225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用户痛点</a:t>
            </a:r>
            <a:endParaRPr lang="en-US" sz="1100"/>
          </a:p>
        </p:txBody>
      </p:sp>
      <p:sp>
        <p:nvSpPr>
          <p:cNvPr id="10" name="AutoShape 10"/>
          <p:cNvSpPr/>
          <p:nvPr/>
        </p:nvSpPr>
        <p:spPr>
          <a:xfrm>
            <a:off x="3619500" y="2540000"/>
            <a:ext cx="22225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200" b="0" i="0" u="none" strike="noStrike">
                <a:solidFill>
                  <a:srgbClr val="90A4AE"/>
                </a:solidFill>
                <a:latin typeface="Noto Sans SC"/>
                <a:ea typeface="Noto Sans SC"/>
                <a:cs typeface="Noto Sans SC"/>
                <a:sym typeface="Noto Sans SC"/>
              </a:rPr>
              <a:t>精准放大用户痛点，引出产品提供的核心解决方案</a:t>
            </a:r>
            <a:endParaRPr lang="en-US" sz="1100"/>
          </a:p>
        </p:txBody>
      </p:sp>
      <p:sp>
        <p:nvSpPr>
          <p:cNvPr id="11" name="AutoShape 11"/>
          <p:cNvSpPr/>
          <p:nvPr/>
        </p:nvSpPr>
        <p:spPr>
          <a:xfrm>
            <a:off x="6223000" y="1397000"/>
            <a:ext cx="24765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75500" y="1587500"/>
            <a:ext cx="508000" cy="508000"/>
          </a:xfrm>
          <a:prstGeom prst="rect">
            <a:avLst/>
          </a:prstGeom>
        </p:spPr>
      </p:pic>
      <p:sp>
        <p:nvSpPr>
          <p:cNvPr id="13" name="AutoShape 13"/>
          <p:cNvSpPr/>
          <p:nvPr/>
        </p:nvSpPr>
        <p:spPr>
          <a:xfrm>
            <a:off x="6350000" y="2159000"/>
            <a:ext cx="22225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产品卖点</a:t>
            </a:r>
            <a:endParaRPr lang="en-US" sz="1100"/>
          </a:p>
        </p:txBody>
      </p:sp>
      <p:sp>
        <p:nvSpPr>
          <p:cNvPr id="14" name="AutoShape 14"/>
          <p:cNvSpPr/>
          <p:nvPr/>
        </p:nvSpPr>
        <p:spPr>
          <a:xfrm>
            <a:off x="6350000" y="2540000"/>
            <a:ext cx="22225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200" b="0" i="0" u="none" strike="noStrike">
                <a:solidFill>
                  <a:srgbClr val="90A4AE"/>
                </a:solidFill>
                <a:latin typeface="Noto Sans SC"/>
                <a:ea typeface="Noto Sans SC"/>
                <a:cs typeface="Noto Sans SC"/>
                <a:sym typeface="Noto Sans SC"/>
              </a:rPr>
              <a:t>介绍规格、成分、材质及功能，突出独特优势</a:t>
            </a:r>
            <a:endParaRPr lang="en-US" sz="1100"/>
          </a:p>
        </p:txBody>
      </p:sp>
      <p:sp>
        <p:nvSpPr>
          <p:cNvPr id="15" name="AutoShape 15"/>
          <p:cNvSpPr/>
          <p:nvPr/>
        </p:nvSpPr>
        <p:spPr>
          <a:xfrm>
            <a:off x="8953500" y="1397000"/>
            <a:ext cx="24765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906000" y="1587500"/>
            <a:ext cx="508000" cy="508000"/>
          </a:xfrm>
          <a:prstGeom prst="rect">
            <a:avLst/>
          </a:prstGeom>
        </p:spPr>
      </p:pic>
      <p:sp>
        <p:nvSpPr>
          <p:cNvPr id="17" name="AutoShape 17"/>
          <p:cNvSpPr/>
          <p:nvPr/>
        </p:nvSpPr>
        <p:spPr>
          <a:xfrm>
            <a:off x="9080500" y="2159000"/>
            <a:ext cx="22225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使用方法</a:t>
            </a:r>
            <a:endParaRPr lang="en-US" sz="1100"/>
          </a:p>
        </p:txBody>
      </p:sp>
      <p:sp>
        <p:nvSpPr>
          <p:cNvPr id="18" name="AutoShape 18"/>
          <p:cNvSpPr/>
          <p:nvPr/>
        </p:nvSpPr>
        <p:spPr>
          <a:xfrm>
            <a:off x="9080500" y="2540000"/>
            <a:ext cx="22225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200" b="0" i="0" u="none" strike="noStrike">
                <a:solidFill>
                  <a:srgbClr val="90A4AE"/>
                </a:solidFill>
                <a:latin typeface="Noto Sans SC"/>
                <a:ea typeface="Noto Sans SC"/>
                <a:cs typeface="Noto Sans SC"/>
                <a:sym typeface="Noto Sans SC"/>
              </a:rPr>
              <a:t>演示产品正确使用流程，展示具体应用场景</a:t>
            </a:r>
            <a:endParaRPr lang="en-US" sz="1100"/>
          </a:p>
        </p:txBody>
      </p:sp>
      <p:sp>
        <p:nvSpPr>
          <p:cNvPr id="19" name="AutoShape 19"/>
          <p:cNvSpPr/>
          <p:nvPr/>
        </p:nvSpPr>
        <p:spPr>
          <a:xfrm>
            <a:off x="1714500" y="3556000"/>
            <a:ext cx="24765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667000" y="3746500"/>
            <a:ext cx="508000" cy="508000"/>
          </a:xfrm>
          <a:prstGeom prst="rect">
            <a:avLst/>
          </a:prstGeom>
        </p:spPr>
      </p:pic>
      <p:sp>
        <p:nvSpPr>
          <p:cNvPr id="21" name="AutoShape 21"/>
          <p:cNvSpPr/>
          <p:nvPr/>
        </p:nvSpPr>
        <p:spPr>
          <a:xfrm>
            <a:off x="1841500" y="4318000"/>
            <a:ext cx="22225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优惠机制</a:t>
            </a:r>
            <a:endParaRPr lang="en-US" sz="1100"/>
          </a:p>
        </p:txBody>
      </p:sp>
      <p:sp>
        <p:nvSpPr>
          <p:cNvPr id="22" name="AutoShape 22"/>
          <p:cNvSpPr/>
          <p:nvPr/>
        </p:nvSpPr>
        <p:spPr>
          <a:xfrm>
            <a:off x="1841500" y="4699000"/>
            <a:ext cx="22225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200" b="0" i="0" u="none" strike="noStrike">
                <a:solidFill>
                  <a:srgbClr val="90A4AE"/>
                </a:solidFill>
                <a:latin typeface="Noto Sans SC"/>
                <a:ea typeface="Noto Sans SC"/>
                <a:cs typeface="Noto Sans SC"/>
                <a:sym typeface="Noto Sans SC"/>
              </a:rPr>
              <a:t>讲解会员价、满减活动、节日福利及周年庆政策</a:t>
            </a:r>
            <a:endParaRPr lang="en-US" sz="1100"/>
          </a:p>
        </p:txBody>
      </p:sp>
      <p:sp>
        <p:nvSpPr>
          <p:cNvPr id="23" name="AutoShape 23"/>
          <p:cNvSpPr/>
          <p:nvPr/>
        </p:nvSpPr>
        <p:spPr>
          <a:xfrm>
            <a:off x="4445000" y="3556000"/>
            <a:ext cx="24765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397500" y="3746500"/>
            <a:ext cx="508000" cy="508000"/>
          </a:xfrm>
          <a:prstGeom prst="rect">
            <a:avLst/>
          </a:prstGeom>
        </p:spPr>
      </p:pic>
      <p:sp>
        <p:nvSpPr>
          <p:cNvPr id="25" name="AutoShape 25"/>
          <p:cNvSpPr/>
          <p:nvPr/>
        </p:nvSpPr>
        <p:spPr>
          <a:xfrm>
            <a:off x="4572000" y="4318000"/>
            <a:ext cx="22225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商品促单</a:t>
            </a:r>
            <a:endParaRPr lang="en-US" sz="1100"/>
          </a:p>
        </p:txBody>
      </p:sp>
      <p:sp>
        <p:nvSpPr>
          <p:cNvPr id="26" name="AutoShape 26"/>
          <p:cNvSpPr/>
          <p:nvPr/>
        </p:nvSpPr>
        <p:spPr>
          <a:xfrm>
            <a:off x="4572000" y="4699000"/>
            <a:ext cx="22225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200" b="0" i="0" u="none" strike="noStrike">
                <a:solidFill>
                  <a:srgbClr val="90A4AE"/>
                </a:solidFill>
                <a:latin typeface="Noto Sans SC"/>
                <a:ea typeface="Noto Sans SC"/>
                <a:cs typeface="Noto Sans SC"/>
                <a:sym typeface="Noto Sans SC"/>
              </a:rPr>
              <a:t>利用口碑好评、限时折扣及稀缺性推动下单</a:t>
            </a:r>
            <a:endParaRPr lang="en-US" sz="1100"/>
          </a:p>
        </p:txBody>
      </p:sp>
      <p:sp>
        <p:nvSpPr>
          <p:cNvPr id="27" name="AutoShape 27"/>
          <p:cNvSpPr/>
          <p:nvPr/>
        </p:nvSpPr>
        <p:spPr>
          <a:xfrm>
            <a:off x="7175500" y="3556000"/>
            <a:ext cx="24765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128000" y="3746500"/>
            <a:ext cx="508000" cy="508000"/>
          </a:xfrm>
          <a:prstGeom prst="rect">
            <a:avLst/>
          </a:prstGeom>
        </p:spPr>
      </p:pic>
      <p:sp>
        <p:nvSpPr>
          <p:cNvPr id="29" name="AutoShape 29"/>
          <p:cNvSpPr/>
          <p:nvPr/>
        </p:nvSpPr>
        <p:spPr>
          <a:xfrm>
            <a:off x="7302500" y="4318000"/>
            <a:ext cx="22225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互动话术</a:t>
            </a:r>
            <a:endParaRPr lang="en-US" sz="1100"/>
          </a:p>
        </p:txBody>
      </p:sp>
      <p:sp>
        <p:nvSpPr>
          <p:cNvPr id="30" name="AutoShape 30"/>
          <p:cNvSpPr/>
          <p:nvPr/>
        </p:nvSpPr>
        <p:spPr>
          <a:xfrm>
            <a:off x="7302500" y="4699000"/>
            <a:ext cx="22225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200" b="0" i="0" u="none" strike="noStrike">
                <a:solidFill>
                  <a:srgbClr val="90A4AE"/>
                </a:solidFill>
                <a:latin typeface="Noto Sans SC"/>
                <a:ea typeface="Noto Sans SC"/>
                <a:cs typeface="Noto Sans SC"/>
                <a:sym typeface="Noto Sans SC"/>
              </a:rPr>
              <a:t>强调实时互动，真实回应评论区问题，增加信任</a:t>
            </a:r>
            <a:endParaRPr lang="en-US" sz="1100"/>
          </a:p>
        </p:txBody>
      </p:sp>
      <p:sp>
        <p:nvSpPr>
          <p:cNvPr id="31" name="AutoShape 31"/>
          <p:cNvSpPr/>
          <p:nvPr/>
        </p:nvSpPr>
        <p:spPr>
          <a:xfrm>
            <a:off x="762000" y="5715000"/>
            <a:ext cx="10668000" cy="508000"/>
          </a:xfrm>
          <a:prstGeom prst="roundRect">
            <a:avLst>
              <a:gd name="adj" fmla="val 250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1016000" y="5778500"/>
            <a:ext cx="1016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77BD"/>
                </a:solidFill>
                <a:latin typeface="Noto Sans SC"/>
                <a:ea typeface="Noto Sans SC"/>
                <a:cs typeface="Noto Sans SC"/>
                <a:sym typeface="Noto Sans SC"/>
              </a:rPr>
              <a:t>总结：通过标准化的七个模块分段撰写，可快速构建逻辑严密、转化高效的数字人直播脚本。</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数字人直播防封策略：平台态度</a:t>
            </a:r>
            <a:endParaRPr lang="en-US" sz="1100"/>
          </a:p>
        </p:txBody>
      </p:sp>
      <p:sp>
        <p:nvSpPr>
          <p:cNvPr id="3" name="AutoShape 3"/>
          <p:cNvSpPr/>
          <p:nvPr/>
        </p:nvSpPr>
        <p:spPr>
          <a:xfrm>
            <a:off x="762000" y="1397000"/>
            <a:ext cx="3302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87500"/>
            <a:ext cx="304800" cy="304800"/>
          </a:xfrm>
          <a:prstGeom prst="rect">
            <a:avLst/>
          </a:prstGeom>
        </p:spPr>
      </p:pic>
      <p:sp>
        <p:nvSpPr>
          <p:cNvPr id="5" name="AutoShape 5"/>
          <p:cNvSpPr/>
          <p:nvPr/>
        </p:nvSpPr>
        <p:spPr>
          <a:xfrm>
            <a:off x="1397000" y="1549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货架电商平台</a:t>
            </a:r>
            <a:endParaRPr lang="en-US" sz="1100"/>
          </a:p>
        </p:txBody>
      </p:sp>
      <p:sp>
        <p:nvSpPr>
          <p:cNvPr id="6" name="AutoShape 6"/>
          <p:cNvSpPr/>
          <p:nvPr/>
        </p:nvSpPr>
        <p:spPr>
          <a:xfrm>
            <a:off x="952500" y="2032000"/>
            <a:ext cx="2921000" cy="1651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212121"/>
                </a:solidFill>
                <a:latin typeface="Noto Sans SC"/>
                <a:ea typeface="Noto Sans SC"/>
                <a:cs typeface="Noto Sans SC"/>
                <a:sym typeface="Noto Sans SC"/>
              </a:rPr>
              <a:t>京东：</a:t>
            </a:r>
            <a:r>
              <a:rPr lang="en-US" sz="1300" b="0" i="0" u="none" strike="noStrike">
                <a:solidFill>
                  <a:srgbClr val="90A4AE"/>
                </a:solidFill>
                <a:latin typeface="Noto Sans SC"/>
                <a:ea typeface="Noto Sans SC"/>
                <a:cs typeface="Noto Sans SC"/>
                <a:sym typeface="Noto Sans SC"/>
              </a:rPr>
              <a:t>鼓励私域直播，积极促进行业发展。</a:t>
            </a:r>
            <a:endParaRPr lang="en-US" sz="1100"/>
          </a:p>
          <a:p>
            <a:pPr indent="0" algn="l">
              <a:lnSpc>
                <a:spcPct val="108000"/>
              </a:lnSpc>
            </a:pPr>
            <a:r>
              <a:rPr lang="en-US" sz="1400" b="1" i="0" u="none" strike="noStrike">
                <a:solidFill>
                  <a:srgbClr val="212121"/>
                </a:solidFill>
                <a:latin typeface="Noto Sans SC"/>
                <a:ea typeface="Noto Sans SC"/>
                <a:cs typeface="Noto Sans SC"/>
                <a:sym typeface="Noto Sans SC"/>
              </a:rPr>
              <a:t>淘宝：</a:t>
            </a:r>
            <a:r>
              <a:rPr lang="en-US" sz="1300" b="0" i="0" u="none" strike="noStrike">
                <a:solidFill>
                  <a:srgbClr val="90A4AE"/>
                </a:solidFill>
                <a:latin typeface="Noto Sans SC"/>
                <a:ea typeface="Noto Sans SC"/>
                <a:cs typeface="Noto Sans SC"/>
                <a:sym typeface="Noto Sans SC"/>
              </a:rPr>
              <a:t>支持私域直播，技术方案相对受限。</a:t>
            </a:r>
            <a:endParaRPr lang="en-US" sz="1300" b="0" i="0" u="none" strike="noStrike">
              <a:solidFill>
                <a:srgbClr val="90A4AE"/>
              </a:solidFill>
              <a:latin typeface="Noto Sans SC"/>
              <a:ea typeface="Noto Sans SC"/>
              <a:cs typeface="Noto Sans SC"/>
              <a:sym typeface="Noto Sans SC"/>
            </a:endParaRPr>
          </a:p>
          <a:p>
            <a:pPr indent="0" algn="l">
              <a:lnSpc>
                <a:spcPct val="108000"/>
              </a:lnSpc>
            </a:pPr>
            <a:r>
              <a:rPr lang="en-US" sz="1400" b="1" i="0" u="none" strike="noStrike">
                <a:solidFill>
                  <a:srgbClr val="212121"/>
                </a:solidFill>
                <a:latin typeface="Noto Sans SC"/>
                <a:ea typeface="Noto Sans SC"/>
                <a:cs typeface="Noto Sans SC"/>
                <a:sym typeface="Noto Sans SC"/>
              </a:rPr>
              <a:t>唯品会：</a:t>
            </a:r>
            <a:r>
              <a:rPr lang="en-US" sz="1300" b="0" i="0" u="none" strike="noStrike">
                <a:solidFill>
                  <a:srgbClr val="90A4AE"/>
                </a:solidFill>
                <a:latin typeface="Noto Sans SC"/>
                <a:ea typeface="Noto Sans SC"/>
                <a:cs typeface="Noto Sans SC"/>
                <a:sym typeface="Noto Sans SC"/>
              </a:rPr>
              <a:t>明确支持数字人私域直播。</a:t>
            </a:r>
            <a:endParaRPr lang="en-US" sz="1300" b="0" i="0" u="none" strike="noStrike">
              <a:solidFill>
                <a:srgbClr val="90A4AE"/>
              </a:solidFill>
              <a:latin typeface="Noto Sans SC"/>
              <a:ea typeface="Noto Sans SC"/>
              <a:cs typeface="Noto Sans SC"/>
              <a:sym typeface="Noto Sans SC"/>
            </a:endParaRPr>
          </a:p>
        </p:txBody>
      </p:sp>
      <p:sp>
        <p:nvSpPr>
          <p:cNvPr id="7" name="AutoShape 7"/>
          <p:cNvSpPr/>
          <p:nvPr/>
        </p:nvSpPr>
        <p:spPr>
          <a:xfrm>
            <a:off x="4445000" y="1397000"/>
            <a:ext cx="3302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FF9800">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587500"/>
            <a:ext cx="304800" cy="304800"/>
          </a:xfrm>
          <a:prstGeom prst="rect">
            <a:avLst/>
          </a:prstGeom>
        </p:spPr>
      </p:pic>
      <p:sp>
        <p:nvSpPr>
          <p:cNvPr id="9" name="AutoShape 9"/>
          <p:cNvSpPr/>
          <p:nvPr/>
        </p:nvSpPr>
        <p:spPr>
          <a:xfrm>
            <a:off x="5080000" y="1549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9800"/>
                </a:solidFill>
                <a:latin typeface="Noto Sans SC"/>
                <a:ea typeface="Noto Sans SC"/>
                <a:cs typeface="Noto Sans SC"/>
                <a:sym typeface="Noto Sans SC"/>
              </a:rPr>
              <a:t>兴趣电商平台</a:t>
            </a:r>
            <a:endParaRPr lang="en-US" sz="1100"/>
          </a:p>
        </p:txBody>
      </p:sp>
      <p:sp>
        <p:nvSpPr>
          <p:cNvPr id="10" name="AutoShape 10"/>
          <p:cNvSpPr/>
          <p:nvPr/>
        </p:nvSpPr>
        <p:spPr>
          <a:xfrm>
            <a:off x="4635500" y="2032000"/>
            <a:ext cx="2921000" cy="1651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212121"/>
                </a:solidFill>
                <a:latin typeface="Noto Sans SC"/>
                <a:ea typeface="Noto Sans SC"/>
                <a:cs typeface="Noto Sans SC"/>
                <a:sym typeface="Noto Sans SC"/>
              </a:rPr>
              <a:t>抖音：</a:t>
            </a:r>
            <a:r>
              <a:rPr lang="en-US" sz="1300" b="0" i="0" u="none" strike="noStrike">
                <a:solidFill>
                  <a:srgbClr val="90A4AE"/>
                </a:solidFill>
                <a:latin typeface="Noto Sans SC"/>
                <a:ea typeface="Noto Sans SC"/>
                <a:cs typeface="Noto Sans SC"/>
                <a:sym typeface="Noto Sans SC"/>
              </a:rPr>
              <a:t>既鼓励又限制，要求真人实时互动，内容不重复。</a:t>
            </a:r>
            <a:endParaRPr lang="en-US" sz="1100"/>
          </a:p>
          <a:p>
            <a:pPr indent="0" algn="l">
              <a:lnSpc>
                <a:spcPct val="108000"/>
              </a:lnSpc>
            </a:pPr>
            <a:r>
              <a:rPr lang="en-US" sz="1400" b="1" i="0" u="none" strike="noStrike">
                <a:solidFill>
                  <a:srgbClr val="212121"/>
                </a:solidFill>
                <a:latin typeface="Noto Sans SC"/>
                <a:ea typeface="Noto Sans SC"/>
                <a:cs typeface="Noto Sans SC"/>
                <a:sym typeface="Noto Sans SC"/>
              </a:rPr>
              <a:t>快手：</a:t>
            </a:r>
            <a:r>
              <a:rPr lang="en-US" sz="1300" b="0" i="0" u="none" strike="noStrike">
                <a:solidFill>
                  <a:srgbClr val="90A4AE"/>
                </a:solidFill>
                <a:latin typeface="Noto Sans SC"/>
                <a:ea typeface="Noto Sans SC"/>
                <a:cs typeface="Noto Sans SC"/>
                <a:sym typeface="Noto Sans SC"/>
              </a:rPr>
              <a:t>减少对数字人直播流量的扶持力度。</a:t>
            </a:r>
            <a:endParaRPr lang="en-US" sz="1300" b="0" i="0" u="none" strike="noStrike">
              <a:solidFill>
                <a:srgbClr val="90A4AE"/>
              </a:solidFill>
              <a:latin typeface="Noto Sans SC"/>
              <a:ea typeface="Noto Sans SC"/>
              <a:cs typeface="Noto Sans SC"/>
              <a:sym typeface="Noto Sans SC"/>
            </a:endParaRPr>
          </a:p>
          <a:p>
            <a:pPr indent="0" algn="l">
              <a:lnSpc>
                <a:spcPct val="108000"/>
              </a:lnSpc>
            </a:pPr>
            <a:r>
              <a:rPr lang="en-US" sz="1400" b="1" i="0" u="none" strike="noStrike">
                <a:solidFill>
                  <a:srgbClr val="212121"/>
                </a:solidFill>
                <a:latin typeface="Noto Sans SC"/>
                <a:ea typeface="Noto Sans SC"/>
                <a:cs typeface="Noto Sans SC"/>
                <a:sym typeface="Noto Sans SC"/>
              </a:rPr>
              <a:t>视频号：</a:t>
            </a:r>
            <a:r>
              <a:rPr lang="en-US" sz="1300" b="0" i="0" u="none" strike="noStrike">
                <a:solidFill>
                  <a:srgbClr val="90A4AE"/>
                </a:solidFill>
                <a:latin typeface="Noto Sans SC"/>
                <a:ea typeface="Noto Sans SC"/>
                <a:cs typeface="Noto Sans SC"/>
                <a:sym typeface="Noto Sans SC"/>
              </a:rPr>
              <a:t>目前对数字人直播做出明确禁止规则。</a:t>
            </a:r>
            <a:endParaRPr lang="en-US" sz="1300" b="0" i="0" u="none" strike="noStrike">
              <a:solidFill>
                <a:srgbClr val="90A4AE"/>
              </a:solidFill>
              <a:latin typeface="Noto Sans SC"/>
              <a:ea typeface="Noto Sans SC"/>
              <a:cs typeface="Noto Sans SC"/>
              <a:sym typeface="Noto Sans SC"/>
            </a:endParaRPr>
          </a:p>
        </p:txBody>
      </p:sp>
      <p:sp>
        <p:nvSpPr>
          <p:cNvPr id="11" name="AutoShape 11"/>
          <p:cNvSpPr/>
          <p:nvPr/>
        </p:nvSpPr>
        <p:spPr>
          <a:xfrm>
            <a:off x="8128000" y="1397000"/>
            <a:ext cx="3302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90A4AE">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587500"/>
            <a:ext cx="304800" cy="304800"/>
          </a:xfrm>
          <a:prstGeom prst="rect">
            <a:avLst/>
          </a:prstGeom>
        </p:spPr>
      </p:pic>
      <p:sp>
        <p:nvSpPr>
          <p:cNvPr id="13" name="AutoShape 13"/>
          <p:cNvSpPr/>
          <p:nvPr/>
        </p:nvSpPr>
        <p:spPr>
          <a:xfrm>
            <a:off x="8763000" y="1549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90A4AE"/>
                </a:solidFill>
                <a:latin typeface="Noto Sans SC"/>
                <a:ea typeface="Noto Sans SC"/>
                <a:cs typeface="Noto Sans SC"/>
                <a:sym typeface="Noto Sans SC"/>
              </a:rPr>
              <a:t>其他类型平台</a:t>
            </a:r>
            <a:endParaRPr lang="en-US" sz="1100"/>
          </a:p>
        </p:txBody>
      </p:sp>
      <p:sp>
        <p:nvSpPr>
          <p:cNvPr id="14" name="AutoShape 14"/>
          <p:cNvSpPr/>
          <p:nvPr/>
        </p:nvSpPr>
        <p:spPr>
          <a:xfrm>
            <a:off x="8318500" y="2032000"/>
            <a:ext cx="2921000" cy="1651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212121"/>
                </a:solidFill>
                <a:latin typeface="Noto Sans SC"/>
                <a:ea typeface="Noto Sans SC"/>
                <a:cs typeface="Noto Sans SC"/>
                <a:sym typeface="Noto Sans SC"/>
              </a:rPr>
              <a:t>美团：</a:t>
            </a:r>
            <a:r>
              <a:rPr lang="en-US" sz="1300" b="0" i="0" u="none" strike="noStrike">
                <a:solidFill>
                  <a:srgbClr val="90A4AE"/>
                </a:solidFill>
                <a:latin typeface="Noto Sans SC"/>
                <a:ea typeface="Noto Sans SC"/>
                <a:cs typeface="Noto Sans SC"/>
                <a:sym typeface="Noto Sans SC"/>
              </a:rPr>
              <a:t>鼓励使用数字人直播，积极赋能本地生活服务。</a:t>
            </a:r>
            <a:endParaRPr lang="en-US" sz="1100"/>
          </a:p>
          <a:p>
            <a:pPr indent="0" algn="l">
              <a:lnSpc>
                <a:spcPct val="108000"/>
              </a:lnSpc>
            </a:pPr>
            <a:r>
              <a:rPr lang="en-US" sz="1400" b="1" i="0" u="none" strike="noStrike">
                <a:solidFill>
                  <a:srgbClr val="212121"/>
                </a:solidFill>
                <a:latin typeface="Noto Sans SC"/>
                <a:ea typeface="Noto Sans SC"/>
                <a:cs typeface="Noto Sans SC"/>
                <a:sym typeface="Noto Sans SC"/>
              </a:rPr>
              <a:t>小红书：</a:t>
            </a:r>
            <a:r>
              <a:rPr lang="en-US" sz="1300" b="0" i="0" u="none" strike="noStrike">
                <a:solidFill>
                  <a:srgbClr val="90A4AE"/>
                </a:solidFill>
                <a:latin typeface="Noto Sans SC"/>
                <a:ea typeface="Noto Sans SC"/>
                <a:cs typeface="Noto Sans SC"/>
                <a:sym typeface="Noto Sans SC"/>
              </a:rPr>
              <a:t>不鼓励也不限制，暂未推出明确的相关规则。</a:t>
            </a:r>
            <a:endParaRPr lang="en-US" sz="1300" b="0" i="0" u="none" strike="noStrike">
              <a:solidFill>
                <a:srgbClr val="90A4AE"/>
              </a:solidFill>
              <a:latin typeface="Noto Sans SC"/>
              <a:ea typeface="Noto Sans SC"/>
              <a:cs typeface="Noto Sans SC"/>
              <a:sym typeface="Noto Sans SC"/>
            </a:endParaRPr>
          </a:p>
        </p:txBody>
      </p:sp>
      <p:sp>
        <p:nvSpPr>
          <p:cNvPr id="15" name="AutoShape 15"/>
          <p:cNvSpPr/>
          <p:nvPr/>
        </p:nvSpPr>
        <p:spPr>
          <a:xfrm>
            <a:off x="762000" y="4318000"/>
            <a:ext cx="10668000" cy="1524000"/>
          </a:xfrm>
          <a:prstGeom prst="roundRect">
            <a:avLst>
              <a:gd name="adj" fmla="val 8333"/>
            </a:avLst>
          </a:prstGeom>
          <a:solidFill>
            <a:srgbClr val="FFFFFF">
              <a:alpha val="6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508500"/>
            <a:ext cx="355600" cy="355600"/>
          </a:xfrm>
          <a:prstGeom prst="rect">
            <a:avLst/>
          </a:prstGeom>
        </p:spPr>
      </p:pic>
      <p:sp>
        <p:nvSpPr>
          <p:cNvPr id="17" name="AutoShape 17"/>
          <p:cNvSpPr/>
          <p:nvPr/>
        </p:nvSpPr>
        <p:spPr>
          <a:xfrm>
            <a:off x="1524000" y="4445000"/>
            <a:ext cx="9652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0277BD"/>
                </a:solidFill>
                <a:latin typeface="Noto Sans SC"/>
                <a:ea typeface="Noto Sans SC"/>
                <a:cs typeface="Noto Sans SC"/>
                <a:sym typeface="Noto Sans SC"/>
              </a:rPr>
              <a:t>策略建议：</a:t>
            </a:r>
            <a:endParaRPr lang="en-US" sz="1100"/>
          </a:p>
          <a:p>
            <a:pPr indent="0" algn="l">
              <a:lnSpc>
                <a:spcPct val="117000"/>
              </a:lnSpc>
            </a:pPr>
            <a:r>
              <a:rPr lang="en-US" sz="1400" b="0" i="0" u="none" strike="noStrike">
                <a:solidFill>
                  <a:srgbClr val="424242"/>
                </a:solidFill>
                <a:latin typeface="Noto Sans SC"/>
                <a:ea typeface="Noto Sans SC"/>
                <a:cs typeface="Noto Sans SC"/>
                <a:sym typeface="Noto Sans SC"/>
              </a:rPr>
              <a:t>1.</a:t>
            </a:r>
            <a:r>
              <a:rPr lang="en-US" sz="1400" b="1" i="0" u="none" strike="noStrike">
                <a:solidFill>
                  <a:srgbClr val="424242"/>
                </a:solidFill>
                <a:latin typeface="Noto Sans SC"/>
                <a:ea typeface="Noto Sans SC"/>
                <a:cs typeface="Noto Sans SC"/>
                <a:sym typeface="Noto Sans SC"/>
              </a:rPr>
              <a:t>优先选择</a:t>
            </a:r>
            <a:r>
              <a:rPr lang="en-US" sz="1400" b="0" i="0" u="none" strike="noStrike">
                <a:solidFill>
                  <a:srgbClr val="424242"/>
                </a:solidFill>
                <a:latin typeface="Noto Sans SC"/>
                <a:ea typeface="Noto Sans SC"/>
                <a:cs typeface="Noto Sans SC"/>
                <a:sym typeface="Noto Sans SC"/>
              </a:rPr>
              <a:t>：京东、淘宝、美团等对数字人持开放态度的平台，合规风险较低。</a:t>
            </a:r>
            <a:endParaRPr lang="en-US" sz="1400" b="0" i="0" u="none" strike="noStrike">
              <a:solidFill>
                <a:srgbClr val="424242"/>
              </a:solidFill>
              <a:latin typeface="Noto Sans SC"/>
              <a:ea typeface="Noto Sans SC"/>
              <a:cs typeface="Noto Sans SC"/>
              <a:sym typeface="Noto Sans SC"/>
            </a:endParaRPr>
          </a:p>
          <a:p>
            <a:pPr indent="0" algn="l">
              <a:lnSpc>
                <a:spcPct val="117000"/>
              </a:lnSpc>
            </a:pPr>
            <a:r>
              <a:rPr lang="en-US" sz="1400" b="0" i="0" u="none" strike="noStrike">
                <a:solidFill>
                  <a:srgbClr val="424242"/>
                </a:solidFill>
                <a:latin typeface="Noto Sans SC"/>
                <a:ea typeface="Noto Sans SC"/>
                <a:cs typeface="Noto Sans SC"/>
                <a:sym typeface="Noto Sans SC"/>
              </a:rPr>
              <a:t>2.</a:t>
            </a:r>
            <a:r>
              <a:rPr lang="en-US" sz="1400" b="1" i="0" u="none" strike="noStrike">
                <a:solidFill>
                  <a:srgbClr val="424242"/>
                </a:solidFill>
                <a:latin typeface="Noto Sans SC"/>
                <a:ea typeface="Noto Sans SC"/>
                <a:cs typeface="Noto Sans SC"/>
                <a:sym typeface="Noto Sans SC"/>
              </a:rPr>
              <a:t>谨慎选择</a:t>
            </a:r>
            <a:r>
              <a:rPr lang="en-US" sz="1400" b="0" i="0" u="none" strike="noStrike">
                <a:solidFill>
                  <a:srgbClr val="424242"/>
                </a:solidFill>
                <a:latin typeface="Noto Sans SC"/>
                <a:ea typeface="Noto Sans SC"/>
                <a:cs typeface="Noto Sans SC"/>
                <a:sym typeface="Noto Sans SC"/>
              </a:rPr>
              <a:t>：抖音、视频号等兴趣平台，需严格遵守“真人实时互动”规则，避免纯AI直播导致限流或封号。</a:t>
            </a:r>
            <a:endParaRPr lang="en-US" sz="1400" b="0" i="0" u="none" strike="noStrike">
              <a:solidFill>
                <a:srgbClr val="424242"/>
              </a:solidFill>
              <a:latin typeface="Noto Sans SC"/>
              <a:ea typeface="Noto Sans SC"/>
              <a:cs typeface="Noto Sans SC"/>
              <a:sym typeface="Noto Sans SC"/>
            </a:endParaRPr>
          </a:p>
          <a:p>
            <a:pPr indent="0" algn="l">
              <a:lnSpc>
                <a:spcPct val="117000"/>
              </a:lnSpc>
            </a:pPr>
            <a:r>
              <a:rPr lang="en-US" sz="1400" b="0" i="0" u="none" strike="noStrike">
                <a:solidFill>
                  <a:srgbClr val="424242"/>
                </a:solidFill>
                <a:latin typeface="Noto Sans SC"/>
                <a:ea typeface="Noto Sans SC"/>
                <a:cs typeface="Noto Sans SC"/>
                <a:sym typeface="Noto Sans SC"/>
              </a:rPr>
              <a:t>3.</a:t>
            </a:r>
            <a:r>
              <a:rPr lang="en-US" sz="1400" b="1" i="0" u="none" strike="noStrike">
                <a:solidFill>
                  <a:srgbClr val="424242"/>
                </a:solidFill>
                <a:latin typeface="Noto Sans SC"/>
                <a:ea typeface="Noto Sans SC"/>
                <a:cs typeface="Noto Sans SC"/>
                <a:sym typeface="Noto Sans SC"/>
              </a:rPr>
              <a:t>动态关注</a:t>
            </a:r>
            <a:r>
              <a:rPr lang="en-US" sz="1400" b="0" i="0" u="none" strike="noStrike">
                <a:solidFill>
                  <a:srgbClr val="424242"/>
                </a:solidFill>
                <a:latin typeface="Noto Sans SC"/>
                <a:ea typeface="Noto Sans SC"/>
                <a:cs typeface="Noto Sans SC"/>
                <a:sym typeface="Noto Sans SC"/>
              </a:rPr>
              <a:t>：各平台政策处于动态调整中，建议定期关注官方公告，及时调整直播策略。</a:t>
            </a:r>
            <a:endParaRPr lang="en-US" sz="1400" b="0" i="0" u="none" strike="noStrike">
              <a:solidFill>
                <a:srgbClr val="424242"/>
              </a:solidFill>
              <a:latin typeface="Noto Sans SC"/>
              <a:ea typeface="Noto Sans SC"/>
              <a:cs typeface="Noto Sans SC"/>
              <a:sym typeface="Noto Sans S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2065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12.1.3 数字人直播的防封策略 - 平台态度分析</a:t>
            </a:r>
            <a:endParaRPr lang="en-US" sz="1100"/>
          </a:p>
        </p:txBody>
      </p:sp>
      <p:sp>
        <p:nvSpPr>
          <p:cNvPr id="3" name="AutoShape 3"/>
          <p:cNvSpPr/>
          <p:nvPr/>
        </p:nvSpPr>
        <p:spPr>
          <a:xfrm>
            <a:off x="762000" y="1524000"/>
            <a:ext cx="5080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524000"/>
            <a:ext cx="5080000" cy="101600"/>
          </a:xfrm>
          <a:prstGeom prst="roundRect">
            <a:avLst>
              <a:gd name="adj" fmla="val 12500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1879600"/>
            <a:ext cx="508000" cy="508000"/>
          </a:xfrm>
          <a:prstGeom prst="rect">
            <a:avLst/>
          </a:prstGeom>
        </p:spPr>
      </p:pic>
      <p:sp>
        <p:nvSpPr>
          <p:cNvPr id="6" name="AutoShape 6"/>
          <p:cNvSpPr/>
          <p:nvPr/>
        </p:nvSpPr>
        <p:spPr>
          <a:xfrm>
            <a:off x="1701800" y="1803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传统电商平台 (京东/淘宝)</a:t>
            </a:r>
            <a:endParaRPr lang="en-US" sz="1100"/>
          </a:p>
        </p:txBody>
      </p:sp>
      <p:sp>
        <p:nvSpPr>
          <p:cNvPr id="7" name="AutoShape 7"/>
          <p:cNvSpPr/>
          <p:nvPr/>
        </p:nvSpPr>
        <p:spPr>
          <a:xfrm>
            <a:off x="1701800" y="2235200"/>
            <a:ext cx="1016000" cy="304800"/>
          </a:xfrm>
          <a:prstGeom prst="roundRect">
            <a:avLst>
              <a:gd name="adj" fmla="val 50000"/>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0277BD"/>
                </a:solidFill>
                <a:latin typeface="Noto Sans SC"/>
                <a:ea typeface="Noto Sans SC"/>
                <a:cs typeface="Noto Sans SC"/>
                <a:sym typeface="Noto Sans SC"/>
              </a:rPr>
              <a:t>积极支持</a:t>
            </a:r>
            <a:endParaRPr lang="en-US" sz="1100"/>
          </a:p>
        </p:txBody>
      </p:sp>
      <p:cxnSp>
        <p:nvCxnSpPr>
          <p:cNvPr id="8" name="Connector 8"/>
          <p:cNvCxnSpPr/>
          <p:nvPr/>
        </p:nvCxnSpPr>
        <p:spPr>
          <a:xfrm rot="-9766">
            <a:off x="1066809" y="2736850"/>
            <a:ext cx="44704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9" name="AutoShape 9"/>
          <p:cNvSpPr/>
          <p:nvPr/>
        </p:nvSpPr>
        <p:spPr>
          <a:xfrm>
            <a:off x="1066800" y="2921000"/>
            <a:ext cx="4470400" cy="152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90A4AE"/>
                </a:solidFill>
                <a:latin typeface="Noto Sans SC"/>
                <a:ea typeface="Noto Sans SC"/>
                <a:cs typeface="Noto Sans SC"/>
                <a:sym typeface="Noto Sans SC"/>
              </a:rPr>
              <a:t>核心定位：</a:t>
            </a:r>
            <a:r>
              <a:rPr lang="en-US" sz="1400" b="0" i="0" u="none" strike="noStrike">
                <a:solidFill>
                  <a:srgbClr val="455A64"/>
                </a:solidFill>
                <a:latin typeface="Noto Sans SC"/>
                <a:ea typeface="Noto Sans SC"/>
                <a:cs typeface="Noto Sans SC"/>
                <a:sym typeface="Noto Sans SC"/>
              </a:rPr>
              <a:t>工具提供者，追求交易效率。</a:t>
            </a:r>
            <a:endParaRPr lang="en-US" sz="1100"/>
          </a:p>
          <a:p>
            <a:pPr indent="0" algn="l">
              <a:lnSpc>
                <a:spcPct val="108000"/>
              </a:lnSpc>
            </a:pPr>
            <a:r>
              <a:rPr lang="en-US" sz="1400" b="1" i="0" u="none" strike="noStrike">
                <a:solidFill>
                  <a:srgbClr val="90A4AE"/>
                </a:solidFill>
                <a:latin typeface="Noto Sans SC"/>
                <a:ea typeface="Noto Sans SC"/>
                <a:cs typeface="Noto Sans SC"/>
                <a:sym typeface="Noto Sans SC"/>
              </a:rPr>
              <a:t>原因分析：</a:t>
            </a:r>
            <a:r>
              <a:rPr lang="en-US" sz="1400" b="0" i="0" u="none" strike="noStrike">
                <a:solidFill>
                  <a:srgbClr val="455A64"/>
                </a:solidFill>
                <a:latin typeface="Noto Sans SC"/>
                <a:ea typeface="Noto Sans SC"/>
                <a:cs typeface="Noto Sans SC"/>
                <a:sym typeface="Noto Sans SC"/>
              </a:rPr>
              <a:t>数字人直播能显著提升商家运营效率，带来更多交易流水和平台收益，符合平台生态利益。</a:t>
            </a:r>
            <a:endParaRPr lang="en-US" sz="1400" b="0" i="0" u="none" strike="noStrike">
              <a:solidFill>
                <a:srgbClr val="455A64"/>
              </a:solidFill>
              <a:latin typeface="Noto Sans SC"/>
              <a:ea typeface="Noto Sans SC"/>
              <a:cs typeface="Noto Sans SC"/>
              <a:sym typeface="Noto Sans SC"/>
            </a:endParaRPr>
          </a:p>
        </p:txBody>
      </p:sp>
      <p:sp>
        <p:nvSpPr>
          <p:cNvPr id="10" name="AutoShape 10"/>
          <p:cNvSpPr/>
          <p:nvPr/>
        </p:nvSpPr>
        <p:spPr>
          <a:xfrm>
            <a:off x="6350000" y="1524000"/>
            <a:ext cx="5080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FF9800">
                <a:alpha val="15000"/>
              </a:srgbClr>
            </a:outerShdw>
          </a:effectLst>
        </p:spPr>
        <p:txBody>
          <a:bodyPr vert="horz" wrap="square" lIns="63500" tIns="63500" rIns="63500" bIns="63500" rtlCol="0" anchor="ctr"/>
          <a:lstStyle/>
          <a:p>
            <a:pPr algn="ctr">
              <a:defRPr/>
            </a:pPr>
          </a:p>
        </p:txBody>
      </p:sp>
      <p:sp>
        <p:nvSpPr>
          <p:cNvPr id="11" name="AutoShape 11"/>
          <p:cNvSpPr/>
          <p:nvPr/>
        </p:nvSpPr>
        <p:spPr>
          <a:xfrm>
            <a:off x="6350000" y="1524000"/>
            <a:ext cx="5080000" cy="101600"/>
          </a:xfrm>
          <a:prstGeom prst="roundRect">
            <a:avLst>
              <a:gd name="adj" fmla="val 125000"/>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54800" y="1879600"/>
            <a:ext cx="508000" cy="508000"/>
          </a:xfrm>
          <a:prstGeom prst="rect">
            <a:avLst/>
          </a:prstGeom>
        </p:spPr>
      </p:pic>
      <p:sp>
        <p:nvSpPr>
          <p:cNvPr id="13" name="AutoShape 13"/>
          <p:cNvSpPr/>
          <p:nvPr/>
        </p:nvSpPr>
        <p:spPr>
          <a:xfrm>
            <a:off x="7289800" y="1803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9800"/>
                </a:solidFill>
                <a:latin typeface="Noto Sans SC"/>
                <a:ea typeface="Noto Sans SC"/>
                <a:cs typeface="Noto Sans SC"/>
                <a:sym typeface="Noto Sans SC"/>
              </a:rPr>
              <a:t>内容平台 (抖音/视频号)</a:t>
            </a:r>
            <a:endParaRPr lang="en-US" sz="1100"/>
          </a:p>
        </p:txBody>
      </p:sp>
      <p:sp>
        <p:nvSpPr>
          <p:cNvPr id="14" name="AutoShape 14"/>
          <p:cNvSpPr/>
          <p:nvPr/>
        </p:nvSpPr>
        <p:spPr>
          <a:xfrm>
            <a:off x="7289800" y="2235200"/>
            <a:ext cx="1016000" cy="304800"/>
          </a:xfrm>
          <a:prstGeom prst="roundRect">
            <a:avLst>
              <a:gd name="adj" fmla="val 50000"/>
            </a:avLst>
          </a:prstGeom>
          <a:solidFill>
            <a:srgbClr val="FF9800">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9800"/>
                </a:solidFill>
                <a:latin typeface="Noto Sans SC"/>
                <a:ea typeface="Noto Sans SC"/>
                <a:cs typeface="Noto Sans SC"/>
                <a:sym typeface="Noto Sans SC"/>
              </a:rPr>
              <a:t>谨慎限制</a:t>
            </a:r>
            <a:endParaRPr lang="en-US" sz="1100"/>
          </a:p>
        </p:txBody>
      </p:sp>
      <p:cxnSp>
        <p:nvCxnSpPr>
          <p:cNvPr id="15" name="Connector 15"/>
          <p:cNvCxnSpPr/>
          <p:nvPr/>
        </p:nvCxnSpPr>
        <p:spPr>
          <a:xfrm rot="-9766">
            <a:off x="6654809" y="2736850"/>
            <a:ext cx="44704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16" name="AutoShape 16"/>
          <p:cNvSpPr/>
          <p:nvPr/>
        </p:nvSpPr>
        <p:spPr>
          <a:xfrm>
            <a:off x="6654800" y="2921000"/>
            <a:ext cx="4470400" cy="152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90A4AE"/>
                </a:solidFill>
                <a:latin typeface="Noto Sans SC"/>
                <a:ea typeface="Noto Sans SC"/>
                <a:cs typeface="Noto Sans SC"/>
                <a:sym typeface="Noto Sans SC"/>
              </a:rPr>
              <a:t>核心定位：</a:t>
            </a:r>
            <a:r>
              <a:rPr lang="en-US" sz="1400" b="0" i="0" u="none" strike="noStrike">
                <a:solidFill>
                  <a:srgbClr val="455A64"/>
                </a:solidFill>
                <a:latin typeface="Noto Sans SC"/>
                <a:ea typeface="Noto Sans SC"/>
                <a:cs typeface="Noto Sans SC"/>
                <a:sym typeface="Noto Sans SC"/>
              </a:rPr>
              <a:t>内容质量与用户体验至上。</a:t>
            </a:r>
            <a:endParaRPr lang="en-US" sz="1100"/>
          </a:p>
          <a:p>
            <a:pPr indent="0" algn="l">
              <a:lnSpc>
                <a:spcPct val="108000"/>
              </a:lnSpc>
            </a:pPr>
            <a:r>
              <a:rPr lang="en-US" sz="1400" b="1" i="0" u="none" strike="noStrike">
                <a:solidFill>
                  <a:srgbClr val="90A4AE"/>
                </a:solidFill>
                <a:latin typeface="Noto Sans SC"/>
                <a:ea typeface="Noto Sans SC"/>
                <a:cs typeface="Noto Sans SC"/>
                <a:sym typeface="Noto Sans SC"/>
              </a:rPr>
              <a:t>原因分析：</a:t>
            </a:r>
            <a:r>
              <a:rPr lang="en-US" sz="1400" b="0" i="0" u="none" strike="noStrike">
                <a:solidFill>
                  <a:srgbClr val="455A64"/>
                </a:solidFill>
                <a:latin typeface="Noto Sans SC"/>
                <a:ea typeface="Noto Sans SC"/>
                <a:cs typeface="Noto Sans SC"/>
                <a:sym typeface="Noto Sans SC"/>
              </a:rPr>
              <a:t>担心缺乏真实互动的低质内容泛滥，破坏平台内容生态，影响用户留存，因此管控严格。</a:t>
            </a:r>
            <a:endParaRPr lang="en-US" sz="1400" b="0" i="0" u="none" strike="noStrike">
              <a:solidFill>
                <a:srgbClr val="455A64"/>
              </a:solidFill>
              <a:latin typeface="Noto Sans SC"/>
              <a:ea typeface="Noto Sans SC"/>
              <a:cs typeface="Noto Sans SC"/>
              <a:sym typeface="Noto Sans SC"/>
            </a:endParaRPr>
          </a:p>
        </p:txBody>
      </p:sp>
      <p:sp>
        <p:nvSpPr>
          <p:cNvPr id="17" name="AutoShape 17"/>
          <p:cNvSpPr/>
          <p:nvPr/>
        </p:nvSpPr>
        <p:spPr>
          <a:xfrm>
            <a:off x="762000" y="5207000"/>
            <a:ext cx="10668000" cy="1016000"/>
          </a:xfrm>
          <a:prstGeom prst="roundRect">
            <a:avLst>
              <a:gd name="adj" fmla="val 12500"/>
            </a:avLst>
          </a:prstGeom>
          <a:solidFill>
            <a:srgbClr val="FFFFFF">
              <a:alpha val="60000"/>
            </a:srgbClr>
          </a:solidFill>
          <a:ln w="12700" cap="flat" cmpd="sng">
            <a:solidFill>
              <a:srgbClr val="90A4AE">
                <a:alpha val="100000"/>
              </a:srgbClr>
            </a:solidFill>
            <a:prstDash val="dash"/>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461000"/>
            <a:ext cx="508000" cy="508000"/>
          </a:xfrm>
          <a:prstGeom prst="rect">
            <a:avLst/>
          </a:prstGeom>
        </p:spPr>
      </p:pic>
      <p:sp>
        <p:nvSpPr>
          <p:cNvPr id="19" name="AutoShape 19"/>
          <p:cNvSpPr/>
          <p:nvPr/>
        </p:nvSpPr>
        <p:spPr>
          <a:xfrm>
            <a:off x="1651000" y="53975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策略启示：</a:t>
            </a:r>
            <a:r>
              <a:rPr lang="en-US" sz="1600" b="0" i="0" u="none" strike="noStrike">
                <a:solidFill>
                  <a:srgbClr val="455A64"/>
                </a:solidFill>
                <a:latin typeface="Noto Sans SC"/>
                <a:ea typeface="Noto Sans SC"/>
                <a:cs typeface="Noto Sans SC"/>
                <a:sym typeface="Noto Sans SC"/>
              </a:rPr>
              <a:t>针对不同平台需采取差异化策略。在电商平台可侧重效率与转化；在内容平台则必须注重内容质量与互动真实性，避免被判定为低质搬运内容。</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90424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数字人直播防封策略：关键策略（一）</a:t>
            </a:r>
            <a:endParaRPr lang="en-US" sz="1100"/>
          </a:p>
        </p:txBody>
      </p:sp>
      <p:sp>
        <p:nvSpPr>
          <p:cNvPr id="3" name="AutoShape 3"/>
          <p:cNvSpPr/>
          <p:nvPr/>
        </p:nvSpPr>
        <p:spPr>
          <a:xfrm>
            <a:off x="762000" y="1524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32000" y="1778000"/>
            <a:ext cx="762000" cy="762000"/>
          </a:xfrm>
          <a:prstGeom prst="rect">
            <a:avLst/>
          </a:prstGeom>
        </p:spPr>
      </p:pic>
      <p:sp>
        <p:nvSpPr>
          <p:cNvPr id="5" name="AutoShape 5"/>
          <p:cNvSpPr/>
          <p:nvPr/>
        </p:nvSpPr>
        <p:spPr>
          <a:xfrm>
            <a:off x="889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高质量内容与画面</a:t>
            </a:r>
            <a:endParaRPr lang="en-US" sz="1100"/>
          </a:p>
        </p:txBody>
      </p:sp>
      <p:sp>
        <p:nvSpPr>
          <p:cNvPr id="6" name="AutoShape 6"/>
          <p:cNvSpPr/>
          <p:nvPr/>
        </p:nvSpPr>
        <p:spPr>
          <a:xfrm>
            <a:off x="952500" y="3175000"/>
            <a:ext cx="2921000" cy="1143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90A4AE"/>
                </a:solidFill>
                <a:latin typeface="Noto Sans SC"/>
                <a:ea typeface="Noto Sans SC"/>
                <a:cs typeface="Noto Sans SC"/>
                <a:sym typeface="Noto Sans SC"/>
              </a:rPr>
              <a:t>确保直播内容准确、专业，提升观众体验，减少平台干预风险。</a:t>
            </a:r>
            <a:endParaRPr lang="en-US" sz="1100"/>
          </a:p>
        </p:txBody>
      </p:sp>
      <p:sp>
        <p:nvSpPr>
          <p:cNvPr id="7" name="AutoShape 7"/>
          <p:cNvSpPr/>
          <p:nvPr/>
        </p:nvSpPr>
        <p:spPr>
          <a:xfrm>
            <a:off x="4445000" y="1524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5000" y="1778000"/>
            <a:ext cx="762000" cy="762000"/>
          </a:xfrm>
          <a:prstGeom prst="rect">
            <a:avLst/>
          </a:prstGeom>
        </p:spPr>
      </p:pic>
      <p:sp>
        <p:nvSpPr>
          <p:cNvPr id="9" name="AutoShape 9"/>
          <p:cNvSpPr/>
          <p:nvPr/>
        </p:nvSpPr>
        <p:spPr>
          <a:xfrm>
            <a:off x="4572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画面多样化防重复</a:t>
            </a:r>
            <a:endParaRPr lang="en-US" sz="1100"/>
          </a:p>
        </p:txBody>
      </p:sp>
      <p:sp>
        <p:nvSpPr>
          <p:cNvPr id="10" name="AutoShape 10"/>
          <p:cNvSpPr/>
          <p:nvPr/>
        </p:nvSpPr>
        <p:spPr>
          <a:xfrm>
            <a:off x="4635500" y="3175000"/>
            <a:ext cx="2921000" cy="1143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90A4AE"/>
                </a:solidFill>
                <a:latin typeface="Noto Sans SC"/>
                <a:ea typeface="Noto Sans SC"/>
                <a:cs typeface="Noto Sans SC"/>
                <a:sym typeface="Noto Sans SC"/>
              </a:rPr>
              <a:t>定期更换场景、调整镜头角度或添加动态元素，规避平台对重复内容的检测。</a:t>
            </a:r>
            <a:endParaRPr lang="en-US" sz="1100"/>
          </a:p>
        </p:txBody>
      </p:sp>
      <p:sp>
        <p:nvSpPr>
          <p:cNvPr id="11" name="AutoShape 11"/>
          <p:cNvSpPr/>
          <p:nvPr/>
        </p:nvSpPr>
        <p:spPr>
          <a:xfrm>
            <a:off x="8128000" y="1524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98000" y="1778000"/>
            <a:ext cx="762000" cy="762000"/>
          </a:xfrm>
          <a:prstGeom prst="rect">
            <a:avLst/>
          </a:prstGeom>
        </p:spPr>
      </p:pic>
      <p:sp>
        <p:nvSpPr>
          <p:cNvPr id="13" name="AutoShape 13"/>
          <p:cNvSpPr/>
          <p:nvPr/>
        </p:nvSpPr>
        <p:spPr>
          <a:xfrm>
            <a:off x="8255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增加真实时钟显示</a:t>
            </a:r>
            <a:endParaRPr lang="en-US" sz="1100"/>
          </a:p>
        </p:txBody>
      </p:sp>
      <p:sp>
        <p:nvSpPr>
          <p:cNvPr id="14" name="AutoShape 14"/>
          <p:cNvSpPr/>
          <p:nvPr/>
        </p:nvSpPr>
        <p:spPr>
          <a:xfrm>
            <a:off x="8318500" y="3175000"/>
            <a:ext cx="2921000" cy="1143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90A4AE"/>
                </a:solidFill>
                <a:latin typeface="Noto Sans SC"/>
                <a:ea typeface="Noto Sans SC"/>
                <a:cs typeface="Noto Sans SC"/>
                <a:sym typeface="Noto Sans SC"/>
              </a:rPr>
              <a:t>在直播画面中加入实时时钟，增强直播的真实感，避免被误判为录播。</a:t>
            </a:r>
            <a:endParaRPr lang="en-US" sz="1100"/>
          </a:p>
        </p:txBody>
      </p:sp>
      <p:sp>
        <p:nvSpPr>
          <p:cNvPr id="15" name="AutoShape 15"/>
          <p:cNvSpPr/>
          <p:nvPr/>
        </p:nvSpPr>
        <p:spPr>
          <a:xfrm>
            <a:off x="762000" y="5080000"/>
            <a:ext cx="10668000" cy="1016000"/>
          </a:xfrm>
          <a:prstGeom prst="roundRect">
            <a:avLst>
              <a:gd name="adj" fmla="val 125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334000"/>
            <a:ext cx="508000" cy="508000"/>
          </a:xfrm>
          <a:prstGeom prst="rect">
            <a:avLst/>
          </a:prstGeom>
        </p:spPr>
      </p:pic>
      <p:sp>
        <p:nvSpPr>
          <p:cNvPr id="17" name="AutoShape 17"/>
          <p:cNvSpPr/>
          <p:nvPr/>
        </p:nvSpPr>
        <p:spPr>
          <a:xfrm>
            <a:off x="1651000" y="52705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策略核心：</a:t>
            </a:r>
            <a:r>
              <a:rPr lang="en-US" sz="1600" b="0" i="0" u="none" strike="noStrike">
                <a:solidFill>
                  <a:srgbClr val="546E7A"/>
                </a:solidFill>
                <a:latin typeface="Noto Sans SC"/>
                <a:ea typeface="Noto Sans SC"/>
                <a:cs typeface="Noto Sans SC"/>
                <a:sym typeface="Noto Sans SC"/>
              </a:rPr>
              <a:t>通过提升内容质量与画面动态性，配合真实时间戳，构建平台信任机制，有效降低误封风险。</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90551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数字人直播防封策略 - 关键策略（二）</a:t>
            </a:r>
            <a:endParaRPr lang="en-US" sz="1100"/>
          </a:p>
        </p:txBody>
      </p:sp>
      <p:sp>
        <p:nvSpPr>
          <p:cNvPr id="3" name="AutoShape 3"/>
          <p:cNvSpPr/>
          <p:nvPr/>
        </p:nvSpPr>
        <p:spPr>
          <a:xfrm>
            <a:off x="762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905000"/>
            <a:ext cx="635000" cy="635000"/>
          </a:xfrm>
          <a:prstGeom prst="rect">
            <a:avLst/>
          </a:prstGeom>
        </p:spPr>
      </p:pic>
      <p:sp>
        <p:nvSpPr>
          <p:cNvPr id="5" name="AutoShape 5"/>
          <p:cNvSpPr/>
          <p:nvPr/>
        </p:nvSpPr>
        <p:spPr>
          <a:xfrm>
            <a:off x="889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使用背景音乐</a:t>
            </a:r>
            <a:endParaRPr lang="en-US" sz="1100"/>
          </a:p>
        </p:txBody>
      </p:sp>
      <p:sp>
        <p:nvSpPr>
          <p:cNvPr id="6" name="AutoShape 6"/>
          <p:cNvSpPr/>
          <p:nvPr/>
        </p:nvSpPr>
        <p:spPr>
          <a:xfrm>
            <a:off x="952500" y="3175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90A4AE"/>
                </a:solidFill>
                <a:latin typeface="Noto Sans SC"/>
                <a:ea typeface="Noto Sans SC"/>
                <a:cs typeface="Noto Sans SC"/>
                <a:sym typeface="Noto Sans SC"/>
              </a:rPr>
              <a:t>选择版权合规的背景音乐，丰富直播氛围，避免内容单调，提升观众留存率。</a:t>
            </a:r>
            <a:endParaRPr lang="en-US" sz="1100"/>
          </a:p>
        </p:txBody>
      </p:sp>
      <p:sp>
        <p:nvSpPr>
          <p:cNvPr id="7" name="AutoShape 7"/>
          <p:cNvSpPr/>
          <p:nvPr/>
        </p:nvSpPr>
        <p:spPr>
          <a:xfrm>
            <a:off x="4445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905000"/>
            <a:ext cx="635000" cy="635000"/>
          </a:xfrm>
          <a:prstGeom prst="rect">
            <a:avLst/>
          </a:prstGeom>
        </p:spPr>
      </p:pic>
      <p:sp>
        <p:nvSpPr>
          <p:cNvPr id="9" name="AutoShape 9"/>
          <p:cNvSpPr/>
          <p:nvPr/>
        </p:nvSpPr>
        <p:spPr>
          <a:xfrm>
            <a:off x="4572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双人搭档</a:t>
            </a:r>
            <a:endParaRPr lang="en-US" sz="1100"/>
          </a:p>
        </p:txBody>
      </p:sp>
      <p:sp>
        <p:nvSpPr>
          <p:cNvPr id="10" name="AutoShape 10"/>
          <p:cNvSpPr/>
          <p:nvPr/>
        </p:nvSpPr>
        <p:spPr>
          <a:xfrm>
            <a:off x="4635500" y="3175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90A4AE"/>
                </a:solidFill>
                <a:latin typeface="Noto Sans SC"/>
                <a:ea typeface="Noto Sans SC"/>
                <a:cs typeface="Noto Sans SC"/>
                <a:sym typeface="Noto Sans SC"/>
              </a:rPr>
              <a:t>采用两个数字人主播或真人与数字人结合的方式，增加直播的互动性和内容丰富性。</a:t>
            </a:r>
            <a:endParaRPr lang="en-US" sz="1100"/>
          </a:p>
        </p:txBody>
      </p:sp>
      <p:sp>
        <p:nvSpPr>
          <p:cNvPr id="11" name="AutoShape 11"/>
          <p:cNvSpPr/>
          <p:nvPr/>
        </p:nvSpPr>
        <p:spPr>
          <a:xfrm>
            <a:off x="8128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905000"/>
            <a:ext cx="635000" cy="635000"/>
          </a:xfrm>
          <a:prstGeom prst="rect">
            <a:avLst/>
          </a:prstGeom>
        </p:spPr>
      </p:pic>
      <p:sp>
        <p:nvSpPr>
          <p:cNvPr id="13" name="AutoShape 13"/>
          <p:cNvSpPr/>
          <p:nvPr/>
        </p:nvSpPr>
        <p:spPr>
          <a:xfrm>
            <a:off x="8255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真人互动</a:t>
            </a:r>
            <a:endParaRPr lang="en-US" sz="1100"/>
          </a:p>
        </p:txBody>
      </p:sp>
      <p:sp>
        <p:nvSpPr>
          <p:cNvPr id="14" name="AutoShape 14"/>
          <p:cNvSpPr/>
          <p:nvPr/>
        </p:nvSpPr>
        <p:spPr>
          <a:xfrm>
            <a:off x="8318500" y="3175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90A4AE"/>
                </a:solidFill>
                <a:latin typeface="Noto Sans SC"/>
                <a:ea typeface="Noto Sans SC"/>
                <a:cs typeface="Noto Sans SC"/>
                <a:sym typeface="Noto Sans SC"/>
              </a:rPr>
              <a:t>在直播中加入真人实时互动环节，回答观众问题，增强直播的真实性和趣味性。</a:t>
            </a:r>
            <a:endParaRPr lang="en-US" sz="1100"/>
          </a:p>
        </p:txBody>
      </p:sp>
      <p:sp>
        <p:nvSpPr>
          <p:cNvPr id="15" name="AutoShape 15"/>
          <p:cNvSpPr/>
          <p:nvPr/>
        </p:nvSpPr>
        <p:spPr>
          <a:xfrm>
            <a:off x="762000" y="5080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207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核心总结：</a:t>
            </a:r>
            <a:r>
              <a:rPr lang="en-US" sz="1600" b="0" i="0" u="none" strike="noStrike">
                <a:solidFill>
                  <a:srgbClr val="0277BD"/>
                </a:solidFill>
                <a:latin typeface="Noto Sans SC"/>
                <a:ea typeface="Noto Sans SC"/>
                <a:cs typeface="Noto Sans SC"/>
                <a:sym typeface="Noto Sans SC"/>
              </a:rPr>
              <a:t>通过合规内容、多元形式和真实互动，构建安全、有趣的数字人直播生态。</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数字人直播敏感词治理的重要性</a:t>
            </a:r>
            <a:endParaRPr lang="en-US" sz="1100"/>
          </a:p>
        </p:txBody>
      </p:sp>
      <p:sp>
        <p:nvSpPr>
          <p:cNvPr id="3" name="AutoShape 3"/>
          <p:cNvSpPr/>
          <p:nvPr/>
        </p:nvSpPr>
        <p:spPr>
          <a:xfrm>
            <a:off x="762000" y="1524000"/>
            <a:ext cx="5080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609600" cy="609600"/>
          </a:xfrm>
          <a:prstGeom prst="rect">
            <a:avLst/>
          </a:prstGeom>
        </p:spPr>
      </p:pic>
      <p:sp>
        <p:nvSpPr>
          <p:cNvPr id="5" name="AutoShape 5"/>
          <p:cNvSpPr/>
          <p:nvPr/>
        </p:nvSpPr>
        <p:spPr>
          <a:xfrm>
            <a:off x="1778000" y="1714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平台合规性</a:t>
            </a:r>
            <a:endParaRPr lang="en-US" sz="1100"/>
          </a:p>
        </p:txBody>
      </p:sp>
      <p:sp>
        <p:nvSpPr>
          <p:cNvPr id="6" name="AutoShape 6"/>
          <p:cNvSpPr/>
          <p:nvPr/>
        </p:nvSpPr>
        <p:spPr>
          <a:xfrm>
            <a:off x="1778000" y="2159000"/>
            <a:ext cx="3810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严格规避敏感词，防止因内容违规导致直播间被封禁、账号限流或内容强制下架，确保业务连续性。</a:t>
            </a:r>
            <a:endParaRPr lang="en-US" sz="1100"/>
          </a:p>
        </p:txBody>
      </p:sp>
      <p:sp>
        <p:nvSpPr>
          <p:cNvPr id="7" name="AutoShape 7"/>
          <p:cNvSpPr/>
          <p:nvPr/>
        </p:nvSpPr>
        <p:spPr>
          <a:xfrm>
            <a:off x="6350000" y="1524000"/>
            <a:ext cx="5080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778000"/>
            <a:ext cx="609600" cy="609600"/>
          </a:xfrm>
          <a:prstGeom prst="rect">
            <a:avLst/>
          </a:prstGeom>
        </p:spPr>
      </p:pic>
      <p:sp>
        <p:nvSpPr>
          <p:cNvPr id="9" name="AutoShape 9"/>
          <p:cNvSpPr/>
          <p:nvPr/>
        </p:nvSpPr>
        <p:spPr>
          <a:xfrm>
            <a:off x="7366000" y="1714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用户体验维护</a:t>
            </a:r>
            <a:endParaRPr lang="en-US" sz="1100"/>
          </a:p>
        </p:txBody>
      </p:sp>
      <p:sp>
        <p:nvSpPr>
          <p:cNvPr id="10" name="AutoShape 10"/>
          <p:cNvSpPr/>
          <p:nvPr/>
        </p:nvSpPr>
        <p:spPr>
          <a:xfrm>
            <a:off x="7366000" y="2159000"/>
            <a:ext cx="3810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维护品牌专业形象，避免不当言论引发用户反感，防止用户信任度下降，保障良好的互动体验。</a:t>
            </a:r>
            <a:endParaRPr lang="en-US" sz="1100"/>
          </a:p>
        </p:txBody>
      </p:sp>
      <p:sp>
        <p:nvSpPr>
          <p:cNvPr id="11" name="AutoShape 11"/>
          <p:cNvSpPr/>
          <p:nvPr/>
        </p:nvSpPr>
        <p:spPr>
          <a:xfrm>
            <a:off x="762000" y="3810000"/>
            <a:ext cx="5080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064000"/>
            <a:ext cx="609600" cy="609600"/>
          </a:xfrm>
          <a:prstGeom prst="rect">
            <a:avLst/>
          </a:prstGeom>
        </p:spPr>
      </p:pic>
      <p:sp>
        <p:nvSpPr>
          <p:cNvPr id="13" name="AutoShape 13"/>
          <p:cNvSpPr/>
          <p:nvPr/>
        </p:nvSpPr>
        <p:spPr>
          <a:xfrm>
            <a:off x="1778000" y="4000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法律风险规避</a:t>
            </a:r>
            <a:endParaRPr lang="en-US" sz="1100"/>
          </a:p>
        </p:txBody>
      </p:sp>
      <p:sp>
        <p:nvSpPr>
          <p:cNvPr id="14" name="AutoShape 14"/>
          <p:cNvSpPr/>
          <p:nvPr/>
        </p:nvSpPr>
        <p:spPr>
          <a:xfrm>
            <a:off x="1778000" y="4445000"/>
            <a:ext cx="3810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规避涉及政治、宗教、歧视等敏感内容带来的法律诉讼风险，避免对品牌声誉造成不可逆的损害。</a:t>
            </a:r>
            <a:endParaRPr lang="en-US" sz="1100"/>
          </a:p>
        </p:txBody>
      </p:sp>
      <p:sp>
        <p:nvSpPr>
          <p:cNvPr id="15" name="AutoShape 15"/>
          <p:cNvSpPr/>
          <p:nvPr/>
        </p:nvSpPr>
        <p:spPr>
          <a:xfrm>
            <a:off x="6350000" y="3810000"/>
            <a:ext cx="5080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4064000"/>
            <a:ext cx="609600" cy="609600"/>
          </a:xfrm>
          <a:prstGeom prst="rect">
            <a:avLst/>
          </a:prstGeom>
        </p:spPr>
      </p:pic>
      <p:sp>
        <p:nvSpPr>
          <p:cNvPr id="17" name="AutoShape 17"/>
          <p:cNvSpPr/>
          <p:nvPr/>
        </p:nvSpPr>
        <p:spPr>
          <a:xfrm>
            <a:off x="7366000" y="4000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维护直播生态</a:t>
            </a:r>
            <a:endParaRPr lang="en-US" sz="1100"/>
          </a:p>
        </p:txBody>
      </p:sp>
      <p:sp>
        <p:nvSpPr>
          <p:cNvPr id="18" name="AutoShape 18"/>
          <p:cNvSpPr/>
          <p:nvPr/>
        </p:nvSpPr>
        <p:spPr>
          <a:xfrm>
            <a:off x="7366000" y="4445000"/>
            <a:ext cx="3810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积极响应平台号召，共同营造健康积极的直播环境，促进行业的长远、可持续发展。</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12.1.3 数字人直播的防封策略 - 敏感词治理方法</a:t>
            </a:r>
            <a:endParaRPr lang="en-US" sz="1100"/>
          </a:p>
        </p:txBody>
      </p:sp>
      <p:sp>
        <p:nvSpPr>
          <p:cNvPr id="3" name="AutoShape 3"/>
          <p:cNvSpPr/>
          <p:nvPr/>
        </p:nvSpPr>
        <p:spPr>
          <a:xfrm>
            <a:off x="762000" y="1524000"/>
            <a:ext cx="5080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609600" cy="609600"/>
          </a:xfrm>
          <a:prstGeom prst="rect">
            <a:avLst/>
          </a:prstGeom>
        </p:spPr>
      </p:pic>
      <p:sp>
        <p:nvSpPr>
          <p:cNvPr id="5" name="AutoShape 5"/>
          <p:cNvSpPr/>
          <p:nvPr/>
        </p:nvSpPr>
        <p:spPr>
          <a:xfrm>
            <a:off x="1778000" y="1714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建立关键词库</a:t>
            </a:r>
            <a:endParaRPr lang="en-US" sz="1100"/>
          </a:p>
        </p:txBody>
      </p:sp>
      <p:sp>
        <p:nvSpPr>
          <p:cNvPr id="6" name="AutoShape 6"/>
          <p:cNvSpPr/>
          <p:nvPr/>
        </p:nvSpPr>
        <p:spPr>
          <a:xfrm>
            <a:off x="1778000" y="2159000"/>
            <a:ext cx="3810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建立并持续更新违禁词和敏感词库，覆盖业务相关的所有风险词汇，确保识别范围全面。</a:t>
            </a:r>
            <a:endParaRPr lang="en-US" sz="1100"/>
          </a:p>
        </p:txBody>
      </p:sp>
      <p:sp>
        <p:nvSpPr>
          <p:cNvPr id="7" name="AutoShape 7"/>
          <p:cNvSpPr/>
          <p:nvPr/>
        </p:nvSpPr>
        <p:spPr>
          <a:xfrm>
            <a:off x="6350000" y="1524000"/>
            <a:ext cx="5080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778000"/>
            <a:ext cx="609600" cy="609600"/>
          </a:xfrm>
          <a:prstGeom prst="rect">
            <a:avLst/>
          </a:prstGeom>
        </p:spPr>
      </p:pic>
      <p:sp>
        <p:nvSpPr>
          <p:cNvPr id="9" name="AutoShape 9"/>
          <p:cNvSpPr/>
          <p:nvPr/>
        </p:nvSpPr>
        <p:spPr>
          <a:xfrm>
            <a:off x="7366000" y="1714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双重保障机制</a:t>
            </a:r>
            <a:endParaRPr lang="en-US" sz="1100"/>
          </a:p>
        </p:txBody>
      </p:sp>
      <p:sp>
        <p:nvSpPr>
          <p:cNvPr id="10" name="AutoShape 10"/>
          <p:cNvSpPr/>
          <p:nvPr/>
        </p:nvSpPr>
        <p:spPr>
          <a:xfrm>
            <a:off x="7366000" y="2159000"/>
            <a:ext cx="3810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结合人工审核与自动化技术过滤，对直播内容进行多层次筛查，人机结合降低漏判风险。</a:t>
            </a:r>
            <a:endParaRPr lang="en-US" sz="1100"/>
          </a:p>
        </p:txBody>
      </p:sp>
      <p:sp>
        <p:nvSpPr>
          <p:cNvPr id="11" name="AutoShape 11"/>
          <p:cNvSpPr/>
          <p:nvPr/>
        </p:nvSpPr>
        <p:spPr>
          <a:xfrm>
            <a:off x="762000" y="3810000"/>
            <a:ext cx="5080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064000"/>
            <a:ext cx="609600" cy="609600"/>
          </a:xfrm>
          <a:prstGeom prst="rect">
            <a:avLst/>
          </a:prstGeom>
        </p:spPr>
      </p:pic>
      <p:sp>
        <p:nvSpPr>
          <p:cNvPr id="13" name="AutoShape 13"/>
          <p:cNvSpPr/>
          <p:nvPr/>
        </p:nvSpPr>
        <p:spPr>
          <a:xfrm>
            <a:off x="1778000" y="4000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AI技术识别</a:t>
            </a:r>
            <a:endParaRPr lang="en-US" sz="1100"/>
          </a:p>
        </p:txBody>
      </p:sp>
      <p:sp>
        <p:nvSpPr>
          <p:cNvPr id="14" name="AutoShape 14"/>
          <p:cNvSpPr/>
          <p:nvPr/>
        </p:nvSpPr>
        <p:spPr>
          <a:xfrm>
            <a:off x="1778000" y="4445000"/>
            <a:ext cx="3810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利用AI技术在播前对台词进行预检测，播中进行实时监控和过滤，实现全流程智能风控。</a:t>
            </a:r>
            <a:endParaRPr lang="en-US" sz="1100"/>
          </a:p>
        </p:txBody>
      </p:sp>
      <p:sp>
        <p:nvSpPr>
          <p:cNvPr id="15" name="AutoShape 15"/>
          <p:cNvSpPr/>
          <p:nvPr/>
        </p:nvSpPr>
        <p:spPr>
          <a:xfrm>
            <a:off x="6350000" y="3810000"/>
            <a:ext cx="5080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4064000"/>
            <a:ext cx="609600" cy="609600"/>
          </a:xfrm>
          <a:prstGeom prst="rect">
            <a:avLst/>
          </a:prstGeom>
        </p:spPr>
      </p:pic>
      <p:sp>
        <p:nvSpPr>
          <p:cNvPr id="17" name="AutoShape 17"/>
          <p:cNvSpPr/>
          <p:nvPr/>
        </p:nvSpPr>
        <p:spPr>
          <a:xfrm>
            <a:off x="7366000" y="4000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内容创作者培训</a:t>
            </a:r>
            <a:endParaRPr lang="en-US" sz="1100"/>
          </a:p>
        </p:txBody>
      </p:sp>
      <p:sp>
        <p:nvSpPr>
          <p:cNvPr id="18" name="AutoShape 18"/>
          <p:cNvSpPr/>
          <p:nvPr/>
        </p:nvSpPr>
        <p:spPr>
          <a:xfrm>
            <a:off x="7366000" y="4445000"/>
            <a:ext cx="3810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定期对内容团队进行合规培训，提升全员的风险意识和专业素养，从源头减少违规可能。</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508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90A4AE"/>
                </a:solidFill>
                <a:latin typeface="Noto Sans SC"/>
                <a:ea typeface="Noto Sans SC"/>
                <a:cs typeface="Noto Sans SC"/>
                <a:sym typeface="Noto Sans SC"/>
              </a:rPr>
              <a:t>CHAPTER 12.2</a:t>
            </a:r>
            <a:endParaRPr lang="en-US" sz="1100"/>
          </a:p>
        </p:txBody>
      </p:sp>
      <p:sp>
        <p:nvSpPr>
          <p:cNvPr id="4" name="AutoShape 4"/>
          <p:cNvSpPr/>
          <p:nvPr/>
        </p:nvSpPr>
        <p:spPr>
          <a:xfrm>
            <a:off x="635000" y="1016000"/>
            <a:ext cx="10922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77BD"/>
                </a:solidFill>
                <a:latin typeface="Noto Sans SC"/>
                <a:ea typeface="Noto Sans SC"/>
                <a:cs typeface="Noto Sans SC"/>
                <a:sym typeface="Noto Sans SC"/>
              </a:rPr>
              <a:t>数字人口播台词 Prompt 模版</a:t>
            </a:r>
            <a:endParaRPr lang="en-US" sz="1100"/>
          </a:p>
        </p:txBody>
      </p:sp>
      <p:sp>
        <p:nvSpPr>
          <p:cNvPr id="5" name="AutoShape 5"/>
          <p:cNvSpPr/>
          <p:nvPr/>
        </p:nvSpPr>
        <p:spPr>
          <a:xfrm>
            <a:off x="1270000" y="1778000"/>
            <a:ext cx="965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546E7A"/>
                </a:solidFill>
                <a:latin typeface="Noto Sans SC"/>
                <a:ea typeface="Noto Sans SC"/>
                <a:cs typeface="Noto Sans SC"/>
                <a:sym typeface="Noto Sans SC"/>
              </a:rPr>
              <a:t>本章节将详细讲解如何撰写和优化用于生成数字人口播台词的 Prompt 模板，实现台词的高效、精准生成。</a:t>
            </a:r>
            <a:endParaRPr lang="en-US" sz="1100"/>
          </a:p>
        </p:txBody>
      </p:sp>
      <p:sp>
        <p:nvSpPr>
          <p:cNvPr id="6" name="AutoShape 6"/>
          <p:cNvSpPr/>
          <p:nvPr/>
        </p:nvSpPr>
        <p:spPr>
          <a:xfrm>
            <a:off x="762000" y="2921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08200" y="3175000"/>
            <a:ext cx="609600" cy="609600"/>
          </a:xfrm>
          <a:prstGeom prst="rect">
            <a:avLst/>
          </a:prstGeom>
        </p:spPr>
      </p:pic>
      <p:sp>
        <p:nvSpPr>
          <p:cNvPr id="8" name="AutoShape 8"/>
          <p:cNvSpPr/>
          <p:nvPr/>
        </p:nvSpPr>
        <p:spPr>
          <a:xfrm>
            <a:off x="889000" y="393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整段式商品台词</a:t>
            </a:r>
            <a:endParaRPr lang="en-US" sz="1100"/>
          </a:p>
        </p:txBody>
      </p:sp>
      <p:sp>
        <p:nvSpPr>
          <p:cNvPr id="9" name="AutoShape 9"/>
          <p:cNvSpPr/>
          <p:nvPr/>
        </p:nvSpPr>
        <p:spPr>
          <a:xfrm>
            <a:off x="1016000" y="4381500"/>
            <a:ext cx="2794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90A4AE"/>
                </a:solidFill>
                <a:latin typeface="Noto Sans SC"/>
                <a:ea typeface="Noto Sans SC"/>
                <a:cs typeface="Noto Sans SC"/>
                <a:sym typeface="Noto Sans SC"/>
              </a:rPr>
              <a:t>一次性生成完整的商品介绍文案，逻辑连贯，适合快速产出。</a:t>
            </a:r>
            <a:endParaRPr lang="en-US" sz="1100"/>
          </a:p>
        </p:txBody>
      </p:sp>
      <p:sp>
        <p:nvSpPr>
          <p:cNvPr id="10" name="AutoShape 10"/>
          <p:cNvSpPr/>
          <p:nvPr/>
        </p:nvSpPr>
        <p:spPr>
          <a:xfrm>
            <a:off x="4445000" y="2921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91200" y="3175000"/>
            <a:ext cx="609600" cy="609600"/>
          </a:xfrm>
          <a:prstGeom prst="rect">
            <a:avLst/>
          </a:prstGeom>
        </p:spPr>
      </p:pic>
      <p:sp>
        <p:nvSpPr>
          <p:cNvPr id="12" name="AutoShape 12"/>
          <p:cNvSpPr/>
          <p:nvPr/>
        </p:nvSpPr>
        <p:spPr>
          <a:xfrm>
            <a:off x="4572000" y="393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分段式商品台词</a:t>
            </a:r>
            <a:endParaRPr lang="en-US" sz="1100"/>
          </a:p>
        </p:txBody>
      </p:sp>
      <p:sp>
        <p:nvSpPr>
          <p:cNvPr id="13" name="AutoShape 13"/>
          <p:cNvSpPr/>
          <p:nvPr/>
        </p:nvSpPr>
        <p:spPr>
          <a:xfrm>
            <a:off x="4699000" y="4381500"/>
            <a:ext cx="2794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90A4AE"/>
                </a:solidFill>
                <a:latin typeface="Noto Sans SC"/>
                <a:ea typeface="Noto Sans SC"/>
                <a:cs typeface="Noto Sans SC"/>
                <a:sym typeface="Noto Sans SC"/>
              </a:rPr>
              <a:t>将台词拆解为开场、卖点、引导等模块，便于精细化调整。</a:t>
            </a:r>
            <a:endParaRPr lang="en-US" sz="1100"/>
          </a:p>
        </p:txBody>
      </p:sp>
      <p:sp>
        <p:nvSpPr>
          <p:cNvPr id="14" name="AutoShape 14"/>
          <p:cNvSpPr/>
          <p:nvPr/>
        </p:nvSpPr>
        <p:spPr>
          <a:xfrm>
            <a:off x="8128000" y="2921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74200" y="3175000"/>
            <a:ext cx="609600" cy="609600"/>
          </a:xfrm>
          <a:prstGeom prst="rect">
            <a:avLst/>
          </a:prstGeom>
        </p:spPr>
      </p:pic>
      <p:sp>
        <p:nvSpPr>
          <p:cNvPr id="16" name="AutoShape 16"/>
          <p:cNvSpPr/>
          <p:nvPr/>
        </p:nvSpPr>
        <p:spPr>
          <a:xfrm>
            <a:off x="8255000" y="393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互动问答台词</a:t>
            </a:r>
            <a:endParaRPr lang="en-US" sz="1100"/>
          </a:p>
        </p:txBody>
      </p:sp>
      <p:sp>
        <p:nvSpPr>
          <p:cNvPr id="17" name="AutoShape 17"/>
          <p:cNvSpPr/>
          <p:nvPr/>
        </p:nvSpPr>
        <p:spPr>
          <a:xfrm>
            <a:off x="8382000" y="4381500"/>
            <a:ext cx="2794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90A4AE"/>
                </a:solidFill>
                <a:latin typeface="Noto Sans SC"/>
                <a:ea typeface="Noto Sans SC"/>
                <a:cs typeface="Noto Sans SC"/>
                <a:sym typeface="Noto Sans SC"/>
              </a:rPr>
              <a:t>模拟主播与观众的对话场景，增强直播的真实感和互动性。</a:t>
            </a:r>
            <a:endParaRPr lang="en-US" sz="1100"/>
          </a:p>
        </p:txBody>
      </p:sp>
      <p:sp>
        <p:nvSpPr>
          <p:cNvPr id="18" name="AutoShape 18"/>
          <p:cNvSpPr/>
          <p:nvPr/>
        </p:nvSpPr>
        <p:spPr>
          <a:xfrm>
            <a:off x="0" y="6781800"/>
            <a:ext cx="12192000" cy="76200"/>
          </a:xfrm>
          <a:prstGeom prst="roundRect">
            <a:avLst>
              <a:gd name="adj" fmla="val 0"/>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整段式商品台词Prompt模版</a:t>
            </a:r>
            <a:endParaRPr lang="en-US" sz="1100"/>
          </a:p>
        </p:txBody>
      </p:sp>
      <p:sp>
        <p:nvSpPr>
          <p:cNvPr id="3" name="AutoShape 3"/>
          <p:cNvSpPr/>
          <p:nvPr/>
        </p:nvSpPr>
        <p:spPr>
          <a:xfrm>
            <a:off x="762000" y="1524000"/>
            <a:ext cx="51435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1778000"/>
            <a:ext cx="406400" cy="406400"/>
          </a:xfrm>
          <a:prstGeom prst="rect">
            <a:avLst/>
          </a:prstGeom>
        </p:spPr>
      </p:pic>
      <p:sp>
        <p:nvSpPr>
          <p:cNvPr id="5" name="AutoShape 5"/>
          <p:cNvSpPr/>
          <p:nvPr/>
        </p:nvSpPr>
        <p:spPr>
          <a:xfrm>
            <a:off x="1587500" y="17272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适用场景</a:t>
            </a:r>
            <a:endParaRPr lang="en-US" sz="1100"/>
          </a:p>
        </p:txBody>
      </p:sp>
      <p:sp>
        <p:nvSpPr>
          <p:cNvPr id="6" name="AutoShape 6"/>
          <p:cNvSpPr/>
          <p:nvPr/>
        </p:nvSpPr>
        <p:spPr>
          <a:xfrm>
            <a:off x="1079500" y="2222500"/>
            <a:ext cx="4508500" cy="1397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455A64"/>
              </a:buClr>
              <a:buChar char="•"/>
              <a:defRPr/>
            </a:pPr>
            <a:r>
              <a:rPr lang="en-US" sz="1400" b="0" i="0" u="none" strike="noStrike">
                <a:solidFill>
                  <a:srgbClr val="455A64"/>
                </a:solidFill>
                <a:latin typeface="Noto Sans SC"/>
                <a:ea typeface="Noto Sans SC"/>
                <a:cs typeface="Noto Sans SC"/>
                <a:sym typeface="Noto Sans SC"/>
              </a:rPr>
              <a:t>中小商家，产品线丰富，难以对每个产品进行精细化运营</a:t>
            </a:r>
            <a:endParaRPr lang="en-US" sz="1100"/>
          </a:p>
          <a:p>
            <a:pPr marL="177800" indent="-177800" algn="l">
              <a:lnSpc>
                <a:spcPct val="125000"/>
              </a:lnSpc>
              <a:buClr>
                <a:srgbClr val="455A64"/>
              </a:buClr>
              <a:buChar char="•"/>
            </a:pPr>
            <a:r>
              <a:rPr lang="en-US" sz="1400" b="0" i="0" u="none" strike="noStrike">
                <a:solidFill>
                  <a:srgbClr val="455A64"/>
                </a:solidFill>
                <a:latin typeface="Noto Sans SC"/>
                <a:ea typeface="Noto Sans SC"/>
                <a:cs typeface="Noto Sans SC"/>
                <a:sym typeface="Noto Sans SC"/>
              </a:rPr>
              <a:t>需要快速、批量生成商品介绍台词</a:t>
            </a:r>
            <a:endParaRPr lang="en-US" sz="1400" b="0" i="0" u="none" strike="noStrike">
              <a:solidFill>
                <a:srgbClr val="455A64"/>
              </a:solidFill>
              <a:latin typeface="Noto Sans SC"/>
              <a:ea typeface="Noto Sans SC"/>
              <a:cs typeface="Noto Sans SC"/>
              <a:sym typeface="Noto Sans SC"/>
            </a:endParaRPr>
          </a:p>
          <a:p>
            <a:pPr marL="177800" indent="-177800" algn="l">
              <a:lnSpc>
                <a:spcPct val="125000"/>
              </a:lnSpc>
              <a:buClr>
                <a:srgbClr val="455A64"/>
              </a:buClr>
              <a:buChar char="•"/>
            </a:pPr>
            <a:r>
              <a:rPr lang="en-US" sz="1400" b="0" i="0" u="none" strike="noStrike">
                <a:solidFill>
                  <a:srgbClr val="455A64"/>
                </a:solidFill>
                <a:latin typeface="Noto Sans SC"/>
                <a:ea typeface="Noto Sans SC"/>
                <a:cs typeface="Noto Sans SC"/>
                <a:sym typeface="Noto Sans SC"/>
              </a:rPr>
              <a:t>直播场景较为简单，无需复杂的分段和互动</a:t>
            </a:r>
            <a:endParaRPr lang="en-US" sz="1400" b="0" i="0" u="none" strike="noStrike">
              <a:solidFill>
                <a:srgbClr val="455A64"/>
              </a:solidFill>
              <a:latin typeface="Noto Sans SC"/>
              <a:ea typeface="Noto Sans SC"/>
              <a:cs typeface="Noto Sans SC"/>
              <a:sym typeface="Noto Sans SC"/>
            </a:endParaRPr>
          </a:p>
        </p:txBody>
      </p:sp>
      <p:sp>
        <p:nvSpPr>
          <p:cNvPr id="7" name="AutoShape 7"/>
          <p:cNvSpPr/>
          <p:nvPr/>
        </p:nvSpPr>
        <p:spPr>
          <a:xfrm>
            <a:off x="6286500" y="1524000"/>
            <a:ext cx="51435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FF9800">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778000"/>
            <a:ext cx="406400" cy="406400"/>
          </a:xfrm>
          <a:prstGeom prst="rect">
            <a:avLst/>
          </a:prstGeom>
        </p:spPr>
      </p:pic>
      <p:sp>
        <p:nvSpPr>
          <p:cNvPr id="9" name="AutoShape 9"/>
          <p:cNvSpPr/>
          <p:nvPr/>
        </p:nvSpPr>
        <p:spPr>
          <a:xfrm>
            <a:off x="7112000" y="17272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9800"/>
                </a:solidFill>
                <a:latin typeface="Noto Sans SC"/>
                <a:ea typeface="Noto Sans SC"/>
                <a:cs typeface="Noto Sans SC"/>
                <a:sym typeface="Noto Sans SC"/>
              </a:rPr>
              <a:t>核心目标</a:t>
            </a:r>
            <a:endParaRPr lang="en-US" sz="1100"/>
          </a:p>
        </p:txBody>
      </p:sp>
      <p:sp>
        <p:nvSpPr>
          <p:cNvPr id="10" name="AutoShape 10"/>
          <p:cNvSpPr/>
          <p:nvPr/>
        </p:nvSpPr>
        <p:spPr>
          <a:xfrm>
            <a:off x="6604000" y="2222500"/>
            <a:ext cx="4508500" cy="1397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455A64"/>
              </a:buClr>
              <a:buChar char="•"/>
              <a:defRPr/>
            </a:pPr>
            <a:r>
              <a:rPr lang="en-US" sz="1400" b="0" i="0" u="none" strike="noStrike">
                <a:solidFill>
                  <a:srgbClr val="455A64"/>
                </a:solidFill>
                <a:latin typeface="Noto Sans SC"/>
                <a:ea typeface="Noto Sans SC"/>
                <a:cs typeface="Noto Sans SC"/>
                <a:sym typeface="Noto Sans SC"/>
              </a:rPr>
              <a:t>快速突出商品核心价值，直击用户痛点</a:t>
            </a:r>
            <a:endParaRPr lang="en-US" sz="1100"/>
          </a:p>
          <a:p>
            <a:pPr marL="177800" indent="-177800" algn="l">
              <a:lnSpc>
                <a:spcPct val="125000"/>
              </a:lnSpc>
              <a:buClr>
                <a:srgbClr val="455A64"/>
              </a:buClr>
              <a:buChar char="•"/>
            </a:pPr>
            <a:r>
              <a:rPr lang="en-US" sz="1400" b="0" i="0" u="none" strike="noStrike">
                <a:solidFill>
                  <a:srgbClr val="455A64"/>
                </a:solidFill>
                <a:latin typeface="Noto Sans SC"/>
                <a:ea typeface="Noto Sans SC"/>
                <a:cs typeface="Noto Sans SC"/>
                <a:sym typeface="Noto Sans SC"/>
              </a:rPr>
              <a:t>激发潜在客户的购买欲望</a:t>
            </a:r>
            <a:endParaRPr lang="en-US" sz="1400" b="0" i="0" u="none" strike="noStrike">
              <a:solidFill>
                <a:srgbClr val="455A64"/>
              </a:solidFill>
              <a:latin typeface="Noto Sans SC"/>
              <a:ea typeface="Noto Sans SC"/>
              <a:cs typeface="Noto Sans SC"/>
              <a:sym typeface="Noto Sans SC"/>
            </a:endParaRPr>
          </a:p>
          <a:p>
            <a:pPr marL="177800" indent="-177800" algn="l">
              <a:lnSpc>
                <a:spcPct val="125000"/>
              </a:lnSpc>
              <a:buClr>
                <a:srgbClr val="455A64"/>
              </a:buClr>
              <a:buChar char="•"/>
            </a:pPr>
            <a:r>
              <a:rPr lang="en-US" sz="1400" b="0" i="0" u="none" strike="noStrike">
                <a:solidFill>
                  <a:srgbClr val="455A64"/>
                </a:solidFill>
                <a:latin typeface="Noto Sans SC"/>
                <a:ea typeface="Noto Sans SC"/>
                <a:cs typeface="Noto Sans SC"/>
                <a:sym typeface="Noto Sans SC"/>
              </a:rPr>
              <a:t>高效促成交易转化</a:t>
            </a:r>
            <a:endParaRPr lang="en-US" sz="1400" b="0" i="0" u="none" strike="noStrike">
              <a:solidFill>
                <a:srgbClr val="455A64"/>
              </a:solidFill>
              <a:latin typeface="Noto Sans SC"/>
              <a:ea typeface="Noto Sans SC"/>
              <a:cs typeface="Noto Sans SC"/>
              <a:sym typeface="Noto Sans SC"/>
            </a:endParaRPr>
          </a:p>
        </p:txBody>
      </p:sp>
      <p:sp>
        <p:nvSpPr>
          <p:cNvPr id="11" name="AutoShape 11"/>
          <p:cNvSpPr/>
          <p:nvPr/>
        </p:nvSpPr>
        <p:spPr>
          <a:xfrm>
            <a:off x="762000" y="4191000"/>
            <a:ext cx="10668000" cy="1524000"/>
          </a:xfrm>
          <a:prstGeom prst="roundRect">
            <a:avLst>
              <a:gd name="adj" fmla="val 8333"/>
            </a:avLst>
          </a:prstGeom>
          <a:solidFill>
            <a:srgbClr val="0277BD">
              <a:alpha val="8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4445000"/>
            <a:ext cx="508000" cy="508000"/>
          </a:xfrm>
          <a:prstGeom prst="rect">
            <a:avLst/>
          </a:prstGeom>
        </p:spPr>
      </p:pic>
      <p:sp>
        <p:nvSpPr>
          <p:cNvPr id="13" name="AutoShape 13"/>
          <p:cNvSpPr/>
          <p:nvPr/>
        </p:nvSpPr>
        <p:spPr>
          <a:xfrm>
            <a:off x="1778000" y="4381500"/>
            <a:ext cx="9271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设计提示：</a:t>
            </a:r>
            <a:endParaRPr lang="en-US" sz="1100"/>
          </a:p>
          <a:p>
            <a:pPr indent="0" algn="l">
              <a:lnSpc>
                <a:spcPct val="125000"/>
              </a:lnSpc>
            </a:pPr>
            <a:r>
              <a:rPr lang="en-US" sz="1400" b="0" i="0" u="none" strike="noStrike">
                <a:solidFill>
                  <a:srgbClr val="546E7A"/>
                </a:solidFill>
                <a:latin typeface="Noto Sans SC"/>
                <a:ea typeface="Noto Sans SC"/>
                <a:cs typeface="Noto Sans SC"/>
                <a:sym typeface="Noto Sans SC"/>
              </a:rPr>
              <a:t>整段式Prompt更适合标准化、高效率的内容生产。通过结构化的指令，让AI一次性输出完整的、具备销售逻辑的商品话术，帮助商家在有限的时间内覆盖更多SKU，实现快速铺货和销售。</a:t>
            </a:r>
            <a:endParaRPr lang="en-US" sz="1400" b="0" i="0" u="none" strike="noStrike">
              <a:solidFill>
                <a:srgbClr val="546E7A"/>
              </a:solidFill>
              <a:latin typeface="Noto Sans SC"/>
              <a:ea typeface="Noto Sans SC"/>
              <a:cs typeface="Noto Sans SC"/>
              <a:sym typeface="Noto Sans SC"/>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整段式商品台词Prompt模板结构</a:t>
            </a:r>
            <a:endParaRPr lang="en-US" sz="1100"/>
          </a:p>
        </p:txBody>
      </p:sp>
      <p:sp>
        <p:nvSpPr>
          <p:cNvPr id="3" name="AutoShape 3"/>
          <p:cNvSpPr/>
          <p:nvPr/>
        </p:nvSpPr>
        <p:spPr>
          <a:xfrm>
            <a:off x="762000" y="1524000"/>
            <a:ext cx="33782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406400" cy="406400"/>
          </a:xfrm>
          <a:prstGeom prst="rect">
            <a:avLst/>
          </a:prstGeom>
        </p:spPr>
      </p:pic>
      <p:sp>
        <p:nvSpPr>
          <p:cNvPr id="5" name="AutoShape 5"/>
          <p:cNvSpPr/>
          <p:nvPr/>
        </p:nvSpPr>
        <p:spPr>
          <a:xfrm>
            <a:off x="1524000" y="1676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角色定义</a:t>
            </a:r>
            <a:endParaRPr lang="en-US" sz="1100"/>
          </a:p>
        </p:txBody>
      </p:sp>
      <p:sp>
        <p:nvSpPr>
          <p:cNvPr id="6" name="AutoShape 6"/>
          <p:cNvSpPr/>
          <p:nvPr/>
        </p:nvSpPr>
        <p:spPr>
          <a:xfrm>
            <a:off x="1016000" y="21590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明确AI需要扮演的身份，如“电商平台数字人直播商品台词撰写专家”。</a:t>
            </a:r>
            <a:endParaRPr lang="en-US" sz="1100"/>
          </a:p>
        </p:txBody>
      </p:sp>
      <p:sp>
        <p:nvSpPr>
          <p:cNvPr id="7" name="AutoShape 7"/>
          <p:cNvSpPr/>
          <p:nvPr/>
        </p:nvSpPr>
        <p:spPr>
          <a:xfrm>
            <a:off x="4394200" y="1524000"/>
            <a:ext cx="33782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48200" y="1714500"/>
            <a:ext cx="406400" cy="406400"/>
          </a:xfrm>
          <a:prstGeom prst="rect">
            <a:avLst/>
          </a:prstGeom>
        </p:spPr>
      </p:pic>
      <p:sp>
        <p:nvSpPr>
          <p:cNvPr id="9" name="AutoShape 9"/>
          <p:cNvSpPr/>
          <p:nvPr/>
        </p:nvSpPr>
        <p:spPr>
          <a:xfrm>
            <a:off x="5156200" y="1676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核心技能</a:t>
            </a:r>
            <a:endParaRPr lang="en-US" sz="1100"/>
          </a:p>
        </p:txBody>
      </p:sp>
      <p:sp>
        <p:nvSpPr>
          <p:cNvPr id="10" name="AutoShape 10"/>
          <p:cNvSpPr/>
          <p:nvPr/>
        </p:nvSpPr>
        <p:spPr>
          <a:xfrm>
            <a:off x="4648200" y="21590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赋予AI特定能力，如“精通中文表达”、“懂得电商直播规则”。</a:t>
            </a:r>
            <a:endParaRPr lang="en-US" sz="1100"/>
          </a:p>
        </p:txBody>
      </p:sp>
      <p:sp>
        <p:nvSpPr>
          <p:cNvPr id="11" name="AutoShape 11"/>
          <p:cNvSpPr/>
          <p:nvPr/>
        </p:nvSpPr>
        <p:spPr>
          <a:xfrm>
            <a:off x="8026400" y="1524000"/>
            <a:ext cx="33782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1714500"/>
            <a:ext cx="406400" cy="406400"/>
          </a:xfrm>
          <a:prstGeom prst="rect">
            <a:avLst/>
          </a:prstGeom>
        </p:spPr>
      </p:pic>
      <p:sp>
        <p:nvSpPr>
          <p:cNvPr id="13" name="AutoShape 13"/>
          <p:cNvSpPr/>
          <p:nvPr/>
        </p:nvSpPr>
        <p:spPr>
          <a:xfrm>
            <a:off x="8788400" y="1676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商品信息</a:t>
            </a:r>
            <a:endParaRPr lang="en-US" sz="1100"/>
          </a:p>
        </p:txBody>
      </p:sp>
      <p:sp>
        <p:nvSpPr>
          <p:cNvPr id="14" name="AutoShape 14"/>
          <p:cNvSpPr/>
          <p:nvPr/>
        </p:nvSpPr>
        <p:spPr>
          <a:xfrm>
            <a:off x="8280400" y="21590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提供详细的商品参数、核心功效、优惠活动等关键卖点。</a:t>
            </a:r>
            <a:endParaRPr lang="en-US" sz="1100"/>
          </a:p>
        </p:txBody>
      </p:sp>
      <p:sp>
        <p:nvSpPr>
          <p:cNvPr id="15" name="AutoShape 15"/>
          <p:cNvSpPr/>
          <p:nvPr/>
        </p:nvSpPr>
        <p:spPr>
          <a:xfrm>
            <a:off x="762000" y="3429000"/>
            <a:ext cx="33782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619500"/>
            <a:ext cx="406400" cy="406400"/>
          </a:xfrm>
          <a:prstGeom prst="rect">
            <a:avLst/>
          </a:prstGeom>
        </p:spPr>
      </p:pic>
      <p:sp>
        <p:nvSpPr>
          <p:cNvPr id="17" name="AutoShape 17"/>
          <p:cNvSpPr/>
          <p:nvPr/>
        </p:nvSpPr>
        <p:spPr>
          <a:xfrm>
            <a:off x="1524000" y="3581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平台规范</a:t>
            </a:r>
            <a:endParaRPr lang="en-US" sz="1100"/>
          </a:p>
        </p:txBody>
      </p:sp>
      <p:sp>
        <p:nvSpPr>
          <p:cNvPr id="18" name="AutoShape 18"/>
          <p:cNvSpPr/>
          <p:nvPr/>
        </p:nvSpPr>
        <p:spPr>
          <a:xfrm>
            <a:off x="1016000" y="40640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指定必须遵守的电商平台规则，确保内容合规合法。</a:t>
            </a:r>
            <a:endParaRPr lang="en-US" sz="1100"/>
          </a:p>
        </p:txBody>
      </p:sp>
      <p:sp>
        <p:nvSpPr>
          <p:cNvPr id="19" name="AutoShape 19"/>
          <p:cNvSpPr/>
          <p:nvPr/>
        </p:nvSpPr>
        <p:spPr>
          <a:xfrm>
            <a:off x="4394200" y="3429000"/>
            <a:ext cx="33782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48200" y="3619500"/>
            <a:ext cx="406400" cy="406400"/>
          </a:xfrm>
          <a:prstGeom prst="rect">
            <a:avLst/>
          </a:prstGeom>
        </p:spPr>
      </p:pic>
      <p:sp>
        <p:nvSpPr>
          <p:cNvPr id="21" name="AutoShape 21"/>
          <p:cNvSpPr/>
          <p:nvPr/>
        </p:nvSpPr>
        <p:spPr>
          <a:xfrm>
            <a:off x="5156200" y="3581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输出要求</a:t>
            </a:r>
            <a:endParaRPr lang="en-US" sz="1100"/>
          </a:p>
        </p:txBody>
      </p:sp>
      <p:sp>
        <p:nvSpPr>
          <p:cNvPr id="22" name="AutoShape 22"/>
          <p:cNvSpPr/>
          <p:nvPr/>
        </p:nvSpPr>
        <p:spPr>
          <a:xfrm>
            <a:off x="4648200" y="40640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明确台词的格式、字数限制、风格偏好等具体生成要求。</a:t>
            </a:r>
            <a:endParaRPr lang="en-US" sz="1100"/>
          </a:p>
        </p:txBody>
      </p:sp>
      <p:sp>
        <p:nvSpPr>
          <p:cNvPr id="23" name="AutoShape 23"/>
          <p:cNvSpPr/>
          <p:nvPr/>
        </p:nvSpPr>
        <p:spPr>
          <a:xfrm>
            <a:off x="8026400" y="3429000"/>
            <a:ext cx="33782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80400" y="3619500"/>
            <a:ext cx="406400" cy="406400"/>
          </a:xfrm>
          <a:prstGeom prst="rect">
            <a:avLst/>
          </a:prstGeom>
        </p:spPr>
      </p:pic>
      <p:sp>
        <p:nvSpPr>
          <p:cNvPr id="25" name="AutoShape 25"/>
          <p:cNvSpPr/>
          <p:nvPr/>
        </p:nvSpPr>
        <p:spPr>
          <a:xfrm>
            <a:off x="8788400" y="3581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敏感词库</a:t>
            </a:r>
            <a:endParaRPr lang="en-US" sz="1100"/>
          </a:p>
        </p:txBody>
      </p:sp>
      <p:sp>
        <p:nvSpPr>
          <p:cNvPr id="26" name="AutoShape 26"/>
          <p:cNvSpPr/>
          <p:nvPr/>
        </p:nvSpPr>
        <p:spPr>
          <a:xfrm>
            <a:off x="8280400" y="40640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列出需要规避的敏感词汇或禁用表述，降低违规风险。</a:t>
            </a:r>
            <a:endParaRPr lang="en-US" sz="1100"/>
          </a:p>
        </p:txBody>
      </p:sp>
      <p:sp>
        <p:nvSpPr>
          <p:cNvPr id="27" name="AutoShape 27"/>
          <p:cNvSpPr/>
          <p:nvPr/>
        </p:nvSpPr>
        <p:spPr>
          <a:xfrm>
            <a:off x="762000" y="5461000"/>
            <a:ext cx="106426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1016000" y="5588000"/>
            <a:ext cx="101346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总结：</a:t>
            </a:r>
            <a:r>
              <a:rPr lang="en-US" sz="1600" b="0" i="0" u="none" strike="noStrike">
                <a:solidFill>
                  <a:srgbClr val="546E7A"/>
                </a:solidFill>
                <a:latin typeface="Noto Sans SC"/>
                <a:ea typeface="Noto Sans SC"/>
                <a:cs typeface="Noto Sans SC"/>
                <a:sym typeface="Noto Sans SC"/>
              </a:rPr>
              <a:t>通过构建完整的六要素Prompt模板，我们能够引导AI生成高质量、合规且符合业务需求的商品介绍台词。</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12.2.1 整段式商品台词Prompt模版 - 模板示例（护手霜）</a:t>
            </a:r>
            <a:endParaRPr lang="en-US" sz="1100"/>
          </a:p>
        </p:txBody>
      </p:sp>
      <p:sp>
        <p:nvSpPr>
          <p:cNvPr id="3" name="AutoShape 3"/>
          <p:cNvSpPr/>
          <p:nvPr/>
        </p:nvSpPr>
        <p:spPr>
          <a:xfrm>
            <a:off x="762000" y="1397000"/>
            <a:ext cx="5207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87500"/>
            <a:ext cx="304800" cy="304800"/>
          </a:xfrm>
          <a:prstGeom prst="rect">
            <a:avLst/>
          </a:prstGeom>
        </p:spPr>
      </p:pic>
      <p:sp>
        <p:nvSpPr>
          <p:cNvPr id="5" name="AutoShape 5"/>
          <p:cNvSpPr/>
          <p:nvPr/>
        </p:nvSpPr>
        <p:spPr>
          <a:xfrm>
            <a:off x="1397000" y="15494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角色设定</a:t>
            </a:r>
            <a:endParaRPr lang="en-US" sz="1100"/>
          </a:p>
        </p:txBody>
      </p:sp>
      <p:sp>
        <p:nvSpPr>
          <p:cNvPr id="6" name="AutoShape 6"/>
          <p:cNvSpPr/>
          <p:nvPr/>
        </p:nvSpPr>
        <p:spPr>
          <a:xfrm>
            <a:off x="1016000" y="19304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55A64"/>
                </a:solidFill>
                <a:latin typeface="Noto Sans SC"/>
                <a:ea typeface="Noto Sans SC"/>
                <a:cs typeface="Noto Sans SC"/>
                <a:sym typeface="Noto Sans SC"/>
              </a:rPr>
              <a:t>电商平台数字人直播商品台词撰写专家，擅长快速突出核心价值并促成销售。</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514600"/>
            <a:ext cx="304800" cy="304800"/>
          </a:xfrm>
          <a:prstGeom prst="rect">
            <a:avLst/>
          </a:prstGeom>
        </p:spPr>
      </p:pic>
      <p:sp>
        <p:nvSpPr>
          <p:cNvPr id="8" name="AutoShape 8"/>
          <p:cNvSpPr/>
          <p:nvPr/>
        </p:nvSpPr>
        <p:spPr>
          <a:xfrm>
            <a:off x="1397000" y="24765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核心技能</a:t>
            </a:r>
            <a:endParaRPr lang="en-US" sz="1100"/>
          </a:p>
        </p:txBody>
      </p:sp>
      <p:sp>
        <p:nvSpPr>
          <p:cNvPr id="9" name="AutoShape 9"/>
          <p:cNvSpPr/>
          <p:nvPr/>
        </p:nvSpPr>
        <p:spPr>
          <a:xfrm>
            <a:off x="1016000" y="285750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55A64"/>
                </a:solidFill>
                <a:latin typeface="Noto Sans SC"/>
                <a:ea typeface="Noto Sans SC"/>
                <a:cs typeface="Noto Sans SC"/>
                <a:sym typeface="Noto Sans SC"/>
              </a:rPr>
              <a:t>精通中文表达，深谙直播话术，掌握Markdown语法处理信息。</a:t>
            </a:r>
            <a:endParaRPr lang="en-US" sz="1100"/>
          </a:p>
        </p:txBody>
      </p:sp>
      <p:sp>
        <p:nvSpPr>
          <p:cNvPr id="10" name="AutoShape 10"/>
          <p:cNvSpPr/>
          <p:nvPr/>
        </p:nvSpPr>
        <p:spPr>
          <a:xfrm>
            <a:off x="762000" y="3556000"/>
            <a:ext cx="5207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746500"/>
            <a:ext cx="304800" cy="304800"/>
          </a:xfrm>
          <a:prstGeom prst="rect">
            <a:avLst/>
          </a:prstGeom>
        </p:spPr>
      </p:pic>
      <p:sp>
        <p:nvSpPr>
          <p:cNvPr id="12" name="AutoShape 12"/>
          <p:cNvSpPr/>
          <p:nvPr/>
        </p:nvSpPr>
        <p:spPr>
          <a:xfrm>
            <a:off x="1397000" y="37084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商品核心信息</a:t>
            </a:r>
            <a:endParaRPr lang="en-US" sz="1100"/>
          </a:p>
        </p:txBody>
      </p:sp>
      <p:sp>
        <p:nvSpPr>
          <p:cNvPr id="13" name="AutoShape 13"/>
          <p:cNvSpPr/>
          <p:nvPr/>
        </p:nvSpPr>
        <p:spPr>
          <a:xfrm>
            <a:off x="1016000" y="4127500"/>
            <a:ext cx="4699000" cy="1143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455A64"/>
              </a:buClr>
              <a:buChar char="•"/>
              <a:defRPr/>
            </a:pPr>
            <a:r>
              <a:rPr lang="en-US" sz="1400" b="1" i="0" u="none" strike="noStrike">
                <a:solidFill>
                  <a:srgbClr val="455A64"/>
                </a:solidFill>
                <a:latin typeface="Noto Sans SC"/>
                <a:ea typeface="Noto Sans SC"/>
                <a:cs typeface="Noto Sans SC"/>
                <a:sym typeface="Noto Sans SC"/>
              </a:rPr>
              <a:t>名称规格：</a:t>
            </a:r>
            <a:r>
              <a:rPr lang="en-US" sz="1400" b="0" i="0" u="none" strike="noStrike">
                <a:solidFill>
                  <a:srgbClr val="455A64"/>
                </a:solidFill>
                <a:latin typeface="Noto Sans SC"/>
                <a:ea typeface="Noto Sans SC"/>
                <a:cs typeface="Noto Sans SC"/>
                <a:sym typeface="Noto Sans SC"/>
              </a:rPr>
              <a:t>护手霜 (300ml)</a:t>
            </a:r>
            <a:endParaRPr lang="en-US" sz="1100"/>
          </a:p>
          <a:p>
            <a:pPr marL="177800" indent="-177800" algn="l">
              <a:lnSpc>
                <a:spcPct val="125000"/>
              </a:lnSpc>
              <a:buClr>
                <a:srgbClr val="455A64"/>
              </a:buClr>
              <a:buChar char="•"/>
            </a:pPr>
            <a:r>
              <a:rPr lang="en-US" sz="1400" b="1" i="0" u="none" strike="noStrike">
                <a:solidFill>
                  <a:srgbClr val="455A64"/>
                </a:solidFill>
                <a:latin typeface="Noto Sans SC"/>
                <a:ea typeface="Noto Sans SC"/>
                <a:cs typeface="Noto Sans SC"/>
                <a:sym typeface="Noto Sans SC"/>
              </a:rPr>
              <a:t>功效卖点：</a:t>
            </a:r>
            <a:r>
              <a:rPr lang="en-US" sz="1400" b="0" i="0" u="none" strike="noStrike">
                <a:solidFill>
                  <a:srgbClr val="455A64"/>
                </a:solidFill>
                <a:latin typeface="Noto Sans SC"/>
                <a:ea typeface="Noto Sans SC"/>
                <a:cs typeface="Noto Sans SC"/>
                <a:sym typeface="Noto Sans SC"/>
              </a:rPr>
              <a:t>愈合及抚平肌肤裂痕、干燥，正品保障</a:t>
            </a:r>
            <a:endParaRPr lang="en-US" sz="1400" b="0" i="0" u="none" strike="noStrike">
              <a:solidFill>
                <a:srgbClr val="455A64"/>
              </a:solidFill>
              <a:latin typeface="Noto Sans SC"/>
              <a:ea typeface="Noto Sans SC"/>
              <a:cs typeface="Noto Sans SC"/>
              <a:sym typeface="Noto Sans SC"/>
            </a:endParaRPr>
          </a:p>
          <a:p>
            <a:pPr marL="177800" indent="-177800" algn="l">
              <a:lnSpc>
                <a:spcPct val="125000"/>
              </a:lnSpc>
              <a:buClr>
                <a:srgbClr val="455A64"/>
              </a:buClr>
              <a:buChar char="•"/>
            </a:pPr>
            <a:r>
              <a:rPr lang="en-US" sz="1400" b="1" i="0" u="none" strike="noStrike">
                <a:solidFill>
                  <a:srgbClr val="455A64"/>
                </a:solidFill>
                <a:latin typeface="Noto Sans SC"/>
                <a:ea typeface="Noto Sans SC"/>
                <a:cs typeface="Noto Sans SC"/>
                <a:sym typeface="Noto Sans SC"/>
              </a:rPr>
              <a:t>优惠物流：</a:t>
            </a:r>
            <a:r>
              <a:rPr lang="en-US" sz="1400" b="0" i="0" u="none" strike="noStrike">
                <a:solidFill>
                  <a:srgbClr val="455A64"/>
                </a:solidFill>
                <a:latin typeface="Noto Sans SC"/>
                <a:ea typeface="Noto Sans SC"/>
                <a:cs typeface="Noto Sans SC"/>
                <a:sym typeface="Noto Sans SC"/>
              </a:rPr>
              <a:t>会员9折，限时买二送一，顺丰包邮</a:t>
            </a:r>
            <a:endParaRPr lang="en-US" sz="1400" b="0" i="0" u="none" strike="noStrike">
              <a:solidFill>
                <a:srgbClr val="455A64"/>
              </a:solidFill>
              <a:latin typeface="Noto Sans SC"/>
              <a:ea typeface="Noto Sans SC"/>
              <a:cs typeface="Noto Sans SC"/>
              <a:sym typeface="Noto Sans SC"/>
            </a:endParaRPr>
          </a:p>
        </p:txBody>
      </p:sp>
      <p:sp>
        <p:nvSpPr>
          <p:cNvPr id="14" name="AutoShape 14"/>
          <p:cNvSpPr/>
          <p:nvPr/>
        </p:nvSpPr>
        <p:spPr>
          <a:xfrm>
            <a:off x="6223000" y="1397000"/>
            <a:ext cx="5207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1587500"/>
            <a:ext cx="304800" cy="304800"/>
          </a:xfrm>
          <a:prstGeom prst="rect">
            <a:avLst/>
          </a:prstGeom>
        </p:spPr>
      </p:pic>
      <p:sp>
        <p:nvSpPr>
          <p:cNvPr id="16" name="AutoShape 16"/>
          <p:cNvSpPr/>
          <p:nvPr/>
        </p:nvSpPr>
        <p:spPr>
          <a:xfrm>
            <a:off x="6858000" y="15494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输出与规范要求</a:t>
            </a:r>
            <a:endParaRPr lang="en-US" sz="1100"/>
          </a:p>
        </p:txBody>
      </p:sp>
      <p:sp>
        <p:nvSpPr>
          <p:cNvPr id="17" name="AutoShape 17"/>
          <p:cNvSpPr/>
          <p:nvPr/>
        </p:nvSpPr>
        <p:spPr>
          <a:xfrm>
            <a:off x="6477000" y="1968500"/>
            <a:ext cx="4699000" cy="1143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455A64"/>
              </a:buClr>
              <a:buChar char="•"/>
              <a:defRPr/>
            </a:pPr>
            <a:r>
              <a:rPr lang="en-US" sz="1400" b="1" i="0" u="none" strike="noStrike">
                <a:solidFill>
                  <a:srgbClr val="455A64"/>
                </a:solidFill>
                <a:latin typeface="Noto Sans SC"/>
                <a:ea typeface="Noto Sans SC"/>
                <a:cs typeface="Noto Sans SC"/>
                <a:sym typeface="Noto Sans SC"/>
              </a:rPr>
              <a:t>格式要求：</a:t>
            </a:r>
            <a:r>
              <a:rPr lang="en-US" sz="1400" b="0" i="0" u="none" strike="noStrike">
                <a:solidFill>
                  <a:srgbClr val="455A64"/>
                </a:solidFill>
                <a:latin typeface="Noto Sans SC"/>
                <a:ea typeface="Noto Sans SC"/>
                <a:cs typeface="Noto Sans SC"/>
                <a:sym typeface="Noto Sans SC"/>
              </a:rPr>
              <a:t>整段输出不分段，200-300字，逻辑连贯</a:t>
            </a:r>
            <a:endParaRPr lang="en-US" sz="1100"/>
          </a:p>
          <a:p>
            <a:pPr marL="177800" indent="-177800" algn="l">
              <a:lnSpc>
                <a:spcPct val="125000"/>
              </a:lnSpc>
              <a:buClr>
                <a:srgbClr val="455A64"/>
              </a:buClr>
              <a:buChar char="•"/>
            </a:pPr>
            <a:r>
              <a:rPr lang="en-US" sz="1400" b="1" i="0" u="none" strike="noStrike">
                <a:solidFill>
                  <a:srgbClr val="455A64"/>
                </a:solidFill>
                <a:latin typeface="Noto Sans SC"/>
                <a:ea typeface="Noto Sans SC"/>
                <a:cs typeface="Noto Sans SC"/>
                <a:sym typeface="Noto Sans SC"/>
              </a:rPr>
              <a:t>内容原则：</a:t>
            </a:r>
            <a:r>
              <a:rPr lang="en-US" sz="1400" b="0" i="0" u="none" strike="noStrike">
                <a:solidFill>
                  <a:srgbClr val="455A64"/>
                </a:solidFill>
                <a:latin typeface="Noto Sans SC"/>
                <a:ea typeface="Noto Sans SC"/>
                <a:cs typeface="Noto Sans SC"/>
                <a:sym typeface="Noto Sans SC"/>
              </a:rPr>
              <a:t>真实不夸大，突出卖点，符合电商平台规则</a:t>
            </a:r>
            <a:endParaRPr lang="en-US" sz="1400" b="0" i="0" u="none" strike="noStrike">
              <a:solidFill>
                <a:srgbClr val="455A64"/>
              </a:solidFill>
              <a:latin typeface="Noto Sans SC"/>
              <a:ea typeface="Noto Sans SC"/>
              <a:cs typeface="Noto Sans SC"/>
              <a:sym typeface="Noto Sans SC"/>
            </a:endParaRPr>
          </a:p>
          <a:p>
            <a:pPr marL="177800" indent="-177800" algn="l">
              <a:lnSpc>
                <a:spcPct val="125000"/>
              </a:lnSpc>
              <a:buClr>
                <a:srgbClr val="455A64"/>
              </a:buClr>
              <a:buChar char="•"/>
            </a:pPr>
            <a:r>
              <a:rPr lang="en-US" sz="1400" b="1" i="0" u="none" strike="noStrike">
                <a:solidFill>
                  <a:srgbClr val="455A64"/>
                </a:solidFill>
                <a:latin typeface="Noto Sans SC"/>
                <a:ea typeface="Noto Sans SC"/>
                <a:cs typeface="Noto Sans SC"/>
                <a:sym typeface="Noto Sans SC"/>
              </a:rPr>
              <a:t>目的导向：</a:t>
            </a:r>
            <a:r>
              <a:rPr lang="en-US" sz="1400" b="0" i="0" u="none" strike="noStrike">
                <a:solidFill>
                  <a:srgbClr val="455A64"/>
                </a:solidFill>
                <a:latin typeface="Noto Sans SC"/>
                <a:ea typeface="Noto Sans SC"/>
                <a:cs typeface="Noto Sans SC"/>
                <a:sym typeface="Noto Sans SC"/>
              </a:rPr>
              <a:t>以销售转化为核心目标，忽略无关信息</a:t>
            </a:r>
            <a:endParaRPr lang="en-US" sz="1400" b="0" i="0" u="none" strike="noStrike">
              <a:solidFill>
                <a:srgbClr val="455A64"/>
              </a:solidFill>
              <a:latin typeface="Noto Sans SC"/>
              <a:ea typeface="Noto Sans SC"/>
              <a:cs typeface="Noto Sans SC"/>
              <a:sym typeface="Noto Sans SC"/>
            </a:endParaRPr>
          </a:p>
        </p:txBody>
      </p:sp>
      <p:sp>
        <p:nvSpPr>
          <p:cNvPr id="18" name="AutoShape 18"/>
          <p:cNvSpPr/>
          <p:nvPr/>
        </p:nvSpPr>
        <p:spPr>
          <a:xfrm>
            <a:off x="6223000" y="3556000"/>
            <a:ext cx="5207000" cy="1905000"/>
          </a:xfrm>
          <a:prstGeom prst="roundRect">
            <a:avLst>
              <a:gd name="adj" fmla="val 6666"/>
            </a:avLst>
          </a:prstGeom>
          <a:solidFill>
            <a:srgbClr val="FFF3E0">
              <a:alpha val="80000"/>
            </a:srgbClr>
          </a:solidFill>
          <a:ln w="12700" cap="flat" cmpd="sng">
            <a:solidFill>
              <a:srgbClr val="FF9800">
                <a:alpha val="100000"/>
              </a:srgbClr>
            </a:solidFill>
            <a:prstDash val="solid"/>
            <a:round/>
          </a:ln>
          <a:effectLst>
            <a:outerShdw blurRad="127000" dist="50800" dir="5400000" algn="tl" rotWithShape="0">
              <a:srgbClr val="FF9800">
                <a:alpha val="15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3746500"/>
            <a:ext cx="304800" cy="304800"/>
          </a:xfrm>
          <a:prstGeom prst="rect">
            <a:avLst/>
          </a:prstGeom>
        </p:spPr>
      </p:pic>
      <p:sp>
        <p:nvSpPr>
          <p:cNvPr id="20" name="AutoShape 20"/>
          <p:cNvSpPr/>
          <p:nvPr/>
        </p:nvSpPr>
        <p:spPr>
          <a:xfrm>
            <a:off x="6858000" y="37084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65100"/>
                </a:solidFill>
                <a:latin typeface="Noto Sans SC"/>
                <a:ea typeface="Noto Sans SC"/>
                <a:cs typeface="Noto Sans SC"/>
                <a:sym typeface="Noto Sans SC"/>
              </a:rPr>
              <a:t>敏感词规避库</a:t>
            </a:r>
            <a:endParaRPr lang="en-US" sz="1100"/>
          </a:p>
        </p:txBody>
      </p:sp>
      <p:sp>
        <p:nvSpPr>
          <p:cNvPr id="21" name="AutoShape 21"/>
          <p:cNvSpPr/>
          <p:nvPr/>
        </p:nvSpPr>
        <p:spPr>
          <a:xfrm>
            <a:off x="6477000" y="4127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55A64"/>
                </a:solidFill>
                <a:latin typeface="Noto Sans SC"/>
                <a:ea typeface="Noto Sans SC"/>
                <a:cs typeface="Noto Sans SC"/>
                <a:sym typeface="Noto Sans SC"/>
              </a:rPr>
              <a:t>严禁包含以下绝对化或违规词汇：</a:t>
            </a:r>
            <a:endParaRPr lang="en-US" sz="1100"/>
          </a:p>
          <a:p>
            <a:pPr indent="0" algn="l">
              <a:lnSpc>
                <a:spcPct val="125000"/>
              </a:lnSpc>
            </a:pPr>
            <a:r>
              <a:rPr lang="en-US" sz="1400" b="1" i="0" u="none" strike="noStrike">
                <a:solidFill>
                  <a:srgbClr val="EF5350"/>
                </a:solidFill>
                <a:latin typeface="Noto Sans SC"/>
                <a:ea typeface="Noto Sans SC"/>
                <a:cs typeface="Noto Sans SC"/>
                <a:sym typeface="Noto Sans SC"/>
              </a:rPr>
              <a:t>世界级、最高级、第一、唯一、首个、最好、最便宜、美白、祛痘</a:t>
            </a:r>
            <a:endParaRPr lang="en-US" sz="1400" b="1" i="0" u="none" strike="noStrike">
              <a:solidFill>
                <a:srgbClr val="EF5350"/>
              </a:solidFill>
              <a:latin typeface="Noto Sans SC"/>
              <a:ea typeface="Noto Sans SC"/>
              <a:cs typeface="Noto Sans SC"/>
              <a:sym typeface="Noto Sans SC"/>
            </a:endParaRPr>
          </a:p>
          <a:p>
            <a:pPr indent="0" algn="l">
              <a:lnSpc>
                <a:spcPct val="125000"/>
              </a:lnSpc>
            </a:pPr>
            <a:r>
              <a:rPr lang="en-US" sz="1400" b="0" i="0" u="none" strike="noStrike">
                <a:solidFill>
                  <a:srgbClr val="455A64"/>
                </a:solidFill>
                <a:latin typeface="Noto Sans SC"/>
                <a:ea typeface="Noto Sans SC"/>
                <a:cs typeface="Noto Sans SC"/>
                <a:sym typeface="Noto Sans SC"/>
              </a:rPr>
              <a:t>确保内容合规，避免平台处罚。</a:t>
            </a:r>
            <a:endParaRPr lang="en-US" sz="1400" b="0" i="0" u="none" strike="noStrike">
              <a:solidFill>
                <a:srgbClr val="455A64"/>
              </a:solidFill>
              <a:latin typeface="Noto Sans SC"/>
              <a:ea typeface="Noto Sans SC"/>
              <a:cs typeface="Noto Sans SC"/>
              <a:sym typeface="Noto Sans SC"/>
            </a:endParaRPr>
          </a:p>
        </p:txBody>
      </p:sp>
      <p:sp>
        <p:nvSpPr>
          <p:cNvPr id="22" name="AutoShape 22"/>
          <p:cNvSpPr/>
          <p:nvPr/>
        </p:nvSpPr>
        <p:spPr>
          <a:xfrm>
            <a:off x="762000" y="5715000"/>
            <a:ext cx="10668000" cy="762000"/>
          </a:xfrm>
          <a:prstGeom prst="roundRect">
            <a:avLst>
              <a:gd name="adj" fmla="val 16666"/>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16000" y="5905500"/>
            <a:ext cx="304800" cy="304800"/>
          </a:xfrm>
          <a:prstGeom prst="rect">
            <a:avLst/>
          </a:prstGeom>
        </p:spPr>
      </p:pic>
      <p:sp>
        <p:nvSpPr>
          <p:cNvPr id="24" name="AutoShape 24"/>
          <p:cNvSpPr/>
          <p:nvPr/>
        </p:nvSpPr>
        <p:spPr>
          <a:xfrm>
            <a:off x="1397000" y="5842000"/>
            <a:ext cx="977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核心要点：明确角色定位 + 详实商品信息 + 严格合规要求 = 高效销售转化话术</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整段式商品台词Prompt模版示例</a:t>
            </a:r>
            <a:endParaRPr lang="en-US" sz="1100"/>
          </a:p>
        </p:txBody>
      </p:sp>
      <p:sp>
        <p:nvSpPr>
          <p:cNvPr id="3" name="AutoShape 3"/>
          <p:cNvSpPr/>
          <p:nvPr/>
        </p:nvSpPr>
        <p:spPr>
          <a:xfrm>
            <a:off x="762000" y="1397000"/>
            <a:ext cx="6858000" cy="3302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587500"/>
            <a:ext cx="635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9800"/>
                </a:solidFill>
                <a:latin typeface="Noto Sans SC"/>
                <a:ea typeface="Noto Sans SC"/>
                <a:cs typeface="Noto Sans SC"/>
                <a:sym typeface="Noto Sans SC"/>
              </a:rPr>
              <a:t>AI 生成结果：护手霜直播台词</a:t>
            </a:r>
            <a:endParaRPr lang="en-US" sz="1100"/>
          </a:p>
        </p:txBody>
      </p:sp>
      <p:sp>
        <p:nvSpPr>
          <p:cNvPr id="5" name="AutoShape 5"/>
          <p:cNvSpPr/>
          <p:nvPr/>
        </p:nvSpPr>
        <p:spPr>
          <a:xfrm>
            <a:off x="1016000" y="2032000"/>
            <a:ext cx="6350000" cy="2413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500" b="0" i="0" u="none" strike="noStrike">
                <a:solidFill>
                  <a:srgbClr val="37474F"/>
                </a:solidFill>
                <a:latin typeface="Noto Sans SC"/>
                <a:ea typeface="Noto Sans SC"/>
                <a:cs typeface="Noto Sans SC"/>
                <a:sym typeface="Noto Sans SC"/>
              </a:rPr>
              <a:t>大家好，欢迎来到【xx京东直播间】！今天要为大家推荐一款非常受欢迎的护手霜。我们这款护手霜容量为300ml，正好适合秋冬季节频繁使用。它的主要功效是能愈合并抚平因干燥引起的肌肤裂痕，让你的双手保持柔嫩光滑。我们保证这款护手霜是正品，品质有保障，用后肌肤焕然一新。目前，会员购买可享9折优惠，并且在限时活动期间买二送一，十分划算。此外，我们提供顺丰快递包邮服务，让您购物无忧。这款护手霜是秋冬季节必备的护肤佳品，赶快下单吧！</a:t>
            </a:r>
            <a:endParaRPr lang="en-US" sz="1100"/>
          </a:p>
        </p:txBody>
      </p:sp>
      <p:sp>
        <p:nvSpPr>
          <p:cNvPr id="6" name="AutoShape 6"/>
          <p:cNvSpPr/>
          <p:nvPr/>
        </p:nvSpPr>
        <p:spPr>
          <a:xfrm>
            <a:off x="7874000" y="1397000"/>
            <a:ext cx="3556000" cy="3302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7" name="AutoShape 7"/>
          <p:cNvSpPr/>
          <p:nvPr/>
        </p:nvSpPr>
        <p:spPr>
          <a:xfrm>
            <a:off x="8128000" y="15875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生成效果分析</a:t>
            </a:r>
            <a:endParaRPr lang="en-US" sz="1100"/>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8000" y="2159000"/>
            <a:ext cx="304800" cy="304800"/>
          </a:xfrm>
          <a:prstGeom prst="rect">
            <a:avLst/>
          </a:prstGeom>
        </p:spPr>
      </p:pic>
      <p:sp>
        <p:nvSpPr>
          <p:cNvPr id="9" name="AutoShape 9"/>
          <p:cNvSpPr/>
          <p:nvPr/>
        </p:nvSpPr>
        <p:spPr>
          <a:xfrm>
            <a:off x="8509000" y="2133600"/>
            <a:ext cx="2667000" cy="63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37474F"/>
                </a:solidFill>
                <a:latin typeface="Noto Sans SC"/>
                <a:ea typeface="Noto Sans SC"/>
                <a:cs typeface="Noto Sans SC"/>
                <a:sym typeface="Noto Sans SC"/>
              </a:rPr>
              <a:t>内容完整</a:t>
            </a:r>
            <a:endParaRPr lang="en-US" sz="1100"/>
          </a:p>
          <a:p>
            <a:pPr indent="0" algn="l">
              <a:lnSpc>
                <a:spcPct val="125000"/>
              </a:lnSpc>
            </a:pPr>
            <a:r>
              <a:rPr lang="en-US" sz="1300" b="0" i="0" u="none" strike="noStrike">
                <a:solidFill>
                  <a:srgbClr val="90A4AE"/>
                </a:solidFill>
                <a:latin typeface="Noto Sans SC"/>
                <a:ea typeface="Noto Sans SC"/>
                <a:cs typeface="Noto Sans SC"/>
                <a:sym typeface="Noto Sans SC"/>
              </a:rPr>
              <a:t>涵盖规格、功效、优惠、物流等关键信息</a:t>
            </a:r>
            <a:endParaRPr lang="en-US" sz="1300" b="0" i="0" u="none" strike="noStrike">
              <a:solidFill>
                <a:srgbClr val="90A4AE"/>
              </a:solidFill>
              <a:latin typeface="Noto Sans SC"/>
              <a:ea typeface="Noto Sans SC"/>
              <a:cs typeface="Noto Sans SC"/>
              <a:sym typeface="Noto Sans SC"/>
            </a:endParaR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28000" y="2921000"/>
            <a:ext cx="304800" cy="304800"/>
          </a:xfrm>
          <a:prstGeom prst="rect">
            <a:avLst/>
          </a:prstGeom>
        </p:spPr>
      </p:pic>
      <p:sp>
        <p:nvSpPr>
          <p:cNvPr id="11" name="AutoShape 11"/>
          <p:cNvSpPr/>
          <p:nvPr/>
        </p:nvSpPr>
        <p:spPr>
          <a:xfrm>
            <a:off x="8509000" y="2895600"/>
            <a:ext cx="2667000" cy="63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37474F"/>
                </a:solidFill>
                <a:latin typeface="Noto Sans SC"/>
                <a:ea typeface="Noto Sans SC"/>
                <a:cs typeface="Noto Sans SC"/>
                <a:sym typeface="Noto Sans SC"/>
              </a:rPr>
              <a:t>语言流畅</a:t>
            </a:r>
            <a:endParaRPr lang="en-US" sz="1100"/>
          </a:p>
          <a:p>
            <a:pPr indent="0" algn="l">
              <a:lnSpc>
                <a:spcPct val="125000"/>
              </a:lnSpc>
            </a:pPr>
            <a:r>
              <a:rPr lang="en-US" sz="1300" b="0" i="0" u="none" strike="noStrike">
                <a:solidFill>
                  <a:srgbClr val="90A4AE"/>
                </a:solidFill>
                <a:latin typeface="Noto Sans SC"/>
                <a:ea typeface="Noto Sans SC"/>
                <a:cs typeface="Noto Sans SC"/>
                <a:sym typeface="Noto Sans SC"/>
              </a:rPr>
              <a:t>符合直播口语化特点，表达自然生动</a:t>
            </a:r>
            <a:endParaRPr lang="en-US" sz="1300" b="0" i="0" u="none" strike="noStrike">
              <a:solidFill>
                <a:srgbClr val="90A4AE"/>
              </a:solidFill>
              <a:latin typeface="Noto Sans SC"/>
              <a:ea typeface="Noto Sans SC"/>
              <a:cs typeface="Noto Sans SC"/>
              <a:sym typeface="Noto Sans SC"/>
            </a:endParaR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8000" y="3683000"/>
            <a:ext cx="304800" cy="304800"/>
          </a:xfrm>
          <a:prstGeom prst="rect">
            <a:avLst/>
          </a:prstGeom>
        </p:spPr>
      </p:pic>
      <p:sp>
        <p:nvSpPr>
          <p:cNvPr id="13" name="AutoShape 13"/>
          <p:cNvSpPr/>
          <p:nvPr/>
        </p:nvSpPr>
        <p:spPr>
          <a:xfrm>
            <a:off x="8509000" y="3657600"/>
            <a:ext cx="2667000" cy="63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37474F"/>
                </a:solidFill>
                <a:latin typeface="Noto Sans SC"/>
                <a:ea typeface="Noto Sans SC"/>
                <a:cs typeface="Noto Sans SC"/>
                <a:sym typeface="Noto Sans SC"/>
              </a:rPr>
              <a:t>符合规范</a:t>
            </a:r>
            <a:endParaRPr lang="en-US" sz="1100"/>
          </a:p>
          <a:p>
            <a:pPr indent="0" algn="l">
              <a:lnSpc>
                <a:spcPct val="125000"/>
              </a:lnSpc>
            </a:pPr>
            <a:r>
              <a:rPr lang="en-US" sz="1300" b="0" i="0" u="none" strike="noStrike">
                <a:solidFill>
                  <a:srgbClr val="90A4AE"/>
                </a:solidFill>
                <a:latin typeface="Noto Sans SC"/>
                <a:ea typeface="Noto Sans SC"/>
                <a:cs typeface="Noto Sans SC"/>
                <a:sym typeface="Noto Sans SC"/>
              </a:rPr>
              <a:t>成功规避敏感词，符合平台发布规则</a:t>
            </a:r>
            <a:endParaRPr lang="en-US" sz="1300" b="0" i="0" u="none" strike="noStrike">
              <a:solidFill>
                <a:srgbClr val="90A4AE"/>
              </a:solidFill>
              <a:latin typeface="Noto Sans SC"/>
              <a:ea typeface="Noto Sans SC"/>
              <a:cs typeface="Noto Sans SC"/>
              <a:sym typeface="Noto Sans SC"/>
            </a:endParaRPr>
          </a:p>
        </p:txBody>
      </p:sp>
      <p:sp>
        <p:nvSpPr>
          <p:cNvPr id="14" name="AutoShape 14"/>
          <p:cNvSpPr/>
          <p:nvPr/>
        </p:nvSpPr>
        <p:spPr>
          <a:xfrm>
            <a:off x="762000" y="4953000"/>
            <a:ext cx="10668000" cy="1270000"/>
          </a:xfrm>
          <a:prstGeom prst="roundRect">
            <a:avLst>
              <a:gd name="adj" fmla="val 100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270500"/>
            <a:ext cx="609600" cy="609600"/>
          </a:xfrm>
          <a:prstGeom prst="rect">
            <a:avLst/>
          </a:prstGeom>
        </p:spPr>
      </p:pic>
      <p:sp>
        <p:nvSpPr>
          <p:cNvPr id="16" name="AutoShape 16"/>
          <p:cNvSpPr/>
          <p:nvPr/>
        </p:nvSpPr>
        <p:spPr>
          <a:xfrm>
            <a:off x="1778000" y="5143500"/>
            <a:ext cx="939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核心价值总结：</a:t>
            </a:r>
            <a:endParaRPr lang="en-US" sz="1100"/>
          </a:p>
          <a:p>
            <a:pPr indent="0" algn="l">
              <a:lnSpc>
                <a:spcPct val="125000"/>
              </a:lnSpc>
            </a:pPr>
            <a:r>
              <a:rPr lang="en-US" sz="1400" b="0" i="0" u="none" strike="noStrike">
                <a:solidFill>
                  <a:srgbClr val="37474F"/>
                </a:solidFill>
                <a:latin typeface="Noto Sans SC"/>
                <a:ea typeface="Noto Sans SC"/>
                <a:cs typeface="Noto Sans SC"/>
                <a:sym typeface="Noto Sans SC"/>
              </a:rPr>
              <a:t>通过整段式Prompt模板，AI能够准确理解用户意图，生成逻辑严密、信息完整且符合特定场景（如直播带货）的高质量文本，大幅提升内容创作效率。</a:t>
            </a:r>
            <a:endParaRPr lang="en-US" sz="1400" b="0" i="0" u="none" strike="noStrike">
              <a:solidFill>
                <a:srgbClr val="37474F"/>
              </a:solidFill>
              <a:latin typeface="Noto Sans SC"/>
              <a:ea typeface="Noto Sans SC"/>
              <a:cs typeface="Noto Sans SC"/>
              <a:sym typeface="Noto Sans SC"/>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12.2.2 分段式商品台词Prompt模版 - 适用场景</a:t>
            </a:r>
            <a:endParaRPr lang="en-US" sz="1100"/>
          </a:p>
        </p:txBody>
      </p:sp>
      <p:sp>
        <p:nvSpPr>
          <p:cNvPr id="3" name="AutoShape 3"/>
          <p:cNvSpPr/>
          <p:nvPr/>
        </p:nvSpPr>
        <p:spPr>
          <a:xfrm>
            <a:off x="762000" y="1524000"/>
            <a:ext cx="10668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1778000"/>
            <a:ext cx="609600" cy="609600"/>
          </a:xfrm>
          <a:prstGeom prst="rect">
            <a:avLst/>
          </a:prstGeom>
        </p:spPr>
      </p:pic>
      <p:sp>
        <p:nvSpPr>
          <p:cNvPr id="5" name="AutoShape 5"/>
          <p:cNvSpPr/>
          <p:nvPr/>
        </p:nvSpPr>
        <p:spPr>
          <a:xfrm>
            <a:off x="1905000" y="17780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适用场景</a:t>
            </a:r>
            <a:endParaRPr lang="en-US" sz="1100"/>
          </a:p>
        </p:txBody>
      </p:sp>
      <p:sp>
        <p:nvSpPr>
          <p:cNvPr id="6" name="AutoShape 6"/>
          <p:cNvSpPr/>
          <p:nvPr/>
        </p:nvSpPr>
        <p:spPr>
          <a:xfrm>
            <a:off x="1905000" y="2286000"/>
            <a:ext cx="9144000" cy="1270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37474F"/>
              </a:buClr>
              <a:buChar char="•"/>
              <a:defRPr/>
            </a:pPr>
            <a:r>
              <a:rPr lang="en-US" sz="1600" b="0" i="0" u="none" strike="noStrike">
                <a:solidFill>
                  <a:srgbClr val="37474F"/>
                </a:solidFill>
                <a:latin typeface="Noto Sans SC"/>
                <a:ea typeface="Noto Sans SC"/>
                <a:cs typeface="Noto Sans SC"/>
                <a:sym typeface="Noto Sans SC"/>
              </a:rPr>
              <a:t>品牌商家：注重品牌形象和内容质量，追求专业感。</a:t>
            </a:r>
            <a:endParaRPr lang="en-US" sz="1100"/>
          </a:p>
          <a:p>
            <a:pPr marL="203200" indent="-203200" algn="l">
              <a:lnSpc>
                <a:spcPct val="125000"/>
              </a:lnSpc>
              <a:buClr>
                <a:srgbClr val="37474F"/>
              </a:buClr>
              <a:buChar char="•"/>
            </a:pPr>
            <a:r>
              <a:rPr lang="en-US" sz="1600" b="0" i="0" u="none" strike="noStrike">
                <a:solidFill>
                  <a:srgbClr val="37474F"/>
                </a:solidFill>
                <a:latin typeface="Noto Sans SC"/>
                <a:ea typeface="Noto Sans SC"/>
                <a:cs typeface="Noto Sans SC"/>
                <a:sym typeface="Noto Sans SC"/>
              </a:rPr>
              <a:t>精细化管理：对直播流程有严格的把控需求，确保信息准确传达。</a:t>
            </a:r>
            <a:endParaRPr lang="en-US" sz="1600" b="0" i="0" u="none" strike="noStrike">
              <a:solidFill>
                <a:srgbClr val="37474F"/>
              </a:solidFill>
              <a:latin typeface="Noto Sans SC"/>
              <a:ea typeface="Noto Sans SC"/>
              <a:cs typeface="Noto Sans SC"/>
              <a:sym typeface="Noto Sans SC"/>
            </a:endParaRPr>
          </a:p>
          <a:p>
            <a:pPr marL="203200" indent="-203200" algn="l">
              <a:lnSpc>
                <a:spcPct val="125000"/>
              </a:lnSpc>
              <a:buClr>
                <a:srgbClr val="37474F"/>
              </a:buClr>
              <a:buChar char="•"/>
            </a:pPr>
            <a:r>
              <a:rPr lang="en-US" sz="1600" b="0" i="0" u="none" strike="noStrike">
                <a:solidFill>
                  <a:srgbClr val="37474F"/>
                </a:solidFill>
                <a:latin typeface="Noto Sans SC"/>
                <a:ea typeface="Noto Sans SC"/>
                <a:cs typeface="Noto Sans SC"/>
                <a:sym typeface="Noto Sans SC"/>
              </a:rPr>
              <a:t>逻辑清晰：希望直播内容结构严谨，层次分明，易于观众理解。</a:t>
            </a:r>
            <a:endParaRPr lang="en-US" sz="1600" b="0" i="0" u="none" strike="noStrike">
              <a:solidFill>
                <a:srgbClr val="37474F"/>
              </a:solidFill>
              <a:latin typeface="Noto Sans SC"/>
              <a:ea typeface="Noto Sans SC"/>
              <a:cs typeface="Noto Sans SC"/>
              <a:sym typeface="Noto Sans SC"/>
            </a:endParaRPr>
          </a:p>
        </p:txBody>
      </p:sp>
      <p:sp>
        <p:nvSpPr>
          <p:cNvPr id="7" name="AutoShape 7"/>
          <p:cNvSpPr/>
          <p:nvPr/>
        </p:nvSpPr>
        <p:spPr>
          <a:xfrm>
            <a:off x="762000" y="4064000"/>
            <a:ext cx="10668000" cy="1778000"/>
          </a:xfrm>
          <a:prstGeom prst="roundRect">
            <a:avLst>
              <a:gd name="adj" fmla="val 7142"/>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4318000"/>
            <a:ext cx="609600" cy="609600"/>
          </a:xfrm>
          <a:prstGeom prst="rect">
            <a:avLst/>
          </a:prstGeom>
        </p:spPr>
      </p:pic>
      <p:sp>
        <p:nvSpPr>
          <p:cNvPr id="9" name="AutoShape 9"/>
          <p:cNvSpPr/>
          <p:nvPr/>
        </p:nvSpPr>
        <p:spPr>
          <a:xfrm>
            <a:off x="1905000" y="43180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核心目标</a:t>
            </a:r>
            <a:endParaRPr lang="en-US" sz="1100"/>
          </a:p>
        </p:txBody>
      </p:sp>
      <p:sp>
        <p:nvSpPr>
          <p:cNvPr id="10" name="AutoShape 10"/>
          <p:cNvSpPr/>
          <p:nvPr/>
        </p:nvSpPr>
        <p:spPr>
          <a:xfrm>
            <a:off x="1905000" y="4826000"/>
            <a:ext cx="914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7474F"/>
                </a:solidFill>
                <a:latin typeface="Noto Sans SC"/>
                <a:ea typeface="Noto Sans SC"/>
                <a:cs typeface="Noto Sans SC"/>
                <a:sym typeface="Noto Sans SC"/>
              </a:rPr>
              <a:t>生成结构清晰、层次分明的分段式台词，便于数字人按流程播报和后期优化，提升直播效率与质量。</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12.2.2 分段式商品台词Prompt模版 - 模板结构</a:t>
            </a:r>
            <a:endParaRPr lang="en-US" sz="1100"/>
          </a:p>
        </p:txBody>
      </p:sp>
      <p:sp>
        <p:nvSpPr>
          <p:cNvPr id="3" name="AutoShape 3"/>
          <p:cNvSpPr/>
          <p:nvPr/>
        </p:nvSpPr>
        <p:spPr>
          <a:xfrm>
            <a:off x="762000" y="1524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508000" cy="508000"/>
          </a:xfrm>
          <a:prstGeom prst="rect">
            <a:avLst/>
          </a:prstGeom>
        </p:spPr>
      </p:pic>
      <p:sp>
        <p:nvSpPr>
          <p:cNvPr id="5" name="AutoShape 5"/>
          <p:cNvSpPr/>
          <p:nvPr/>
        </p:nvSpPr>
        <p:spPr>
          <a:xfrm>
            <a:off x="1651000" y="1714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角色定义</a:t>
            </a:r>
            <a:endParaRPr lang="en-US" sz="1100"/>
          </a:p>
        </p:txBody>
      </p:sp>
      <p:sp>
        <p:nvSpPr>
          <p:cNvPr id="6" name="AutoShape 6"/>
          <p:cNvSpPr/>
          <p:nvPr/>
        </p:nvSpPr>
        <p:spPr>
          <a:xfrm>
            <a:off x="1016000" y="23495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90A4AE"/>
                </a:solidFill>
                <a:latin typeface="Noto Sans SC"/>
                <a:ea typeface="Noto Sans SC"/>
                <a:cs typeface="Noto Sans SC"/>
                <a:sym typeface="Noto Sans SC"/>
              </a:rPr>
              <a:t>定义AI扮演的特定角色，如专业顾问或产品专家。</a:t>
            </a:r>
            <a:endParaRPr lang="en-US" sz="1100"/>
          </a:p>
        </p:txBody>
      </p:sp>
      <p:sp>
        <p:nvSpPr>
          <p:cNvPr id="7" name="AutoShape 7"/>
          <p:cNvSpPr/>
          <p:nvPr/>
        </p:nvSpPr>
        <p:spPr>
          <a:xfrm>
            <a:off x="4445000" y="1524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778000"/>
            <a:ext cx="508000" cy="508000"/>
          </a:xfrm>
          <a:prstGeom prst="rect">
            <a:avLst/>
          </a:prstGeom>
        </p:spPr>
      </p:pic>
      <p:sp>
        <p:nvSpPr>
          <p:cNvPr id="9" name="AutoShape 9"/>
          <p:cNvSpPr/>
          <p:nvPr/>
        </p:nvSpPr>
        <p:spPr>
          <a:xfrm>
            <a:off x="5334000" y="1714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技能设定</a:t>
            </a:r>
            <a:endParaRPr lang="en-US" sz="1100"/>
          </a:p>
        </p:txBody>
      </p:sp>
      <p:sp>
        <p:nvSpPr>
          <p:cNvPr id="10" name="AutoShape 10"/>
          <p:cNvSpPr/>
          <p:nvPr/>
        </p:nvSpPr>
        <p:spPr>
          <a:xfrm>
            <a:off x="4699000" y="23495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90A4AE"/>
                </a:solidFill>
                <a:latin typeface="Noto Sans SC"/>
                <a:ea typeface="Noto Sans SC"/>
                <a:cs typeface="Noto Sans SC"/>
                <a:sym typeface="Noto Sans SC"/>
              </a:rPr>
              <a:t>明确AI应具备的能力，如文案撰写、痛点分析等。</a:t>
            </a:r>
            <a:endParaRPr lang="en-US" sz="1100"/>
          </a:p>
        </p:txBody>
      </p:sp>
      <p:sp>
        <p:nvSpPr>
          <p:cNvPr id="11" name="AutoShape 11"/>
          <p:cNvSpPr/>
          <p:nvPr/>
        </p:nvSpPr>
        <p:spPr>
          <a:xfrm>
            <a:off x="8128000" y="1524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78000"/>
            <a:ext cx="508000" cy="508000"/>
          </a:xfrm>
          <a:prstGeom prst="rect">
            <a:avLst/>
          </a:prstGeom>
        </p:spPr>
      </p:pic>
      <p:sp>
        <p:nvSpPr>
          <p:cNvPr id="13" name="AutoShape 13"/>
          <p:cNvSpPr/>
          <p:nvPr/>
        </p:nvSpPr>
        <p:spPr>
          <a:xfrm>
            <a:off x="9017000" y="1714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商品信息</a:t>
            </a:r>
            <a:endParaRPr lang="en-US" sz="1100"/>
          </a:p>
        </p:txBody>
      </p:sp>
      <p:sp>
        <p:nvSpPr>
          <p:cNvPr id="14" name="AutoShape 14"/>
          <p:cNvSpPr/>
          <p:nvPr/>
        </p:nvSpPr>
        <p:spPr>
          <a:xfrm>
            <a:off x="8382000" y="23495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90A4AE"/>
                </a:solidFill>
                <a:latin typeface="Noto Sans SC"/>
                <a:ea typeface="Noto Sans SC"/>
                <a:cs typeface="Noto Sans SC"/>
                <a:sym typeface="Noto Sans SC"/>
              </a:rPr>
              <a:t>提供详细的产品参数、核心卖点及差异化优势。</a:t>
            </a:r>
            <a:endParaRPr lang="en-US" sz="1100"/>
          </a:p>
        </p:txBody>
      </p:sp>
      <p:sp>
        <p:nvSpPr>
          <p:cNvPr id="15" name="AutoShape 15"/>
          <p:cNvSpPr/>
          <p:nvPr/>
        </p:nvSpPr>
        <p:spPr>
          <a:xfrm>
            <a:off x="762000" y="3429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683000"/>
            <a:ext cx="508000" cy="508000"/>
          </a:xfrm>
          <a:prstGeom prst="rect">
            <a:avLst/>
          </a:prstGeom>
        </p:spPr>
      </p:pic>
      <p:sp>
        <p:nvSpPr>
          <p:cNvPr id="17" name="AutoShape 17"/>
          <p:cNvSpPr/>
          <p:nvPr/>
        </p:nvSpPr>
        <p:spPr>
          <a:xfrm>
            <a:off x="1651000" y="3619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平台规范</a:t>
            </a:r>
            <a:endParaRPr lang="en-US" sz="1100"/>
          </a:p>
        </p:txBody>
      </p:sp>
      <p:sp>
        <p:nvSpPr>
          <p:cNvPr id="18" name="AutoShape 18"/>
          <p:cNvSpPr/>
          <p:nvPr/>
        </p:nvSpPr>
        <p:spPr>
          <a:xfrm>
            <a:off x="1016000" y="42545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90A4AE"/>
                </a:solidFill>
                <a:latin typeface="Noto Sans SC"/>
                <a:ea typeface="Noto Sans SC"/>
                <a:cs typeface="Noto Sans SC"/>
                <a:sym typeface="Noto Sans SC"/>
              </a:rPr>
              <a:t>指定特定电商平台的规则限制和合规要求。</a:t>
            </a:r>
            <a:endParaRPr lang="en-US" sz="1100"/>
          </a:p>
        </p:txBody>
      </p:sp>
      <p:sp>
        <p:nvSpPr>
          <p:cNvPr id="19" name="AutoShape 19"/>
          <p:cNvSpPr/>
          <p:nvPr/>
        </p:nvSpPr>
        <p:spPr>
          <a:xfrm>
            <a:off x="4445000" y="3429000"/>
            <a:ext cx="3302000" cy="1651000"/>
          </a:xfrm>
          <a:prstGeom prst="roundRect">
            <a:avLst>
              <a:gd name="adj" fmla="val 7692"/>
            </a:avLst>
          </a:prstGeom>
          <a:solidFill>
            <a:srgbClr val="FFFFFF">
              <a:alpha val="100000"/>
            </a:srgbClr>
          </a:solidFill>
          <a:ln w="25400" cap="flat" cmpd="sng">
            <a:solidFill>
              <a:srgbClr val="FF9800">
                <a:alpha val="100000"/>
              </a:srgbClr>
            </a:solidFill>
            <a:prstDash val="solid"/>
            <a:round/>
          </a:ln>
          <a:effectLst>
            <a:outerShdw blurRad="127000" dist="50800" dir="2700000" algn="tl" rotWithShape="0">
              <a:srgbClr val="FF9800">
                <a:alpha val="20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3683000"/>
            <a:ext cx="508000" cy="508000"/>
          </a:xfrm>
          <a:prstGeom prst="rect">
            <a:avLst/>
          </a:prstGeom>
        </p:spPr>
      </p:pic>
      <p:sp>
        <p:nvSpPr>
          <p:cNvPr id="21" name="AutoShape 21"/>
          <p:cNvSpPr/>
          <p:nvPr/>
        </p:nvSpPr>
        <p:spPr>
          <a:xfrm>
            <a:off x="5334000" y="3619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9800"/>
                </a:solidFill>
                <a:latin typeface="Noto Sans SC"/>
                <a:ea typeface="Noto Sans SC"/>
                <a:cs typeface="Noto Sans SC"/>
                <a:sym typeface="Noto Sans SC"/>
              </a:rPr>
              <a:t>输出要求 (重点)</a:t>
            </a:r>
            <a:endParaRPr lang="en-US" sz="1100"/>
          </a:p>
        </p:txBody>
      </p:sp>
      <p:sp>
        <p:nvSpPr>
          <p:cNvPr id="22" name="AutoShape 22"/>
          <p:cNvSpPr/>
          <p:nvPr/>
        </p:nvSpPr>
        <p:spPr>
          <a:xfrm>
            <a:off x="4699000" y="42545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90A4AE"/>
                </a:solidFill>
                <a:latin typeface="Noto Sans SC"/>
                <a:ea typeface="Noto Sans SC"/>
                <a:cs typeface="Noto Sans SC"/>
                <a:sym typeface="Noto Sans SC"/>
              </a:rPr>
              <a:t>强制要求AI按预设框架（引导/痛点/卖点）分段输出。</a:t>
            </a:r>
            <a:endParaRPr lang="en-US" sz="1100"/>
          </a:p>
        </p:txBody>
      </p:sp>
      <p:sp>
        <p:nvSpPr>
          <p:cNvPr id="23" name="AutoShape 23"/>
          <p:cNvSpPr/>
          <p:nvPr/>
        </p:nvSpPr>
        <p:spPr>
          <a:xfrm>
            <a:off x="8128000" y="3429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3683000"/>
            <a:ext cx="508000" cy="508000"/>
          </a:xfrm>
          <a:prstGeom prst="rect">
            <a:avLst/>
          </a:prstGeom>
        </p:spPr>
      </p:pic>
      <p:sp>
        <p:nvSpPr>
          <p:cNvPr id="25" name="AutoShape 25"/>
          <p:cNvSpPr/>
          <p:nvPr/>
        </p:nvSpPr>
        <p:spPr>
          <a:xfrm>
            <a:off x="9017000" y="3619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敏感词库</a:t>
            </a:r>
            <a:endParaRPr lang="en-US" sz="1100"/>
          </a:p>
        </p:txBody>
      </p:sp>
      <p:sp>
        <p:nvSpPr>
          <p:cNvPr id="26" name="AutoShape 26"/>
          <p:cNvSpPr/>
          <p:nvPr/>
        </p:nvSpPr>
        <p:spPr>
          <a:xfrm>
            <a:off x="8382000" y="42545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90A4AE"/>
                </a:solidFill>
                <a:latin typeface="Noto Sans SC"/>
                <a:ea typeface="Noto Sans SC"/>
                <a:cs typeface="Noto Sans SC"/>
                <a:sym typeface="Noto Sans SC"/>
              </a:rPr>
              <a:t>列出禁止使用的词汇列表，规避违规风险。</a:t>
            </a:r>
            <a:endParaRPr lang="en-US" sz="1100"/>
          </a:p>
        </p:txBody>
      </p:sp>
      <p:sp>
        <p:nvSpPr>
          <p:cNvPr id="27" name="AutoShape 27"/>
          <p:cNvSpPr/>
          <p:nvPr/>
        </p:nvSpPr>
        <p:spPr>
          <a:xfrm>
            <a:off x="762000" y="5334000"/>
            <a:ext cx="10668000" cy="762000"/>
          </a:xfrm>
          <a:prstGeom prst="roundRect">
            <a:avLst>
              <a:gd name="adj" fmla="val 16666"/>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核心区别：</a:t>
            </a:r>
            <a:r>
              <a:rPr lang="en-US" sz="1600" b="0" i="0" u="none" strike="noStrike">
                <a:solidFill>
                  <a:srgbClr val="0277BD"/>
                </a:solidFill>
                <a:latin typeface="Noto Sans SC"/>
                <a:ea typeface="Noto Sans SC"/>
                <a:cs typeface="Noto Sans SC"/>
                <a:sym typeface="Noto Sans SC"/>
              </a:rPr>
              <a:t>分段式模板通过明确的输出要求，将整段文案拆解为逻辑清晰的模块，提升可读性与转化率。</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000" b="1" i="0" u="none" strike="noStrike">
                <a:solidFill>
                  <a:srgbClr val="0277BD"/>
                </a:solidFill>
                <a:latin typeface="Noto Sans SC"/>
                <a:ea typeface="Noto Sans SC"/>
                <a:cs typeface="Noto Sans SC"/>
                <a:sym typeface="Noto Sans SC"/>
              </a:rPr>
              <a:t>12.2.2 分段式商品台词Prompt模版 - 模板示例（护手霜）</a:t>
            </a:r>
            <a:endParaRPr lang="en-US" sz="1100"/>
          </a:p>
        </p:txBody>
      </p:sp>
      <p:sp>
        <p:nvSpPr>
          <p:cNvPr id="3" name="AutoShape 3"/>
          <p:cNvSpPr/>
          <p:nvPr/>
        </p:nvSpPr>
        <p:spPr>
          <a:xfrm>
            <a:off x="508000" y="1270000"/>
            <a:ext cx="3556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1460500"/>
            <a:ext cx="304800" cy="304800"/>
          </a:xfrm>
          <a:prstGeom prst="rect">
            <a:avLst/>
          </a:prstGeom>
        </p:spPr>
      </p:pic>
      <p:sp>
        <p:nvSpPr>
          <p:cNvPr id="5" name="AutoShape 5"/>
          <p:cNvSpPr/>
          <p:nvPr/>
        </p:nvSpPr>
        <p:spPr>
          <a:xfrm>
            <a:off x="1079500" y="14224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角色与技能设定</a:t>
            </a:r>
            <a:endParaRPr lang="en-US" sz="1100"/>
          </a:p>
        </p:txBody>
      </p:sp>
      <p:sp>
        <p:nvSpPr>
          <p:cNvPr id="6" name="AutoShape 6"/>
          <p:cNvSpPr/>
          <p:nvPr/>
        </p:nvSpPr>
        <p:spPr>
          <a:xfrm>
            <a:off x="698500" y="1841500"/>
            <a:ext cx="3175000" cy="152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37474F"/>
                </a:solidFill>
                <a:latin typeface="Noto Sans SC"/>
                <a:ea typeface="Noto Sans SC"/>
                <a:cs typeface="Noto Sans SC"/>
                <a:sym typeface="Noto Sans SC"/>
              </a:rPr>
              <a:t>角色：</a:t>
            </a:r>
            <a:r>
              <a:rPr lang="en-US" sz="1300" b="0" i="0" u="none" strike="noStrike">
                <a:solidFill>
                  <a:srgbClr val="546E7A"/>
                </a:solidFill>
                <a:latin typeface="Noto Sans SC"/>
                <a:ea typeface="Noto Sans SC"/>
                <a:cs typeface="Noto Sans SC"/>
                <a:sym typeface="Noto Sans SC"/>
              </a:rPr>
              <a:t>电商平台数字人直播商品台词撰写专家，擅长结构清晰、逻辑连贯的分段式创作。</a:t>
            </a:r>
            <a:endParaRPr lang="en-US" sz="1100"/>
          </a:p>
          <a:p>
            <a:pPr indent="0" algn="l">
              <a:lnSpc>
                <a:spcPct val="108000"/>
              </a:lnSpc>
            </a:pPr>
            <a:r>
              <a:rPr lang="en-US" sz="1300" b="1" i="0" u="none" strike="noStrike">
                <a:solidFill>
                  <a:srgbClr val="37474F"/>
                </a:solidFill>
                <a:latin typeface="Noto Sans SC"/>
                <a:ea typeface="Noto Sans SC"/>
                <a:cs typeface="Noto Sans SC"/>
                <a:sym typeface="Noto Sans SC"/>
              </a:rPr>
              <a:t>技能：</a:t>
            </a:r>
            <a:r>
              <a:rPr lang="en-US" sz="1300" b="0" i="0" u="none" strike="noStrike">
                <a:solidFill>
                  <a:srgbClr val="546E7A"/>
                </a:solidFill>
                <a:latin typeface="Noto Sans SC"/>
                <a:ea typeface="Noto Sans SC"/>
                <a:cs typeface="Noto Sans SC"/>
                <a:sym typeface="Noto Sans SC"/>
              </a:rPr>
              <a:t>精通中文表达，深谙电商直播卖货逻辑，能按指定框架精准输出。</a:t>
            </a:r>
            <a:endParaRPr lang="en-US" sz="1300" b="0" i="0" u="none" strike="noStrike">
              <a:solidFill>
                <a:srgbClr val="546E7A"/>
              </a:solidFill>
              <a:latin typeface="Noto Sans SC"/>
              <a:ea typeface="Noto Sans SC"/>
              <a:cs typeface="Noto Sans SC"/>
              <a:sym typeface="Noto Sans SC"/>
            </a:endParaRPr>
          </a:p>
        </p:txBody>
      </p:sp>
      <p:sp>
        <p:nvSpPr>
          <p:cNvPr id="7" name="AutoShape 7"/>
          <p:cNvSpPr/>
          <p:nvPr/>
        </p:nvSpPr>
        <p:spPr>
          <a:xfrm>
            <a:off x="508000" y="3746500"/>
            <a:ext cx="3556000" cy="2413000"/>
          </a:xfrm>
          <a:prstGeom prst="roundRect">
            <a:avLst>
              <a:gd name="adj" fmla="val 5263"/>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3937000"/>
            <a:ext cx="304800" cy="304800"/>
          </a:xfrm>
          <a:prstGeom prst="rect">
            <a:avLst/>
          </a:prstGeom>
        </p:spPr>
      </p:pic>
      <p:sp>
        <p:nvSpPr>
          <p:cNvPr id="9" name="AutoShape 9"/>
          <p:cNvSpPr/>
          <p:nvPr/>
        </p:nvSpPr>
        <p:spPr>
          <a:xfrm>
            <a:off x="1079500" y="38989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商品核心信息</a:t>
            </a:r>
            <a:endParaRPr lang="en-US" sz="1100"/>
          </a:p>
        </p:txBody>
      </p:sp>
      <p:sp>
        <p:nvSpPr>
          <p:cNvPr id="10" name="AutoShape 10"/>
          <p:cNvSpPr/>
          <p:nvPr/>
        </p:nvSpPr>
        <p:spPr>
          <a:xfrm>
            <a:off x="698500" y="4318000"/>
            <a:ext cx="3175000" cy="1651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37474F"/>
                </a:solidFill>
                <a:latin typeface="Noto Sans SC"/>
                <a:ea typeface="Noto Sans SC"/>
                <a:cs typeface="Noto Sans SC"/>
                <a:sym typeface="Noto Sans SC"/>
              </a:rPr>
              <a:t>名称：</a:t>
            </a:r>
            <a:r>
              <a:rPr lang="en-US" sz="1300" b="0" i="0" u="none" strike="noStrike">
                <a:solidFill>
                  <a:srgbClr val="546E7A"/>
                </a:solidFill>
                <a:latin typeface="Noto Sans SC"/>
                <a:ea typeface="Noto Sans SC"/>
                <a:cs typeface="Noto Sans SC"/>
                <a:sym typeface="Noto Sans SC"/>
              </a:rPr>
              <a:t>护手霜 (300ml)</a:t>
            </a:r>
            <a:endParaRPr lang="en-US" sz="1100"/>
          </a:p>
          <a:p>
            <a:pPr indent="0" algn="l">
              <a:lnSpc>
                <a:spcPct val="108000"/>
              </a:lnSpc>
            </a:pPr>
            <a:r>
              <a:rPr lang="en-US" sz="1300" b="1" i="0" u="none" strike="noStrike">
                <a:solidFill>
                  <a:srgbClr val="37474F"/>
                </a:solidFill>
                <a:latin typeface="Noto Sans SC"/>
                <a:ea typeface="Noto Sans SC"/>
                <a:cs typeface="Noto Sans SC"/>
                <a:sym typeface="Noto Sans SC"/>
              </a:rPr>
              <a:t>功效：</a:t>
            </a:r>
            <a:r>
              <a:rPr lang="en-US" sz="1300" b="0" i="0" u="none" strike="noStrike">
                <a:solidFill>
                  <a:srgbClr val="546E7A"/>
                </a:solidFill>
                <a:latin typeface="Noto Sans SC"/>
                <a:ea typeface="Noto Sans SC"/>
                <a:cs typeface="Noto Sans SC"/>
                <a:sym typeface="Noto Sans SC"/>
              </a:rPr>
              <a:t>愈合及抚平肌肤裂痕、干燥</a:t>
            </a:r>
            <a:endParaRPr lang="en-US" sz="1300" b="0" i="0" u="none" strike="noStrike">
              <a:solidFill>
                <a:srgbClr val="546E7A"/>
              </a:solidFill>
              <a:latin typeface="Noto Sans SC"/>
              <a:ea typeface="Noto Sans SC"/>
              <a:cs typeface="Noto Sans SC"/>
              <a:sym typeface="Noto Sans SC"/>
            </a:endParaRPr>
          </a:p>
          <a:p>
            <a:pPr indent="0" algn="l">
              <a:lnSpc>
                <a:spcPct val="108000"/>
              </a:lnSpc>
            </a:pPr>
            <a:r>
              <a:rPr lang="en-US" sz="1300" b="1" i="0" u="none" strike="noStrike">
                <a:solidFill>
                  <a:srgbClr val="37474F"/>
                </a:solidFill>
                <a:latin typeface="Noto Sans SC"/>
                <a:ea typeface="Noto Sans SC"/>
                <a:cs typeface="Noto Sans SC"/>
                <a:sym typeface="Noto Sans SC"/>
              </a:rPr>
              <a:t>保障：</a:t>
            </a:r>
            <a:r>
              <a:rPr lang="en-US" sz="1300" b="0" i="0" u="none" strike="noStrike">
                <a:solidFill>
                  <a:srgbClr val="546E7A"/>
                </a:solidFill>
                <a:latin typeface="Noto Sans SC"/>
                <a:ea typeface="Noto Sans SC"/>
                <a:cs typeface="Noto Sans SC"/>
                <a:sym typeface="Noto Sans SC"/>
              </a:rPr>
              <a:t>正品保障，顺丰包邮</a:t>
            </a:r>
            <a:endParaRPr lang="en-US" sz="1300" b="0" i="0" u="none" strike="noStrike">
              <a:solidFill>
                <a:srgbClr val="546E7A"/>
              </a:solidFill>
              <a:latin typeface="Noto Sans SC"/>
              <a:ea typeface="Noto Sans SC"/>
              <a:cs typeface="Noto Sans SC"/>
              <a:sym typeface="Noto Sans SC"/>
            </a:endParaRPr>
          </a:p>
          <a:p>
            <a:pPr indent="0" algn="l">
              <a:lnSpc>
                <a:spcPct val="108000"/>
              </a:lnSpc>
            </a:pPr>
            <a:r>
              <a:rPr lang="en-US" sz="1300" b="1" i="0" u="none" strike="noStrike">
                <a:solidFill>
                  <a:srgbClr val="37474F"/>
                </a:solidFill>
                <a:latin typeface="Noto Sans SC"/>
                <a:ea typeface="Noto Sans SC"/>
                <a:cs typeface="Noto Sans SC"/>
                <a:sym typeface="Noto Sans SC"/>
              </a:rPr>
              <a:t>优惠：</a:t>
            </a:r>
            <a:r>
              <a:rPr lang="en-US" sz="1300" b="1" i="0" u="none" strike="noStrike">
                <a:solidFill>
                  <a:srgbClr val="FF9800"/>
                </a:solidFill>
                <a:latin typeface="Noto Sans SC"/>
                <a:ea typeface="Noto Sans SC"/>
                <a:cs typeface="Noto Sans SC"/>
                <a:sym typeface="Noto Sans SC"/>
              </a:rPr>
              <a:t>会员9折，限时买二送一</a:t>
            </a:r>
            <a:endParaRPr lang="en-US" sz="1300" b="1" i="0" u="none" strike="noStrike">
              <a:solidFill>
                <a:srgbClr val="FF9800"/>
              </a:solidFill>
              <a:latin typeface="Noto Sans SC"/>
              <a:ea typeface="Noto Sans SC"/>
              <a:cs typeface="Noto Sans SC"/>
              <a:sym typeface="Noto Sans SC"/>
            </a:endParaRPr>
          </a:p>
        </p:txBody>
      </p:sp>
      <p:sp>
        <p:nvSpPr>
          <p:cNvPr id="11" name="AutoShape 11"/>
          <p:cNvSpPr/>
          <p:nvPr/>
        </p:nvSpPr>
        <p:spPr>
          <a:xfrm>
            <a:off x="4318000" y="1270000"/>
            <a:ext cx="7366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08500" y="1460500"/>
            <a:ext cx="304800" cy="304800"/>
          </a:xfrm>
          <a:prstGeom prst="rect">
            <a:avLst/>
          </a:prstGeom>
        </p:spPr>
      </p:pic>
      <p:sp>
        <p:nvSpPr>
          <p:cNvPr id="13" name="AutoShape 13"/>
          <p:cNvSpPr/>
          <p:nvPr/>
        </p:nvSpPr>
        <p:spPr>
          <a:xfrm>
            <a:off x="4889500" y="1422400"/>
            <a:ext cx="660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输出框架与规范</a:t>
            </a:r>
            <a:endParaRPr lang="en-US" sz="1100"/>
          </a:p>
        </p:txBody>
      </p:sp>
      <p:sp>
        <p:nvSpPr>
          <p:cNvPr id="14" name="AutoShape 14"/>
          <p:cNvSpPr/>
          <p:nvPr/>
        </p:nvSpPr>
        <p:spPr>
          <a:xfrm>
            <a:off x="4508500" y="1841500"/>
            <a:ext cx="69850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1" i="0" u="none" strike="noStrike">
                <a:solidFill>
                  <a:srgbClr val="37474F"/>
                </a:solidFill>
                <a:latin typeface="Noto Sans SC"/>
                <a:ea typeface="Noto Sans SC"/>
                <a:cs typeface="Noto Sans SC"/>
                <a:sym typeface="Noto Sans SC"/>
              </a:rPr>
              <a:t>输出框架：</a:t>
            </a:r>
            <a:r>
              <a:rPr lang="en-US" sz="1300" b="0" i="0" u="none" strike="noStrike">
                <a:solidFill>
                  <a:srgbClr val="546E7A"/>
                </a:solidFill>
                <a:latin typeface="Noto Sans SC"/>
                <a:ea typeface="Noto Sans SC"/>
                <a:cs typeface="Noto Sans SC"/>
                <a:sym typeface="Noto Sans SC"/>
              </a:rPr>
              <a:t>1.引导话术 → 2.用户痛点 → 3.产品卖点 → 4.使用方法 → 5.优惠机制 → 6.商品促单 → 7.互动话术</a:t>
            </a:r>
            <a:endParaRPr lang="en-US" sz="1100"/>
          </a:p>
          <a:p>
            <a:pPr indent="0" algn="l">
              <a:lnSpc>
                <a:spcPct val="117000"/>
              </a:lnSpc>
            </a:pPr>
            <a:r>
              <a:rPr lang="en-US" sz="1300" b="1" i="0" u="none" strike="noStrike">
                <a:solidFill>
                  <a:srgbClr val="37474F"/>
                </a:solidFill>
                <a:latin typeface="Noto Sans SC"/>
                <a:ea typeface="Noto Sans SC"/>
                <a:cs typeface="Noto Sans SC"/>
                <a:sym typeface="Noto Sans SC"/>
              </a:rPr>
              <a:t>内容要求：</a:t>
            </a:r>
            <a:r>
              <a:rPr lang="en-US" sz="1300" b="0" i="0" u="none" strike="noStrike">
                <a:solidFill>
                  <a:srgbClr val="546E7A"/>
                </a:solidFill>
                <a:latin typeface="Noto Sans SC"/>
                <a:ea typeface="Noto Sans SC"/>
                <a:cs typeface="Noto Sans SC"/>
                <a:sym typeface="Noto Sans SC"/>
              </a:rPr>
              <a:t>口语化、真实、逻辑强、不夸大，严格遵守《京东、淘宝电商平台规范》。</a:t>
            </a:r>
            <a:endParaRPr lang="en-US" sz="1300" b="0" i="0" u="none" strike="noStrike">
              <a:solidFill>
                <a:srgbClr val="546E7A"/>
              </a:solidFill>
              <a:latin typeface="Noto Sans SC"/>
              <a:ea typeface="Noto Sans SC"/>
              <a:cs typeface="Noto Sans SC"/>
              <a:sym typeface="Noto Sans SC"/>
            </a:endParaRPr>
          </a:p>
        </p:txBody>
      </p:sp>
      <p:sp>
        <p:nvSpPr>
          <p:cNvPr id="15" name="AutoShape 15"/>
          <p:cNvSpPr/>
          <p:nvPr/>
        </p:nvSpPr>
        <p:spPr>
          <a:xfrm>
            <a:off x="4318000" y="3746500"/>
            <a:ext cx="7366000" cy="2413000"/>
          </a:xfrm>
          <a:prstGeom prst="roundRect">
            <a:avLst>
              <a:gd name="adj" fmla="val 5263"/>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08500" y="3937000"/>
            <a:ext cx="304800" cy="304800"/>
          </a:xfrm>
          <a:prstGeom prst="rect">
            <a:avLst/>
          </a:prstGeom>
        </p:spPr>
      </p:pic>
      <p:sp>
        <p:nvSpPr>
          <p:cNvPr id="17" name="AutoShape 17"/>
          <p:cNvSpPr/>
          <p:nvPr/>
        </p:nvSpPr>
        <p:spPr>
          <a:xfrm>
            <a:off x="4889500" y="3898900"/>
            <a:ext cx="660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9800"/>
                </a:solidFill>
                <a:latin typeface="Noto Sans SC"/>
                <a:ea typeface="Noto Sans SC"/>
                <a:cs typeface="Noto Sans SC"/>
                <a:sym typeface="Noto Sans SC"/>
              </a:rPr>
              <a:t>敏感词库（严禁包含）</a:t>
            </a:r>
            <a:endParaRPr lang="en-US" sz="1100"/>
          </a:p>
        </p:txBody>
      </p:sp>
      <p:sp>
        <p:nvSpPr>
          <p:cNvPr id="18" name="AutoShape 18"/>
          <p:cNvSpPr/>
          <p:nvPr/>
        </p:nvSpPr>
        <p:spPr>
          <a:xfrm>
            <a:off x="4508500" y="4318000"/>
            <a:ext cx="6985000" cy="1651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37474F"/>
                </a:solidFill>
                <a:latin typeface="Noto Sans SC"/>
                <a:ea typeface="Noto Sans SC"/>
                <a:cs typeface="Noto Sans SC"/>
                <a:sym typeface="Noto Sans SC"/>
              </a:rPr>
              <a:t>绝对化用语：</a:t>
            </a:r>
            <a:r>
              <a:rPr lang="en-US" sz="1300" b="0" i="0" u="none" strike="noStrike">
                <a:solidFill>
                  <a:srgbClr val="546E7A"/>
                </a:solidFill>
                <a:latin typeface="Noto Sans SC"/>
                <a:ea typeface="Noto Sans SC"/>
                <a:cs typeface="Noto Sans SC"/>
                <a:sym typeface="Noto Sans SC"/>
              </a:rPr>
              <a:t>世界级、最高级、第一、唯一、首个、最好、最便宜</a:t>
            </a:r>
            <a:endParaRPr lang="en-US" sz="1100"/>
          </a:p>
          <a:p>
            <a:pPr indent="0" algn="l">
              <a:lnSpc>
                <a:spcPct val="108000"/>
              </a:lnSpc>
            </a:pPr>
            <a:r>
              <a:rPr lang="en-US" sz="1300" b="1" i="0" u="none" strike="noStrike">
                <a:solidFill>
                  <a:srgbClr val="37474F"/>
                </a:solidFill>
                <a:latin typeface="Noto Sans SC"/>
                <a:ea typeface="Noto Sans SC"/>
                <a:cs typeface="Noto Sans SC"/>
                <a:sym typeface="Noto Sans SC"/>
              </a:rPr>
              <a:t>功效承诺：</a:t>
            </a:r>
            <a:r>
              <a:rPr lang="en-US" sz="1300" b="0" i="0" u="none" strike="noStrike">
                <a:solidFill>
                  <a:srgbClr val="546E7A"/>
                </a:solidFill>
                <a:latin typeface="Noto Sans SC"/>
                <a:ea typeface="Noto Sans SC"/>
                <a:cs typeface="Noto Sans SC"/>
                <a:sym typeface="Noto Sans SC"/>
              </a:rPr>
              <a:t>美白、祛痘（除非有明确药监局备案）</a:t>
            </a:r>
            <a:endParaRPr lang="en-US" sz="1300" b="0" i="0" u="none" strike="noStrike">
              <a:solidFill>
                <a:srgbClr val="546E7A"/>
              </a:solidFill>
              <a:latin typeface="Noto Sans SC"/>
              <a:ea typeface="Noto Sans SC"/>
              <a:cs typeface="Noto Sans SC"/>
              <a:sym typeface="Noto Sans SC"/>
            </a:endParaRPr>
          </a:p>
          <a:p>
            <a:pPr indent="0" algn="l">
              <a:lnSpc>
                <a:spcPct val="108000"/>
              </a:lnSpc>
            </a:pPr>
            <a:r>
              <a:rPr lang="en-US" sz="1300" b="1" i="0" u="none" strike="noStrike">
                <a:solidFill>
                  <a:srgbClr val="37474F"/>
                </a:solidFill>
                <a:latin typeface="Noto Sans SC"/>
                <a:ea typeface="Noto Sans SC"/>
                <a:cs typeface="Noto Sans SC"/>
                <a:sym typeface="Noto Sans SC"/>
              </a:rPr>
              <a:t>注意事项：</a:t>
            </a:r>
            <a:r>
              <a:rPr lang="en-US" sz="1300" b="0" i="0" u="none" strike="noStrike">
                <a:solidFill>
                  <a:srgbClr val="546E7A"/>
                </a:solidFill>
                <a:latin typeface="Noto Sans SC"/>
                <a:ea typeface="Noto Sans SC"/>
                <a:cs typeface="Noto Sans SC"/>
                <a:sym typeface="Noto Sans SC"/>
              </a:rPr>
              <a:t>整条台词必须严格规避上述词汇，确保合规性。</a:t>
            </a:r>
            <a:endParaRPr lang="en-US" sz="1300" b="0" i="0" u="none" strike="noStrike">
              <a:solidFill>
                <a:srgbClr val="546E7A"/>
              </a:solidFill>
              <a:latin typeface="Noto Sans SC"/>
              <a:ea typeface="Noto Sans SC"/>
              <a:cs typeface="Noto Sans SC"/>
              <a:sym typeface="Noto Sans SC"/>
            </a:endParaRPr>
          </a:p>
        </p:txBody>
      </p:sp>
      <p:sp>
        <p:nvSpPr>
          <p:cNvPr id="19" name="AutoShape 19"/>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035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12.2.2 商品台词生成示例</a:t>
            </a:r>
            <a:endParaRPr lang="en-US" sz="1100"/>
          </a:p>
        </p:txBody>
      </p:sp>
      <p:sp>
        <p:nvSpPr>
          <p:cNvPr id="3" name="AutoShape 3"/>
          <p:cNvSpPr/>
          <p:nvPr/>
        </p:nvSpPr>
        <p:spPr>
          <a:xfrm>
            <a:off x="762000" y="1397000"/>
            <a:ext cx="3302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587500"/>
            <a:ext cx="304800" cy="304800"/>
          </a:xfrm>
          <a:prstGeom prst="rect">
            <a:avLst/>
          </a:prstGeom>
        </p:spPr>
      </p:pic>
      <p:sp>
        <p:nvSpPr>
          <p:cNvPr id="5" name="AutoShape 5"/>
          <p:cNvSpPr/>
          <p:nvPr/>
        </p:nvSpPr>
        <p:spPr>
          <a:xfrm>
            <a:off x="1333500" y="1549400"/>
            <a:ext cx="254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引导话术</a:t>
            </a:r>
            <a:endParaRPr lang="en-US" sz="1100"/>
          </a:p>
        </p:txBody>
      </p:sp>
      <p:sp>
        <p:nvSpPr>
          <p:cNvPr id="6" name="AutoShape 6"/>
          <p:cNvSpPr/>
          <p:nvPr/>
        </p:nvSpPr>
        <p:spPr>
          <a:xfrm>
            <a:off x="952500" y="1968500"/>
            <a:ext cx="2921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0A4AE"/>
                </a:solidFill>
                <a:latin typeface="Noto Sans SC"/>
                <a:ea typeface="Noto Sans SC"/>
                <a:cs typeface="Noto Sans SC"/>
                <a:sym typeface="Noto Sans SC"/>
              </a:rPr>
              <a:t>欢迎来到xx京东直播间！今天给大家带来一款秋冬必备的护手神器！</a:t>
            </a:r>
            <a:endParaRPr lang="en-US" sz="1100"/>
          </a:p>
        </p:txBody>
      </p:sp>
      <p:sp>
        <p:nvSpPr>
          <p:cNvPr id="7" name="AutoShape 7"/>
          <p:cNvSpPr/>
          <p:nvPr/>
        </p:nvSpPr>
        <p:spPr>
          <a:xfrm>
            <a:off x="4445000" y="1397000"/>
            <a:ext cx="3302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1587500"/>
            <a:ext cx="304800" cy="304800"/>
          </a:xfrm>
          <a:prstGeom prst="rect">
            <a:avLst/>
          </a:prstGeom>
        </p:spPr>
      </p:pic>
      <p:sp>
        <p:nvSpPr>
          <p:cNvPr id="9" name="AutoShape 9"/>
          <p:cNvSpPr/>
          <p:nvPr/>
        </p:nvSpPr>
        <p:spPr>
          <a:xfrm>
            <a:off x="5016500" y="1549400"/>
            <a:ext cx="254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用户痛点</a:t>
            </a:r>
            <a:endParaRPr lang="en-US" sz="1100"/>
          </a:p>
        </p:txBody>
      </p:sp>
      <p:sp>
        <p:nvSpPr>
          <p:cNvPr id="10" name="AutoShape 10"/>
          <p:cNvSpPr/>
          <p:nvPr/>
        </p:nvSpPr>
        <p:spPr>
          <a:xfrm>
            <a:off x="4635500" y="1968500"/>
            <a:ext cx="2921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0A4AE"/>
                </a:solidFill>
                <a:latin typeface="Noto Sans SC"/>
                <a:ea typeface="Noto Sans SC"/>
                <a:cs typeface="Noto Sans SC"/>
                <a:sym typeface="Noto Sans SC"/>
              </a:rPr>
              <a:t>秋冬季节，手部肌肤容易干燥、粗糙，甚至出现裂痕，不仅不舒服，还影响美观。</a:t>
            </a:r>
            <a:endParaRPr lang="en-US" sz="1100"/>
          </a:p>
        </p:txBody>
      </p:sp>
      <p:sp>
        <p:nvSpPr>
          <p:cNvPr id="11" name="AutoShape 11"/>
          <p:cNvSpPr/>
          <p:nvPr/>
        </p:nvSpPr>
        <p:spPr>
          <a:xfrm>
            <a:off x="8128000" y="1397000"/>
            <a:ext cx="3302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1587500"/>
            <a:ext cx="304800" cy="304800"/>
          </a:xfrm>
          <a:prstGeom prst="rect">
            <a:avLst/>
          </a:prstGeom>
        </p:spPr>
      </p:pic>
      <p:sp>
        <p:nvSpPr>
          <p:cNvPr id="13" name="AutoShape 13"/>
          <p:cNvSpPr/>
          <p:nvPr/>
        </p:nvSpPr>
        <p:spPr>
          <a:xfrm>
            <a:off x="8699500" y="1549400"/>
            <a:ext cx="254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产品卖点</a:t>
            </a:r>
            <a:endParaRPr lang="en-US" sz="1100"/>
          </a:p>
        </p:txBody>
      </p:sp>
      <p:sp>
        <p:nvSpPr>
          <p:cNvPr id="14" name="AutoShape 14"/>
          <p:cNvSpPr/>
          <p:nvPr/>
        </p:nvSpPr>
        <p:spPr>
          <a:xfrm>
            <a:off x="8318500" y="1968500"/>
            <a:ext cx="2921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0A4AE"/>
                </a:solidFill>
                <a:latin typeface="Noto Sans SC"/>
                <a:ea typeface="Noto Sans SC"/>
                <a:cs typeface="Noto Sans SC"/>
                <a:sym typeface="Noto Sans SC"/>
              </a:rPr>
              <a:t>容量300ml，蕴含天然修复成分，能有效愈合及抚平肌肤裂痕，深层滋润干燥肌肤。</a:t>
            </a:r>
            <a:endParaRPr lang="en-US" sz="1100"/>
          </a:p>
        </p:txBody>
      </p:sp>
      <p:sp>
        <p:nvSpPr>
          <p:cNvPr id="15" name="AutoShape 15"/>
          <p:cNvSpPr/>
          <p:nvPr/>
        </p:nvSpPr>
        <p:spPr>
          <a:xfrm>
            <a:off x="762000" y="2857500"/>
            <a:ext cx="3302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3048000"/>
            <a:ext cx="304800" cy="304800"/>
          </a:xfrm>
          <a:prstGeom prst="rect">
            <a:avLst/>
          </a:prstGeom>
        </p:spPr>
      </p:pic>
      <p:sp>
        <p:nvSpPr>
          <p:cNvPr id="17" name="AutoShape 17"/>
          <p:cNvSpPr/>
          <p:nvPr/>
        </p:nvSpPr>
        <p:spPr>
          <a:xfrm>
            <a:off x="1333500" y="3009900"/>
            <a:ext cx="254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使用方法</a:t>
            </a:r>
            <a:endParaRPr lang="en-US" sz="1100"/>
          </a:p>
        </p:txBody>
      </p:sp>
      <p:sp>
        <p:nvSpPr>
          <p:cNvPr id="18" name="AutoShape 18"/>
          <p:cNvSpPr/>
          <p:nvPr/>
        </p:nvSpPr>
        <p:spPr>
          <a:xfrm>
            <a:off x="952500" y="3429000"/>
            <a:ext cx="2921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0A4AE"/>
                </a:solidFill>
                <a:latin typeface="Noto Sans SC"/>
                <a:ea typeface="Noto Sans SC"/>
                <a:cs typeface="Noto Sans SC"/>
                <a:sym typeface="Noto Sans SC"/>
              </a:rPr>
              <a:t>清洁双手后，取适量护手霜均匀涂抹并轻轻按摩至吸收，每天使用效果更佳。</a:t>
            </a:r>
            <a:endParaRPr lang="en-US" sz="1100"/>
          </a:p>
        </p:txBody>
      </p:sp>
      <p:sp>
        <p:nvSpPr>
          <p:cNvPr id="19" name="AutoShape 19"/>
          <p:cNvSpPr/>
          <p:nvPr/>
        </p:nvSpPr>
        <p:spPr>
          <a:xfrm>
            <a:off x="4445000" y="2857500"/>
            <a:ext cx="3302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35500" y="3048000"/>
            <a:ext cx="304800" cy="304800"/>
          </a:xfrm>
          <a:prstGeom prst="rect">
            <a:avLst/>
          </a:prstGeom>
        </p:spPr>
      </p:pic>
      <p:sp>
        <p:nvSpPr>
          <p:cNvPr id="21" name="AutoShape 21"/>
          <p:cNvSpPr/>
          <p:nvPr/>
        </p:nvSpPr>
        <p:spPr>
          <a:xfrm>
            <a:off x="5016500" y="3009900"/>
            <a:ext cx="254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优惠机制</a:t>
            </a:r>
            <a:endParaRPr lang="en-US" sz="1100"/>
          </a:p>
        </p:txBody>
      </p:sp>
      <p:sp>
        <p:nvSpPr>
          <p:cNvPr id="22" name="AutoShape 22"/>
          <p:cNvSpPr/>
          <p:nvPr/>
        </p:nvSpPr>
        <p:spPr>
          <a:xfrm>
            <a:off x="4635500" y="3429000"/>
            <a:ext cx="2921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0A4AE"/>
                </a:solidFill>
                <a:latin typeface="Noto Sans SC"/>
                <a:ea typeface="Noto Sans SC"/>
                <a:cs typeface="Noto Sans SC"/>
                <a:sym typeface="Noto Sans SC"/>
              </a:rPr>
              <a:t>现在会员购买享9折优惠，限时活动买二送一，超级划算！</a:t>
            </a:r>
            <a:endParaRPr lang="en-US" sz="1100"/>
          </a:p>
        </p:txBody>
      </p:sp>
      <p:sp>
        <p:nvSpPr>
          <p:cNvPr id="23" name="AutoShape 23"/>
          <p:cNvSpPr/>
          <p:nvPr/>
        </p:nvSpPr>
        <p:spPr>
          <a:xfrm>
            <a:off x="8128000" y="2857500"/>
            <a:ext cx="3302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18500" y="3048000"/>
            <a:ext cx="304800" cy="304800"/>
          </a:xfrm>
          <a:prstGeom prst="rect">
            <a:avLst/>
          </a:prstGeom>
        </p:spPr>
      </p:pic>
      <p:sp>
        <p:nvSpPr>
          <p:cNvPr id="25" name="AutoShape 25"/>
          <p:cNvSpPr/>
          <p:nvPr/>
        </p:nvSpPr>
        <p:spPr>
          <a:xfrm>
            <a:off x="8699500" y="3009900"/>
            <a:ext cx="254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商品促单</a:t>
            </a:r>
            <a:endParaRPr lang="en-US" sz="1100"/>
          </a:p>
        </p:txBody>
      </p:sp>
      <p:sp>
        <p:nvSpPr>
          <p:cNvPr id="26" name="AutoShape 26"/>
          <p:cNvSpPr/>
          <p:nvPr/>
        </p:nvSpPr>
        <p:spPr>
          <a:xfrm>
            <a:off x="8318500" y="3429000"/>
            <a:ext cx="2921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0A4AE"/>
                </a:solidFill>
                <a:latin typeface="Noto Sans SC"/>
                <a:ea typeface="Noto Sans SC"/>
                <a:cs typeface="Noto Sans SC"/>
                <a:sym typeface="Noto Sans SC"/>
              </a:rPr>
              <a:t>正品保障，顺丰包邮，让你轻松拥有嫩滑双手，赶紧下单吧！</a:t>
            </a:r>
            <a:endParaRPr lang="en-US" sz="1100"/>
          </a:p>
        </p:txBody>
      </p:sp>
      <p:sp>
        <p:nvSpPr>
          <p:cNvPr id="27" name="AutoShape 27"/>
          <p:cNvSpPr/>
          <p:nvPr/>
        </p:nvSpPr>
        <p:spPr>
          <a:xfrm>
            <a:off x="762000" y="4318000"/>
            <a:ext cx="3302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52500" y="4508500"/>
            <a:ext cx="304800" cy="304800"/>
          </a:xfrm>
          <a:prstGeom prst="rect">
            <a:avLst/>
          </a:prstGeom>
        </p:spPr>
      </p:pic>
      <p:sp>
        <p:nvSpPr>
          <p:cNvPr id="29" name="AutoShape 29"/>
          <p:cNvSpPr/>
          <p:nvPr/>
        </p:nvSpPr>
        <p:spPr>
          <a:xfrm>
            <a:off x="1333500" y="4470400"/>
            <a:ext cx="254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互动话术</a:t>
            </a:r>
            <a:endParaRPr lang="en-US" sz="1100"/>
          </a:p>
        </p:txBody>
      </p:sp>
      <p:sp>
        <p:nvSpPr>
          <p:cNvPr id="30" name="AutoShape 30"/>
          <p:cNvSpPr/>
          <p:nvPr/>
        </p:nvSpPr>
        <p:spPr>
          <a:xfrm>
            <a:off x="952500" y="4889500"/>
            <a:ext cx="2921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0A4AE"/>
                </a:solidFill>
                <a:latin typeface="Noto Sans SC"/>
                <a:ea typeface="Noto Sans SC"/>
                <a:cs typeface="Noto Sans SC"/>
                <a:sym typeface="Noto Sans SC"/>
              </a:rPr>
              <a:t>大家有任何问题都可以在评论区留言，我会一一为大家解答！</a:t>
            </a:r>
            <a:endParaRPr lang="en-US" sz="1100"/>
          </a:p>
        </p:txBody>
      </p:sp>
      <p:sp>
        <p:nvSpPr>
          <p:cNvPr id="31" name="AutoShape 31"/>
          <p:cNvSpPr/>
          <p:nvPr/>
        </p:nvSpPr>
        <p:spPr>
          <a:xfrm>
            <a:off x="4445000" y="4318000"/>
            <a:ext cx="6985000" cy="1270000"/>
          </a:xfrm>
          <a:prstGeom prst="roundRect">
            <a:avLst>
              <a:gd name="adj" fmla="val 10000"/>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635500" y="4508500"/>
            <a:ext cx="304800" cy="304800"/>
          </a:xfrm>
          <a:prstGeom prst="rect">
            <a:avLst/>
          </a:prstGeom>
        </p:spPr>
      </p:pic>
      <p:sp>
        <p:nvSpPr>
          <p:cNvPr id="33" name="AutoShape 33"/>
          <p:cNvSpPr/>
          <p:nvPr/>
        </p:nvSpPr>
        <p:spPr>
          <a:xfrm>
            <a:off x="5016500" y="4470400"/>
            <a:ext cx="635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生成结果分析</a:t>
            </a:r>
            <a:endParaRPr lang="en-US" sz="1100"/>
          </a:p>
        </p:txBody>
      </p:sp>
      <p:sp>
        <p:nvSpPr>
          <p:cNvPr id="34" name="AutoShape 34"/>
          <p:cNvSpPr/>
          <p:nvPr/>
        </p:nvSpPr>
        <p:spPr>
          <a:xfrm>
            <a:off x="4635500" y="4889500"/>
            <a:ext cx="6604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546E7A"/>
                </a:solidFill>
                <a:latin typeface="Noto Sans SC"/>
                <a:ea typeface="Noto Sans SC"/>
                <a:cs typeface="Noto Sans SC"/>
                <a:sym typeface="Noto Sans SC"/>
              </a:rPr>
              <a:t>AI严格按照预设框架生成，结构清晰，逻辑连贯。每段内容简洁，重点突出，非常适合数字人按流程播报，有效提升了直播的专业性和可控性。</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12.2.3 互动问答台词Prompt模版 - 适用场景</a:t>
            </a:r>
            <a:endParaRPr lang="en-US" sz="1100"/>
          </a:p>
        </p:txBody>
      </p:sp>
      <p:sp>
        <p:nvSpPr>
          <p:cNvPr id="3" name="AutoShape 3"/>
          <p:cNvSpPr/>
          <p:nvPr/>
        </p:nvSpPr>
        <p:spPr>
          <a:xfrm>
            <a:off x="762000" y="1397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587500"/>
            <a:ext cx="635000" cy="635000"/>
          </a:xfrm>
          <a:prstGeom prst="rect">
            <a:avLst/>
          </a:prstGeom>
        </p:spPr>
      </p:pic>
      <p:sp>
        <p:nvSpPr>
          <p:cNvPr id="5" name="AutoShape 5"/>
          <p:cNvSpPr/>
          <p:nvPr/>
        </p:nvSpPr>
        <p:spPr>
          <a:xfrm>
            <a:off x="889000" y="2286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增强直播互动性</a:t>
            </a:r>
            <a:endParaRPr lang="en-US" sz="1100"/>
          </a:p>
        </p:txBody>
      </p:sp>
      <p:sp>
        <p:nvSpPr>
          <p:cNvPr id="6" name="AutoShape 6"/>
          <p:cNvSpPr/>
          <p:nvPr/>
        </p:nvSpPr>
        <p:spPr>
          <a:xfrm>
            <a:off x="889000" y="2667000"/>
            <a:ext cx="30480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90A4AE"/>
                </a:solidFill>
                <a:latin typeface="Noto Sans SC"/>
                <a:ea typeface="Noto Sans SC"/>
                <a:cs typeface="Noto Sans SC"/>
                <a:sym typeface="Noto Sans SC"/>
              </a:rPr>
              <a:t>设计引导话术，提升用户参与感与活跃度</a:t>
            </a:r>
            <a:endParaRPr lang="en-US" sz="1100"/>
          </a:p>
        </p:txBody>
      </p:sp>
      <p:sp>
        <p:nvSpPr>
          <p:cNvPr id="7" name="AutoShape 7"/>
          <p:cNvSpPr/>
          <p:nvPr/>
        </p:nvSpPr>
        <p:spPr>
          <a:xfrm>
            <a:off x="4445000" y="1397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587500"/>
            <a:ext cx="635000" cy="635000"/>
          </a:xfrm>
          <a:prstGeom prst="rect">
            <a:avLst/>
          </a:prstGeom>
        </p:spPr>
      </p:pic>
      <p:sp>
        <p:nvSpPr>
          <p:cNvPr id="9" name="AutoShape 9"/>
          <p:cNvSpPr/>
          <p:nvPr/>
        </p:nvSpPr>
        <p:spPr>
          <a:xfrm>
            <a:off x="4572000" y="2286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预判观众提问</a:t>
            </a:r>
            <a:endParaRPr lang="en-US" sz="1100"/>
          </a:p>
        </p:txBody>
      </p:sp>
      <p:sp>
        <p:nvSpPr>
          <p:cNvPr id="10" name="AutoShape 10"/>
          <p:cNvSpPr/>
          <p:nvPr/>
        </p:nvSpPr>
        <p:spPr>
          <a:xfrm>
            <a:off x="4572000" y="2667000"/>
            <a:ext cx="30480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90A4AE"/>
                </a:solidFill>
                <a:latin typeface="Noto Sans SC"/>
                <a:ea typeface="Noto Sans SC"/>
                <a:cs typeface="Noto Sans SC"/>
                <a:sym typeface="Noto Sans SC"/>
              </a:rPr>
              <a:t>提前梳理高频问题，准备标准化的专业答案</a:t>
            </a:r>
            <a:endParaRPr lang="en-US" sz="1100"/>
          </a:p>
        </p:txBody>
      </p:sp>
      <p:sp>
        <p:nvSpPr>
          <p:cNvPr id="11" name="AutoShape 11"/>
          <p:cNvSpPr/>
          <p:nvPr/>
        </p:nvSpPr>
        <p:spPr>
          <a:xfrm>
            <a:off x="8128000" y="1397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587500"/>
            <a:ext cx="635000" cy="635000"/>
          </a:xfrm>
          <a:prstGeom prst="rect">
            <a:avLst/>
          </a:prstGeom>
        </p:spPr>
      </p:pic>
      <p:sp>
        <p:nvSpPr>
          <p:cNvPr id="13" name="AutoShape 13"/>
          <p:cNvSpPr/>
          <p:nvPr/>
        </p:nvSpPr>
        <p:spPr>
          <a:xfrm>
            <a:off x="8255000" y="2286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数字人实时应答</a:t>
            </a:r>
            <a:endParaRPr lang="en-US" sz="1100"/>
          </a:p>
        </p:txBody>
      </p:sp>
      <p:sp>
        <p:nvSpPr>
          <p:cNvPr id="14" name="AutoShape 14"/>
          <p:cNvSpPr/>
          <p:nvPr/>
        </p:nvSpPr>
        <p:spPr>
          <a:xfrm>
            <a:off x="8255000" y="2667000"/>
            <a:ext cx="30480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90A4AE"/>
                </a:solidFill>
                <a:latin typeface="Noto Sans SC"/>
                <a:ea typeface="Noto Sans SC"/>
                <a:cs typeface="Noto Sans SC"/>
                <a:sym typeface="Noto Sans SC"/>
              </a:rPr>
              <a:t>赋能数字人自动识别并回复评论区用户疑问</a:t>
            </a:r>
            <a:endParaRPr lang="en-US" sz="1100"/>
          </a:p>
        </p:txBody>
      </p:sp>
      <p:sp>
        <p:nvSpPr>
          <p:cNvPr id="15" name="AutoShape 15"/>
          <p:cNvSpPr/>
          <p:nvPr/>
        </p:nvSpPr>
        <p:spPr>
          <a:xfrm>
            <a:off x="762000" y="3937000"/>
            <a:ext cx="10668000" cy="1397000"/>
          </a:xfrm>
          <a:prstGeom prst="roundRect">
            <a:avLst>
              <a:gd name="adj" fmla="val 909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43000" y="4381500"/>
            <a:ext cx="508000" cy="508000"/>
          </a:xfrm>
          <a:prstGeom prst="rect">
            <a:avLst/>
          </a:prstGeom>
        </p:spPr>
      </p:pic>
      <p:sp>
        <p:nvSpPr>
          <p:cNvPr id="17" name="AutoShape 17"/>
          <p:cNvSpPr/>
          <p:nvPr/>
        </p:nvSpPr>
        <p:spPr>
          <a:xfrm>
            <a:off x="1905000" y="4127500"/>
            <a:ext cx="914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核心目标</a:t>
            </a:r>
            <a:endParaRPr lang="en-US" sz="1100"/>
          </a:p>
        </p:txBody>
      </p:sp>
      <p:sp>
        <p:nvSpPr>
          <p:cNvPr id="18" name="AutoShape 18"/>
          <p:cNvSpPr/>
          <p:nvPr/>
        </p:nvSpPr>
        <p:spPr>
          <a:xfrm>
            <a:off x="1905000" y="4572000"/>
            <a:ext cx="9144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455A64"/>
                </a:solidFill>
                <a:latin typeface="Noto Sans SC"/>
                <a:ea typeface="Noto Sans SC"/>
                <a:cs typeface="Noto Sans SC"/>
                <a:sym typeface="Noto Sans SC"/>
              </a:rPr>
              <a:t>生成自然、专业、友好的互动问答内容，有效解答用户疑问，提升用户体验，构建高质量的直播交互闭环。</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互动问答Prompt模板结构</a:t>
            </a:r>
            <a:endParaRPr lang="en-US" sz="1100"/>
          </a:p>
        </p:txBody>
      </p:sp>
      <p:sp>
        <p:nvSpPr>
          <p:cNvPr id="3" name="AutoShape 3"/>
          <p:cNvSpPr/>
          <p:nvPr/>
        </p:nvSpPr>
        <p:spPr>
          <a:xfrm>
            <a:off x="762000" y="1524000"/>
            <a:ext cx="33782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27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角色定义</a:t>
            </a:r>
            <a:endParaRPr lang="en-US" sz="1100"/>
          </a:p>
        </p:txBody>
      </p:sp>
      <p:sp>
        <p:nvSpPr>
          <p:cNvPr id="6" name="AutoShape 6"/>
          <p:cNvSpPr/>
          <p:nvPr/>
        </p:nvSpPr>
        <p:spPr>
          <a:xfrm>
            <a:off x="1016000" y="22225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46E7A"/>
                </a:solidFill>
                <a:latin typeface="Noto Sans SC"/>
                <a:ea typeface="Noto Sans SC"/>
                <a:cs typeface="Noto Sans SC"/>
                <a:sym typeface="Noto Sans SC"/>
              </a:rPr>
              <a:t>定义AI为“数字人直播互动问答专家”，明确身份定位。</a:t>
            </a:r>
            <a:endParaRPr lang="en-US" sz="1100"/>
          </a:p>
        </p:txBody>
      </p:sp>
      <p:sp>
        <p:nvSpPr>
          <p:cNvPr id="7" name="AutoShape 7"/>
          <p:cNvSpPr/>
          <p:nvPr/>
        </p:nvSpPr>
        <p:spPr>
          <a:xfrm>
            <a:off x="4394200" y="1524000"/>
            <a:ext cx="33782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48200" y="1778000"/>
            <a:ext cx="406400" cy="406400"/>
          </a:xfrm>
          <a:prstGeom prst="rect">
            <a:avLst/>
          </a:prstGeom>
        </p:spPr>
      </p:pic>
      <p:sp>
        <p:nvSpPr>
          <p:cNvPr id="9" name="AutoShape 9"/>
          <p:cNvSpPr/>
          <p:nvPr/>
        </p:nvSpPr>
        <p:spPr>
          <a:xfrm>
            <a:off x="5156200" y="1727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核心技能</a:t>
            </a:r>
            <a:endParaRPr lang="en-US" sz="1100"/>
          </a:p>
        </p:txBody>
      </p:sp>
      <p:sp>
        <p:nvSpPr>
          <p:cNvPr id="10" name="AutoShape 10"/>
          <p:cNvSpPr/>
          <p:nvPr/>
        </p:nvSpPr>
        <p:spPr>
          <a:xfrm>
            <a:off x="4648200" y="22225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46E7A"/>
                </a:solidFill>
                <a:latin typeface="Noto Sans SC"/>
                <a:ea typeface="Noto Sans SC"/>
                <a:cs typeface="Noto Sans SC"/>
                <a:sym typeface="Noto Sans SC"/>
              </a:rPr>
              <a:t>强调AI具备快速理解用户问题并提供专业、准确解答的能力。</a:t>
            </a:r>
            <a:endParaRPr lang="en-US" sz="1100"/>
          </a:p>
        </p:txBody>
      </p:sp>
      <p:sp>
        <p:nvSpPr>
          <p:cNvPr id="11" name="AutoShape 11"/>
          <p:cNvSpPr/>
          <p:nvPr/>
        </p:nvSpPr>
        <p:spPr>
          <a:xfrm>
            <a:off x="8026400" y="1524000"/>
            <a:ext cx="33782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1778000"/>
            <a:ext cx="406400" cy="406400"/>
          </a:xfrm>
          <a:prstGeom prst="rect">
            <a:avLst/>
          </a:prstGeom>
        </p:spPr>
      </p:pic>
      <p:sp>
        <p:nvSpPr>
          <p:cNvPr id="13" name="AutoShape 13"/>
          <p:cNvSpPr/>
          <p:nvPr/>
        </p:nvSpPr>
        <p:spPr>
          <a:xfrm>
            <a:off x="8788400" y="1727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商品信息</a:t>
            </a:r>
            <a:endParaRPr lang="en-US" sz="1100"/>
          </a:p>
        </p:txBody>
      </p:sp>
      <p:sp>
        <p:nvSpPr>
          <p:cNvPr id="14" name="AutoShape 14"/>
          <p:cNvSpPr/>
          <p:nvPr/>
        </p:nvSpPr>
        <p:spPr>
          <a:xfrm>
            <a:off x="8280400" y="22225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46E7A"/>
                </a:solidFill>
                <a:latin typeface="Noto Sans SC"/>
                <a:ea typeface="Noto Sans SC"/>
                <a:cs typeface="Noto Sans SC"/>
                <a:sym typeface="Noto Sans SC"/>
              </a:rPr>
              <a:t>提供详细的产品参数、卖点、使用说明等，作为回答依据。</a:t>
            </a:r>
            <a:endParaRPr lang="en-US" sz="1100"/>
          </a:p>
        </p:txBody>
      </p:sp>
      <p:sp>
        <p:nvSpPr>
          <p:cNvPr id="15" name="AutoShape 15"/>
          <p:cNvSpPr/>
          <p:nvPr/>
        </p:nvSpPr>
        <p:spPr>
          <a:xfrm>
            <a:off x="762000" y="3429000"/>
            <a:ext cx="33782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683000"/>
            <a:ext cx="406400" cy="406400"/>
          </a:xfrm>
          <a:prstGeom prst="rect">
            <a:avLst/>
          </a:prstGeom>
        </p:spPr>
      </p:pic>
      <p:sp>
        <p:nvSpPr>
          <p:cNvPr id="17" name="AutoShape 17"/>
          <p:cNvSpPr/>
          <p:nvPr/>
        </p:nvSpPr>
        <p:spPr>
          <a:xfrm>
            <a:off x="1524000" y="3632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常见问题</a:t>
            </a:r>
            <a:endParaRPr lang="en-US" sz="1100"/>
          </a:p>
        </p:txBody>
      </p:sp>
      <p:sp>
        <p:nvSpPr>
          <p:cNvPr id="18" name="AutoShape 18"/>
          <p:cNvSpPr/>
          <p:nvPr/>
        </p:nvSpPr>
        <p:spPr>
          <a:xfrm>
            <a:off x="1016000" y="41275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46E7A"/>
                </a:solidFill>
                <a:latin typeface="Noto Sans SC"/>
                <a:ea typeface="Noto Sans SC"/>
                <a:cs typeface="Noto Sans SC"/>
                <a:sym typeface="Noto Sans SC"/>
              </a:rPr>
              <a:t>列出观众可能提出的典型问题，如成分、售后、使用方法等。</a:t>
            </a:r>
            <a:endParaRPr lang="en-US" sz="1100"/>
          </a:p>
        </p:txBody>
      </p:sp>
      <p:sp>
        <p:nvSpPr>
          <p:cNvPr id="19" name="AutoShape 19"/>
          <p:cNvSpPr/>
          <p:nvPr/>
        </p:nvSpPr>
        <p:spPr>
          <a:xfrm>
            <a:off x="4394200" y="3429000"/>
            <a:ext cx="33782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48200" y="3683000"/>
            <a:ext cx="406400" cy="406400"/>
          </a:xfrm>
          <a:prstGeom prst="rect">
            <a:avLst/>
          </a:prstGeom>
        </p:spPr>
      </p:pic>
      <p:sp>
        <p:nvSpPr>
          <p:cNvPr id="21" name="AutoShape 21"/>
          <p:cNvSpPr/>
          <p:nvPr/>
        </p:nvSpPr>
        <p:spPr>
          <a:xfrm>
            <a:off x="5156200" y="3632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输出要求</a:t>
            </a:r>
            <a:endParaRPr lang="en-US" sz="1100"/>
          </a:p>
        </p:txBody>
      </p:sp>
      <p:sp>
        <p:nvSpPr>
          <p:cNvPr id="22" name="AutoShape 22"/>
          <p:cNvSpPr/>
          <p:nvPr/>
        </p:nvSpPr>
        <p:spPr>
          <a:xfrm>
            <a:off x="4648200" y="41275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46E7A"/>
                </a:solidFill>
                <a:latin typeface="Noto Sans SC"/>
                <a:ea typeface="Noto Sans SC"/>
                <a:cs typeface="Noto Sans SC"/>
                <a:sym typeface="Noto Sans SC"/>
              </a:rPr>
              <a:t>明确回答的风格（专业/亲切）、格式规范以及回答禁忌。</a:t>
            </a:r>
            <a:endParaRPr lang="en-US" sz="1100"/>
          </a:p>
        </p:txBody>
      </p:sp>
      <p:sp>
        <p:nvSpPr>
          <p:cNvPr id="23" name="AutoShape 23"/>
          <p:cNvSpPr/>
          <p:nvPr/>
        </p:nvSpPr>
        <p:spPr>
          <a:xfrm>
            <a:off x="8026400" y="3429000"/>
            <a:ext cx="33782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80400" y="3683000"/>
            <a:ext cx="406400" cy="406400"/>
          </a:xfrm>
          <a:prstGeom prst="rect">
            <a:avLst/>
          </a:prstGeom>
        </p:spPr>
      </p:pic>
      <p:sp>
        <p:nvSpPr>
          <p:cNvPr id="25" name="AutoShape 25"/>
          <p:cNvSpPr/>
          <p:nvPr/>
        </p:nvSpPr>
        <p:spPr>
          <a:xfrm>
            <a:off x="8788400" y="3632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敏感词库</a:t>
            </a:r>
            <a:endParaRPr lang="en-US" sz="1100"/>
          </a:p>
        </p:txBody>
      </p:sp>
      <p:sp>
        <p:nvSpPr>
          <p:cNvPr id="26" name="AutoShape 26"/>
          <p:cNvSpPr/>
          <p:nvPr/>
        </p:nvSpPr>
        <p:spPr>
          <a:xfrm>
            <a:off x="8280400" y="41275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46E7A"/>
                </a:solidFill>
                <a:latin typeface="Noto Sans SC"/>
                <a:ea typeface="Noto Sans SC"/>
                <a:cs typeface="Noto Sans SC"/>
                <a:sym typeface="Noto Sans SC"/>
              </a:rPr>
              <a:t>列出需要规避的敏感词汇，确保直播内容合规安全。</a:t>
            </a:r>
            <a:endParaRPr lang="en-US" sz="1100"/>
          </a:p>
        </p:txBody>
      </p:sp>
      <p:sp>
        <p:nvSpPr>
          <p:cNvPr id="27" name="AutoShape 27"/>
          <p:cNvSpPr/>
          <p:nvPr/>
        </p:nvSpPr>
        <p:spPr>
          <a:xfrm>
            <a:off x="762000" y="5334000"/>
            <a:ext cx="10642600" cy="762000"/>
          </a:xfrm>
          <a:prstGeom prst="roundRect">
            <a:avLst>
              <a:gd name="adj" fmla="val 16666"/>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sp>
        <p:nvSpPr>
          <p:cNvPr id="28" name="AutoShape 28"/>
          <p:cNvSpPr/>
          <p:nvPr/>
        </p:nvSpPr>
        <p:spPr>
          <a:xfrm>
            <a:off x="1016000" y="5461000"/>
            <a:ext cx="101346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核心逻辑：</a:t>
            </a:r>
            <a:r>
              <a:rPr lang="en-US" sz="1600" b="0" i="0" u="none" strike="noStrike">
                <a:solidFill>
                  <a:srgbClr val="546E7A"/>
                </a:solidFill>
                <a:latin typeface="Noto Sans SC"/>
                <a:ea typeface="Noto Sans SC"/>
                <a:cs typeface="Noto Sans SC"/>
                <a:sym typeface="Noto Sans SC"/>
              </a:rPr>
              <a:t>通过结构化的角色设定与知识库输入，引导AI生成符合预期的高质量互动问答内容。</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互动问答台词Prompt模版 - 护手霜示例</a:t>
            </a:r>
            <a:endParaRPr lang="en-US" sz="1100"/>
          </a:p>
        </p:txBody>
      </p:sp>
      <p:sp>
        <p:nvSpPr>
          <p:cNvPr id="3" name="AutoShape 3"/>
          <p:cNvSpPr/>
          <p:nvPr/>
        </p:nvSpPr>
        <p:spPr>
          <a:xfrm>
            <a:off x="762000" y="1397000"/>
            <a:ext cx="5207000" cy="1651000"/>
          </a:xfrm>
          <a:prstGeom prst="roundRect">
            <a:avLst>
              <a:gd name="adj" fmla="val 7692"/>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87500"/>
            <a:ext cx="304800" cy="304800"/>
          </a:xfrm>
          <a:prstGeom prst="rect">
            <a:avLst/>
          </a:prstGeom>
        </p:spPr>
      </p:pic>
      <p:sp>
        <p:nvSpPr>
          <p:cNvPr id="5" name="AutoShape 5"/>
          <p:cNvSpPr/>
          <p:nvPr/>
        </p:nvSpPr>
        <p:spPr>
          <a:xfrm>
            <a:off x="1397000" y="15494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角色定位 &amp; 核心技能</a:t>
            </a:r>
            <a:endParaRPr lang="en-US" sz="1100"/>
          </a:p>
        </p:txBody>
      </p:sp>
      <p:sp>
        <p:nvSpPr>
          <p:cNvPr id="6" name="AutoShape 6"/>
          <p:cNvSpPr/>
          <p:nvPr/>
        </p:nvSpPr>
        <p:spPr>
          <a:xfrm>
            <a:off x="1016000" y="1968500"/>
            <a:ext cx="4699000" cy="952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46E7A"/>
                </a:solidFill>
                <a:latin typeface="Noto Sans SC"/>
                <a:ea typeface="Noto Sans SC"/>
                <a:cs typeface="Noto Sans SC"/>
                <a:sym typeface="Noto Sans SC"/>
              </a:rPr>
              <a:t>角色：数字人直播互动问答专家，提供专业、友好解答。</a:t>
            </a:r>
            <a:endParaRPr lang="en-US" sz="1100"/>
          </a:p>
          <a:p>
            <a:pPr indent="0" algn="l">
              <a:lnSpc>
                <a:spcPct val="108000"/>
              </a:lnSpc>
            </a:pPr>
            <a:r>
              <a:rPr lang="en-US" sz="1400" b="0" i="0" u="none" strike="noStrike">
                <a:solidFill>
                  <a:srgbClr val="546E7A"/>
                </a:solidFill>
                <a:latin typeface="Noto Sans SC"/>
                <a:ea typeface="Noto Sans SC"/>
                <a:cs typeface="Noto Sans SC"/>
                <a:sym typeface="Noto Sans SC"/>
              </a:rPr>
              <a:t>技能：精通中文表达，准确理解用户意图，基于商品信息作答。</a:t>
            </a:r>
            <a:endParaRPr lang="en-US" sz="1400" b="0" i="0" u="none" strike="noStrike">
              <a:solidFill>
                <a:srgbClr val="546E7A"/>
              </a:solidFill>
              <a:latin typeface="Noto Sans SC"/>
              <a:ea typeface="Noto Sans SC"/>
              <a:cs typeface="Noto Sans SC"/>
              <a:sym typeface="Noto Sans SC"/>
            </a:endParaRPr>
          </a:p>
        </p:txBody>
      </p:sp>
      <p:sp>
        <p:nvSpPr>
          <p:cNvPr id="7" name="AutoShape 7"/>
          <p:cNvSpPr/>
          <p:nvPr/>
        </p:nvSpPr>
        <p:spPr>
          <a:xfrm>
            <a:off x="762000" y="3238500"/>
            <a:ext cx="5207000" cy="1905000"/>
          </a:xfrm>
          <a:prstGeom prst="roundRect">
            <a:avLst>
              <a:gd name="adj" fmla="val 6666"/>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429000"/>
            <a:ext cx="304800" cy="304800"/>
          </a:xfrm>
          <a:prstGeom prst="rect">
            <a:avLst/>
          </a:prstGeom>
        </p:spPr>
      </p:pic>
      <p:sp>
        <p:nvSpPr>
          <p:cNvPr id="9" name="AutoShape 9"/>
          <p:cNvSpPr/>
          <p:nvPr/>
        </p:nvSpPr>
        <p:spPr>
          <a:xfrm>
            <a:off x="1397000" y="33909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商品知识库 (护手霜)</a:t>
            </a:r>
            <a:endParaRPr lang="en-US" sz="1100"/>
          </a:p>
        </p:txBody>
      </p:sp>
      <p:sp>
        <p:nvSpPr>
          <p:cNvPr id="10" name="AutoShape 10"/>
          <p:cNvSpPr/>
          <p:nvPr/>
        </p:nvSpPr>
        <p:spPr>
          <a:xfrm>
            <a:off x="1016000" y="3810000"/>
            <a:ext cx="4699000" cy="1206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46E7A"/>
                </a:solidFill>
                <a:latin typeface="Noto Sans SC"/>
                <a:ea typeface="Noto Sans SC"/>
                <a:cs typeface="Noto Sans SC"/>
                <a:sym typeface="Noto Sans SC"/>
              </a:rPr>
              <a:t>规格：300ml | 功效：愈合及抚平肌肤裂痕、干燥</a:t>
            </a:r>
            <a:endParaRPr lang="en-US" sz="1100"/>
          </a:p>
          <a:p>
            <a:pPr indent="0" algn="l">
              <a:lnSpc>
                <a:spcPct val="108000"/>
              </a:lnSpc>
            </a:pPr>
            <a:r>
              <a:rPr lang="en-US" sz="1400" b="0" i="0" u="none" strike="noStrike">
                <a:solidFill>
                  <a:srgbClr val="546E7A"/>
                </a:solidFill>
                <a:latin typeface="Noto Sans SC"/>
                <a:ea typeface="Noto Sans SC"/>
                <a:cs typeface="Noto Sans SC"/>
                <a:sym typeface="Noto Sans SC"/>
              </a:rPr>
              <a:t>质量：正品保障 | 优惠：会员9折，限时买二送一</a:t>
            </a:r>
            <a:endParaRPr lang="en-US" sz="1400" b="0" i="0" u="none" strike="noStrike">
              <a:solidFill>
                <a:srgbClr val="546E7A"/>
              </a:solidFill>
              <a:latin typeface="Noto Sans SC"/>
              <a:ea typeface="Noto Sans SC"/>
              <a:cs typeface="Noto Sans SC"/>
              <a:sym typeface="Noto Sans SC"/>
            </a:endParaRPr>
          </a:p>
          <a:p>
            <a:pPr indent="0" algn="l">
              <a:lnSpc>
                <a:spcPct val="108000"/>
              </a:lnSpc>
            </a:pPr>
            <a:r>
              <a:rPr lang="en-US" sz="1400" b="0" i="0" u="none" strike="noStrike">
                <a:solidFill>
                  <a:srgbClr val="546E7A"/>
                </a:solidFill>
                <a:latin typeface="Noto Sans SC"/>
                <a:ea typeface="Noto Sans SC"/>
                <a:cs typeface="Noto Sans SC"/>
                <a:sym typeface="Noto Sans SC"/>
              </a:rPr>
              <a:t>物流：顺丰包邮 | 肤质：全肤质适用，尤其适合干燥肌</a:t>
            </a:r>
            <a:endParaRPr lang="en-US" sz="1400" b="0" i="0" u="none" strike="noStrike">
              <a:solidFill>
                <a:srgbClr val="546E7A"/>
              </a:solidFill>
              <a:latin typeface="Noto Sans SC"/>
              <a:ea typeface="Noto Sans SC"/>
              <a:cs typeface="Noto Sans SC"/>
              <a:sym typeface="Noto Sans SC"/>
            </a:endParaRPr>
          </a:p>
        </p:txBody>
      </p:sp>
      <p:sp>
        <p:nvSpPr>
          <p:cNvPr id="11" name="AutoShape 11"/>
          <p:cNvSpPr/>
          <p:nvPr/>
        </p:nvSpPr>
        <p:spPr>
          <a:xfrm>
            <a:off x="6223000" y="1397000"/>
            <a:ext cx="5207000" cy="1651000"/>
          </a:xfrm>
          <a:prstGeom prst="roundRect">
            <a:avLst>
              <a:gd name="adj" fmla="val 7692"/>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1587500"/>
            <a:ext cx="304800" cy="304800"/>
          </a:xfrm>
          <a:prstGeom prst="rect">
            <a:avLst/>
          </a:prstGeom>
        </p:spPr>
      </p:pic>
      <p:sp>
        <p:nvSpPr>
          <p:cNvPr id="13" name="AutoShape 13"/>
          <p:cNvSpPr/>
          <p:nvPr/>
        </p:nvSpPr>
        <p:spPr>
          <a:xfrm>
            <a:off x="6858000" y="15494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常见问题 (FAQ)</a:t>
            </a:r>
            <a:endParaRPr lang="en-US" sz="1100"/>
          </a:p>
        </p:txBody>
      </p:sp>
      <p:sp>
        <p:nvSpPr>
          <p:cNvPr id="14" name="AutoShape 14"/>
          <p:cNvSpPr/>
          <p:nvPr/>
        </p:nvSpPr>
        <p:spPr>
          <a:xfrm>
            <a:off x="6477000" y="1968500"/>
            <a:ext cx="4699000" cy="952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46E7A"/>
                </a:solidFill>
                <a:latin typeface="Noto Sans SC"/>
                <a:ea typeface="Noto Sans SC"/>
                <a:cs typeface="Noto Sans SC"/>
                <a:sym typeface="Noto Sans SC"/>
              </a:rPr>
              <a:t>1. 这款护手霜适合什么肤质？</a:t>
            </a:r>
            <a:endParaRPr lang="en-US" sz="1100"/>
          </a:p>
          <a:p>
            <a:pPr indent="0" algn="l">
              <a:lnSpc>
                <a:spcPct val="108000"/>
              </a:lnSpc>
            </a:pPr>
            <a:r>
              <a:rPr lang="en-US" sz="1400" b="0" i="0" u="none" strike="noStrike">
                <a:solidFill>
                  <a:srgbClr val="546E7A"/>
                </a:solidFill>
                <a:latin typeface="Noto Sans SC"/>
                <a:ea typeface="Noto Sans SC"/>
                <a:cs typeface="Noto Sans SC"/>
                <a:sym typeface="Noto Sans SC"/>
              </a:rPr>
              <a:t>2. 多久能看到效果？</a:t>
            </a:r>
            <a:endParaRPr lang="en-US" sz="1400" b="0" i="0" u="none" strike="noStrike">
              <a:solidFill>
                <a:srgbClr val="546E7A"/>
              </a:solidFill>
              <a:latin typeface="Noto Sans SC"/>
              <a:ea typeface="Noto Sans SC"/>
              <a:cs typeface="Noto Sans SC"/>
              <a:sym typeface="Noto Sans SC"/>
            </a:endParaRPr>
          </a:p>
          <a:p>
            <a:pPr indent="0" algn="l">
              <a:lnSpc>
                <a:spcPct val="108000"/>
              </a:lnSpc>
            </a:pPr>
            <a:r>
              <a:rPr lang="en-US" sz="1400" b="0" i="0" u="none" strike="noStrike">
                <a:solidFill>
                  <a:srgbClr val="546E7A"/>
                </a:solidFill>
                <a:latin typeface="Noto Sans SC"/>
                <a:ea typeface="Noto Sans SC"/>
                <a:cs typeface="Noto Sans SC"/>
                <a:sym typeface="Noto Sans SC"/>
              </a:rPr>
              <a:t>3. 有香味吗？ / 可以用来擦脸吗？</a:t>
            </a:r>
            <a:endParaRPr lang="en-US" sz="1400" b="0" i="0" u="none" strike="noStrike">
              <a:solidFill>
                <a:srgbClr val="546E7A"/>
              </a:solidFill>
              <a:latin typeface="Noto Sans SC"/>
              <a:ea typeface="Noto Sans SC"/>
              <a:cs typeface="Noto Sans SC"/>
              <a:sym typeface="Noto Sans SC"/>
            </a:endParaRPr>
          </a:p>
        </p:txBody>
      </p:sp>
      <p:sp>
        <p:nvSpPr>
          <p:cNvPr id="15" name="AutoShape 15"/>
          <p:cNvSpPr/>
          <p:nvPr/>
        </p:nvSpPr>
        <p:spPr>
          <a:xfrm>
            <a:off x="6223000" y="3238500"/>
            <a:ext cx="5207000" cy="1905000"/>
          </a:xfrm>
          <a:prstGeom prst="roundRect">
            <a:avLst>
              <a:gd name="adj" fmla="val 6666"/>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429000"/>
            <a:ext cx="304800" cy="304800"/>
          </a:xfrm>
          <a:prstGeom prst="rect">
            <a:avLst/>
          </a:prstGeom>
        </p:spPr>
      </p:pic>
      <p:sp>
        <p:nvSpPr>
          <p:cNvPr id="17" name="AutoShape 17"/>
          <p:cNvSpPr/>
          <p:nvPr/>
        </p:nvSpPr>
        <p:spPr>
          <a:xfrm>
            <a:off x="6858000" y="33909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输出要求 &amp; 敏感词</a:t>
            </a:r>
            <a:endParaRPr lang="en-US" sz="1100"/>
          </a:p>
        </p:txBody>
      </p:sp>
      <p:sp>
        <p:nvSpPr>
          <p:cNvPr id="18" name="AutoShape 18"/>
          <p:cNvSpPr/>
          <p:nvPr/>
        </p:nvSpPr>
        <p:spPr>
          <a:xfrm>
            <a:off x="6477000" y="3810000"/>
            <a:ext cx="4699000" cy="1206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46E7A"/>
                </a:solidFill>
                <a:latin typeface="Noto Sans SC"/>
                <a:ea typeface="Noto Sans SC"/>
                <a:cs typeface="Noto Sans SC"/>
                <a:sym typeface="Noto Sans SC"/>
              </a:rPr>
              <a:t>要求：简洁专业、亲切自然、不编造信息。</a:t>
            </a:r>
            <a:endParaRPr lang="en-US" sz="1100"/>
          </a:p>
          <a:p>
            <a:pPr indent="0" algn="l">
              <a:lnSpc>
                <a:spcPct val="108000"/>
              </a:lnSpc>
            </a:pPr>
            <a:r>
              <a:rPr lang="en-US" sz="1400" b="0" i="0" u="none" strike="noStrike">
                <a:solidFill>
                  <a:srgbClr val="546E7A"/>
                </a:solidFill>
                <a:latin typeface="Noto Sans SC"/>
                <a:ea typeface="Noto Sans SC"/>
                <a:cs typeface="Noto Sans SC"/>
                <a:sym typeface="Noto Sans SC"/>
              </a:rPr>
              <a:t>敏感词：</a:t>
            </a:r>
            <a:r>
              <a:rPr lang="en-US" sz="1400" b="1" i="0" u="none" strike="noStrike">
                <a:solidFill>
                  <a:srgbClr val="FF5722"/>
                </a:solidFill>
                <a:latin typeface="Noto Sans SC"/>
                <a:ea typeface="Noto Sans SC"/>
                <a:cs typeface="Noto Sans SC"/>
                <a:sym typeface="Noto Sans SC"/>
              </a:rPr>
              <a:t>世界级、最高级、第一、唯一、首个、最好、最便宜、美白、祛痘</a:t>
            </a:r>
            <a:endParaRPr lang="en-US" sz="1400" b="1" i="0" u="none" strike="noStrike">
              <a:solidFill>
                <a:srgbClr val="FF5722"/>
              </a:solidFill>
              <a:latin typeface="Noto Sans SC"/>
              <a:ea typeface="Noto Sans SC"/>
              <a:cs typeface="Noto Sans SC"/>
              <a:sym typeface="Noto Sans SC"/>
            </a:endParaRPr>
          </a:p>
        </p:txBody>
      </p:sp>
      <p:sp>
        <p:nvSpPr>
          <p:cNvPr id="19" name="AutoShape 19"/>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537200"/>
            <a:ext cx="304800" cy="304800"/>
          </a:xfrm>
          <a:prstGeom prst="rect">
            <a:avLst/>
          </a:prstGeom>
        </p:spPr>
      </p:pic>
      <p:sp>
        <p:nvSpPr>
          <p:cNvPr id="21" name="AutoShape 21"/>
          <p:cNvSpPr/>
          <p:nvPr/>
        </p:nvSpPr>
        <p:spPr>
          <a:xfrm>
            <a:off x="1397000" y="5461000"/>
            <a:ext cx="977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核心价值：</a:t>
            </a:r>
            <a:r>
              <a:rPr lang="en-US" sz="1600" b="0" i="0" u="none" strike="noStrike">
                <a:solidFill>
                  <a:srgbClr val="546E7A"/>
                </a:solidFill>
                <a:latin typeface="Noto Sans SC"/>
                <a:ea typeface="Noto Sans SC"/>
                <a:cs typeface="Noto Sans SC"/>
                <a:sym typeface="Noto Sans SC"/>
              </a:rPr>
              <a:t>通过结构化的 Prompt 模板，AI 能精准理解语境，基于真实商品信息，生成符合直播场景的专业回答，提升用户互动体验。</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058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互动问答台词Prompt模版 - 生成结果示例</a:t>
            </a:r>
            <a:endParaRPr lang="en-US" sz="1100"/>
          </a:p>
        </p:txBody>
      </p:sp>
      <p:sp>
        <p:nvSpPr>
          <p:cNvPr id="3" name="AutoShape 3"/>
          <p:cNvSpPr/>
          <p:nvPr/>
        </p:nvSpPr>
        <p:spPr>
          <a:xfrm>
            <a:off x="762000" y="1397000"/>
            <a:ext cx="5080000" cy="1270000"/>
          </a:xfrm>
          <a:prstGeom prst="roundRect">
            <a:avLst>
              <a:gd name="adj" fmla="val 100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87500"/>
            <a:ext cx="304800" cy="304800"/>
          </a:xfrm>
          <a:prstGeom prst="rect">
            <a:avLst/>
          </a:prstGeom>
        </p:spPr>
      </p:pic>
      <p:sp>
        <p:nvSpPr>
          <p:cNvPr id="5" name="AutoShape 5"/>
          <p:cNvSpPr/>
          <p:nvPr/>
        </p:nvSpPr>
        <p:spPr>
          <a:xfrm>
            <a:off x="1397000" y="1549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问：这款护手霜适合什么肤质？</a:t>
            </a:r>
            <a:endParaRPr lang="en-US" sz="1100"/>
          </a:p>
        </p:txBody>
      </p:sp>
      <p:sp>
        <p:nvSpPr>
          <p:cNvPr id="6" name="AutoShape 6"/>
          <p:cNvSpPr/>
          <p:nvPr/>
        </p:nvSpPr>
        <p:spPr>
          <a:xfrm>
            <a:off x="1016000" y="1930400"/>
            <a:ext cx="4572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46E7A"/>
                </a:solidFill>
                <a:latin typeface="Noto Sans SC"/>
                <a:ea typeface="Noto Sans SC"/>
                <a:cs typeface="Noto Sans SC"/>
                <a:sym typeface="Noto Sans SC"/>
              </a:rPr>
              <a:t>答：这款护手霜适合所有肤质，尤其针对干燥、粗糙的肌肤效果更佳哦！</a:t>
            </a:r>
            <a:endParaRPr lang="en-US" sz="1100"/>
          </a:p>
        </p:txBody>
      </p:sp>
      <p:sp>
        <p:nvSpPr>
          <p:cNvPr id="7" name="AutoShape 7"/>
          <p:cNvSpPr/>
          <p:nvPr/>
        </p:nvSpPr>
        <p:spPr>
          <a:xfrm>
            <a:off x="6350000" y="1397000"/>
            <a:ext cx="5080000" cy="1270000"/>
          </a:xfrm>
          <a:prstGeom prst="roundRect">
            <a:avLst>
              <a:gd name="adj" fmla="val 100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04000" y="1587500"/>
            <a:ext cx="304800" cy="304800"/>
          </a:xfrm>
          <a:prstGeom prst="rect">
            <a:avLst/>
          </a:prstGeom>
        </p:spPr>
      </p:pic>
      <p:sp>
        <p:nvSpPr>
          <p:cNvPr id="9" name="AutoShape 9"/>
          <p:cNvSpPr/>
          <p:nvPr/>
        </p:nvSpPr>
        <p:spPr>
          <a:xfrm>
            <a:off x="6985000" y="1549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问：多久能看到效果？</a:t>
            </a:r>
            <a:endParaRPr lang="en-US" sz="1100"/>
          </a:p>
        </p:txBody>
      </p:sp>
      <p:sp>
        <p:nvSpPr>
          <p:cNvPr id="10" name="AutoShape 10"/>
          <p:cNvSpPr/>
          <p:nvPr/>
        </p:nvSpPr>
        <p:spPr>
          <a:xfrm>
            <a:off x="6604000" y="1930400"/>
            <a:ext cx="4572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46E7A"/>
                </a:solidFill>
                <a:latin typeface="Noto Sans SC"/>
                <a:ea typeface="Noto Sans SC"/>
                <a:cs typeface="Noto Sans SC"/>
                <a:sym typeface="Noto Sans SC"/>
              </a:rPr>
              <a:t>答：坚持使用一段时间后，您会感受到手部肌肤变得更加柔嫩光滑，具体效果因人而异哦！</a:t>
            </a:r>
            <a:endParaRPr lang="en-US" sz="1100"/>
          </a:p>
        </p:txBody>
      </p:sp>
      <p:sp>
        <p:nvSpPr>
          <p:cNvPr id="11" name="AutoShape 11"/>
          <p:cNvSpPr/>
          <p:nvPr/>
        </p:nvSpPr>
        <p:spPr>
          <a:xfrm>
            <a:off x="762000" y="2921000"/>
            <a:ext cx="5080000" cy="1270000"/>
          </a:xfrm>
          <a:prstGeom prst="roundRect">
            <a:avLst>
              <a:gd name="adj" fmla="val 100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3111500"/>
            <a:ext cx="304800" cy="304800"/>
          </a:xfrm>
          <a:prstGeom prst="rect">
            <a:avLst/>
          </a:prstGeom>
        </p:spPr>
      </p:pic>
      <p:sp>
        <p:nvSpPr>
          <p:cNvPr id="13" name="AutoShape 13"/>
          <p:cNvSpPr/>
          <p:nvPr/>
        </p:nvSpPr>
        <p:spPr>
          <a:xfrm>
            <a:off x="1397000" y="3073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问：有香味吗？</a:t>
            </a:r>
            <a:endParaRPr lang="en-US" sz="1100"/>
          </a:p>
        </p:txBody>
      </p:sp>
      <p:sp>
        <p:nvSpPr>
          <p:cNvPr id="14" name="AutoShape 14"/>
          <p:cNvSpPr/>
          <p:nvPr/>
        </p:nvSpPr>
        <p:spPr>
          <a:xfrm>
            <a:off x="1016000" y="3454400"/>
            <a:ext cx="4572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46E7A"/>
                </a:solidFill>
                <a:latin typeface="Noto Sans SC"/>
                <a:ea typeface="Noto Sans SC"/>
                <a:cs typeface="Noto Sans SC"/>
                <a:sym typeface="Noto Sans SC"/>
              </a:rPr>
              <a:t>答：这款护手霜带有淡淡的清香，非常宜人，不会刺鼻哦！</a:t>
            </a:r>
            <a:endParaRPr lang="en-US" sz="1100"/>
          </a:p>
        </p:txBody>
      </p:sp>
      <p:sp>
        <p:nvSpPr>
          <p:cNvPr id="15" name="AutoShape 15"/>
          <p:cNvSpPr/>
          <p:nvPr/>
        </p:nvSpPr>
        <p:spPr>
          <a:xfrm>
            <a:off x="6350000" y="2921000"/>
            <a:ext cx="5080000" cy="1270000"/>
          </a:xfrm>
          <a:prstGeom prst="roundRect">
            <a:avLst>
              <a:gd name="adj" fmla="val 100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04000" y="3111500"/>
            <a:ext cx="304800" cy="304800"/>
          </a:xfrm>
          <a:prstGeom prst="rect">
            <a:avLst/>
          </a:prstGeom>
        </p:spPr>
      </p:pic>
      <p:sp>
        <p:nvSpPr>
          <p:cNvPr id="17" name="AutoShape 17"/>
          <p:cNvSpPr/>
          <p:nvPr/>
        </p:nvSpPr>
        <p:spPr>
          <a:xfrm>
            <a:off x="6985000" y="3073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问：可以用来擦脸吗？</a:t>
            </a:r>
            <a:endParaRPr lang="en-US" sz="1100"/>
          </a:p>
        </p:txBody>
      </p:sp>
      <p:sp>
        <p:nvSpPr>
          <p:cNvPr id="18" name="AutoShape 18"/>
          <p:cNvSpPr/>
          <p:nvPr/>
        </p:nvSpPr>
        <p:spPr>
          <a:xfrm>
            <a:off x="6604000" y="3454400"/>
            <a:ext cx="4572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46E7A"/>
                </a:solidFill>
                <a:latin typeface="Noto Sans SC"/>
                <a:ea typeface="Noto Sans SC"/>
                <a:cs typeface="Noto Sans SC"/>
                <a:sym typeface="Noto Sans SC"/>
              </a:rPr>
              <a:t>答：这款产品是专门为手部设计的，建议您使用专门的面部护肤品哦！</a:t>
            </a:r>
            <a:endParaRPr lang="en-US" sz="1100"/>
          </a:p>
        </p:txBody>
      </p:sp>
      <p:sp>
        <p:nvSpPr>
          <p:cNvPr id="19" name="AutoShape 19"/>
          <p:cNvSpPr/>
          <p:nvPr/>
        </p:nvSpPr>
        <p:spPr>
          <a:xfrm>
            <a:off x="762000" y="4572000"/>
            <a:ext cx="10668000" cy="1524000"/>
          </a:xfrm>
          <a:prstGeom prst="roundRect">
            <a:avLst>
              <a:gd name="adj" fmla="val 8333"/>
            </a:avLst>
          </a:prstGeom>
          <a:solidFill>
            <a:srgbClr val="FFFFFF">
              <a:alpha val="60000"/>
            </a:srgbClr>
          </a:solidFill>
          <a:ln w="12700" cap="flat" cmpd="sng">
            <a:solidFill>
              <a:srgbClr val="90A4AE">
                <a:alpha val="10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762500"/>
            <a:ext cx="304800" cy="304800"/>
          </a:xfrm>
          <a:prstGeom prst="rect">
            <a:avLst/>
          </a:prstGeom>
        </p:spPr>
      </p:pic>
      <p:sp>
        <p:nvSpPr>
          <p:cNvPr id="21" name="AutoShape 21"/>
          <p:cNvSpPr/>
          <p:nvPr/>
        </p:nvSpPr>
        <p:spPr>
          <a:xfrm>
            <a:off x="1397000" y="4724400"/>
            <a:ext cx="9779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9800"/>
                </a:solidFill>
                <a:latin typeface="Noto Sans SC"/>
                <a:ea typeface="Noto Sans SC"/>
                <a:cs typeface="Noto Sans SC"/>
                <a:sym typeface="Noto Sans SC"/>
              </a:rPr>
              <a:t>结果分析</a:t>
            </a:r>
            <a:endParaRPr lang="en-US" sz="1100"/>
          </a:p>
        </p:txBody>
      </p:sp>
      <p:sp>
        <p:nvSpPr>
          <p:cNvPr id="22" name="AutoShape 22"/>
          <p:cNvSpPr/>
          <p:nvPr/>
        </p:nvSpPr>
        <p:spPr>
          <a:xfrm>
            <a:off x="1016000" y="5143500"/>
            <a:ext cx="10160000" cy="762000"/>
          </a:xfrm>
          <a:prstGeom prst="rect">
            <a:avLst/>
          </a:prstGeom>
          <a:noFill/>
          <a:ln w="12700" cap="flat" cmpd="sng">
            <a:noFill/>
            <a:prstDash val="solid"/>
            <a:round/>
          </a:ln>
        </p:spPr>
        <p:txBody>
          <a:bodyPr vert="horz" wrap="square" lIns="0" tIns="0" rIns="0" bIns="0" rtlCol="0" anchor="ctr" anchorCtr="0"/>
          <a:lstStyle/>
          <a:p>
            <a:pPr marL="190500" indent="-190500" algn="l">
              <a:lnSpc>
                <a:spcPct val="125000"/>
              </a:lnSpc>
              <a:buClr>
                <a:srgbClr val="455A64"/>
              </a:buClr>
              <a:buChar char="•"/>
              <a:defRPr/>
            </a:pPr>
            <a:r>
              <a:rPr lang="en-US" sz="1500" b="0" i="0" u="none" strike="noStrike">
                <a:solidFill>
                  <a:srgbClr val="455A64"/>
                </a:solidFill>
                <a:latin typeface="Noto Sans SC"/>
                <a:ea typeface="Noto Sans SC"/>
                <a:cs typeface="Noto Sans SC"/>
                <a:sym typeface="Noto Sans SC"/>
              </a:rPr>
              <a:t>回答准确、专业，严格基于提供的商品信息进行回复。</a:t>
            </a:r>
            <a:endParaRPr lang="en-US" sz="1100"/>
          </a:p>
          <a:p>
            <a:pPr marL="190500" indent="-190500" algn="l">
              <a:lnSpc>
                <a:spcPct val="125000"/>
              </a:lnSpc>
              <a:buClr>
                <a:srgbClr val="455A64"/>
              </a:buClr>
              <a:buChar char="•"/>
            </a:pPr>
            <a:r>
              <a:rPr lang="en-US" sz="1500" b="0" i="0" u="none" strike="noStrike">
                <a:solidFill>
                  <a:srgbClr val="455A64"/>
                </a:solidFill>
                <a:latin typeface="Noto Sans SC"/>
                <a:ea typeface="Noto Sans SC"/>
                <a:cs typeface="Noto Sans SC"/>
                <a:sym typeface="Noto Sans SC"/>
              </a:rPr>
              <a:t>语言亲切自然，符合直播互动的口语化语气，有效拉近与观众距离。</a:t>
            </a:r>
            <a:endParaRPr lang="en-US" sz="1500" b="0" i="0" u="none" strike="noStrike">
              <a:solidFill>
                <a:srgbClr val="455A64"/>
              </a:solidFill>
              <a:latin typeface="Noto Sans SC"/>
              <a:ea typeface="Noto Sans SC"/>
              <a:cs typeface="Noto Sans SC"/>
              <a:sym typeface="Noto Sans SC"/>
            </a:endParaRPr>
          </a:p>
          <a:p>
            <a:pPr marL="190500" indent="-190500" algn="l">
              <a:lnSpc>
                <a:spcPct val="125000"/>
              </a:lnSpc>
              <a:buClr>
                <a:srgbClr val="455A64"/>
              </a:buClr>
              <a:buChar char="•"/>
            </a:pPr>
            <a:r>
              <a:rPr lang="en-US" sz="1500" b="0" i="0" u="none" strike="noStrike">
                <a:solidFill>
                  <a:srgbClr val="455A64"/>
                </a:solidFill>
                <a:latin typeface="Noto Sans SC"/>
                <a:ea typeface="Noto Sans SC"/>
                <a:cs typeface="Noto Sans SC"/>
                <a:sym typeface="Noto Sans SC"/>
              </a:rPr>
              <a:t>针对性解答用户核心疑问，提升用户体验与购买信心。</a:t>
            </a:r>
            <a:endParaRPr lang="en-US" sz="1500" b="0" i="0" u="none" strike="noStrike">
              <a:solidFill>
                <a:srgbClr val="455A64"/>
              </a:solidFill>
              <a:latin typeface="Noto Sans SC"/>
              <a:ea typeface="Noto Sans SC"/>
              <a:cs typeface="Noto Sans SC"/>
              <a:sym typeface="Noto Sans SC"/>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287000" y="4953000"/>
            <a:ext cx="2540000" cy="2540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762000"/>
            <a:ext cx="10160000" cy="5334000"/>
          </a:xfrm>
          <a:prstGeom prst="roundRect">
            <a:avLst>
              <a:gd name="adj" fmla="val 4761"/>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486400" y="1143000"/>
            <a:ext cx="1219200" cy="1219200"/>
          </a:xfrm>
          <a:prstGeom prst="rect">
            <a:avLst/>
          </a:prstGeom>
        </p:spPr>
      </p:pic>
      <p:sp>
        <p:nvSpPr>
          <p:cNvPr id="6" name="AutoShape 6"/>
          <p:cNvSpPr/>
          <p:nvPr/>
        </p:nvSpPr>
        <p:spPr>
          <a:xfrm>
            <a:off x="1016000" y="2540000"/>
            <a:ext cx="10160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77BD"/>
                </a:solidFill>
                <a:latin typeface="Noto Sans SC"/>
                <a:ea typeface="Noto Sans SC"/>
                <a:cs typeface="Noto Sans SC"/>
                <a:sym typeface="Noto Sans SC"/>
              </a:rPr>
              <a:t>12.3 数字人口播台词生成项目实战</a:t>
            </a:r>
            <a:endParaRPr lang="en-US" sz="1100"/>
          </a:p>
        </p:txBody>
      </p:sp>
      <p:cxnSp>
        <p:nvCxnSpPr>
          <p:cNvPr id="7" name="Connector 7"/>
          <p:cNvCxnSpPr/>
          <p:nvPr/>
        </p:nvCxnSpPr>
        <p:spPr>
          <a:xfrm rot="-34376">
            <a:off x="5461032" y="3295650"/>
            <a:ext cx="1270000" cy="12700"/>
          </a:xfrm>
          <a:prstGeom prst="straightConnector1">
            <a:avLst/>
          </a:prstGeom>
          <a:solidFill>
            <a:srgbClr val="DEE0E3">
              <a:alpha val="100000"/>
            </a:srgbClr>
          </a:solidFill>
          <a:ln w="38100" cap="rnd" cmpd="sng">
            <a:solidFill>
              <a:srgbClr val="FF9800">
                <a:alpha val="100000"/>
              </a:srgbClr>
            </a:solidFill>
            <a:prstDash val="solid"/>
            <a:round/>
            <a:headEnd type="none" w="lg" len="lg"/>
            <a:tailEnd type="none" w="lg" len="lg"/>
          </a:ln>
        </p:spPr>
      </p:cxnSp>
      <p:sp>
        <p:nvSpPr>
          <p:cNvPr id="8" name="AutoShape 8"/>
          <p:cNvSpPr/>
          <p:nvPr/>
        </p:nvSpPr>
        <p:spPr>
          <a:xfrm>
            <a:off x="1524000" y="3683000"/>
            <a:ext cx="9144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90A4AE"/>
                </a:solidFill>
                <a:latin typeface="Noto Sans SC"/>
                <a:ea typeface="Noto Sans SC"/>
                <a:cs typeface="Noto Sans SC"/>
                <a:sym typeface="Noto Sans SC"/>
              </a:rPr>
              <a:t>本章节将通过一个完整的项目案例，将前面所学的理论知识和模板应用到实际操作中，涵盖项目背景、准备、执行、优化和总结的全过程，帮助大家掌握数字人口播台词生成的完整流程。</a:t>
            </a:r>
            <a:endParaRPr lang="en-US" sz="1100"/>
          </a:p>
        </p:txBody>
      </p:sp>
      <p:sp>
        <p:nvSpPr>
          <p:cNvPr id="9" name="AutoShape 9"/>
          <p:cNvSpPr/>
          <p:nvPr/>
        </p:nvSpPr>
        <p:spPr>
          <a:xfrm>
            <a:off x="1651000" y="5207000"/>
            <a:ext cx="1524000" cy="457200"/>
          </a:xfrm>
          <a:prstGeom prst="roundRect">
            <a:avLst>
              <a:gd name="adj" fmla="val 50000"/>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77BD"/>
                </a:solidFill>
                <a:latin typeface="Noto Sans SC"/>
                <a:ea typeface="Noto Sans SC"/>
                <a:cs typeface="Noto Sans SC"/>
                <a:sym typeface="Noto Sans SC"/>
              </a:rPr>
              <a:t>项目背景</a:t>
            </a:r>
            <a:endParaRPr lang="en-US" sz="1100"/>
          </a:p>
        </p:txBody>
      </p:sp>
      <p:sp>
        <p:nvSpPr>
          <p:cNvPr id="10" name="AutoShape 10"/>
          <p:cNvSpPr/>
          <p:nvPr/>
        </p:nvSpPr>
        <p:spPr>
          <a:xfrm>
            <a:off x="3429000" y="5207000"/>
            <a:ext cx="1524000" cy="457200"/>
          </a:xfrm>
          <a:prstGeom prst="roundRect">
            <a:avLst>
              <a:gd name="adj" fmla="val 50000"/>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77BD"/>
                </a:solidFill>
                <a:latin typeface="Noto Sans SC"/>
                <a:ea typeface="Noto Sans SC"/>
                <a:cs typeface="Noto Sans SC"/>
                <a:sym typeface="Noto Sans SC"/>
              </a:rPr>
              <a:t>准备执行</a:t>
            </a:r>
            <a:endParaRPr lang="en-US" sz="1100"/>
          </a:p>
        </p:txBody>
      </p:sp>
      <p:sp>
        <p:nvSpPr>
          <p:cNvPr id="11" name="AutoShape 11"/>
          <p:cNvSpPr/>
          <p:nvPr/>
        </p:nvSpPr>
        <p:spPr>
          <a:xfrm>
            <a:off x="5207000" y="5207000"/>
            <a:ext cx="1524000" cy="457200"/>
          </a:xfrm>
          <a:prstGeom prst="roundRect">
            <a:avLst>
              <a:gd name="adj" fmla="val 50000"/>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77BD"/>
                </a:solidFill>
                <a:latin typeface="Noto Sans SC"/>
                <a:ea typeface="Noto Sans SC"/>
                <a:cs typeface="Noto Sans SC"/>
                <a:sym typeface="Noto Sans SC"/>
              </a:rPr>
              <a:t>优化总结</a:t>
            </a:r>
            <a:endParaRPr lang="en-US" sz="1100"/>
          </a:p>
        </p:txBody>
      </p:sp>
      <p:sp>
        <p:nvSpPr>
          <p:cNvPr id="12" name="AutoShape 12"/>
          <p:cNvSpPr/>
          <p:nvPr/>
        </p:nvSpPr>
        <p:spPr>
          <a:xfrm>
            <a:off x="6985000" y="5207000"/>
            <a:ext cx="1524000" cy="457200"/>
          </a:xfrm>
          <a:prstGeom prst="roundRect">
            <a:avLst>
              <a:gd name="adj" fmla="val 50000"/>
            </a:avLst>
          </a:prstGeom>
          <a:solidFill>
            <a:srgbClr val="FF9800">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9800"/>
                </a:solidFill>
                <a:latin typeface="Noto Sans SC"/>
                <a:ea typeface="Noto Sans SC"/>
                <a:cs typeface="Noto Sans SC"/>
                <a:sym typeface="Noto Sans SC"/>
              </a:rPr>
              <a:t>全流程掌握</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524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12.3.1 项目背景与目标</a:t>
            </a:r>
            <a:endParaRPr lang="en-US" sz="1100"/>
          </a:p>
        </p:txBody>
      </p:sp>
      <p:sp>
        <p:nvSpPr>
          <p:cNvPr id="3" name="AutoShape 3"/>
          <p:cNvSpPr/>
          <p:nvPr/>
        </p:nvSpPr>
        <p:spPr>
          <a:xfrm>
            <a:off x="762000" y="1524000"/>
            <a:ext cx="3810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508000" cy="508000"/>
          </a:xfrm>
          <a:prstGeom prst="rect">
            <a:avLst/>
          </a:prstGeom>
        </p:spPr>
      </p:pic>
      <p:sp>
        <p:nvSpPr>
          <p:cNvPr id="5" name="AutoShape 5"/>
          <p:cNvSpPr/>
          <p:nvPr/>
        </p:nvSpPr>
        <p:spPr>
          <a:xfrm>
            <a:off x="1651000" y="17780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项目背景</a:t>
            </a:r>
            <a:endParaRPr lang="en-US" sz="1100"/>
          </a:p>
        </p:txBody>
      </p:sp>
      <p:sp>
        <p:nvSpPr>
          <p:cNvPr id="6" name="AutoShape 6"/>
          <p:cNvSpPr/>
          <p:nvPr/>
        </p:nvSpPr>
        <p:spPr>
          <a:xfrm>
            <a:off x="1016000" y="2413000"/>
            <a:ext cx="3302000" cy="1905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500" b="0" i="0" u="none" strike="noStrike">
                <a:solidFill>
                  <a:srgbClr val="455A64"/>
                </a:solidFill>
                <a:latin typeface="Noto Sans SC"/>
                <a:ea typeface="Noto Sans SC"/>
                <a:cs typeface="Noto Sans SC"/>
                <a:sym typeface="Noto Sans SC"/>
              </a:rPr>
              <a:t>某美妆品牌推出新款保湿面霜，面临线上销售挑战。</a:t>
            </a:r>
            <a:endParaRPr lang="en-US" sz="1100"/>
          </a:p>
          <a:p>
            <a:pPr indent="0" algn="l">
              <a:lnSpc>
                <a:spcPct val="117000"/>
              </a:lnSpc>
            </a:pPr>
            <a:r>
              <a:rPr lang="en-US" sz="1500" b="0" i="0" u="none" strike="noStrike">
                <a:solidFill>
                  <a:srgbClr val="455A64"/>
                </a:solidFill>
                <a:latin typeface="Noto Sans SC"/>
                <a:ea typeface="Noto Sans SC"/>
                <a:cs typeface="Noto Sans SC"/>
                <a:sym typeface="Noto Sans SC"/>
              </a:rPr>
              <a:t>希望利用</a:t>
            </a:r>
            <a:r>
              <a:rPr lang="en-US" sz="1500" b="1" i="0" u="none" strike="noStrike">
                <a:solidFill>
                  <a:srgbClr val="FF9800"/>
                </a:solidFill>
                <a:latin typeface="Noto Sans SC"/>
                <a:ea typeface="Noto Sans SC"/>
                <a:cs typeface="Noto Sans SC"/>
                <a:sym typeface="Noto Sans SC"/>
              </a:rPr>
              <a:t>数字人直播</a:t>
            </a:r>
            <a:r>
              <a:rPr lang="en-US" sz="1500" b="0" i="0" u="none" strike="noStrike">
                <a:solidFill>
                  <a:srgbClr val="455A64"/>
                </a:solidFill>
                <a:latin typeface="Noto Sans SC"/>
                <a:ea typeface="Noto Sans SC"/>
                <a:cs typeface="Noto Sans SC"/>
                <a:sym typeface="Noto Sans SC"/>
              </a:rPr>
              <a:t>技术提升销售业绩，同时解决传统直播成本高、难以全天候运营的痛点。</a:t>
            </a:r>
            <a:endParaRPr lang="en-US" sz="1500" b="0" i="0" u="none" strike="noStrike">
              <a:solidFill>
                <a:srgbClr val="455A64"/>
              </a:solidFill>
              <a:latin typeface="Noto Sans SC"/>
              <a:ea typeface="Noto Sans SC"/>
              <a:cs typeface="Noto Sans SC"/>
              <a:sym typeface="Noto Sans SC"/>
            </a:endParaRPr>
          </a:p>
        </p:txBody>
      </p:sp>
      <p:sp>
        <p:nvSpPr>
          <p:cNvPr id="7" name="AutoShape 7"/>
          <p:cNvSpPr/>
          <p:nvPr/>
        </p:nvSpPr>
        <p:spPr>
          <a:xfrm>
            <a:off x="4953000" y="1524000"/>
            <a:ext cx="6477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07000" y="1778000"/>
            <a:ext cx="508000" cy="508000"/>
          </a:xfrm>
          <a:prstGeom prst="rect">
            <a:avLst/>
          </a:prstGeom>
        </p:spPr>
      </p:pic>
      <p:sp>
        <p:nvSpPr>
          <p:cNvPr id="9" name="AutoShape 9"/>
          <p:cNvSpPr/>
          <p:nvPr/>
        </p:nvSpPr>
        <p:spPr>
          <a:xfrm>
            <a:off x="5842000" y="1778000"/>
            <a:ext cx="533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项目目标</a:t>
            </a:r>
            <a:endParaRPr lang="en-US" sz="1100"/>
          </a:p>
        </p:txBody>
      </p:sp>
      <p:sp>
        <p:nvSpPr>
          <p:cNvPr id="10" name="AutoShape 10"/>
          <p:cNvSpPr/>
          <p:nvPr/>
        </p:nvSpPr>
        <p:spPr>
          <a:xfrm>
            <a:off x="5207000" y="2413000"/>
            <a:ext cx="5969000" cy="1905000"/>
          </a:xfrm>
          <a:prstGeom prst="rect">
            <a:avLst/>
          </a:prstGeom>
          <a:noFill/>
          <a:ln w="12700" cap="flat" cmpd="sng">
            <a:noFill/>
            <a:prstDash val="solid"/>
            <a:round/>
          </a:ln>
        </p:spPr>
        <p:txBody>
          <a:bodyPr vert="horz" wrap="square" lIns="0" tIns="0" rIns="0" bIns="0" rtlCol="0" anchor="ctr" anchorCtr="0"/>
          <a:lstStyle/>
          <a:p>
            <a:pPr marL="190500" indent="-190500" algn="l">
              <a:lnSpc>
                <a:spcPct val="117000"/>
              </a:lnSpc>
              <a:buClr>
                <a:srgbClr val="455A64"/>
              </a:buClr>
              <a:buChar char="•"/>
              <a:defRPr/>
            </a:pPr>
            <a:r>
              <a:rPr lang="en-US" sz="1500" b="1" i="0" u="none" strike="noStrike">
                <a:solidFill>
                  <a:srgbClr val="455A64"/>
                </a:solidFill>
                <a:latin typeface="Noto Sans SC"/>
                <a:ea typeface="Noto Sans SC"/>
                <a:cs typeface="Noto Sans SC"/>
                <a:sym typeface="Noto Sans SC"/>
              </a:rPr>
              <a:t>生成台词：</a:t>
            </a:r>
            <a:r>
              <a:rPr lang="en-US" sz="1500" b="0" i="0" u="none" strike="noStrike">
                <a:solidFill>
                  <a:srgbClr val="455A64"/>
                </a:solidFill>
                <a:latin typeface="Noto Sans SC"/>
                <a:ea typeface="Noto Sans SC"/>
                <a:cs typeface="Noto Sans SC"/>
                <a:sym typeface="Noto Sans SC"/>
              </a:rPr>
              <a:t>产出符合品牌调性的数字人商品介绍（整段/分段）及互动问答内容。</a:t>
            </a:r>
            <a:endParaRPr lang="en-US" sz="1100"/>
          </a:p>
          <a:p>
            <a:pPr marL="190500" indent="-190500" algn="l">
              <a:lnSpc>
                <a:spcPct val="117000"/>
              </a:lnSpc>
              <a:buClr>
                <a:srgbClr val="455A64"/>
              </a:buClr>
              <a:buChar char="•"/>
            </a:pPr>
            <a:r>
              <a:rPr lang="en-US" sz="1500" b="1" i="0" u="none" strike="noStrike">
                <a:solidFill>
                  <a:srgbClr val="455A64"/>
                </a:solidFill>
                <a:latin typeface="Noto Sans SC"/>
                <a:ea typeface="Noto Sans SC"/>
                <a:cs typeface="Noto Sans SC"/>
                <a:sym typeface="Noto Sans SC"/>
              </a:rPr>
              <a:t>合规保障：</a:t>
            </a:r>
            <a:r>
              <a:rPr lang="en-US" sz="1500" b="0" i="0" u="none" strike="noStrike">
                <a:solidFill>
                  <a:srgbClr val="455A64"/>
                </a:solidFill>
                <a:latin typeface="Noto Sans SC"/>
                <a:ea typeface="Noto Sans SC"/>
                <a:cs typeface="Noto Sans SC"/>
                <a:sym typeface="Noto Sans SC"/>
              </a:rPr>
              <a:t>确保所有生成内容符合平台规范，规避敏感词风险。</a:t>
            </a:r>
            <a:endParaRPr lang="en-US" sz="1500" b="0" i="0" u="none" strike="noStrike">
              <a:solidFill>
                <a:srgbClr val="455A64"/>
              </a:solidFill>
              <a:latin typeface="Noto Sans SC"/>
              <a:ea typeface="Noto Sans SC"/>
              <a:cs typeface="Noto Sans SC"/>
              <a:sym typeface="Noto Sans SC"/>
            </a:endParaRPr>
          </a:p>
          <a:p>
            <a:pPr marL="190500" indent="-190500" algn="l">
              <a:lnSpc>
                <a:spcPct val="117000"/>
              </a:lnSpc>
              <a:buClr>
                <a:srgbClr val="455A64"/>
              </a:buClr>
              <a:buChar char="•"/>
            </a:pPr>
            <a:r>
              <a:rPr lang="en-US" sz="1500" b="1" i="0" u="none" strike="noStrike">
                <a:solidFill>
                  <a:srgbClr val="455A64"/>
                </a:solidFill>
                <a:latin typeface="Noto Sans SC"/>
                <a:ea typeface="Noto Sans SC"/>
                <a:cs typeface="Noto Sans SC"/>
                <a:sym typeface="Noto Sans SC"/>
              </a:rPr>
              <a:t>模型优化：</a:t>
            </a:r>
            <a:r>
              <a:rPr lang="en-US" sz="1500" b="0" i="0" u="none" strike="noStrike">
                <a:solidFill>
                  <a:srgbClr val="455A64"/>
                </a:solidFill>
                <a:latin typeface="Noto Sans SC"/>
                <a:ea typeface="Noto Sans SC"/>
                <a:cs typeface="Noto Sans SC"/>
                <a:sym typeface="Noto Sans SC"/>
              </a:rPr>
              <a:t>通过项目实践，验证并持续优化Prompt模板，提升生成质量。</a:t>
            </a:r>
            <a:endParaRPr lang="en-US" sz="1500" b="0" i="0" u="none" strike="noStrike">
              <a:solidFill>
                <a:srgbClr val="455A64"/>
              </a:solidFill>
              <a:latin typeface="Noto Sans SC"/>
              <a:ea typeface="Noto Sans SC"/>
              <a:cs typeface="Noto Sans SC"/>
              <a:sym typeface="Noto Sans SC"/>
            </a:endParaRPr>
          </a:p>
        </p:txBody>
      </p:sp>
      <p:sp>
        <p:nvSpPr>
          <p:cNvPr id="11" name="AutoShape 11"/>
          <p:cNvSpPr/>
          <p:nvPr/>
        </p:nvSpPr>
        <p:spPr>
          <a:xfrm>
            <a:off x="762000" y="4953000"/>
            <a:ext cx="10668000" cy="1143000"/>
          </a:xfrm>
          <a:prstGeom prst="roundRect">
            <a:avLst>
              <a:gd name="adj" fmla="val 11111"/>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270500"/>
            <a:ext cx="508000" cy="508000"/>
          </a:xfrm>
          <a:prstGeom prst="rect">
            <a:avLst/>
          </a:prstGeom>
        </p:spPr>
      </p:pic>
      <p:sp>
        <p:nvSpPr>
          <p:cNvPr id="13" name="AutoShape 13"/>
          <p:cNvSpPr/>
          <p:nvPr/>
        </p:nvSpPr>
        <p:spPr>
          <a:xfrm>
            <a:off x="1651000" y="51435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0277BD"/>
                </a:solidFill>
                <a:latin typeface="Noto Sans SC"/>
                <a:ea typeface="Noto Sans SC"/>
                <a:cs typeface="Noto Sans SC"/>
                <a:sym typeface="Noto Sans SC"/>
              </a:rPr>
              <a:t>核心价值：</a:t>
            </a:r>
            <a:r>
              <a:rPr lang="en-US" sz="1600" b="0" i="0" u="none" strike="noStrike">
                <a:solidFill>
                  <a:srgbClr val="455A64"/>
                </a:solidFill>
                <a:latin typeface="Noto Sans SC"/>
                <a:ea typeface="Noto Sans SC"/>
                <a:cs typeface="Noto Sans SC"/>
                <a:sym typeface="Noto Sans SC"/>
              </a:rPr>
              <a:t>通过数字化手段重构直播链路，实现降本增效，同时积累可复用的AI内容生产经验。</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051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12.3.2 项目准备 - 商品信息收集</a:t>
            </a:r>
            <a:endParaRPr lang="en-US" sz="1100"/>
          </a:p>
        </p:txBody>
      </p:sp>
      <p:sp>
        <p:nvSpPr>
          <p:cNvPr id="3" name="AutoShape 3"/>
          <p:cNvSpPr/>
          <p:nvPr/>
        </p:nvSpPr>
        <p:spPr>
          <a:xfrm>
            <a:off x="762000" y="1397000"/>
            <a:ext cx="3378200" cy="1905000"/>
          </a:xfrm>
          <a:prstGeom prst="roundRect">
            <a:avLst>
              <a:gd name="adj" fmla="val 66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基础信息</a:t>
            </a:r>
            <a:endParaRPr lang="en-US" sz="1100"/>
          </a:p>
        </p:txBody>
      </p:sp>
      <p:sp>
        <p:nvSpPr>
          <p:cNvPr id="6" name="AutoShape 6"/>
          <p:cNvSpPr/>
          <p:nvPr/>
        </p:nvSpPr>
        <p:spPr>
          <a:xfrm>
            <a:off x="1016000" y="2159000"/>
            <a:ext cx="28702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包含商品名称、规格参数、核心成分、功效原理及适用肤质等基础数据。</a:t>
            </a:r>
            <a:endParaRPr lang="en-US" sz="1100"/>
          </a:p>
        </p:txBody>
      </p:sp>
      <p:sp>
        <p:nvSpPr>
          <p:cNvPr id="7" name="AutoShape 7"/>
          <p:cNvSpPr/>
          <p:nvPr/>
        </p:nvSpPr>
        <p:spPr>
          <a:xfrm>
            <a:off x="4394200" y="1397000"/>
            <a:ext cx="3378200" cy="1905000"/>
          </a:xfrm>
          <a:prstGeom prst="roundRect">
            <a:avLst>
              <a:gd name="adj" fmla="val 66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48200" y="1651000"/>
            <a:ext cx="406400" cy="406400"/>
          </a:xfrm>
          <a:prstGeom prst="rect">
            <a:avLst/>
          </a:prstGeom>
        </p:spPr>
      </p:pic>
      <p:sp>
        <p:nvSpPr>
          <p:cNvPr id="9" name="AutoShape 9"/>
          <p:cNvSpPr/>
          <p:nvPr/>
        </p:nvSpPr>
        <p:spPr>
          <a:xfrm>
            <a:off x="5156200" y="1600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核心卖点</a:t>
            </a:r>
            <a:endParaRPr lang="en-US" sz="1100"/>
          </a:p>
        </p:txBody>
      </p:sp>
      <p:sp>
        <p:nvSpPr>
          <p:cNvPr id="10" name="AutoShape 10"/>
          <p:cNvSpPr/>
          <p:nvPr/>
        </p:nvSpPr>
        <p:spPr>
          <a:xfrm>
            <a:off x="4648200" y="2159000"/>
            <a:ext cx="28702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提炼产品独特优势、技术壁垒及与市场竞品的差异化亮点。</a:t>
            </a:r>
            <a:endParaRPr lang="en-US" sz="1100"/>
          </a:p>
        </p:txBody>
      </p:sp>
      <p:sp>
        <p:nvSpPr>
          <p:cNvPr id="11" name="AutoShape 11"/>
          <p:cNvSpPr/>
          <p:nvPr/>
        </p:nvSpPr>
        <p:spPr>
          <a:xfrm>
            <a:off x="8026400" y="1397000"/>
            <a:ext cx="3378200" cy="1905000"/>
          </a:xfrm>
          <a:prstGeom prst="roundRect">
            <a:avLst>
              <a:gd name="adj" fmla="val 66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1651000"/>
            <a:ext cx="406400" cy="406400"/>
          </a:xfrm>
          <a:prstGeom prst="rect">
            <a:avLst/>
          </a:prstGeom>
        </p:spPr>
      </p:pic>
      <p:sp>
        <p:nvSpPr>
          <p:cNvPr id="13" name="AutoShape 13"/>
          <p:cNvSpPr/>
          <p:nvPr/>
        </p:nvSpPr>
        <p:spPr>
          <a:xfrm>
            <a:off x="8788400" y="1600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促销信息</a:t>
            </a:r>
            <a:endParaRPr lang="en-US" sz="1100"/>
          </a:p>
        </p:txBody>
      </p:sp>
      <p:sp>
        <p:nvSpPr>
          <p:cNvPr id="14" name="AutoShape 14"/>
          <p:cNvSpPr/>
          <p:nvPr/>
        </p:nvSpPr>
        <p:spPr>
          <a:xfrm>
            <a:off x="8280400" y="2159000"/>
            <a:ext cx="28702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梳理当前优惠活动、会员专属政策及物流配送方式等服务信息。</a:t>
            </a:r>
            <a:endParaRPr lang="en-US" sz="1100"/>
          </a:p>
        </p:txBody>
      </p:sp>
      <p:sp>
        <p:nvSpPr>
          <p:cNvPr id="15" name="AutoShape 15"/>
          <p:cNvSpPr/>
          <p:nvPr/>
        </p:nvSpPr>
        <p:spPr>
          <a:xfrm>
            <a:off x="762000" y="3556000"/>
            <a:ext cx="3378200" cy="1905000"/>
          </a:xfrm>
          <a:prstGeom prst="roundRect">
            <a:avLst>
              <a:gd name="adj" fmla="val 66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810000"/>
            <a:ext cx="406400" cy="406400"/>
          </a:xfrm>
          <a:prstGeom prst="rect">
            <a:avLst/>
          </a:prstGeom>
        </p:spPr>
      </p:pic>
      <p:sp>
        <p:nvSpPr>
          <p:cNvPr id="17" name="AutoShape 17"/>
          <p:cNvSpPr/>
          <p:nvPr/>
        </p:nvSpPr>
        <p:spPr>
          <a:xfrm>
            <a:off x="1524000" y="3759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品牌信息</a:t>
            </a:r>
            <a:endParaRPr lang="en-US" sz="1100"/>
          </a:p>
        </p:txBody>
      </p:sp>
      <p:sp>
        <p:nvSpPr>
          <p:cNvPr id="18" name="AutoShape 18"/>
          <p:cNvSpPr/>
          <p:nvPr/>
        </p:nvSpPr>
        <p:spPr>
          <a:xfrm>
            <a:off x="1016000" y="4318000"/>
            <a:ext cx="28702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了解品牌故事、核心价值观及用户口碑，建立品牌信任度。</a:t>
            </a:r>
            <a:endParaRPr lang="en-US" sz="1100"/>
          </a:p>
        </p:txBody>
      </p:sp>
      <p:sp>
        <p:nvSpPr>
          <p:cNvPr id="19" name="AutoShape 19"/>
          <p:cNvSpPr/>
          <p:nvPr/>
        </p:nvSpPr>
        <p:spPr>
          <a:xfrm>
            <a:off x="4394200" y="3556000"/>
            <a:ext cx="3378200" cy="1905000"/>
          </a:xfrm>
          <a:prstGeom prst="roundRect">
            <a:avLst>
              <a:gd name="adj" fmla="val 66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48200" y="3810000"/>
            <a:ext cx="406400" cy="406400"/>
          </a:xfrm>
          <a:prstGeom prst="rect">
            <a:avLst/>
          </a:prstGeom>
        </p:spPr>
      </p:pic>
      <p:sp>
        <p:nvSpPr>
          <p:cNvPr id="21" name="AutoShape 21"/>
          <p:cNvSpPr/>
          <p:nvPr/>
        </p:nvSpPr>
        <p:spPr>
          <a:xfrm>
            <a:off x="5156200" y="3759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常见问题</a:t>
            </a:r>
            <a:endParaRPr lang="en-US" sz="1100"/>
          </a:p>
        </p:txBody>
      </p:sp>
      <p:sp>
        <p:nvSpPr>
          <p:cNvPr id="22" name="AutoShape 22"/>
          <p:cNvSpPr/>
          <p:nvPr/>
        </p:nvSpPr>
        <p:spPr>
          <a:xfrm>
            <a:off x="4648200" y="4318000"/>
            <a:ext cx="28702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0A4AE"/>
                </a:solidFill>
                <a:latin typeface="Noto Sans SC"/>
                <a:ea typeface="Noto Sans SC"/>
                <a:cs typeface="Noto Sans SC"/>
                <a:sym typeface="Noto Sans SC"/>
              </a:rPr>
              <a:t>整理用户高频疑问及官方标准答案，提升客服效率与专业度。</a:t>
            </a:r>
            <a:endParaRPr lang="en-US" sz="1100"/>
          </a:p>
        </p:txBody>
      </p:sp>
      <p:sp>
        <p:nvSpPr>
          <p:cNvPr id="23" name="AutoShape 23"/>
          <p:cNvSpPr/>
          <p:nvPr/>
        </p:nvSpPr>
        <p:spPr>
          <a:xfrm>
            <a:off x="8026400" y="3556000"/>
            <a:ext cx="3378200" cy="1905000"/>
          </a:xfrm>
          <a:prstGeom prst="roundRect">
            <a:avLst>
              <a:gd name="adj" fmla="val 6666"/>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80400" y="3810000"/>
            <a:ext cx="406400" cy="406400"/>
          </a:xfrm>
          <a:prstGeom prst="rect">
            <a:avLst/>
          </a:prstGeom>
        </p:spPr>
      </p:pic>
      <p:sp>
        <p:nvSpPr>
          <p:cNvPr id="25" name="AutoShape 25"/>
          <p:cNvSpPr/>
          <p:nvPr/>
        </p:nvSpPr>
        <p:spPr>
          <a:xfrm>
            <a:off x="8788400" y="3759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收集价值</a:t>
            </a:r>
            <a:endParaRPr lang="en-US" sz="1100"/>
          </a:p>
        </p:txBody>
      </p:sp>
      <p:sp>
        <p:nvSpPr>
          <p:cNvPr id="26" name="AutoShape 26"/>
          <p:cNvSpPr/>
          <p:nvPr/>
        </p:nvSpPr>
        <p:spPr>
          <a:xfrm>
            <a:off x="8280400" y="4318000"/>
            <a:ext cx="28702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0277BD"/>
                </a:solidFill>
                <a:latin typeface="Noto Sans SC"/>
                <a:ea typeface="Noto Sans SC"/>
                <a:cs typeface="Noto Sans SC"/>
                <a:sym typeface="Noto Sans SC"/>
              </a:rPr>
              <a:t>信息越全面，生成的内容越准确、有说服力，是高质量Prompt的基础。</a:t>
            </a:r>
            <a:endParaRPr lang="en-US" sz="1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0391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12.3.2 项目准备 - 平台规范研究</a:t>
            </a:r>
            <a:endParaRPr lang="en-US" sz="1100"/>
          </a:p>
        </p:txBody>
      </p:sp>
      <p:sp>
        <p:nvSpPr>
          <p:cNvPr id="3" name="AutoShape 3"/>
          <p:cNvSpPr/>
          <p:nvPr/>
        </p:nvSpPr>
        <p:spPr>
          <a:xfrm>
            <a:off x="762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32000" y="1905000"/>
            <a:ext cx="762000" cy="762000"/>
          </a:xfrm>
          <a:prstGeom prst="rect">
            <a:avLst/>
          </a:prstGeom>
        </p:spPr>
      </p:pic>
      <p:sp>
        <p:nvSpPr>
          <p:cNvPr id="5" name="AutoShape 5"/>
          <p:cNvSpPr/>
          <p:nvPr/>
        </p:nvSpPr>
        <p:spPr>
          <a:xfrm>
            <a:off x="889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研究目标平台规则</a:t>
            </a:r>
            <a:endParaRPr lang="en-US" sz="1100"/>
          </a:p>
        </p:txBody>
      </p:sp>
      <p:sp>
        <p:nvSpPr>
          <p:cNvPr id="6" name="AutoShape 6"/>
          <p:cNvSpPr/>
          <p:nvPr/>
        </p:nvSpPr>
        <p:spPr>
          <a:xfrm>
            <a:off x="952500" y="3238500"/>
            <a:ext cx="2921000" cy="1143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400" b="0" i="0" u="none" strike="noStrike">
                <a:solidFill>
                  <a:srgbClr val="546E7A"/>
                </a:solidFill>
                <a:latin typeface="Noto Sans SC"/>
                <a:ea typeface="Noto Sans SC"/>
                <a:cs typeface="Noto Sans SC"/>
                <a:sym typeface="Noto Sans SC"/>
              </a:rPr>
              <a:t>深入了解目标直播平台（如淘宝、抖音）对数字人直播的具体规定、权限和限制，确保项目基础合规。</a:t>
            </a:r>
            <a:endParaRPr lang="en-US" sz="1100"/>
          </a:p>
        </p:txBody>
      </p:sp>
      <p:sp>
        <p:nvSpPr>
          <p:cNvPr id="7" name="AutoShape 7"/>
          <p:cNvSpPr/>
          <p:nvPr/>
        </p:nvSpPr>
        <p:spPr>
          <a:xfrm>
            <a:off x="4445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5000" y="1905000"/>
            <a:ext cx="762000" cy="762000"/>
          </a:xfrm>
          <a:prstGeom prst="rect">
            <a:avLst/>
          </a:prstGeom>
        </p:spPr>
      </p:pic>
      <p:sp>
        <p:nvSpPr>
          <p:cNvPr id="9" name="AutoShape 9"/>
          <p:cNvSpPr/>
          <p:nvPr/>
        </p:nvSpPr>
        <p:spPr>
          <a:xfrm>
            <a:off x="4572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整理敏感词库</a:t>
            </a:r>
            <a:endParaRPr lang="en-US" sz="1100"/>
          </a:p>
        </p:txBody>
      </p:sp>
      <p:sp>
        <p:nvSpPr>
          <p:cNvPr id="10" name="AutoShape 10"/>
          <p:cNvSpPr/>
          <p:nvPr/>
        </p:nvSpPr>
        <p:spPr>
          <a:xfrm>
            <a:off x="4635500" y="3238500"/>
            <a:ext cx="2921000" cy="1143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400" b="0" i="0" u="none" strike="noStrike">
                <a:solidFill>
                  <a:srgbClr val="546E7A"/>
                </a:solidFill>
                <a:latin typeface="Noto Sans SC"/>
                <a:ea typeface="Noto Sans SC"/>
                <a:cs typeface="Noto Sans SC"/>
                <a:sym typeface="Noto Sans SC"/>
              </a:rPr>
              <a:t>结合平台规则与行业经验，梳理需要规避的敏感词汇表，重点排除绝对化用语、虚假宣传等违规表述。</a:t>
            </a:r>
            <a:endParaRPr lang="en-US" sz="1100"/>
          </a:p>
        </p:txBody>
      </p:sp>
      <p:sp>
        <p:nvSpPr>
          <p:cNvPr id="11" name="AutoShape 11"/>
          <p:cNvSpPr/>
          <p:nvPr/>
        </p:nvSpPr>
        <p:spPr>
          <a:xfrm>
            <a:off x="8128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98000" y="1905000"/>
            <a:ext cx="762000" cy="762000"/>
          </a:xfrm>
          <a:prstGeom prst="rect">
            <a:avLst/>
          </a:prstGeom>
        </p:spPr>
      </p:pic>
      <p:sp>
        <p:nvSpPr>
          <p:cNvPr id="13" name="AutoShape 13"/>
          <p:cNvSpPr/>
          <p:nvPr/>
        </p:nvSpPr>
        <p:spPr>
          <a:xfrm>
            <a:off x="8255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制定合规策略</a:t>
            </a:r>
            <a:endParaRPr lang="en-US" sz="1100"/>
          </a:p>
        </p:txBody>
      </p:sp>
      <p:sp>
        <p:nvSpPr>
          <p:cNvPr id="14" name="AutoShape 14"/>
          <p:cNvSpPr/>
          <p:nvPr/>
        </p:nvSpPr>
        <p:spPr>
          <a:xfrm>
            <a:off x="8318500" y="3238500"/>
            <a:ext cx="2921000" cy="1143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400" b="0" i="0" u="none" strike="noStrike">
                <a:solidFill>
                  <a:srgbClr val="546E7A"/>
                </a:solidFill>
                <a:latin typeface="Noto Sans SC"/>
                <a:ea typeface="Noto Sans SC"/>
                <a:cs typeface="Noto Sans SC"/>
                <a:sym typeface="Noto Sans SC"/>
              </a:rPr>
              <a:t>根据平台规则制定详细的内容合规策略，建立审核机制，确保生成的台词、脚本符合平台规范要求。</a:t>
            </a:r>
            <a:endParaRPr lang="en-US" sz="1100"/>
          </a:p>
        </p:txBody>
      </p:sp>
      <p:sp>
        <p:nvSpPr>
          <p:cNvPr id="15" name="AutoShape 15"/>
          <p:cNvSpPr/>
          <p:nvPr/>
        </p:nvSpPr>
        <p:spPr>
          <a:xfrm>
            <a:off x="762000" y="5080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270500"/>
            <a:ext cx="381000" cy="381000"/>
          </a:xfrm>
          <a:prstGeom prst="rect">
            <a:avLst/>
          </a:prstGeom>
        </p:spPr>
      </p:pic>
      <p:sp>
        <p:nvSpPr>
          <p:cNvPr id="17" name="AutoShape 17"/>
          <p:cNvSpPr/>
          <p:nvPr/>
        </p:nvSpPr>
        <p:spPr>
          <a:xfrm>
            <a:off x="1524000" y="5080000"/>
            <a:ext cx="965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关键提示：</a:t>
            </a:r>
            <a:r>
              <a:rPr lang="en-US" sz="1600" b="0" i="0" u="none" strike="noStrike">
                <a:solidFill>
                  <a:srgbClr val="546E7A"/>
                </a:solidFill>
                <a:latin typeface="Noto Sans SC"/>
                <a:ea typeface="Noto Sans SC"/>
                <a:cs typeface="Noto Sans SC"/>
                <a:sym typeface="Noto Sans SC"/>
              </a:rPr>
              <a:t>提前规避风险是直播成功的基石，合规不仅是底线，更是保障直播稳定性与品牌声誉的关键。</a:t>
            </a:r>
            <a:endParaRPr lang="en-US"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000" b="1" i="0" u="none" strike="noStrike">
                <a:solidFill>
                  <a:srgbClr val="0277BD"/>
                </a:solidFill>
                <a:latin typeface="Noto Sans SC"/>
                <a:ea typeface="Noto Sans SC"/>
                <a:cs typeface="Noto Sans SC"/>
                <a:sym typeface="Noto Sans SC"/>
              </a:rPr>
              <a:t>12.3.3 项目执行 - 生成商品介绍台词（整段式）</a:t>
            </a:r>
            <a:endParaRPr lang="en-US" sz="1100"/>
          </a:p>
        </p:txBody>
      </p:sp>
      <p:sp>
        <p:nvSpPr>
          <p:cNvPr id="3" name="AutoShape 3"/>
          <p:cNvSpPr/>
          <p:nvPr/>
        </p:nvSpPr>
        <p:spPr>
          <a:xfrm>
            <a:off x="508000" y="1270000"/>
            <a:ext cx="5334000" cy="1778000"/>
          </a:xfrm>
          <a:prstGeom prst="roundRect">
            <a:avLst>
              <a:gd name="adj" fmla="val 7142"/>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460500"/>
            <a:ext cx="304800" cy="304800"/>
          </a:xfrm>
          <a:prstGeom prst="rect">
            <a:avLst/>
          </a:prstGeom>
        </p:spPr>
      </p:pic>
      <p:sp>
        <p:nvSpPr>
          <p:cNvPr id="5" name="AutoShape 5"/>
          <p:cNvSpPr/>
          <p:nvPr/>
        </p:nvSpPr>
        <p:spPr>
          <a:xfrm>
            <a:off x="1143000" y="1422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输入 Prompt</a:t>
            </a:r>
            <a:endParaRPr lang="en-US" sz="1100"/>
          </a:p>
        </p:txBody>
      </p:sp>
      <p:sp>
        <p:nvSpPr>
          <p:cNvPr id="6" name="AutoShape 6"/>
          <p:cNvSpPr/>
          <p:nvPr/>
        </p:nvSpPr>
        <p:spPr>
          <a:xfrm>
            <a:off x="762000" y="1841500"/>
            <a:ext cx="4826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46E7A"/>
                </a:solidFill>
                <a:latin typeface="Noto Sans SC"/>
                <a:ea typeface="Noto Sans SC"/>
                <a:cs typeface="Noto Sans SC"/>
                <a:sym typeface="Noto Sans SC"/>
              </a:rPr>
              <a:t>基于收集到的保湿面霜信息，使用整段式商品台词Prompt模板生成台词。</a:t>
            </a:r>
            <a:endParaRPr lang="en-US" sz="1100"/>
          </a:p>
        </p:txBody>
      </p:sp>
      <p:sp>
        <p:nvSpPr>
          <p:cNvPr id="7" name="AutoShape 7"/>
          <p:cNvSpPr/>
          <p:nvPr/>
        </p:nvSpPr>
        <p:spPr>
          <a:xfrm>
            <a:off x="6350000" y="1270000"/>
            <a:ext cx="5334000" cy="1778000"/>
          </a:xfrm>
          <a:prstGeom prst="roundRect">
            <a:avLst>
              <a:gd name="adj" fmla="val 7142"/>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460500"/>
            <a:ext cx="304800" cy="304800"/>
          </a:xfrm>
          <a:prstGeom prst="rect">
            <a:avLst/>
          </a:prstGeom>
        </p:spPr>
      </p:pic>
      <p:sp>
        <p:nvSpPr>
          <p:cNvPr id="9" name="AutoShape 9"/>
          <p:cNvSpPr/>
          <p:nvPr/>
        </p:nvSpPr>
        <p:spPr>
          <a:xfrm>
            <a:off x="6985000" y="1422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生成结果</a:t>
            </a:r>
            <a:endParaRPr lang="en-US" sz="1100"/>
          </a:p>
        </p:txBody>
      </p:sp>
      <p:sp>
        <p:nvSpPr>
          <p:cNvPr id="10" name="AutoShape 10"/>
          <p:cNvSpPr/>
          <p:nvPr/>
        </p:nvSpPr>
        <p:spPr>
          <a:xfrm>
            <a:off x="6604000" y="1841500"/>
            <a:ext cx="4826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55A64"/>
                </a:solidFill>
                <a:latin typeface="Noto Sans SC"/>
                <a:ea typeface="Noto Sans SC"/>
                <a:cs typeface="Noto Sans SC"/>
                <a:sym typeface="Noto Sans SC"/>
              </a:rPr>
              <a:t>大家好，欢迎来到XX品牌直播间！今天为大家带来我们的明星产品——高保湿修护面霜。这款面霜蕴含多种天然保湿成分，能够深层滋润肌肤，有效改善干燥、起皮等问题，让您的肌肤一整天都水润饱满。它适合各种肤质，尤其是干燥缺水的肌肤。现在购买，会员可享8折优惠，还能参与满减活动，并且包邮到家。这款面霜是您秋冬护肤的必备选择，快来抢购吧！</a:t>
            </a:r>
            <a:endParaRPr lang="en-US" sz="1100"/>
          </a:p>
        </p:txBody>
      </p:sp>
      <p:sp>
        <p:nvSpPr>
          <p:cNvPr id="11" name="AutoShape 11"/>
          <p:cNvSpPr/>
          <p:nvPr/>
        </p:nvSpPr>
        <p:spPr>
          <a:xfrm>
            <a:off x="508000" y="3302000"/>
            <a:ext cx="11176000" cy="1270000"/>
          </a:xfrm>
          <a:prstGeom prst="roundRect">
            <a:avLst>
              <a:gd name="adj" fmla="val 10000"/>
            </a:avLst>
          </a:prstGeom>
          <a:solidFill>
            <a:srgbClr val="FFFFFF">
              <a:alpha val="60000"/>
            </a:srgbClr>
          </a:solidFill>
          <a:ln w="12700" cap="flat" cmpd="sng">
            <a:solidFill>
              <a:srgbClr val="90A4AE">
                <a:alpha val="100000"/>
              </a:srgbClr>
            </a:solidFill>
            <a:prstDash val="dash"/>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556000"/>
            <a:ext cx="406400" cy="406400"/>
          </a:xfrm>
          <a:prstGeom prst="rect">
            <a:avLst/>
          </a:prstGeom>
        </p:spPr>
      </p:pic>
      <p:sp>
        <p:nvSpPr>
          <p:cNvPr id="13" name="AutoShape 13"/>
          <p:cNvSpPr/>
          <p:nvPr/>
        </p:nvSpPr>
        <p:spPr>
          <a:xfrm>
            <a:off x="1270000" y="3530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9800"/>
                </a:solidFill>
                <a:latin typeface="Noto Sans SC"/>
                <a:ea typeface="Noto Sans SC"/>
                <a:cs typeface="Noto Sans SC"/>
                <a:sym typeface="Noto Sans SC"/>
              </a:rPr>
              <a:t>初步评估</a:t>
            </a:r>
            <a:endParaRPr lang="en-US" sz="1100"/>
          </a:p>
        </p:txBody>
      </p:sp>
      <p:sp>
        <p:nvSpPr>
          <p:cNvPr id="14" name="AutoShape 14"/>
          <p:cNvSpPr/>
          <p:nvPr/>
        </p:nvSpPr>
        <p:spPr>
          <a:xfrm>
            <a:off x="1270000" y="3937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455A64"/>
                </a:solidFill>
                <a:latin typeface="Noto Sans SC"/>
                <a:ea typeface="Noto Sans SC"/>
                <a:cs typeface="Noto Sans SC"/>
                <a:sym typeface="Noto Sans SC"/>
              </a:rPr>
              <a:t>内容完整，突出了产品卖点和优惠，语言流畅，符合要求。</a:t>
            </a:r>
            <a:endParaRPr lang="en-US" sz="1100"/>
          </a:p>
        </p:txBody>
      </p:sp>
      <p:sp>
        <p:nvSpPr>
          <p:cNvPr id="15" name="AutoShape 15"/>
          <p:cNvSpPr/>
          <p:nvPr/>
        </p:nvSpPr>
        <p:spPr>
          <a:xfrm>
            <a:off x="508000" y="4826000"/>
            <a:ext cx="11176000" cy="1270000"/>
          </a:xfrm>
          <a:prstGeom prst="roundRect">
            <a:avLst>
              <a:gd name="adj" fmla="val 10000"/>
            </a:avLst>
          </a:prstGeom>
          <a:solidFill>
            <a:srgbClr val="0277BD">
              <a:alpha val="100000"/>
            </a:srgbClr>
          </a:solidFill>
          <a:ln w="25400" cap="flat" cmpd="sng">
            <a:noFill/>
            <a:prstDash val="solid"/>
            <a:round/>
          </a:ln>
          <a:effectLst>
            <a:outerShdw blurRad="1016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5143500"/>
            <a:ext cx="406400" cy="406400"/>
          </a:xfrm>
          <a:prstGeom prst="rect">
            <a:avLst/>
          </a:prstGeom>
        </p:spPr>
      </p:pic>
      <p:sp>
        <p:nvSpPr>
          <p:cNvPr id="17" name="AutoShape 17"/>
          <p:cNvSpPr/>
          <p:nvPr/>
        </p:nvSpPr>
        <p:spPr>
          <a:xfrm>
            <a:off x="1270000" y="5016500"/>
            <a:ext cx="10160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FFFFFF"/>
                </a:solidFill>
                <a:latin typeface="Noto Sans SC"/>
                <a:ea typeface="Noto Sans SC"/>
                <a:cs typeface="Noto Sans SC"/>
                <a:sym typeface="Noto Sans SC"/>
              </a:rPr>
              <a:t>执行总结：</a:t>
            </a:r>
            <a:endParaRPr lang="en-US" sz="1100"/>
          </a:p>
          <a:p>
            <a:pPr indent="0" algn="l">
              <a:lnSpc>
                <a:spcPct val="117000"/>
              </a:lnSpc>
            </a:pPr>
            <a:r>
              <a:rPr lang="en-US" sz="1400" b="0" i="0" u="none" strike="noStrike">
                <a:solidFill>
                  <a:srgbClr val="E0F7FA"/>
                </a:solidFill>
                <a:latin typeface="Noto Sans SC"/>
                <a:ea typeface="Noto Sans SC"/>
                <a:cs typeface="Noto Sans SC"/>
                <a:sym typeface="Noto Sans SC"/>
              </a:rPr>
              <a:t>AI准确地整合了产品信息，生成了一段完整、流畅的介绍，达到了预期效果。这验证了整段式模板的有效性。</a:t>
            </a:r>
            <a:endParaRPr lang="en-US" sz="1400" b="0" i="0" u="none" strike="noStrike">
              <a:solidFill>
                <a:srgbClr val="E0F7FA"/>
              </a:solidFill>
              <a:latin typeface="Noto Sans SC"/>
              <a:ea typeface="Noto Sans SC"/>
              <a:cs typeface="Noto Sans SC"/>
              <a:sym typeface="Noto Sans SC"/>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1074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12.3.3 生成商品介绍台词（分段式）</a:t>
            </a:r>
            <a:endParaRPr lang="en-US" sz="1100"/>
          </a:p>
        </p:txBody>
      </p:sp>
      <p:sp>
        <p:nvSpPr>
          <p:cNvPr id="3" name="AutoShape 3"/>
          <p:cNvSpPr/>
          <p:nvPr/>
        </p:nvSpPr>
        <p:spPr>
          <a:xfrm>
            <a:off x="762000" y="1397000"/>
            <a:ext cx="5207000" cy="533400"/>
          </a:xfrm>
          <a:prstGeom prst="roundRect">
            <a:avLst>
              <a:gd name="adj" fmla="val 23809"/>
            </a:avLst>
          </a:prstGeom>
          <a:solidFill>
            <a:srgbClr val="FFFFFF">
              <a:alpha val="100000"/>
            </a:srgbClr>
          </a:solidFill>
          <a:ln w="25400" cap="flat" cmpd="sng">
            <a:noFill/>
            <a:prstDash val="solid"/>
            <a:round/>
          </a:ln>
          <a:effectLst>
            <a:outerShdw blurRad="50800" dist="25400" dir="2700000" algn="tl" rotWithShape="0">
              <a:srgbClr val="0277BD">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9000" y="1498600"/>
            <a:ext cx="304800" cy="304800"/>
          </a:xfrm>
          <a:prstGeom prst="rect">
            <a:avLst/>
          </a:prstGeom>
        </p:spPr>
      </p:pic>
      <p:sp>
        <p:nvSpPr>
          <p:cNvPr id="5" name="AutoShape 5"/>
          <p:cNvSpPr/>
          <p:nvPr/>
        </p:nvSpPr>
        <p:spPr>
          <a:xfrm>
            <a:off x="1270000" y="1422400"/>
            <a:ext cx="4572000" cy="482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引导话术：</a:t>
            </a:r>
            <a:r>
              <a:rPr lang="en-US" sz="1400" b="0" i="0" u="none" strike="noStrike">
                <a:solidFill>
                  <a:srgbClr val="37474F"/>
                </a:solidFill>
                <a:latin typeface="Noto Sans SC"/>
                <a:ea typeface="Noto Sans SC"/>
                <a:cs typeface="Noto Sans SC"/>
                <a:sym typeface="Noto Sans SC"/>
              </a:rPr>
              <a:t>欢迎来到XX品牌直播间，今天给大家推荐一款超好用的保湿面霜！</a:t>
            </a:r>
            <a:endParaRPr lang="en-US" sz="1100"/>
          </a:p>
        </p:txBody>
      </p:sp>
      <p:sp>
        <p:nvSpPr>
          <p:cNvPr id="6" name="AutoShape 6"/>
          <p:cNvSpPr/>
          <p:nvPr/>
        </p:nvSpPr>
        <p:spPr>
          <a:xfrm>
            <a:off x="762000" y="2032000"/>
            <a:ext cx="5207000" cy="533400"/>
          </a:xfrm>
          <a:prstGeom prst="roundRect">
            <a:avLst>
              <a:gd name="adj" fmla="val 23809"/>
            </a:avLst>
          </a:prstGeom>
          <a:solidFill>
            <a:srgbClr val="FFFFFF">
              <a:alpha val="100000"/>
            </a:srgbClr>
          </a:solidFill>
          <a:ln w="25400" cap="flat" cmpd="sng">
            <a:noFill/>
            <a:prstDash val="solid"/>
            <a:round/>
          </a:ln>
          <a:effectLst>
            <a:outerShdw blurRad="50800" dist="25400" dir="2700000" algn="tl" rotWithShape="0">
              <a:srgbClr val="0277BD">
                <a:alpha val="10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9000" y="2133600"/>
            <a:ext cx="304800" cy="304800"/>
          </a:xfrm>
          <a:prstGeom prst="rect">
            <a:avLst/>
          </a:prstGeom>
        </p:spPr>
      </p:pic>
      <p:sp>
        <p:nvSpPr>
          <p:cNvPr id="8" name="AutoShape 8"/>
          <p:cNvSpPr/>
          <p:nvPr/>
        </p:nvSpPr>
        <p:spPr>
          <a:xfrm>
            <a:off x="1270000" y="2057400"/>
            <a:ext cx="4572000" cy="482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9800"/>
                </a:solidFill>
                <a:latin typeface="Noto Sans SC"/>
                <a:ea typeface="Noto Sans SC"/>
                <a:cs typeface="Noto Sans SC"/>
                <a:sym typeface="Noto Sans SC"/>
              </a:rPr>
              <a:t>用户痛点：</a:t>
            </a:r>
            <a:r>
              <a:rPr lang="en-US" sz="1400" b="0" i="0" u="none" strike="noStrike">
                <a:solidFill>
                  <a:srgbClr val="37474F"/>
                </a:solidFill>
                <a:latin typeface="Noto Sans SC"/>
                <a:ea typeface="Noto Sans SC"/>
                <a:cs typeface="Noto Sans SC"/>
                <a:sym typeface="Noto Sans SC"/>
              </a:rPr>
              <a:t>秋冬季节皮肤干燥紧绷？上妆卡粉？这款面霜帮您解决！</a:t>
            </a:r>
            <a:endParaRPr lang="en-US" sz="1100"/>
          </a:p>
        </p:txBody>
      </p:sp>
      <p:sp>
        <p:nvSpPr>
          <p:cNvPr id="9" name="AutoShape 9"/>
          <p:cNvSpPr/>
          <p:nvPr/>
        </p:nvSpPr>
        <p:spPr>
          <a:xfrm>
            <a:off x="762000" y="2667000"/>
            <a:ext cx="5207000" cy="533400"/>
          </a:xfrm>
          <a:prstGeom prst="roundRect">
            <a:avLst>
              <a:gd name="adj" fmla="val 23809"/>
            </a:avLst>
          </a:prstGeom>
          <a:solidFill>
            <a:srgbClr val="FFFFFF">
              <a:alpha val="100000"/>
            </a:srgbClr>
          </a:solidFill>
          <a:ln w="25400" cap="flat" cmpd="sng">
            <a:noFill/>
            <a:prstDash val="solid"/>
            <a:round/>
          </a:ln>
          <a:effectLst>
            <a:outerShdw blurRad="50800" dist="25400" dir="2700000" algn="tl" rotWithShape="0">
              <a:srgbClr val="0277BD">
                <a:alpha val="10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000" y="2768600"/>
            <a:ext cx="304800" cy="304800"/>
          </a:xfrm>
          <a:prstGeom prst="rect">
            <a:avLst/>
          </a:prstGeom>
        </p:spPr>
      </p:pic>
      <p:sp>
        <p:nvSpPr>
          <p:cNvPr id="11" name="AutoShape 11"/>
          <p:cNvSpPr/>
          <p:nvPr/>
        </p:nvSpPr>
        <p:spPr>
          <a:xfrm>
            <a:off x="1270000" y="2692400"/>
            <a:ext cx="4572000" cy="482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产品卖点：</a:t>
            </a:r>
            <a:r>
              <a:rPr lang="en-US" sz="1400" b="0" i="0" u="none" strike="noStrike">
                <a:solidFill>
                  <a:srgbClr val="37474F"/>
                </a:solidFill>
                <a:latin typeface="Noto Sans SC"/>
                <a:ea typeface="Noto Sans SC"/>
                <a:cs typeface="Noto Sans SC"/>
                <a:sym typeface="Noto Sans SC"/>
              </a:rPr>
              <a:t>富含天然保湿因子，深层补水，长效锁水，修护肌肤屏障。</a:t>
            </a:r>
            <a:endParaRPr lang="en-US" sz="1100"/>
          </a:p>
        </p:txBody>
      </p:sp>
      <p:sp>
        <p:nvSpPr>
          <p:cNvPr id="12" name="AutoShape 12"/>
          <p:cNvSpPr/>
          <p:nvPr/>
        </p:nvSpPr>
        <p:spPr>
          <a:xfrm>
            <a:off x="762000" y="3302000"/>
            <a:ext cx="5207000" cy="533400"/>
          </a:xfrm>
          <a:prstGeom prst="roundRect">
            <a:avLst>
              <a:gd name="adj" fmla="val 23809"/>
            </a:avLst>
          </a:prstGeom>
          <a:solidFill>
            <a:srgbClr val="FFFFFF">
              <a:alpha val="100000"/>
            </a:srgbClr>
          </a:solidFill>
          <a:ln w="25400" cap="flat" cmpd="sng">
            <a:noFill/>
            <a:prstDash val="solid"/>
            <a:round/>
          </a:ln>
          <a:effectLst>
            <a:outerShdw blurRad="50800" dist="25400" dir="2700000" algn="tl" rotWithShape="0">
              <a:srgbClr val="0277BD">
                <a:alpha val="10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9000" y="3403600"/>
            <a:ext cx="304800" cy="304800"/>
          </a:xfrm>
          <a:prstGeom prst="rect">
            <a:avLst/>
          </a:prstGeom>
        </p:spPr>
      </p:pic>
      <p:sp>
        <p:nvSpPr>
          <p:cNvPr id="14" name="AutoShape 14"/>
          <p:cNvSpPr/>
          <p:nvPr/>
        </p:nvSpPr>
        <p:spPr>
          <a:xfrm>
            <a:off x="1270000" y="3327400"/>
            <a:ext cx="4572000" cy="482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使用方法：</a:t>
            </a:r>
            <a:r>
              <a:rPr lang="en-US" sz="1400" b="0" i="0" u="none" strike="noStrike">
                <a:solidFill>
                  <a:srgbClr val="37474F"/>
                </a:solidFill>
                <a:latin typeface="Noto Sans SC"/>
                <a:ea typeface="Noto Sans SC"/>
                <a:cs typeface="Noto Sans SC"/>
                <a:sym typeface="Noto Sans SC"/>
              </a:rPr>
              <a:t>洁面爽肤后，取适量面霜均匀涂抹于面部，轻轻按摩至吸收。</a:t>
            </a:r>
            <a:endParaRPr lang="en-US" sz="1100"/>
          </a:p>
        </p:txBody>
      </p:sp>
      <p:sp>
        <p:nvSpPr>
          <p:cNvPr id="15" name="AutoShape 15"/>
          <p:cNvSpPr/>
          <p:nvPr/>
        </p:nvSpPr>
        <p:spPr>
          <a:xfrm>
            <a:off x="762000" y="3937000"/>
            <a:ext cx="5207000" cy="533400"/>
          </a:xfrm>
          <a:prstGeom prst="roundRect">
            <a:avLst>
              <a:gd name="adj" fmla="val 23809"/>
            </a:avLst>
          </a:prstGeom>
          <a:solidFill>
            <a:srgbClr val="FFFFFF">
              <a:alpha val="100000"/>
            </a:srgbClr>
          </a:solidFill>
          <a:ln w="25400" cap="flat" cmpd="sng">
            <a:noFill/>
            <a:prstDash val="solid"/>
            <a:round/>
          </a:ln>
          <a:effectLst>
            <a:outerShdw blurRad="50800" dist="25400" dir="2700000" algn="tl" rotWithShape="0">
              <a:srgbClr val="0277BD">
                <a:alpha val="1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89000" y="4038600"/>
            <a:ext cx="304800" cy="304800"/>
          </a:xfrm>
          <a:prstGeom prst="rect">
            <a:avLst/>
          </a:prstGeom>
        </p:spPr>
      </p:pic>
      <p:sp>
        <p:nvSpPr>
          <p:cNvPr id="17" name="AutoShape 17"/>
          <p:cNvSpPr/>
          <p:nvPr/>
        </p:nvSpPr>
        <p:spPr>
          <a:xfrm>
            <a:off x="1270000" y="3962400"/>
            <a:ext cx="4572000" cy="482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9800"/>
                </a:solidFill>
                <a:latin typeface="Noto Sans SC"/>
                <a:ea typeface="Noto Sans SC"/>
                <a:cs typeface="Noto Sans SC"/>
                <a:sym typeface="Noto Sans SC"/>
              </a:rPr>
              <a:t>优惠机制：</a:t>
            </a:r>
            <a:r>
              <a:rPr lang="en-US" sz="1400" b="0" i="0" u="none" strike="noStrike">
                <a:solidFill>
                  <a:srgbClr val="37474F"/>
                </a:solidFill>
                <a:latin typeface="Noto Sans SC"/>
                <a:ea typeface="Noto Sans SC"/>
                <a:cs typeface="Noto Sans SC"/>
                <a:sym typeface="Noto Sans SC"/>
              </a:rPr>
              <a:t>会员专享8折，满200减50，活动仅限今天！</a:t>
            </a:r>
            <a:endParaRPr lang="en-US" sz="1100"/>
          </a:p>
        </p:txBody>
      </p:sp>
      <p:sp>
        <p:nvSpPr>
          <p:cNvPr id="18" name="AutoShape 18"/>
          <p:cNvSpPr/>
          <p:nvPr/>
        </p:nvSpPr>
        <p:spPr>
          <a:xfrm>
            <a:off x="762000" y="4572000"/>
            <a:ext cx="5207000" cy="533400"/>
          </a:xfrm>
          <a:prstGeom prst="roundRect">
            <a:avLst>
              <a:gd name="adj" fmla="val 23809"/>
            </a:avLst>
          </a:prstGeom>
          <a:solidFill>
            <a:srgbClr val="FFFFFF">
              <a:alpha val="100000"/>
            </a:srgbClr>
          </a:solidFill>
          <a:ln w="25400" cap="flat" cmpd="sng">
            <a:noFill/>
            <a:prstDash val="solid"/>
            <a:round/>
          </a:ln>
          <a:effectLst>
            <a:outerShdw blurRad="50800" dist="25400" dir="2700000" algn="tl" rotWithShape="0">
              <a:srgbClr val="0277BD">
                <a:alpha val="10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89000" y="4673600"/>
            <a:ext cx="304800" cy="304800"/>
          </a:xfrm>
          <a:prstGeom prst="rect">
            <a:avLst/>
          </a:prstGeom>
        </p:spPr>
      </p:pic>
      <p:sp>
        <p:nvSpPr>
          <p:cNvPr id="20" name="AutoShape 20"/>
          <p:cNvSpPr/>
          <p:nvPr/>
        </p:nvSpPr>
        <p:spPr>
          <a:xfrm>
            <a:off x="1270000" y="4597400"/>
            <a:ext cx="4572000" cy="482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9800"/>
                </a:solidFill>
                <a:latin typeface="Noto Sans SC"/>
                <a:ea typeface="Noto Sans SC"/>
                <a:cs typeface="Noto Sans SC"/>
                <a:sym typeface="Noto Sans SC"/>
              </a:rPr>
              <a:t>商品促单：</a:t>
            </a:r>
            <a:r>
              <a:rPr lang="en-US" sz="1400" b="0" i="0" u="none" strike="noStrike">
                <a:solidFill>
                  <a:srgbClr val="37474F"/>
                </a:solidFill>
                <a:latin typeface="Noto Sans SC"/>
                <a:ea typeface="Noto Sans SC"/>
                <a:cs typeface="Noto Sans SC"/>
                <a:sym typeface="Noto Sans SC"/>
              </a:rPr>
              <a:t>口碑爆款，无数用户验证，让您的肌肤喝饱水，赶紧下单！</a:t>
            </a:r>
            <a:endParaRPr lang="en-US" sz="1100"/>
          </a:p>
        </p:txBody>
      </p:sp>
      <p:sp>
        <p:nvSpPr>
          <p:cNvPr id="21" name="AutoShape 21"/>
          <p:cNvSpPr/>
          <p:nvPr/>
        </p:nvSpPr>
        <p:spPr>
          <a:xfrm>
            <a:off x="762000" y="5207000"/>
            <a:ext cx="5207000" cy="533400"/>
          </a:xfrm>
          <a:prstGeom prst="roundRect">
            <a:avLst>
              <a:gd name="adj" fmla="val 23809"/>
            </a:avLst>
          </a:prstGeom>
          <a:solidFill>
            <a:srgbClr val="FFFFFF">
              <a:alpha val="100000"/>
            </a:srgbClr>
          </a:solidFill>
          <a:ln w="25400" cap="flat" cmpd="sng">
            <a:noFill/>
            <a:prstDash val="solid"/>
            <a:round/>
          </a:ln>
          <a:effectLst>
            <a:outerShdw blurRad="50800" dist="25400" dir="2700000" algn="tl" rotWithShape="0">
              <a:srgbClr val="0277BD">
                <a:alpha val="10000"/>
              </a:srgbClr>
            </a:outerShdw>
          </a:effectLst>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9000" y="5308600"/>
            <a:ext cx="304800" cy="304800"/>
          </a:xfrm>
          <a:prstGeom prst="rect">
            <a:avLst/>
          </a:prstGeom>
        </p:spPr>
      </p:pic>
      <p:sp>
        <p:nvSpPr>
          <p:cNvPr id="23" name="AutoShape 23"/>
          <p:cNvSpPr/>
          <p:nvPr/>
        </p:nvSpPr>
        <p:spPr>
          <a:xfrm>
            <a:off x="1270000" y="5232400"/>
            <a:ext cx="4572000" cy="482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互动话术：</a:t>
            </a:r>
            <a:r>
              <a:rPr lang="en-US" sz="1400" b="0" i="0" u="none" strike="noStrike">
                <a:solidFill>
                  <a:srgbClr val="37474F"/>
                </a:solidFill>
                <a:latin typeface="Noto Sans SC"/>
                <a:ea typeface="Noto Sans SC"/>
                <a:cs typeface="Noto Sans SC"/>
                <a:sym typeface="Noto Sans SC"/>
              </a:rPr>
              <a:t>有任何护肤问题都可以问我哦，我会为您详细解答！</a:t>
            </a:r>
            <a:endParaRPr lang="en-US" sz="1100"/>
          </a:p>
        </p:txBody>
      </p:sp>
      <p:sp>
        <p:nvSpPr>
          <p:cNvPr id="24" name="AutoShape 24"/>
          <p:cNvSpPr/>
          <p:nvPr/>
        </p:nvSpPr>
        <p:spPr>
          <a:xfrm>
            <a:off x="6223000" y="1397000"/>
            <a:ext cx="5207000" cy="1828800"/>
          </a:xfrm>
          <a:prstGeom prst="roundRect">
            <a:avLst>
              <a:gd name="adj" fmla="val 6944"/>
            </a:avLst>
          </a:prstGeom>
          <a:solidFill>
            <a:srgbClr val="FFFFFF">
              <a:alpha val="100000"/>
            </a:srgbClr>
          </a:solidFill>
          <a:ln w="25400" cap="flat" cmpd="sng">
            <a:solidFill>
              <a:srgbClr val="0277BD">
                <a:alpha val="100000"/>
              </a:srgbClr>
            </a:solidFill>
            <a:prstDash val="solid"/>
            <a:round/>
          </a:ln>
          <a:effectLst>
            <a:outerShdw blurRad="1016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477000" y="1587500"/>
            <a:ext cx="406400" cy="406400"/>
          </a:xfrm>
          <a:prstGeom prst="rect">
            <a:avLst/>
          </a:prstGeom>
        </p:spPr>
      </p:pic>
      <p:sp>
        <p:nvSpPr>
          <p:cNvPr id="26" name="AutoShape 26"/>
          <p:cNvSpPr/>
          <p:nvPr/>
        </p:nvSpPr>
        <p:spPr>
          <a:xfrm>
            <a:off x="6985000" y="1549400"/>
            <a:ext cx="4191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对比分析：分段式优势</a:t>
            </a:r>
            <a:endParaRPr lang="en-US" sz="1100"/>
          </a:p>
        </p:txBody>
      </p:sp>
      <p:sp>
        <p:nvSpPr>
          <p:cNvPr id="27" name="AutoShape 27"/>
          <p:cNvSpPr/>
          <p:nvPr/>
        </p:nvSpPr>
        <p:spPr>
          <a:xfrm>
            <a:off x="6477000" y="2095500"/>
            <a:ext cx="4699000" cy="1016000"/>
          </a:xfrm>
          <a:prstGeom prst="rect">
            <a:avLst/>
          </a:prstGeom>
          <a:noFill/>
          <a:ln w="12700" cap="flat" cmpd="sng">
            <a:noFill/>
            <a:prstDash val="solid"/>
            <a:round/>
          </a:ln>
        </p:spPr>
        <p:txBody>
          <a:bodyPr vert="horz" wrap="square" lIns="0" tIns="0" rIns="0" bIns="0" rtlCol="0" anchor="ctr" anchorCtr="0"/>
          <a:lstStyle/>
          <a:p>
            <a:pPr marL="190500" indent="-190500" algn="l">
              <a:lnSpc>
                <a:spcPct val="125000"/>
              </a:lnSpc>
              <a:buClr>
                <a:srgbClr val="37474F"/>
              </a:buClr>
              <a:buFont typeface="Wingdings" panose="05000000000000000000"/>
              <a:buChar char="v"/>
              <a:defRPr/>
            </a:pPr>
            <a:r>
              <a:rPr lang="en-US" sz="1500" b="1" i="0" u="none" strike="noStrike">
                <a:solidFill>
                  <a:srgbClr val="37474F"/>
                </a:solidFill>
                <a:latin typeface="Noto Sans SC"/>
                <a:ea typeface="Noto Sans SC"/>
                <a:cs typeface="Noto Sans SC"/>
                <a:sym typeface="Noto Sans SC"/>
              </a:rPr>
              <a:t>结构清晰：</a:t>
            </a:r>
            <a:r>
              <a:rPr lang="en-US" sz="1500" b="0" i="0" u="none" strike="noStrike">
                <a:solidFill>
                  <a:srgbClr val="546E7A"/>
                </a:solidFill>
                <a:latin typeface="Noto Sans SC"/>
                <a:ea typeface="Noto Sans SC"/>
                <a:cs typeface="Noto Sans SC"/>
                <a:sym typeface="Noto Sans SC"/>
              </a:rPr>
              <a:t>逻辑连贯，便于理解和记忆。</a:t>
            </a:r>
            <a:endParaRPr lang="en-US" sz="1100"/>
          </a:p>
          <a:p>
            <a:pPr marL="190500" indent="-190500" algn="l">
              <a:lnSpc>
                <a:spcPct val="125000"/>
              </a:lnSpc>
              <a:buClr>
                <a:srgbClr val="37474F"/>
              </a:buClr>
              <a:buFont typeface="Wingdings" panose="05000000000000000000"/>
              <a:buChar char="v"/>
            </a:pPr>
            <a:r>
              <a:rPr lang="en-US" sz="1500" b="1" i="0" u="none" strike="noStrike">
                <a:solidFill>
                  <a:srgbClr val="37474F"/>
                </a:solidFill>
                <a:latin typeface="Noto Sans SC"/>
                <a:ea typeface="Noto Sans SC"/>
                <a:cs typeface="Noto Sans SC"/>
                <a:sym typeface="Noto Sans SC"/>
              </a:rPr>
              <a:t>播报友好：</a:t>
            </a:r>
            <a:r>
              <a:rPr lang="en-US" sz="1500" b="0" i="0" u="none" strike="noStrike">
                <a:solidFill>
                  <a:srgbClr val="546E7A"/>
                </a:solidFill>
                <a:latin typeface="Noto Sans SC"/>
                <a:ea typeface="Noto Sans SC"/>
                <a:cs typeface="Noto Sans SC"/>
                <a:sym typeface="Noto Sans SC"/>
              </a:rPr>
              <a:t>适合数字人按流程播报，节奏可控。</a:t>
            </a:r>
            <a:endParaRPr lang="en-US" sz="1500" b="0" i="0" u="none" strike="noStrike">
              <a:solidFill>
                <a:srgbClr val="546E7A"/>
              </a:solidFill>
              <a:latin typeface="Noto Sans SC"/>
              <a:ea typeface="Noto Sans SC"/>
              <a:cs typeface="Noto Sans SC"/>
              <a:sym typeface="Noto Sans SC"/>
            </a:endParaRPr>
          </a:p>
          <a:p>
            <a:pPr marL="190500" indent="-190500" algn="l">
              <a:lnSpc>
                <a:spcPct val="125000"/>
              </a:lnSpc>
              <a:buClr>
                <a:srgbClr val="37474F"/>
              </a:buClr>
              <a:buFont typeface="Wingdings" panose="05000000000000000000"/>
              <a:buChar char="v"/>
            </a:pPr>
            <a:r>
              <a:rPr lang="en-US" sz="1500" b="1" i="0" u="none" strike="noStrike">
                <a:solidFill>
                  <a:srgbClr val="37474F"/>
                </a:solidFill>
                <a:latin typeface="Noto Sans SC"/>
                <a:ea typeface="Noto Sans SC"/>
                <a:cs typeface="Noto Sans SC"/>
                <a:sym typeface="Noto Sans SC"/>
              </a:rPr>
              <a:t>易于优化：</a:t>
            </a:r>
            <a:r>
              <a:rPr lang="en-US" sz="1500" b="0" i="0" u="none" strike="noStrike">
                <a:solidFill>
                  <a:srgbClr val="546E7A"/>
                </a:solidFill>
                <a:latin typeface="Noto Sans SC"/>
                <a:ea typeface="Noto Sans SC"/>
                <a:cs typeface="Noto Sans SC"/>
                <a:sym typeface="Noto Sans SC"/>
              </a:rPr>
              <a:t>单段修改不影响整体，灵活性高。</a:t>
            </a:r>
            <a:endParaRPr lang="en-US" sz="1500" b="0" i="0" u="none" strike="noStrike">
              <a:solidFill>
                <a:srgbClr val="546E7A"/>
              </a:solidFill>
              <a:latin typeface="Noto Sans SC"/>
              <a:ea typeface="Noto Sans SC"/>
              <a:cs typeface="Noto Sans SC"/>
              <a:sym typeface="Noto Sans SC"/>
            </a:endParaRPr>
          </a:p>
        </p:txBody>
      </p:sp>
      <p:sp>
        <p:nvSpPr>
          <p:cNvPr id="28" name="AutoShape 28"/>
          <p:cNvSpPr/>
          <p:nvPr/>
        </p:nvSpPr>
        <p:spPr>
          <a:xfrm>
            <a:off x="6223000" y="3429000"/>
            <a:ext cx="5207000" cy="1270000"/>
          </a:xfrm>
          <a:prstGeom prst="roundRect">
            <a:avLst>
              <a:gd name="adj" fmla="val 10000"/>
            </a:avLst>
          </a:prstGeom>
          <a:solidFill>
            <a:srgbClr val="0277BD">
              <a:alpha val="10000"/>
            </a:srgbClr>
          </a:solidFill>
          <a:ln w="12700" cap="flat" cmpd="sng">
            <a:solidFill>
              <a:srgbClr val="0277BD">
                <a:alpha val="30000"/>
              </a:srgbClr>
            </a:solidFill>
            <a:prstDash val="dash"/>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477000" y="3619500"/>
            <a:ext cx="304800" cy="304800"/>
          </a:xfrm>
          <a:prstGeom prst="rect">
            <a:avLst/>
          </a:prstGeom>
        </p:spPr>
      </p:pic>
      <p:sp>
        <p:nvSpPr>
          <p:cNvPr id="30" name="AutoShape 30"/>
          <p:cNvSpPr/>
          <p:nvPr/>
        </p:nvSpPr>
        <p:spPr>
          <a:xfrm>
            <a:off x="6858000" y="35814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输入 Prompt 提示</a:t>
            </a:r>
            <a:endParaRPr lang="en-US" sz="1100"/>
          </a:p>
        </p:txBody>
      </p:sp>
      <p:sp>
        <p:nvSpPr>
          <p:cNvPr id="31" name="AutoShape 31"/>
          <p:cNvSpPr/>
          <p:nvPr/>
        </p:nvSpPr>
        <p:spPr>
          <a:xfrm>
            <a:off x="6477000" y="4000500"/>
            <a:ext cx="4699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46E7A"/>
                </a:solidFill>
                <a:latin typeface="Noto Sans SC"/>
                <a:ea typeface="Noto Sans SC"/>
                <a:cs typeface="Noto Sans SC"/>
                <a:sym typeface="Noto Sans SC"/>
              </a:rPr>
              <a:t>使用分段式商品台词Prompt模板，将话术拆解为引导、痛点、卖点等模块，生成结构化的直播脚本。</a:t>
            </a:r>
            <a:endParaRPr lang="en-US" sz="1100"/>
          </a:p>
        </p:txBody>
      </p:sp>
      <p:sp>
        <p:nvSpPr>
          <p:cNvPr id="32" name="AutoShape 32"/>
          <p:cNvSpPr/>
          <p:nvPr/>
        </p:nvSpPr>
        <p:spPr>
          <a:xfrm>
            <a:off x="6223000" y="4953000"/>
            <a:ext cx="5207000" cy="787400"/>
          </a:xfrm>
          <a:prstGeom prst="roundRect">
            <a:avLst>
              <a:gd name="adj" fmla="val 16129"/>
            </a:avLst>
          </a:prstGeom>
          <a:solidFill>
            <a:srgbClr val="0277BD">
              <a:alpha val="100000"/>
            </a:srgbClr>
          </a:solidFill>
          <a:ln w="25400" cap="flat" cmpd="sng">
            <a:noFill/>
            <a:prstDash val="solid"/>
            <a:round/>
          </a:ln>
          <a:effectLst>
            <a:outerShdw blurRad="50800" dist="25400" dir="2700000" algn="tl" rotWithShape="0">
              <a:srgbClr val="000000">
                <a:alpha val="10000"/>
              </a:srgbClr>
            </a:outerShdw>
          </a:effectLst>
        </p:spPr>
        <p:txBody>
          <a:bodyPr vert="horz" wrap="square" lIns="63500" tIns="63500" rIns="63500" bIns="63500" rtlCol="0" anchor="ctr"/>
          <a:lstStyle/>
          <a:p>
            <a:pPr algn="ctr">
              <a:defRPr/>
            </a:pPr>
          </a:p>
        </p:txBody>
      </p:sp>
      <p:sp>
        <p:nvSpPr>
          <p:cNvPr id="33" name="AutoShape 33"/>
          <p:cNvSpPr/>
          <p:nvPr/>
        </p:nvSpPr>
        <p:spPr>
          <a:xfrm>
            <a:off x="6350000" y="4953000"/>
            <a:ext cx="4953000" cy="787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总结：分段式结构更适合数字人直播场景</a:t>
            </a:r>
            <a:endParaRPr 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9042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12.3.3 项目执行 - 生成互动问答台词</a:t>
            </a:r>
            <a:endParaRPr lang="en-US" sz="1100"/>
          </a:p>
        </p:txBody>
      </p:sp>
      <p:sp>
        <p:nvSpPr>
          <p:cNvPr id="3" name="AutoShape 3"/>
          <p:cNvSpPr/>
          <p:nvPr/>
        </p:nvSpPr>
        <p:spPr>
          <a:xfrm>
            <a:off x="762000" y="1397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1016000" y="1587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输入 Prompt</a:t>
            </a:r>
            <a:endParaRPr lang="en-US" sz="1100"/>
          </a:p>
        </p:txBody>
      </p:sp>
      <p:sp>
        <p:nvSpPr>
          <p:cNvPr id="5" name="AutoShape 5"/>
          <p:cNvSpPr/>
          <p:nvPr/>
        </p:nvSpPr>
        <p:spPr>
          <a:xfrm>
            <a:off x="1016000" y="1968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546E7A"/>
                </a:solidFill>
                <a:latin typeface="Noto Sans SC"/>
                <a:ea typeface="Noto Sans SC"/>
                <a:cs typeface="Noto Sans SC"/>
                <a:sym typeface="Noto Sans SC"/>
              </a:rPr>
              <a:t>使用互动问答Prompt模板生成针对保湿面霜常见问题的回答。</a:t>
            </a:r>
            <a:endParaRPr lang="en-US" sz="1100"/>
          </a:p>
        </p:txBody>
      </p:sp>
      <p:sp>
        <p:nvSpPr>
          <p:cNvPr id="6" name="AutoShape 6"/>
          <p:cNvSpPr/>
          <p:nvPr/>
        </p:nvSpPr>
        <p:spPr>
          <a:xfrm>
            <a:off x="762000" y="3175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sp>
        <p:nvSpPr>
          <p:cNvPr id="7" name="AutoShape 7"/>
          <p:cNvSpPr/>
          <p:nvPr/>
        </p:nvSpPr>
        <p:spPr>
          <a:xfrm>
            <a:off x="1016000" y="3365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800"/>
                </a:solidFill>
                <a:latin typeface="Noto Sans SC"/>
                <a:ea typeface="Noto Sans SC"/>
                <a:cs typeface="Noto Sans SC"/>
                <a:sym typeface="Noto Sans SC"/>
              </a:rPr>
              <a:t>评估结果</a:t>
            </a:r>
            <a:endParaRPr lang="en-US" sz="1100"/>
          </a:p>
        </p:txBody>
      </p:sp>
      <p:sp>
        <p:nvSpPr>
          <p:cNvPr id="8" name="AutoShape 8"/>
          <p:cNvSpPr/>
          <p:nvPr/>
        </p:nvSpPr>
        <p:spPr>
          <a:xfrm>
            <a:off x="1016000" y="3746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546E7A"/>
                </a:solidFill>
                <a:latin typeface="Noto Sans SC"/>
                <a:ea typeface="Noto Sans SC"/>
                <a:cs typeface="Noto Sans SC"/>
                <a:sym typeface="Noto Sans SC"/>
              </a:rPr>
              <a:t>回答准确、专业，有效解答了用户的常见疑问，提升了用户体验。</a:t>
            </a:r>
            <a:endParaRPr lang="en-US" sz="1100"/>
          </a:p>
        </p:txBody>
      </p:sp>
      <p:sp>
        <p:nvSpPr>
          <p:cNvPr id="9" name="AutoShape 9"/>
          <p:cNvSpPr/>
          <p:nvPr/>
        </p:nvSpPr>
        <p:spPr>
          <a:xfrm>
            <a:off x="4318000" y="1397000"/>
            <a:ext cx="7112000" cy="1079500"/>
          </a:xfrm>
          <a:prstGeom prst="roundRect">
            <a:avLst>
              <a:gd name="adj" fmla="val 11764"/>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72000" y="1651000"/>
            <a:ext cx="508000" cy="508000"/>
          </a:xfrm>
          <a:prstGeom prst="rect">
            <a:avLst/>
          </a:prstGeom>
        </p:spPr>
      </p:pic>
      <p:sp>
        <p:nvSpPr>
          <p:cNvPr id="11" name="AutoShape 11"/>
          <p:cNvSpPr/>
          <p:nvPr/>
        </p:nvSpPr>
        <p:spPr>
          <a:xfrm>
            <a:off x="5207000" y="1524000"/>
            <a:ext cx="596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277BD"/>
                </a:solidFill>
                <a:latin typeface="Noto Sans SC"/>
                <a:ea typeface="Noto Sans SC"/>
                <a:cs typeface="Noto Sans SC"/>
                <a:sym typeface="Noto Sans SC"/>
              </a:rPr>
              <a:t>问：油皮能用吗？</a:t>
            </a:r>
            <a:endParaRPr lang="en-US" sz="1100"/>
          </a:p>
        </p:txBody>
      </p:sp>
      <p:sp>
        <p:nvSpPr>
          <p:cNvPr id="12" name="AutoShape 12"/>
          <p:cNvSpPr/>
          <p:nvPr/>
        </p:nvSpPr>
        <p:spPr>
          <a:xfrm>
            <a:off x="5207000" y="1879600"/>
            <a:ext cx="5969000" cy="457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546E7A"/>
                </a:solidFill>
                <a:latin typeface="Noto Sans SC"/>
                <a:ea typeface="Noto Sans SC"/>
                <a:cs typeface="Noto Sans SC"/>
                <a:sym typeface="Noto Sans SC"/>
              </a:rPr>
              <a:t>答：这款面霜质地轻盈，吸收快，油皮也可以放心使用哦！</a:t>
            </a:r>
            <a:endParaRPr lang="en-US" sz="1100"/>
          </a:p>
        </p:txBody>
      </p:sp>
      <p:sp>
        <p:nvSpPr>
          <p:cNvPr id="13" name="AutoShape 13"/>
          <p:cNvSpPr/>
          <p:nvPr/>
        </p:nvSpPr>
        <p:spPr>
          <a:xfrm>
            <a:off x="4318000" y="2603500"/>
            <a:ext cx="7112000" cy="1079500"/>
          </a:xfrm>
          <a:prstGeom prst="roundRect">
            <a:avLst>
              <a:gd name="adj" fmla="val 11764"/>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2857500"/>
            <a:ext cx="508000" cy="508000"/>
          </a:xfrm>
          <a:prstGeom prst="rect">
            <a:avLst/>
          </a:prstGeom>
        </p:spPr>
      </p:pic>
      <p:sp>
        <p:nvSpPr>
          <p:cNvPr id="15" name="AutoShape 15"/>
          <p:cNvSpPr/>
          <p:nvPr/>
        </p:nvSpPr>
        <p:spPr>
          <a:xfrm>
            <a:off x="5207000" y="2730500"/>
            <a:ext cx="596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277BD"/>
                </a:solidFill>
                <a:latin typeface="Noto Sans SC"/>
                <a:ea typeface="Noto Sans SC"/>
                <a:cs typeface="Noto Sans SC"/>
                <a:sym typeface="Noto Sans SC"/>
              </a:rPr>
              <a:t>问：有香精吗？</a:t>
            </a:r>
            <a:endParaRPr lang="en-US" sz="1100"/>
          </a:p>
        </p:txBody>
      </p:sp>
      <p:sp>
        <p:nvSpPr>
          <p:cNvPr id="16" name="AutoShape 16"/>
          <p:cNvSpPr/>
          <p:nvPr/>
        </p:nvSpPr>
        <p:spPr>
          <a:xfrm>
            <a:off x="5207000" y="3086100"/>
            <a:ext cx="5969000" cy="457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546E7A"/>
                </a:solidFill>
                <a:latin typeface="Noto Sans SC"/>
                <a:ea typeface="Noto Sans SC"/>
                <a:cs typeface="Noto Sans SC"/>
                <a:sym typeface="Noto Sans SC"/>
              </a:rPr>
              <a:t>答：我们的产品采用天然香料，香味淡雅，不会对肌肤造成刺激。</a:t>
            </a:r>
            <a:endParaRPr lang="en-US" sz="1100"/>
          </a:p>
        </p:txBody>
      </p:sp>
      <p:sp>
        <p:nvSpPr>
          <p:cNvPr id="17" name="AutoShape 17"/>
          <p:cNvSpPr/>
          <p:nvPr/>
        </p:nvSpPr>
        <p:spPr>
          <a:xfrm>
            <a:off x="4318000" y="3810000"/>
            <a:ext cx="7112000" cy="1079500"/>
          </a:xfrm>
          <a:prstGeom prst="roundRect">
            <a:avLst>
              <a:gd name="adj" fmla="val 11764"/>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2000" y="4064000"/>
            <a:ext cx="508000" cy="508000"/>
          </a:xfrm>
          <a:prstGeom prst="rect">
            <a:avLst/>
          </a:prstGeom>
        </p:spPr>
      </p:pic>
      <p:sp>
        <p:nvSpPr>
          <p:cNvPr id="19" name="AutoShape 19"/>
          <p:cNvSpPr/>
          <p:nvPr/>
        </p:nvSpPr>
        <p:spPr>
          <a:xfrm>
            <a:off x="5207000" y="3937000"/>
            <a:ext cx="596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277BD"/>
                </a:solidFill>
                <a:latin typeface="Noto Sans SC"/>
                <a:ea typeface="Noto Sans SC"/>
                <a:cs typeface="Noto Sans SC"/>
                <a:sym typeface="Noto Sans SC"/>
              </a:rPr>
              <a:t>问：保质期多久？</a:t>
            </a:r>
            <a:endParaRPr lang="en-US" sz="1100"/>
          </a:p>
        </p:txBody>
      </p:sp>
      <p:sp>
        <p:nvSpPr>
          <p:cNvPr id="20" name="AutoShape 20"/>
          <p:cNvSpPr/>
          <p:nvPr/>
        </p:nvSpPr>
        <p:spPr>
          <a:xfrm>
            <a:off x="5207000" y="4292600"/>
            <a:ext cx="5969000" cy="457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546E7A"/>
                </a:solidFill>
                <a:latin typeface="Noto Sans SC"/>
                <a:ea typeface="Noto Sans SC"/>
                <a:cs typeface="Noto Sans SC"/>
                <a:sym typeface="Noto Sans SC"/>
              </a:rPr>
              <a:t>答：未开封保质期3年，开封后建议6个月内用完哦。</a:t>
            </a:r>
            <a:endParaRPr lang="en-US" sz="1100"/>
          </a:p>
        </p:txBody>
      </p:sp>
      <p:sp>
        <p:nvSpPr>
          <p:cNvPr id="21" name="AutoShape 21"/>
          <p:cNvSpPr/>
          <p:nvPr/>
        </p:nvSpPr>
        <p:spPr>
          <a:xfrm>
            <a:off x="4318000" y="5016500"/>
            <a:ext cx="7112000" cy="1079500"/>
          </a:xfrm>
          <a:prstGeom prst="roundRect">
            <a:avLst>
              <a:gd name="adj" fmla="val 11764"/>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72000" y="5270500"/>
            <a:ext cx="508000" cy="508000"/>
          </a:xfrm>
          <a:prstGeom prst="rect">
            <a:avLst/>
          </a:prstGeom>
        </p:spPr>
      </p:pic>
      <p:sp>
        <p:nvSpPr>
          <p:cNvPr id="23" name="AutoShape 23"/>
          <p:cNvSpPr/>
          <p:nvPr/>
        </p:nvSpPr>
        <p:spPr>
          <a:xfrm>
            <a:off x="5207000" y="5143500"/>
            <a:ext cx="596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277BD"/>
                </a:solidFill>
                <a:latin typeface="Noto Sans SC"/>
                <a:ea typeface="Noto Sans SC"/>
                <a:cs typeface="Noto Sans SC"/>
                <a:sym typeface="Noto Sans SC"/>
              </a:rPr>
              <a:t>问：可以和其他护肤品一起用吗？</a:t>
            </a:r>
            <a:endParaRPr lang="en-US" sz="1100"/>
          </a:p>
        </p:txBody>
      </p:sp>
      <p:sp>
        <p:nvSpPr>
          <p:cNvPr id="24" name="AutoShape 24"/>
          <p:cNvSpPr/>
          <p:nvPr/>
        </p:nvSpPr>
        <p:spPr>
          <a:xfrm>
            <a:off x="5207000" y="5499100"/>
            <a:ext cx="5969000" cy="457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546E7A"/>
                </a:solidFill>
                <a:latin typeface="Noto Sans SC"/>
                <a:ea typeface="Noto Sans SC"/>
                <a:cs typeface="Noto Sans SC"/>
                <a:sym typeface="Noto Sans SC"/>
              </a:rPr>
              <a:t>答：当然可以，它可以作为日常护肤的最后一步，锁住营养和水分。</a:t>
            </a:r>
            <a:endParaRPr lang="en-US"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0584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12.3.4 项目优化 - 基于知识库的优化</a:t>
            </a:r>
            <a:endParaRPr lang="en-US" sz="1100"/>
          </a:p>
        </p:txBody>
      </p:sp>
      <p:sp>
        <p:nvSpPr>
          <p:cNvPr id="3" name="AutoShape 3"/>
          <p:cNvSpPr/>
          <p:nvPr/>
        </p:nvSpPr>
        <p:spPr>
          <a:xfrm>
            <a:off x="762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06600" y="1778000"/>
            <a:ext cx="812800" cy="812800"/>
          </a:xfrm>
          <a:prstGeom prst="rect">
            <a:avLst/>
          </a:prstGeom>
        </p:spPr>
      </p:pic>
      <p:sp>
        <p:nvSpPr>
          <p:cNvPr id="5" name="AutoShape 5"/>
          <p:cNvSpPr/>
          <p:nvPr/>
        </p:nvSpPr>
        <p:spPr>
          <a:xfrm>
            <a:off x="889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知识库构建</a:t>
            </a:r>
            <a:endParaRPr lang="en-US" sz="1100"/>
          </a:p>
        </p:txBody>
      </p:sp>
      <p:sp>
        <p:nvSpPr>
          <p:cNvPr id="6" name="AutoShape 6"/>
          <p:cNvSpPr/>
          <p:nvPr/>
        </p:nvSpPr>
        <p:spPr>
          <a:xfrm>
            <a:off x="952500" y="3175000"/>
            <a:ext cx="2921000" cy="1524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546E7A"/>
                </a:solidFill>
                <a:latin typeface="Noto Sans SC"/>
                <a:ea typeface="Noto Sans SC"/>
                <a:cs typeface="Noto Sans SC"/>
                <a:sym typeface="Noto Sans SC"/>
              </a:rPr>
              <a:t>将收集到的商品详细信息、用户评价、专业评测报告等整合为一个结构化的知识库，为AI提供权威数据源。</a:t>
            </a:r>
            <a:endParaRPr lang="en-US" sz="1100"/>
          </a:p>
        </p:txBody>
      </p:sp>
      <p:sp>
        <p:nvSpPr>
          <p:cNvPr id="7" name="AutoShape 7"/>
          <p:cNvSpPr/>
          <p:nvPr/>
        </p:nvSpPr>
        <p:spPr>
          <a:xfrm>
            <a:off x="4445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89600" y="1778000"/>
            <a:ext cx="812800" cy="812800"/>
          </a:xfrm>
          <a:prstGeom prst="rect">
            <a:avLst/>
          </a:prstGeom>
        </p:spPr>
      </p:pic>
      <p:sp>
        <p:nvSpPr>
          <p:cNvPr id="9" name="AutoShape 9"/>
          <p:cNvSpPr/>
          <p:nvPr/>
        </p:nvSpPr>
        <p:spPr>
          <a:xfrm>
            <a:off x="4572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优化Prompt</a:t>
            </a:r>
            <a:endParaRPr lang="en-US" sz="1100"/>
          </a:p>
        </p:txBody>
      </p:sp>
      <p:sp>
        <p:nvSpPr>
          <p:cNvPr id="10" name="AutoShape 10"/>
          <p:cNvSpPr/>
          <p:nvPr/>
        </p:nvSpPr>
        <p:spPr>
          <a:xfrm>
            <a:off x="4635500" y="3175000"/>
            <a:ext cx="2921000" cy="1524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546E7A"/>
                </a:solidFill>
                <a:latin typeface="Noto Sans SC"/>
                <a:ea typeface="Noto Sans SC"/>
                <a:cs typeface="Noto Sans SC"/>
                <a:sym typeface="Noto Sans SC"/>
              </a:rPr>
              <a:t>在原有的Prompt模板中，增加对知识库的引用指令，明确要求AI在生成台词时严格参考知识库中的信息。</a:t>
            </a:r>
            <a:endParaRPr lang="en-US" sz="1100"/>
          </a:p>
        </p:txBody>
      </p:sp>
      <p:sp>
        <p:nvSpPr>
          <p:cNvPr id="11" name="AutoShape 11"/>
          <p:cNvSpPr/>
          <p:nvPr/>
        </p:nvSpPr>
        <p:spPr>
          <a:xfrm>
            <a:off x="8128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72600" y="1778000"/>
            <a:ext cx="812800" cy="812800"/>
          </a:xfrm>
          <a:prstGeom prst="rect">
            <a:avLst/>
          </a:prstGeom>
        </p:spPr>
      </p:pic>
      <p:sp>
        <p:nvSpPr>
          <p:cNvPr id="13" name="AutoShape 13"/>
          <p:cNvSpPr/>
          <p:nvPr/>
        </p:nvSpPr>
        <p:spPr>
          <a:xfrm>
            <a:off x="8255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提升内容质量</a:t>
            </a:r>
            <a:endParaRPr lang="en-US" sz="1100"/>
          </a:p>
        </p:txBody>
      </p:sp>
      <p:sp>
        <p:nvSpPr>
          <p:cNvPr id="14" name="AutoShape 14"/>
          <p:cNvSpPr/>
          <p:nvPr/>
        </p:nvSpPr>
        <p:spPr>
          <a:xfrm>
            <a:off x="8318500" y="3175000"/>
            <a:ext cx="2921000" cy="1524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546E7A"/>
                </a:solidFill>
                <a:latin typeface="Noto Sans SC"/>
                <a:ea typeface="Noto Sans SC"/>
                <a:cs typeface="Noto Sans SC"/>
                <a:sym typeface="Noto Sans SC"/>
              </a:rPr>
              <a:t>通过引入更丰富、更专业的知识，使生成的台词更加准确、详实，更具说服力，有效提升用户信任度。</a:t>
            </a:r>
            <a:endParaRPr lang="en-US" sz="1100"/>
          </a:p>
        </p:txBody>
      </p:sp>
      <p:sp>
        <p:nvSpPr>
          <p:cNvPr id="15" name="AutoShape 15"/>
          <p:cNvSpPr/>
          <p:nvPr/>
        </p:nvSpPr>
        <p:spPr>
          <a:xfrm>
            <a:off x="762000" y="5461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sp>
        <p:nvSpPr>
          <p:cNvPr id="16" name="AutoShape 16"/>
          <p:cNvSpPr/>
          <p:nvPr/>
        </p:nvSpPr>
        <p:spPr>
          <a:xfrm>
            <a:off x="1016000" y="5588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核心价值：</a:t>
            </a:r>
            <a:r>
              <a:rPr lang="en-US" sz="1600" b="0" i="0" u="none" strike="noStrike">
                <a:solidFill>
                  <a:srgbClr val="546E7A"/>
                </a:solidFill>
                <a:latin typeface="Noto Sans SC"/>
                <a:ea typeface="Noto Sans SC"/>
                <a:cs typeface="Noto Sans SC"/>
                <a:sym typeface="Noto Sans SC"/>
              </a:rPr>
              <a:t>利用结构化知识库赋能AI，从“泛泛而谈”转向“专业精准”，实现内容质量的跨越式提升。</a:t>
            </a:r>
            <a:endParaRPr lang="en-US" sz="11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9042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12.3.4 项目优化 - 优化后的台词示例</a:t>
            </a:r>
            <a:endParaRPr lang="en-US" sz="1100"/>
          </a:p>
        </p:txBody>
      </p:sp>
      <p:sp>
        <p:nvSpPr>
          <p:cNvPr id="3" name="AutoShape 3"/>
          <p:cNvSpPr/>
          <p:nvPr/>
        </p:nvSpPr>
        <p:spPr>
          <a:xfrm>
            <a:off x="762000" y="1397000"/>
            <a:ext cx="5080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04800" cy="304800"/>
          </a:xfrm>
          <a:prstGeom prst="rect">
            <a:avLst/>
          </a:prstGeom>
        </p:spPr>
      </p:pic>
      <p:sp>
        <p:nvSpPr>
          <p:cNvPr id="5" name="AutoShape 5"/>
          <p:cNvSpPr/>
          <p:nvPr/>
        </p:nvSpPr>
        <p:spPr>
          <a:xfrm>
            <a:off x="1397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90A4AE"/>
                </a:solidFill>
                <a:latin typeface="Noto Sans SC"/>
                <a:ea typeface="Noto Sans SC"/>
                <a:cs typeface="Noto Sans SC"/>
                <a:sym typeface="Noto Sans SC"/>
              </a:rPr>
              <a:t>优化前产品卖点</a:t>
            </a:r>
            <a:endParaRPr lang="en-US" sz="1100"/>
          </a:p>
        </p:txBody>
      </p:sp>
      <p:sp>
        <p:nvSpPr>
          <p:cNvPr id="6" name="AutoShape 6"/>
          <p:cNvSpPr/>
          <p:nvPr/>
        </p:nvSpPr>
        <p:spPr>
          <a:xfrm>
            <a:off x="1016000" y="2095500"/>
            <a:ext cx="4572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546E7A"/>
                </a:solidFill>
                <a:latin typeface="Noto Sans SC"/>
                <a:ea typeface="Noto Sans SC"/>
                <a:cs typeface="Noto Sans SC"/>
                <a:sym typeface="Noto Sans SC"/>
              </a:rPr>
              <a:t>富含天然保湿因子，深层补水，长效锁水，修护肌肤屏障。</a:t>
            </a:r>
            <a:endParaRPr lang="en-US" sz="1100"/>
          </a:p>
        </p:txBody>
      </p:sp>
      <p:sp>
        <p:nvSpPr>
          <p:cNvPr id="7" name="AutoShape 7"/>
          <p:cNvSpPr/>
          <p:nvPr/>
        </p:nvSpPr>
        <p:spPr>
          <a:xfrm>
            <a:off x="6350000" y="1397000"/>
            <a:ext cx="5080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651000"/>
            <a:ext cx="304800" cy="304800"/>
          </a:xfrm>
          <a:prstGeom prst="rect">
            <a:avLst/>
          </a:prstGeom>
        </p:spPr>
      </p:pic>
      <p:sp>
        <p:nvSpPr>
          <p:cNvPr id="9" name="AutoShape 9"/>
          <p:cNvSpPr/>
          <p:nvPr/>
        </p:nvSpPr>
        <p:spPr>
          <a:xfrm>
            <a:off x="6985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9800"/>
                </a:solidFill>
                <a:latin typeface="Noto Sans SC"/>
                <a:ea typeface="Noto Sans SC"/>
                <a:cs typeface="Noto Sans SC"/>
                <a:sym typeface="Noto Sans SC"/>
              </a:rPr>
              <a:t>优化后产品卖点</a:t>
            </a:r>
            <a:endParaRPr lang="en-US" sz="1100"/>
          </a:p>
        </p:txBody>
      </p:sp>
      <p:sp>
        <p:nvSpPr>
          <p:cNvPr id="10" name="AutoShape 10"/>
          <p:cNvSpPr/>
          <p:nvPr/>
        </p:nvSpPr>
        <p:spPr>
          <a:xfrm>
            <a:off x="6604000" y="2095500"/>
            <a:ext cx="4572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263238"/>
                </a:solidFill>
                <a:latin typeface="Noto Sans SC"/>
                <a:ea typeface="Noto Sans SC"/>
                <a:cs typeface="Noto Sans SC"/>
                <a:sym typeface="Noto Sans SC"/>
              </a:rPr>
              <a:t>这款面霜富含</a:t>
            </a:r>
            <a:r>
              <a:rPr lang="en-US" sz="1600" b="1" i="0" u="none" strike="noStrike">
                <a:solidFill>
                  <a:srgbClr val="0277BD"/>
                </a:solidFill>
                <a:latin typeface="Noto Sans SC"/>
                <a:ea typeface="Noto Sans SC"/>
                <a:cs typeface="Noto Sans SC"/>
                <a:sym typeface="Noto Sans SC"/>
              </a:rPr>
              <a:t>玻尿酸、神经酰胺</a:t>
            </a:r>
            <a:r>
              <a:rPr lang="en-US" sz="1600" b="0" i="0" u="none" strike="noStrike">
                <a:solidFill>
                  <a:srgbClr val="263238"/>
                </a:solidFill>
                <a:latin typeface="Noto Sans SC"/>
                <a:ea typeface="Noto Sans SC"/>
                <a:cs typeface="Noto Sans SC"/>
                <a:sym typeface="Noto Sans SC"/>
              </a:rPr>
              <a:t>等多种天然保湿因子，经第三方机构检测，能够提升肌肤含水量</a:t>
            </a:r>
            <a:r>
              <a:rPr lang="en-US" sz="1600" b="1" i="0" u="none" strike="noStrike">
                <a:solidFill>
                  <a:srgbClr val="FF9800"/>
                </a:solidFill>
                <a:latin typeface="Noto Sans SC"/>
                <a:ea typeface="Noto Sans SC"/>
                <a:cs typeface="Noto Sans SC"/>
                <a:sym typeface="Noto Sans SC"/>
              </a:rPr>
              <a:t>50%以上</a:t>
            </a:r>
            <a:r>
              <a:rPr lang="en-US" sz="1600" b="0" i="0" u="none" strike="noStrike">
                <a:solidFill>
                  <a:srgbClr val="263238"/>
                </a:solidFill>
                <a:latin typeface="Noto Sans SC"/>
                <a:ea typeface="Noto Sans SC"/>
                <a:cs typeface="Noto Sans SC"/>
                <a:sym typeface="Noto Sans SC"/>
              </a:rPr>
              <a:t>，长效锁水达</a:t>
            </a:r>
            <a:r>
              <a:rPr lang="en-US" sz="1600" b="1" i="0" u="none" strike="noStrike">
                <a:solidFill>
                  <a:srgbClr val="FF9800"/>
                </a:solidFill>
                <a:latin typeface="Noto Sans SC"/>
                <a:ea typeface="Noto Sans SC"/>
                <a:cs typeface="Noto Sans SC"/>
                <a:sym typeface="Noto Sans SC"/>
              </a:rPr>
              <a:t>12小时</a:t>
            </a:r>
            <a:r>
              <a:rPr lang="en-US" sz="1600" b="0" i="0" u="none" strike="noStrike">
                <a:solidFill>
                  <a:srgbClr val="263238"/>
                </a:solidFill>
                <a:latin typeface="Noto Sans SC"/>
                <a:ea typeface="Noto Sans SC"/>
                <a:cs typeface="Noto Sans SC"/>
                <a:sym typeface="Noto Sans SC"/>
              </a:rPr>
              <a:t>，有效修护受损的肌肤屏障，增强肌肤抵抗力。</a:t>
            </a:r>
            <a:endParaRPr lang="en-US" sz="1100"/>
          </a:p>
        </p:txBody>
      </p:sp>
      <p:sp>
        <p:nvSpPr>
          <p:cNvPr id="11" name="AutoShape 11"/>
          <p:cNvSpPr/>
          <p:nvPr/>
        </p:nvSpPr>
        <p:spPr>
          <a:xfrm>
            <a:off x="762000" y="4064000"/>
            <a:ext cx="10668000" cy="1778000"/>
          </a:xfrm>
          <a:prstGeom prst="roundRect">
            <a:avLst>
              <a:gd name="adj" fmla="val 7142"/>
            </a:avLst>
          </a:prstGeom>
          <a:solidFill>
            <a:srgbClr val="FFFFFF">
              <a:alpha val="8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318000"/>
            <a:ext cx="406400" cy="406400"/>
          </a:xfrm>
          <a:prstGeom prst="rect">
            <a:avLst/>
          </a:prstGeom>
        </p:spPr>
      </p:pic>
      <p:sp>
        <p:nvSpPr>
          <p:cNvPr id="13" name="AutoShape 13"/>
          <p:cNvSpPr/>
          <p:nvPr/>
        </p:nvSpPr>
        <p:spPr>
          <a:xfrm>
            <a:off x="1524000" y="42926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优化分析</a:t>
            </a:r>
            <a:endParaRPr lang="en-US" sz="1100"/>
          </a:p>
        </p:txBody>
      </p:sp>
      <p:sp>
        <p:nvSpPr>
          <p:cNvPr id="14" name="AutoShape 14"/>
          <p:cNvSpPr/>
          <p:nvPr/>
        </p:nvSpPr>
        <p:spPr>
          <a:xfrm>
            <a:off x="1016000" y="4826000"/>
            <a:ext cx="10160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0" i="0" u="none" strike="noStrike">
                <a:solidFill>
                  <a:srgbClr val="37474F"/>
                </a:solidFill>
                <a:latin typeface="Noto Sans SC"/>
                <a:ea typeface="Noto Sans SC"/>
                <a:cs typeface="Noto Sans SC"/>
                <a:sym typeface="Noto Sans SC"/>
              </a:rPr>
              <a:t>优化后的卖点更加具体、专业，引用了</a:t>
            </a:r>
            <a:r>
              <a:rPr lang="en-US" sz="1600" b="1" i="0" u="none" strike="noStrike">
                <a:solidFill>
                  <a:srgbClr val="0277BD"/>
                </a:solidFill>
                <a:latin typeface="Noto Sans SC"/>
                <a:ea typeface="Noto Sans SC"/>
                <a:cs typeface="Noto Sans SC"/>
                <a:sym typeface="Noto Sans SC"/>
              </a:rPr>
              <a:t>成分</a:t>
            </a:r>
            <a:r>
              <a:rPr lang="en-US" sz="1600" b="0" i="0" u="none" strike="noStrike">
                <a:solidFill>
                  <a:srgbClr val="37474F"/>
                </a:solidFill>
                <a:latin typeface="Noto Sans SC"/>
                <a:ea typeface="Noto Sans SC"/>
                <a:cs typeface="Noto Sans SC"/>
                <a:sym typeface="Noto Sans SC"/>
              </a:rPr>
              <a:t>（玻尿酸、神经酰胺）和</a:t>
            </a:r>
            <a:r>
              <a:rPr lang="en-US" sz="1600" b="1" i="0" u="none" strike="noStrike">
                <a:solidFill>
                  <a:srgbClr val="FF9800"/>
                </a:solidFill>
                <a:latin typeface="Noto Sans SC"/>
                <a:ea typeface="Noto Sans SC"/>
                <a:cs typeface="Noto Sans SC"/>
                <a:sym typeface="Noto Sans SC"/>
              </a:rPr>
              <a:t>数据</a:t>
            </a:r>
            <a:r>
              <a:rPr lang="en-US" sz="1600" b="0" i="0" u="none" strike="noStrike">
                <a:solidFill>
                  <a:srgbClr val="37474F"/>
                </a:solidFill>
                <a:latin typeface="Noto Sans SC"/>
                <a:ea typeface="Noto Sans SC"/>
                <a:cs typeface="Noto Sans SC"/>
                <a:sym typeface="Noto Sans SC"/>
              </a:rPr>
              <a:t>（提升50%含水量、锁水12小时），不仅增强了内容的丰富度，更通过第三方机构背书提升了产品的可信度和说服力。</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53212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12.3.5 项目总结与反思</a:t>
            </a:r>
            <a:endParaRPr lang="en-US" sz="1100"/>
          </a:p>
        </p:txBody>
      </p:sp>
      <p:sp>
        <p:nvSpPr>
          <p:cNvPr id="3" name="AutoShape 3"/>
          <p:cNvSpPr/>
          <p:nvPr/>
        </p:nvSpPr>
        <p:spPr>
          <a:xfrm>
            <a:off x="762000" y="1397000"/>
            <a:ext cx="5080000" cy="3810000"/>
          </a:xfrm>
          <a:prstGeom prst="roundRect">
            <a:avLst>
              <a:gd name="adj" fmla="val 3333"/>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762000" y="1397000"/>
            <a:ext cx="5080000" cy="635000"/>
          </a:xfrm>
          <a:prstGeom prst="roundRect">
            <a:avLst>
              <a:gd name="adj" fmla="val 2000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524000"/>
            <a:ext cx="355600" cy="355600"/>
          </a:xfrm>
          <a:prstGeom prst="rect">
            <a:avLst/>
          </a:prstGeom>
        </p:spPr>
      </p:pic>
      <p:sp>
        <p:nvSpPr>
          <p:cNvPr id="6" name="AutoShape 6"/>
          <p:cNvSpPr/>
          <p:nvPr/>
        </p:nvSpPr>
        <p:spPr>
          <a:xfrm>
            <a:off x="1397000" y="1460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项目成果</a:t>
            </a:r>
            <a:endParaRPr lang="en-US" sz="1100"/>
          </a:p>
        </p:txBody>
      </p:sp>
      <p:sp>
        <p:nvSpPr>
          <p:cNvPr id="7" name="AutoShape 7"/>
          <p:cNvSpPr/>
          <p:nvPr/>
        </p:nvSpPr>
        <p:spPr>
          <a:xfrm>
            <a:off x="952500" y="2159000"/>
            <a:ext cx="4699000" cy="2794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08000"/>
              </a:lnSpc>
              <a:buClr>
                <a:srgbClr val="37474F"/>
              </a:buClr>
              <a:buChar char="•"/>
              <a:defRPr/>
            </a:pPr>
            <a:r>
              <a:rPr lang="en-US" sz="1600" b="0" i="0" u="none" strike="noStrike">
                <a:solidFill>
                  <a:srgbClr val="37474F"/>
                </a:solidFill>
                <a:latin typeface="Noto Sans SC"/>
                <a:ea typeface="Noto Sans SC"/>
                <a:cs typeface="Noto Sans SC"/>
                <a:sym typeface="Noto Sans SC"/>
              </a:rPr>
              <a:t>成功为保湿面霜生成了高质量的整段式、分段式商品介绍台词和互动问答台词。</a:t>
            </a:r>
            <a:endParaRPr lang="en-US" sz="1100"/>
          </a:p>
          <a:p>
            <a:pPr marL="203200" indent="-203200" algn="l">
              <a:lnSpc>
                <a:spcPct val="108000"/>
              </a:lnSpc>
              <a:buClr>
                <a:srgbClr val="37474F"/>
              </a:buClr>
              <a:buChar char="•"/>
            </a:pPr>
            <a:r>
              <a:rPr lang="en-US" sz="1600" b="0" i="0" u="none" strike="noStrike">
                <a:solidFill>
                  <a:srgbClr val="37474F"/>
                </a:solidFill>
                <a:latin typeface="Noto Sans SC"/>
                <a:ea typeface="Noto Sans SC"/>
                <a:cs typeface="Noto Sans SC"/>
                <a:sym typeface="Noto Sans SC"/>
              </a:rPr>
              <a:t>验证了Prompt模板的有效性，并通过实践进行了优化。</a:t>
            </a:r>
            <a:endParaRPr lang="en-US" sz="1600" b="0" i="0" u="none" strike="noStrike">
              <a:solidFill>
                <a:srgbClr val="37474F"/>
              </a:solidFill>
              <a:latin typeface="Noto Sans SC"/>
              <a:ea typeface="Noto Sans SC"/>
              <a:cs typeface="Noto Sans SC"/>
              <a:sym typeface="Noto Sans SC"/>
            </a:endParaRPr>
          </a:p>
          <a:p>
            <a:pPr marL="203200" indent="-203200" algn="l">
              <a:lnSpc>
                <a:spcPct val="108000"/>
              </a:lnSpc>
              <a:buClr>
                <a:srgbClr val="37474F"/>
              </a:buClr>
              <a:buChar char="•"/>
            </a:pPr>
            <a:r>
              <a:rPr lang="en-US" sz="1600" b="0" i="0" u="none" strike="noStrike">
                <a:solidFill>
                  <a:srgbClr val="37474F"/>
                </a:solidFill>
                <a:latin typeface="Noto Sans SC"/>
                <a:ea typeface="Noto Sans SC"/>
                <a:cs typeface="Noto Sans SC"/>
                <a:sym typeface="Noto Sans SC"/>
              </a:rPr>
              <a:t>建立了基于知识库的内容优化方法，提升了台词的专业性和说服力。</a:t>
            </a:r>
            <a:endParaRPr lang="en-US" sz="1600" b="0" i="0" u="none" strike="noStrike">
              <a:solidFill>
                <a:srgbClr val="37474F"/>
              </a:solidFill>
              <a:latin typeface="Noto Sans SC"/>
              <a:ea typeface="Noto Sans SC"/>
              <a:cs typeface="Noto Sans SC"/>
              <a:sym typeface="Noto Sans SC"/>
            </a:endParaRPr>
          </a:p>
        </p:txBody>
      </p:sp>
      <p:sp>
        <p:nvSpPr>
          <p:cNvPr id="8" name="AutoShape 8"/>
          <p:cNvSpPr/>
          <p:nvPr/>
        </p:nvSpPr>
        <p:spPr>
          <a:xfrm>
            <a:off x="6350000" y="1397000"/>
            <a:ext cx="5080000" cy="3810000"/>
          </a:xfrm>
          <a:prstGeom prst="roundRect">
            <a:avLst>
              <a:gd name="adj" fmla="val 3333"/>
            </a:avLst>
          </a:prstGeom>
          <a:solidFill>
            <a:srgbClr val="FFFFFF">
              <a:alpha val="100000"/>
            </a:srgbClr>
          </a:solidFill>
          <a:ln w="25400" cap="flat" cmpd="sng">
            <a:noFill/>
            <a:prstDash val="solid"/>
            <a:round/>
          </a:ln>
          <a:effectLst>
            <a:outerShdw blurRad="127000" dist="50800" dir="2700000" algn="tl" rotWithShape="0">
              <a:srgbClr val="FF9800">
                <a:alpha val="10000"/>
              </a:srgbClr>
            </a:outerShdw>
          </a:effectLst>
        </p:spPr>
        <p:txBody>
          <a:bodyPr vert="horz" wrap="square" lIns="63500" tIns="63500" rIns="63500" bIns="63500" rtlCol="0" anchor="ctr"/>
          <a:lstStyle/>
          <a:p>
            <a:pPr algn="ctr">
              <a:defRPr/>
            </a:pPr>
          </a:p>
        </p:txBody>
      </p:sp>
      <p:sp>
        <p:nvSpPr>
          <p:cNvPr id="9" name="AutoShape 9"/>
          <p:cNvSpPr/>
          <p:nvPr/>
        </p:nvSpPr>
        <p:spPr>
          <a:xfrm>
            <a:off x="6350000" y="1397000"/>
            <a:ext cx="5080000" cy="635000"/>
          </a:xfrm>
          <a:prstGeom prst="roundRect">
            <a:avLst>
              <a:gd name="adj" fmla="val 20000"/>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524000"/>
            <a:ext cx="355600" cy="355600"/>
          </a:xfrm>
          <a:prstGeom prst="rect">
            <a:avLst/>
          </a:prstGeom>
        </p:spPr>
      </p:pic>
      <p:sp>
        <p:nvSpPr>
          <p:cNvPr id="11" name="AutoShape 11"/>
          <p:cNvSpPr/>
          <p:nvPr/>
        </p:nvSpPr>
        <p:spPr>
          <a:xfrm>
            <a:off x="6985000" y="1460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经验教训</a:t>
            </a:r>
            <a:endParaRPr lang="en-US" sz="1100"/>
          </a:p>
        </p:txBody>
      </p:sp>
      <p:sp>
        <p:nvSpPr>
          <p:cNvPr id="12" name="AutoShape 12"/>
          <p:cNvSpPr/>
          <p:nvPr/>
        </p:nvSpPr>
        <p:spPr>
          <a:xfrm>
            <a:off x="6540500" y="2159000"/>
            <a:ext cx="4699000" cy="2794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08000"/>
              </a:lnSpc>
              <a:buClr>
                <a:srgbClr val="37474F"/>
              </a:buClr>
              <a:buChar char="•"/>
              <a:defRPr/>
            </a:pPr>
            <a:r>
              <a:rPr lang="en-US" sz="1600" b="0" i="0" u="none" strike="noStrike">
                <a:solidFill>
                  <a:srgbClr val="37474F"/>
                </a:solidFill>
                <a:latin typeface="Noto Sans SC"/>
                <a:ea typeface="Noto Sans SC"/>
                <a:cs typeface="Noto Sans SC"/>
                <a:sym typeface="Noto Sans SC"/>
              </a:rPr>
              <a:t>充分的信息收集是生成高质量内容的基础。</a:t>
            </a:r>
            <a:endParaRPr lang="en-US" sz="1100"/>
          </a:p>
          <a:p>
            <a:pPr marL="203200" indent="-203200" algn="l">
              <a:lnSpc>
                <a:spcPct val="108000"/>
              </a:lnSpc>
              <a:buClr>
                <a:srgbClr val="37474F"/>
              </a:buClr>
              <a:buChar char="•"/>
            </a:pPr>
            <a:r>
              <a:rPr lang="en-US" sz="1600" b="0" i="0" u="none" strike="noStrike">
                <a:solidFill>
                  <a:srgbClr val="37474F"/>
                </a:solidFill>
                <a:latin typeface="Noto Sans SC"/>
                <a:ea typeface="Noto Sans SC"/>
                <a:cs typeface="Noto Sans SC"/>
                <a:sym typeface="Noto Sans SC"/>
              </a:rPr>
              <a:t>不同的模板适用于不同的场景，应根据实际需求选择合适的模板。</a:t>
            </a:r>
            <a:endParaRPr lang="en-US" sz="1600" b="0" i="0" u="none" strike="noStrike">
              <a:solidFill>
                <a:srgbClr val="37474F"/>
              </a:solidFill>
              <a:latin typeface="Noto Sans SC"/>
              <a:ea typeface="Noto Sans SC"/>
              <a:cs typeface="Noto Sans SC"/>
              <a:sym typeface="Noto Sans SC"/>
            </a:endParaRPr>
          </a:p>
          <a:p>
            <a:pPr marL="203200" indent="-203200" algn="l">
              <a:lnSpc>
                <a:spcPct val="108000"/>
              </a:lnSpc>
              <a:buClr>
                <a:srgbClr val="37474F"/>
              </a:buClr>
              <a:buChar char="•"/>
            </a:pPr>
            <a:r>
              <a:rPr lang="en-US" sz="1600" b="0" i="0" u="none" strike="noStrike">
                <a:solidFill>
                  <a:srgbClr val="37474F"/>
                </a:solidFill>
                <a:latin typeface="Noto Sans SC"/>
                <a:ea typeface="Noto Sans SC"/>
                <a:cs typeface="Noto Sans SC"/>
                <a:sym typeface="Noto Sans SC"/>
              </a:rPr>
              <a:t>持续优化Prompt和知识库是提升内容质量的关键。</a:t>
            </a:r>
            <a:endParaRPr lang="en-US" sz="1600" b="0" i="0" u="none" strike="noStrike">
              <a:solidFill>
                <a:srgbClr val="37474F"/>
              </a:solidFill>
              <a:latin typeface="Noto Sans SC"/>
              <a:ea typeface="Noto Sans SC"/>
              <a:cs typeface="Noto Sans SC"/>
              <a:sym typeface="Noto Sans SC"/>
            </a:endParaRPr>
          </a:p>
        </p:txBody>
      </p:sp>
      <p:sp>
        <p:nvSpPr>
          <p:cNvPr id="13" name="AutoShape 13"/>
          <p:cNvSpPr/>
          <p:nvPr/>
        </p:nvSpPr>
        <p:spPr>
          <a:xfrm>
            <a:off x="762000" y="5588000"/>
            <a:ext cx="10668000" cy="508000"/>
          </a:xfrm>
          <a:prstGeom prst="roundRect">
            <a:avLst>
              <a:gd name="adj" fmla="val 0"/>
            </a:avLst>
          </a:prstGeom>
          <a:solidFill>
            <a:srgbClr val="90A4AE">
              <a:alpha val="2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5689600"/>
            <a:ext cx="304800" cy="304800"/>
          </a:xfrm>
          <a:prstGeom prst="rect">
            <a:avLst/>
          </a:prstGeom>
        </p:spPr>
      </p:pic>
      <p:sp>
        <p:nvSpPr>
          <p:cNvPr id="15" name="AutoShape 15"/>
          <p:cNvSpPr/>
          <p:nvPr/>
        </p:nvSpPr>
        <p:spPr>
          <a:xfrm>
            <a:off x="1397000" y="5651500"/>
            <a:ext cx="990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1" u="none" strike="noStrike">
                <a:solidFill>
                  <a:srgbClr val="546E7A"/>
                </a:solidFill>
                <a:latin typeface="Noto Sans SC"/>
                <a:ea typeface="Noto Sans SC"/>
                <a:cs typeface="Noto Sans SC"/>
                <a:sym typeface="Noto Sans SC"/>
              </a:rPr>
              <a:t>总结：通过本次实战，我们不仅产出了高质量的内容成果，更建立了一套可复用的方法论，为未来的AI内容创作奠定了坚实基础。</a:t>
            </a:r>
            <a:endParaRPr lang="en-US" sz="11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022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课程总结（一）</a:t>
            </a:r>
            <a:endParaRPr lang="en-US" sz="1100"/>
          </a:p>
        </p:txBody>
      </p:sp>
      <p:sp>
        <p:nvSpPr>
          <p:cNvPr id="3" name="AutoShape 3"/>
          <p:cNvSpPr/>
          <p:nvPr/>
        </p:nvSpPr>
        <p:spPr>
          <a:xfrm>
            <a:off x="762000" y="1524000"/>
            <a:ext cx="3302000" cy="3556000"/>
          </a:xfrm>
          <a:prstGeom prst="roundRect">
            <a:avLst>
              <a:gd name="adj" fmla="val 3846"/>
            </a:avLst>
          </a:prstGeom>
          <a:solidFill>
            <a:srgbClr val="FFFFFF">
              <a:alpha val="100000"/>
            </a:srgbClr>
          </a:solidFill>
          <a:ln w="25400" cap="flat" cmpd="sng">
            <a:noFill/>
            <a:prstDash val="solid"/>
            <a:round/>
          </a:ln>
          <a:effectLst>
            <a:outerShdw blurRad="190500" dist="1016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968500" y="1778000"/>
            <a:ext cx="889000" cy="889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3600" y="1943100"/>
            <a:ext cx="558800" cy="558800"/>
          </a:xfrm>
          <a:prstGeom prst="rect">
            <a:avLst/>
          </a:prstGeom>
        </p:spPr>
      </p:pic>
      <p:sp>
        <p:nvSpPr>
          <p:cNvPr id="6" name="AutoShape 6"/>
          <p:cNvSpPr/>
          <p:nvPr/>
        </p:nvSpPr>
        <p:spPr>
          <a:xfrm>
            <a:off x="889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数字人口播台词特点</a:t>
            </a:r>
            <a:endParaRPr lang="en-US" sz="1100"/>
          </a:p>
        </p:txBody>
      </p:sp>
      <p:sp>
        <p:nvSpPr>
          <p:cNvPr id="7" name="AutoShape 7"/>
          <p:cNvSpPr/>
          <p:nvPr/>
        </p:nvSpPr>
        <p:spPr>
          <a:xfrm>
            <a:off x="952500" y="3302000"/>
            <a:ext cx="2921000" cy="1397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90A4AE"/>
                </a:solidFill>
                <a:latin typeface="Noto Sans SC"/>
                <a:ea typeface="Noto Sans SC"/>
                <a:cs typeface="Noto Sans SC"/>
                <a:sym typeface="Noto Sans SC"/>
              </a:rPr>
              <a:t>理解公域与私域流量的差异，掌握不同模式下台词的核心特点与针对性策略。</a:t>
            </a:r>
            <a:endParaRPr lang="en-US" sz="1100"/>
          </a:p>
        </p:txBody>
      </p:sp>
      <p:sp>
        <p:nvSpPr>
          <p:cNvPr id="8" name="AutoShape 8"/>
          <p:cNvSpPr/>
          <p:nvPr/>
        </p:nvSpPr>
        <p:spPr>
          <a:xfrm>
            <a:off x="4445000" y="1524000"/>
            <a:ext cx="3302000" cy="3556000"/>
          </a:xfrm>
          <a:prstGeom prst="roundRect">
            <a:avLst>
              <a:gd name="adj" fmla="val 3846"/>
            </a:avLst>
          </a:prstGeom>
          <a:solidFill>
            <a:srgbClr val="FFFFFF">
              <a:alpha val="100000"/>
            </a:srgbClr>
          </a:solidFill>
          <a:ln w="25400" cap="flat" cmpd="sng">
            <a:noFill/>
            <a:prstDash val="solid"/>
            <a:round/>
          </a:ln>
          <a:effectLst>
            <a:outerShdw blurRad="190500" dist="101600" dir="5400000" algn="tl" rotWithShape="0">
              <a:srgbClr val="0277BD">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5651500" y="1778000"/>
            <a:ext cx="889000" cy="889000"/>
          </a:xfrm>
          <a:prstGeom prst="ellipse">
            <a:avLst/>
          </a:prstGeom>
          <a:solidFill>
            <a:srgbClr val="FF9800">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16600" y="1943100"/>
            <a:ext cx="558800" cy="558800"/>
          </a:xfrm>
          <a:prstGeom prst="rect">
            <a:avLst/>
          </a:prstGeom>
        </p:spPr>
      </p:pic>
      <p:sp>
        <p:nvSpPr>
          <p:cNvPr id="11" name="AutoShape 11"/>
          <p:cNvSpPr/>
          <p:nvPr/>
        </p:nvSpPr>
        <p:spPr>
          <a:xfrm>
            <a:off x="4572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台词编排方式</a:t>
            </a:r>
            <a:endParaRPr lang="en-US" sz="1100"/>
          </a:p>
        </p:txBody>
      </p:sp>
      <p:sp>
        <p:nvSpPr>
          <p:cNvPr id="12" name="AutoShape 12"/>
          <p:cNvSpPr/>
          <p:nvPr/>
        </p:nvSpPr>
        <p:spPr>
          <a:xfrm>
            <a:off x="4635500" y="3302000"/>
            <a:ext cx="2921000" cy="1397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90A4AE"/>
                </a:solidFill>
                <a:latin typeface="Noto Sans SC"/>
                <a:ea typeface="Noto Sans SC"/>
                <a:cs typeface="Noto Sans SC"/>
                <a:sym typeface="Noto Sans SC"/>
              </a:rPr>
              <a:t>掌握从整段式到分段式的演变逻辑，熟练运用分段式撰写框架提升直播效率。</a:t>
            </a:r>
            <a:endParaRPr lang="en-US" sz="1100"/>
          </a:p>
        </p:txBody>
      </p:sp>
      <p:sp>
        <p:nvSpPr>
          <p:cNvPr id="13" name="AutoShape 13"/>
          <p:cNvSpPr/>
          <p:nvPr/>
        </p:nvSpPr>
        <p:spPr>
          <a:xfrm>
            <a:off x="8128000" y="1524000"/>
            <a:ext cx="3302000" cy="3556000"/>
          </a:xfrm>
          <a:prstGeom prst="roundRect">
            <a:avLst>
              <a:gd name="adj" fmla="val 3846"/>
            </a:avLst>
          </a:prstGeom>
          <a:solidFill>
            <a:srgbClr val="FFFFFF">
              <a:alpha val="100000"/>
            </a:srgbClr>
          </a:solidFill>
          <a:ln w="25400" cap="flat" cmpd="sng">
            <a:noFill/>
            <a:prstDash val="solid"/>
            <a:round/>
          </a:ln>
          <a:effectLst>
            <a:outerShdw blurRad="190500" dist="101600" dir="5400000" algn="tl" rotWithShape="0">
              <a:srgbClr val="0277BD">
                <a:alpha val="15000"/>
              </a:srgbClr>
            </a:outerShdw>
          </a:effectLst>
        </p:spPr>
        <p:txBody>
          <a:bodyPr vert="horz" wrap="square" lIns="63500" tIns="63500" rIns="63500" bIns="63500" rtlCol="0" anchor="ctr"/>
          <a:lstStyle/>
          <a:p>
            <a:pPr algn="ctr">
              <a:defRPr/>
            </a:pPr>
          </a:p>
        </p:txBody>
      </p:sp>
      <p:sp>
        <p:nvSpPr>
          <p:cNvPr id="14" name="AutoShape 14"/>
          <p:cNvSpPr/>
          <p:nvPr/>
        </p:nvSpPr>
        <p:spPr>
          <a:xfrm>
            <a:off x="9334500" y="1778000"/>
            <a:ext cx="889000" cy="889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99600" y="1943100"/>
            <a:ext cx="558800" cy="558800"/>
          </a:xfrm>
          <a:prstGeom prst="rect">
            <a:avLst/>
          </a:prstGeom>
        </p:spPr>
      </p:pic>
      <p:sp>
        <p:nvSpPr>
          <p:cNvPr id="16" name="AutoShape 16"/>
          <p:cNvSpPr/>
          <p:nvPr/>
        </p:nvSpPr>
        <p:spPr>
          <a:xfrm>
            <a:off x="8255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防封策略</a:t>
            </a:r>
            <a:endParaRPr lang="en-US" sz="1100"/>
          </a:p>
        </p:txBody>
      </p:sp>
      <p:sp>
        <p:nvSpPr>
          <p:cNvPr id="17" name="AutoShape 17"/>
          <p:cNvSpPr/>
          <p:nvPr/>
        </p:nvSpPr>
        <p:spPr>
          <a:xfrm>
            <a:off x="8318500" y="3302000"/>
            <a:ext cx="2921000" cy="1397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90A4AE"/>
                </a:solidFill>
                <a:latin typeface="Noto Sans SC"/>
                <a:ea typeface="Noto Sans SC"/>
                <a:cs typeface="Noto Sans SC"/>
                <a:sym typeface="Noto Sans SC"/>
              </a:rPr>
              <a:t>了解各大平台监管态度，掌握内容合规要点及敏感词治理的关键方法。</a:t>
            </a:r>
            <a:endParaRPr lang="en-US" sz="1100"/>
          </a:p>
        </p:txBody>
      </p:sp>
      <p:sp>
        <p:nvSpPr>
          <p:cNvPr id="18" name="AutoShape 18"/>
          <p:cNvSpPr/>
          <p:nvPr/>
        </p:nvSpPr>
        <p:spPr>
          <a:xfrm>
            <a:off x="762000" y="5715000"/>
            <a:ext cx="10668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5969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90A4AE"/>
                </a:solidFill>
                <a:latin typeface="Noto Sans SC"/>
                <a:ea typeface="Noto Sans SC"/>
                <a:cs typeface="Noto Sans SC"/>
                <a:sym typeface="Noto Sans SC"/>
              </a:rPr>
              <a:t>夯实基础，合规先行，构建高效数字人直播体系</a:t>
            </a:r>
            <a:endParaRPr lang="en-US" sz="11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022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课程总结（二）</a:t>
            </a:r>
            <a:endParaRPr lang="en-US" sz="1100"/>
          </a:p>
        </p:txBody>
      </p:sp>
      <p:sp>
        <p:nvSpPr>
          <p:cNvPr id="3" name="AutoShape 3"/>
          <p:cNvSpPr/>
          <p:nvPr/>
        </p:nvSpPr>
        <p:spPr>
          <a:xfrm>
            <a:off x="762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2095500" y="1905000"/>
            <a:ext cx="635000" cy="635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97100" y="2006600"/>
            <a:ext cx="431800" cy="431800"/>
          </a:xfrm>
          <a:prstGeom prst="rect">
            <a:avLst/>
          </a:prstGeom>
        </p:spPr>
      </p:pic>
      <p:sp>
        <p:nvSpPr>
          <p:cNvPr id="6" name="AutoShape 6"/>
          <p:cNvSpPr/>
          <p:nvPr/>
        </p:nvSpPr>
        <p:spPr>
          <a:xfrm>
            <a:off x="889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整段式Prompt模板</a:t>
            </a:r>
            <a:endParaRPr lang="en-US" sz="1100"/>
          </a:p>
        </p:txBody>
      </p:sp>
      <p:sp>
        <p:nvSpPr>
          <p:cNvPr id="7" name="AutoShape 7"/>
          <p:cNvSpPr/>
          <p:nvPr/>
        </p:nvSpPr>
        <p:spPr>
          <a:xfrm>
            <a:off x="952500" y="3175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90A4AE"/>
                </a:solidFill>
                <a:latin typeface="Noto Sans SC"/>
                <a:ea typeface="Noto Sans SC"/>
                <a:cs typeface="Noto Sans SC"/>
                <a:sym typeface="Noto Sans SC"/>
              </a:rPr>
              <a:t>适用于快速批量生成商品介绍台词，操作简单高效，能够快速产出完整文案。</a:t>
            </a:r>
            <a:endParaRPr lang="en-US" sz="1100"/>
          </a:p>
        </p:txBody>
      </p:sp>
      <p:sp>
        <p:nvSpPr>
          <p:cNvPr id="8" name="AutoShape 8"/>
          <p:cNvSpPr/>
          <p:nvPr/>
        </p:nvSpPr>
        <p:spPr>
          <a:xfrm>
            <a:off x="4445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5778500" y="1905000"/>
            <a:ext cx="635000" cy="635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80100" y="2006600"/>
            <a:ext cx="431800" cy="431800"/>
          </a:xfrm>
          <a:prstGeom prst="rect">
            <a:avLst/>
          </a:prstGeom>
        </p:spPr>
      </p:pic>
      <p:sp>
        <p:nvSpPr>
          <p:cNvPr id="11" name="AutoShape 11"/>
          <p:cNvSpPr/>
          <p:nvPr/>
        </p:nvSpPr>
        <p:spPr>
          <a:xfrm>
            <a:off x="4572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分段式Prompt模板</a:t>
            </a:r>
            <a:endParaRPr lang="en-US" sz="1100"/>
          </a:p>
        </p:txBody>
      </p:sp>
      <p:sp>
        <p:nvSpPr>
          <p:cNvPr id="12" name="AutoShape 12"/>
          <p:cNvSpPr/>
          <p:nvPr/>
        </p:nvSpPr>
        <p:spPr>
          <a:xfrm>
            <a:off x="4635500" y="3175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90A4AE"/>
                </a:solidFill>
                <a:latin typeface="Noto Sans SC"/>
                <a:ea typeface="Noto Sans SC"/>
                <a:cs typeface="Noto Sans SC"/>
                <a:sym typeface="Noto Sans SC"/>
              </a:rPr>
              <a:t>适用于精细化运营，生成结构清晰、逻辑连贯的分段台词，提升内容层次感。</a:t>
            </a:r>
            <a:endParaRPr lang="en-US" sz="1100"/>
          </a:p>
        </p:txBody>
      </p:sp>
      <p:sp>
        <p:nvSpPr>
          <p:cNvPr id="13" name="AutoShape 13"/>
          <p:cNvSpPr/>
          <p:nvPr/>
        </p:nvSpPr>
        <p:spPr>
          <a:xfrm>
            <a:off x="8128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14" name="AutoShape 14"/>
          <p:cNvSpPr/>
          <p:nvPr/>
        </p:nvSpPr>
        <p:spPr>
          <a:xfrm>
            <a:off x="9461500" y="1905000"/>
            <a:ext cx="635000" cy="635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63100" y="2006600"/>
            <a:ext cx="431800" cy="431800"/>
          </a:xfrm>
          <a:prstGeom prst="rect">
            <a:avLst/>
          </a:prstGeom>
        </p:spPr>
      </p:pic>
      <p:sp>
        <p:nvSpPr>
          <p:cNvPr id="16" name="AutoShape 16"/>
          <p:cNvSpPr/>
          <p:nvPr/>
        </p:nvSpPr>
        <p:spPr>
          <a:xfrm>
            <a:off x="8255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互动问答Prompt模板</a:t>
            </a:r>
            <a:endParaRPr lang="en-US" sz="1100"/>
          </a:p>
        </p:txBody>
      </p:sp>
      <p:sp>
        <p:nvSpPr>
          <p:cNvPr id="17" name="AutoShape 17"/>
          <p:cNvSpPr/>
          <p:nvPr/>
        </p:nvSpPr>
        <p:spPr>
          <a:xfrm>
            <a:off x="8318500" y="3175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90A4AE"/>
                </a:solidFill>
                <a:latin typeface="Noto Sans SC"/>
                <a:ea typeface="Noto Sans SC"/>
                <a:cs typeface="Noto Sans SC"/>
                <a:sym typeface="Noto Sans SC"/>
              </a:rPr>
              <a:t>用于生成自然、专业的互动内容，模拟真实对话场景，有效提升用户体验。</a:t>
            </a:r>
            <a:endParaRPr lang="en-US" sz="1100"/>
          </a:p>
        </p:txBody>
      </p:sp>
      <p:sp>
        <p:nvSpPr>
          <p:cNvPr id="18" name="AutoShape 18"/>
          <p:cNvSpPr/>
          <p:nvPr/>
        </p:nvSpPr>
        <p:spPr>
          <a:xfrm>
            <a:off x="762000" y="5080000"/>
            <a:ext cx="10668000" cy="762000"/>
          </a:xfrm>
          <a:prstGeom prst="roundRect">
            <a:avLst>
              <a:gd name="adj" fmla="val 16666"/>
            </a:avLst>
          </a:prstGeom>
          <a:solidFill>
            <a:srgbClr val="FF9800">
              <a:alpha val="10000"/>
            </a:srgbClr>
          </a:solidFill>
          <a:ln w="12700" cap="flat" cmpd="sng">
            <a:solidFill>
              <a:srgbClr val="FF9800">
                <a:alpha val="10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245100"/>
            <a:ext cx="431800" cy="431800"/>
          </a:xfrm>
          <a:prstGeom prst="rect">
            <a:avLst/>
          </a:prstGeom>
        </p:spPr>
      </p:pic>
      <p:sp>
        <p:nvSpPr>
          <p:cNvPr id="20" name="AutoShape 20"/>
          <p:cNvSpPr/>
          <p:nvPr/>
        </p:nvSpPr>
        <p:spPr>
          <a:xfrm>
            <a:off x="1524000" y="5207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65100"/>
                </a:solidFill>
                <a:latin typeface="Noto Sans SC"/>
                <a:ea typeface="Noto Sans SC"/>
                <a:cs typeface="Noto Sans SC"/>
                <a:sym typeface="Noto Sans SC"/>
              </a:rPr>
              <a:t>核心价值：掌握这三种模板，是高效生成数字人口播台词的关键，能显著提升内容生产效率与质量。</a:t>
            </a:r>
            <a:endParaRPr lang="en-US" sz="11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0226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课程总结（三）</a:t>
            </a:r>
            <a:endParaRPr lang="en-US" sz="1100"/>
          </a:p>
        </p:txBody>
      </p:sp>
      <p:sp>
        <p:nvSpPr>
          <p:cNvPr id="3" name="AutoShape 3"/>
          <p:cNvSpPr/>
          <p:nvPr/>
        </p:nvSpPr>
        <p:spPr>
          <a:xfrm>
            <a:off x="762000" y="1143000"/>
            <a:ext cx="762000" cy="50800"/>
          </a:xfrm>
          <a:prstGeom prst="roundRect">
            <a:avLst>
              <a:gd name="adj" fmla="val 0"/>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3302000" cy="3302000"/>
          </a:xfrm>
          <a:prstGeom prst="roundRect">
            <a:avLst>
              <a:gd name="adj" fmla="val 3846"/>
            </a:avLst>
          </a:prstGeom>
          <a:solidFill>
            <a:srgbClr val="FFFFFF">
              <a:alpha val="100000"/>
            </a:srgbClr>
          </a:solidFill>
          <a:ln w="25400" cap="flat" cmpd="sng">
            <a:noFill/>
            <a:prstDash val="solid"/>
            <a:round/>
          </a:ln>
          <a:effectLst>
            <a:outerShdw blurRad="190500" dist="1016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32000" y="1905000"/>
            <a:ext cx="762000" cy="762000"/>
          </a:xfrm>
          <a:prstGeom prst="rect">
            <a:avLst/>
          </a:prstGeom>
        </p:spPr>
      </p:pic>
      <p:sp>
        <p:nvSpPr>
          <p:cNvPr id="6" name="AutoShape 6"/>
          <p:cNvSpPr/>
          <p:nvPr/>
        </p:nvSpPr>
        <p:spPr>
          <a:xfrm>
            <a:off x="889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项目流程</a:t>
            </a:r>
            <a:endParaRPr lang="en-US" sz="1100"/>
          </a:p>
        </p:txBody>
      </p:sp>
      <p:sp>
        <p:nvSpPr>
          <p:cNvPr id="7" name="AutoShape 7"/>
          <p:cNvSpPr/>
          <p:nvPr/>
        </p:nvSpPr>
        <p:spPr>
          <a:xfrm>
            <a:off x="952500" y="32385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90A4AE"/>
                </a:solidFill>
                <a:latin typeface="Noto Sans SC"/>
                <a:ea typeface="Noto Sans SC"/>
                <a:cs typeface="Noto Sans SC"/>
                <a:sym typeface="Noto Sans SC"/>
              </a:rPr>
              <a:t>掌握数字人口播台词生成项目的完整流程，涵盖背景分析、信息收集、模板选择、内容生成及优化总结。</a:t>
            </a:r>
            <a:endParaRPr lang="en-US" sz="1100"/>
          </a:p>
        </p:txBody>
      </p:sp>
      <p:sp>
        <p:nvSpPr>
          <p:cNvPr id="8" name="AutoShape 8"/>
          <p:cNvSpPr/>
          <p:nvPr/>
        </p:nvSpPr>
        <p:spPr>
          <a:xfrm>
            <a:off x="4445000" y="1651000"/>
            <a:ext cx="3302000" cy="3302000"/>
          </a:xfrm>
          <a:prstGeom prst="roundRect">
            <a:avLst>
              <a:gd name="adj" fmla="val 3846"/>
            </a:avLst>
          </a:prstGeom>
          <a:solidFill>
            <a:srgbClr val="FFFFFF">
              <a:alpha val="100000"/>
            </a:srgbClr>
          </a:solidFill>
          <a:ln w="25400" cap="flat" cmpd="sng">
            <a:noFill/>
            <a:prstDash val="solid"/>
            <a:round/>
          </a:ln>
          <a:effectLst>
            <a:outerShdw blurRad="190500" dist="101600" dir="54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5000" y="1905000"/>
            <a:ext cx="762000" cy="762000"/>
          </a:xfrm>
          <a:prstGeom prst="rect">
            <a:avLst/>
          </a:prstGeom>
        </p:spPr>
      </p:pic>
      <p:sp>
        <p:nvSpPr>
          <p:cNvPr id="10" name="AutoShape 10"/>
          <p:cNvSpPr/>
          <p:nvPr/>
        </p:nvSpPr>
        <p:spPr>
          <a:xfrm>
            <a:off x="4572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实践应用</a:t>
            </a:r>
            <a:endParaRPr lang="en-US" sz="1100"/>
          </a:p>
        </p:txBody>
      </p:sp>
      <p:sp>
        <p:nvSpPr>
          <p:cNvPr id="11" name="AutoShape 11"/>
          <p:cNvSpPr/>
          <p:nvPr/>
        </p:nvSpPr>
        <p:spPr>
          <a:xfrm>
            <a:off x="4635500" y="32385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90A4AE"/>
                </a:solidFill>
                <a:latin typeface="Noto Sans SC"/>
                <a:ea typeface="Noto Sans SC"/>
                <a:cs typeface="Noto Sans SC"/>
                <a:sym typeface="Noto Sans SC"/>
              </a:rPr>
              <a:t>通过实战案例演练，将理论知识转化为实际操作技能，有效验证了方法的可行性与有效性。</a:t>
            </a:r>
            <a:endParaRPr lang="en-US" sz="1100"/>
          </a:p>
        </p:txBody>
      </p:sp>
      <p:sp>
        <p:nvSpPr>
          <p:cNvPr id="12" name="AutoShape 12"/>
          <p:cNvSpPr/>
          <p:nvPr/>
        </p:nvSpPr>
        <p:spPr>
          <a:xfrm>
            <a:off x="8128000" y="1651000"/>
            <a:ext cx="3302000" cy="3302000"/>
          </a:xfrm>
          <a:prstGeom prst="roundRect">
            <a:avLst>
              <a:gd name="adj" fmla="val 3846"/>
            </a:avLst>
          </a:prstGeom>
          <a:solidFill>
            <a:srgbClr val="FFFFFF">
              <a:alpha val="100000"/>
            </a:srgbClr>
          </a:solidFill>
          <a:ln w="25400" cap="flat" cmpd="sng">
            <a:noFill/>
            <a:prstDash val="solid"/>
            <a:round/>
          </a:ln>
          <a:effectLst>
            <a:outerShdw blurRad="190500" dist="101600" dir="5400000" algn="tl" rotWithShape="0">
              <a:srgbClr val="0277BD">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98000" y="1905000"/>
            <a:ext cx="762000" cy="762000"/>
          </a:xfrm>
          <a:prstGeom prst="rect">
            <a:avLst/>
          </a:prstGeom>
        </p:spPr>
      </p:pic>
      <p:sp>
        <p:nvSpPr>
          <p:cNvPr id="14" name="AutoShape 14"/>
          <p:cNvSpPr/>
          <p:nvPr/>
        </p:nvSpPr>
        <p:spPr>
          <a:xfrm>
            <a:off x="8255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持续优化</a:t>
            </a:r>
            <a:endParaRPr lang="en-US" sz="1100"/>
          </a:p>
        </p:txBody>
      </p:sp>
      <p:sp>
        <p:nvSpPr>
          <p:cNvPr id="15" name="AutoShape 15"/>
          <p:cNvSpPr/>
          <p:nvPr/>
        </p:nvSpPr>
        <p:spPr>
          <a:xfrm>
            <a:off x="8318500" y="32385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90A4AE"/>
                </a:solidFill>
                <a:latin typeface="Noto Sans SC"/>
                <a:ea typeface="Noto Sans SC"/>
                <a:cs typeface="Noto Sans SC"/>
                <a:sym typeface="Noto Sans SC"/>
              </a:rPr>
              <a:t>深入了解基于知识库的优化策略，认识到持续学习与迭代优化是提升运营效果的关键。</a:t>
            </a:r>
            <a:endParaRPr lang="en-US" sz="1100"/>
          </a:p>
        </p:txBody>
      </p:sp>
      <p:sp>
        <p:nvSpPr>
          <p:cNvPr id="16" name="AutoShape 16"/>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总结：</a:t>
            </a:r>
            <a:r>
              <a:rPr lang="en-US" sz="1600" b="0" i="0" u="none" strike="noStrike">
                <a:solidFill>
                  <a:srgbClr val="0277BD"/>
                </a:solidFill>
                <a:latin typeface="Noto Sans SC"/>
                <a:ea typeface="Noto Sans SC"/>
                <a:cs typeface="Noto Sans SC"/>
                <a:sym typeface="Noto Sans SC"/>
              </a:rPr>
              <a:t>理论与实践结合，构建完整的数字人直播内容生产闭环，实现持续增长。</a:t>
            </a:r>
            <a:endParaRPr lang="en-US" sz="11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01752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关键术语回顾</a:t>
            </a:r>
            <a:endParaRPr lang="en-US" sz="1100"/>
          </a:p>
        </p:txBody>
      </p:sp>
      <p:sp>
        <p:nvSpPr>
          <p:cNvPr id="3" name="AutoShape 3"/>
          <p:cNvSpPr/>
          <p:nvPr/>
        </p:nvSpPr>
        <p:spPr>
          <a:xfrm>
            <a:off x="762000" y="1397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587500"/>
            <a:ext cx="355600" cy="355600"/>
          </a:xfrm>
          <a:prstGeom prst="rect">
            <a:avLst/>
          </a:prstGeom>
        </p:spPr>
      </p:pic>
      <p:sp>
        <p:nvSpPr>
          <p:cNvPr id="5" name="AutoShape 5"/>
          <p:cNvSpPr/>
          <p:nvPr/>
        </p:nvSpPr>
        <p:spPr>
          <a:xfrm>
            <a:off x="1397000" y="1549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公域流量</a:t>
            </a:r>
            <a:endParaRPr lang="en-US" sz="1100"/>
          </a:p>
        </p:txBody>
      </p:sp>
      <p:sp>
        <p:nvSpPr>
          <p:cNvPr id="6" name="AutoShape 6"/>
          <p:cNvSpPr/>
          <p:nvPr/>
        </p:nvSpPr>
        <p:spPr>
          <a:xfrm>
            <a:off x="952500" y="2032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90A4AE"/>
                </a:solidFill>
                <a:latin typeface="Noto Sans SC"/>
                <a:ea typeface="Noto Sans SC"/>
                <a:cs typeface="Noto Sans SC"/>
                <a:sym typeface="Noto Sans SC"/>
              </a:rPr>
              <a:t>指在公开平台进行营销活动所获取的流量，覆盖面广但用户粘性低。</a:t>
            </a:r>
            <a:endParaRPr lang="en-US" sz="1100"/>
          </a:p>
        </p:txBody>
      </p:sp>
      <p:sp>
        <p:nvSpPr>
          <p:cNvPr id="7" name="AutoShape 7"/>
          <p:cNvSpPr/>
          <p:nvPr/>
        </p:nvSpPr>
        <p:spPr>
          <a:xfrm>
            <a:off x="4445000" y="1397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1587500"/>
            <a:ext cx="355600" cy="355600"/>
          </a:xfrm>
          <a:prstGeom prst="rect">
            <a:avLst/>
          </a:prstGeom>
        </p:spPr>
      </p:pic>
      <p:sp>
        <p:nvSpPr>
          <p:cNvPr id="9" name="AutoShape 9"/>
          <p:cNvSpPr/>
          <p:nvPr/>
        </p:nvSpPr>
        <p:spPr>
          <a:xfrm>
            <a:off x="5080000" y="1549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私域流量</a:t>
            </a:r>
            <a:endParaRPr lang="en-US" sz="1100"/>
          </a:p>
        </p:txBody>
      </p:sp>
      <p:sp>
        <p:nvSpPr>
          <p:cNvPr id="10" name="AutoShape 10"/>
          <p:cNvSpPr/>
          <p:nvPr/>
        </p:nvSpPr>
        <p:spPr>
          <a:xfrm>
            <a:off x="4635500" y="2032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90A4AE"/>
                </a:solidFill>
                <a:latin typeface="Noto Sans SC"/>
                <a:ea typeface="Noto Sans SC"/>
                <a:cs typeface="Noto Sans SC"/>
                <a:sym typeface="Noto Sans SC"/>
              </a:rPr>
              <a:t>指在自有平台运营的流量，用户粘性高，可进行精准营销。</a:t>
            </a:r>
            <a:endParaRPr lang="en-US" sz="1100"/>
          </a:p>
        </p:txBody>
      </p:sp>
      <p:sp>
        <p:nvSpPr>
          <p:cNvPr id="11" name="AutoShape 11"/>
          <p:cNvSpPr/>
          <p:nvPr/>
        </p:nvSpPr>
        <p:spPr>
          <a:xfrm>
            <a:off x="8128000" y="1397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1587500"/>
            <a:ext cx="355600" cy="355600"/>
          </a:xfrm>
          <a:prstGeom prst="rect">
            <a:avLst/>
          </a:prstGeom>
        </p:spPr>
      </p:pic>
      <p:sp>
        <p:nvSpPr>
          <p:cNvPr id="13" name="AutoShape 13"/>
          <p:cNvSpPr/>
          <p:nvPr/>
        </p:nvSpPr>
        <p:spPr>
          <a:xfrm>
            <a:off x="8763000" y="1549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AARRR模型</a:t>
            </a:r>
            <a:endParaRPr lang="en-US" sz="1100"/>
          </a:p>
        </p:txBody>
      </p:sp>
      <p:sp>
        <p:nvSpPr>
          <p:cNvPr id="14" name="AutoShape 14"/>
          <p:cNvSpPr/>
          <p:nvPr/>
        </p:nvSpPr>
        <p:spPr>
          <a:xfrm>
            <a:off x="8318500" y="2032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90A4AE"/>
                </a:solidFill>
                <a:latin typeface="Noto Sans SC"/>
                <a:ea typeface="Noto Sans SC"/>
                <a:cs typeface="Noto Sans SC"/>
                <a:sym typeface="Noto Sans SC"/>
              </a:rPr>
              <a:t>以获客为核心的用户增长模型，包括获客、激活、留存、营收、推荐五个环节。</a:t>
            </a:r>
            <a:endParaRPr lang="en-US" sz="1100"/>
          </a:p>
        </p:txBody>
      </p:sp>
      <p:sp>
        <p:nvSpPr>
          <p:cNvPr id="15" name="AutoShape 15"/>
          <p:cNvSpPr/>
          <p:nvPr/>
        </p:nvSpPr>
        <p:spPr>
          <a:xfrm>
            <a:off x="762000" y="3175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3365500"/>
            <a:ext cx="355600" cy="355600"/>
          </a:xfrm>
          <a:prstGeom prst="rect">
            <a:avLst/>
          </a:prstGeom>
        </p:spPr>
      </p:pic>
      <p:sp>
        <p:nvSpPr>
          <p:cNvPr id="17" name="AutoShape 17"/>
          <p:cNvSpPr/>
          <p:nvPr/>
        </p:nvSpPr>
        <p:spPr>
          <a:xfrm>
            <a:off x="1397000" y="3327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RARRA模型</a:t>
            </a:r>
            <a:endParaRPr lang="en-US" sz="1100"/>
          </a:p>
        </p:txBody>
      </p:sp>
      <p:sp>
        <p:nvSpPr>
          <p:cNvPr id="18" name="AutoShape 18"/>
          <p:cNvSpPr/>
          <p:nvPr/>
        </p:nvSpPr>
        <p:spPr>
          <a:xfrm>
            <a:off x="952500" y="3810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90A4AE"/>
                </a:solidFill>
                <a:latin typeface="Noto Sans SC"/>
                <a:ea typeface="Noto Sans SC"/>
                <a:cs typeface="Noto Sans SC"/>
                <a:sym typeface="Noto Sans SC"/>
              </a:rPr>
              <a:t>以留存为核心的用户增长模型，将留存放在首位，更注重用户价值。</a:t>
            </a:r>
            <a:endParaRPr lang="en-US" sz="1100"/>
          </a:p>
        </p:txBody>
      </p:sp>
      <p:sp>
        <p:nvSpPr>
          <p:cNvPr id="19" name="AutoShape 19"/>
          <p:cNvSpPr/>
          <p:nvPr/>
        </p:nvSpPr>
        <p:spPr>
          <a:xfrm>
            <a:off x="4445000" y="3175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35500" y="3365500"/>
            <a:ext cx="355600" cy="355600"/>
          </a:xfrm>
          <a:prstGeom prst="rect">
            <a:avLst/>
          </a:prstGeom>
        </p:spPr>
      </p:pic>
      <p:sp>
        <p:nvSpPr>
          <p:cNvPr id="21" name="AutoShape 21"/>
          <p:cNvSpPr/>
          <p:nvPr/>
        </p:nvSpPr>
        <p:spPr>
          <a:xfrm>
            <a:off x="5080000" y="3327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Prompt</a:t>
            </a:r>
            <a:endParaRPr lang="en-US" sz="1100"/>
          </a:p>
        </p:txBody>
      </p:sp>
      <p:sp>
        <p:nvSpPr>
          <p:cNvPr id="22" name="AutoShape 22"/>
          <p:cNvSpPr/>
          <p:nvPr/>
        </p:nvSpPr>
        <p:spPr>
          <a:xfrm>
            <a:off x="4635500" y="3810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90A4AE"/>
                </a:solidFill>
                <a:latin typeface="Noto Sans SC"/>
                <a:ea typeface="Noto Sans SC"/>
                <a:cs typeface="Noto Sans SC"/>
                <a:sym typeface="Noto Sans SC"/>
              </a:rPr>
              <a:t>用于向AI模型下达指令的文本，是控制AI生成内容质量的关键输入。</a:t>
            </a:r>
            <a:endParaRPr lang="en-US" sz="1100"/>
          </a:p>
        </p:txBody>
      </p:sp>
      <p:sp>
        <p:nvSpPr>
          <p:cNvPr id="23" name="AutoShape 23"/>
          <p:cNvSpPr/>
          <p:nvPr/>
        </p:nvSpPr>
        <p:spPr>
          <a:xfrm>
            <a:off x="8128000" y="3175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18500" y="3365500"/>
            <a:ext cx="355600" cy="355600"/>
          </a:xfrm>
          <a:prstGeom prst="rect">
            <a:avLst/>
          </a:prstGeom>
        </p:spPr>
      </p:pic>
      <p:sp>
        <p:nvSpPr>
          <p:cNvPr id="25" name="AutoShape 25"/>
          <p:cNvSpPr/>
          <p:nvPr/>
        </p:nvSpPr>
        <p:spPr>
          <a:xfrm>
            <a:off x="8763000" y="3327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敏感词</a:t>
            </a:r>
            <a:endParaRPr lang="en-US" sz="1100"/>
          </a:p>
        </p:txBody>
      </p:sp>
      <p:sp>
        <p:nvSpPr>
          <p:cNvPr id="26" name="AutoShape 26"/>
          <p:cNvSpPr/>
          <p:nvPr/>
        </p:nvSpPr>
        <p:spPr>
          <a:xfrm>
            <a:off x="8318500" y="3810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90A4AE"/>
                </a:solidFill>
                <a:latin typeface="Noto Sans SC"/>
                <a:ea typeface="Noto Sans SC"/>
                <a:cs typeface="Noto Sans SC"/>
                <a:sym typeface="Noto Sans SC"/>
              </a:rPr>
              <a:t>指平台禁止使用的词汇，使用后可能导致内容违规、限流或账号封禁。</a:t>
            </a:r>
            <a:endParaRPr lang="en-US" sz="1100"/>
          </a:p>
        </p:txBody>
      </p:sp>
      <p:sp>
        <p:nvSpPr>
          <p:cNvPr id="27" name="AutoShape 27"/>
          <p:cNvSpPr/>
          <p:nvPr/>
        </p:nvSpPr>
        <p:spPr>
          <a:xfrm>
            <a:off x="0" y="6350000"/>
            <a:ext cx="12192000" cy="508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762000" y="6413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solidFill>
                <a:latin typeface="Noto Sans SC"/>
                <a:ea typeface="Noto Sans SC"/>
                <a:cs typeface="Noto Sans SC"/>
                <a:sym typeface="Noto Sans SC"/>
              </a:rPr>
              <a:t>掌握这些术语是深入理解数字人直播运营逻辑的基础，建议大家在后续实践中灵活运用。</a:t>
            </a:r>
            <a:endParaRPr lang="en-US" sz="11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524000" cy="1524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287000" y="4953000"/>
            <a:ext cx="2286000" cy="2286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286000" y="1524000"/>
            <a:ext cx="7620000" cy="3810000"/>
          </a:xfrm>
          <a:prstGeom prst="roundRect">
            <a:avLst>
              <a:gd name="adj" fmla="val 6666"/>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905000"/>
            <a:ext cx="812800" cy="812800"/>
          </a:xfrm>
          <a:prstGeom prst="rect">
            <a:avLst/>
          </a:prstGeom>
        </p:spPr>
      </p:pic>
      <p:sp>
        <p:nvSpPr>
          <p:cNvPr id="6" name="AutoShape 6"/>
          <p:cNvSpPr/>
          <p:nvPr/>
        </p:nvSpPr>
        <p:spPr>
          <a:xfrm>
            <a:off x="2540000" y="2794000"/>
            <a:ext cx="7112000" cy="889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6000" b="1" i="0" u="none" strike="noStrike">
                <a:solidFill>
                  <a:srgbClr val="0277BD"/>
                </a:solidFill>
                <a:latin typeface="Arial" panose="020B0604020202090204"/>
                <a:ea typeface="Arial" panose="020B0604020202090204"/>
                <a:cs typeface="Arial" panose="020B0604020202090204"/>
                <a:sym typeface="Arial" panose="020B0604020202090204"/>
              </a:rPr>
              <a:t>Q&amp;A</a:t>
            </a:r>
            <a:endParaRPr lang="en-US" sz="1100"/>
          </a:p>
        </p:txBody>
      </p:sp>
      <p:sp>
        <p:nvSpPr>
          <p:cNvPr id="7" name="AutoShape 7"/>
          <p:cNvSpPr/>
          <p:nvPr/>
        </p:nvSpPr>
        <p:spPr>
          <a:xfrm>
            <a:off x="2540000" y="3683000"/>
            <a:ext cx="7112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0" i="0" u="none" strike="noStrike">
                <a:solidFill>
                  <a:srgbClr val="90A4AE"/>
                </a:solidFill>
                <a:latin typeface="Noto Sans SC"/>
                <a:ea typeface="Noto Sans SC"/>
                <a:cs typeface="Noto Sans SC"/>
                <a:sym typeface="Noto Sans SC"/>
              </a:rPr>
              <a:t>欢迎提问</a:t>
            </a:r>
            <a:endParaRPr lang="en-US" sz="1100"/>
          </a:p>
        </p:txBody>
      </p:sp>
      <p:sp>
        <p:nvSpPr>
          <p:cNvPr id="8" name="AutoShape 8"/>
          <p:cNvSpPr/>
          <p:nvPr/>
        </p:nvSpPr>
        <p:spPr>
          <a:xfrm>
            <a:off x="5715000" y="4445000"/>
            <a:ext cx="762000" cy="50800"/>
          </a:xfrm>
          <a:prstGeom prst="roundRect">
            <a:avLst>
              <a:gd name="adj" fmla="val 0"/>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525000" y="4445000"/>
            <a:ext cx="3810000" cy="381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524000"/>
            <a:ext cx="812800" cy="812800"/>
          </a:xfrm>
          <a:prstGeom prst="rect">
            <a:avLst/>
          </a:prstGeom>
        </p:spPr>
      </p:pic>
      <p:sp>
        <p:nvSpPr>
          <p:cNvPr id="5" name="AutoShape 5"/>
          <p:cNvSpPr/>
          <p:nvPr/>
        </p:nvSpPr>
        <p:spPr>
          <a:xfrm>
            <a:off x="1016000" y="2540000"/>
            <a:ext cx="10160000" cy="1016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6000" b="1" i="0" u="none" strike="noStrike">
                <a:solidFill>
                  <a:srgbClr val="0277BD"/>
                </a:solidFill>
                <a:latin typeface="Noto Sans SC"/>
                <a:ea typeface="Noto Sans SC"/>
                <a:cs typeface="Noto Sans SC"/>
                <a:sym typeface="Noto Sans SC"/>
              </a:rPr>
              <a:t>感谢观看</a:t>
            </a:r>
            <a:endParaRPr lang="en-US" sz="1100"/>
          </a:p>
        </p:txBody>
      </p:sp>
      <p:sp>
        <p:nvSpPr>
          <p:cNvPr id="6" name="AutoShape 6"/>
          <p:cNvSpPr/>
          <p:nvPr/>
        </p:nvSpPr>
        <p:spPr>
          <a:xfrm>
            <a:off x="1016000" y="3683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90A4AE"/>
                </a:solidFill>
                <a:latin typeface="Noto Sans SC"/>
                <a:ea typeface="Noto Sans SC"/>
                <a:cs typeface="Noto Sans SC"/>
                <a:sym typeface="Noto Sans SC"/>
              </a:rPr>
              <a:t>希望本次课程能为您的工作带来启发与帮助</a:t>
            </a:r>
            <a:endParaRPr lang="en-US" sz="1100"/>
          </a:p>
        </p:txBody>
      </p:sp>
      <p:sp>
        <p:nvSpPr>
          <p:cNvPr id="7" name="AutoShape 7"/>
          <p:cNvSpPr/>
          <p:nvPr/>
        </p:nvSpPr>
        <p:spPr>
          <a:xfrm>
            <a:off x="5715000" y="4445000"/>
            <a:ext cx="762000" cy="50800"/>
          </a:xfrm>
          <a:prstGeom prst="roundRect">
            <a:avLst>
              <a:gd name="adj" fmla="val 0"/>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0" y="609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90A4AE">
                    <a:alpha val="80000"/>
                  </a:srgbClr>
                </a:solidFill>
                <a:latin typeface="Noto Sans SC"/>
                <a:ea typeface="Noto Sans SC"/>
                <a:cs typeface="Noto Sans SC"/>
                <a:sym typeface="Noto Sans SC"/>
              </a:rPr>
              <a:t>© 2024 数字人口播文案生成课程</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10497</Words>
  <Application>WPS 演示</Application>
  <PresentationFormat/>
  <Paragraphs>914</Paragraphs>
  <Slides>45</Slides>
  <Notes>0</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45</vt:i4>
      </vt:variant>
    </vt:vector>
  </HeadingPairs>
  <TitlesOfParts>
    <vt:vector size="63" baseType="lpstr">
      <vt:lpstr>Arial</vt:lpstr>
      <vt:lpstr>宋体</vt:lpstr>
      <vt:lpstr>Wingdings</vt:lpstr>
      <vt:lpstr>Arial</vt:lpstr>
      <vt:lpstr>Noto Sans SC</vt:lpstr>
      <vt:lpstr>Thonburi</vt:lpstr>
      <vt:lpstr>宋体</vt:lpstr>
      <vt:lpstr>汉仪书宋二KW</vt:lpstr>
      <vt:lpstr>微软雅黑</vt:lpstr>
      <vt:lpstr>汉仪旗黑</vt:lpstr>
      <vt:lpstr>Arial Unicode MS</vt:lpstr>
      <vt:lpstr>Wingdings</vt:lpstr>
      <vt:lpstr>Noto Sans SC</vt:lpstr>
      <vt:lpstr>Wingdings</vt:lpstr>
      <vt:lpstr>苹方-简</vt:lpstr>
      <vt:lpstr>Apple Color Emoji</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Soyoger</cp:lastModifiedBy>
  <cp:revision>1</cp:revision>
  <dcterms:created xsi:type="dcterms:W3CDTF">2026-03-14T05:45:19Z</dcterms:created>
  <dcterms:modified xsi:type="dcterms:W3CDTF">2026-03-14T05:45:19Z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FEE2FBCF26422B48EFF5B469F9F4D123_42</vt:lpwstr>
  </property>
  <property fmtid="{D5CDD505-2E9C-101B-9397-08002B2CF9AE}" pid="3" name="KSOProductBuildVer">
    <vt:lpwstr>2052-7.2.1.8947</vt:lpwstr>
  </property>
</Properties>
</file>