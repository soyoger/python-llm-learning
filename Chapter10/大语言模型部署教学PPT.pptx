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svg" ContentType="image/svg+xml"/>
  <Override PartName="/ppt/media/image111.svg" ContentType="image/svg+xml"/>
  <Override PartName="/ppt/media/image113.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4.svg" ContentType="image/svg+xml"/>
  <Override PartName="/ppt/media/image29.svg" ContentType="image/svg+xml"/>
  <Override PartName="/ppt/media/image33.svg" ContentType="image/svg+xml"/>
  <Override PartName="/ppt/media/image35.svg" ContentType="image/svg+xml"/>
  <Override PartName="/ppt/media/image37.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svg" ContentType="image/svg+xml"/>
  <Override PartName="/ppt/media/image70.svg" ContentType="image/svg+xml"/>
  <Override PartName="/ppt/media/image72.svg" ContentType="image/svg+xml"/>
  <Override PartName="/ppt/media/image75.svg" ContentType="image/svg+xml"/>
  <Override PartName="/ppt/media/image78.svg" ContentType="image/svg+xml"/>
  <Override PartName="/ppt/media/image80.svg" ContentType="image/svg+xml"/>
  <Override PartName="/ppt/media/image82.svg" ContentType="image/svg+xml"/>
  <Override PartName="/ppt/media/image84.svg" ContentType="image/svg+xml"/>
  <Override PartName="/ppt/media/image87.svg" ContentType="image/svg+xml"/>
  <Override PartName="/ppt/media/image89.svg" ContentType="image/svg+xml"/>
  <Override PartName="/ppt/media/image9.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共同探讨第10章的内容——浅谈大语言模型的部署。这一章将带领大家从理论到实践，了解大语言模型从训练完成到实际应用的全过程，包括相关的工程化方法论和具体的部署技术。希望通过本次学习，大家能够掌握大语言模型部署的核心知识和技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本次课程的整体框架。我们将分为三个部分进行讲解：首先，介绍从DevOps到MLOps再到LLMOps的演进过程，理解模型部署的工程化背景；其次，深入探讨大语言模型的量化技术，学习如何优化模型以适应不同的硬件环境；最后，通过三个实战案例，分别学习如何使用Gradio、Streamlit和FastAPI将模型部署为可用的服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章节：MLOps与LLMOps简介。在正式学习模型部署之前，我们需要了解其背后的工程化方法论，理解从传统的软件开发运维，到机器学习运维，再到专门针对大语言模型的运维体系，是如何一步步演变而来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首先，我们回顾一下DevOps的基本概念。DevOps，即开发与运维的结合，它的核心目标是打破开发和运维之间的壁垒，通过自动化工具和流程，实现软件的快速、可靠交付。这是我们理解后续MLOps和LLMOps的基础。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evOps的实践遵循几个核心原则。首先是自动化，通过自动化工具替代繁琐的人工操作，不仅能提高效率，还能减少人为错误。其次是持续集成和交付，这意味着代码的变更会被频繁地集成到主干，并自动进行构建和测试，确保随时可以安全地发布新版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另外三个原则同样重要。沟通协作是DevOps文化的核心，旨在打破团队间的信息壁垒。基础设施即代码，通过自动化脚本管理服务器、网络等基础设施，实现环境的一致性和快速部署。最后，完善的监控和预警机制是保障系统稳定运行的关键，能够帮助我们在问题影响用户之前就发现并解决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MLOps。MLOps，即机器学习运维，它将DevOps的理念扩展到了机器学习领域。它不仅仅是部署模型，更是一套覆盖了从数据准备到模型部署和监控的完整生命周期管理体系。这张图展示了NVIDIA定义的MLOps标准流程，大家可以看到它包含了数据处理、模型构建和部署运维等多个环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MLOps和DevOps是什么关系呢？简单来说，MLOps是DevOps的超集。它在DevOps的基础上，引入了机器学习特有的数据处理和模型训练环节。我们可以用一个公式来理解：MLOps等于机器学习（ML）加上开发（Dev）和运维（Ops）。这张图很好地展示了MLOps如何将数据和模型的生命周期管理整合到DevOps流程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随着大语言模型的兴起，我们迎来了LLMOps。大语言模型，比如GPT、LLaMA等，它们的体量和复杂性远超传统的机器学习模型，这带来了新的挑战，比如超大规模的数据处理、分布式训练、全新的评估方式等。因此，LLMOps应运而生，它是MLOps在大语言模型领域的专门应用和深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LMOps需要解决的挑战更为复杂，它不仅包括技术层面的模型预训练、微调、对齐等，还涉及到如何将这些模型与其他系统集成。同时，LLMOps的覆盖范围也更广，它不仅是技术实践，还包括团队协作、流程优化等管理方面的内容，确保大语言模型应用能够高效、可靠地落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理论背景后，我们进入第二章节：大语言模型的量化部署。大语言模型通常体积庞大，对硬件资源要求很高。为了让它们能够在更广泛的设备上高效运行，量化技术应运而生。这一章我们将学习如何通过量化来优化模型，并进行实际的推理部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首先介绍一个轻量级的模型——Qwen2-0.5B。它是阿里巴巴Qwen2系列中的一员，虽然参数只有0.5亿，但功能依然强大，非常适合在资源有限的CPU环境下进行学习和实验。Qwen2系列模型支持多语言，并且在多个基准测试中表现出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另一个非常受欢迎的开源模型是ChatGLM3-6B，由智谱AI开发。它经历了多个版本的迭代，最新的ChatGLM3-6B在保留了低部署门槛的优势上，增加了工具调用、代码执行等高级功能，使其成为构建复杂AI应用的理想选择。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一个具体的例子：如何在CPU上运行Qwen2-0.5B模型。首先需要从HuggingFace或ModelScope下载模型文件。然后，我们可以使用transformers库中的pipeline方法，非常方便地进行推理。大家可以看到这段代码，我们加载了模型和分词器，定义了一个回答问题的函数，然后就可以向模型提问并得到回答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简单的pipeline方式，我们还可以使用apply_chat_template方法来构建更复杂的对话场景。这个方法可以帮助我们格式化系统提示和用户输入，更符合实际的聊天机器人交互逻辑。这段代码展示了如何使用这个方法来生成一首李白风格的诗，大家可以看到输入的格式更加结构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虽然在CPU上运行模型是可行的，但它的局限性也很明显，那就是速度非常慢。因为大语言模型的计算量巨大，CPU的架构并不擅长处理这类高度并行的计算任务。因此，对于任何需要追求性能的场景，我们都强烈建议使用GPU来进行模型推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让模型在GPU上更高效地运行，我们需要学习量化技术。量化的核心思想就是用更少的位数来存储模型参数，比如用4位或8位整数来代替原来的32位浮点数。这样做可以极大地减少内存占用，同时也能提高计算速度，但代价是可能会损失一些模型精度。接下来我们将具体看几种不同的量化精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INT4量化，也就是4位整数量化。这是一种非常激进的量化方式，能最大程度地压缩模型体积，但也会带来较大的精度损失。在代码中，我们只需要在加载模型时调用`.quantize(4)`方法即可实现INT4量化。这种方式在对精度要求不高的场景下可以考虑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INT8量化，即8位整数量化。这是目前最主流、应用最广泛的量化方式。它在模型精度和性能之间找到了一个很好的平衡点，既能显著降低内存占用，又不会导致精度大幅下降。代码上也很简单，只需将量化位数改为8即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种是FP16量化，即16位浮点数量化，也叫半精度。它的内存占用是标准32位浮点数的一半，同时能保持较高的精度，是在GPU上进行模型训练和推理的常用选择。代码上通过调用.half()方法来实现。不过需要注意，FP16在某些计算中可能会出现数值下溢或上溢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是FP32，也就是32位浮点数，这是模型训练时的原始精度。它提供了最高的数值精度和稳定性，但代价是最大的内存占用和最慢的推理速度。通常只在对精度要求极高，或者模型规模较小的情况下使用。代码上通过.float()方法来指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总结一下，不同的量化精度之间存在着精度和性能的权衡。选择哪种精度，没有绝对的答案，需要我们根据具体的应用场景来决定。</a:t>
            </a:r>
            <a:endParaRPr lang="en-US" sz="1400" b="0" i="0" u="none" strike="noStrike">
              <a:solidFill>
                <a:srgbClr val="000000"/>
              </a:solidFill>
            </a:endParaRPr>
          </a:p>
          <a:p>
            <a:pPr indent="0" algn="l">
              <a:lnSpc>
                <a:spcPct val="100000"/>
              </a:lnSpc>
            </a:pPr>
            <a:r>
              <a:rPr lang="en-US" sz="1400" b="0" i="0" u="none" strike="noStrike">
                <a:solidFill>
                  <a:srgbClr val="000000"/>
                </a:solidFill>
              </a:rPr>
              <a:t>如果你的硬件资源有限，或者对速度要求很高，可以选择INT8或FP16；如果任务对精度要求极高，那么FP32可能是更好的选择。</a:t>
            </a:r>
            <a:endParaRPr lang="en-US" sz="1400" b="0" i="0" u="none" strike="noStrike">
              <a:solidFill>
                <a:srgbClr val="000000"/>
              </a:solidFill>
            </a:endParaRPr>
          </a:p>
          <a:p>
            <a:pPr indent="0" algn="l">
              <a:lnSpc>
                <a:spcPct val="100000"/>
              </a:lnSpc>
            </a:pPr>
            <a:r>
              <a:rPr lang="en-US" sz="1400" b="0" i="0" u="none" strike="noStrike">
                <a:solidFill>
                  <a:srgbClr val="000000"/>
                </a:solidFill>
              </a:rPr>
              <a:t>实践中，通常建议从INT8或FP16开始尝试，找到最佳平衡点。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学习了模型优化之后，我们进入最激动人心的实战环节：大语言模型部署实战。在这一章，我们将学习如何将训练好的模型，通过不同的框架，打包成可以对外提供服务的Web应用或API接口，真正实现从模型到产品的落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首先学习使用Gradio框架进行网页部署。Gradio是一个非常强大且易用的工具，它的目标就是让数据科学家和算法工程师能够快速将模型变成一个可以通过浏览器访问的Web应用，而不需要编写任何HTML、CSS或JavaScript代码。安装也非常简单，通过pip命令即可完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radio提供了一个非常方便的ChatInterface类，专门用来构建聊天机器人界面。我们只需要定义一个处理用户输入的函数，ChatInterface就会自动帮我们生成一个包含对话历史和输入框的完整聊天界面，大大简化了开发流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一个完整的基于Gradio的部署示例。代码分为三个部分：首先加载我们的ChatGLM3-6B模型并进行INT8量化；然后定义一个回复函数，该函数接收用户消息和对话历史，调用模型生成回复；最后，使用gr.ChatInterface创建应用并启动。运行这段代码后，我们就可以通过浏览器访问部署好的聊天机器人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这就是Gradio部署后的效果。我们可以看到一个简洁明了的聊天界面，用户可以在这里输入问题，模型会实时给出回答。整个过程非常直观，不需要任何前端知识，极大地降低了模型部署的门槛。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接下来我们学习第二种部署方式：使用Streamlit框架。Streamlit和Gradio类似，也是一个能快速将Python脚本转化为Web应用的工具，尤其在数据可视化方面表现出色。它的安装同样简单，通过pip命令即可完成。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一个基于Streamlit的完整部署示例。代码结构也很清晰：首先设置页面标题，然后加载模型（这里使用了Streamlit的缓存功能来避免重复加载），接着初始化对话历史状态，创建聊天输入框，最后处理用户输入并展示对话历史。整个过程逻辑清晰，代码简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这是Streamlit部署后的效果。我们可以看到一个设计更现代、更美观的聊天界面。启动方式也略有不同，需要在终端执行streamlit run命令。Streamlit提供了更丰富的组件和更灵活的布局选项，适合构建更复杂的交互式应用。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除了直接部署成网页应用，我们还可以将模型部署为API接口，供其他应用或服务调用。这里我们使用FastAPI框架。</a:t>
            </a:r>
            <a:endParaRPr lang="en-US" sz="1400" b="0" i="0" u="none" strike="noStrike">
              <a:solidFill>
                <a:srgbClr val="000000"/>
              </a:solidFill>
            </a:endParaRPr>
          </a:p>
          <a:p>
            <a:pPr indent="0" algn="l">
              <a:lnSpc>
                <a:spcPct val="100000"/>
              </a:lnSpc>
            </a:pPr>
            <a:r>
              <a:rPr lang="en-US" sz="1400" b="0" i="0" u="none" strike="noStrike">
                <a:solidFill>
                  <a:srgbClr val="000000"/>
                </a:solidFill>
              </a:rPr>
              <a:t>FastAPI是一个非常流行的Python Web框架，以其高性能和易用性著称，非常适合构建RESTful API。它的核心优势在于基于Python类型提示自动校验数据和生成文档，极大地提升了开发效率。</a:t>
            </a:r>
            <a:endParaRPr lang="en-US" sz="1400" b="0" i="0" u="none" strike="noStrike">
              <a:solidFill>
                <a:srgbClr val="000000"/>
              </a:solidFill>
            </a:endParaRPr>
          </a:p>
          <a:p>
            <a:pPr indent="0" algn="l">
              <a:lnSpc>
                <a:spcPct val="100000"/>
              </a:lnSpc>
            </a:pPr>
            <a:r>
              <a:rPr lang="en-US" sz="1400" b="0" i="0" u="none" strike="noStrike">
                <a:solidFill>
                  <a:srgbClr val="000000"/>
                </a:solidFill>
              </a:rPr>
              <a:t>安装时需要同时安装FastAPI和一个ASGI服务器，比如uvicorn，这样我们就能快速启动一个高性能的API服务。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FastAPI接口的定义代码。我们首先创建一个FastAPI应用实例，然后加载模型。接着，我们使用Pydantic定义了一个请求体模型ChatRequest，它包含用户的消息和对话历史。最后，我们定义了一个/chat的POST接口，该接口接收请求数据，调用模型生成回复，并返回结果和更新后的对话历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定义好接口后，我们需要启动FastAPI服务。在终端执行uvicorn main:app --reload命令即可。其中main是你的Python文件名，app是FastAPI实例名。启动后，我们可以访问/docs路径，看到FastAPI自动生成的API文档，在这里可以非常方便地测试我们的接口是否正常工作。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使用自动生成的文档页面，我们还可以使用curl命令或Postman等工具来测试API接口。这里展示了一个curl命令的示例，发送一个包含“你好”消息的POST请求，服务器会返回模型的回复和更新后的对话历史。这表明我们的API接口已经成功部署并可以正常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已经学习了三种主流的部署方式，现在对它们进行一个简单的对比。Gradio开发速度最快，适合快速原型验证；Streamlit的UI更美观，适合做数据展示类的应用；而FastAPI则提供了最高的灵活性，适合作为后端服务供其他系统调用。在实际项目中，我们需要根据具体需求来选择最合适的部署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大语言模型的部署进行一个总结。成功的部署需要综合考虑模型选择、框架选择、环境配置、系统监控和持续优化等多个方面。希望大家能够将今天学到的知识应用到实际项目中，不断实践和总结，提升自己的工程化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部署过程中，我们可能会遇到各种各样的问题。这里列举了一些常见的问题及其解决方案，比如模型加载失败、推理速度慢、内存不足等。遇到问题时，不要慌张，仔细查看错误日志，结合我们今天讲的知识，一步步排查，通常都能找到解决办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让我们一起回顾一下本章的核心知识点。我们首先了解了从DevOps到LLMOps的工程化方法，然后学习了如何通过量化技术优化模型，最后通过三个实战案例，掌握了使用不同框架进行模型部署的具体方法。希望大家能够熟练掌握这些内容，并能灵活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为了巩固所学知识，我给大家布置了一些课后思考和实践作业。希望大家能够认真完成，通过实践加深对大语言模型部署的理解和掌握。如果在实践过程中遇到问题，可以随时查阅资料或向老师同学请教。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本章的内容就到这里，感谢大家的聆听！希望这次课程能对大家有所帮助，谢谢！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14.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9.svg"/><Relationship Id="rId10" Type="http://schemas.openxmlformats.org/officeDocument/2006/relationships/notesSlide" Target="../notesSlides/notesSlide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7.svg"/><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26.png"/><Relationship Id="rId2" Type="http://schemas.openxmlformats.org/officeDocument/2006/relationships/image" Target="../media/image9.svg"/><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31.png"/><Relationship Id="rId6" Type="http://schemas.openxmlformats.org/officeDocument/2006/relationships/image" Target="../media/image11.svg"/><Relationship Id="rId5" Type="http://schemas.openxmlformats.org/officeDocument/2006/relationships/image" Target="../media/image30.png"/><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4.svg"/><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image" Target="../media/image4.svg"/><Relationship Id="rId3" Type="http://schemas.openxmlformats.org/officeDocument/2006/relationships/image" Target="../media/image27.png"/><Relationship Id="rId2" Type="http://schemas.openxmlformats.org/officeDocument/2006/relationships/image" Target="../media/image33.svg"/><Relationship Id="rId1"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38.png"/><Relationship Id="rId4" Type="http://schemas.openxmlformats.org/officeDocument/2006/relationships/image" Target="../media/image37.svg"/><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3" Type="http://schemas.openxmlformats.org/officeDocument/2006/relationships/image" Target="../media/image39.png"/><Relationship Id="rId2" Type="http://schemas.openxmlformats.org/officeDocument/2006/relationships/image" Target="../media/image2.sv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8.svg"/><Relationship Id="rId7" Type="http://schemas.openxmlformats.org/officeDocument/2006/relationships/image" Target="../media/image4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4.svg"/><Relationship Id="rId10" Type="http://schemas.openxmlformats.org/officeDocument/2006/relationships/notesSlide" Target="../notesSlides/notesSlide13.xml"/><Relationship Id="rId1"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 Id="rId3" Type="http://schemas.openxmlformats.org/officeDocument/2006/relationships/image" Target="../media/image55.png"/><Relationship Id="rId2" Type="http://schemas.openxmlformats.org/officeDocument/2006/relationships/image" Target="../media/image48.svg"/><Relationship Id="rId1" Type="http://schemas.openxmlformats.org/officeDocument/2006/relationships/image" Target="../media/image47.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22.png"/><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60.svg"/><Relationship Id="rId1" Type="http://schemas.openxmlformats.org/officeDocument/2006/relationships/image" Target="../media/image59.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2.sv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38.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58.svg"/><Relationship Id="rId1" Type="http://schemas.openxmlformats.org/officeDocument/2006/relationships/image" Target="../media/image57.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38.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64.svg"/><Relationship Id="rId3" Type="http://schemas.openxmlformats.org/officeDocument/2006/relationships/image" Target="../media/image63.png"/><Relationship Id="rId2" Type="http://schemas.openxmlformats.org/officeDocument/2006/relationships/image" Target="../media/image9.svg"/><Relationship Id="rId10" Type="http://schemas.openxmlformats.org/officeDocument/2006/relationships/notesSlide" Target="../notesSlides/notesSlide19.xml"/><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38.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9.svg"/><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38.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58.svg"/><Relationship Id="rId10" Type="http://schemas.openxmlformats.org/officeDocument/2006/relationships/notesSlide" Target="../notesSlides/notesSlide21.xml"/><Relationship Id="rId1" Type="http://schemas.openxmlformats.org/officeDocument/2006/relationships/image" Target="../media/image57.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2.xml"/><Relationship Id="rId4" Type="http://schemas.openxmlformats.org/officeDocument/2006/relationships/image" Target="../media/image15.svg"/><Relationship Id="rId3" Type="http://schemas.openxmlformats.org/officeDocument/2006/relationships/image" Target="../media/image38.png"/><Relationship Id="rId2" Type="http://schemas.openxmlformats.org/officeDocument/2006/relationships/image" Target="../media/image70.svg"/><Relationship Id="rId1" Type="http://schemas.openxmlformats.org/officeDocument/2006/relationships/image" Target="../media/image69.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72.svg"/><Relationship Id="rId1" Type="http://schemas.openxmlformats.org/officeDocument/2006/relationships/image" Target="../media/image71.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54.svg"/><Relationship Id="rId1" Type="http://schemas.openxmlformats.org/officeDocument/2006/relationships/image" Target="../media/image53.png"/></Relationships>
</file>

<file path=ppt/slides/_rels/slide25.xml.rels><?xml version="1.0" encoding="UTF-8" standalone="yes"?>
<Relationships xmlns="http://schemas.openxmlformats.org/package/2006/relationships"><Relationship Id="rId9" Type="http://schemas.openxmlformats.org/officeDocument/2006/relationships/image" Target="../media/image77.png"/><Relationship Id="rId8" Type="http://schemas.openxmlformats.org/officeDocument/2006/relationships/image" Target="../media/image13.svg"/><Relationship Id="rId7" Type="http://schemas.openxmlformats.org/officeDocument/2006/relationships/image" Target="../media/image76.png"/><Relationship Id="rId6" Type="http://schemas.openxmlformats.org/officeDocument/2006/relationships/image" Target="../media/image75.svg"/><Relationship Id="rId5" Type="http://schemas.openxmlformats.org/officeDocument/2006/relationships/image" Target="../media/image74.png"/><Relationship Id="rId4" Type="http://schemas.openxmlformats.org/officeDocument/2006/relationships/image" Target="../media/image21.svg"/><Relationship Id="rId3" Type="http://schemas.openxmlformats.org/officeDocument/2006/relationships/image" Target="../media/image73.png"/><Relationship Id="rId2" Type="http://schemas.openxmlformats.org/officeDocument/2006/relationships/image" Target="../media/image58.svg"/><Relationship Id="rId14" Type="http://schemas.openxmlformats.org/officeDocument/2006/relationships/notesSlide" Target="../notesSlides/notesSlide25.xml"/><Relationship Id="rId13" Type="http://schemas.openxmlformats.org/officeDocument/2006/relationships/slideLayout" Target="../slideLayouts/slideLayout12.xml"/><Relationship Id="rId12" Type="http://schemas.openxmlformats.org/officeDocument/2006/relationships/image" Target="../media/image60.svg"/><Relationship Id="rId11" Type="http://schemas.openxmlformats.org/officeDocument/2006/relationships/image" Target="../media/image59.png"/><Relationship Id="rId10" Type="http://schemas.openxmlformats.org/officeDocument/2006/relationships/image" Target="../media/image78.svg"/><Relationship Id="rId1" Type="http://schemas.openxmlformats.org/officeDocument/2006/relationships/image" Target="../media/image57.png"/></Relationships>
</file>

<file path=ppt/slides/_rels/slide26.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image" Target="../media/image7.svg"/><Relationship Id="rId7" Type="http://schemas.openxmlformats.org/officeDocument/2006/relationships/image" Target="../media/image22.png"/><Relationship Id="rId6" Type="http://schemas.openxmlformats.org/officeDocument/2006/relationships/image" Target="../media/image13.svg"/><Relationship Id="rId5" Type="http://schemas.openxmlformats.org/officeDocument/2006/relationships/image" Target="../media/image76.png"/><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58.svg"/><Relationship Id="rId12" Type="http://schemas.openxmlformats.org/officeDocument/2006/relationships/notesSlide" Target="../notesSlides/notesSlide26.xml"/><Relationship Id="rId11" Type="http://schemas.openxmlformats.org/officeDocument/2006/relationships/slideLayout" Target="../slideLayouts/slideLayout12.xml"/><Relationship Id="rId10" Type="http://schemas.openxmlformats.org/officeDocument/2006/relationships/image" Target="../media/image80.svg"/><Relationship Id="rId1" Type="http://schemas.openxmlformats.org/officeDocument/2006/relationships/image" Target="../media/image57.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12.xml"/><Relationship Id="rId5" Type="http://schemas.openxmlformats.org/officeDocument/2006/relationships/image" Target="../media/image85.jpeg"/><Relationship Id="rId4" Type="http://schemas.openxmlformats.org/officeDocument/2006/relationships/image" Target="../media/image84.svg"/><Relationship Id="rId3" Type="http://schemas.openxmlformats.org/officeDocument/2006/relationships/image" Target="../media/image83.png"/><Relationship Id="rId2" Type="http://schemas.openxmlformats.org/officeDocument/2006/relationships/image" Target="../media/image82.svg"/><Relationship Id="rId1" Type="http://schemas.openxmlformats.org/officeDocument/2006/relationships/image" Target="../media/image81.pn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87.svg"/><Relationship Id="rId3" Type="http://schemas.openxmlformats.org/officeDocument/2006/relationships/image" Target="../media/image86.png"/><Relationship Id="rId2" Type="http://schemas.openxmlformats.org/officeDocument/2006/relationships/image" Target="../media/image58.svg"/><Relationship Id="rId1" Type="http://schemas.openxmlformats.org/officeDocument/2006/relationships/image" Target="../media/image57.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90.png"/><Relationship Id="rId4" Type="http://schemas.openxmlformats.org/officeDocument/2006/relationships/image" Target="../media/image89.svg"/><Relationship Id="rId3" Type="http://schemas.openxmlformats.org/officeDocument/2006/relationships/image" Target="../media/image88.png"/><Relationship Id="rId2" Type="http://schemas.openxmlformats.org/officeDocument/2006/relationships/image" Target="../media/image2.sv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12.xml"/><Relationship Id="rId5" Type="http://schemas.openxmlformats.org/officeDocument/2006/relationships/image" Target="../media/image91.jpeg"/><Relationship Id="rId4" Type="http://schemas.openxmlformats.org/officeDocument/2006/relationships/image" Target="../media/image84.svg"/><Relationship Id="rId3" Type="http://schemas.openxmlformats.org/officeDocument/2006/relationships/image" Target="../media/image83.png"/><Relationship Id="rId2" Type="http://schemas.openxmlformats.org/officeDocument/2006/relationships/image" Target="../media/image62.svg"/><Relationship Id="rId1" Type="http://schemas.openxmlformats.org/officeDocument/2006/relationships/image" Target="../media/image61.pn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72.svg"/><Relationship Id="rId1" Type="http://schemas.openxmlformats.org/officeDocument/2006/relationships/image" Target="../media/image71.pn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2.svg"/><Relationship Id="rId7" Type="http://schemas.openxmlformats.org/officeDocument/2006/relationships/image" Target="../media/image71.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52.svg"/><Relationship Id="rId10" Type="http://schemas.openxmlformats.org/officeDocument/2006/relationships/notesSlide" Target="../notesSlides/notesSlide32.xml"/><Relationship Id="rId1" Type="http://schemas.openxmlformats.org/officeDocument/2006/relationships/image" Target="../media/image51.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38.png"/><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48.svg"/><Relationship Id="rId3" Type="http://schemas.openxmlformats.org/officeDocument/2006/relationships/image" Target="../media/image47.png"/><Relationship Id="rId2" Type="http://schemas.openxmlformats.org/officeDocument/2006/relationships/image" Target="../media/image62.svg"/><Relationship Id="rId10" Type="http://schemas.openxmlformats.org/officeDocument/2006/relationships/notesSlide" Target="../notesSlides/notesSlide33.xml"/><Relationship Id="rId1" Type="http://schemas.openxmlformats.org/officeDocument/2006/relationships/image" Target="../media/image61.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2.xml"/><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95.svg"/><Relationship Id="rId3" Type="http://schemas.openxmlformats.org/officeDocument/2006/relationships/image" Target="../media/image94.png"/><Relationship Id="rId2" Type="http://schemas.openxmlformats.org/officeDocument/2006/relationships/image" Target="../media/image58.svg"/><Relationship Id="rId1" Type="http://schemas.openxmlformats.org/officeDocument/2006/relationships/image" Target="../media/image57.png"/></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38.png"/><Relationship Id="rId6" Type="http://schemas.openxmlformats.org/officeDocument/2006/relationships/image" Target="../media/image103.svg"/><Relationship Id="rId5" Type="http://schemas.openxmlformats.org/officeDocument/2006/relationships/image" Target="../media/image102.png"/><Relationship Id="rId4" Type="http://schemas.openxmlformats.org/officeDocument/2006/relationships/image" Target="../media/image101.svg"/><Relationship Id="rId3" Type="http://schemas.openxmlformats.org/officeDocument/2006/relationships/image" Target="../media/image100.png"/><Relationship Id="rId2" Type="http://schemas.openxmlformats.org/officeDocument/2006/relationships/image" Target="../media/image99.svg"/><Relationship Id="rId10" Type="http://schemas.openxmlformats.org/officeDocument/2006/relationships/notesSlide" Target="../notesSlides/notesSlide35.xml"/><Relationship Id="rId1" Type="http://schemas.openxmlformats.org/officeDocument/2006/relationships/image" Target="../media/image98.png"/></Relationships>
</file>

<file path=ppt/slides/_rels/slide36.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7.svg"/><Relationship Id="rId5" Type="http://schemas.openxmlformats.org/officeDocument/2006/relationships/image" Target="../media/image22.png"/><Relationship Id="rId4" Type="http://schemas.openxmlformats.org/officeDocument/2006/relationships/image" Target="../media/image4.svg"/><Relationship Id="rId3" Type="http://schemas.openxmlformats.org/officeDocument/2006/relationships/image" Target="../media/image27.png"/><Relationship Id="rId2" Type="http://schemas.openxmlformats.org/officeDocument/2006/relationships/image" Target="../media/image2.svg"/><Relationship Id="rId12" Type="http://schemas.openxmlformats.org/officeDocument/2006/relationships/notesSlide" Target="../notesSlides/notesSlide36.xml"/><Relationship Id="rId11" Type="http://schemas.openxmlformats.org/officeDocument/2006/relationships/slideLayout" Target="../slideLayouts/slideLayout12.xml"/><Relationship Id="rId10" Type="http://schemas.openxmlformats.org/officeDocument/2006/relationships/image" Target="../media/image105.svg"/><Relationship Id="rId1" Type="http://schemas.openxmlformats.org/officeDocument/2006/relationships/image" Target="../media/image5.png"/></Relationships>
</file>

<file path=ppt/slides/_rels/slide37.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72.svg"/><Relationship Id="rId7" Type="http://schemas.openxmlformats.org/officeDocument/2006/relationships/image" Target="../media/image71.png"/><Relationship Id="rId6" Type="http://schemas.openxmlformats.org/officeDocument/2006/relationships/image" Target="../media/image109.svg"/><Relationship Id="rId5" Type="http://schemas.openxmlformats.org/officeDocument/2006/relationships/image" Target="../media/image108.png"/><Relationship Id="rId4" Type="http://schemas.openxmlformats.org/officeDocument/2006/relationships/image" Target="../media/image60.svg"/><Relationship Id="rId3" Type="http://schemas.openxmlformats.org/officeDocument/2006/relationships/image" Target="../media/image59.png"/><Relationship Id="rId2" Type="http://schemas.openxmlformats.org/officeDocument/2006/relationships/image" Target="../media/image107.svg"/><Relationship Id="rId12" Type="http://schemas.openxmlformats.org/officeDocument/2006/relationships/notesSlide" Target="../notesSlides/notesSlide37.xml"/><Relationship Id="rId11" Type="http://schemas.openxmlformats.org/officeDocument/2006/relationships/slideLayout" Target="../slideLayouts/slideLayout12.xml"/><Relationship Id="rId10" Type="http://schemas.openxmlformats.org/officeDocument/2006/relationships/image" Target="../media/image7.svg"/><Relationship Id="rId1" Type="http://schemas.openxmlformats.org/officeDocument/2006/relationships/image" Target="../media/image106.png"/></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svg"/><Relationship Id="rId7" Type="http://schemas.openxmlformats.org/officeDocument/2006/relationships/image" Target="../media/image38.png"/><Relationship Id="rId6" Type="http://schemas.openxmlformats.org/officeDocument/2006/relationships/image" Target="../media/image7.svg"/><Relationship Id="rId5" Type="http://schemas.openxmlformats.org/officeDocument/2006/relationships/image" Target="../media/image22.png"/><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4.svg"/><Relationship Id="rId10" Type="http://schemas.openxmlformats.org/officeDocument/2006/relationships/notesSlide" Target="../notesSlides/notesSlide38.xml"/><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2.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111.svg"/><Relationship Id="rId1" Type="http://schemas.openxmlformats.org/officeDocument/2006/relationships/image" Target="../media/image110.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2.xml"/><Relationship Id="rId2" Type="http://schemas.openxmlformats.org/officeDocument/2006/relationships/image" Target="../media/image113.svg"/><Relationship Id="rId1"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524000" cy="1524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286000" cy="2286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397000"/>
            <a:ext cx="812800" cy="812800"/>
          </a:xfrm>
          <a:prstGeom prst="rect">
            <a:avLst/>
          </a:prstGeom>
        </p:spPr>
      </p:pic>
      <p:sp>
        <p:nvSpPr>
          <p:cNvPr id="5" name="AutoShape 5"/>
          <p:cNvSpPr/>
          <p:nvPr/>
        </p:nvSpPr>
        <p:spPr>
          <a:xfrm>
            <a:off x="609600" y="2413000"/>
            <a:ext cx="10972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77BD"/>
                </a:solidFill>
                <a:latin typeface="Noto Sans SC"/>
                <a:ea typeface="Noto Sans SC"/>
                <a:cs typeface="Noto Sans SC"/>
                <a:sym typeface="Noto Sans SC"/>
              </a:rPr>
              <a:t>第10章 浅谈大语言模型的部署</a:t>
            </a:r>
            <a:endParaRPr lang="en-US" sz="1100"/>
          </a:p>
        </p:txBody>
      </p:sp>
      <p:cxnSp>
        <p:nvCxnSpPr>
          <p:cNvPr id="6" name="Connector 6"/>
          <p:cNvCxnSpPr/>
          <p:nvPr/>
        </p:nvCxnSpPr>
        <p:spPr>
          <a:xfrm rot="-34376">
            <a:off x="5461032" y="3168650"/>
            <a:ext cx="1270000" cy="12700"/>
          </a:xfrm>
          <a:prstGeom prst="straightConnector1">
            <a:avLst/>
          </a:prstGeom>
          <a:solidFill>
            <a:srgbClr val="DEE0E3">
              <a:alpha val="100000"/>
            </a:srgbClr>
          </a:solidFill>
          <a:ln w="25400" cap="flat" cmpd="sng">
            <a:solidFill>
              <a:srgbClr val="0277BD">
                <a:alpha val="100000"/>
              </a:srgbClr>
            </a:solidFill>
            <a:prstDash val="solid"/>
            <a:round/>
            <a:headEnd type="none" w="lg" len="lg"/>
            <a:tailEnd type="none" w="lg" len="lg"/>
          </a:ln>
        </p:spPr>
      </p:cxnSp>
      <p:sp>
        <p:nvSpPr>
          <p:cNvPr id="7" name="AutoShape 7"/>
          <p:cNvSpPr/>
          <p:nvPr/>
        </p:nvSpPr>
        <p:spPr>
          <a:xfrm>
            <a:off x="609600" y="3429000"/>
            <a:ext cx="109728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757575"/>
                </a:solidFill>
                <a:latin typeface="Noto Sans SC"/>
                <a:ea typeface="Noto Sans SC"/>
                <a:cs typeface="Noto Sans SC"/>
                <a:sym typeface="Noto Sans SC"/>
              </a:rPr>
              <a:t>大学教学课件</a:t>
            </a:r>
            <a:endParaRPr lang="en-US" sz="1100"/>
          </a:p>
        </p:txBody>
      </p:sp>
      <p:sp>
        <p:nvSpPr>
          <p:cNvPr id="8" name="AutoShape 8"/>
          <p:cNvSpPr/>
          <p:nvPr/>
        </p:nvSpPr>
        <p:spPr>
          <a:xfrm>
            <a:off x="609600" y="6096000"/>
            <a:ext cx="10972800" cy="3048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400" b="0" i="0" u="none" strike="noStrike">
                <a:solidFill>
                  <a:srgbClr val="757575">
                    <a:alpha val="80000"/>
                  </a:srgbClr>
                </a:solidFill>
                <a:latin typeface="Noto Sans SC"/>
                <a:ea typeface="Noto Sans SC"/>
                <a:cs typeface="Noto Sans SC"/>
                <a:sym typeface="Noto Sans SC"/>
              </a:rPr>
              <a:t>2024-2025 学年 · 人工智能专业课程</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9408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目录</a:t>
            </a:r>
            <a:endParaRPr lang="en-US" sz="1100"/>
          </a:p>
        </p:txBody>
      </p:sp>
      <p:sp>
        <p:nvSpPr>
          <p:cNvPr id="3" name="AutoShape 3"/>
          <p:cNvSpPr/>
          <p:nvPr/>
        </p:nvSpPr>
        <p:spPr>
          <a:xfrm>
            <a:off x="762000" y="1079500"/>
            <a:ext cx="50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2095500" y="1714500"/>
            <a:ext cx="635000" cy="635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22500" y="1841500"/>
            <a:ext cx="381000" cy="381000"/>
          </a:xfrm>
          <a:prstGeom prst="rect">
            <a:avLst/>
          </a:prstGeom>
        </p:spPr>
      </p:pic>
      <p:sp>
        <p:nvSpPr>
          <p:cNvPr id="7" name="AutoShape 7"/>
          <p:cNvSpPr/>
          <p:nvPr/>
        </p:nvSpPr>
        <p:spPr>
          <a:xfrm>
            <a:off x="889000" y="2476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10.1 MLOps与LLMOps简介</a:t>
            </a:r>
            <a:endParaRPr lang="en-US" sz="1100"/>
          </a:p>
        </p:txBody>
      </p:sp>
      <p:sp>
        <p:nvSpPr>
          <p:cNvPr id="8" name="AutoShape 8"/>
          <p:cNvSpPr/>
          <p:nvPr/>
        </p:nvSpPr>
        <p:spPr>
          <a:xfrm>
            <a:off x="952500" y="2984500"/>
            <a:ext cx="2921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757575"/>
              </a:buClr>
              <a:buChar char="•"/>
              <a:defRPr/>
            </a:pPr>
            <a:r>
              <a:rPr lang="en-US" sz="1400" b="0" i="0" u="none" strike="noStrike">
                <a:solidFill>
                  <a:srgbClr val="757575"/>
                </a:solidFill>
                <a:latin typeface="Noto Sans SC"/>
                <a:ea typeface="Noto Sans SC"/>
                <a:cs typeface="Noto Sans SC"/>
                <a:sym typeface="Noto Sans SC"/>
              </a:rPr>
              <a:t>DevOps简介</a:t>
            </a:r>
            <a:endParaRPr lang="en-US" sz="1100"/>
          </a:p>
          <a:p>
            <a:pPr marL="177800" indent="-177800" algn="l">
              <a:lnSpc>
                <a:spcPct val="108000"/>
              </a:lnSpc>
              <a:buClr>
                <a:srgbClr val="757575"/>
              </a:buClr>
              <a:buChar char="•"/>
            </a:pPr>
            <a:r>
              <a:rPr lang="en-US" sz="1400" b="0" i="0" u="none" strike="noStrike">
                <a:solidFill>
                  <a:srgbClr val="757575"/>
                </a:solidFill>
                <a:latin typeface="Noto Sans SC"/>
                <a:ea typeface="Noto Sans SC"/>
                <a:cs typeface="Noto Sans SC"/>
                <a:sym typeface="Noto Sans SC"/>
              </a:rPr>
              <a:t>MLOps简介</a:t>
            </a:r>
            <a:endParaRPr lang="en-US" sz="1400" b="0" i="0" u="none" strike="noStrike">
              <a:solidFill>
                <a:srgbClr val="757575"/>
              </a:solidFill>
              <a:latin typeface="Noto Sans SC"/>
              <a:ea typeface="Noto Sans SC"/>
              <a:cs typeface="Noto Sans SC"/>
              <a:sym typeface="Noto Sans SC"/>
            </a:endParaRPr>
          </a:p>
          <a:p>
            <a:pPr marL="177800" indent="-177800" algn="l">
              <a:lnSpc>
                <a:spcPct val="108000"/>
              </a:lnSpc>
              <a:buClr>
                <a:srgbClr val="757575"/>
              </a:buClr>
              <a:buChar char="•"/>
            </a:pPr>
            <a:r>
              <a:rPr lang="en-US" sz="1400" b="0" i="0" u="none" strike="noStrike">
                <a:solidFill>
                  <a:srgbClr val="757575"/>
                </a:solidFill>
                <a:latin typeface="Noto Sans SC"/>
                <a:ea typeface="Noto Sans SC"/>
                <a:cs typeface="Noto Sans SC"/>
                <a:sym typeface="Noto Sans SC"/>
              </a:rPr>
              <a:t>LLMOps简介</a:t>
            </a:r>
            <a:endParaRPr lang="en-US" sz="14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5778500" y="1714500"/>
            <a:ext cx="635000" cy="635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05500" y="1841500"/>
            <a:ext cx="381000" cy="381000"/>
          </a:xfrm>
          <a:prstGeom prst="rect">
            <a:avLst/>
          </a:prstGeom>
        </p:spPr>
      </p:pic>
      <p:sp>
        <p:nvSpPr>
          <p:cNvPr id="12" name="AutoShape 12"/>
          <p:cNvSpPr/>
          <p:nvPr/>
        </p:nvSpPr>
        <p:spPr>
          <a:xfrm>
            <a:off x="4572000" y="2476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10.2 大语言模型量化部署</a:t>
            </a:r>
            <a:endParaRPr lang="en-US" sz="1100"/>
          </a:p>
        </p:txBody>
      </p:sp>
      <p:sp>
        <p:nvSpPr>
          <p:cNvPr id="13" name="AutoShape 13"/>
          <p:cNvSpPr/>
          <p:nvPr/>
        </p:nvSpPr>
        <p:spPr>
          <a:xfrm>
            <a:off x="4635500" y="2984500"/>
            <a:ext cx="2921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757575"/>
              </a:buClr>
              <a:buChar char="•"/>
              <a:defRPr/>
            </a:pPr>
            <a:r>
              <a:rPr lang="en-US" sz="1400" b="0" i="0" u="none" strike="noStrike">
                <a:solidFill>
                  <a:srgbClr val="757575"/>
                </a:solidFill>
                <a:latin typeface="Noto Sans SC"/>
                <a:ea typeface="Noto Sans SC"/>
                <a:cs typeface="Noto Sans SC"/>
                <a:sym typeface="Noto Sans SC"/>
              </a:rPr>
              <a:t>Qwen2-0.5B简介</a:t>
            </a:r>
            <a:endParaRPr lang="en-US" sz="1100"/>
          </a:p>
          <a:p>
            <a:pPr marL="177800" indent="-177800" algn="l">
              <a:lnSpc>
                <a:spcPct val="108000"/>
              </a:lnSpc>
              <a:buClr>
                <a:srgbClr val="757575"/>
              </a:buClr>
              <a:buChar char="•"/>
            </a:pPr>
            <a:r>
              <a:rPr lang="en-US" sz="1400" b="0" i="0" u="none" strike="noStrike">
                <a:solidFill>
                  <a:srgbClr val="757575"/>
                </a:solidFill>
                <a:latin typeface="Noto Sans SC"/>
                <a:ea typeface="Noto Sans SC"/>
                <a:cs typeface="Noto Sans SC"/>
                <a:sym typeface="Noto Sans SC"/>
              </a:rPr>
              <a:t>ChatGLM3-6B简介</a:t>
            </a:r>
            <a:endParaRPr lang="en-US" sz="1400" b="0" i="0" u="none" strike="noStrike">
              <a:solidFill>
                <a:srgbClr val="757575"/>
              </a:solidFill>
              <a:latin typeface="Noto Sans SC"/>
              <a:ea typeface="Noto Sans SC"/>
              <a:cs typeface="Noto Sans SC"/>
              <a:sym typeface="Noto Sans SC"/>
            </a:endParaRPr>
          </a:p>
          <a:p>
            <a:pPr marL="177800" indent="-177800" algn="l">
              <a:lnSpc>
                <a:spcPct val="108000"/>
              </a:lnSpc>
              <a:buClr>
                <a:srgbClr val="757575"/>
              </a:buClr>
              <a:buChar char="•"/>
            </a:pPr>
            <a:r>
              <a:rPr lang="en-US" sz="1400" b="0" i="0" u="none" strike="noStrike">
                <a:solidFill>
                  <a:srgbClr val="757575"/>
                </a:solidFill>
                <a:latin typeface="Noto Sans SC"/>
                <a:ea typeface="Noto Sans SC"/>
                <a:cs typeface="Noto Sans SC"/>
                <a:sym typeface="Noto Sans SC"/>
              </a:rPr>
              <a:t>基于Qwen2-0.5B的CPU推理</a:t>
            </a:r>
            <a:endParaRPr lang="en-US" sz="1400" b="0" i="0" u="none" strike="noStrike">
              <a:solidFill>
                <a:srgbClr val="757575"/>
              </a:solidFill>
              <a:latin typeface="Noto Sans SC"/>
              <a:ea typeface="Noto Sans SC"/>
              <a:cs typeface="Noto Sans SC"/>
              <a:sym typeface="Noto Sans SC"/>
            </a:endParaRPr>
          </a:p>
          <a:p>
            <a:pPr marL="177800" indent="-177800" algn="l">
              <a:lnSpc>
                <a:spcPct val="108000"/>
              </a:lnSpc>
              <a:buClr>
                <a:srgbClr val="757575"/>
              </a:buClr>
              <a:buChar char="•"/>
            </a:pPr>
            <a:r>
              <a:rPr lang="en-US" sz="1400" b="0" i="0" u="none" strike="noStrike">
                <a:solidFill>
                  <a:srgbClr val="757575"/>
                </a:solidFill>
                <a:latin typeface="Noto Sans SC"/>
                <a:ea typeface="Noto Sans SC"/>
                <a:cs typeface="Noto Sans SC"/>
                <a:sym typeface="Noto Sans SC"/>
              </a:rPr>
              <a:t>基于ChatGLM3-6B的GPU量化推理</a:t>
            </a:r>
            <a:endParaRPr lang="en-US" sz="14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9461500" y="1714500"/>
            <a:ext cx="635000" cy="635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88500" y="1841500"/>
            <a:ext cx="381000" cy="381000"/>
          </a:xfrm>
          <a:prstGeom prst="rect">
            <a:avLst/>
          </a:prstGeom>
        </p:spPr>
      </p:pic>
      <p:sp>
        <p:nvSpPr>
          <p:cNvPr id="17" name="AutoShape 17"/>
          <p:cNvSpPr/>
          <p:nvPr/>
        </p:nvSpPr>
        <p:spPr>
          <a:xfrm>
            <a:off x="8255000" y="2476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10.3 大语言模型部署实战</a:t>
            </a:r>
            <a:endParaRPr lang="en-US" sz="1100"/>
          </a:p>
        </p:txBody>
      </p:sp>
      <p:sp>
        <p:nvSpPr>
          <p:cNvPr id="18" name="AutoShape 18"/>
          <p:cNvSpPr/>
          <p:nvPr/>
        </p:nvSpPr>
        <p:spPr>
          <a:xfrm>
            <a:off x="8318500" y="2984500"/>
            <a:ext cx="2921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757575"/>
              </a:buClr>
              <a:buChar char="•"/>
              <a:defRPr/>
            </a:pPr>
            <a:r>
              <a:rPr lang="en-US" sz="1400" b="0" i="0" u="none" strike="noStrike">
                <a:solidFill>
                  <a:srgbClr val="757575"/>
                </a:solidFill>
                <a:latin typeface="Noto Sans SC"/>
                <a:ea typeface="Noto Sans SC"/>
                <a:cs typeface="Noto Sans SC"/>
                <a:sym typeface="Noto Sans SC"/>
              </a:rPr>
              <a:t>基于Gradio框架的网页部署</a:t>
            </a:r>
            <a:endParaRPr lang="en-US" sz="1100"/>
          </a:p>
          <a:p>
            <a:pPr marL="177800" indent="-177800" algn="l">
              <a:lnSpc>
                <a:spcPct val="108000"/>
              </a:lnSpc>
              <a:buClr>
                <a:srgbClr val="757575"/>
              </a:buClr>
              <a:buChar char="•"/>
            </a:pPr>
            <a:r>
              <a:rPr lang="en-US" sz="1400" b="0" i="0" u="none" strike="noStrike">
                <a:solidFill>
                  <a:srgbClr val="757575"/>
                </a:solidFill>
                <a:latin typeface="Noto Sans SC"/>
                <a:ea typeface="Noto Sans SC"/>
                <a:cs typeface="Noto Sans SC"/>
                <a:sym typeface="Noto Sans SC"/>
              </a:rPr>
              <a:t>基于Streamlit框架的网页部署</a:t>
            </a:r>
            <a:endParaRPr lang="en-US" sz="1400" b="0" i="0" u="none" strike="noStrike">
              <a:solidFill>
                <a:srgbClr val="757575"/>
              </a:solidFill>
              <a:latin typeface="Noto Sans SC"/>
              <a:ea typeface="Noto Sans SC"/>
              <a:cs typeface="Noto Sans SC"/>
              <a:sym typeface="Noto Sans SC"/>
            </a:endParaRPr>
          </a:p>
          <a:p>
            <a:pPr marL="177800" indent="-177800" algn="l">
              <a:lnSpc>
                <a:spcPct val="108000"/>
              </a:lnSpc>
              <a:buClr>
                <a:srgbClr val="757575"/>
              </a:buClr>
              <a:buChar char="•"/>
            </a:pPr>
            <a:r>
              <a:rPr lang="en-US" sz="1400" b="0" i="0" u="none" strike="noStrike">
                <a:solidFill>
                  <a:srgbClr val="757575"/>
                </a:solidFill>
                <a:latin typeface="Noto Sans SC"/>
                <a:ea typeface="Noto Sans SC"/>
                <a:cs typeface="Noto Sans SC"/>
                <a:sym typeface="Noto Sans SC"/>
              </a:rPr>
              <a:t>基于FastAPI的接口部署</a:t>
            </a:r>
            <a:endParaRPr lang="en-US" sz="1400" b="0" i="0" u="none" strike="noStrike">
              <a:solidFill>
                <a:srgbClr val="757575"/>
              </a:solidFill>
              <a:latin typeface="Noto Sans SC"/>
              <a:ea typeface="Noto Sans SC"/>
              <a:cs typeface="Noto Sans SC"/>
              <a:sym typeface="Noto Sans SC"/>
            </a:endParaRPr>
          </a:p>
        </p:txBody>
      </p:sp>
      <p:sp>
        <p:nvSpPr>
          <p:cNvPr id="19" name="AutoShape 19"/>
          <p:cNvSpPr/>
          <p:nvPr/>
        </p:nvSpPr>
        <p:spPr>
          <a:xfrm>
            <a:off x="762000" y="5461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从理论演进到技术落地，全面掌握大模型工程化部署核心技能</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651000" y="1524000"/>
            <a:ext cx="8890000" cy="3048000"/>
          </a:xfrm>
          <a:prstGeom prst="roundRect">
            <a:avLst>
              <a:gd name="adj" fmla="val 8333"/>
            </a:avLst>
          </a:prstGeom>
          <a:solidFill>
            <a:srgbClr val="FFFFFF">
              <a:alpha val="9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841500"/>
            <a:ext cx="609600" cy="609600"/>
          </a:xfrm>
          <a:prstGeom prst="rect">
            <a:avLst/>
          </a:prstGeom>
        </p:spPr>
      </p:pic>
      <p:sp>
        <p:nvSpPr>
          <p:cNvPr id="5" name="AutoShape 5"/>
          <p:cNvSpPr/>
          <p:nvPr/>
        </p:nvSpPr>
        <p:spPr>
          <a:xfrm>
            <a:off x="1816100" y="2603500"/>
            <a:ext cx="85471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10.1 MLOps与LLMOps简介</a:t>
            </a:r>
            <a:endParaRPr lang="en-US" sz="1100"/>
          </a:p>
        </p:txBody>
      </p:sp>
      <p:cxnSp>
        <p:nvCxnSpPr>
          <p:cNvPr id="6" name="Connector 6"/>
          <p:cNvCxnSpPr/>
          <p:nvPr/>
        </p:nvCxnSpPr>
        <p:spPr>
          <a:xfrm rot="-34376">
            <a:off x="5461032" y="3422650"/>
            <a:ext cx="1270000" cy="12700"/>
          </a:xfrm>
          <a:prstGeom prst="straightConnector1">
            <a:avLst/>
          </a:prstGeom>
          <a:solidFill>
            <a:srgbClr val="DEE0E3">
              <a:alpha val="100000"/>
            </a:srgbClr>
          </a:solidFill>
          <a:ln w="25400" cap="flat" cmpd="sng">
            <a:solidFill>
              <a:srgbClr val="0277BD">
                <a:alpha val="30000"/>
              </a:srgbClr>
            </a:solidFill>
            <a:prstDash val="solid"/>
            <a:round/>
            <a:headEnd type="none" w="lg" len="lg"/>
            <a:tailEnd type="none" w="lg" len="lg"/>
          </a:ln>
        </p:spPr>
      </p:cxnSp>
      <p:sp>
        <p:nvSpPr>
          <p:cNvPr id="7" name="AutoShape 7"/>
          <p:cNvSpPr/>
          <p:nvPr/>
        </p:nvSpPr>
        <p:spPr>
          <a:xfrm>
            <a:off x="2286000" y="3683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0277BD">
                    <a:alpha val="80000"/>
                  </a:srgbClr>
                </a:solidFill>
                <a:latin typeface="Noto Sans SC"/>
                <a:ea typeface="Noto Sans SC"/>
                <a:cs typeface="Noto Sans SC"/>
                <a:sym typeface="Noto Sans SC"/>
              </a:rPr>
              <a:t>从传统开发运维到AI时代的演进</a:t>
            </a:r>
            <a:endParaRPr lang="en-US" sz="1100"/>
          </a:p>
        </p:txBody>
      </p:sp>
      <p:sp>
        <p:nvSpPr>
          <p:cNvPr id="8" name="AutoShape 8"/>
          <p:cNvSpPr/>
          <p:nvPr/>
        </p:nvSpPr>
        <p:spPr>
          <a:xfrm>
            <a:off x="5842000" y="6096000"/>
            <a:ext cx="50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10.1.1 DevOps简介</a:t>
            </a:r>
            <a:endParaRPr lang="en-US" sz="1100"/>
          </a:p>
        </p:txBody>
      </p:sp>
      <p:sp>
        <p:nvSpPr>
          <p:cNvPr id="3" name="AutoShape 3"/>
          <p:cNvSpPr/>
          <p:nvPr/>
        </p:nvSpPr>
        <p:spPr>
          <a:xfrm>
            <a:off x="762000" y="1397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651000"/>
            <a:ext cx="635000" cy="635000"/>
          </a:xfrm>
          <a:prstGeom prst="rect">
            <a:avLst/>
          </a:prstGeom>
        </p:spPr>
      </p:pic>
      <p:sp>
        <p:nvSpPr>
          <p:cNvPr id="5" name="AutoShape 5"/>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核心定义</a:t>
            </a:r>
            <a:endParaRPr lang="en-US" sz="1100"/>
          </a:p>
        </p:txBody>
      </p:sp>
      <p:sp>
        <p:nvSpPr>
          <p:cNvPr id="6" name="AutoShape 6"/>
          <p:cNvSpPr/>
          <p:nvPr/>
        </p:nvSpPr>
        <p:spPr>
          <a:xfrm>
            <a:off x="952500" y="2921000"/>
            <a:ext cx="2921000" cy="1524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DevOps是Development（开发）和Operations（运维）的结合，是一种强调协作与自动化的软件开发方法论。</a:t>
            </a:r>
            <a:endParaRPr lang="en-US" sz="1100"/>
          </a:p>
        </p:txBody>
      </p:sp>
      <p:sp>
        <p:nvSpPr>
          <p:cNvPr id="7" name="AutoShape 7"/>
          <p:cNvSpPr/>
          <p:nvPr/>
        </p:nvSpPr>
        <p:spPr>
          <a:xfrm>
            <a:off x="4445000" y="1397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651000"/>
            <a:ext cx="635000" cy="635000"/>
          </a:xfrm>
          <a:prstGeom prst="rect">
            <a:avLst/>
          </a:prstGeom>
        </p:spPr>
      </p:pic>
      <p:sp>
        <p:nvSpPr>
          <p:cNvPr id="9" name="AutoShape 9"/>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核心目标</a:t>
            </a:r>
            <a:endParaRPr lang="en-US" sz="1100"/>
          </a:p>
        </p:txBody>
      </p:sp>
      <p:sp>
        <p:nvSpPr>
          <p:cNvPr id="10" name="AutoShape 10"/>
          <p:cNvSpPr/>
          <p:nvPr/>
        </p:nvSpPr>
        <p:spPr>
          <a:xfrm>
            <a:off x="4635500" y="2921000"/>
            <a:ext cx="2921000" cy="1524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打破开发与运维壁垒，实现软件的快速、高可靠、高质量交付，提升业务响应速度与稳定性。</a:t>
            </a:r>
            <a:endParaRPr lang="en-US" sz="1100"/>
          </a:p>
        </p:txBody>
      </p:sp>
      <p:sp>
        <p:nvSpPr>
          <p:cNvPr id="11" name="AutoShape 11"/>
          <p:cNvSpPr/>
          <p:nvPr/>
        </p:nvSpPr>
        <p:spPr>
          <a:xfrm>
            <a:off x="8128000" y="1397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651000"/>
            <a:ext cx="635000" cy="635000"/>
          </a:xfrm>
          <a:prstGeom prst="rect">
            <a:avLst/>
          </a:prstGeom>
        </p:spPr>
      </p:pic>
      <p:sp>
        <p:nvSpPr>
          <p:cNvPr id="13" name="AutoShape 13"/>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产生背景</a:t>
            </a:r>
            <a:endParaRPr lang="en-US" sz="1100"/>
          </a:p>
        </p:txBody>
      </p:sp>
      <p:sp>
        <p:nvSpPr>
          <p:cNvPr id="14" name="AutoShape 14"/>
          <p:cNvSpPr/>
          <p:nvPr/>
        </p:nvSpPr>
        <p:spPr>
          <a:xfrm>
            <a:off x="8318500" y="2921000"/>
            <a:ext cx="2921000" cy="1524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随着架构从单体向微服务、分布式演进，对开发运维协同效率提出了更高要求，DevOps应运而生。</a:t>
            </a:r>
            <a:endParaRPr lang="en-US" sz="1100"/>
          </a:p>
        </p:txBody>
      </p:sp>
      <p:sp>
        <p:nvSpPr>
          <p:cNvPr id="15" name="AutoShape 15"/>
          <p:cNvSpPr/>
          <p:nvPr/>
        </p:nvSpPr>
        <p:spPr>
          <a:xfrm>
            <a:off x="762000" y="5080000"/>
            <a:ext cx="10668000" cy="1016000"/>
          </a:xfrm>
          <a:prstGeom prst="roundRect">
            <a:avLst>
              <a:gd name="adj" fmla="val 12500"/>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384800"/>
            <a:ext cx="406400" cy="406400"/>
          </a:xfrm>
          <a:prstGeom prst="rect">
            <a:avLst/>
          </a:prstGeom>
        </p:spPr>
      </p:pic>
      <p:sp>
        <p:nvSpPr>
          <p:cNvPr id="17" name="AutoShape 17"/>
          <p:cNvSpPr/>
          <p:nvPr/>
        </p:nvSpPr>
        <p:spPr>
          <a:xfrm>
            <a:off x="1524000" y="5207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关键洞察：</a:t>
            </a:r>
            <a:r>
              <a:rPr lang="en-US" sz="1800" b="0" i="0" u="none" strike="noStrike">
                <a:solidFill>
                  <a:srgbClr val="424242"/>
                </a:solidFill>
                <a:latin typeface="Noto Sans SC"/>
                <a:ea typeface="Noto Sans SC"/>
                <a:cs typeface="Noto Sans SC"/>
                <a:sym typeface="Noto Sans SC"/>
              </a:rPr>
              <a:t>DevOps不仅是工具链的升级，更是文化与流程的变革，是实现持续交付与持续集成（CI/CD）的基石。</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DevOps的核心原则（1）</a:t>
            </a:r>
            <a:endParaRPr lang="en-US" sz="1100"/>
          </a:p>
        </p:txBody>
      </p:sp>
      <p:sp>
        <p:nvSpPr>
          <p:cNvPr id="3" name="AutoShape 3"/>
          <p:cNvSpPr/>
          <p:nvPr/>
        </p:nvSpPr>
        <p:spPr>
          <a:xfrm>
            <a:off x="762000" y="1524000"/>
            <a:ext cx="5080000" cy="3048000"/>
          </a:xfrm>
          <a:prstGeom prst="roundRect">
            <a:avLst>
              <a:gd name="adj" fmla="val 4166"/>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143000" y="1905000"/>
            <a:ext cx="762000" cy="762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33500" y="2095500"/>
            <a:ext cx="381000" cy="381000"/>
          </a:xfrm>
          <a:prstGeom prst="rect">
            <a:avLst/>
          </a:prstGeom>
        </p:spPr>
      </p:pic>
      <p:sp>
        <p:nvSpPr>
          <p:cNvPr id="6" name="AutoShape 6"/>
          <p:cNvSpPr/>
          <p:nvPr/>
        </p:nvSpPr>
        <p:spPr>
          <a:xfrm>
            <a:off x="2159000" y="1968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277BD"/>
                </a:solidFill>
                <a:latin typeface="Noto Sans SC"/>
                <a:ea typeface="Noto Sans SC"/>
                <a:cs typeface="Noto Sans SC"/>
                <a:sym typeface="Noto Sans SC"/>
              </a:rPr>
              <a:t>自动化</a:t>
            </a:r>
            <a:endParaRPr lang="en-US" sz="1100"/>
          </a:p>
        </p:txBody>
      </p:sp>
      <p:sp>
        <p:nvSpPr>
          <p:cNvPr id="7" name="AutoShape 7"/>
          <p:cNvSpPr/>
          <p:nvPr/>
        </p:nvSpPr>
        <p:spPr>
          <a:xfrm>
            <a:off x="1143000" y="2794000"/>
            <a:ext cx="43180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通过工具减少人工操作，降低错误，提高开发和部署的质量与效率。</a:t>
            </a:r>
            <a:endParaRPr lang="en-US" sz="1100"/>
          </a:p>
        </p:txBody>
      </p:sp>
      <p:sp>
        <p:nvSpPr>
          <p:cNvPr id="8" name="AutoShape 8"/>
          <p:cNvSpPr/>
          <p:nvPr/>
        </p:nvSpPr>
        <p:spPr>
          <a:xfrm>
            <a:off x="6350000" y="1524000"/>
            <a:ext cx="5080000" cy="3048000"/>
          </a:xfrm>
          <a:prstGeom prst="roundRect">
            <a:avLst>
              <a:gd name="adj" fmla="val 4166"/>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731000" y="1905000"/>
            <a:ext cx="762000" cy="762000"/>
          </a:xfrm>
          <a:prstGeom prst="ellipse">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1500" y="2095500"/>
            <a:ext cx="381000" cy="381000"/>
          </a:xfrm>
          <a:prstGeom prst="rect">
            <a:avLst/>
          </a:prstGeom>
        </p:spPr>
      </p:pic>
      <p:sp>
        <p:nvSpPr>
          <p:cNvPr id="11" name="AutoShape 11"/>
          <p:cNvSpPr/>
          <p:nvPr/>
        </p:nvSpPr>
        <p:spPr>
          <a:xfrm>
            <a:off x="7747000" y="1968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277BD"/>
                </a:solidFill>
                <a:latin typeface="Noto Sans SC"/>
                <a:ea typeface="Noto Sans SC"/>
                <a:cs typeface="Noto Sans SC"/>
                <a:sym typeface="Noto Sans SC"/>
              </a:rPr>
              <a:t>持续集成和交付</a:t>
            </a:r>
            <a:endParaRPr lang="en-US" sz="1100"/>
          </a:p>
        </p:txBody>
      </p:sp>
      <p:sp>
        <p:nvSpPr>
          <p:cNvPr id="12" name="AutoShape 12"/>
          <p:cNvSpPr/>
          <p:nvPr/>
        </p:nvSpPr>
        <p:spPr>
          <a:xfrm>
            <a:off x="6731000" y="2794000"/>
            <a:ext cx="43180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0" i="0" u="none" strike="noStrike">
                <a:solidFill>
                  <a:srgbClr val="757575"/>
                </a:solidFill>
                <a:latin typeface="Noto Sans SC"/>
                <a:ea typeface="Noto Sans SC"/>
                <a:cs typeface="Noto Sans SC"/>
                <a:sym typeface="Noto Sans SC"/>
              </a:rPr>
              <a:t>敏捷开发，快速迭代，持续地集成、构建、测试和交付软件。</a:t>
            </a:r>
            <a:endParaRPr lang="en-US" sz="1100"/>
          </a:p>
        </p:txBody>
      </p:sp>
      <p:sp>
        <p:nvSpPr>
          <p:cNvPr id="13" name="AutoShape 13"/>
          <p:cNvSpPr/>
          <p:nvPr/>
        </p:nvSpPr>
        <p:spPr>
          <a:xfrm>
            <a:off x="762000" y="5334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 y="5588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DevOps 文化强调协作、自动化与持续改进，旨在缩短开发周期并提升可靠性。</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DevOps的核心原则（2）</a:t>
            </a:r>
            <a:endParaRPr lang="en-US" sz="1100"/>
          </a:p>
        </p:txBody>
      </p:sp>
      <p:sp>
        <p:nvSpPr>
          <p:cNvPr id="3" name="AutoShape 3"/>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68500" y="1778000"/>
            <a:ext cx="889000" cy="889000"/>
          </a:xfrm>
          <a:prstGeom prst="rect">
            <a:avLst/>
          </a:prstGeom>
        </p:spPr>
      </p:pic>
      <p:sp>
        <p:nvSpPr>
          <p:cNvPr id="5" name="AutoShape 5"/>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沟通协作</a:t>
            </a:r>
            <a:endParaRPr lang="en-US" sz="1100"/>
          </a:p>
        </p:txBody>
      </p:sp>
      <p:sp>
        <p:nvSpPr>
          <p:cNvPr id="6" name="AutoShape 6"/>
          <p:cNvSpPr/>
          <p:nvPr/>
        </p:nvSpPr>
        <p:spPr>
          <a:xfrm>
            <a:off x="952500" y="3302000"/>
            <a:ext cx="2921000" cy="1397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加强开发与运维团队的沟通，降低协作成本，提高效率。</a:t>
            </a:r>
            <a:endParaRPr lang="en-US" sz="1100"/>
          </a:p>
        </p:txBody>
      </p:sp>
      <p:sp>
        <p:nvSpPr>
          <p:cNvPr id="7" name="AutoShape 7"/>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1778000"/>
            <a:ext cx="889000" cy="889000"/>
          </a:xfrm>
          <a:prstGeom prst="rect">
            <a:avLst/>
          </a:prstGeom>
        </p:spPr>
      </p:pic>
      <p:sp>
        <p:nvSpPr>
          <p:cNvPr id="9" name="AutoShape 9"/>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基础设施管理</a:t>
            </a:r>
            <a:endParaRPr lang="en-US" sz="1100"/>
          </a:p>
        </p:txBody>
      </p:sp>
      <p:sp>
        <p:nvSpPr>
          <p:cNvPr id="10" name="AutoShape 10"/>
          <p:cNvSpPr/>
          <p:nvPr/>
        </p:nvSpPr>
        <p:spPr>
          <a:xfrm>
            <a:off x="4635500" y="3302000"/>
            <a:ext cx="2921000" cy="1397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用自动化工具管理基础设施，实现弹性资源调度和服务质量保障。</a:t>
            </a:r>
            <a:endParaRPr lang="en-US" sz="1100"/>
          </a:p>
        </p:txBody>
      </p:sp>
      <p:sp>
        <p:nvSpPr>
          <p:cNvPr id="11" name="AutoShape 11"/>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500" y="1778000"/>
            <a:ext cx="889000" cy="889000"/>
          </a:xfrm>
          <a:prstGeom prst="rect">
            <a:avLst/>
          </a:prstGeom>
        </p:spPr>
      </p:pic>
      <p:sp>
        <p:nvSpPr>
          <p:cNvPr id="13" name="AutoShape 13"/>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监控和预警</a:t>
            </a:r>
            <a:endParaRPr lang="en-US" sz="1100"/>
          </a:p>
        </p:txBody>
      </p:sp>
      <p:sp>
        <p:nvSpPr>
          <p:cNvPr id="14" name="AutoShape 14"/>
          <p:cNvSpPr/>
          <p:nvPr/>
        </p:nvSpPr>
        <p:spPr>
          <a:xfrm>
            <a:off x="8318500" y="3302000"/>
            <a:ext cx="2921000" cy="1397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实时监控系统状态，快速发现并解决问题，提升系统稳定性。</a:t>
            </a:r>
            <a:endParaRPr lang="en-US" sz="1100"/>
          </a:p>
        </p:txBody>
      </p:sp>
      <p:sp>
        <p:nvSpPr>
          <p:cNvPr id="15" name="AutoShape 15"/>
          <p:cNvSpPr/>
          <p:nvPr/>
        </p:nvSpPr>
        <p:spPr>
          <a:xfrm>
            <a:off x="762000" y="5842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10.1.2 MLOps简介</a:t>
            </a:r>
            <a:endParaRPr lang="en-US" sz="1100"/>
          </a:p>
        </p:txBody>
      </p:sp>
      <p:sp>
        <p:nvSpPr>
          <p:cNvPr id="3" name="AutoShape 3"/>
          <p:cNvSpPr/>
          <p:nvPr/>
        </p:nvSpPr>
        <p:spPr>
          <a:xfrm>
            <a:off x="762000" y="1270000"/>
            <a:ext cx="10668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508000" cy="508000"/>
          </a:xfrm>
          <a:prstGeom prst="rect">
            <a:avLst/>
          </a:prstGeom>
        </p:spPr>
      </p:pic>
      <p:sp>
        <p:nvSpPr>
          <p:cNvPr id="5" name="AutoShape 5"/>
          <p:cNvSpPr/>
          <p:nvPr/>
        </p:nvSpPr>
        <p:spPr>
          <a:xfrm>
            <a:off x="1651000" y="1397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定义：</a:t>
            </a:r>
            <a:r>
              <a:rPr lang="en-US" sz="1800" b="0" i="0" u="none" strike="noStrike">
                <a:solidFill>
                  <a:srgbClr val="757575"/>
                </a:solidFill>
                <a:latin typeface="Noto Sans SC"/>
                <a:ea typeface="Noto Sans SC"/>
                <a:cs typeface="Noto Sans SC"/>
                <a:sym typeface="Noto Sans SC"/>
              </a:rPr>
              <a:t>MLOps (Machine Learning Operations) 是一套在生产环境中部署和运维机器学习模型的可靠和高效的实践。</a:t>
            </a:r>
            <a:endParaRPr lang="en-US" sz="1100"/>
          </a:p>
        </p:txBody>
      </p:sp>
      <p:sp>
        <p:nvSpPr>
          <p:cNvPr id="6" name="AutoShape 6"/>
          <p:cNvSpPr/>
          <p:nvPr/>
        </p:nvSpPr>
        <p:spPr>
          <a:xfrm>
            <a:off x="762000" y="241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标准流程：</a:t>
            </a:r>
            <a:r>
              <a:rPr lang="en-US" sz="1800" b="0" i="0" u="none" strike="noStrike">
                <a:solidFill>
                  <a:srgbClr val="757575"/>
                </a:solidFill>
                <a:latin typeface="Noto Sans SC"/>
                <a:ea typeface="Noto Sans SC"/>
                <a:cs typeface="Noto Sans SC"/>
                <a:sym typeface="Noto Sans SC"/>
              </a:rPr>
              <a:t>涵盖从数据采集、准备、模型训练、评估到部署的全生命周期。</a:t>
            </a:r>
            <a:endParaRPr lang="en-US" sz="1100"/>
          </a:p>
        </p:txBody>
      </p:sp>
      <p:pic>
        <p:nvPicPr>
          <p:cNvPr id="7" name="Picture 7"/>
          <p:cNvPicPr>
            <a:picLocks noChangeAspect="1"/>
          </p:cNvPicPr>
          <p:nvPr/>
        </p:nvPicPr>
        <p:blipFill>
          <a:blip r:embed="rId3"/>
          <a:srcRect t="89" b="89"/>
          <a:stretch>
            <a:fillRect/>
          </a:stretch>
        </p:blipFill>
        <p:spPr>
          <a:xfrm>
            <a:off x="3937000" y="2921000"/>
            <a:ext cx="4318000" cy="2171700"/>
          </a:xfrm>
          <a:prstGeom prst="roundRect">
            <a:avLst>
              <a:gd name="adj" fmla="val 5847"/>
            </a:avLst>
          </a:prstGeom>
          <a:noFill/>
          <a:ln w="25400" cap="flat" cmpd="sng">
            <a:solidFill>
              <a:srgbClr val="FFFFFF">
                <a:alpha val="100000"/>
              </a:srgbClr>
            </a:solidFill>
            <a:prstDash val="solid"/>
            <a:round/>
          </a:ln>
          <a:effectLst>
            <a:outerShdw blurRad="127000" dist="50800" dir="5400000" algn="tl" rotWithShape="0">
              <a:srgbClr val="000000">
                <a:alpha val="10000"/>
              </a:srgbClr>
            </a:outerShdw>
          </a:effectLst>
        </p:spPr>
      </p:pic>
      <p:sp>
        <p:nvSpPr>
          <p:cNvPr id="8" name="AutoShape 8"/>
          <p:cNvSpPr/>
          <p:nvPr/>
        </p:nvSpPr>
        <p:spPr>
          <a:xfrm>
            <a:off x="762000" y="5207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图示：NVIDIA定义的MLOps标准全生命周期流程</a:t>
            </a:r>
            <a:endParaRPr lang="en-US" sz="1100"/>
          </a:p>
        </p:txBody>
      </p:sp>
      <p:sp>
        <p:nvSpPr>
          <p:cNvPr id="9" name="AutoShape 9"/>
          <p:cNvSpPr/>
          <p:nvPr/>
        </p:nvSpPr>
        <p:spPr>
          <a:xfrm>
            <a:off x="0" y="6731000"/>
            <a:ext cx="12192000" cy="127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DevOps与MLOps的关系</a:t>
            </a:r>
            <a:endParaRPr lang="en-US" sz="1100"/>
          </a:p>
        </p:txBody>
      </p:sp>
      <p:sp>
        <p:nvSpPr>
          <p:cNvPr id="3" name="AutoShape 3"/>
          <p:cNvSpPr/>
          <p:nvPr/>
        </p:nvSpPr>
        <p:spPr>
          <a:xfrm>
            <a:off x="762000" y="12700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24000"/>
            <a:ext cx="508000" cy="508000"/>
          </a:xfrm>
          <a:prstGeom prst="rect">
            <a:avLst/>
          </a:prstGeom>
        </p:spPr>
      </p:pic>
      <p:sp>
        <p:nvSpPr>
          <p:cNvPr id="5" name="AutoShape 5"/>
          <p:cNvSpPr/>
          <p:nvPr/>
        </p:nvSpPr>
        <p:spPr>
          <a:xfrm>
            <a:off x="1587500" y="1397000"/>
            <a:ext cx="4127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MLOps是DevOps的扩展</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在DevOps基础上，增加了数据工程和模型工程的全流程管理。</a:t>
            </a:r>
            <a:endParaRPr lang="en-US" sz="14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24130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667000"/>
            <a:ext cx="508000" cy="508000"/>
          </a:xfrm>
          <a:prstGeom prst="rect">
            <a:avLst/>
          </a:prstGeom>
        </p:spPr>
      </p:pic>
      <p:sp>
        <p:nvSpPr>
          <p:cNvPr id="8" name="AutoShape 8"/>
          <p:cNvSpPr/>
          <p:nvPr/>
        </p:nvSpPr>
        <p:spPr>
          <a:xfrm>
            <a:off x="1587500" y="2540000"/>
            <a:ext cx="4127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核心公式</a:t>
            </a:r>
            <a:endParaRPr lang="en-US" sz="1100"/>
          </a:p>
          <a:p>
            <a:pPr indent="0" algn="l">
              <a:lnSpc>
                <a:spcPct val="125000"/>
              </a:lnSpc>
            </a:pPr>
            <a:r>
              <a:rPr lang="en-US" sz="1600" b="1" i="0" u="none" strike="noStrike">
                <a:solidFill>
                  <a:srgbClr val="757575"/>
                </a:solidFill>
                <a:latin typeface="Noto Sans SC"/>
                <a:ea typeface="Noto Sans SC"/>
                <a:cs typeface="Noto Sans SC"/>
                <a:sym typeface="Noto Sans SC"/>
              </a:rPr>
              <a:t>MLOps = ML + Dev + Ops</a:t>
            </a:r>
            <a:endParaRPr lang="en-US" sz="1600" b="1"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3556000"/>
            <a:ext cx="5080000" cy="1016000"/>
          </a:xfrm>
          <a:prstGeom prst="roundRect">
            <a:avLst>
              <a:gd name="adj" fmla="val 12500"/>
            </a:avLst>
          </a:prstGeom>
          <a:solidFill>
            <a:srgbClr val="FFFFFF">
              <a:alpha val="100000"/>
            </a:srgbClr>
          </a:solidFill>
          <a:ln w="25400" cap="flat" cmpd="sng">
            <a:noFill/>
            <a:prstDash val="solid"/>
            <a:round/>
          </a:ln>
          <a:effectLst>
            <a:outerShdw blurRad="1016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3810000"/>
            <a:ext cx="508000" cy="508000"/>
          </a:xfrm>
          <a:prstGeom prst="rect">
            <a:avLst/>
          </a:prstGeom>
        </p:spPr>
      </p:pic>
      <p:sp>
        <p:nvSpPr>
          <p:cNvPr id="11" name="AutoShape 11"/>
          <p:cNvSpPr/>
          <p:nvPr/>
        </p:nvSpPr>
        <p:spPr>
          <a:xfrm>
            <a:off x="1587500" y="3683000"/>
            <a:ext cx="4127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核心目标</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确保机器学习模型在生产环境中的一致性、可靠性和可维护性。</a:t>
            </a:r>
            <a:endParaRPr lang="en-US" sz="1400" b="0" i="0" u="none" strike="noStrike">
              <a:solidFill>
                <a:srgbClr val="757575"/>
              </a:solidFill>
              <a:latin typeface="Noto Sans SC"/>
              <a:ea typeface="Noto Sans SC"/>
              <a:cs typeface="Noto Sans SC"/>
              <a:sym typeface="Noto Sans SC"/>
            </a:endParaRPr>
          </a:p>
        </p:txBody>
      </p:sp>
      <p:pic>
        <p:nvPicPr>
          <p:cNvPr id="12" name="Picture 12"/>
          <p:cNvPicPr>
            <a:picLocks noChangeAspect="1"/>
          </p:cNvPicPr>
          <p:nvPr/>
        </p:nvPicPr>
        <p:blipFill>
          <a:blip r:embed="rId7"/>
          <a:srcRect l="2" r="2"/>
          <a:stretch>
            <a:fillRect/>
          </a:stretch>
        </p:blipFill>
        <p:spPr>
          <a:xfrm>
            <a:off x="6223000" y="1270000"/>
            <a:ext cx="4953000" cy="2171700"/>
          </a:xfrm>
          <a:prstGeom prst="roundRect">
            <a:avLst>
              <a:gd name="adj" fmla="val 5847"/>
            </a:avLst>
          </a:prstGeom>
          <a:noFill/>
          <a:ln w="25400" cap="flat" cmpd="sng">
            <a:noFill/>
            <a:prstDash val="solid"/>
            <a:round/>
          </a:ln>
          <a:effectLst>
            <a:outerShdw blurRad="127000" dist="50800" dir="5400000" algn="tl" rotWithShape="0">
              <a:srgbClr val="000000">
                <a:alpha val="10000"/>
              </a:srgbClr>
            </a:outerShdw>
          </a:effectLst>
        </p:spPr>
      </p:pic>
      <p:sp>
        <p:nvSpPr>
          <p:cNvPr id="13" name="AutoShape 13"/>
          <p:cNvSpPr/>
          <p:nvPr/>
        </p:nvSpPr>
        <p:spPr>
          <a:xfrm>
            <a:off x="6223000" y="3556000"/>
            <a:ext cx="495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1" u="none" strike="noStrike">
                <a:solidFill>
                  <a:srgbClr val="757575"/>
                </a:solidFill>
                <a:latin typeface="Noto Sans SC"/>
                <a:ea typeface="Noto Sans SC"/>
                <a:cs typeface="Noto Sans SC"/>
                <a:sym typeface="Noto Sans SC"/>
              </a:rPr>
              <a:t>图示：MLOps全流程最佳实践框架</a:t>
            </a:r>
            <a:endParaRPr lang="en-US" sz="1100"/>
          </a:p>
        </p:txBody>
      </p:sp>
      <p:sp>
        <p:nvSpPr>
          <p:cNvPr id="14" name="AutoShape 14"/>
          <p:cNvSpPr/>
          <p:nvPr/>
        </p:nvSpPr>
        <p:spPr>
          <a:xfrm>
            <a:off x="762000" y="5334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10.1.3 LLMOps简介</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714500"/>
            <a:ext cx="406400" cy="406400"/>
          </a:xfrm>
          <a:prstGeom prst="rect">
            <a:avLst/>
          </a:prstGeom>
        </p:spPr>
      </p:pic>
      <p:sp>
        <p:nvSpPr>
          <p:cNvPr id="5" name="AutoShape 5"/>
          <p:cNvSpPr/>
          <p:nvPr/>
        </p:nvSpPr>
        <p:spPr>
          <a:xfrm>
            <a:off x="1587500" y="16764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背景：传统ML vs LLM</a:t>
            </a:r>
            <a:endParaRPr lang="en-US" sz="1100"/>
          </a:p>
        </p:txBody>
      </p:sp>
      <p:sp>
        <p:nvSpPr>
          <p:cNvPr id="6" name="AutoShape 6"/>
          <p:cNvSpPr/>
          <p:nvPr/>
        </p:nvSpPr>
        <p:spPr>
          <a:xfrm>
            <a:off x="1079500" y="2222500"/>
            <a:ext cx="4445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大语言模型（LLM）在数据规模、训练方式、评估标准、部署需求和推理模式上与传统机器学习（ML）模型存在巨大差异，带来了全新的技术挑战。</a:t>
            </a:r>
            <a:endParaRPr lang="en-US" sz="1100"/>
          </a:p>
        </p:txBody>
      </p:sp>
      <p:sp>
        <p:nvSpPr>
          <p:cNvPr id="7" name="AutoShape 7"/>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1714500"/>
            <a:ext cx="406400" cy="406400"/>
          </a:xfrm>
          <a:prstGeom prst="rect">
            <a:avLst/>
          </a:prstGeom>
        </p:spPr>
      </p:pic>
      <p:sp>
        <p:nvSpPr>
          <p:cNvPr id="9" name="AutoShape 9"/>
          <p:cNvSpPr/>
          <p:nvPr/>
        </p:nvSpPr>
        <p:spPr>
          <a:xfrm>
            <a:off x="7175500" y="1676400"/>
            <a:ext cx="4000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定义：MLOps的演进</a:t>
            </a:r>
            <a:endParaRPr lang="en-US" sz="1100"/>
          </a:p>
        </p:txBody>
      </p:sp>
      <p:sp>
        <p:nvSpPr>
          <p:cNvPr id="10" name="AutoShape 10"/>
          <p:cNvSpPr/>
          <p:nvPr/>
        </p:nvSpPr>
        <p:spPr>
          <a:xfrm>
            <a:off x="6667500" y="2222500"/>
            <a:ext cx="4445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LLMOps是MLOps的进一步演进，它专注于解决在生产环境中开发、部署和管理大型语言模型应用时面临的独特挑战，确保模型高效、稳定地运行。</a:t>
            </a:r>
            <a:endParaRPr lang="en-US" sz="1100"/>
          </a:p>
        </p:txBody>
      </p:sp>
      <p:sp>
        <p:nvSpPr>
          <p:cNvPr id="11" name="AutoShape 11"/>
          <p:cNvSpPr/>
          <p:nvPr/>
        </p:nvSpPr>
        <p:spPr>
          <a:xfrm>
            <a:off x="762000" y="5461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62000" y="56515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757575"/>
                </a:solidFill>
                <a:latin typeface="Noto Sans SC"/>
                <a:ea typeface="Noto Sans SC"/>
                <a:cs typeface="Noto Sans SC"/>
                <a:sym typeface="Noto Sans SC"/>
              </a:rPr>
              <a:t>“从数据到部署，LLMOps为大模型落地提供全流程保障”</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LLMOps的核心挑战与覆盖范围</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81000" cy="381000"/>
          </a:xfrm>
          <a:prstGeom prst="rect">
            <a:avLst/>
          </a:prstGeom>
        </p:spPr>
      </p:pic>
      <p:sp>
        <p:nvSpPr>
          <p:cNvPr id="6" name="AutoShape 6"/>
          <p:cNvSpPr/>
          <p:nvPr/>
        </p:nvSpPr>
        <p:spPr>
          <a:xfrm>
            <a:off x="1524000" y="1460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核心挑战 (Technical Challenges)</a:t>
            </a:r>
            <a:endParaRPr lang="en-US" sz="1100"/>
          </a:p>
        </p:txBody>
      </p:sp>
      <p:sp>
        <p:nvSpPr>
          <p:cNvPr id="7" name="AutoShape 7"/>
          <p:cNvSpPr/>
          <p:nvPr/>
        </p:nvSpPr>
        <p:spPr>
          <a:xfrm>
            <a:off x="1016000" y="2222500"/>
            <a:ext cx="4572000" cy="2540000"/>
          </a:xfrm>
          <a:prstGeom prst="rect">
            <a:avLst/>
          </a:prstGeom>
          <a:noFill/>
          <a:ln w="12700" cap="flat" cmpd="sng">
            <a:noFill/>
            <a:prstDash val="solid"/>
            <a:round/>
          </a:ln>
        </p:spPr>
        <p:txBody>
          <a:bodyPr vert="horz" wrap="square" lIns="0" tIns="0" rIns="0" bIns="0" rtlCol="0" anchor="ctr" anchorCtr="0"/>
          <a:lstStyle/>
          <a:p>
            <a:pPr marL="228600" indent="-228600" algn="l">
              <a:lnSpc>
                <a:spcPct val="108000"/>
              </a:lnSpc>
              <a:buClr>
                <a:srgbClr val="757575"/>
              </a:buClr>
              <a:buChar char="•"/>
              <a:defRPr/>
            </a:pPr>
            <a:r>
              <a:rPr lang="en-US" sz="1800" b="1" i="0" u="none" strike="noStrike">
                <a:solidFill>
                  <a:srgbClr val="757575"/>
                </a:solidFill>
                <a:latin typeface="Noto Sans SC"/>
                <a:ea typeface="Noto Sans SC"/>
                <a:cs typeface="Noto Sans SC"/>
                <a:sym typeface="Noto Sans SC"/>
              </a:rPr>
              <a:t>基础模型预训练：</a:t>
            </a:r>
            <a:r>
              <a:rPr lang="en-US" sz="1800" b="0" i="0" u="none" strike="noStrike">
                <a:solidFill>
                  <a:srgbClr val="757575"/>
                </a:solidFill>
                <a:latin typeface="Noto Sans SC"/>
                <a:ea typeface="Noto Sans SC"/>
                <a:cs typeface="Noto Sans SC"/>
                <a:sym typeface="Noto Sans SC"/>
              </a:rPr>
              <a:t>海量数据处理与算力消耗</a:t>
            </a:r>
            <a:endParaRPr lang="en-US" sz="1100"/>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监督微调 (SFT)：</a:t>
            </a:r>
            <a:r>
              <a:rPr lang="en-US" sz="1800" b="0" i="0" u="none" strike="noStrike">
                <a:solidFill>
                  <a:srgbClr val="757575"/>
                </a:solidFill>
                <a:latin typeface="Noto Sans SC"/>
                <a:ea typeface="Noto Sans SC"/>
                <a:cs typeface="Noto Sans SC"/>
                <a:sym typeface="Noto Sans SC"/>
              </a:rPr>
              <a:t>高质量指令数据的获取与清洗</a:t>
            </a:r>
            <a:endParaRPr lang="en-US" sz="1800" b="0" i="0" u="none" strike="noStrike">
              <a:solidFill>
                <a:srgbClr val="757575"/>
              </a:solidFill>
              <a:latin typeface="Noto Sans SC"/>
              <a:ea typeface="Noto Sans SC"/>
              <a:cs typeface="Noto Sans SC"/>
              <a:sym typeface="Noto Sans SC"/>
            </a:endParaRPr>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RLHF：</a:t>
            </a:r>
            <a:r>
              <a:rPr lang="en-US" sz="1800" b="0" i="0" u="none" strike="noStrike">
                <a:solidFill>
                  <a:srgbClr val="757575"/>
                </a:solidFill>
                <a:latin typeface="Noto Sans SC"/>
                <a:ea typeface="Noto Sans SC"/>
                <a:cs typeface="Noto Sans SC"/>
                <a:sym typeface="Noto Sans SC"/>
              </a:rPr>
              <a:t>人类反馈的规模化与一致性</a:t>
            </a:r>
            <a:endParaRPr lang="en-US" sz="1800" b="0" i="0" u="none" strike="noStrike">
              <a:solidFill>
                <a:srgbClr val="757575"/>
              </a:solidFill>
              <a:latin typeface="Noto Sans SC"/>
              <a:ea typeface="Noto Sans SC"/>
              <a:cs typeface="Noto Sans SC"/>
              <a:sym typeface="Noto Sans SC"/>
            </a:endParaRPr>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模型定制：</a:t>
            </a:r>
            <a:r>
              <a:rPr lang="en-US" sz="1800" b="0" i="0" u="none" strike="noStrike">
                <a:solidFill>
                  <a:srgbClr val="757575"/>
                </a:solidFill>
                <a:latin typeface="Noto Sans SC"/>
                <a:ea typeface="Noto Sans SC"/>
                <a:cs typeface="Noto Sans SC"/>
                <a:sym typeface="Noto Sans SC"/>
              </a:rPr>
              <a:t>针对特定场景的适配与优化</a:t>
            </a:r>
            <a:endParaRPr lang="en-US" sz="1800" b="0" i="0" u="none" strike="noStrike">
              <a:solidFill>
                <a:srgbClr val="757575"/>
              </a:solidFill>
              <a:latin typeface="Noto Sans SC"/>
              <a:ea typeface="Noto Sans SC"/>
              <a:cs typeface="Noto Sans SC"/>
              <a:sym typeface="Noto Sans SC"/>
            </a:endParaRPr>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多模型集成：</a:t>
            </a:r>
            <a:r>
              <a:rPr lang="en-US" sz="1800" b="0" i="0" u="none" strike="noStrike">
                <a:solidFill>
                  <a:srgbClr val="757575"/>
                </a:solidFill>
                <a:latin typeface="Noto Sans SC"/>
                <a:ea typeface="Noto Sans SC"/>
                <a:cs typeface="Noto Sans SC"/>
                <a:sym typeface="Noto Sans SC"/>
              </a:rPr>
              <a:t>异构模型的调度与协同工作</a:t>
            </a:r>
            <a:endParaRPr lang="en-US" sz="18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350000" y="1397000"/>
            <a:ext cx="5080000" cy="635000"/>
          </a:xfrm>
          <a:prstGeom prst="roundRect">
            <a:avLst>
              <a:gd name="adj" fmla="val 20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524000"/>
            <a:ext cx="381000" cy="381000"/>
          </a:xfrm>
          <a:prstGeom prst="rect">
            <a:avLst/>
          </a:prstGeom>
        </p:spPr>
      </p:pic>
      <p:sp>
        <p:nvSpPr>
          <p:cNvPr id="11" name="AutoShape 11"/>
          <p:cNvSpPr/>
          <p:nvPr/>
        </p:nvSpPr>
        <p:spPr>
          <a:xfrm>
            <a:off x="7112000" y="1460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覆盖范围 (Scope &amp; Lifecycle)</a:t>
            </a:r>
            <a:endParaRPr lang="en-US" sz="1100"/>
          </a:p>
        </p:txBody>
      </p:sp>
      <p:sp>
        <p:nvSpPr>
          <p:cNvPr id="12" name="AutoShape 12"/>
          <p:cNvSpPr/>
          <p:nvPr/>
        </p:nvSpPr>
        <p:spPr>
          <a:xfrm>
            <a:off x="6604000" y="2222500"/>
            <a:ext cx="4572000" cy="2540000"/>
          </a:xfrm>
          <a:prstGeom prst="rect">
            <a:avLst/>
          </a:prstGeom>
          <a:noFill/>
          <a:ln w="12700" cap="flat" cmpd="sng">
            <a:noFill/>
            <a:prstDash val="solid"/>
            <a:round/>
          </a:ln>
        </p:spPr>
        <p:txBody>
          <a:bodyPr vert="horz" wrap="square" lIns="0" tIns="0" rIns="0" bIns="0" rtlCol="0" anchor="ctr" anchorCtr="0"/>
          <a:lstStyle/>
          <a:p>
            <a:pPr marL="228600" indent="-228600" algn="l">
              <a:lnSpc>
                <a:spcPct val="108000"/>
              </a:lnSpc>
              <a:buClr>
                <a:srgbClr val="757575"/>
              </a:buClr>
              <a:buChar char="•"/>
              <a:defRPr/>
            </a:pPr>
            <a:r>
              <a:rPr lang="en-US" sz="1800" b="1" i="0" u="none" strike="noStrike">
                <a:solidFill>
                  <a:srgbClr val="757575"/>
                </a:solidFill>
                <a:latin typeface="Noto Sans SC"/>
                <a:ea typeface="Noto Sans SC"/>
                <a:cs typeface="Noto Sans SC"/>
                <a:sym typeface="Noto Sans SC"/>
              </a:rPr>
              <a:t>全生命周期管理：</a:t>
            </a:r>
            <a:r>
              <a:rPr lang="en-US" sz="1800" b="0" i="0" u="none" strike="noStrike">
                <a:solidFill>
                  <a:srgbClr val="757575"/>
                </a:solidFill>
                <a:latin typeface="Noto Sans SC"/>
                <a:ea typeface="Noto Sans SC"/>
                <a:cs typeface="Noto Sans SC"/>
                <a:sym typeface="Noto Sans SC"/>
              </a:rPr>
              <a:t>从模型训练到部署的全流程管控</a:t>
            </a:r>
            <a:endParaRPr lang="en-US" sz="1100"/>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目标设定：</a:t>
            </a:r>
            <a:r>
              <a:rPr lang="en-US" sz="1800" b="0" i="0" u="none" strike="noStrike">
                <a:solidFill>
                  <a:srgbClr val="757575"/>
                </a:solidFill>
                <a:latin typeface="Noto Sans SC"/>
                <a:ea typeface="Noto Sans SC"/>
                <a:cs typeface="Noto Sans SC"/>
                <a:sym typeface="Noto Sans SC"/>
              </a:rPr>
              <a:t>明确业务价值与模型性能指标</a:t>
            </a:r>
            <a:endParaRPr lang="en-US" sz="1800" b="0" i="0" u="none" strike="noStrike">
              <a:solidFill>
                <a:srgbClr val="757575"/>
              </a:solidFill>
              <a:latin typeface="Noto Sans SC"/>
              <a:ea typeface="Noto Sans SC"/>
              <a:cs typeface="Noto Sans SC"/>
              <a:sym typeface="Noto Sans SC"/>
            </a:endParaRPr>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团队组织：</a:t>
            </a:r>
            <a:r>
              <a:rPr lang="en-US" sz="1800" b="0" i="0" u="none" strike="noStrike">
                <a:solidFill>
                  <a:srgbClr val="757575"/>
                </a:solidFill>
                <a:latin typeface="Noto Sans SC"/>
                <a:ea typeface="Noto Sans SC"/>
                <a:cs typeface="Noto Sans SC"/>
                <a:sym typeface="Noto Sans SC"/>
              </a:rPr>
              <a:t>跨职能协作（研发、产品、运维）</a:t>
            </a:r>
            <a:endParaRPr lang="en-US" sz="1800" b="0" i="0" u="none" strike="noStrike">
              <a:solidFill>
                <a:srgbClr val="757575"/>
              </a:solidFill>
              <a:latin typeface="Noto Sans SC"/>
              <a:ea typeface="Noto Sans SC"/>
              <a:cs typeface="Noto Sans SC"/>
              <a:sym typeface="Noto Sans SC"/>
            </a:endParaRPr>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流程改进：</a:t>
            </a:r>
            <a:r>
              <a:rPr lang="en-US" sz="1800" b="0" i="0" u="none" strike="noStrike">
                <a:solidFill>
                  <a:srgbClr val="757575"/>
                </a:solidFill>
                <a:latin typeface="Noto Sans SC"/>
                <a:ea typeface="Noto Sans SC"/>
                <a:cs typeface="Noto Sans SC"/>
                <a:sym typeface="Noto Sans SC"/>
              </a:rPr>
              <a:t>建立标准化的开发与运维流程</a:t>
            </a:r>
            <a:endParaRPr lang="en-US" sz="1800" b="0" i="0" u="none" strike="noStrike">
              <a:solidFill>
                <a:srgbClr val="757575"/>
              </a:solidFill>
              <a:latin typeface="Noto Sans SC"/>
              <a:ea typeface="Noto Sans SC"/>
              <a:cs typeface="Noto Sans SC"/>
              <a:sym typeface="Noto Sans SC"/>
            </a:endParaRPr>
          </a:p>
          <a:p>
            <a:pPr marL="228600" indent="-228600" algn="l">
              <a:lnSpc>
                <a:spcPct val="108000"/>
              </a:lnSpc>
              <a:buClr>
                <a:srgbClr val="757575"/>
              </a:buClr>
              <a:buChar char="•"/>
            </a:pPr>
            <a:r>
              <a:rPr lang="en-US" sz="1800" b="1" i="0" u="none" strike="noStrike">
                <a:solidFill>
                  <a:srgbClr val="757575"/>
                </a:solidFill>
                <a:latin typeface="Noto Sans SC"/>
                <a:ea typeface="Noto Sans SC"/>
                <a:cs typeface="Noto Sans SC"/>
                <a:sym typeface="Noto Sans SC"/>
              </a:rPr>
              <a:t>持续迭代：</a:t>
            </a:r>
            <a:r>
              <a:rPr lang="en-US" sz="1800" b="0" i="0" u="none" strike="noStrike">
                <a:solidFill>
                  <a:srgbClr val="757575"/>
                </a:solidFill>
                <a:latin typeface="Noto Sans SC"/>
                <a:ea typeface="Noto Sans SC"/>
                <a:cs typeface="Noto Sans SC"/>
                <a:sym typeface="Noto Sans SC"/>
              </a:rPr>
              <a:t>基于反馈的模型优化与版本管理</a:t>
            </a:r>
            <a:endParaRPr lang="en-US" sz="18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762000" y="5334000"/>
            <a:ext cx="10668000" cy="889000"/>
          </a:xfrm>
          <a:prstGeom prst="roundRect">
            <a:avLst>
              <a:gd name="adj" fmla="val 14285"/>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524500"/>
            <a:ext cx="508000" cy="508000"/>
          </a:xfrm>
          <a:prstGeom prst="rect">
            <a:avLst/>
          </a:prstGeom>
        </p:spPr>
      </p:pic>
      <p:sp>
        <p:nvSpPr>
          <p:cNvPr id="15" name="AutoShape 15"/>
          <p:cNvSpPr/>
          <p:nvPr/>
        </p:nvSpPr>
        <p:spPr>
          <a:xfrm>
            <a:off x="1651000" y="54610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关键洞察：</a:t>
            </a:r>
            <a:r>
              <a:rPr lang="en-US" sz="1800" b="0" i="0" u="none" strike="noStrike">
                <a:solidFill>
                  <a:srgbClr val="757575"/>
                </a:solidFill>
                <a:latin typeface="Noto Sans SC"/>
                <a:ea typeface="Noto Sans SC"/>
                <a:cs typeface="Noto Sans SC"/>
                <a:sym typeface="Noto Sans SC"/>
              </a:rPr>
              <a:t>LLMOps不仅是技术实践，更是管理科学，旨在确保大语言模型应用高效、可靠地落地。</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5080000" cy="508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5" name="AutoShape 5"/>
          <p:cNvSpPr/>
          <p:nvPr/>
        </p:nvSpPr>
        <p:spPr>
          <a:xfrm>
            <a:off x="2578100" y="2540000"/>
            <a:ext cx="7035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10.2 大语言模型量化部署</a:t>
            </a:r>
            <a:endParaRPr lang="en-US" sz="1100"/>
          </a:p>
        </p:txBody>
      </p:sp>
      <p:cxnSp>
        <p:nvCxnSpPr>
          <p:cNvPr id="6" name="Connector 6"/>
          <p:cNvCxnSpPr/>
          <p:nvPr/>
        </p:nvCxnSpPr>
        <p:spPr>
          <a:xfrm rot="-34376">
            <a:off x="5461032" y="3422650"/>
            <a:ext cx="1270000" cy="12700"/>
          </a:xfrm>
          <a:prstGeom prst="line">
            <a:avLst/>
          </a:prstGeom>
          <a:solidFill>
            <a:srgbClr val="DEE0E3">
              <a:alpha val="100000"/>
            </a:srgbClr>
          </a:solidFill>
          <a:ln w="25400" cap="flat" cmpd="sng">
            <a:solidFill>
              <a:srgbClr val="0277BD">
                <a:alpha val="30000"/>
              </a:srgbClr>
            </a:solidFill>
            <a:prstDash val="solid"/>
            <a:round/>
            <a:headEnd type="none" w="lg" len="lg"/>
            <a:tailEnd type="none" w="lg" len="lg"/>
          </a:ln>
        </p:spPr>
      </p:cxnSp>
      <p:sp>
        <p:nvSpPr>
          <p:cNvPr id="7" name="AutoShape 7"/>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263238"/>
                </a:solidFill>
                <a:latin typeface="Noto Sans SC"/>
                <a:ea typeface="Noto Sans SC"/>
                <a:cs typeface="Noto Sans SC"/>
                <a:sym typeface="Noto Sans SC"/>
              </a:rPr>
              <a:t>优化模型效率，实现高效推理</a:t>
            </a:r>
            <a:endParaRPr lang="en-US" sz="1100"/>
          </a:p>
        </p:txBody>
      </p:sp>
      <p:sp>
        <p:nvSpPr>
          <p:cNvPr id="8" name="AutoShape 8"/>
          <p:cNvSpPr/>
          <p:nvPr/>
        </p:nvSpPr>
        <p:spPr>
          <a:xfrm>
            <a:off x="5334000" y="4826000"/>
            <a:ext cx="1524000" cy="355600"/>
          </a:xfrm>
          <a:prstGeom prst="roundRect">
            <a:avLst>
              <a:gd name="adj" fmla="val 50000"/>
            </a:avLst>
          </a:prstGeom>
          <a:solidFill>
            <a:srgbClr val="0277BD">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0277BD"/>
                </a:solidFill>
                <a:latin typeface="Noto Sans SC"/>
                <a:ea typeface="Noto Sans SC"/>
                <a:cs typeface="Noto Sans SC"/>
                <a:sym typeface="Noto Sans SC"/>
              </a:rPr>
              <a:t>技术进阶</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50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10.2.1 Qwen2-0.5B简介</a:t>
            </a:r>
            <a:endParaRPr lang="en-US" sz="1100"/>
          </a:p>
        </p:txBody>
      </p:sp>
      <p:sp>
        <p:nvSpPr>
          <p:cNvPr id="3" name="AutoShape 3"/>
          <p:cNvSpPr/>
          <p:nvPr/>
        </p:nvSpPr>
        <p:spPr>
          <a:xfrm>
            <a:off x="762000" y="1397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609600" cy="609600"/>
          </a:xfrm>
          <a:prstGeom prst="rect">
            <a:avLst/>
          </a:prstGeom>
        </p:spPr>
      </p:pic>
      <p:sp>
        <p:nvSpPr>
          <p:cNvPr id="5" name="AutoShape 5"/>
          <p:cNvSpPr/>
          <p:nvPr/>
        </p:nvSpPr>
        <p:spPr>
          <a:xfrm>
            <a:off x="1778000" y="15875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模型背景</a:t>
            </a:r>
            <a:endParaRPr lang="en-US" sz="1100"/>
          </a:p>
        </p:txBody>
      </p:sp>
      <p:sp>
        <p:nvSpPr>
          <p:cNvPr id="6" name="AutoShape 6"/>
          <p:cNvSpPr/>
          <p:nvPr/>
        </p:nvSpPr>
        <p:spPr>
          <a:xfrm>
            <a:off x="1778000" y="19685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由阿里巴巴Qwen团队开发的新一代大语言模型系列，已全面升级至Qwen2版本，具备更强的性能与适应性。</a:t>
            </a:r>
            <a:endParaRPr lang="en-US" sz="1100"/>
          </a:p>
        </p:txBody>
      </p:sp>
      <p:sp>
        <p:nvSpPr>
          <p:cNvPr id="7" name="AutoShape 7"/>
          <p:cNvSpPr/>
          <p:nvPr/>
        </p:nvSpPr>
        <p:spPr>
          <a:xfrm>
            <a:off x="762000" y="2921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609600" cy="609600"/>
          </a:xfrm>
          <a:prstGeom prst="rect">
            <a:avLst/>
          </a:prstGeom>
        </p:spPr>
      </p:pic>
      <p:sp>
        <p:nvSpPr>
          <p:cNvPr id="9" name="AutoShape 9"/>
          <p:cNvSpPr/>
          <p:nvPr/>
        </p:nvSpPr>
        <p:spPr>
          <a:xfrm>
            <a:off x="1778000" y="31115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适用场景</a:t>
            </a:r>
            <a:endParaRPr lang="en-US" sz="1100"/>
          </a:p>
        </p:txBody>
      </p:sp>
      <p:sp>
        <p:nvSpPr>
          <p:cNvPr id="10" name="AutoShape 10"/>
          <p:cNvSpPr/>
          <p:nvPr/>
        </p:nvSpPr>
        <p:spPr>
          <a:xfrm>
            <a:off x="1778000" y="34925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0.5B-1B参数的小模型版本，非常适合资源有限的研究环境、个人学习以及小批量数据验证等轻量级应用场景。</a:t>
            </a:r>
            <a:endParaRPr lang="en-US" sz="1100"/>
          </a:p>
        </p:txBody>
      </p:sp>
      <p:sp>
        <p:nvSpPr>
          <p:cNvPr id="11" name="AutoShape 11"/>
          <p:cNvSpPr/>
          <p:nvPr/>
        </p:nvSpPr>
        <p:spPr>
          <a:xfrm>
            <a:off x="762000" y="4445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609600" cy="609600"/>
          </a:xfrm>
          <a:prstGeom prst="rect">
            <a:avLst/>
          </a:prstGeom>
        </p:spPr>
      </p:pic>
      <p:sp>
        <p:nvSpPr>
          <p:cNvPr id="13" name="AutoShape 13"/>
          <p:cNvSpPr/>
          <p:nvPr/>
        </p:nvSpPr>
        <p:spPr>
          <a:xfrm>
            <a:off x="1778000" y="46355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主要特性</a:t>
            </a:r>
            <a:endParaRPr lang="en-US" sz="1100"/>
          </a:p>
        </p:txBody>
      </p:sp>
      <p:sp>
        <p:nvSpPr>
          <p:cNvPr id="14" name="AutoShape 14"/>
          <p:cNvSpPr/>
          <p:nvPr/>
        </p:nvSpPr>
        <p:spPr>
          <a:xfrm>
            <a:off x="1778000" y="5016500"/>
            <a:ext cx="9398000" cy="762000"/>
          </a:xfrm>
          <a:prstGeom prst="rect">
            <a:avLst/>
          </a:prstGeom>
          <a:noFill/>
          <a:ln w="12700" cap="flat" cmpd="sng">
            <a:noFill/>
            <a:prstDash val="solid"/>
            <a:round/>
          </a:ln>
        </p:spPr>
        <p:txBody>
          <a:bodyPr vert="horz" wrap="square" lIns="0" tIns="0" rIns="0" bIns="0" rtlCol="0" anchor="ctr" anchorCtr="0"/>
          <a:lstStyle/>
          <a:p>
            <a:pPr marL="228600" indent="-228600" algn="l">
              <a:lnSpc>
                <a:spcPct val="125000"/>
              </a:lnSpc>
              <a:buClr>
                <a:srgbClr val="757575"/>
              </a:buClr>
              <a:buChar char="•"/>
              <a:defRPr/>
            </a:pPr>
            <a:r>
              <a:rPr lang="en-US" sz="1800" b="0" i="0" u="none" strike="noStrike">
                <a:solidFill>
                  <a:srgbClr val="757575"/>
                </a:solidFill>
                <a:latin typeface="Noto Sans SC"/>
                <a:ea typeface="Noto Sans SC"/>
                <a:cs typeface="Noto Sans SC"/>
                <a:sym typeface="Noto Sans SC"/>
              </a:rPr>
              <a:t>提供多种尺寸选择（0.5B到720B），满足不同层级需求。</a:t>
            </a:r>
            <a:endParaRPr lang="en-US" sz="1100"/>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支持多语言，且经过符合人类偏好的指令调整，交互更自然。</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部分模型支持超长上下文（最高128K Tokens），处理长文档能力强。</a:t>
            </a:r>
            <a:endParaRPr lang="en-US" sz="18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62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10.2.2 ChatGLM3-6B简介</a:t>
            </a:r>
            <a:endParaRPr lang="en-US" sz="1100"/>
          </a:p>
        </p:txBody>
      </p:sp>
      <p:sp>
        <p:nvSpPr>
          <p:cNvPr id="3" name="AutoShape 3"/>
          <p:cNvSpPr/>
          <p:nvPr/>
        </p:nvSpPr>
        <p:spPr>
          <a:xfrm>
            <a:off x="762000" y="1397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25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模型背景</a:t>
            </a:r>
            <a:endParaRPr lang="en-US" sz="1100"/>
          </a:p>
        </p:txBody>
      </p:sp>
      <p:sp>
        <p:nvSpPr>
          <p:cNvPr id="6" name="AutoShape 6"/>
          <p:cNvSpPr/>
          <p:nvPr/>
        </p:nvSpPr>
        <p:spPr>
          <a:xfrm>
            <a:off x="1016000" y="2159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智谱AI推出的开源大语言模型系列，以优秀的中英双语能力著称。</a:t>
            </a:r>
            <a:endParaRPr lang="en-US" sz="1100"/>
          </a:p>
        </p:txBody>
      </p:sp>
      <p:sp>
        <p:nvSpPr>
          <p:cNvPr id="7" name="AutoShape 7"/>
          <p:cNvSpPr/>
          <p:nvPr/>
        </p:nvSpPr>
        <p:spPr>
          <a:xfrm>
            <a:off x="4445000" y="1397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25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发展历程</a:t>
            </a:r>
            <a:endParaRPr lang="en-US" sz="1100"/>
          </a:p>
        </p:txBody>
      </p:sp>
      <p:sp>
        <p:nvSpPr>
          <p:cNvPr id="10" name="AutoShape 10"/>
          <p:cNvSpPr/>
          <p:nvPr/>
        </p:nvSpPr>
        <p:spPr>
          <a:xfrm>
            <a:off x="4699000" y="2159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从ChatGLM-6B到ChatGLM2-6B，再到最新的ChatGLM3-6B。</a:t>
            </a:r>
            <a:endParaRPr lang="en-US" sz="1100"/>
          </a:p>
        </p:txBody>
      </p:sp>
      <p:sp>
        <p:nvSpPr>
          <p:cNvPr id="11" name="AutoShape 11"/>
          <p:cNvSpPr/>
          <p:nvPr/>
        </p:nvSpPr>
        <p:spPr>
          <a:xfrm>
            <a:off x="8128000" y="1397000"/>
            <a:ext cx="3302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25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核心新特性</a:t>
            </a:r>
            <a:endParaRPr lang="en-US" sz="1100"/>
          </a:p>
        </p:txBody>
      </p:sp>
      <p:sp>
        <p:nvSpPr>
          <p:cNvPr id="14" name="AutoShape 14"/>
          <p:cNvSpPr/>
          <p:nvPr/>
        </p:nvSpPr>
        <p:spPr>
          <a:xfrm>
            <a:off x="8382000" y="2159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引入全新Prompt格式，原生支持工具调用与代码执行，大幅增强了复杂场景的处理能力。</a:t>
            </a:r>
            <a:endParaRPr lang="en-US" sz="1100"/>
          </a:p>
        </p:txBody>
      </p:sp>
      <p:sp>
        <p:nvSpPr>
          <p:cNvPr id="15" name="AutoShape 15"/>
          <p:cNvSpPr/>
          <p:nvPr/>
        </p:nvSpPr>
        <p:spPr>
          <a:xfrm>
            <a:off x="762000" y="3937000"/>
            <a:ext cx="10668000" cy="1270000"/>
          </a:xfrm>
          <a:prstGeom prst="roundRect">
            <a:avLst>
              <a:gd name="adj" fmla="val 100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254500"/>
            <a:ext cx="508000" cy="508000"/>
          </a:xfrm>
          <a:prstGeom prst="rect">
            <a:avLst/>
          </a:prstGeom>
        </p:spPr>
      </p:pic>
      <p:sp>
        <p:nvSpPr>
          <p:cNvPr id="17" name="AutoShape 17"/>
          <p:cNvSpPr/>
          <p:nvPr/>
        </p:nvSpPr>
        <p:spPr>
          <a:xfrm>
            <a:off x="1778000" y="41275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长文本对话支持</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提供长文本对话模型，支持32K上下文窗口，能够处理更长的输入和生成更长的回复。</a:t>
            </a:r>
            <a:endParaRPr lang="en-US" sz="16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4963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10.2.3 基于Qwen2-0.5B的CPU推理</a:t>
            </a:r>
            <a:endParaRPr lang="en-US" sz="1100"/>
          </a:p>
        </p:txBody>
      </p:sp>
      <p:sp>
        <p:nvSpPr>
          <p:cNvPr id="3" name="AutoShape 3"/>
          <p:cNvSpPr/>
          <p:nvPr/>
        </p:nvSpPr>
        <p:spPr>
          <a:xfrm>
            <a:off x="762000" y="1397000"/>
            <a:ext cx="431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651000" y="15240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模型下载</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从HuggingFace或ModelScope下载模型权重文件。</a:t>
            </a:r>
            <a:endParaRPr lang="en-US" sz="14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2794000"/>
            <a:ext cx="431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508000" cy="508000"/>
          </a:xfrm>
          <a:prstGeom prst="rect">
            <a:avLst/>
          </a:prstGeom>
        </p:spPr>
      </p:pic>
      <p:sp>
        <p:nvSpPr>
          <p:cNvPr id="8" name="AutoShape 8"/>
          <p:cNvSpPr/>
          <p:nvPr/>
        </p:nvSpPr>
        <p:spPr>
          <a:xfrm>
            <a:off x="1651000" y="29210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环境准备</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建议安装 transformers &gt;= 4.37.0 版本。</a:t>
            </a:r>
            <a:endParaRPr lang="en-US" sz="14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191000"/>
            <a:ext cx="431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08500"/>
            <a:ext cx="508000" cy="508000"/>
          </a:xfrm>
          <a:prstGeom prst="rect">
            <a:avLst/>
          </a:prstGeom>
        </p:spPr>
      </p:pic>
      <p:sp>
        <p:nvSpPr>
          <p:cNvPr id="11" name="AutoShape 11"/>
          <p:cNvSpPr/>
          <p:nvPr/>
        </p:nvSpPr>
        <p:spPr>
          <a:xfrm>
            <a:off x="1651000" y="4318000"/>
            <a:ext cx="3175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代码示例</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使用 pipeline 方式进行推理，简洁高效。</a:t>
            </a:r>
            <a:endParaRPr lang="en-US" sz="14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5461000" y="1397000"/>
            <a:ext cx="5969000" cy="3937000"/>
          </a:xfrm>
          <a:prstGeom prst="roundRect">
            <a:avLst>
              <a:gd name="adj" fmla="val 3225"/>
            </a:avLst>
          </a:prstGeom>
          <a:solidFill>
            <a:srgbClr val="1E1E1E">
              <a:alpha val="100000"/>
            </a:srgbClr>
          </a:solidFill>
          <a:ln w="25400" cap="flat" cmpd="sng">
            <a:noFill/>
            <a:prstDash val="solid"/>
            <a:round/>
          </a:ln>
          <a:effectLst>
            <a:outerShdw blurRad="1905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13" name="AutoShape 13"/>
          <p:cNvSpPr/>
          <p:nvPr/>
        </p:nvSpPr>
        <p:spPr>
          <a:xfrm>
            <a:off x="5461000" y="1397000"/>
            <a:ext cx="5969000" cy="381000"/>
          </a:xfrm>
          <a:prstGeom prst="roundRect">
            <a:avLst>
              <a:gd name="adj" fmla="val 0"/>
            </a:avLst>
          </a:prstGeom>
          <a:solidFill>
            <a:srgbClr val="3232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651500" y="14986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05500" y="14986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159500" y="14986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588000" y="1841500"/>
            <a:ext cx="5715000" cy="3302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600" b="0" i="0" u="none" strike="noStrike">
                <a:solidFill>
                  <a:srgbClr val="FF79C6"/>
                </a:solidFill>
                <a:latin typeface="Roboto"/>
                <a:ea typeface="Roboto"/>
                <a:cs typeface="Roboto"/>
                <a:sym typeface="Roboto"/>
              </a:rPr>
              <a:t>from</a:t>
            </a:r>
            <a:r>
              <a:rPr lang="en-US" sz="1600" b="0" i="0" u="none" strike="noStrike">
                <a:solidFill>
                  <a:srgbClr val="F8F8F2"/>
                </a:solidFill>
                <a:latin typeface="Roboto"/>
                <a:ea typeface="Roboto"/>
                <a:cs typeface="Roboto"/>
                <a:sym typeface="Roboto"/>
              </a:rPr>
              <a:t>transformers</a:t>
            </a:r>
            <a:r>
              <a:rPr lang="en-US" sz="1600" b="0" i="0" u="none" strike="noStrike">
                <a:solidFill>
                  <a:srgbClr val="FF79C6"/>
                </a:solidFill>
                <a:latin typeface="Roboto"/>
                <a:ea typeface="Roboto"/>
                <a:cs typeface="Roboto"/>
                <a:sym typeface="Roboto"/>
              </a:rPr>
              <a:t>import</a:t>
            </a:r>
            <a:r>
              <a:rPr lang="en-US" sz="1600" b="0" i="0" u="none" strike="noStrike">
                <a:solidFill>
                  <a:srgbClr val="F8F8F2"/>
                </a:solidFill>
                <a:latin typeface="Roboto"/>
                <a:ea typeface="Roboto"/>
                <a:cs typeface="Roboto"/>
                <a:sym typeface="Roboto"/>
              </a:rPr>
              <a:t>AutoTokenizer, Qwen2ForCausalLM</a:t>
            </a:r>
            <a:endParaRPr lang="en-US" sz="1100"/>
          </a:p>
          <a:p>
            <a:pPr indent="0" algn="l">
              <a:lnSpc>
                <a:spcPct val="100000"/>
              </a:lnSpc>
            </a:pPr>
            <a:r>
              <a:rPr lang="en-US" sz="1600" b="0" i="0" u="none" strike="noStrike">
                <a:solidFill>
                  <a:srgbClr val="FF79C6"/>
                </a:solidFill>
                <a:latin typeface="Roboto"/>
                <a:ea typeface="Roboto"/>
                <a:cs typeface="Roboto"/>
                <a:sym typeface="Roboto"/>
              </a:rPr>
              <a:t>from</a:t>
            </a:r>
            <a:r>
              <a:rPr lang="en-US" sz="1600" b="0" i="0" u="none" strike="noStrike">
                <a:solidFill>
                  <a:srgbClr val="F8F8F2"/>
                </a:solidFill>
                <a:latin typeface="Roboto"/>
                <a:ea typeface="Roboto"/>
                <a:cs typeface="Roboto"/>
                <a:sym typeface="Roboto"/>
              </a:rPr>
              <a:t>transformers</a:t>
            </a:r>
            <a:r>
              <a:rPr lang="en-US" sz="1600" b="0" i="0" u="none" strike="noStrike">
                <a:solidFill>
                  <a:srgbClr val="FF79C6"/>
                </a:solidFill>
                <a:latin typeface="Roboto"/>
                <a:ea typeface="Roboto"/>
                <a:cs typeface="Roboto"/>
                <a:sym typeface="Roboto"/>
              </a:rPr>
              <a:t>import</a:t>
            </a:r>
            <a:r>
              <a:rPr lang="en-US" sz="1600" b="0" i="0" u="none" strike="noStrike">
                <a:solidFill>
                  <a:srgbClr val="F8F8F2"/>
                </a:solidFill>
                <a:latin typeface="Roboto"/>
                <a:ea typeface="Roboto"/>
                <a:cs typeface="Roboto"/>
                <a:sym typeface="Roboto"/>
              </a:rPr>
              <a:t>pipeline</a:t>
            </a:r>
            <a:endParaRPr lang="en-US" sz="1600" b="0" i="0" u="none" strike="noStrike">
              <a:solidFill>
                <a:srgbClr val="F8F8F2"/>
              </a:solidFill>
              <a:latin typeface="Roboto"/>
              <a:ea typeface="Roboto"/>
              <a:cs typeface="Roboto"/>
              <a:sym typeface="Roboto"/>
            </a:endParaRPr>
          </a:p>
          <a:p>
            <a:pPr indent="0" algn="l">
              <a:lnSpc>
                <a:spcPct val="100000"/>
              </a:lnSpc>
            </a:pPr>
          </a:p>
          <a:p>
            <a:pPr indent="0" algn="l">
              <a:lnSpc>
                <a:spcPct val="100000"/>
              </a:lnSpc>
            </a:pPr>
            <a:r>
              <a:rPr lang="en-US" sz="1600" b="0" i="0" u="none" strike="noStrike">
                <a:solidFill>
                  <a:srgbClr val="F8F8F2"/>
                </a:solidFill>
                <a:latin typeface="Roboto"/>
                <a:ea typeface="Roboto"/>
                <a:cs typeface="Roboto"/>
                <a:sym typeface="Roboto"/>
              </a:rPr>
              <a:t>tokenizer = AutoTokenizer.from_pretrained(</a:t>
            </a:r>
            <a:r>
              <a:rPr lang="en-US" sz="1600" b="0" i="0" u="none" strike="noStrike">
                <a:solidFill>
                  <a:srgbClr val="F1FA8C"/>
                </a:solidFill>
                <a:latin typeface="Roboto"/>
                <a:ea typeface="Roboto"/>
                <a:cs typeface="Roboto"/>
                <a:sym typeface="Roboto"/>
              </a:rPr>
              <a:t>"../Qwen2-0.5B"</a:t>
            </a:r>
            <a:r>
              <a:rPr lang="en-US" sz="1600" b="0" i="0" u="none" strike="noStrike">
                <a:solidFill>
                  <a:srgbClr val="F8F8F2"/>
                </a:solidFill>
                <a:latin typeface="Roboto"/>
                <a:ea typeface="Roboto"/>
                <a:cs typeface="Roboto"/>
                <a:sym typeface="Roboto"/>
              </a:rPr>
              <a:t>, trust_remote_code=</a:t>
            </a:r>
            <a:r>
              <a:rPr lang="en-US" sz="1600" b="0" i="0" u="none" strike="noStrike">
                <a:solidFill>
                  <a:srgbClr val="BD93F9"/>
                </a:solidFill>
                <a:latin typeface="Roboto"/>
                <a:ea typeface="Roboto"/>
                <a:cs typeface="Roboto"/>
                <a:sym typeface="Roboto"/>
              </a:rPr>
              <a:t>True</a:t>
            </a:r>
            <a:r>
              <a:rPr lang="en-US" sz="1600" b="0" i="0" u="none" strike="noStrike">
                <a:solidFill>
                  <a:srgbClr val="F8F8F2"/>
                </a:solidFill>
                <a:latin typeface="Roboto"/>
                <a:ea typeface="Roboto"/>
                <a:cs typeface="Roboto"/>
                <a:sym typeface="Roboto"/>
              </a:rPr>
              <a:t>)</a:t>
            </a:r>
            <a:endParaRPr lang="en-US" sz="1600" b="0" i="0" u="none" strike="noStrike">
              <a:solidFill>
                <a:srgbClr val="F8F8F2"/>
              </a:solidFill>
              <a:latin typeface="Roboto"/>
              <a:ea typeface="Roboto"/>
              <a:cs typeface="Roboto"/>
              <a:sym typeface="Roboto"/>
            </a:endParaRPr>
          </a:p>
          <a:p>
            <a:pPr indent="0" algn="l">
              <a:lnSpc>
                <a:spcPct val="100000"/>
              </a:lnSpc>
            </a:pPr>
            <a:r>
              <a:rPr lang="en-US" sz="1600" b="0" i="0" u="none" strike="noStrike">
                <a:solidFill>
                  <a:srgbClr val="F8F8F2"/>
                </a:solidFill>
                <a:latin typeface="Roboto"/>
                <a:ea typeface="Roboto"/>
                <a:cs typeface="Roboto"/>
                <a:sym typeface="Roboto"/>
              </a:rPr>
              <a:t>model = Qwen2ForCausalLM.from_pretrained(</a:t>
            </a:r>
            <a:r>
              <a:rPr lang="en-US" sz="1600" b="0" i="0" u="none" strike="noStrike">
                <a:solidFill>
                  <a:srgbClr val="F1FA8C"/>
                </a:solidFill>
                <a:latin typeface="Roboto"/>
                <a:ea typeface="Roboto"/>
                <a:cs typeface="Roboto"/>
                <a:sym typeface="Roboto"/>
              </a:rPr>
              <a:t>"../Qwen2-0.5B"</a:t>
            </a:r>
            <a:r>
              <a:rPr lang="en-US" sz="1600" b="0" i="0" u="none" strike="noStrike">
                <a:solidFill>
                  <a:srgbClr val="F8F8F2"/>
                </a:solidFill>
                <a:latin typeface="Roboto"/>
                <a:ea typeface="Roboto"/>
                <a:cs typeface="Roboto"/>
                <a:sym typeface="Roboto"/>
              </a:rPr>
              <a:t>, trust_remote_code=</a:t>
            </a:r>
            <a:r>
              <a:rPr lang="en-US" sz="1600" b="0" i="0" u="none" strike="noStrike">
                <a:solidFill>
                  <a:srgbClr val="BD93F9"/>
                </a:solidFill>
                <a:latin typeface="Roboto"/>
                <a:ea typeface="Roboto"/>
                <a:cs typeface="Roboto"/>
                <a:sym typeface="Roboto"/>
              </a:rPr>
              <a:t>True</a:t>
            </a:r>
            <a:r>
              <a:rPr lang="en-US" sz="1600" b="0" i="0" u="none" strike="noStrike">
                <a:solidFill>
                  <a:srgbClr val="F8F8F2"/>
                </a:solidFill>
                <a:latin typeface="Roboto"/>
                <a:ea typeface="Roboto"/>
                <a:cs typeface="Roboto"/>
                <a:sym typeface="Roboto"/>
              </a:rPr>
              <a:t>).cpu().float()</a:t>
            </a:r>
            <a:endParaRPr lang="en-US" sz="1600" b="0" i="0" u="none" strike="noStrike">
              <a:solidFill>
                <a:srgbClr val="F8F8F2"/>
              </a:solidFill>
              <a:latin typeface="Roboto"/>
              <a:ea typeface="Roboto"/>
              <a:cs typeface="Roboto"/>
              <a:sym typeface="Roboto"/>
            </a:endParaRPr>
          </a:p>
          <a:p>
            <a:pPr indent="0" algn="l">
              <a:lnSpc>
                <a:spcPct val="100000"/>
              </a:lnSpc>
            </a:pPr>
          </a:p>
          <a:p>
            <a:pPr indent="0" algn="l">
              <a:lnSpc>
                <a:spcPct val="100000"/>
              </a:lnSpc>
            </a:pPr>
            <a:r>
              <a:rPr lang="en-US" sz="1600" b="0" i="0" u="none" strike="noStrike">
                <a:solidFill>
                  <a:srgbClr val="FF79C6"/>
                </a:solidFill>
                <a:latin typeface="Roboto"/>
                <a:ea typeface="Roboto"/>
                <a:cs typeface="Roboto"/>
                <a:sym typeface="Roboto"/>
              </a:rPr>
              <a:t>def</a:t>
            </a:r>
            <a:r>
              <a:rPr lang="en-US" sz="1600" b="0" i="0" u="none" strike="noStrike">
                <a:solidFill>
                  <a:srgbClr val="50FA7B"/>
                </a:solidFill>
                <a:latin typeface="Roboto"/>
                <a:ea typeface="Roboto"/>
                <a:cs typeface="Roboto"/>
                <a:sym typeface="Roboto"/>
              </a:rPr>
              <a:t>answer_question</a:t>
            </a:r>
            <a:r>
              <a:rPr lang="en-US" sz="1600" b="0" i="0" u="none" strike="noStrike">
                <a:solidFill>
                  <a:srgbClr val="F8F8F2"/>
                </a:solidFill>
                <a:latin typeface="Roboto"/>
                <a:ea typeface="Roboto"/>
                <a:cs typeface="Roboto"/>
                <a:sym typeface="Roboto"/>
              </a:rPr>
              <a:t>(question):</a:t>
            </a:r>
            <a:endParaRPr lang="en-US" sz="1600" b="0" i="0" u="none" strike="noStrike">
              <a:solidFill>
                <a:srgbClr val="F8F8F2"/>
              </a:solidFill>
              <a:latin typeface="Roboto"/>
              <a:ea typeface="Roboto"/>
              <a:cs typeface="Roboto"/>
              <a:sym typeface="Roboto"/>
            </a:endParaRPr>
          </a:p>
          <a:p>
            <a:pPr indent="0" algn="l">
              <a:lnSpc>
                <a:spcPct val="100000"/>
              </a:lnSpc>
            </a:pPr>
            <a:r>
              <a:rPr lang="en-US" sz="1600" b="0" i="0" u="none" strike="noStrike">
                <a:solidFill>
                  <a:srgbClr val="F8F8F2"/>
                </a:solidFill>
                <a:latin typeface="Roboto"/>
                <a:ea typeface="Roboto"/>
                <a:cs typeface="Roboto"/>
                <a:sym typeface="Roboto"/>
              </a:rPr>
              <a:t>output = pipeline(</a:t>
            </a:r>
            <a:r>
              <a:rPr lang="en-US" sz="1600" b="0" i="0" u="none" strike="noStrike">
                <a:solidFill>
                  <a:srgbClr val="F1FA8C"/>
                </a:solidFill>
                <a:latin typeface="Roboto"/>
                <a:ea typeface="Roboto"/>
                <a:cs typeface="Roboto"/>
                <a:sym typeface="Roboto"/>
              </a:rPr>
              <a:t>"text-generation"</a:t>
            </a:r>
            <a:r>
              <a:rPr lang="en-US" sz="1600" b="0" i="0" u="none" strike="noStrike">
                <a:solidFill>
                  <a:srgbClr val="F8F8F2"/>
                </a:solidFill>
                <a:latin typeface="Roboto"/>
                <a:ea typeface="Roboto"/>
                <a:cs typeface="Roboto"/>
                <a:sym typeface="Roboto"/>
              </a:rPr>
              <a:t>, model=model, tokenizer=tokenizer)(question)</a:t>
            </a:r>
            <a:endParaRPr lang="en-US" sz="1600" b="0" i="0" u="none" strike="noStrike">
              <a:solidFill>
                <a:srgbClr val="F8F8F2"/>
              </a:solidFill>
              <a:latin typeface="Roboto"/>
              <a:ea typeface="Roboto"/>
              <a:cs typeface="Roboto"/>
              <a:sym typeface="Roboto"/>
            </a:endParaRPr>
          </a:p>
          <a:p>
            <a:pPr indent="0" algn="l">
              <a:lnSpc>
                <a:spcPct val="100000"/>
              </a:lnSpc>
            </a:pPr>
            <a:r>
              <a:rPr lang="en-US" sz="1600" b="0" i="0" u="none" strike="noStrike">
                <a:solidFill>
                  <a:srgbClr val="FF79C6"/>
                </a:solidFill>
                <a:latin typeface="Roboto"/>
                <a:ea typeface="Roboto"/>
                <a:cs typeface="Roboto"/>
                <a:sym typeface="Roboto"/>
              </a:rPr>
              <a:t>return</a:t>
            </a:r>
            <a:r>
              <a:rPr lang="en-US" sz="1600" b="0" i="0" u="none" strike="noStrike">
                <a:solidFill>
                  <a:srgbClr val="F8F8F2"/>
                </a:solidFill>
                <a:latin typeface="Roboto"/>
                <a:ea typeface="Roboto"/>
                <a:cs typeface="Roboto"/>
                <a:sym typeface="Roboto"/>
              </a:rPr>
              <a:t>output[</a:t>
            </a:r>
            <a:r>
              <a:rPr lang="en-US" sz="1600" b="0" i="0" u="none" strike="noStrike">
                <a:solidFill>
                  <a:srgbClr val="BD93F9"/>
                </a:solidFill>
                <a:latin typeface="Roboto"/>
                <a:ea typeface="Roboto"/>
                <a:cs typeface="Roboto"/>
                <a:sym typeface="Roboto"/>
              </a:rPr>
              <a:t>0</a:t>
            </a:r>
            <a:r>
              <a:rPr lang="en-US" sz="1600" b="0" i="0" u="none" strike="noStrike">
                <a:solidFill>
                  <a:srgbClr val="F8F8F2"/>
                </a:solidFill>
                <a:latin typeface="Roboto"/>
                <a:ea typeface="Roboto"/>
                <a:cs typeface="Roboto"/>
                <a:sym typeface="Roboto"/>
              </a:rPr>
              <a:t>][</a:t>
            </a:r>
            <a:r>
              <a:rPr lang="en-US" sz="1600" b="0" i="0" u="none" strike="noStrike">
                <a:solidFill>
                  <a:srgbClr val="F1FA8C"/>
                </a:solidFill>
                <a:latin typeface="Roboto"/>
                <a:ea typeface="Roboto"/>
                <a:cs typeface="Roboto"/>
                <a:sym typeface="Roboto"/>
              </a:rPr>
              <a:t>'generated_text'</a:t>
            </a:r>
            <a:r>
              <a:rPr lang="en-US" sz="1600" b="0" i="0" u="none" strike="noStrike">
                <a:solidFill>
                  <a:srgbClr val="F8F8F2"/>
                </a:solidFill>
                <a:latin typeface="Roboto"/>
                <a:ea typeface="Roboto"/>
                <a:cs typeface="Roboto"/>
                <a:sym typeface="Roboto"/>
              </a:rPr>
              <a:t>]</a:t>
            </a:r>
            <a:endParaRPr lang="en-US" sz="1600" b="0" i="0" u="none" strike="noStrike">
              <a:solidFill>
                <a:srgbClr val="F8F8F2"/>
              </a:solidFill>
              <a:latin typeface="Roboto"/>
              <a:ea typeface="Roboto"/>
              <a:cs typeface="Roboto"/>
              <a:sym typeface="Roboto"/>
            </a:endParaRPr>
          </a:p>
          <a:p>
            <a:pPr indent="0" algn="l">
              <a:lnSpc>
                <a:spcPct val="100000"/>
              </a:lnSpc>
            </a:pPr>
          </a:p>
          <a:p>
            <a:pPr indent="0" algn="l">
              <a:lnSpc>
                <a:spcPct val="100000"/>
              </a:lnSpc>
            </a:pPr>
            <a:r>
              <a:rPr lang="en-US" sz="1600" b="0" i="0" u="none" strike="noStrike">
                <a:solidFill>
                  <a:srgbClr val="F8F8F2"/>
                </a:solidFill>
                <a:latin typeface="Roboto"/>
                <a:ea typeface="Roboto"/>
                <a:cs typeface="Roboto"/>
                <a:sym typeface="Roboto"/>
              </a:rPr>
              <a:t>question =</a:t>
            </a:r>
            <a:r>
              <a:rPr lang="en-US" sz="1600" b="0" i="0" u="none" strike="noStrike">
                <a:solidFill>
                  <a:srgbClr val="F1FA8C"/>
                </a:solidFill>
                <a:latin typeface="Roboto"/>
                <a:ea typeface="Roboto"/>
                <a:cs typeface="Roboto"/>
                <a:sym typeface="Roboto"/>
              </a:rPr>
              <a:t>"中国的首都是哪里？"</a:t>
            </a:r>
            <a:endParaRPr lang="en-US" sz="1600" b="0" i="0" u="none" strike="noStrike">
              <a:solidFill>
                <a:srgbClr val="F1FA8C"/>
              </a:solidFill>
              <a:latin typeface="Roboto"/>
              <a:ea typeface="Roboto"/>
              <a:cs typeface="Roboto"/>
              <a:sym typeface="Roboto"/>
            </a:endParaRPr>
          </a:p>
          <a:p>
            <a:pPr indent="0" algn="l">
              <a:lnSpc>
                <a:spcPct val="100000"/>
              </a:lnSpc>
            </a:pPr>
            <a:r>
              <a:rPr lang="en-US" sz="1600" b="0" i="0" u="none" strike="noStrike">
                <a:solidFill>
                  <a:srgbClr val="F8F8F2"/>
                </a:solidFill>
                <a:latin typeface="Roboto"/>
                <a:ea typeface="Roboto"/>
                <a:cs typeface="Roboto"/>
                <a:sym typeface="Roboto"/>
              </a:rPr>
              <a:t>answer = answer_question(question)</a:t>
            </a:r>
            <a:endParaRPr lang="en-US" sz="1600" b="0" i="0" u="none" strike="noStrike">
              <a:solidFill>
                <a:srgbClr val="F8F8F2"/>
              </a:solidFill>
              <a:latin typeface="Roboto"/>
              <a:ea typeface="Roboto"/>
              <a:cs typeface="Roboto"/>
              <a:sym typeface="Roboto"/>
            </a:endParaRPr>
          </a:p>
          <a:p>
            <a:pPr indent="0" algn="l">
              <a:lnSpc>
                <a:spcPct val="100000"/>
              </a:lnSpc>
            </a:pPr>
            <a:r>
              <a:rPr lang="en-US" sz="1600" b="0" i="0" u="none" strike="noStrike">
                <a:solidFill>
                  <a:srgbClr val="F8F8F2"/>
                </a:solidFill>
                <a:latin typeface="Roboto"/>
                <a:ea typeface="Roboto"/>
                <a:cs typeface="Roboto"/>
                <a:sym typeface="Roboto"/>
              </a:rPr>
              <a:t>print(answer)</a:t>
            </a:r>
            <a:endParaRPr lang="en-US" sz="1600" b="0" i="0" u="none" strike="noStrike">
              <a:solidFill>
                <a:srgbClr val="F8F8F2"/>
              </a:solidFill>
              <a:latin typeface="Roboto"/>
              <a:ea typeface="Roboto"/>
              <a:cs typeface="Roboto"/>
              <a:sym typeface="Roboto"/>
            </a:endParaRPr>
          </a:p>
        </p:txBody>
      </p:sp>
      <p:sp>
        <p:nvSpPr>
          <p:cNvPr id="18" name="AutoShape 18"/>
          <p:cNvSpPr/>
          <p:nvPr/>
        </p:nvSpPr>
        <p:spPr>
          <a:xfrm>
            <a:off x="0" y="6731000"/>
            <a:ext cx="12192000" cy="127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829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CPU推理 - apply_chat_template方法</a:t>
            </a:r>
            <a:endParaRPr lang="en-US" sz="1100"/>
          </a:p>
        </p:txBody>
      </p:sp>
      <p:sp>
        <p:nvSpPr>
          <p:cNvPr id="3" name="AutoShape 3"/>
          <p:cNvSpPr/>
          <p:nvPr/>
        </p:nvSpPr>
        <p:spPr>
          <a:xfrm>
            <a:off x="762000" y="1270000"/>
            <a:ext cx="3810000" cy="4318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04800" cy="304800"/>
          </a:xfrm>
          <a:prstGeom prst="rect">
            <a:avLst/>
          </a:prstGeom>
        </p:spPr>
      </p:pic>
      <p:sp>
        <p:nvSpPr>
          <p:cNvPr id="5" name="AutoShape 5"/>
          <p:cNvSpPr/>
          <p:nvPr/>
        </p:nvSpPr>
        <p:spPr>
          <a:xfrm>
            <a:off x="1397000" y="1473200"/>
            <a:ext cx="292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方法介绍</a:t>
            </a:r>
            <a:endParaRPr lang="en-US" sz="1100"/>
          </a:p>
        </p:txBody>
      </p:sp>
      <p:sp>
        <p:nvSpPr>
          <p:cNvPr id="6" name="AutoShape 6"/>
          <p:cNvSpPr/>
          <p:nvPr/>
        </p:nvSpPr>
        <p:spPr>
          <a:xfrm>
            <a:off x="1016000" y="1968500"/>
            <a:ext cx="3302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使用</a:t>
            </a:r>
            <a:r>
              <a:rPr lang="en-US" sz="1600" b="1" i="0" u="none" strike="noStrike">
                <a:solidFill>
                  <a:srgbClr val="0277BD"/>
                </a:solidFill>
                <a:latin typeface="Roboto"/>
                <a:ea typeface="Roboto"/>
                <a:cs typeface="Roboto"/>
                <a:sym typeface="Roboto"/>
              </a:rPr>
              <a:t>apply_chat_template</a:t>
            </a:r>
            <a:r>
              <a:rPr lang="en-US" sz="1600" b="0" i="0" u="none" strike="noStrike">
                <a:solidFill>
                  <a:srgbClr val="757575"/>
                </a:solidFill>
                <a:latin typeface="Noto Sans SC"/>
                <a:ea typeface="Noto Sans SC"/>
                <a:cs typeface="Noto Sans SC"/>
                <a:sym typeface="Noto Sans SC"/>
              </a:rPr>
              <a:t>方法可以更规范地格式化聊天输入，支持多轮对话。</a:t>
            </a:r>
            <a:endParaRPr lang="en-US" sz="1100"/>
          </a:p>
        </p:txBody>
      </p:sp>
      <p:sp>
        <p:nvSpPr>
          <p:cNvPr id="7" name="AutoShape 7"/>
          <p:cNvSpPr/>
          <p:nvPr/>
        </p:nvSpPr>
        <p:spPr>
          <a:xfrm>
            <a:off x="1016000" y="35560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核心优势</a:t>
            </a:r>
            <a:endParaRPr lang="en-US" sz="110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064000"/>
            <a:ext cx="203200" cy="203200"/>
          </a:xfrm>
          <a:prstGeom prst="rect">
            <a:avLst/>
          </a:prstGeom>
        </p:spPr>
      </p:pic>
      <p:sp>
        <p:nvSpPr>
          <p:cNvPr id="9" name="AutoShape 9"/>
          <p:cNvSpPr/>
          <p:nvPr/>
        </p:nvSpPr>
        <p:spPr>
          <a:xfrm>
            <a:off x="1270000" y="40132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结构化输入，更符合交互逻辑</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445000"/>
            <a:ext cx="203200" cy="203200"/>
          </a:xfrm>
          <a:prstGeom prst="rect">
            <a:avLst/>
          </a:prstGeom>
        </p:spPr>
      </p:pic>
      <p:sp>
        <p:nvSpPr>
          <p:cNvPr id="11" name="AutoShape 11"/>
          <p:cNvSpPr/>
          <p:nvPr/>
        </p:nvSpPr>
        <p:spPr>
          <a:xfrm>
            <a:off x="1270000" y="43942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支持多轮对话上下文管理</a:t>
            </a:r>
            <a:endParaRPr lang="en-US" sz="1100"/>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826000"/>
            <a:ext cx="203200" cy="203200"/>
          </a:xfrm>
          <a:prstGeom prst="rect">
            <a:avLst/>
          </a:prstGeom>
        </p:spPr>
      </p:pic>
      <p:sp>
        <p:nvSpPr>
          <p:cNvPr id="13" name="AutoShape 13"/>
          <p:cNvSpPr/>
          <p:nvPr/>
        </p:nvSpPr>
        <p:spPr>
          <a:xfrm>
            <a:off x="1270000" y="47752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统一格式化系统提示词</a:t>
            </a:r>
            <a:endParaRPr lang="en-US" sz="1100"/>
          </a:p>
        </p:txBody>
      </p:sp>
      <p:sp>
        <p:nvSpPr>
          <p:cNvPr id="14" name="AutoShape 14"/>
          <p:cNvSpPr/>
          <p:nvPr/>
        </p:nvSpPr>
        <p:spPr>
          <a:xfrm>
            <a:off x="4953000" y="1270000"/>
            <a:ext cx="6477000" cy="4318000"/>
          </a:xfrm>
          <a:prstGeom prst="roundRect">
            <a:avLst>
              <a:gd name="adj" fmla="val 294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07000" y="1524000"/>
            <a:ext cx="304800" cy="304800"/>
          </a:xfrm>
          <a:prstGeom prst="rect">
            <a:avLst/>
          </a:prstGeom>
        </p:spPr>
      </p:pic>
      <p:sp>
        <p:nvSpPr>
          <p:cNvPr id="16" name="AutoShape 16"/>
          <p:cNvSpPr/>
          <p:nvPr/>
        </p:nvSpPr>
        <p:spPr>
          <a:xfrm>
            <a:off x="5588000" y="1473200"/>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代码示例：构建李白风格诗歌生成任务</a:t>
            </a:r>
            <a:endParaRPr lang="en-US" sz="1100"/>
          </a:p>
        </p:txBody>
      </p:sp>
      <p:sp>
        <p:nvSpPr>
          <p:cNvPr id="17" name="AutoShape 17"/>
          <p:cNvSpPr/>
          <p:nvPr/>
        </p:nvSpPr>
        <p:spPr>
          <a:xfrm>
            <a:off x="5207000" y="2032000"/>
            <a:ext cx="5969000" cy="3175000"/>
          </a:xfrm>
          <a:prstGeom prst="roundRect">
            <a:avLst>
              <a:gd name="adj" fmla="val 2000"/>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5334000" y="2159000"/>
            <a:ext cx="5715000" cy="292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Roboto"/>
                <a:ea typeface="Roboto"/>
                <a:cs typeface="Roboto"/>
                <a:sym typeface="Roboto"/>
              </a:rPr>
              <a:t>from transformers import AutoTokenizer, Qwen2ForCausalLM</a:t>
            </a:r>
            <a:endParaRPr lang="en-US" sz="1100"/>
          </a:p>
          <a:p>
            <a:pPr indent="0" algn="l">
              <a:lnSpc>
                <a:spcPct val="100000"/>
              </a:lnSpc>
            </a:pPr>
            <a:r>
              <a:rPr lang="en-US" sz="1400" b="0" i="0" u="none" strike="noStrike">
                <a:solidFill>
                  <a:srgbClr val="757575"/>
                </a:solidFill>
                <a:latin typeface="Roboto"/>
                <a:ea typeface="Roboto"/>
                <a:cs typeface="Roboto"/>
                <a:sym typeface="Roboto"/>
              </a:rPr>
              <a:t>tokenizer = AutoTokenizer.from_pretrained("../Qwen2-0.5B", trust_remote_code=True)</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model = Qwen2ForCausalLM.from_pretrained("../Qwen2-0.5B", trust_remote_code=True).cpu().float()</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device = "cpu"</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prompt = "请帮我写一首李白的诗。"</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def encode_prompt(prompt: str):</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messages = [{"role": "system", "content": "You are a helpful assistant."}, {"role": "user", "content": prompt}]</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text = tokenizer.apply_chat_template(messages, tokenize=False, add_generation_prompt=True)</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return tokenizer([text], return_tensors="pt").to(device)</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model_inputs = encode_prompt(prompt)</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generated_ids = model.generate(model_inputs.input_ids, max_new_tokens=512)</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result = tokenizer.batch_decode(generated_ids, skip_special_tokens=True)[0]</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print(result)</a:t>
            </a:r>
            <a:endParaRPr lang="en-US" sz="1400" b="0" i="0" u="none" strike="noStrike">
              <a:solidFill>
                <a:srgbClr val="757575"/>
              </a:solidFill>
              <a:latin typeface="Roboto"/>
              <a:ea typeface="Roboto"/>
              <a:cs typeface="Roboto"/>
              <a:sym typeface="Roboto"/>
            </a:endParaRPr>
          </a:p>
        </p:txBody>
      </p:sp>
      <p:sp>
        <p:nvSpPr>
          <p:cNvPr id="19" name="AutoShape 19"/>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CPU推理的局限性</a:t>
            </a:r>
            <a:endParaRPr lang="en-US" sz="1100"/>
          </a:p>
        </p:txBody>
      </p:sp>
      <p:sp>
        <p:nvSpPr>
          <p:cNvPr id="3" name="AutoShape 3"/>
          <p:cNvSpPr/>
          <p:nvPr/>
        </p:nvSpPr>
        <p:spPr>
          <a:xfrm>
            <a:off x="762000" y="1397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651000"/>
            <a:ext cx="635000" cy="635000"/>
          </a:xfrm>
          <a:prstGeom prst="rect">
            <a:avLst/>
          </a:prstGeom>
        </p:spPr>
      </p:pic>
      <p:sp>
        <p:nvSpPr>
          <p:cNvPr id="5" name="AutoShape 5"/>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主要问题：速度慢</a:t>
            </a:r>
            <a:endParaRPr lang="en-US" sz="1100"/>
          </a:p>
        </p:txBody>
      </p:sp>
      <p:sp>
        <p:nvSpPr>
          <p:cNvPr id="6" name="AutoShape 6"/>
          <p:cNvSpPr/>
          <p:nvPr/>
        </p:nvSpPr>
        <p:spPr>
          <a:xfrm>
            <a:off x="952500" y="2921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CPU推理速度慢，尤其是对于较大的模型或复杂的任务，耗时会非常长。</a:t>
            </a:r>
            <a:endParaRPr lang="en-US" sz="1100"/>
          </a:p>
        </p:txBody>
      </p:sp>
      <p:sp>
        <p:nvSpPr>
          <p:cNvPr id="7" name="AutoShape 7"/>
          <p:cNvSpPr/>
          <p:nvPr/>
        </p:nvSpPr>
        <p:spPr>
          <a:xfrm>
            <a:off x="4445000" y="1397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651000"/>
            <a:ext cx="635000" cy="635000"/>
          </a:xfrm>
          <a:prstGeom prst="rect">
            <a:avLst/>
          </a:prstGeom>
        </p:spPr>
      </p:pic>
      <p:sp>
        <p:nvSpPr>
          <p:cNvPr id="9" name="AutoShape 9"/>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根本原因：并行能力弱</a:t>
            </a:r>
            <a:endParaRPr lang="en-US" sz="1100"/>
          </a:p>
        </p:txBody>
      </p:sp>
      <p:sp>
        <p:nvSpPr>
          <p:cNvPr id="10" name="AutoShape 10"/>
          <p:cNvSpPr/>
          <p:nvPr/>
        </p:nvSpPr>
        <p:spPr>
          <a:xfrm>
            <a:off x="4635500" y="2921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大语言模型是计算密集型任务，CPU的并行计算能力远不如GPU，难以高效处理海量数据。</a:t>
            </a:r>
            <a:endParaRPr lang="en-US" sz="1100"/>
          </a:p>
        </p:txBody>
      </p:sp>
      <p:sp>
        <p:nvSpPr>
          <p:cNvPr id="11" name="AutoShape 11"/>
          <p:cNvSpPr/>
          <p:nvPr/>
        </p:nvSpPr>
        <p:spPr>
          <a:xfrm>
            <a:off x="8128000" y="1397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651000"/>
            <a:ext cx="635000" cy="635000"/>
          </a:xfrm>
          <a:prstGeom prst="rect">
            <a:avLst/>
          </a:prstGeom>
        </p:spPr>
      </p:pic>
      <p:sp>
        <p:nvSpPr>
          <p:cNvPr id="13" name="AutoShape 13"/>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建议：使用GPU</a:t>
            </a:r>
            <a:endParaRPr lang="en-US" sz="1100"/>
          </a:p>
        </p:txBody>
      </p:sp>
      <p:sp>
        <p:nvSpPr>
          <p:cNvPr id="14" name="AutoShape 14"/>
          <p:cNvSpPr/>
          <p:nvPr/>
        </p:nvSpPr>
        <p:spPr>
          <a:xfrm>
            <a:off x="8318500" y="2921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在实际开发和部署中，应尽量使用GPU来提升推理性能和效率，避免性能瓶颈。</a:t>
            </a:r>
            <a:endParaRPr lang="en-US" sz="1100"/>
          </a:p>
        </p:txBody>
      </p:sp>
      <p:sp>
        <p:nvSpPr>
          <p:cNvPr id="15" name="AutoShape 15"/>
          <p:cNvSpPr/>
          <p:nvPr/>
        </p:nvSpPr>
        <p:spPr>
          <a:xfrm>
            <a:off x="762000" y="4826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0165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0277BD"/>
                </a:solidFill>
                <a:latin typeface="Noto Sans SC"/>
                <a:ea typeface="Noto Sans SC"/>
                <a:cs typeface="Noto Sans SC"/>
                <a:sym typeface="Noto Sans SC"/>
              </a:rPr>
              <a:t>总结：</a:t>
            </a:r>
            <a:r>
              <a:rPr lang="en-US" sz="1800" b="0" i="0" u="none" strike="noStrike">
                <a:solidFill>
                  <a:srgbClr val="757575"/>
                </a:solidFill>
                <a:latin typeface="Noto Sans SC"/>
                <a:ea typeface="Noto Sans SC"/>
                <a:cs typeface="Noto Sans SC"/>
                <a:sym typeface="Noto Sans SC"/>
              </a:rPr>
              <a:t>虽然CPU具备通用性，但在处理大语言模型这类高并发计算任务时，GPU凭借其强大的并行计算能力是更优的选择。</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38784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10.2.4 基于ChatGLM3-6B的GPU量化推理</a:t>
            </a:r>
            <a:endParaRPr lang="en-US" sz="1100"/>
          </a:p>
        </p:txBody>
      </p:sp>
      <p:sp>
        <p:nvSpPr>
          <p:cNvPr id="3" name="AutoShape 3"/>
          <p:cNvSpPr/>
          <p:nvPr/>
        </p:nvSpPr>
        <p:spPr>
          <a:xfrm>
            <a:off x="762000" y="1524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778000"/>
            <a:ext cx="762000" cy="762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量化技术定义</a:t>
            </a:r>
            <a:endParaRPr lang="en-US" sz="1100"/>
          </a:p>
        </p:txBody>
      </p:sp>
      <p:sp>
        <p:nvSpPr>
          <p:cNvPr id="6" name="AutoShape 6"/>
          <p:cNvSpPr/>
          <p:nvPr/>
        </p:nvSpPr>
        <p:spPr>
          <a:xfrm>
            <a:off x="952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通过使用更低位数的数值（如INT4, INT8）来表示模型的权重和激活值，从而降低存储需求。</a:t>
            </a:r>
            <a:endParaRPr lang="en-US" sz="1100"/>
          </a:p>
        </p:txBody>
      </p:sp>
      <p:sp>
        <p:nvSpPr>
          <p:cNvPr id="7" name="AutoShape 7"/>
          <p:cNvSpPr/>
          <p:nvPr/>
        </p:nvSpPr>
        <p:spPr>
          <a:xfrm>
            <a:off x="4445000" y="1524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1778000"/>
            <a:ext cx="762000" cy="7620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量化目的</a:t>
            </a:r>
            <a:endParaRPr lang="en-US" sz="1100"/>
          </a:p>
        </p:txBody>
      </p:sp>
      <p:sp>
        <p:nvSpPr>
          <p:cNvPr id="10" name="AutoShape 10"/>
          <p:cNvSpPr/>
          <p:nvPr/>
        </p:nvSpPr>
        <p:spPr>
          <a:xfrm>
            <a:off x="4635500" y="3175000"/>
            <a:ext cx="2921000" cy="1270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08000"/>
              </a:lnSpc>
              <a:buClr>
                <a:srgbClr val="757575"/>
              </a:buClr>
              <a:buChar char="•"/>
              <a:defRPr/>
            </a:pPr>
            <a:r>
              <a:rPr lang="en-US" sz="1600" b="0" i="0" u="none" strike="noStrike">
                <a:solidFill>
                  <a:srgbClr val="757575"/>
                </a:solidFill>
                <a:latin typeface="Noto Sans SC"/>
                <a:ea typeface="Noto Sans SC"/>
                <a:cs typeface="Noto Sans SC"/>
                <a:sym typeface="Noto Sans SC"/>
              </a:rPr>
              <a:t>减少内存占用，支持大模型在有限显存运行</a:t>
            </a:r>
            <a:endParaRPr lang="en-US" sz="1100"/>
          </a:p>
          <a:p>
            <a:pPr marL="203200" indent="-203200" algn="l">
              <a:lnSpc>
                <a:spcPct val="108000"/>
              </a:lnSpc>
              <a:buClr>
                <a:srgbClr val="757575"/>
              </a:buClr>
              <a:buChar char="•"/>
            </a:pPr>
            <a:r>
              <a:rPr lang="en-US" sz="1600" b="0" i="0" u="none" strike="noStrike">
                <a:solidFill>
                  <a:srgbClr val="757575"/>
                </a:solidFill>
                <a:latin typeface="Noto Sans SC"/>
                <a:ea typeface="Noto Sans SC"/>
                <a:cs typeface="Noto Sans SC"/>
                <a:sym typeface="Noto Sans SC"/>
              </a:rPr>
              <a:t>加速模型推理计算速度</a:t>
            </a:r>
            <a:endParaRPr lang="en-US" sz="16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8128000" y="1524000"/>
            <a:ext cx="3302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1778000"/>
            <a:ext cx="762000" cy="7620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潜在代价</a:t>
            </a:r>
            <a:endParaRPr lang="en-US" sz="1100"/>
          </a:p>
        </p:txBody>
      </p:sp>
      <p:sp>
        <p:nvSpPr>
          <p:cNvPr id="14" name="AutoShape 14"/>
          <p:cNvSpPr/>
          <p:nvPr/>
        </p:nvSpPr>
        <p:spPr>
          <a:xfrm>
            <a:off x="8318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虽然量化带来了效率提升，但不可避免地可能会带来一定程度的精度损失，需要在速度与精度间权衡。</a:t>
            </a:r>
            <a:endParaRPr lang="en-US" sz="1100"/>
          </a:p>
        </p:txBody>
      </p:sp>
      <p:sp>
        <p:nvSpPr>
          <p:cNvPr id="15" name="AutoShape 15"/>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核心目标：</a:t>
            </a:r>
            <a:r>
              <a:rPr lang="en-US" sz="1800" b="0" i="0" u="none" strike="noStrike">
                <a:solidFill>
                  <a:srgbClr val="757575"/>
                </a:solidFill>
                <a:latin typeface="Noto Sans SC"/>
                <a:ea typeface="Noto Sans SC"/>
                <a:cs typeface="Noto Sans SC"/>
                <a:sym typeface="Noto Sans SC"/>
              </a:rPr>
              <a:t>在保证模型效果可接受的前提下，最大化GPU资源利用率。</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235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INT4量化</a:t>
            </a:r>
            <a:endParaRPr lang="en-US" sz="1100"/>
          </a:p>
        </p:txBody>
      </p:sp>
      <p:sp>
        <p:nvSpPr>
          <p:cNvPr id="3" name="AutoShape 3"/>
          <p:cNvSpPr/>
          <p:nvPr/>
        </p:nvSpPr>
        <p:spPr>
          <a:xfrm>
            <a:off x="762000" y="1270000"/>
            <a:ext cx="4572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04800" cy="304800"/>
          </a:xfrm>
          <a:prstGeom prst="rect">
            <a:avLst/>
          </a:prstGeom>
        </p:spPr>
      </p:pic>
      <p:sp>
        <p:nvSpPr>
          <p:cNvPr id="5" name="AutoShape 5"/>
          <p:cNvSpPr/>
          <p:nvPr/>
        </p:nvSpPr>
        <p:spPr>
          <a:xfrm>
            <a:off x="1397000" y="14732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核心定义</a:t>
            </a:r>
            <a:endParaRPr lang="en-US" sz="1100"/>
          </a:p>
        </p:txBody>
      </p:sp>
      <p:sp>
        <p:nvSpPr>
          <p:cNvPr id="6" name="AutoShape 6"/>
          <p:cNvSpPr/>
          <p:nvPr/>
        </p:nvSpPr>
        <p:spPr>
          <a:xfrm>
            <a:off x="1016000" y="1905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使用4位整数（INT4）表示模型参数，是目前最激进的量化方式之一。</a:t>
            </a:r>
            <a:endParaRPr lang="en-US" sz="1100"/>
          </a:p>
        </p:txBody>
      </p:sp>
      <p:cxnSp>
        <p:nvCxnSpPr>
          <p:cNvPr id="7" name="Connector 7"/>
          <p:cNvCxnSpPr/>
          <p:nvPr/>
        </p:nvCxnSpPr>
        <p:spPr>
          <a:xfrm rot="-10742">
            <a:off x="1016010" y="2787650"/>
            <a:ext cx="4064000" cy="12700"/>
          </a:xfrm>
          <a:prstGeom prst="line">
            <a:avLst/>
          </a:prstGeom>
          <a:solidFill>
            <a:srgbClr val="DEE0E3">
              <a:alpha val="100000"/>
            </a:srgbClr>
          </a:solidFill>
          <a:ln w="12700" cap="flat" cmpd="sng">
            <a:solidFill>
              <a:srgbClr val="0277BD">
                <a:alpha val="20000"/>
              </a:srgbClr>
            </a:solidFill>
            <a:prstDash val="solid"/>
            <a:round/>
            <a:headEnd type="none" w="med" len="med"/>
            <a:tailEnd type="none" w="med" len="med"/>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304800" cy="304800"/>
          </a:xfrm>
          <a:prstGeom prst="rect">
            <a:avLst/>
          </a:prstGeom>
        </p:spPr>
      </p:pic>
      <p:sp>
        <p:nvSpPr>
          <p:cNvPr id="9" name="AutoShape 9"/>
          <p:cNvSpPr/>
          <p:nvPr/>
        </p:nvSpPr>
        <p:spPr>
          <a:xfrm>
            <a:off x="1397000" y="29972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特点分析</a:t>
            </a:r>
            <a:endParaRPr lang="en-US" sz="1100"/>
          </a:p>
        </p:txBody>
      </p:sp>
      <p:sp>
        <p:nvSpPr>
          <p:cNvPr id="10" name="AutoShape 10"/>
          <p:cNvSpPr/>
          <p:nvPr/>
        </p:nvSpPr>
        <p:spPr>
          <a:xfrm>
            <a:off x="1016000" y="3429000"/>
            <a:ext cx="4064000" cy="152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757575"/>
              </a:buClr>
              <a:buChar char="•"/>
              <a:defRPr/>
            </a:pPr>
            <a:r>
              <a:rPr lang="en-US" sz="1400" b="1" i="0" u="none" strike="noStrike">
                <a:solidFill>
                  <a:srgbClr val="757575"/>
                </a:solidFill>
                <a:latin typeface="Noto Sans SC"/>
                <a:ea typeface="Noto Sans SC"/>
                <a:cs typeface="Noto Sans SC"/>
                <a:sym typeface="Noto Sans SC"/>
              </a:rPr>
              <a:t>极致压缩：</a:t>
            </a:r>
            <a:r>
              <a:rPr lang="en-US" sz="1400" b="0" i="0" u="none" strike="noStrike">
                <a:solidFill>
                  <a:srgbClr val="757575"/>
                </a:solidFill>
                <a:latin typeface="Noto Sans SC"/>
                <a:ea typeface="Noto Sans SC"/>
                <a:cs typeface="Noto Sans SC"/>
                <a:sym typeface="Noto Sans SC"/>
              </a:rPr>
              <a:t>内存占用最少，能在极低配置设备运行。</a:t>
            </a:r>
            <a:endParaRPr lang="en-US" sz="1100"/>
          </a:p>
          <a:p>
            <a:pPr marL="177800" indent="-177800" algn="l">
              <a:lnSpc>
                <a:spcPct val="108000"/>
              </a:lnSpc>
              <a:buClr>
                <a:srgbClr val="757575"/>
              </a:buClr>
              <a:buChar char="•"/>
            </a:pPr>
            <a:r>
              <a:rPr lang="en-US" sz="1400" b="1" i="0" u="none" strike="noStrike">
                <a:solidFill>
                  <a:srgbClr val="757575"/>
                </a:solidFill>
                <a:latin typeface="Noto Sans SC"/>
                <a:ea typeface="Noto Sans SC"/>
                <a:cs typeface="Noto Sans SC"/>
                <a:sym typeface="Noto Sans SC"/>
              </a:rPr>
              <a:t>精度损失：</a:t>
            </a:r>
            <a:r>
              <a:rPr lang="en-US" sz="1400" b="0" i="0" u="none" strike="noStrike">
                <a:solidFill>
                  <a:srgbClr val="757575"/>
                </a:solidFill>
                <a:latin typeface="Noto Sans SC"/>
                <a:ea typeface="Noto Sans SC"/>
                <a:cs typeface="Noto Sans SC"/>
                <a:sym typeface="Noto Sans SC"/>
              </a:rPr>
              <a:t>精度损失最大，推理效果可能受影响。</a:t>
            </a:r>
            <a:endParaRPr lang="en-US" sz="1400" b="0" i="0" u="none" strike="noStrike">
              <a:solidFill>
                <a:srgbClr val="757575"/>
              </a:solidFill>
              <a:latin typeface="Noto Sans SC"/>
              <a:ea typeface="Noto Sans SC"/>
              <a:cs typeface="Noto Sans SC"/>
              <a:sym typeface="Noto Sans SC"/>
            </a:endParaRPr>
          </a:p>
          <a:p>
            <a:pPr marL="177800" indent="-177800" algn="l">
              <a:lnSpc>
                <a:spcPct val="108000"/>
              </a:lnSpc>
              <a:buClr>
                <a:srgbClr val="757575"/>
              </a:buClr>
              <a:buChar char="•"/>
            </a:pPr>
            <a:r>
              <a:rPr lang="en-US" sz="1400" b="1" i="0" u="none" strike="noStrike">
                <a:solidFill>
                  <a:srgbClr val="757575"/>
                </a:solidFill>
                <a:latin typeface="Noto Sans SC"/>
                <a:ea typeface="Noto Sans SC"/>
                <a:cs typeface="Noto Sans SC"/>
                <a:sym typeface="Noto Sans SC"/>
              </a:rPr>
              <a:t>应用场景：</a:t>
            </a:r>
            <a:r>
              <a:rPr lang="en-US" sz="1400" b="0" i="0" u="none" strike="noStrike">
                <a:solidFill>
                  <a:srgbClr val="757575"/>
                </a:solidFill>
                <a:latin typeface="Noto Sans SC"/>
                <a:ea typeface="Noto Sans SC"/>
                <a:cs typeface="Noto Sans SC"/>
                <a:sym typeface="Noto Sans SC"/>
              </a:rPr>
              <a:t>适用于对精度要求不高的边缘计算或演示场景。</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5588000" y="1270000"/>
            <a:ext cx="5842000" cy="4318000"/>
          </a:xfrm>
          <a:prstGeom prst="roundRect">
            <a:avLst>
              <a:gd name="adj" fmla="val 2941"/>
            </a:avLst>
          </a:prstGeom>
          <a:solidFill>
            <a:srgbClr val="1E1E1E">
              <a:alpha val="100000"/>
            </a:srgbClr>
          </a:solidFill>
          <a:ln w="25400" cap="flat" cmpd="sng">
            <a:noFill/>
            <a:prstDash val="solid"/>
            <a:round/>
          </a:ln>
          <a:effectLst>
            <a:outerShdw blurRad="190500" dist="76200" dir="2700000" algn="tl" rotWithShape="0">
              <a:srgbClr val="000000">
                <a:alpha val="20000"/>
              </a:srgbClr>
            </a:outerShdw>
          </a:effectLst>
        </p:spPr>
        <p:txBody>
          <a:bodyPr vert="horz" wrap="square" lIns="63500" tIns="63500" rIns="63500" bIns="63500" rtlCol="0" anchor="ctr"/>
          <a:lstStyle/>
          <a:p>
            <a:pPr algn="ctr">
              <a:defRPr/>
            </a:pPr>
          </a:p>
        </p:txBody>
      </p:sp>
      <p:sp>
        <p:nvSpPr>
          <p:cNvPr id="12" name="AutoShape 12"/>
          <p:cNvSpPr/>
          <p:nvPr/>
        </p:nvSpPr>
        <p:spPr>
          <a:xfrm>
            <a:off x="5588000" y="1270000"/>
            <a:ext cx="5842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715000" y="12954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4B4B4"/>
                </a:solidFill>
                <a:latin typeface="Roboto"/>
                <a:ea typeface="Roboto"/>
                <a:cs typeface="Roboto"/>
                <a:sym typeface="Roboto"/>
              </a:rPr>
              <a:t>python_quantization_demo.py</a:t>
            </a:r>
            <a:endParaRPr lang="en-US" sz="1100"/>
          </a:p>
        </p:txBody>
      </p:sp>
      <p:sp>
        <p:nvSpPr>
          <p:cNvPr id="14" name="AutoShape 14"/>
          <p:cNvSpPr/>
          <p:nvPr/>
        </p:nvSpPr>
        <p:spPr>
          <a:xfrm>
            <a:off x="5778500" y="1778000"/>
            <a:ext cx="5461000" cy="355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torch</a:t>
            </a:r>
            <a:endParaRPr lang="en-US" sz="1100"/>
          </a:p>
          <a:p>
            <a:pPr indent="0" algn="l">
              <a:lnSpc>
                <a:spcPct val="100000"/>
              </a:lnSpc>
            </a:pPr>
            <a:r>
              <a:rPr lang="en-US" sz="1400" b="0" i="0" u="none" strike="noStrike">
                <a:solidFill>
                  <a:srgbClr val="C678DD"/>
                </a:solidFill>
                <a:latin typeface="Roboto"/>
                <a:ea typeface="Roboto"/>
                <a:cs typeface="Roboto"/>
                <a:sym typeface="Roboto"/>
              </a:rPr>
              <a:t>from</a:t>
            </a:r>
            <a:r>
              <a:rPr lang="en-US" sz="1400" b="0" i="0" u="none" strike="noStrike">
                <a:solidFill>
                  <a:srgbClr val="DCDFE4"/>
                </a:solidFill>
                <a:latin typeface="Roboto"/>
                <a:ea typeface="Roboto"/>
                <a:cs typeface="Roboto"/>
                <a:sym typeface="Roboto"/>
              </a:rPr>
              <a:t>transformers</a:t>
            </a:r>
            <a:r>
              <a:rPr lang="en-US" sz="1400" b="0" i="0" u="none" strike="noStrike">
                <a:solidFill>
                  <a:srgbClr val="C678DD"/>
                </a:solidFill>
                <a:latin typeface="Roboto"/>
                <a:ea typeface="Roboto"/>
                <a:cs typeface="Roboto"/>
                <a:sym typeface="Roboto"/>
              </a:rPr>
              <a:t>import</a:t>
            </a:r>
            <a:r>
              <a:rPr lang="en-US" sz="1400" b="0" i="0" u="none" strike="noStrike">
                <a:solidFill>
                  <a:srgbClr val="DCDFE4"/>
                </a:solidFill>
                <a:latin typeface="Roboto"/>
                <a:ea typeface="Roboto"/>
                <a:cs typeface="Roboto"/>
                <a:sym typeface="Roboto"/>
              </a:rPr>
              <a:t>AutoTokenizer, AutoModel</a:t>
            </a:r>
            <a:endParaRPr lang="en-US" sz="1400" b="0" i="0" u="none" strike="noStrike">
              <a:solidFill>
                <a:srgbClr val="DCDFE4"/>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DCDFE4"/>
                </a:solidFill>
                <a:latin typeface="Roboto"/>
                <a:ea typeface="Roboto"/>
                <a:cs typeface="Roboto"/>
                <a:sym typeface="Roboto"/>
              </a:rPr>
              <a:t>tokenizer = AutoTokenizer.from_pretrained(</a:t>
            </a:r>
            <a:r>
              <a:rPr lang="en-US" sz="1400" b="0" i="0" u="none" strike="noStrike">
                <a:solidFill>
                  <a:srgbClr val="98C379"/>
                </a:solidFill>
                <a:latin typeface="Roboto"/>
                <a:ea typeface="Roboto"/>
                <a:cs typeface="Roboto"/>
                <a:sym typeface="Roboto"/>
              </a:rPr>
              <a:t>"chatglm3-6b"</a:t>
            </a:r>
            <a:r>
              <a:rPr lang="en-US" sz="1400" b="0" i="0" u="none" strike="noStrike">
                <a:solidFill>
                  <a:srgbClr val="DCDFE4"/>
                </a:solidFill>
                <a:latin typeface="Roboto"/>
                <a:ea typeface="Roboto"/>
                <a:cs typeface="Roboto"/>
                <a:sym typeface="Roboto"/>
              </a:rPr>
              <a:t>, trust_remote_code=</a:t>
            </a:r>
            <a:r>
              <a:rPr lang="en-US" sz="1400" b="0" i="0" u="none" strike="noStrike">
                <a:solidFill>
                  <a:srgbClr val="D19A66"/>
                </a:solidFill>
                <a:latin typeface="Roboto"/>
                <a:ea typeface="Roboto"/>
                <a:cs typeface="Roboto"/>
                <a:sym typeface="Roboto"/>
              </a:rPr>
              <a:t>True</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C678DD"/>
                </a:solidFill>
                <a:latin typeface="Roboto"/>
                <a:ea typeface="Roboto"/>
                <a:cs typeface="Roboto"/>
                <a:sym typeface="Roboto"/>
              </a:rPr>
              <a:t>with</a:t>
            </a:r>
            <a:r>
              <a:rPr lang="en-US" sz="1400" b="0" i="0" u="none" strike="noStrike">
                <a:solidFill>
                  <a:srgbClr val="DCDFE4"/>
                </a:solidFill>
                <a:latin typeface="Roboto"/>
                <a:ea typeface="Roboto"/>
                <a:cs typeface="Roboto"/>
                <a:sym typeface="Roboto"/>
              </a:rPr>
              <a:t>torch.no_grad():</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model = AutoModel.from_pretrained(</a:t>
            </a:r>
            <a:r>
              <a:rPr lang="en-US" sz="1400" b="0" i="0" u="none" strike="noStrike">
                <a:solidFill>
                  <a:srgbClr val="98C379"/>
                </a:solidFill>
                <a:latin typeface="Roboto"/>
                <a:ea typeface="Roboto"/>
                <a:cs typeface="Roboto"/>
                <a:sym typeface="Roboto"/>
              </a:rPr>
              <a:t>"chatglm3-6b"</a:t>
            </a:r>
            <a:r>
              <a:rPr lang="en-US" sz="1400" b="0" i="0" u="none" strike="noStrike">
                <a:solidFill>
                  <a:srgbClr val="DCDFE4"/>
                </a:solidFill>
                <a:latin typeface="Roboto"/>
                <a:ea typeface="Roboto"/>
                <a:cs typeface="Roboto"/>
                <a:sym typeface="Roboto"/>
              </a:rPr>
              <a:t>, trust_remote_code=</a:t>
            </a:r>
            <a:r>
              <a:rPr lang="en-US" sz="1400" b="0" i="0" u="none" strike="noStrike">
                <a:solidFill>
                  <a:srgbClr val="D19A66"/>
                </a:solidFill>
                <a:latin typeface="Roboto"/>
                <a:ea typeface="Roboto"/>
                <a:cs typeface="Roboto"/>
                <a:sym typeface="Roboto"/>
              </a:rPr>
              <a:t>True</a:t>
            </a:r>
            <a:r>
              <a:rPr lang="en-US" sz="1400" b="0" i="0" u="none" strike="noStrike">
                <a:solidFill>
                  <a:srgbClr val="DCDFE4"/>
                </a:solidFill>
                <a:latin typeface="Roboto"/>
                <a:ea typeface="Roboto"/>
                <a:cs typeface="Roboto"/>
                <a:sym typeface="Roboto"/>
              </a:rPr>
              <a: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.quantize(</a:t>
            </a:r>
            <a:r>
              <a:rPr lang="en-US" sz="1400" b="0" i="0" u="none" strike="noStrike">
                <a:solidFill>
                  <a:srgbClr val="D19A66"/>
                </a:solidFill>
                <a:latin typeface="Roboto"/>
                <a:ea typeface="Roboto"/>
                <a:cs typeface="Roboto"/>
                <a:sym typeface="Roboto"/>
              </a:rPr>
              <a:t>4</a:t>
            </a:r>
            <a:r>
              <a:rPr lang="en-US" sz="1400" b="0" i="0" u="none" strike="noStrike">
                <a:solidFill>
                  <a:srgbClr val="DCDFE4"/>
                </a:solidFill>
                <a:latin typeface="Roboto"/>
                <a:ea typeface="Roboto"/>
                <a:cs typeface="Roboto"/>
                <a:sym typeface="Roboto"/>
              </a:rPr>
              <a:t>).cuda()</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model = model.eval()</a:t>
            </a:r>
            <a:endParaRPr lang="en-US" sz="1400" b="0" i="0" u="none" strike="noStrike">
              <a:solidFill>
                <a:srgbClr val="DCDFE4"/>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DCDFE4"/>
                </a:solidFill>
                <a:latin typeface="Roboto"/>
                <a:ea typeface="Roboto"/>
                <a:cs typeface="Roboto"/>
                <a:sym typeface="Roboto"/>
              </a:rPr>
              <a:t>prompt =</a:t>
            </a:r>
            <a:r>
              <a:rPr lang="en-US" sz="1400" b="0" i="0" u="none" strike="noStrike">
                <a:solidFill>
                  <a:srgbClr val="98C379"/>
                </a:solidFill>
                <a:latin typeface="Roboto"/>
                <a:ea typeface="Roboto"/>
                <a:cs typeface="Roboto"/>
                <a:sym typeface="Roboto"/>
              </a:rPr>
              <a:t>"中国的首都在哪儿？"</a:t>
            </a:r>
            <a:endParaRPr lang="en-US" sz="1400" b="0" i="0" u="none" strike="noStrike">
              <a:solidFill>
                <a:srgbClr val="98C379"/>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response, history = model.chat(tokenizer, prompt)</a:t>
            </a:r>
            <a:endParaRPr lang="en-US" sz="1400" b="0" i="0" u="none" strike="noStrike">
              <a:solidFill>
                <a:srgbClr val="DCDFE4"/>
              </a:solidFill>
              <a:latin typeface="Roboto"/>
              <a:ea typeface="Roboto"/>
              <a:cs typeface="Roboto"/>
              <a:sym typeface="Roboto"/>
            </a:endParaRPr>
          </a:p>
          <a:p>
            <a:pPr indent="0" algn="l">
              <a:lnSpc>
                <a:spcPct val="100000"/>
              </a:lnSpc>
            </a:pPr>
            <a:r>
              <a:rPr lang="en-US" sz="1400" b="0" i="0" u="none" strike="noStrike">
                <a:solidFill>
                  <a:srgbClr val="DCDFE4"/>
                </a:solidFill>
                <a:latin typeface="Roboto"/>
                <a:ea typeface="Roboto"/>
                <a:cs typeface="Roboto"/>
                <a:sym typeface="Roboto"/>
              </a:rPr>
              <a:t>print(response)</a:t>
            </a:r>
            <a:endParaRPr lang="en-US" sz="1400" b="0" i="0" u="none" strike="noStrike">
              <a:solidFill>
                <a:srgbClr val="DCDFE4"/>
              </a:solidFill>
              <a:latin typeface="Roboto"/>
              <a:ea typeface="Roboto"/>
              <a:cs typeface="Roboto"/>
              <a:sym typeface="Roboto"/>
            </a:endParaRPr>
          </a:p>
        </p:txBody>
      </p:sp>
      <p:sp>
        <p:nvSpPr>
          <p:cNvPr id="15" name="AutoShape 15"/>
          <p:cNvSpPr/>
          <p:nvPr/>
        </p:nvSpPr>
        <p:spPr>
          <a:xfrm>
            <a:off x="762000" y="5842000"/>
            <a:ext cx="10668000" cy="508000"/>
          </a:xfrm>
          <a:prstGeom prst="roundRect">
            <a:avLst>
              <a:gd name="adj" fmla="val 25000"/>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943600"/>
            <a:ext cx="304800" cy="304800"/>
          </a:xfrm>
          <a:prstGeom prst="rect">
            <a:avLst/>
          </a:prstGeom>
        </p:spPr>
      </p:pic>
      <p:sp>
        <p:nvSpPr>
          <p:cNvPr id="17" name="AutoShape 17"/>
          <p:cNvSpPr/>
          <p:nvPr/>
        </p:nvSpPr>
        <p:spPr>
          <a:xfrm>
            <a:off x="1397000" y="5918200"/>
            <a:ext cx="990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关键点：</a:t>
            </a:r>
            <a:r>
              <a:rPr lang="en-US" sz="1400" b="0" i="0" u="none" strike="noStrike">
                <a:solidFill>
                  <a:srgbClr val="0277BD"/>
                </a:solidFill>
                <a:latin typeface="Noto Sans SC"/>
                <a:ea typeface="Noto Sans SC"/>
                <a:cs typeface="Noto Sans SC"/>
                <a:sym typeface="Noto Sans SC"/>
              </a:rPr>
              <a:t>通过 `.quantize(4)` 方法实现极致压缩，适合资源极度受限的场景。</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INT8量化</a:t>
            </a:r>
            <a:endParaRPr lang="en-US" sz="1100"/>
          </a:p>
        </p:txBody>
      </p:sp>
      <p:sp>
        <p:nvSpPr>
          <p:cNvPr id="3" name="AutoShape 3"/>
          <p:cNvSpPr/>
          <p:nvPr/>
        </p:nvSpPr>
        <p:spPr>
          <a:xfrm>
            <a:off x="762000" y="1397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4605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核心定义</a:t>
            </a:r>
            <a:endParaRPr lang="en-US" sz="1100"/>
          </a:p>
        </p:txBody>
      </p:sp>
      <p:sp>
        <p:nvSpPr>
          <p:cNvPr id="6" name="AutoShape 6"/>
          <p:cNvSpPr/>
          <p:nvPr/>
        </p:nvSpPr>
        <p:spPr>
          <a:xfrm>
            <a:off x="1016000" y="2032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757575"/>
                </a:solidFill>
                <a:latin typeface="Noto Sans SC"/>
                <a:ea typeface="Noto Sans SC"/>
                <a:cs typeface="Noto Sans SC"/>
                <a:sym typeface="Noto Sans SC"/>
              </a:rPr>
              <a:t>使用8位整数（INT8）表示模型参数，将浮点运算转换为整数运算，大幅降低计算复杂度。</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94000"/>
            <a:ext cx="304800" cy="304800"/>
          </a:xfrm>
          <a:prstGeom prst="rect">
            <a:avLst/>
          </a:prstGeom>
        </p:spPr>
      </p:pic>
      <p:sp>
        <p:nvSpPr>
          <p:cNvPr id="8" name="AutoShape 8"/>
          <p:cNvSpPr/>
          <p:nvPr/>
        </p:nvSpPr>
        <p:spPr>
          <a:xfrm>
            <a:off x="1460500" y="2743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核心优势</a:t>
            </a:r>
            <a:endParaRPr lang="en-US" sz="1100"/>
          </a:p>
        </p:txBody>
      </p:sp>
      <p:sp>
        <p:nvSpPr>
          <p:cNvPr id="9" name="AutoShape 9"/>
          <p:cNvSpPr/>
          <p:nvPr/>
        </p:nvSpPr>
        <p:spPr>
          <a:xfrm>
            <a:off x="1016000" y="3175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757575"/>
                </a:solidFill>
                <a:latin typeface="Noto Sans SC"/>
                <a:ea typeface="Noto Sans SC"/>
                <a:cs typeface="Noto Sans SC"/>
                <a:sym typeface="Noto Sans SC"/>
              </a:rPr>
              <a:t>目前最常用的量化精度。在内存占用、推理速度和模型精度之间取得了极佳的平衡，是部署大模型的首选方案。</a:t>
            </a:r>
            <a:endParaRPr lang="en-US" sz="1100"/>
          </a:p>
        </p:txBody>
      </p:sp>
      <p:sp>
        <p:nvSpPr>
          <p:cNvPr id="10" name="AutoShape 10"/>
          <p:cNvSpPr/>
          <p:nvPr/>
        </p:nvSpPr>
        <p:spPr>
          <a:xfrm>
            <a:off x="6096000" y="1397000"/>
            <a:ext cx="5334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651000"/>
            <a:ext cx="304800" cy="304800"/>
          </a:xfrm>
          <a:prstGeom prst="rect">
            <a:avLst/>
          </a:prstGeom>
        </p:spPr>
      </p:pic>
      <p:sp>
        <p:nvSpPr>
          <p:cNvPr id="12" name="AutoShape 12"/>
          <p:cNvSpPr/>
          <p:nvPr/>
        </p:nvSpPr>
        <p:spPr>
          <a:xfrm>
            <a:off x="6794500" y="16002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代码示例 (PyTorch)</a:t>
            </a:r>
            <a:endParaRPr lang="en-US" sz="1100"/>
          </a:p>
        </p:txBody>
      </p:sp>
      <p:sp>
        <p:nvSpPr>
          <p:cNvPr id="13" name="AutoShape 13"/>
          <p:cNvSpPr/>
          <p:nvPr/>
        </p:nvSpPr>
        <p:spPr>
          <a:xfrm>
            <a:off x="6350000" y="2095500"/>
            <a:ext cx="4826000" cy="2159000"/>
          </a:xfrm>
          <a:prstGeom prst="roundRect">
            <a:avLst>
              <a:gd name="adj" fmla="val 2941"/>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2222500"/>
            <a:ext cx="4572000" cy="190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57575"/>
                </a:solidFill>
                <a:latin typeface="Roboto"/>
                <a:ea typeface="Roboto"/>
                <a:cs typeface="Roboto"/>
                <a:sym typeface="Roboto"/>
              </a:rPr>
              <a:t>with torch.no_grad():</a:t>
            </a:r>
            <a:endParaRPr lang="en-US" sz="1100"/>
          </a:p>
          <a:p>
            <a:pPr indent="0" algn="l">
              <a:lnSpc>
                <a:spcPct val="100000"/>
              </a:lnSpc>
            </a:pPr>
            <a:r>
              <a:rPr lang="en-US" sz="1600" b="0" i="0" u="none" strike="noStrike">
                <a:solidFill>
                  <a:srgbClr val="757575"/>
                </a:solidFill>
                <a:latin typeface="Roboto"/>
                <a:ea typeface="Roboto"/>
                <a:cs typeface="Roboto"/>
                <a:sym typeface="Roboto"/>
              </a:rPr>
              <a:t>    # 将 quantize(4) 改为 quantize(8)</a:t>
            </a:r>
            <a:endParaRPr lang="en-US" sz="1600" b="0" i="0" u="none" strike="noStrike">
              <a:solidFill>
                <a:srgbClr val="757575"/>
              </a:solidFill>
              <a:latin typeface="Roboto"/>
              <a:ea typeface="Roboto"/>
              <a:cs typeface="Roboto"/>
              <a:sym typeface="Roboto"/>
            </a:endParaRPr>
          </a:p>
          <a:p>
            <a:pPr indent="0" algn="l">
              <a:lnSpc>
                <a:spcPct val="100000"/>
              </a:lnSpc>
            </a:pPr>
            <a:r>
              <a:rPr lang="en-US" sz="1600" b="0" i="0" u="none" strike="noStrike">
                <a:solidFill>
                  <a:srgbClr val="757575"/>
                </a:solidFill>
                <a:latin typeface="Roboto"/>
                <a:ea typeface="Roboto"/>
                <a:cs typeface="Roboto"/>
                <a:sym typeface="Roboto"/>
              </a:rPr>
              <a:t>    model = AutoModel.from_pretrained(</a:t>
            </a:r>
            <a:endParaRPr lang="en-US" sz="1600" b="0" i="0" u="none" strike="noStrike">
              <a:solidFill>
                <a:srgbClr val="757575"/>
              </a:solidFill>
              <a:latin typeface="Roboto"/>
              <a:ea typeface="Roboto"/>
              <a:cs typeface="Roboto"/>
              <a:sym typeface="Roboto"/>
            </a:endParaRPr>
          </a:p>
          <a:p>
            <a:pPr indent="0" algn="l">
              <a:lnSpc>
                <a:spcPct val="100000"/>
              </a:lnSpc>
            </a:pPr>
            <a:r>
              <a:rPr lang="en-US" sz="1600" b="0" i="0" u="none" strike="noStrike">
                <a:solidFill>
                  <a:srgbClr val="757575"/>
                </a:solidFill>
                <a:latin typeface="Roboto"/>
                <a:ea typeface="Roboto"/>
                <a:cs typeface="Roboto"/>
                <a:sym typeface="Roboto"/>
              </a:rPr>
              <a:t>        "chatglm3-6b", trust_remote_code=True</a:t>
            </a:r>
            <a:endParaRPr lang="en-US" sz="1600" b="0" i="0" u="none" strike="noStrike">
              <a:solidFill>
                <a:srgbClr val="757575"/>
              </a:solidFill>
              <a:latin typeface="Roboto"/>
              <a:ea typeface="Roboto"/>
              <a:cs typeface="Roboto"/>
              <a:sym typeface="Roboto"/>
            </a:endParaRPr>
          </a:p>
          <a:p>
            <a:pPr indent="0" algn="l">
              <a:lnSpc>
                <a:spcPct val="100000"/>
              </a:lnSpc>
            </a:pPr>
            <a:r>
              <a:rPr lang="en-US" sz="1600" b="0" i="0" u="none" strike="noStrike">
                <a:solidFill>
                  <a:srgbClr val="757575"/>
                </a:solidFill>
                <a:latin typeface="Roboto"/>
                <a:ea typeface="Roboto"/>
                <a:cs typeface="Roboto"/>
                <a:sym typeface="Roboto"/>
              </a:rPr>
              <a:t>    ).quantize(</a:t>
            </a:r>
            <a:r>
              <a:rPr lang="en-US" sz="1600" b="1" i="0" u="none" strike="noStrike">
                <a:solidFill>
                  <a:srgbClr val="0277BD"/>
                </a:solidFill>
                <a:latin typeface="Roboto"/>
                <a:ea typeface="Roboto"/>
                <a:cs typeface="Roboto"/>
                <a:sym typeface="Roboto"/>
              </a:rPr>
              <a:t>8</a:t>
            </a:r>
            <a:r>
              <a:rPr lang="en-US" sz="1600" b="0" i="0" u="none" strike="noStrike">
                <a:solidFill>
                  <a:srgbClr val="757575"/>
                </a:solidFill>
                <a:latin typeface="Roboto"/>
                <a:ea typeface="Roboto"/>
                <a:cs typeface="Roboto"/>
                <a:sym typeface="Roboto"/>
              </a:rPr>
              <a:t>).cuda()</a:t>
            </a:r>
            <a:endParaRPr lang="en-US" sz="1600" b="0" i="0" u="none" strike="noStrike">
              <a:solidFill>
                <a:srgbClr val="757575"/>
              </a:solidFill>
              <a:latin typeface="Roboto"/>
              <a:ea typeface="Roboto"/>
              <a:cs typeface="Roboto"/>
              <a:sym typeface="Roboto"/>
            </a:endParaRPr>
          </a:p>
        </p:txBody>
      </p:sp>
      <p:sp>
        <p:nvSpPr>
          <p:cNvPr id="15" name="AutoShape 15"/>
          <p:cNvSpPr/>
          <p:nvPr/>
        </p:nvSpPr>
        <p:spPr>
          <a:xfrm>
            <a:off x="762000" y="4953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270500"/>
            <a:ext cx="406400" cy="406400"/>
          </a:xfrm>
          <a:prstGeom prst="rect">
            <a:avLst/>
          </a:prstGeom>
        </p:spPr>
      </p:pic>
      <p:sp>
        <p:nvSpPr>
          <p:cNvPr id="17" name="AutoShape 17"/>
          <p:cNvSpPr/>
          <p:nvPr/>
        </p:nvSpPr>
        <p:spPr>
          <a:xfrm>
            <a:off x="1587500" y="5143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0277BD"/>
                </a:solidFill>
                <a:latin typeface="Noto Sans SC"/>
                <a:ea typeface="Noto Sans SC"/>
                <a:cs typeface="Noto Sans SC"/>
                <a:sym typeface="Noto Sans SC"/>
              </a:rPr>
              <a:t>总结：</a:t>
            </a:r>
            <a:r>
              <a:rPr lang="en-US" sz="1600" b="0" i="0" u="none" strike="noStrike">
                <a:solidFill>
                  <a:srgbClr val="424242"/>
                </a:solidFill>
                <a:latin typeface="Noto Sans SC"/>
                <a:ea typeface="Noto Sans SC"/>
                <a:cs typeface="Noto Sans SC"/>
                <a:sym typeface="Noto Sans SC"/>
              </a:rPr>
              <a:t>INT8量化是在保持较高模型精度的前提下，实现低资源设备部署的关键技术，代码实现简单，仅需修改量化位数参数即可。</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FP16量化</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核心定义</a:t>
            </a:r>
            <a:endParaRPr lang="en-US" sz="1100"/>
          </a:p>
        </p:txBody>
      </p:sp>
      <p:sp>
        <p:nvSpPr>
          <p:cNvPr id="6" name="AutoShape 6"/>
          <p:cNvSpPr/>
          <p:nvPr/>
        </p:nvSpPr>
        <p:spPr>
          <a:xfrm>
            <a:off x="1016000" y="2032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424242"/>
                </a:solidFill>
                <a:latin typeface="Noto Sans SC"/>
                <a:ea typeface="Noto Sans SC"/>
                <a:cs typeface="Noto Sans SC"/>
                <a:sym typeface="Noto Sans SC"/>
              </a:rPr>
              <a:t>使用16位浮点数（FP16，半精度）表示模型参数，是平衡精度与性能的常用策略。</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304800" cy="304800"/>
          </a:xfrm>
          <a:prstGeom prst="rect">
            <a:avLst/>
          </a:prstGeom>
        </p:spPr>
      </p:pic>
      <p:sp>
        <p:nvSpPr>
          <p:cNvPr id="8" name="AutoShape 8"/>
          <p:cNvSpPr/>
          <p:nvPr/>
        </p:nvSpPr>
        <p:spPr>
          <a:xfrm>
            <a:off x="1397000" y="287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关键特点</a:t>
            </a:r>
            <a:endParaRPr lang="en-US" sz="1100"/>
          </a:p>
        </p:txBody>
      </p:sp>
      <p:sp>
        <p:nvSpPr>
          <p:cNvPr id="9" name="AutoShape 9"/>
          <p:cNvSpPr/>
          <p:nvPr/>
        </p:nvSpPr>
        <p:spPr>
          <a:xfrm>
            <a:off x="1016000" y="3302000"/>
            <a:ext cx="4572000" cy="1397000"/>
          </a:xfrm>
          <a:prstGeom prst="rect">
            <a:avLst/>
          </a:prstGeom>
          <a:noFill/>
          <a:ln w="12700" cap="flat" cmpd="sng">
            <a:noFill/>
            <a:prstDash val="solid"/>
            <a:round/>
          </a:ln>
        </p:spPr>
        <p:txBody>
          <a:bodyPr vert="horz" wrap="square" lIns="0" tIns="0" rIns="0" bIns="0" rtlCol="0" anchor="ctr" anchorCtr="0"/>
          <a:lstStyle/>
          <a:p>
            <a:pPr marL="190500" indent="-190500" algn="l">
              <a:lnSpc>
                <a:spcPct val="108000"/>
              </a:lnSpc>
              <a:buClr>
                <a:srgbClr val="424242"/>
              </a:buClr>
              <a:buChar char="•"/>
              <a:defRPr/>
            </a:pPr>
            <a:r>
              <a:rPr lang="en-US" sz="1500" b="1" i="0" u="none" strike="noStrike">
                <a:solidFill>
                  <a:srgbClr val="424242"/>
                </a:solidFill>
                <a:latin typeface="Noto Sans SC"/>
                <a:ea typeface="Noto Sans SC"/>
                <a:cs typeface="Noto Sans SC"/>
                <a:sym typeface="Noto Sans SC"/>
              </a:rPr>
              <a:t>内存减半：</a:t>
            </a:r>
            <a:r>
              <a:rPr lang="en-US" sz="1500" b="0" i="0" u="none" strike="noStrike">
                <a:solidFill>
                  <a:srgbClr val="424242"/>
                </a:solidFill>
                <a:latin typeface="Noto Sans SC"/>
                <a:ea typeface="Noto Sans SC"/>
                <a:cs typeface="Noto Sans SC"/>
                <a:sym typeface="Noto Sans SC"/>
              </a:rPr>
              <a:t>占用FP32一半的显存空间，降低硬件门槛。</a:t>
            </a:r>
            <a:endParaRPr lang="en-US" sz="1100"/>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速度提升：</a:t>
            </a:r>
            <a:r>
              <a:rPr lang="en-US" sz="1500" b="0" i="0" u="none" strike="noStrike">
                <a:solidFill>
                  <a:srgbClr val="424242"/>
                </a:solidFill>
                <a:latin typeface="Noto Sans SC"/>
                <a:ea typeface="Noto Sans SC"/>
                <a:cs typeface="Noto Sans SC"/>
                <a:sym typeface="Noto Sans SC"/>
              </a:rPr>
              <a:t>GPU并行计算效率更高，推理速度显著加快。</a:t>
            </a:r>
            <a:endParaRPr lang="en-US" sz="1500" b="0" i="0" u="none" strike="noStrike">
              <a:solidFill>
                <a:srgbClr val="424242"/>
              </a:solidFill>
              <a:latin typeface="Noto Sans SC"/>
              <a:ea typeface="Noto Sans SC"/>
              <a:cs typeface="Noto Sans SC"/>
              <a:sym typeface="Noto Sans SC"/>
            </a:endParaRPr>
          </a:p>
          <a:p>
            <a:pPr marL="190500" indent="-190500" algn="l">
              <a:lnSpc>
                <a:spcPct val="108000"/>
              </a:lnSpc>
              <a:buClr>
                <a:srgbClr val="424242"/>
              </a:buClr>
              <a:buChar char="•"/>
            </a:pPr>
            <a:r>
              <a:rPr lang="en-US" sz="1500" b="1" i="0" u="none" strike="noStrike">
                <a:solidFill>
                  <a:srgbClr val="424242"/>
                </a:solidFill>
                <a:latin typeface="Noto Sans SC"/>
                <a:ea typeface="Noto Sans SC"/>
                <a:cs typeface="Noto Sans SC"/>
                <a:sym typeface="Noto Sans SC"/>
              </a:rPr>
              <a:t>精度权衡：</a:t>
            </a:r>
            <a:r>
              <a:rPr lang="en-US" sz="1500" b="0" i="0" u="none" strike="noStrike">
                <a:solidFill>
                  <a:srgbClr val="424242"/>
                </a:solidFill>
                <a:latin typeface="Noto Sans SC"/>
                <a:ea typeface="Noto Sans SC"/>
                <a:cs typeface="Noto Sans SC"/>
                <a:sym typeface="Noto Sans SC"/>
              </a:rPr>
              <a:t>精度损失较小，但需注意数值不稳定风险。</a:t>
            </a:r>
            <a:endParaRPr lang="en-US" sz="1500" b="0" i="0" u="none" strike="noStrike">
              <a:solidFill>
                <a:srgbClr val="424242"/>
              </a:solidFill>
              <a:latin typeface="Noto Sans SC"/>
              <a:ea typeface="Noto Sans SC"/>
              <a:cs typeface="Noto Sans SC"/>
              <a:sym typeface="Noto Sans SC"/>
            </a:endParaRPr>
          </a:p>
        </p:txBody>
      </p:sp>
      <p:sp>
        <p:nvSpPr>
          <p:cNvPr id="10" name="AutoShape 10"/>
          <p:cNvSpPr/>
          <p:nvPr/>
        </p:nvSpPr>
        <p:spPr>
          <a:xfrm>
            <a:off x="6096000" y="1397000"/>
            <a:ext cx="5334000" cy="3556000"/>
          </a:xfrm>
          <a:prstGeom prst="roundRect">
            <a:avLst>
              <a:gd name="adj" fmla="val 3571"/>
            </a:avLst>
          </a:prstGeom>
          <a:solidFill>
            <a:srgbClr val="1E1E1E">
              <a:alpha val="100000"/>
            </a:srgbClr>
          </a:solidFill>
          <a:ln w="25400" cap="flat" cmpd="sng">
            <a:noFill/>
            <a:prstDash val="solid"/>
            <a:round/>
          </a:ln>
          <a:effectLst>
            <a:outerShdw blurRad="152400" dist="76200" dir="5400000" algn="tl" rotWithShape="0">
              <a:srgbClr val="000000">
                <a:alpha val="20000"/>
              </a:srgbClr>
            </a:outerShdw>
          </a:effectLst>
        </p:spPr>
        <p:txBody>
          <a:bodyPr vert="horz" wrap="square" lIns="63500" tIns="63500" rIns="63500" bIns="63500" rtlCol="0" anchor="ctr"/>
          <a:lstStyle/>
          <a:p>
            <a:pPr algn="ctr">
              <a:defRPr/>
            </a:pPr>
          </a:p>
        </p:txBody>
      </p:sp>
      <p:sp>
        <p:nvSpPr>
          <p:cNvPr id="11" name="AutoShape 11"/>
          <p:cNvSpPr/>
          <p:nvPr/>
        </p:nvSpPr>
        <p:spPr>
          <a:xfrm>
            <a:off x="6350000" y="1587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B0BEC5"/>
                </a:solidFill>
                <a:latin typeface="Noto Sans SC"/>
                <a:ea typeface="Noto Sans SC"/>
                <a:cs typeface="Noto Sans SC"/>
                <a:sym typeface="Noto Sans SC"/>
              </a:rPr>
              <a:t>代码示例：加载ChatGLM3-6B并转换为FP16</a:t>
            </a:r>
            <a:endParaRPr lang="en-US" sz="1100"/>
          </a:p>
        </p:txBody>
      </p:sp>
      <p:sp>
        <p:nvSpPr>
          <p:cNvPr id="12" name="AutoShape 12"/>
          <p:cNvSpPr/>
          <p:nvPr/>
        </p:nvSpPr>
        <p:spPr>
          <a:xfrm>
            <a:off x="6350000" y="2032000"/>
            <a:ext cx="4826000" cy="1905000"/>
          </a:xfrm>
          <a:prstGeom prst="roundRect">
            <a:avLst>
              <a:gd name="adj" fmla="val 3333"/>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21590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C678DD"/>
                </a:solidFill>
                <a:latin typeface="Roboto Mono"/>
                <a:ea typeface="Roboto Mono"/>
                <a:cs typeface="Roboto Mono"/>
                <a:sym typeface="Roboto Mono"/>
              </a:rPr>
              <a:t>with</a:t>
            </a:r>
            <a:r>
              <a:rPr lang="en-US" sz="1600" b="0" i="0" u="none" strike="noStrike">
                <a:solidFill>
                  <a:srgbClr val="DCDFE4"/>
                </a:solidFill>
                <a:latin typeface="Roboto Mono"/>
                <a:ea typeface="Roboto Mono"/>
                <a:cs typeface="Roboto Mono"/>
                <a:sym typeface="Roboto Mono"/>
              </a:rPr>
              <a:t>torch.no_grad():</a:t>
            </a:r>
            <a:endParaRPr lang="en-US" sz="1100"/>
          </a:p>
          <a:p>
            <a:pPr indent="0" algn="l">
              <a:lnSpc>
                <a:spcPct val="100000"/>
              </a:lnSpc>
            </a:pPr>
            <a:r>
              <a:rPr lang="en-US" sz="1600" b="0" i="0" u="none" strike="noStrike">
                <a:solidFill>
                  <a:srgbClr val="C678DD"/>
                </a:solidFill>
                <a:latin typeface="Roboto Mono"/>
                <a:ea typeface="Roboto Mono"/>
                <a:cs typeface="Roboto Mono"/>
                <a:sym typeface="Roboto Mono"/>
              </a:rPr>
              <a:t>#</a:t>
            </a:r>
            <a:r>
              <a:rPr lang="en-US" sz="1600" b="0" i="0" u="none" strike="noStrike">
                <a:solidFill>
                  <a:srgbClr val="98C379"/>
                </a:solidFill>
                <a:latin typeface="Roboto Mono"/>
                <a:ea typeface="Roboto Mono"/>
                <a:cs typeface="Roboto Mono"/>
                <a:sym typeface="Roboto Mono"/>
              </a:rPr>
              <a:t>使用 .half() 方法转换为FP16</a:t>
            </a:r>
            <a:endParaRPr lang="en-US" sz="1600" b="0" i="0" u="none" strike="noStrike">
              <a:solidFill>
                <a:srgbClr val="98C379"/>
              </a:solidFill>
              <a:latin typeface="Roboto Mono"/>
              <a:ea typeface="Roboto Mono"/>
              <a:cs typeface="Roboto Mono"/>
              <a:sym typeface="Roboto Mono"/>
            </a:endParaRPr>
          </a:p>
          <a:p>
            <a:pPr indent="0" algn="l">
              <a:lnSpc>
                <a:spcPct val="100000"/>
              </a:lnSpc>
            </a:pPr>
            <a:r>
              <a:rPr lang="en-US" sz="1600" b="0" i="0" u="none" strike="noStrike">
                <a:solidFill>
                  <a:srgbClr val="DCDFE4"/>
                </a:solidFill>
                <a:latin typeface="Roboto Mono"/>
                <a:ea typeface="Roboto Mono"/>
                <a:cs typeface="Roboto Mono"/>
                <a:sym typeface="Roboto Mono"/>
              </a:rPr>
              <a:t>model = AutoModel.from_pretrained(</a:t>
            </a:r>
            <a:r>
              <a:rPr lang="en-US" sz="1600" b="0" i="0" u="none" strike="noStrike">
                <a:solidFill>
                  <a:srgbClr val="98C379"/>
                </a:solidFill>
                <a:latin typeface="Roboto Mono"/>
                <a:ea typeface="Roboto Mono"/>
                <a:cs typeface="Roboto Mono"/>
                <a:sym typeface="Roboto Mono"/>
              </a:rPr>
              <a:t>"chatglm3-6b"</a:t>
            </a:r>
            <a:r>
              <a:rPr lang="en-US" sz="1600" b="0" i="0" u="none" strike="noStrike">
                <a:solidFill>
                  <a:srgbClr val="DCDFE4"/>
                </a:solidFill>
                <a:latin typeface="Roboto Mono"/>
                <a:ea typeface="Roboto Mono"/>
                <a:cs typeface="Roboto Mono"/>
                <a:sym typeface="Roboto Mono"/>
              </a:rPr>
              <a:t>,</a:t>
            </a:r>
            <a:endParaRPr lang="en-US" sz="1600" b="0" i="0" u="none" strike="noStrike">
              <a:solidFill>
                <a:srgbClr val="DCDFE4"/>
              </a:solidFill>
              <a:latin typeface="Roboto Mono"/>
              <a:ea typeface="Roboto Mono"/>
              <a:cs typeface="Roboto Mono"/>
              <a:sym typeface="Roboto Mono"/>
            </a:endParaRPr>
          </a:p>
          <a:p>
            <a:pPr indent="0" algn="l">
              <a:lnSpc>
                <a:spcPct val="100000"/>
              </a:lnSpc>
            </a:pPr>
            <a:r>
              <a:rPr lang="en-US" sz="1600" b="0" i="0" u="none" strike="noStrike">
                <a:solidFill>
                  <a:srgbClr val="DCDFE4"/>
                </a:solidFill>
                <a:latin typeface="Roboto Mono"/>
                <a:ea typeface="Roboto Mono"/>
                <a:cs typeface="Roboto Mono"/>
                <a:sym typeface="Roboto Mono"/>
              </a:rPr>
              <a:t>trust_remote_code=</a:t>
            </a:r>
            <a:r>
              <a:rPr lang="en-US" sz="1600" b="0" i="0" u="none" strike="noStrike">
                <a:solidFill>
                  <a:srgbClr val="D19A66"/>
                </a:solidFill>
                <a:latin typeface="Roboto Mono"/>
                <a:ea typeface="Roboto Mono"/>
                <a:cs typeface="Roboto Mono"/>
                <a:sym typeface="Roboto Mono"/>
              </a:rPr>
              <a:t>True</a:t>
            </a:r>
            <a:r>
              <a:rPr lang="en-US" sz="1600" b="0" i="0" u="none" strike="noStrike">
                <a:solidFill>
                  <a:srgbClr val="DCDFE4"/>
                </a:solidFill>
                <a:latin typeface="Roboto Mono"/>
                <a:ea typeface="Roboto Mono"/>
                <a:cs typeface="Roboto Mono"/>
                <a:sym typeface="Roboto Mono"/>
              </a:rPr>
              <a:t>).</a:t>
            </a:r>
            <a:r>
              <a:rPr lang="en-US" sz="1600" b="0" i="0" u="none" strike="noStrike">
                <a:solidFill>
                  <a:srgbClr val="61AFEF"/>
                </a:solidFill>
                <a:latin typeface="Roboto Mono"/>
                <a:ea typeface="Roboto Mono"/>
                <a:cs typeface="Roboto Mono"/>
                <a:sym typeface="Roboto Mono"/>
              </a:rPr>
              <a:t>half</a:t>
            </a:r>
            <a:r>
              <a:rPr lang="en-US" sz="1600" b="0" i="0" u="none" strike="noStrike">
                <a:solidFill>
                  <a:srgbClr val="DCDFE4"/>
                </a:solidFill>
                <a:latin typeface="Roboto Mono"/>
                <a:ea typeface="Roboto Mono"/>
                <a:cs typeface="Roboto Mono"/>
                <a:sym typeface="Roboto Mono"/>
              </a:rPr>
              <a:t>().cuda()</a:t>
            </a:r>
            <a:endParaRPr lang="en-US" sz="1600" b="0" i="0" u="none" strike="noStrike">
              <a:solidFill>
                <a:srgbClr val="DCDFE4"/>
              </a:solidFill>
              <a:latin typeface="Roboto Mono"/>
              <a:ea typeface="Roboto Mono"/>
              <a:cs typeface="Roboto Mono"/>
              <a:sym typeface="Roboto Mono"/>
            </a:endParaRPr>
          </a:p>
        </p:txBody>
      </p:sp>
      <p:sp>
        <p:nvSpPr>
          <p:cNvPr id="14" name="AutoShape 14"/>
          <p:cNvSpPr/>
          <p:nvPr/>
        </p:nvSpPr>
        <p:spPr>
          <a:xfrm>
            <a:off x="6096000" y="5207000"/>
            <a:ext cx="5334000" cy="762000"/>
          </a:xfrm>
          <a:prstGeom prst="roundRect">
            <a:avLst>
              <a:gd name="adj" fmla="val 16666"/>
            </a:avLst>
          </a:prstGeom>
          <a:solidFill>
            <a:srgbClr val="0277BD">
              <a:alpha val="10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86500" y="5397500"/>
            <a:ext cx="304800" cy="304800"/>
          </a:xfrm>
          <a:prstGeom prst="rect">
            <a:avLst/>
          </a:prstGeom>
        </p:spPr>
      </p:pic>
      <p:sp>
        <p:nvSpPr>
          <p:cNvPr id="16" name="AutoShape 16"/>
          <p:cNvSpPr/>
          <p:nvPr/>
        </p:nvSpPr>
        <p:spPr>
          <a:xfrm>
            <a:off x="6667500" y="5334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注意：</a:t>
            </a:r>
            <a:r>
              <a:rPr lang="en-US" sz="1400" b="0" i="0" u="none" strike="noStrike">
                <a:solidFill>
                  <a:srgbClr val="0277BD"/>
                </a:solidFill>
                <a:latin typeface="Noto Sans SC"/>
                <a:ea typeface="Noto Sans SC"/>
                <a:cs typeface="Noto Sans SC"/>
                <a:sym typeface="Noto Sans SC"/>
              </a:rPr>
              <a:t>FP16可能导致数值不稳定（如溢出），建议配合混合精度训练使用。</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235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FP32量化</a:t>
            </a:r>
            <a:endParaRPr lang="en-US" sz="1100"/>
          </a:p>
        </p:txBody>
      </p:sp>
      <p:sp>
        <p:nvSpPr>
          <p:cNvPr id="3" name="AutoShape 3"/>
          <p:cNvSpPr/>
          <p:nvPr/>
        </p:nvSpPr>
        <p:spPr>
          <a:xfrm>
            <a:off x="762000" y="1397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定义与原理</a:t>
            </a:r>
            <a:endParaRPr lang="en-US" sz="1100"/>
          </a:p>
        </p:txBody>
      </p:sp>
      <p:sp>
        <p:nvSpPr>
          <p:cNvPr id="6" name="AutoShape 6"/>
          <p:cNvSpPr/>
          <p:nvPr/>
        </p:nvSpPr>
        <p:spPr>
          <a:xfrm>
            <a:off x="1016000" y="2032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使用32位浮点数（FP32，单精度）表示模型参数，是深度学习模型训练时的默认精度标准。</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94000"/>
            <a:ext cx="304800" cy="304800"/>
          </a:xfrm>
          <a:prstGeom prst="rect">
            <a:avLst/>
          </a:prstGeom>
        </p:spPr>
      </p:pic>
      <p:sp>
        <p:nvSpPr>
          <p:cNvPr id="8" name="AutoShape 8"/>
          <p:cNvSpPr/>
          <p:nvPr/>
        </p:nvSpPr>
        <p:spPr>
          <a:xfrm>
            <a:off x="1397000" y="274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核心特点</a:t>
            </a:r>
            <a:endParaRPr lang="en-US" sz="1100"/>
          </a:p>
        </p:txBody>
      </p:sp>
      <p:sp>
        <p:nvSpPr>
          <p:cNvPr id="9" name="AutoShape 9"/>
          <p:cNvSpPr/>
          <p:nvPr/>
        </p:nvSpPr>
        <p:spPr>
          <a:xfrm>
            <a:off x="1016000" y="3175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数值精度最高，稳定性最好，但内存占用最大，推理速度相对较慢。</a:t>
            </a:r>
            <a:endParaRPr lang="en-US" sz="1100"/>
          </a:p>
        </p:txBody>
      </p:sp>
      <p:sp>
        <p:nvSpPr>
          <p:cNvPr id="10" name="AutoShape 10"/>
          <p:cNvSpPr/>
          <p:nvPr/>
        </p:nvSpPr>
        <p:spPr>
          <a:xfrm>
            <a:off x="6096000" y="1397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651000"/>
            <a:ext cx="304800" cy="304800"/>
          </a:xfrm>
          <a:prstGeom prst="rect">
            <a:avLst/>
          </a:prstGeom>
        </p:spPr>
      </p:pic>
      <p:sp>
        <p:nvSpPr>
          <p:cNvPr id="12" name="AutoShape 12"/>
          <p:cNvSpPr/>
          <p:nvPr/>
        </p:nvSpPr>
        <p:spPr>
          <a:xfrm>
            <a:off x="6731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代码实现 (PyTorch)</a:t>
            </a:r>
            <a:endParaRPr lang="en-US" sz="1100"/>
          </a:p>
        </p:txBody>
      </p:sp>
      <p:sp>
        <p:nvSpPr>
          <p:cNvPr id="13" name="AutoShape 13"/>
          <p:cNvSpPr/>
          <p:nvPr/>
        </p:nvSpPr>
        <p:spPr>
          <a:xfrm>
            <a:off x="6350000" y="2095500"/>
            <a:ext cx="4572000" cy="1524000"/>
          </a:xfrm>
          <a:prstGeom prst="roundRect">
            <a:avLst>
              <a:gd name="adj" fmla="val 4166"/>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2222500"/>
            <a:ext cx="4318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555555"/>
                </a:solidFill>
                <a:latin typeface="Roboto"/>
                <a:ea typeface="Roboto"/>
                <a:cs typeface="Roboto"/>
                <a:sym typeface="Roboto"/>
              </a:rPr>
              <a:t>with torch.no_grad():</a:t>
            </a:r>
            <a:endParaRPr lang="en-US" sz="1100"/>
          </a:p>
          <a:p>
            <a:pPr indent="0" algn="l">
              <a:lnSpc>
                <a:spcPct val="100000"/>
              </a:lnSpc>
            </a:pPr>
            <a:r>
              <a:rPr lang="en-US" sz="1400" b="0" i="0" u="none" strike="noStrike">
                <a:solidFill>
                  <a:srgbClr val="555555"/>
                </a:solidFill>
                <a:latin typeface="Roboto"/>
                <a:ea typeface="Roboto"/>
                <a:cs typeface="Roboto"/>
                <a:sym typeface="Roboto"/>
              </a:rPr>
              <a:t># 使用 .float() 方法保持FP32精度</a:t>
            </a:r>
            <a:endParaRPr lang="en-US" sz="1400" b="0" i="0" u="none" strike="noStrike">
              <a:solidFill>
                <a:srgbClr val="555555"/>
              </a:solidFill>
              <a:latin typeface="Roboto"/>
              <a:ea typeface="Roboto"/>
              <a:cs typeface="Roboto"/>
              <a:sym typeface="Roboto"/>
            </a:endParaRPr>
          </a:p>
          <a:p>
            <a:pPr indent="0" algn="l">
              <a:lnSpc>
                <a:spcPct val="100000"/>
              </a:lnSpc>
            </a:pPr>
            <a:r>
              <a:rPr lang="en-US" sz="1400" b="0" i="0" u="none" strike="noStrike">
                <a:solidFill>
                  <a:srgbClr val="555555"/>
                </a:solidFill>
                <a:latin typeface="Roboto"/>
                <a:ea typeface="Roboto"/>
                <a:cs typeface="Roboto"/>
                <a:sym typeface="Roboto"/>
              </a:rPr>
              <a:t>model = AutoModel.from_pretrained("chatglm3-6b",</a:t>
            </a:r>
            <a:endParaRPr lang="en-US" sz="1400" b="0" i="0" u="none" strike="noStrike">
              <a:solidFill>
                <a:srgbClr val="555555"/>
              </a:solidFill>
              <a:latin typeface="Roboto"/>
              <a:ea typeface="Roboto"/>
              <a:cs typeface="Roboto"/>
              <a:sym typeface="Roboto"/>
            </a:endParaRPr>
          </a:p>
          <a:p>
            <a:pPr indent="0" algn="l">
              <a:lnSpc>
                <a:spcPct val="100000"/>
              </a:lnSpc>
            </a:pPr>
            <a:r>
              <a:rPr lang="en-US" sz="1400" b="0" i="0" u="none" strike="noStrike">
                <a:solidFill>
                  <a:srgbClr val="555555"/>
                </a:solidFill>
                <a:latin typeface="Roboto"/>
                <a:ea typeface="Roboto"/>
                <a:cs typeface="Roboto"/>
                <a:sym typeface="Roboto"/>
              </a:rPr>
              <a:t>trust_remote_code=True)</a:t>
            </a:r>
            <a:endParaRPr lang="en-US" sz="1400" b="0" i="0" u="none" strike="noStrike">
              <a:solidFill>
                <a:srgbClr val="555555"/>
              </a:solidFill>
              <a:latin typeface="Roboto"/>
              <a:ea typeface="Roboto"/>
              <a:cs typeface="Roboto"/>
              <a:sym typeface="Roboto"/>
            </a:endParaRPr>
          </a:p>
          <a:p>
            <a:pPr indent="0" algn="l">
              <a:lnSpc>
                <a:spcPct val="100000"/>
              </a:lnSpc>
            </a:pPr>
            <a:r>
              <a:rPr lang="en-US" sz="1400" b="1" i="0" u="none" strike="noStrike">
                <a:solidFill>
                  <a:srgbClr val="0277BD"/>
                </a:solidFill>
                <a:latin typeface="Roboto"/>
                <a:ea typeface="Roboto"/>
                <a:cs typeface="Roboto"/>
                <a:sym typeface="Roboto"/>
              </a:rPr>
              <a:t>.float()</a:t>
            </a:r>
            <a:r>
              <a:rPr lang="en-US" sz="1400" b="0" i="0" u="none" strike="noStrike">
                <a:solidFill>
                  <a:srgbClr val="555555"/>
                </a:solidFill>
                <a:latin typeface="Roboto"/>
                <a:ea typeface="Roboto"/>
                <a:cs typeface="Roboto"/>
                <a:sym typeface="Roboto"/>
              </a:rPr>
              <a:t>.cuda()</a:t>
            </a:r>
            <a:endParaRPr lang="en-US" sz="1400" b="0" i="0" u="none" strike="noStrike">
              <a:solidFill>
                <a:srgbClr val="555555"/>
              </a:solidFill>
              <a:latin typeface="Roboto"/>
              <a:ea typeface="Roboto"/>
              <a:cs typeface="Roboto"/>
              <a:sym typeface="Roboto"/>
            </a:endParaRPr>
          </a:p>
        </p:txBody>
      </p:sp>
      <p:sp>
        <p:nvSpPr>
          <p:cNvPr id="15" name="AutoShape 15"/>
          <p:cNvSpPr/>
          <p:nvPr/>
        </p:nvSpPr>
        <p:spPr>
          <a:xfrm>
            <a:off x="762000" y="4191000"/>
            <a:ext cx="10414000" cy="1270000"/>
          </a:xfrm>
          <a:prstGeom prst="roundRect">
            <a:avLst>
              <a:gd name="adj" fmla="val 10000"/>
            </a:avLst>
          </a:prstGeom>
          <a:solidFill>
            <a:srgbClr val="0277BD">
              <a:alpha val="8000"/>
            </a:srgbClr>
          </a:solidFill>
          <a:ln w="12700" cap="flat" cmpd="sng">
            <a:solidFill>
              <a:srgbClr val="0277BD">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445000"/>
            <a:ext cx="304800" cy="304800"/>
          </a:xfrm>
          <a:prstGeom prst="rect">
            <a:avLst/>
          </a:prstGeom>
        </p:spPr>
      </p:pic>
      <p:sp>
        <p:nvSpPr>
          <p:cNvPr id="17" name="AutoShape 17"/>
          <p:cNvSpPr/>
          <p:nvPr/>
        </p:nvSpPr>
        <p:spPr>
          <a:xfrm>
            <a:off x="1397000" y="4381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0277BD"/>
                </a:solidFill>
                <a:latin typeface="Noto Sans SC"/>
                <a:ea typeface="Noto Sans SC"/>
                <a:cs typeface="Noto Sans SC"/>
                <a:sym typeface="Noto Sans SC"/>
              </a:rPr>
              <a:t>适用场景：</a:t>
            </a:r>
            <a:r>
              <a:rPr lang="en-US" sz="1600" b="0" i="0" u="none" strike="noStrike">
                <a:solidFill>
                  <a:srgbClr val="757575"/>
                </a:solidFill>
                <a:latin typeface="Noto Sans SC"/>
                <a:ea typeface="Noto Sans SC"/>
                <a:cs typeface="Noto Sans SC"/>
                <a:sym typeface="Noto Sans SC"/>
              </a:rPr>
              <a:t>FP32通常用于对精度要求极高的科学计算或模型训练阶段。在推理部署中，除非模型规模极小或对精度有极端要求，否则通常会采用更低精度的量化策略以提升效率。</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量化精度选择的权衡</a:t>
            </a:r>
            <a:endParaRPr lang="en-US" sz="1100"/>
          </a:p>
        </p:txBody>
      </p:sp>
      <p:sp>
        <p:nvSpPr>
          <p:cNvPr id="3" name="AutoShape 3"/>
          <p:cNvSpPr/>
          <p:nvPr/>
        </p:nvSpPr>
        <p:spPr>
          <a:xfrm>
            <a:off x="762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精度 vs. 性能</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95500"/>
            <a:ext cx="406400" cy="406400"/>
          </a:xfrm>
          <a:prstGeom prst="rect">
            <a:avLst/>
          </a:prstGeom>
        </p:spPr>
      </p:pic>
      <p:sp>
        <p:nvSpPr>
          <p:cNvPr id="6" name="AutoShape 6"/>
          <p:cNvSpPr/>
          <p:nvPr/>
        </p:nvSpPr>
        <p:spPr>
          <a:xfrm>
            <a:off x="1524000" y="2032000"/>
            <a:ext cx="4064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 高精度（如FP32）：内存占用大，速度慢，但准确性高。</a:t>
            </a:r>
            <a:endParaRPr lang="en-US" sz="1100"/>
          </a:p>
          <a:p>
            <a:pPr indent="0" algn="l">
              <a:lnSpc>
                <a:spcPct val="108000"/>
              </a:lnSpc>
            </a:pPr>
            <a:r>
              <a:rPr lang="en-US" sz="1800" b="0" i="0" u="none" strike="noStrike">
                <a:solidFill>
                  <a:srgbClr val="757575"/>
                </a:solidFill>
                <a:latin typeface="Noto Sans SC"/>
                <a:ea typeface="Noto Sans SC"/>
                <a:cs typeface="Noto Sans SC"/>
                <a:sym typeface="Noto Sans SC"/>
              </a:rPr>
              <a:t>• 低精度（如INT4）：内存占用小，速度快，但存在精度损失。</a:t>
            </a:r>
            <a:endParaRPr lang="en-US" sz="18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6350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sp>
        <p:nvSpPr>
          <p:cNvPr id="8" name="AutoShape 8"/>
          <p:cNvSpPr/>
          <p:nvPr/>
        </p:nvSpPr>
        <p:spPr>
          <a:xfrm>
            <a:off x="6604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核心选择建议</a:t>
            </a:r>
            <a:endParaRPr lang="en-US" sz="1100"/>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095500"/>
            <a:ext cx="406400" cy="406400"/>
          </a:xfrm>
          <a:prstGeom prst="rect">
            <a:avLst/>
          </a:prstGeom>
        </p:spPr>
      </p:pic>
      <p:sp>
        <p:nvSpPr>
          <p:cNvPr id="10" name="AutoShape 10"/>
          <p:cNvSpPr/>
          <p:nvPr/>
        </p:nvSpPr>
        <p:spPr>
          <a:xfrm>
            <a:off x="7112000" y="2032000"/>
            <a:ext cx="4064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 依据任务对精度的实际需求来定。</a:t>
            </a:r>
            <a:endParaRPr lang="en-US" sz="1100"/>
          </a:p>
          <a:p>
            <a:pPr indent="0" algn="l">
              <a:lnSpc>
                <a:spcPct val="108000"/>
              </a:lnSpc>
            </a:pPr>
            <a:r>
              <a:rPr lang="en-US" sz="1800" b="0" i="0" u="none" strike="noStrike">
                <a:solidFill>
                  <a:srgbClr val="757575"/>
                </a:solidFill>
                <a:latin typeface="Noto Sans SC"/>
                <a:ea typeface="Noto Sans SC"/>
                <a:cs typeface="Noto Sans SC"/>
                <a:sym typeface="Noto Sans SC"/>
              </a:rPr>
              <a:t>• 考虑部署环境的硬件资源（如显存）。</a:t>
            </a:r>
            <a:endParaRPr lang="en-US" sz="1800" b="0" i="0" u="none" strike="noStrike">
              <a:solidFill>
                <a:srgbClr val="757575"/>
              </a:solidFill>
              <a:latin typeface="Noto Sans SC"/>
              <a:ea typeface="Noto Sans SC"/>
              <a:cs typeface="Noto Sans SC"/>
              <a:sym typeface="Noto Sans SC"/>
            </a:endParaRPr>
          </a:p>
          <a:p>
            <a:pPr indent="0" algn="l">
              <a:lnSpc>
                <a:spcPct val="108000"/>
              </a:lnSpc>
            </a:pPr>
            <a:r>
              <a:rPr lang="en-US" sz="1800" b="0" i="0" u="none" strike="noStrike">
                <a:solidFill>
                  <a:srgbClr val="757575"/>
                </a:solidFill>
                <a:latin typeface="Noto Sans SC"/>
                <a:ea typeface="Noto Sans SC"/>
                <a:cs typeface="Noto Sans SC"/>
                <a:sym typeface="Noto Sans SC"/>
              </a:rPr>
              <a:t>• 在性能达标的前提下，优先选高精度。</a:t>
            </a:r>
            <a:endParaRPr lang="en-US" sz="18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762000" y="3937000"/>
            <a:ext cx="10668000" cy="1651000"/>
          </a:xfrm>
          <a:prstGeom prst="roundRect">
            <a:avLst>
              <a:gd name="adj" fmla="val 7692"/>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191000"/>
            <a:ext cx="508000" cy="508000"/>
          </a:xfrm>
          <a:prstGeom prst="rect">
            <a:avLst/>
          </a:prstGeom>
        </p:spPr>
      </p:pic>
      <p:sp>
        <p:nvSpPr>
          <p:cNvPr id="13" name="AutoShape 13"/>
          <p:cNvSpPr/>
          <p:nvPr/>
        </p:nvSpPr>
        <p:spPr>
          <a:xfrm>
            <a:off x="1651000" y="4127500"/>
            <a:ext cx="9525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1" i="0" u="none" strike="noStrike">
                <a:solidFill>
                  <a:srgbClr val="0277BD"/>
                </a:solidFill>
                <a:latin typeface="Noto Sans SC"/>
                <a:ea typeface="Noto Sans SC"/>
                <a:cs typeface="Noto Sans SC"/>
                <a:sym typeface="Noto Sans SC"/>
              </a:rPr>
              <a:t>决策原则：</a:t>
            </a:r>
            <a:endParaRPr lang="en-US" sz="1100"/>
          </a:p>
          <a:p>
            <a:pPr indent="0" algn="l">
              <a:lnSpc>
                <a:spcPct val="117000"/>
              </a:lnSpc>
            </a:pPr>
            <a:r>
              <a:rPr lang="en-US" sz="1800" b="0" i="0" u="none" strike="noStrike">
                <a:solidFill>
                  <a:srgbClr val="757575"/>
                </a:solidFill>
                <a:latin typeface="Noto Sans SC"/>
                <a:ea typeface="Noto Sans SC"/>
                <a:cs typeface="Noto Sans SC"/>
                <a:sym typeface="Noto Sans SC"/>
              </a:rPr>
              <a:t>没有绝对的最优解，需在“速度”与“准确性”之间寻找平衡点。建议从INT8或FP16开始尝试，根据实际测试结果调整策略。</a:t>
            </a:r>
            <a:endParaRPr lang="en-US" sz="18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0" y="6604000"/>
            <a:ext cx="12192000" cy="2540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5080000" cy="508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032000" y="1651000"/>
            <a:ext cx="8128000" cy="3556000"/>
          </a:xfrm>
          <a:prstGeom prst="roundRect">
            <a:avLst>
              <a:gd name="adj" fmla="val 3571"/>
            </a:avLst>
          </a:prstGeom>
          <a:solidFill>
            <a:srgbClr val="FFFFFF">
              <a:alpha val="100000"/>
            </a:srgbClr>
          </a:solidFill>
          <a:ln w="25400" cap="flat" cmpd="sng">
            <a:noFill/>
            <a:prstDash val="solid"/>
            <a:round/>
          </a:ln>
          <a:effectLst>
            <a:outerShdw blurRad="254000" dist="127000" dir="5400000" algn="tl" rotWithShape="0">
              <a:srgbClr val="0277BD">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968500"/>
            <a:ext cx="609600" cy="609600"/>
          </a:xfrm>
          <a:prstGeom prst="rect">
            <a:avLst/>
          </a:prstGeom>
        </p:spPr>
      </p:pic>
      <p:sp>
        <p:nvSpPr>
          <p:cNvPr id="6" name="AutoShape 6"/>
          <p:cNvSpPr/>
          <p:nvPr/>
        </p:nvSpPr>
        <p:spPr>
          <a:xfrm>
            <a:off x="2286000" y="2730500"/>
            <a:ext cx="762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77BD"/>
                </a:solidFill>
                <a:latin typeface="Noto Sans SC"/>
                <a:ea typeface="Noto Sans SC"/>
                <a:cs typeface="Noto Sans SC"/>
                <a:sym typeface="Noto Sans SC"/>
              </a:rPr>
              <a:t>10.3 大语言模型部署实战</a:t>
            </a:r>
            <a:endParaRPr lang="en-US" sz="1100"/>
          </a:p>
        </p:txBody>
      </p:sp>
      <p:cxnSp>
        <p:nvCxnSpPr>
          <p:cNvPr id="7" name="Connector 7"/>
          <p:cNvCxnSpPr/>
          <p:nvPr/>
        </p:nvCxnSpPr>
        <p:spPr>
          <a:xfrm rot="-34376">
            <a:off x="5461032" y="3549650"/>
            <a:ext cx="1270000" cy="12700"/>
          </a:xfrm>
          <a:prstGeom prst="line">
            <a:avLst/>
          </a:prstGeom>
          <a:solidFill>
            <a:srgbClr val="DEE0E3">
              <a:alpha val="100000"/>
            </a:srgbClr>
          </a:solidFill>
          <a:ln w="25400" cap="flat" cmpd="sng">
            <a:solidFill>
              <a:srgbClr val="0277BD">
                <a:alpha val="30000"/>
              </a:srgbClr>
            </a:solidFill>
            <a:prstDash val="solid"/>
            <a:round/>
            <a:headEnd type="none" w="lg" len="lg"/>
            <a:tailEnd type="none" w="lg" len="lg"/>
          </a:ln>
        </p:spPr>
      </p:cxnSp>
      <p:sp>
        <p:nvSpPr>
          <p:cNvPr id="8" name="AutoShape 8"/>
          <p:cNvSpPr/>
          <p:nvPr/>
        </p:nvSpPr>
        <p:spPr>
          <a:xfrm>
            <a:off x="2286000" y="3810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546E7A"/>
                </a:solidFill>
                <a:latin typeface="Noto Sans SC"/>
                <a:ea typeface="Noto Sans SC"/>
                <a:cs typeface="Noto Sans SC"/>
                <a:sym typeface="Noto Sans SC"/>
              </a:rPr>
              <a:t>从模型到服务：构建Web应用与API接口</a:t>
            </a:r>
            <a:endParaRPr lang="en-US" sz="1100"/>
          </a:p>
        </p:txBody>
      </p:sp>
      <p:sp>
        <p:nvSpPr>
          <p:cNvPr id="9" name="AutoShape 9"/>
          <p:cNvSpPr/>
          <p:nvPr/>
        </p:nvSpPr>
        <p:spPr>
          <a:xfrm>
            <a:off x="2032000" y="5130800"/>
            <a:ext cx="8128000" cy="762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10.3.1 基于Gradio框架的网页部署</a:t>
            </a:r>
            <a:endParaRPr lang="en-US" sz="1100"/>
          </a:p>
        </p:txBody>
      </p:sp>
      <p:sp>
        <p:nvSpPr>
          <p:cNvPr id="3" name="AutoShape 3"/>
          <p:cNvSpPr/>
          <p:nvPr/>
        </p:nvSpPr>
        <p:spPr>
          <a:xfrm>
            <a:off x="762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778000"/>
            <a:ext cx="762000" cy="762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Gradio简介</a:t>
            </a:r>
            <a:endParaRPr lang="en-US" sz="1100"/>
          </a:p>
        </p:txBody>
      </p:sp>
      <p:sp>
        <p:nvSpPr>
          <p:cNvPr id="6" name="AutoShape 6"/>
          <p:cNvSpPr/>
          <p:nvPr/>
        </p:nvSpPr>
        <p:spPr>
          <a:xfrm>
            <a:off x="952500" y="31750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一个开源的Python库，专为快速构建机器学习模型的Web应用而设计。</a:t>
            </a:r>
            <a:endParaRPr lang="en-US" sz="1100"/>
          </a:p>
        </p:txBody>
      </p:sp>
      <p:sp>
        <p:nvSpPr>
          <p:cNvPr id="7" name="AutoShape 7"/>
          <p:cNvSpPr/>
          <p:nvPr/>
        </p:nvSpPr>
        <p:spPr>
          <a:xfrm>
            <a:off x="4445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1778000"/>
            <a:ext cx="762000" cy="7620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核心优势</a:t>
            </a:r>
            <a:endParaRPr lang="en-US" sz="1100"/>
          </a:p>
        </p:txBody>
      </p:sp>
      <p:sp>
        <p:nvSpPr>
          <p:cNvPr id="10" name="AutoShape 10"/>
          <p:cNvSpPr/>
          <p:nvPr/>
        </p:nvSpPr>
        <p:spPr>
          <a:xfrm>
            <a:off x="4635500" y="3175000"/>
            <a:ext cx="2921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无需前端开发经验，几行代码即可生成一个可交互的网页界面。</a:t>
            </a:r>
            <a:endParaRPr lang="en-US" sz="1100"/>
          </a:p>
        </p:txBody>
      </p:sp>
      <p:sp>
        <p:nvSpPr>
          <p:cNvPr id="11" name="AutoShape 11"/>
          <p:cNvSpPr/>
          <p:nvPr/>
        </p:nvSpPr>
        <p:spPr>
          <a:xfrm>
            <a:off x="8128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1778000"/>
            <a:ext cx="762000" cy="7620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安装方法</a:t>
            </a:r>
            <a:endParaRPr lang="en-US" sz="1100"/>
          </a:p>
        </p:txBody>
      </p:sp>
      <p:sp>
        <p:nvSpPr>
          <p:cNvPr id="14" name="AutoShape 14"/>
          <p:cNvSpPr/>
          <p:nvPr/>
        </p:nvSpPr>
        <p:spPr>
          <a:xfrm>
            <a:off x="8318500" y="3175000"/>
            <a:ext cx="2921000" cy="1143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800" b="0" i="0" u="none" strike="noStrike">
                <a:solidFill>
                  <a:srgbClr val="757575"/>
                </a:solidFill>
                <a:latin typeface="Noto Sans SC"/>
                <a:ea typeface="Noto Sans SC"/>
                <a:cs typeface="Noto Sans SC"/>
                <a:sym typeface="Noto Sans SC"/>
              </a:rPr>
              <a:t>使用pip命令快速安装：</a:t>
            </a:r>
            <a:endParaRPr lang="en-US" sz="1100"/>
          </a:p>
          <a:p>
            <a:pPr indent="0" algn="ctr">
              <a:lnSpc>
                <a:spcPct val="108000"/>
              </a:lnSpc>
            </a:pPr>
            <a:r>
              <a:rPr lang="en-US" sz="1800" b="1" i="0" u="none" strike="noStrike">
                <a:solidFill>
                  <a:srgbClr val="0277BD"/>
                </a:solidFill>
                <a:latin typeface="Noto Sans SC"/>
                <a:ea typeface="Noto Sans SC"/>
                <a:cs typeface="Noto Sans SC"/>
                <a:sym typeface="Noto Sans SC"/>
              </a:rPr>
              <a:t>pip3 install gradio</a:t>
            </a:r>
            <a:endParaRPr lang="en-US" sz="1800" b="1" i="0" u="none" strike="noStrike">
              <a:solidFill>
                <a:srgbClr val="0277BD"/>
              </a:solidFill>
              <a:latin typeface="Noto Sans SC"/>
              <a:ea typeface="Noto Sans SC"/>
              <a:cs typeface="Noto Sans SC"/>
              <a:sym typeface="Noto Sans SC"/>
            </a:endParaRPr>
          </a:p>
        </p:txBody>
      </p:sp>
      <p:sp>
        <p:nvSpPr>
          <p:cNvPr id="15" name="AutoShape 15"/>
          <p:cNvSpPr/>
          <p:nvPr/>
        </p:nvSpPr>
        <p:spPr>
          <a:xfrm>
            <a:off x="762000" y="5334000"/>
            <a:ext cx="10668000" cy="25400"/>
          </a:xfrm>
          <a:prstGeom prst="roundRect">
            <a:avLst>
              <a:gd name="adj" fmla="val 0"/>
            </a:avLst>
          </a:prstGeom>
          <a:solidFill>
            <a:srgbClr val="0277BD">
              <a:alpha val="3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让模型部署变得简单高效，专注于算法本身，而非繁琐的前端开发。</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Gradio的ChatInterface</a:t>
            </a:r>
            <a:endParaRPr lang="en-US" sz="1100"/>
          </a:p>
        </p:txBody>
      </p:sp>
      <p:sp>
        <p:nvSpPr>
          <p:cNvPr id="3" name="AutoShape 3"/>
          <p:cNvSpPr/>
          <p:nvPr/>
        </p:nvSpPr>
        <p:spPr>
          <a:xfrm>
            <a:off x="762000" y="1270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4605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ChatInterface是Gradio中专门用于创建聊天机器人UI的高级组件，它极大地简化了构建交互式对话界面的流程。</a:t>
            </a:r>
            <a:endParaRPr lang="en-US" sz="1100"/>
          </a:p>
        </p:txBody>
      </p:sp>
      <p:sp>
        <p:nvSpPr>
          <p:cNvPr id="5" name="AutoShape 5"/>
          <p:cNvSpPr/>
          <p:nvPr/>
        </p:nvSpPr>
        <p:spPr>
          <a:xfrm>
            <a:off x="762000" y="254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核心参数 (Core Parameters)</a:t>
            </a:r>
            <a:endParaRPr lang="en-US" sz="1100"/>
          </a:p>
        </p:txBody>
      </p:sp>
      <p:sp>
        <p:nvSpPr>
          <p:cNvPr id="6" name="AutoShape 6"/>
          <p:cNvSpPr/>
          <p:nvPr/>
        </p:nvSpPr>
        <p:spPr>
          <a:xfrm>
            <a:off x="762000" y="3048000"/>
            <a:ext cx="33782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238500"/>
            <a:ext cx="406400" cy="406400"/>
          </a:xfrm>
          <a:prstGeom prst="rect">
            <a:avLst/>
          </a:prstGeom>
        </p:spPr>
      </p:pic>
      <p:sp>
        <p:nvSpPr>
          <p:cNvPr id="8" name="AutoShape 8"/>
          <p:cNvSpPr/>
          <p:nvPr/>
        </p:nvSpPr>
        <p:spPr>
          <a:xfrm>
            <a:off x="1524000" y="3200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fn</a:t>
            </a:r>
            <a:endParaRPr lang="en-US" sz="1100"/>
          </a:p>
        </p:txBody>
      </p:sp>
      <p:sp>
        <p:nvSpPr>
          <p:cNvPr id="9" name="AutoShape 9"/>
          <p:cNvSpPr/>
          <p:nvPr/>
        </p:nvSpPr>
        <p:spPr>
          <a:xfrm>
            <a:off x="1016000" y="3746500"/>
            <a:ext cx="28702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处理用户输入并生成回复的核心函数，是逻辑处理的入口。</a:t>
            </a:r>
            <a:endParaRPr lang="en-US" sz="1100"/>
          </a:p>
        </p:txBody>
      </p:sp>
      <p:sp>
        <p:nvSpPr>
          <p:cNvPr id="10" name="AutoShape 10"/>
          <p:cNvSpPr/>
          <p:nvPr/>
        </p:nvSpPr>
        <p:spPr>
          <a:xfrm>
            <a:off x="4394200" y="3048000"/>
            <a:ext cx="33782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3238500"/>
            <a:ext cx="406400" cy="406400"/>
          </a:xfrm>
          <a:prstGeom prst="rect">
            <a:avLst/>
          </a:prstGeom>
        </p:spPr>
      </p:pic>
      <p:sp>
        <p:nvSpPr>
          <p:cNvPr id="12" name="AutoShape 12"/>
          <p:cNvSpPr/>
          <p:nvPr/>
        </p:nvSpPr>
        <p:spPr>
          <a:xfrm>
            <a:off x="5156200" y="3200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chatbot</a:t>
            </a:r>
            <a:endParaRPr lang="en-US" sz="1100"/>
          </a:p>
        </p:txBody>
      </p:sp>
      <p:sp>
        <p:nvSpPr>
          <p:cNvPr id="13" name="AutoShape 13"/>
          <p:cNvSpPr/>
          <p:nvPr/>
        </p:nvSpPr>
        <p:spPr>
          <a:xfrm>
            <a:off x="4648200" y="3746500"/>
            <a:ext cx="28702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用于显示完整对话历史的组件，自动渲染多轮交互内容。</a:t>
            </a:r>
            <a:endParaRPr lang="en-US" sz="1100"/>
          </a:p>
        </p:txBody>
      </p:sp>
      <p:sp>
        <p:nvSpPr>
          <p:cNvPr id="14" name="AutoShape 14"/>
          <p:cNvSpPr/>
          <p:nvPr/>
        </p:nvSpPr>
        <p:spPr>
          <a:xfrm>
            <a:off x="8026400" y="3048000"/>
            <a:ext cx="34036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3238500"/>
            <a:ext cx="406400" cy="406400"/>
          </a:xfrm>
          <a:prstGeom prst="rect">
            <a:avLst/>
          </a:prstGeom>
        </p:spPr>
      </p:pic>
      <p:sp>
        <p:nvSpPr>
          <p:cNvPr id="16" name="AutoShape 16"/>
          <p:cNvSpPr/>
          <p:nvPr/>
        </p:nvSpPr>
        <p:spPr>
          <a:xfrm>
            <a:off x="8788400" y="3200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textbox</a:t>
            </a:r>
            <a:endParaRPr lang="en-US" sz="1100"/>
          </a:p>
        </p:txBody>
      </p:sp>
      <p:sp>
        <p:nvSpPr>
          <p:cNvPr id="17" name="AutoShape 17"/>
          <p:cNvSpPr/>
          <p:nvPr/>
        </p:nvSpPr>
        <p:spPr>
          <a:xfrm>
            <a:off x="8280400" y="3746500"/>
            <a:ext cx="28956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用于用户输入消息的文本框组件，支持实时输入与发送。</a:t>
            </a:r>
            <a:endParaRPr lang="en-US" sz="1100"/>
          </a:p>
        </p:txBody>
      </p:sp>
      <p:sp>
        <p:nvSpPr>
          <p:cNvPr id="18" name="AutoShape 18"/>
          <p:cNvSpPr/>
          <p:nvPr/>
        </p:nvSpPr>
        <p:spPr>
          <a:xfrm>
            <a:off x="762000" y="4826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主要特点 (Key Features)</a:t>
            </a:r>
            <a:endParaRPr lang="en-US" sz="1100"/>
          </a:p>
        </p:txBody>
      </p:sp>
      <p:sp>
        <p:nvSpPr>
          <p:cNvPr id="19" name="AutoShape 19"/>
          <p:cNvSpPr/>
          <p:nvPr/>
        </p:nvSpPr>
        <p:spPr>
          <a:xfrm>
            <a:off x="762000" y="5334000"/>
            <a:ext cx="33782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511800"/>
            <a:ext cx="304800" cy="304800"/>
          </a:xfrm>
          <a:prstGeom prst="rect">
            <a:avLst/>
          </a:prstGeom>
        </p:spPr>
      </p:pic>
      <p:sp>
        <p:nvSpPr>
          <p:cNvPr id="21" name="AutoShape 21"/>
          <p:cNvSpPr/>
          <p:nvPr/>
        </p:nvSpPr>
        <p:spPr>
          <a:xfrm>
            <a:off x="1333500" y="5461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自动处理对话历史</a:t>
            </a:r>
            <a:endParaRPr lang="en-US" sz="1100"/>
          </a:p>
        </p:txBody>
      </p:sp>
      <p:sp>
        <p:nvSpPr>
          <p:cNvPr id="22" name="AutoShape 22"/>
          <p:cNvSpPr/>
          <p:nvPr/>
        </p:nvSpPr>
        <p:spPr>
          <a:xfrm>
            <a:off x="4394200" y="5334000"/>
            <a:ext cx="33782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84700" y="5511800"/>
            <a:ext cx="304800" cy="304800"/>
          </a:xfrm>
          <a:prstGeom prst="rect">
            <a:avLst/>
          </a:prstGeom>
        </p:spPr>
      </p:pic>
      <p:sp>
        <p:nvSpPr>
          <p:cNvPr id="24" name="AutoShape 24"/>
          <p:cNvSpPr/>
          <p:nvPr/>
        </p:nvSpPr>
        <p:spPr>
          <a:xfrm>
            <a:off x="4965700" y="5461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界面友好直观</a:t>
            </a:r>
            <a:endParaRPr lang="en-US" sz="1100"/>
          </a:p>
        </p:txBody>
      </p:sp>
      <p:sp>
        <p:nvSpPr>
          <p:cNvPr id="25" name="AutoShape 25"/>
          <p:cNvSpPr/>
          <p:nvPr/>
        </p:nvSpPr>
        <p:spPr>
          <a:xfrm>
            <a:off x="8026400" y="5334000"/>
            <a:ext cx="34036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16900" y="5511800"/>
            <a:ext cx="304800" cy="304800"/>
          </a:xfrm>
          <a:prstGeom prst="rect">
            <a:avLst/>
          </a:prstGeom>
        </p:spPr>
      </p:pic>
      <p:sp>
        <p:nvSpPr>
          <p:cNvPr id="27" name="AutoShape 27"/>
          <p:cNvSpPr/>
          <p:nvPr/>
        </p:nvSpPr>
        <p:spPr>
          <a:xfrm>
            <a:off x="8597900" y="5461000"/>
            <a:ext cx="266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开发效率极高</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5856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基于Gradio的完整部署示例</a:t>
            </a:r>
            <a:endParaRPr lang="en-US" sz="1100"/>
          </a:p>
        </p:txBody>
      </p:sp>
      <p:sp>
        <p:nvSpPr>
          <p:cNvPr id="3" name="AutoShape 3"/>
          <p:cNvSpPr/>
          <p:nvPr/>
        </p:nvSpPr>
        <p:spPr>
          <a:xfrm>
            <a:off x="762000" y="1270000"/>
            <a:ext cx="6604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6604000" cy="457200"/>
          </a:xfrm>
          <a:prstGeom prst="roundRect">
            <a:avLst>
              <a:gd name="adj" fmla="val 27777"/>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346200"/>
            <a:ext cx="304800" cy="304800"/>
          </a:xfrm>
          <a:prstGeom prst="rect">
            <a:avLst/>
          </a:prstGeom>
        </p:spPr>
      </p:pic>
      <p:sp>
        <p:nvSpPr>
          <p:cNvPr id="6" name="AutoShape 6"/>
          <p:cNvSpPr/>
          <p:nvPr/>
        </p:nvSpPr>
        <p:spPr>
          <a:xfrm>
            <a:off x="1333500" y="13462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Python 实现代码</a:t>
            </a:r>
            <a:endParaRPr lang="en-US" sz="1100"/>
          </a:p>
        </p:txBody>
      </p:sp>
      <p:sp>
        <p:nvSpPr>
          <p:cNvPr id="7" name="AutoShape 7"/>
          <p:cNvSpPr/>
          <p:nvPr/>
        </p:nvSpPr>
        <p:spPr>
          <a:xfrm>
            <a:off x="952500" y="1841500"/>
            <a:ext cx="6223000" cy="304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Roboto"/>
                <a:ea typeface="Roboto"/>
                <a:cs typeface="Roboto"/>
                <a:sym typeface="Roboto"/>
              </a:rPr>
              <a:t>import gradio as gr</a:t>
            </a:r>
            <a:endParaRPr lang="en-US" sz="1100"/>
          </a:p>
          <a:p>
            <a:pPr indent="0" algn="l">
              <a:lnSpc>
                <a:spcPct val="100000"/>
              </a:lnSpc>
            </a:pPr>
            <a:r>
              <a:rPr lang="en-US" sz="1400" b="0" i="0" u="none" strike="noStrike">
                <a:solidFill>
                  <a:srgbClr val="757575"/>
                </a:solidFill>
                <a:latin typeface="Roboto"/>
                <a:ea typeface="Roboto"/>
                <a:cs typeface="Roboto"/>
                <a:sym typeface="Roboto"/>
              </a:rPr>
              <a:t>import torch</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from transformers import AutoTokenizer, AutoModel</a:t>
            </a:r>
            <a:endParaRPr lang="en-US" sz="1400" b="0" i="0" u="none" strike="noStrike">
              <a:solidFill>
                <a:srgbClr val="757575"/>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757575"/>
                </a:solidFill>
                <a:latin typeface="Roboto"/>
                <a:ea typeface="Roboto"/>
                <a:cs typeface="Roboto"/>
                <a:sym typeface="Roboto"/>
              </a:rPr>
              <a:t># 加载模型和分词器</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tokenizer = AutoTokenizer.from_pretrained("chatglm3-6b", trust_remote_code=True)</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model = AutoModel.from_pretrained("chatglm3-6b", trust_remote_code=True).quantize(8).cuda().eval()</a:t>
            </a:r>
            <a:endParaRPr lang="en-US" sz="1400" b="0" i="0" u="none" strike="noStrike">
              <a:solidFill>
                <a:srgbClr val="757575"/>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757575"/>
                </a:solidFill>
                <a:latin typeface="Roboto"/>
                <a:ea typeface="Roboto"/>
                <a:cs typeface="Roboto"/>
                <a:sym typeface="Roboto"/>
              </a:rPr>
              <a:t># 定义回复函数</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def respond(message, chat_history):</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response, chat_history = model.chat(tokenizer, message, history=chat_history)</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return "", chat_history</a:t>
            </a:r>
            <a:endParaRPr lang="en-US" sz="1400" b="0" i="0" u="none" strike="noStrike">
              <a:solidFill>
                <a:srgbClr val="757575"/>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757575"/>
                </a:solidFill>
                <a:latin typeface="Roboto"/>
                <a:ea typeface="Roboto"/>
                <a:cs typeface="Roboto"/>
                <a:sym typeface="Roboto"/>
              </a:rPr>
              <a:t># 创建并启动Gradio应用</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with gr.Blocks() as demo:</a:t>
            </a:r>
            <a:endParaRPr lang="en-US" sz="1400" b="0" i="0" u="none" strike="noStrike">
              <a:solidFill>
                <a:srgbClr val="757575"/>
              </a:solidFill>
              <a:latin typeface="Roboto"/>
              <a:ea typeface="Roboto"/>
              <a:cs typeface="Roboto"/>
              <a:sym typeface="Roboto"/>
            </a:endParaRPr>
          </a:p>
          <a:p>
            <a:pPr indent="0" algn="l">
              <a:lnSpc>
                <a:spcPct val="100000"/>
              </a:lnSpc>
            </a:pPr>
            <a:r>
              <a:rPr lang="en-US" sz="1400" b="0" i="0" u="none" strike="noStrike">
                <a:solidFill>
                  <a:srgbClr val="757575"/>
                </a:solidFill>
                <a:latin typeface="Roboto"/>
                <a:ea typeface="Roboto"/>
                <a:cs typeface="Roboto"/>
                <a:sym typeface="Roboto"/>
              </a:rPr>
              <a:t>gr.ChatInterface(respond)</a:t>
            </a:r>
            <a:endParaRPr lang="en-US" sz="1400" b="0" i="0" u="none" strike="noStrike">
              <a:solidFill>
                <a:srgbClr val="757575"/>
              </a:solidFill>
              <a:latin typeface="Roboto"/>
              <a:ea typeface="Roboto"/>
              <a:cs typeface="Roboto"/>
              <a:sym typeface="Roboto"/>
            </a:endParaRPr>
          </a:p>
          <a:p>
            <a:pPr indent="0" algn="l">
              <a:lnSpc>
                <a:spcPct val="100000"/>
              </a:lnSpc>
            </a:pPr>
          </a:p>
          <a:p>
            <a:pPr indent="0" algn="l">
              <a:lnSpc>
                <a:spcPct val="100000"/>
              </a:lnSpc>
            </a:pPr>
            <a:r>
              <a:rPr lang="en-US" sz="1400" b="0" i="0" u="none" strike="noStrike">
                <a:solidFill>
                  <a:srgbClr val="757575"/>
                </a:solidFill>
                <a:latin typeface="Roboto"/>
                <a:ea typeface="Roboto"/>
                <a:cs typeface="Roboto"/>
                <a:sym typeface="Roboto"/>
              </a:rPr>
              <a:t>demo.launch(server_name="0.0.0.0", server_port=7860)</a:t>
            </a:r>
            <a:endParaRPr lang="en-US" sz="1400" b="0" i="0" u="none" strike="noStrike">
              <a:solidFill>
                <a:srgbClr val="757575"/>
              </a:solidFill>
              <a:latin typeface="Roboto"/>
              <a:ea typeface="Roboto"/>
              <a:cs typeface="Roboto"/>
              <a:sym typeface="Roboto"/>
            </a:endParaRPr>
          </a:p>
        </p:txBody>
      </p:sp>
      <p:sp>
        <p:nvSpPr>
          <p:cNvPr id="8" name="AutoShape 8"/>
          <p:cNvSpPr/>
          <p:nvPr/>
        </p:nvSpPr>
        <p:spPr>
          <a:xfrm>
            <a:off x="7620000" y="1270000"/>
            <a:ext cx="3810000" cy="1143000"/>
          </a:xfrm>
          <a:prstGeom prst="roundRect">
            <a:avLst>
              <a:gd name="adj" fmla="val 11111"/>
            </a:avLst>
          </a:prstGeom>
          <a:solidFill>
            <a:srgbClr val="FFFFFF">
              <a:alpha val="100000"/>
            </a:srgbClr>
          </a:solidFill>
          <a:ln w="25400" cap="flat" cmpd="sng">
            <a:noFill/>
            <a:prstDash val="solid"/>
            <a:round/>
          </a:ln>
          <a:effectLst>
            <a:outerShdw blurRad="635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10500" y="1587500"/>
            <a:ext cx="508000" cy="508000"/>
          </a:xfrm>
          <a:prstGeom prst="rect">
            <a:avLst/>
          </a:prstGeom>
        </p:spPr>
      </p:pic>
      <p:sp>
        <p:nvSpPr>
          <p:cNvPr id="10" name="AutoShape 10"/>
          <p:cNvSpPr/>
          <p:nvPr/>
        </p:nvSpPr>
        <p:spPr>
          <a:xfrm>
            <a:off x="8445500" y="1460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模型加载与量化</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加载 ChatGLM3-6B 模型，使用 INT8 量化降低显存占用，提升推理速度。</a:t>
            </a:r>
            <a:endParaRPr lang="en-US" sz="13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7620000" y="2603500"/>
            <a:ext cx="3810000" cy="1143000"/>
          </a:xfrm>
          <a:prstGeom prst="roundRect">
            <a:avLst>
              <a:gd name="adj" fmla="val 11111"/>
            </a:avLst>
          </a:prstGeom>
          <a:solidFill>
            <a:srgbClr val="FFFFFF">
              <a:alpha val="100000"/>
            </a:srgbClr>
          </a:solidFill>
          <a:ln w="25400" cap="flat" cmpd="sng">
            <a:noFill/>
            <a:prstDash val="solid"/>
            <a:round/>
          </a:ln>
          <a:effectLst>
            <a:outerShdw blurRad="635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10500" y="2921000"/>
            <a:ext cx="508000" cy="508000"/>
          </a:xfrm>
          <a:prstGeom prst="rect">
            <a:avLst/>
          </a:prstGeom>
        </p:spPr>
      </p:pic>
      <p:sp>
        <p:nvSpPr>
          <p:cNvPr id="13" name="AutoShape 13"/>
          <p:cNvSpPr/>
          <p:nvPr/>
        </p:nvSpPr>
        <p:spPr>
          <a:xfrm>
            <a:off x="8445500" y="2794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定义交互逻辑</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构建 respond 函数，处理用户输入消息，调用模型生成回复并更新对话历史。</a:t>
            </a:r>
            <a:endParaRPr lang="en-US" sz="1300" b="0" i="0" u="none" strike="noStrike">
              <a:solidFill>
                <a:srgbClr val="757575"/>
              </a:solidFill>
              <a:latin typeface="Noto Sans SC"/>
              <a:ea typeface="Noto Sans SC"/>
              <a:cs typeface="Noto Sans SC"/>
              <a:sym typeface="Noto Sans SC"/>
            </a:endParaRPr>
          </a:p>
        </p:txBody>
      </p:sp>
      <p:sp>
        <p:nvSpPr>
          <p:cNvPr id="14" name="AutoShape 14"/>
          <p:cNvSpPr/>
          <p:nvPr/>
        </p:nvSpPr>
        <p:spPr>
          <a:xfrm>
            <a:off x="7620000" y="3937000"/>
            <a:ext cx="3810000" cy="1143000"/>
          </a:xfrm>
          <a:prstGeom prst="roundRect">
            <a:avLst>
              <a:gd name="adj" fmla="val 11111"/>
            </a:avLst>
          </a:prstGeom>
          <a:solidFill>
            <a:srgbClr val="FFFFFF">
              <a:alpha val="100000"/>
            </a:srgbClr>
          </a:solidFill>
          <a:ln w="25400" cap="flat" cmpd="sng">
            <a:noFill/>
            <a:prstDash val="solid"/>
            <a:round/>
          </a:ln>
          <a:effectLst>
            <a:outerShdw blurRad="635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10500" y="4254500"/>
            <a:ext cx="508000" cy="508000"/>
          </a:xfrm>
          <a:prstGeom prst="rect">
            <a:avLst/>
          </a:prstGeom>
        </p:spPr>
      </p:pic>
      <p:sp>
        <p:nvSpPr>
          <p:cNvPr id="16" name="AutoShape 16"/>
          <p:cNvSpPr/>
          <p:nvPr/>
        </p:nvSpPr>
        <p:spPr>
          <a:xfrm>
            <a:off x="8445500" y="4127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启动 Web 服务</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通过 Gradio 启动服务，绑定 0.0.0.0 和 7860 端口，实现公网访问。</a:t>
            </a:r>
            <a:endParaRPr lang="en-US" sz="1300" b="0" i="0" u="none" strike="noStrike">
              <a:solidFill>
                <a:srgbClr val="757575"/>
              </a:solidFill>
              <a:latin typeface="Noto Sans SC"/>
              <a:ea typeface="Noto Sans SC"/>
              <a:cs typeface="Noto Sans SC"/>
              <a:sym typeface="Noto Sans SC"/>
            </a:endParaRPr>
          </a:p>
        </p:txBody>
      </p:sp>
      <p:sp>
        <p:nvSpPr>
          <p:cNvPr id="17" name="AutoShape 17"/>
          <p:cNvSpPr/>
          <p:nvPr/>
        </p:nvSpPr>
        <p:spPr>
          <a:xfrm>
            <a:off x="762000" y="5334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651500"/>
            <a:ext cx="381000" cy="381000"/>
          </a:xfrm>
          <a:prstGeom prst="rect">
            <a:avLst/>
          </a:prstGeom>
        </p:spPr>
      </p:pic>
      <p:sp>
        <p:nvSpPr>
          <p:cNvPr id="19" name="AutoShape 19"/>
          <p:cNvSpPr/>
          <p:nvPr/>
        </p:nvSpPr>
        <p:spPr>
          <a:xfrm>
            <a:off x="1524000" y="5461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关键特性总结</a:t>
            </a:r>
            <a:endParaRPr lang="en-US" sz="1100"/>
          </a:p>
          <a:p>
            <a:pPr indent="0" algn="l">
              <a:lnSpc>
                <a:spcPct val="125000"/>
              </a:lnSpc>
            </a:pPr>
            <a:r>
              <a:rPr lang="en-US" sz="1400" b="0" i="0" u="none" strike="noStrike">
                <a:solidFill>
                  <a:srgbClr val="546E7A"/>
                </a:solidFill>
                <a:latin typeface="Noto Sans SC"/>
                <a:ea typeface="Noto Sans SC"/>
                <a:cs typeface="Noto Sans SC"/>
                <a:sym typeface="Noto Sans SC"/>
              </a:rPr>
              <a:t>通过极简的代码实现了从模型加载到 Web 服务部署的全流程。代码利用了 Gradio 的 ChatInterface 组件，极大地简化了前端交互界面的开发工作，让开发者能专注于模型逻辑的实现。</a:t>
            </a:r>
            <a:endParaRPr lang="en-US" sz="1400" b="0" i="0" u="none" strike="noStrike">
              <a:solidFill>
                <a:srgbClr val="546E7A"/>
              </a:solidFill>
              <a:latin typeface="Noto Sans SC"/>
              <a:ea typeface="Noto Sans SC"/>
              <a:cs typeface="Noto Sans SC"/>
              <a:sym typeface="Noto Sans S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Gradio部署效果展示</a:t>
            </a:r>
            <a:endParaRPr lang="en-US" sz="1100"/>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524000"/>
            <a:ext cx="406400" cy="406400"/>
          </a:xfrm>
          <a:prstGeom prst="rect">
            <a:avLst/>
          </a:prstGeom>
        </p:spPr>
      </p:pic>
      <p:sp>
        <p:nvSpPr>
          <p:cNvPr id="4" name="AutoShape 4"/>
          <p:cNvSpPr/>
          <p:nvPr/>
        </p:nvSpPr>
        <p:spPr>
          <a:xfrm>
            <a:off x="1270000" y="1473200"/>
            <a:ext cx="609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部署启动效果</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运行代码后，会自动弹出一个网页窗口，或在控制台输出一个本地访问地址（如 http://localhost:7860）。</a:t>
            </a:r>
            <a:endParaRPr lang="en-US" sz="1800" b="0" i="0" u="none" strike="noStrike">
              <a:solidFill>
                <a:srgbClr val="757575"/>
              </a:solidFill>
              <a:latin typeface="Noto Sans SC"/>
              <a:ea typeface="Noto Sans SC"/>
              <a:cs typeface="Noto Sans SC"/>
              <a:sym typeface="Noto Sans SC"/>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921000"/>
            <a:ext cx="406400" cy="406400"/>
          </a:xfrm>
          <a:prstGeom prst="rect">
            <a:avLst/>
          </a:prstGeom>
        </p:spPr>
      </p:pic>
      <p:sp>
        <p:nvSpPr>
          <p:cNvPr id="6" name="AutoShape 6"/>
          <p:cNvSpPr/>
          <p:nvPr/>
        </p:nvSpPr>
        <p:spPr>
          <a:xfrm>
            <a:off x="1270000" y="2870200"/>
            <a:ext cx="6096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77BD"/>
                </a:solidFill>
                <a:latin typeface="Noto Sans SC"/>
                <a:ea typeface="Noto Sans SC"/>
                <a:cs typeface="Noto Sans SC"/>
                <a:sym typeface="Noto Sans SC"/>
              </a:rPr>
              <a:t>用户交互体验</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用户可以在输入框中输入问题，模型会在聊天窗口中回复，支持多轮对话，交互直观流畅。</a:t>
            </a:r>
            <a:endParaRPr lang="en-US" sz="1800" b="0" i="0" u="none" strike="noStrike">
              <a:solidFill>
                <a:srgbClr val="757575"/>
              </a:solidFill>
              <a:latin typeface="Noto Sans SC"/>
              <a:ea typeface="Noto Sans SC"/>
              <a:cs typeface="Noto Sans SC"/>
              <a:sym typeface="Noto Sans SC"/>
            </a:endParaRPr>
          </a:p>
        </p:txBody>
      </p:sp>
      <p:pic>
        <p:nvPicPr>
          <p:cNvPr id="7" name="Picture 7"/>
          <p:cNvPicPr>
            <a:picLocks noChangeAspect="1"/>
          </p:cNvPicPr>
          <p:nvPr/>
        </p:nvPicPr>
        <p:blipFill>
          <a:blip r:embed="rId5"/>
          <a:srcRect/>
          <a:stretch>
            <a:fillRect/>
          </a:stretch>
        </p:blipFill>
        <p:spPr>
          <a:xfrm>
            <a:off x="8128000" y="1524000"/>
            <a:ext cx="2794000" cy="2794000"/>
          </a:xfrm>
          <a:prstGeom prst="roundRect">
            <a:avLst>
              <a:gd name="adj" fmla="val 4545"/>
            </a:avLst>
          </a:prstGeom>
          <a:noFill/>
          <a:ln w="25400" cap="flat" cmpd="sng">
            <a:solidFill>
              <a:srgbClr val="FFFFFF">
                <a:alpha val="100000"/>
              </a:srgbClr>
            </a:solidFill>
            <a:prstDash val="solid"/>
            <a:round/>
          </a:ln>
          <a:effectLst>
            <a:outerShdw blurRad="190500" dist="101600" dir="5400000" algn="tl" rotWithShape="0">
              <a:srgbClr val="0277BD">
                <a:alpha val="15000"/>
              </a:srgbClr>
            </a:outerShdw>
          </a:effectLst>
        </p:spPr>
      </p:pic>
      <p:sp>
        <p:nvSpPr>
          <p:cNvPr id="8" name="AutoShape 8"/>
          <p:cNvSpPr/>
          <p:nvPr/>
        </p:nvSpPr>
        <p:spPr>
          <a:xfrm>
            <a:off x="8128000" y="444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Gradio 聊天界面示意图</a:t>
            </a:r>
            <a:endParaRPr lang="en-US" sz="1100"/>
          </a:p>
        </p:txBody>
      </p:sp>
      <p:sp>
        <p:nvSpPr>
          <p:cNvPr id="9" name="AutoShape 9"/>
          <p:cNvSpPr/>
          <p:nvPr/>
        </p:nvSpPr>
        <p:spPr>
          <a:xfrm>
            <a:off x="762000" y="5588000"/>
            <a:ext cx="10668000" cy="50800"/>
          </a:xfrm>
          <a:prstGeom prst="roundRect">
            <a:avLst>
              <a:gd name="adj" fmla="val 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5778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77BD"/>
                </a:solidFill>
                <a:latin typeface="Noto Sans SC"/>
                <a:ea typeface="Noto Sans SC"/>
                <a:cs typeface="Noto Sans SC"/>
                <a:sym typeface="Noto Sans SC"/>
              </a:rPr>
              <a:t>无需前端知识 · 一键生成可交互 Web 应用</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3853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10.3.2 基于Streamlit框架的网页部署</a:t>
            </a:r>
            <a:endParaRPr lang="en-US" sz="1100"/>
          </a:p>
        </p:txBody>
      </p:sp>
      <p:sp>
        <p:nvSpPr>
          <p:cNvPr id="3" name="AutoShape 3"/>
          <p:cNvSpPr/>
          <p:nvPr/>
        </p:nvSpPr>
        <p:spPr>
          <a:xfrm>
            <a:off x="762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651000"/>
            <a:ext cx="635000" cy="635000"/>
          </a:xfrm>
          <a:prstGeom prst="rect">
            <a:avLst/>
          </a:prstGeom>
        </p:spPr>
      </p:pic>
      <p:sp>
        <p:nvSpPr>
          <p:cNvPr id="5" name="AutoShape 5"/>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Streamlit简介</a:t>
            </a:r>
            <a:endParaRPr lang="en-US" sz="1100"/>
          </a:p>
        </p:txBody>
      </p:sp>
      <p:sp>
        <p:nvSpPr>
          <p:cNvPr id="6" name="AutoShape 6"/>
          <p:cNvSpPr/>
          <p:nvPr/>
        </p:nvSpPr>
        <p:spPr>
          <a:xfrm>
            <a:off x="952500" y="2857500"/>
            <a:ext cx="2921000" cy="889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开源的Python库，专注于快速构建数据科学和机器学习的Web应用。</a:t>
            </a:r>
            <a:endParaRPr lang="en-US" sz="1100"/>
          </a:p>
        </p:txBody>
      </p:sp>
      <p:sp>
        <p:nvSpPr>
          <p:cNvPr id="7" name="AutoShape 7"/>
          <p:cNvSpPr/>
          <p:nvPr/>
        </p:nvSpPr>
        <p:spPr>
          <a:xfrm>
            <a:off x="4445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651000"/>
            <a:ext cx="635000" cy="635000"/>
          </a:xfrm>
          <a:prstGeom prst="rect">
            <a:avLst/>
          </a:prstGeom>
        </p:spPr>
      </p:pic>
      <p:sp>
        <p:nvSpPr>
          <p:cNvPr id="9" name="AutoShape 9"/>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核心优势</a:t>
            </a:r>
            <a:endParaRPr lang="en-US" sz="1100"/>
          </a:p>
        </p:txBody>
      </p:sp>
      <p:sp>
        <p:nvSpPr>
          <p:cNvPr id="10" name="AutoShape 10"/>
          <p:cNvSpPr/>
          <p:nvPr/>
        </p:nvSpPr>
        <p:spPr>
          <a:xfrm>
            <a:off x="4635500" y="2857500"/>
            <a:ext cx="2921000" cy="889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无需前端经验，代码风格简洁，适合构建数据可视化和交互式应用。</a:t>
            </a:r>
            <a:endParaRPr lang="en-US" sz="1100"/>
          </a:p>
        </p:txBody>
      </p:sp>
      <p:sp>
        <p:nvSpPr>
          <p:cNvPr id="11" name="AutoShape 11"/>
          <p:cNvSpPr/>
          <p:nvPr/>
        </p:nvSpPr>
        <p:spPr>
          <a:xfrm>
            <a:off x="8128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651000"/>
            <a:ext cx="635000" cy="635000"/>
          </a:xfrm>
          <a:prstGeom prst="rect">
            <a:avLst/>
          </a:prstGeom>
        </p:spPr>
      </p:pic>
      <p:sp>
        <p:nvSpPr>
          <p:cNvPr id="13" name="AutoShape 13"/>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安装方法</a:t>
            </a:r>
            <a:endParaRPr lang="en-US" sz="1100"/>
          </a:p>
        </p:txBody>
      </p:sp>
      <p:sp>
        <p:nvSpPr>
          <p:cNvPr id="14" name="AutoShape 14"/>
          <p:cNvSpPr/>
          <p:nvPr/>
        </p:nvSpPr>
        <p:spPr>
          <a:xfrm>
            <a:off x="8318500" y="2857500"/>
            <a:ext cx="2921000" cy="889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600" b="0" i="0" u="none" strike="noStrike">
                <a:solidFill>
                  <a:srgbClr val="757575"/>
                </a:solidFill>
                <a:latin typeface="Noto Sans SC"/>
                <a:ea typeface="Noto Sans SC"/>
                <a:cs typeface="Noto Sans SC"/>
                <a:sym typeface="Noto Sans SC"/>
              </a:rPr>
              <a:t>使用pip命令快速安装：</a:t>
            </a:r>
            <a:endParaRPr lang="en-US" sz="1100"/>
          </a:p>
          <a:p>
            <a:pPr indent="0" algn="ctr">
              <a:lnSpc>
                <a:spcPct val="108000"/>
              </a:lnSpc>
            </a:pPr>
            <a:r>
              <a:rPr lang="en-US" sz="1800" b="1" i="0" u="none" strike="noStrike">
                <a:solidFill>
                  <a:srgbClr val="0277BD"/>
                </a:solidFill>
                <a:latin typeface="Consolas"/>
                <a:ea typeface="Consolas"/>
                <a:cs typeface="Consolas"/>
                <a:sym typeface="Consolas"/>
              </a:rPr>
              <a:t>pip3 install streamlit</a:t>
            </a:r>
            <a:endParaRPr lang="en-US" sz="1800" b="1" i="0" u="none" strike="noStrike">
              <a:solidFill>
                <a:srgbClr val="0277BD"/>
              </a:solidFill>
              <a:latin typeface="Consolas"/>
              <a:ea typeface="Consolas"/>
              <a:cs typeface="Consolas"/>
              <a:sym typeface="Consolas"/>
            </a:endParaRPr>
          </a:p>
        </p:txBody>
      </p:sp>
      <p:sp>
        <p:nvSpPr>
          <p:cNvPr id="15" name="AutoShape 15"/>
          <p:cNvSpPr/>
          <p:nvPr/>
        </p:nvSpPr>
        <p:spPr>
          <a:xfrm>
            <a:off x="762000" y="4445000"/>
            <a:ext cx="10668000" cy="1397000"/>
          </a:xfrm>
          <a:prstGeom prst="roundRect">
            <a:avLst>
              <a:gd name="adj" fmla="val 9090"/>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46355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1" i="0" u="none" strike="noStrike">
                <a:solidFill>
                  <a:srgbClr val="0277BD"/>
                </a:solidFill>
                <a:latin typeface="Noto Sans SC"/>
                <a:ea typeface="Noto Sans SC"/>
                <a:cs typeface="Noto Sans SC"/>
                <a:sym typeface="Noto Sans SC"/>
              </a:rPr>
              <a:t>学习小结：</a:t>
            </a:r>
            <a:r>
              <a:rPr lang="en-US" sz="1800" b="0" i="0" u="none" strike="noStrike">
                <a:solidFill>
                  <a:srgbClr val="757575"/>
                </a:solidFill>
                <a:latin typeface="Noto Sans SC"/>
                <a:ea typeface="Noto Sans SC"/>
                <a:cs typeface="Noto Sans SC"/>
                <a:sym typeface="Noto Sans SC"/>
              </a:rPr>
              <a:t>Streamlit与Gradio类似，都是将Python脚本转化为Web应用的高效工具。它更侧重于数据科学领域的可视化需求，凭借其极简的语法和强大的交互能力，成为数据科学家的得力助手。</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基于Streamlit的完整部署示例</a:t>
            </a:r>
            <a:endParaRPr lang="en-US" sz="1100"/>
          </a:p>
        </p:txBody>
      </p:sp>
      <p:sp>
        <p:nvSpPr>
          <p:cNvPr id="3" name="AutoShape 3"/>
          <p:cNvSpPr/>
          <p:nvPr/>
        </p:nvSpPr>
        <p:spPr>
          <a:xfrm>
            <a:off x="762000" y="1270000"/>
            <a:ext cx="635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6350000" cy="381000"/>
          </a:xfrm>
          <a:prstGeom prst="roundRect">
            <a:avLst>
              <a:gd name="adj" fmla="val 33333"/>
            </a:avLst>
          </a:prstGeom>
          <a:solidFill>
            <a:srgbClr val="ECEF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397000"/>
            <a:ext cx="127000" cy="127000"/>
          </a:xfrm>
          <a:prstGeom prst="ellipse">
            <a:avLst/>
          </a:prstGeom>
          <a:solidFill>
            <a:srgbClr val="FF5F5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13970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460500" y="13970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1714500"/>
            <a:ext cx="6096000" cy="349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C7254E"/>
                </a:solidFill>
                <a:latin typeface="Roboto Mono"/>
                <a:ea typeface="Roboto Mono"/>
                <a:cs typeface="Roboto Mono"/>
                <a:sym typeface="Roboto Mono"/>
              </a:rPr>
              <a:t>import</a:t>
            </a:r>
            <a:r>
              <a:rPr lang="en-US" sz="1300" b="0" i="0" u="none" strike="noStrike">
                <a:solidFill>
                  <a:srgbClr val="333333"/>
                </a:solidFill>
                <a:latin typeface="Roboto Mono"/>
                <a:ea typeface="Roboto Mono"/>
                <a:cs typeface="Roboto Mono"/>
                <a:sym typeface="Roboto Mono"/>
              </a:rPr>
              <a:t>streamlit</a:t>
            </a:r>
            <a:r>
              <a:rPr lang="en-US" sz="1300" b="0" i="0" u="none" strike="noStrike">
                <a:solidFill>
                  <a:srgbClr val="C7254E"/>
                </a:solidFill>
                <a:latin typeface="Roboto Mono"/>
                <a:ea typeface="Roboto Mono"/>
                <a:cs typeface="Roboto Mono"/>
                <a:sym typeface="Roboto Mono"/>
              </a:rPr>
              <a:t>as</a:t>
            </a:r>
            <a:r>
              <a:rPr lang="en-US" sz="1300" b="0" i="0" u="none" strike="noStrike">
                <a:solidFill>
                  <a:srgbClr val="333333"/>
                </a:solidFill>
                <a:latin typeface="Roboto Mono"/>
                <a:ea typeface="Roboto Mono"/>
                <a:cs typeface="Roboto Mono"/>
                <a:sym typeface="Roboto Mono"/>
              </a:rPr>
              <a:t>st</a:t>
            </a:r>
            <a:endParaRPr lang="en-US" sz="1100"/>
          </a:p>
          <a:p>
            <a:pPr indent="0" algn="l">
              <a:lnSpc>
                <a:spcPct val="100000"/>
              </a:lnSpc>
            </a:pPr>
            <a:r>
              <a:rPr lang="en-US" sz="1300" b="0" i="0" u="none" strike="noStrike">
                <a:solidFill>
                  <a:srgbClr val="C7254E"/>
                </a:solidFill>
                <a:latin typeface="Roboto Mono"/>
                <a:ea typeface="Roboto Mono"/>
                <a:cs typeface="Roboto Mono"/>
                <a:sym typeface="Roboto Mono"/>
              </a:rPr>
              <a:t>import</a:t>
            </a:r>
            <a:r>
              <a:rPr lang="en-US" sz="1300" b="0" i="0" u="none" strike="noStrike">
                <a:solidFill>
                  <a:srgbClr val="333333"/>
                </a:solidFill>
                <a:latin typeface="Roboto Mono"/>
                <a:ea typeface="Roboto Mono"/>
                <a:cs typeface="Roboto Mono"/>
                <a:sym typeface="Roboto Mono"/>
              </a:rPr>
              <a:t>torch</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from</a:t>
            </a:r>
            <a:r>
              <a:rPr lang="en-US" sz="1300" b="0" i="0" u="none" strike="noStrike">
                <a:solidFill>
                  <a:srgbClr val="333333"/>
                </a:solidFill>
                <a:latin typeface="Roboto Mono"/>
                <a:ea typeface="Roboto Mono"/>
                <a:cs typeface="Roboto Mono"/>
                <a:sym typeface="Roboto Mono"/>
              </a:rPr>
              <a:t>transformers</a:t>
            </a:r>
            <a:r>
              <a:rPr lang="en-US" sz="1300" b="0" i="0" u="none" strike="noStrike">
                <a:solidFill>
                  <a:srgbClr val="C7254E"/>
                </a:solidFill>
                <a:latin typeface="Roboto Mono"/>
                <a:ea typeface="Roboto Mono"/>
                <a:cs typeface="Roboto Mono"/>
                <a:sym typeface="Roboto Mono"/>
              </a:rPr>
              <a:t>import</a:t>
            </a:r>
            <a:r>
              <a:rPr lang="en-US" sz="1300" b="0" i="0" u="none" strike="noStrike">
                <a:solidFill>
                  <a:srgbClr val="333333"/>
                </a:solidFill>
                <a:latin typeface="Roboto Mono"/>
                <a:ea typeface="Roboto Mono"/>
                <a:cs typeface="Roboto Mono"/>
                <a:sym typeface="Roboto Mono"/>
              </a:rPr>
              <a:t>AutoTokenizer, AutoModel</a:t>
            </a:r>
            <a:endParaRPr lang="en-US" sz="1300" b="0" i="0" u="none" strike="noStrike">
              <a:solidFill>
                <a:srgbClr val="333333"/>
              </a:solidFill>
              <a:latin typeface="Roboto Mono"/>
              <a:ea typeface="Roboto Mono"/>
              <a:cs typeface="Roboto Mono"/>
              <a:sym typeface="Roboto Mono"/>
            </a:endParaRPr>
          </a:p>
          <a:p>
            <a:pPr indent="0" algn="l">
              <a:lnSpc>
                <a:spcPct val="100000"/>
              </a:lnSpc>
            </a:pPr>
          </a:p>
          <a:p>
            <a:pPr indent="0" algn="l">
              <a:lnSpc>
                <a:spcPct val="100000"/>
              </a:lnSpc>
            </a:pPr>
            <a:r>
              <a:rPr lang="en-US" sz="1300" b="0" i="0" u="none" strike="noStrike">
                <a:solidFill>
                  <a:srgbClr val="6A9955"/>
                </a:solidFill>
                <a:latin typeface="Roboto Mono"/>
                <a:ea typeface="Roboto Mono"/>
                <a:cs typeface="Roboto Mono"/>
                <a:sym typeface="Roboto Mono"/>
              </a:rPr>
              <a:t># 设置页面标题与加载模型</a:t>
            </a:r>
            <a:endParaRPr lang="en-US" sz="1300" b="0" i="0" u="none" strike="noStrike">
              <a:solidFill>
                <a:srgbClr val="6A9955"/>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st.title(</a:t>
            </a:r>
            <a:r>
              <a:rPr lang="en-US" sz="1300" b="0" i="0" u="none" strike="noStrike">
                <a:solidFill>
                  <a:srgbClr val="A5D6A7"/>
                </a:solidFill>
                <a:latin typeface="Roboto Mono"/>
                <a:ea typeface="Roboto Mono"/>
                <a:cs typeface="Roboto Mono"/>
                <a:sym typeface="Roboto Mono"/>
              </a:rPr>
              <a:t>"ChatGLM3-6B 聊天机器人"</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@st.cache_resource</a:t>
            </a:r>
            <a:endParaRPr lang="en-US" sz="1300" b="0" i="0" u="none" strike="noStrike">
              <a:solidFill>
                <a:srgbClr val="C7254E"/>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def</a:t>
            </a:r>
            <a:r>
              <a:rPr lang="en-US" sz="1300" b="0" i="0" u="none" strike="noStrike">
                <a:solidFill>
                  <a:srgbClr val="333333"/>
                </a:solidFill>
                <a:latin typeface="Roboto Mono"/>
                <a:ea typeface="Roboto Mono"/>
                <a:cs typeface="Roboto Mono"/>
                <a:sym typeface="Roboto Mono"/>
              </a:rPr>
              <a:t>load_model():</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tokenizer = AutoTokenizer.from_pretrained(</a:t>
            </a:r>
            <a:r>
              <a:rPr lang="en-US" sz="1300" b="0" i="0" u="none" strike="noStrike">
                <a:solidFill>
                  <a:srgbClr val="A5D6A7"/>
                </a:solidFill>
                <a:latin typeface="Roboto Mono"/>
                <a:ea typeface="Roboto Mono"/>
                <a:cs typeface="Roboto Mono"/>
                <a:sym typeface="Roboto Mono"/>
              </a:rPr>
              <a:t>"chatglm3-6b"</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model = AutoModel.from_pretrained(</a:t>
            </a:r>
            <a:r>
              <a:rPr lang="en-US" sz="1300" b="0" i="0" u="none" strike="noStrike">
                <a:solidFill>
                  <a:srgbClr val="A5D6A7"/>
                </a:solidFill>
                <a:latin typeface="Roboto Mono"/>
                <a:ea typeface="Roboto Mono"/>
                <a:cs typeface="Roboto Mono"/>
                <a:sym typeface="Roboto Mono"/>
              </a:rPr>
              <a:t>"chatglm3-6b"</a:t>
            </a:r>
            <a:r>
              <a:rPr lang="en-US" sz="1300" b="0" i="0" u="none" strike="noStrike">
                <a:solidFill>
                  <a:srgbClr val="333333"/>
                </a:solidFill>
                <a:latin typeface="Roboto Mono"/>
                <a:ea typeface="Roboto Mono"/>
                <a:cs typeface="Roboto Mono"/>
                <a:sym typeface="Roboto Mono"/>
              </a:rPr>
              <a:t>).quantize(8).cuda()</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return</a:t>
            </a:r>
            <a:r>
              <a:rPr lang="en-US" sz="1300" b="0" i="0" u="none" strike="noStrike">
                <a:solidFill>
                  <a:srgbClr val="333333"/>
                </a:solidFill>
                <a:latin typeface="Roboto Mono"/>
                <a:ea typeface="Roboto Mono"/>
                <a:cs typeface="Roboto Mono"/>
                <a:sym typeface="Roboto Mono"/>
              </a:rPr>
              <a:t>tokenizer, model</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tokenizer, model = load_model()</a:t>
            </a:r>
            <a:endParaRPr lang="en-US" sz="1300" b="0" i="0" u="none" strike="noStrike">
              <a:solidFill>
                <a:srgbClr val="333333"/>
              </a:solidFill>
              <a:latin typeface="Roboto Mono"/>
              <a:ea typeface="Roboto Mono"/>
              <a:cs typeface="Roboto Mono"/>
              <a:sym typeface="Roboto Mono"/>
            </a:endParaRPr>
          </a:p>
          <a:p>
            <a:pPr indent="0" algn="l">
              <a:lnSpc>
                <a:spcPct val="100000"/>
              </a:lnSpc>
            </a:pPr>
          </a:p>
          <a:p>
            <a:pPr indent="0" algn="l">
              <a:lnSpc>
                <a:spcPct val="100000"/>
              </a:lnSpc>
            </a:pPr>
            <a:r>
              <a:rPr lang="en-US" sz="1300" b="0" i="0" u="none" strike="noStrike">
                <a:solidFill>
                  <a:srgbClr val="6A9955"/>
                </a:solidFill>
                <a:latin typeface="Roboto Mono"/>
                <a:ea typeface="Roboto Mono"/>
                <a:cs typeface="Roboto Mono"/>
                <a:sym typeface="Roboto Mono"/>
              </a:rPr>
              <a:t># 初始化对话与交互逻辑</a:t>
            </a:r>
            <a:endParaRPr lang="en-US" sz="1300" b="0" i="0" u="none" strike="noStrike">
              <a:solidFill>
                <a:srgbClr val="6A9955"/>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if</a:t>
            </a:r>
            <a:r>
              <a:rPr lang="en-US" sz="1300" b="0" i="0" u="none" strike="noStrike">
                <a:solidFill>
                  <a:srgbClr val="A5D6A7"/>
                </a:solidFill>
                <a:latin typeface="Roboto Mono"/>
                <a:ea typeface="Roboto Mono"/>
                <a:cs typeface="Roboto Mono"/>
                <a:sym typeface="Roboto Mono"/>
              </a:rPr>
              <a:t>"history"</a:t>
            </a:r>
            <a:r>
              <a:rPr lang="en-US" sz="1300" b="0" i="0" u="none" strike="noStrike">
                <a:solidFill>
                  <a:srgbClr val="C7254E"/>
                </a:solidFill>
                <a:latin typeface="Roboto Mono"/>
                <a:ea typeface="Roboto Mono"/>
                <a:cs typeface="Roboto Mono"/>
                <a:sym typeface="Roboto Mono"/>
              </a:rPr>
              <a:t>not in</a:t>
            </a:r>
            <a:r>
              <a:rPr lang="en-US" sz="1300" b="0" i="0" u="none" strike="noStrike">
                <a:solidFill>
                  <a:srgbClr val="333333"/>
                </a:solidFill>
                <a:latin typeface="Roboto Mono"/>
                <a:ea typeface="Roboto Mono"/>
                <a:cs typeface="Roboto Mono"/>
                <a:sym typeface="Roboto Mono"/>
              </a:rPr>
              <a:t>st.session_state:</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st.session_state.history = []</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user_input = st.chat_input(</a:t>
            </a:r>
            <a:r>
              <a:rPr lang="en-US" sz="1300" b="0" i="0" u="none" strike="noStrike">
                <a:solidFill>
                  <a:srgbClr val="A5D6A7"/>
                </a:solidFill>
                <a:latin typeface="Roboto Mono"/>
                <a:ea typeface="Roboto Mono"/>
                <a:cs typeface="Roboto Mono"/>
                <a:sym typeface="Roboto Mono"/>
              </a:rPr>
              <a:t>"请输入您的问题..."</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if</a:t>
            </a:r>
            <a:r>
              <a:rPr lang="en-US" sz="1300" b="0" i="0" u="none" strike="noStrike">
                <a:solidFill>
                  <a:srgbClr val="333333"/>
                </a:solidFill>
                <a:latin typeface="Roboto Mono"/>
                <a:ea typeface="Roboto Mono"/>
                <a:cs typeface="Roboto Mono"/>
                <a:sym typeface="Roboto Mono"/>
              </a:rPr>
              <a:t>user_input:</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C7254E"/>
                </a:solidFill>
                <a:latin typeface="Roboto Mono"/>
                <a:ea typeface="Roboto Mono"/>
                <a:cs typeface="Roboto Mono"/>
                <a:sym typeface="Roboto Mono"/>
              </a:rPr>
              <a:t>with</a:t>
            </a:r>
            <a:r>
              <a:rPr lang="en-US" sz="1300" b="0" i="0" u="none" strike="noStrike">
                <a:solidFill>
                  <a:srgbClr val="333333"/>
                </a:solidFill>
                <a:latin typeface="Roboto Mono"/>
                <a:ea typeface="Roboto Mono"/>
                <a:cs typeface="Roboto Mono"/>
                <a:sym typeface="Roboto Mono"/>
              </a:rPr>
              <a:t>st.spinner(</a:t>
            </a:r>
            <a:r>
              <a:rPr lang="en-US" sz="1300" b="0" i="0" u="none" strike="noStrike">
                <a:solidFill>
                  <a:srgbClr val="A5D6A7"/>
                </a:solidFill>
                <a:latin typeface="Roboto Mono"/>
                <a:ea typeface="Roboto Mono"/>
                <a:cs typeface="Roboto Mono"/>
                <a:sym typeface="Roboto Mono"/>
              </a:rPr>
              <a:t>"思考中..."</a:t>
            </a:r>
            <a:r>
              <a:rPr lang="en-US" sz="1300" b="0" i="0" u="none" strike="noStrike">
                <a:solidFill>
                  <a:srgbClr val="333333"/>
                </a:solidFill>
                <a:latin typeface="Roboto Mono"/>
                <a:ea typeface="Roboto Mono"/>
                <a:cs typeface="Roboto Mono"/>
                <a:sym typeface="Roboto Mono"/>
              </a:rPr>
              <a:t>):</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response, history = model.chat(tokenizer, user_input)</a:t>
            </a:r>
            <a:endParaRPr lang="en-US" sz="1300" b="0" i="0" u="none" strike="noStrike">
              <a:solidFill>
                <a:srgbClr val="333333"/>
              </a:solidFill>
              <a:latin typeface="Roboto Mono"/>
              <a:ea typeface="Roboto Mono"/>
              <a:cs typeface="Roboto Mono"/>
              <a:sym typeface="Roboto Mono"/>
            </a:endParaRPr>
          </a:p>
          <a:p>
            <a:pPr indent="0" algn="l">
              <a:lnSpc>
                <a:spcPct val="100000"/>
              </a:lnSpc>
            </a:pPr>
            <a:r>
              <a:rPr lang="en-US" sz="1300" b="0" i="0" u="none" strike="noStrike">
                <a:solidFill>
                  <a:srgbClr val="333333"/>
                </a:solidFill>
                <a:latin typeface="Roboto Mono"/>
                <a:ea typeface="Roboto Mono"/>
                <a:cs typeface="Roboto Mono"/>
                <a:sym typeface="Roboto Mono"/>
              </a:rPr>
              <a:t>st.chat_message(</a:t>
            </a:r>
            <a:r>
              <a:rPr lang="en-US" sz="1300" b="0" i="0" u="none" strike="noStrike">
                <a:solidFill>
                  <a:srgbClr val="A5D6A7"/>
                </a:solidFill>
                <a:latin typeface="Roboto Mono"/>
                <a:ea typeface="Roboto Mono"/>
                <a:cs typeface="Roboto Mono"/>
                <a:sym typeface="Roboto Mono"/>
              </a:rPr>
              <a:t>"assistant"</a:t>
            </a:r>
            <a:r>
              <a:rPr lang="en-US" sz="1300" b="0" i="0" u="none" strike="noStrike">
                <a:solidFill>
                  <a:srgbClr val="333333"/>
                </a:solidFill>
                <a:latin typeface="Roboto Mono"/>
                <a:ea typeface="Roboto Mono"/>
                <a:cs typeface="Roboto Mono"/>
                <a:sym typeface="Roboto Mono"/>
              </a:rPr>
              <a:t>).write(response)</a:t>
            </a:r>
            <a:endParaRPr lang="en-US" sz="1300" b="0" i="0" u="none" strike="noStrike">
              <a:solidFill>
                <a:srgbClr val="333333"/>
              </a:solidFill>
              <a:latin typeface="Roboto Mono"/>
              <a:ea typeface="Roboto Mono"/>
              <a:cs typeface="Roboto Mono"/>
              <a:sym typeface="Roboto Mono"/>
            </a:endParaRPr>
          </a:p>
        </p:txBody>
      </p:sp>
      <p:sp>
        <p:nvSpPr>
          <p:cNvPr id="9" name="AutoShape 9"/>
          <p:cNvSpPr/>
          <p:nvPr/>
        </p:nvSpPr>
        <p:spPr>
          <a:xfrm>
            <a:off x="7366000" y="1270000"/>
            <a:ext cx="4064000" cy="1143000"/>
          </a:xfrm>
          <a:prstGeom prst="roundRect">
            <a:avLst>
              <a:gd name="adj" fmla="val 11111"/>
            </a:avLst>
          </a:prstGeom>
          <a:solidFill>
            <a:srgbClr val="FFFFFF">
              <a:alpha val="100000"/>
            </a:srgbClr>
          </a:solidFill>
          <a:ln w="25400" cap="flat" cmpd="sng">
            <a:noFill/>
            <a:prstDash val="solid"/>
            <a:round/>
          </a:ln>
          <a:effectLst>
            <a:outerShdw blurRad="762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6500" y="1460500"/>
            <a:ext cx="304800" cy="304800"/>
          </a:xfrm>
          <a:prstGeom prst="rect">
            <a:avLst/>
          </a:prstGeom>
        </p:spPr>
      </p:pic>
      <p:sp>
        <p:nvSpPr>
          <p:cNvPr id="11" name="AutoShape 11"/>
          <p:cNvSpPr/>
          <p:nvPr/>
        </p:nvSpPr>
        <p:spPr>
          <a:xfrm>
            <a:off x="8001000" y="14224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高效模型加载</a:t>
            </a:r>
            <a:endParaRPr lang="en-US" sz="1100"/>
          </a:p>
        </p:txBody>
      </p:sp>
      <p:sp>
        <p:nvSpPr>
          <p:cNvPr id="12" name="AutoShape 12"/>
          <p:cNvSpPr/>
          <p:nvPr/>
        </p:nvSpPr>
        <p:spPr>
          <a:xfrm>
            <a:off x="8001000" y="1778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利用 Streamlit 缓存机制加载 ChatGLM3-6B，避免重复初始化，提升启动速度。</a:t>
            </a:r>
            <a:endParaRPr lang="en-US" sz="1100"/>
          </a:p>
        </p:txBody>
      </p:sp>
      <p:sp>
        <p:nvSpPr>
          <p:cNvPr id="13" name="AutoShape 13"/>
          <p:cNvSpPr/>
          <p:nvPr/>
        </p:nvSpPr>
        <p:spPr>
          <a:xfrm>
            <a:off x="7366000" y="2603500"/>
            <a:ext cx="4064000" cy="1143000"/>
          </a:xfrm>
          <a:prstGeom prst="roundRect">
            <a:avLst>
              <a:gd name="adj" fmla="val 11111"/>
            </a:avLst>
          </a:prstGeom>
          <a:solidFill>
            <a:srgbClr val="FFFFFF">
              <a:alpha val="100000"/>
            </a:srgbClr>
          </a:solidFill>
          <a:ln w="25400" cap="flat" cmpd="sng">
            <a:noFill/>
            <a:prstDash val="solid"/>
            <a:round/>
          </a:ln>
          <a:effectLst>
            <a:outerShdw blurRad="762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6500" y="2794000"/>
            <a:ext cx="304800" cy="304800"/>
          </a:xfrm>
          <a:prstGeom prst="rect">
            <a:avLst/>
          </a:prstGeom>
        </p:spPr>
      </p:pic>
      <p:sp>
        <p:nvSpPr>
          <p:cNvPr id="15" name="AutoShape 15"/>
          <p:cNvSpPr/>
          <p:nvPr/>
        </p:nvSpPr>
        <p:spPr>
          <a:xfrm>
            <a:off x="8001000" y="27559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实时对话交互</a:t>
            </a:r>
            <a:endParaRPr lang="en-US" sz="1100"/>
          </a:p>
        </p:txBody>
      </p:sp>
      <p:sp>
        <p:nvSpPr>
          <p:cNvPr id="16" name="AutoShape 16"/>
          <p:cNvSpPr/>
          <p:nvPr/>
        </p:nvSpPr>
        <p:spPr>
          <a:xfrm>
            <a:off x="8001000" y="31115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通过 `st.chat_input` 实现即时输入，配合 `st.spinner` 提供友好的加载状态反馈。</a:t>
            </a:r>
            <a:endParaRPr lang="en-US" sz="1100"/>
          </a:p>
        </p:txBody>
      </p:sp>
      <p:sp>
        <p:nvSpPr>
          <p:cNvPr id="17" name="AutoShape 17"/>
          <p:cNvSpPr/>
          <p:nvPr/>
        </p:nvSpPr>
        <p:spPr>
          <a:xfrm>
            <a:off x="7366000" y="3937000"/>
            <a:ext cx="4064000" cy="1143000"/>
          </a:xfrm>
          <a:prstGeom prst="roundRect">
            <a:avLst>
              <a:gd name="adj" fmla="val 11111"/>
            </a:avLst>
          </a:prstGeom>
          <a:solidFill>
            <a:srgbClr val="FFFFFF">
              <a:alpha val="100000"/>
            </a:srgbClr>
          </a:solidFill>
          <a:ln w="25400" cap="flat" cmpd="sng">
            <a:noFill/>
            <a:prstDash val="solid"/>
            <a:round/>
          </a:ln>
          <a:effectLst>
            <a:outerShdw blurRad="76200" dist="25400" dir="5400000" algn="tl" rotWithShape="0">
              <a:srgbClr val="0277BD">
                <a:alpha val="10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6500" y="4127500"/>
            <a:ext cx="304800" cy="304800"/>
          </a:xfrm>
          <a:prstGeom prst="rect">
            <a:avLst/>
          </a:prstGeom>
        </p:spPr>
      </p:pic>
      <p:sp>
        <p:nvSpPr>
          <p:cNvPr id="19" name="AutoShape 19"/>
          <p:cNvSpPr/>
          <p:nvPr/>
        </p:nvSpPr>
        <p:spPr>
          <a:xfrm>
            <a:off x="8001000" y="40894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会话状态保持</a:t>
            </a:r>
            <a:endParaRPr lang="en-US" sz="1100"/>
          </a:p>
        </p:txBody>
      </p:sp>
      <p:sp>
        <p:nvSpPr>
          <p:cNvPr id="20" name="AutoShape 20"/>
          <p:cNvSpPr/>
          <p:nvPr/>
        </p:nvSpPr>
        <p:spPr>
          <a:xfrm>
            <a:off x="8001000" y="4445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使用 `st.session_state` 存储对话历史，确保多轮对话的上下文连贯性。</a:t>
            </a:r>
            <a:endParaRPr lang="en-US" sz="1100"/>
          </a:p>
        </p:txBody>
      </p:sp>
      <p:sp>
        <p:nvSpPr>
          <p:cNvPr id="21" name="AutoShape 21"/>
          <p:cNvSpPr/>
          <p:nvPr/>
        </p:nvSpPr>
        <p:spPr>
          <a:xfrm>
            <a:off x="762000" y="5588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71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77BD"/>
                </a:solidFill>
                <a:latin typeface="Noto Sans SC"/>
                <a:ea typeface="Noto Sans SC"/>
                <a:cs typeface="Noto Sans SC"/>
                <a:sym typeface="Noto Sans SC"/>
              </a:rPr>
              <a:t>总结：</a:t>
            </a:r>
            <a:r>
              <a:rPr lang="en-US" sz="1400" b="0" i="0" u="none" strike="noStrike">
                <a:solidFill>
                  <a:srgbClr val="424242"/>
                </a:solidFill>
                <a:latin typeface="Noto Sans SC"/>
                <a:ea typeface="Noto Sans SC"/>
                <a:cs typeface="Noto Sans SC"/>
                <a:sym typeface="Noto Sans SC"/>
              </a:rPr>
              <a:t>该示例展示了如何快速构建一个具备完整功能的 LLM 聊天 Web 应用，代码简洁且具备良好的可扩展性。</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Streamlit部署效果展示</a:t>
            </a:r>
            <a:endParaRPr lang="en-US" sz="1100"/>
          </a:p>
        </p:txBody>
      </p:sp>
      <p:sp>
        <p:nvSpPr>
          <p:cNvPr id="3" name="AutoShape 3"/>
          <p:cNvSpPr/>
          <p:nvPr/>
        </p:nvSpPr>
        <p:spPr>
          <a:xfrm>
            <a:off x="762000" y="1397000"/>
            <a:ext cx="5842000" cy="1270000"/>
          </a:xfrm>
          <a:prstGeom prst="roundRect">
            <a:avLst>
              <a:gd name="adj" fmla="val 10000"/>
            </a:avLst>
          </a:prstGeom>
          <a:solidFill>
            <a:srgbClr val="FFFFFF">
              <a:alpha val="8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651000" y="1524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启动命令</a:t>
            </a:r>
            <a:endParaRPr lang="en-US" sz="1100"/>
          </a:p>
        </p:txBody>
      </p:sp>
      <p:sp>
        <p:nvSpPr>
          <p:cNvPr id="6" name="AutoShape 6"/>
          <p:cNvSpPr/>
          <p:nvPr/>
        </p:nvSpPr>
        <p:spPr>
          <a:xfrm>
            <a:off x="1651000" y="1905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在终端运行</a:t>
            </a:r>
            <a:r>
              <a:rPr lang="en-US" sz="1800" b="1" i="0" u="none" strike="noStrike">
                <a:solidFill>
                  <a:srgbClr val="0277BD"/>
                </a:solidFill>
                <a:latin typeface="Roboto Mono"/>
                <a:ea typeface="Roboto Mono"/>
                <a:cs typeface="Roboto Mono"/>
                <a:sym typeface="Roboto Mono"/>
              </a:rPr>
              <a:t>streamlit run your_script.py</a:t>
            </a:r>
            <a:r>
              <a:rPr lang="en-US" sz="1800" b="0" i="0" u="none" strike="noStrike">
                <a:solidFill>
                  <a:srgbClr val="757575"/>
                </a:solidFill>
                <a:latin typeface="Noto Sans SC"/>
                <a:ea typeface="Noto Sans SC"/>
                <a:cs typeface="Noto Sans SC"/>
                <a:sym typeface="Noto Sans SC"/>
              </a:rPr>
              <a:t>即可启动服务。</a:t>
            </a:r>
            <a:endParaRPr lang="en-US" sz="1100"/>
          </a:p>
        </p:txBody>
      </p:sp>
      <p:sp>
        <p:nvSpPr>
          <p:cNvPr id="7" name="AutoShape 7"/>
          <p:cNvSpPr/>
          <p:nvPr/>
        </p:nvSpPr>
        <p:spPr>
          <a:xfrm>
            <a:off x="762000" y="2921000"/>
            <a:ext cx="5842000" cy="1270000"/>
          </a:xfrm>
          <a:prstGeom prst="roundRect">
            <a:avLst>
              <a:gd name="adj" fmla="val 10000"/>
            </a:avLst>
          </a:prstGeom>
          <a:solidFill>
            <a:srgbClr val="FFFFFF">
              <a:alpha val="8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3238500"/>
            <a:ext cx="508000" cy="508000"/>
          </a:xfrm>
          <a:prstGeom prst="rect">
            <a:avLst/>
          </a:prstGeom>
        </p:spPr>
      </p:pic>
      <p:sp>
        <p:nvSpPr>
          <p:cNvPr id="9" name="AutoShape 9"/>
          <p:cNvSpPr/>
          <p:nvPr/>
        </p:nvSpPr>
        <p:spPr>
          <a:xfrm>
            <a:off x="1651000" y="304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效果描述</a:t>
            </a:r>
            <a:endParaRPr lang="en-US" sz="1100"/>
          </a:p>
        </p:txBody>
      </p:sp>
      <p:sp>
        <p:nvSpPr>
          <p:cNvPr id="10" name="AutoShape 10"/>
          <p:cNvSpPr/>
          <p:nvPr/>
        </p:nvSpPr>
        <p:spPr>
          <a:xfrm>
            <a:off x="1651000" y="3429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自动打开浏览器并访问本地服务地址（如 http://localhost:8501），展示现代化界面。</a:t>
            </a:r>
            <a:endParaRPr lang="en-US" sz="1100"/>
          </a:p>
        </p:txBody>
      </p:sp>
      <p:sp>
        <p:nvSpPr>
          <p:cNvPr id="11" name="AutoShape 11"/>
          <p:cNvSpPr/>
          <p:nvPr/>
        </p:nvSpPr>
        <p:spPr>
          <a:xfrm>
            <a:off x="762000" y="4445000"/>
            <a:ext cx="5842000" cy="1270000"/>
          </a:xfrm>
          <a:prstGeom prst="roundRect">
            <a:avLst>
              <a:gd name="adj" fmla="val 10000"/>
            </a:avLst>
          </a:prstGeom>
          <a:solidFill>
            <a:srgbClr val="FFFFFF">
              <a:alpha val="80000"/>
            </a:srgbClr>
          </a:solidFill>
          <a:ln w="25400" cap="flat" cmpd="sng">
            <a:noFill/>
            <a:prstDash val="solid"/>
            <a:round/>
          </a:ln>
          <a:effectLst>
            <a:outerShdw blurRad="127000" dist="50800" dir="5400000" algn="tl" rotWithShape="0">
              <a:srgbClr val="0277BD">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762500"/>
            <a:ext cx="508000" cy="508000"/>
          </a:xfrm>
          <a:prstGeom prst="rect">
            <a:avLst/>
          </a:prstGeom>
        </p:spPr>
      </p:pic>
      <p:sp>
        <p:nvSpPr>
          <p:cNvPr id="13" name="AutoShape 13"/>
          <p:cNvSpPr/>
          <p:nvPr/>
        </p:nvSpPr>
        <p:spPr>
          <a:xfrm>
            <a:off x="1651000" y="4572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交互方式</a:t>
            </a:r>
            <a:endParaRPr lang="en-US" sz="1100"/>
          </a:p>
        </p:txBody>
      </p:sp>
      <p:sp>
        <p:nvSpPr>
          <p:cNvPr id="14" name="AutoShape 14"/>
          <p:cNvSpPr/>
          <p:nvPr/>
        </p:nvSpPr>
        <p:spPr>
          <a:xfrm>
            <a:off x="1651000" y="4953000"/>
            <a:ext cx="469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用户输入问题后，模型回复会实时显示在界面上，交互流畅自然。</a:t>
            </a:r>
            <a:endParaRPr lang="en-US" sz="1100"/>
          </a:p>
        </p:txBody>
      </p:sp>
      <p:pic>
        <p:nvPicPr>
          <p:cNvPr id="15" name="Picture 15"/>
          <p:cNvPicPr>
            <a:picLocks noChangeAspect="1"/>
          </p:cNvPicPr>
          <p:nvPr/>
        </p:nvPicPr>
        <p:blipFill>
          <a:blip r:embed="rId5"/>
          <a:srcRect/>
          <a:stretch>
            <a:fillRect/>
          </a:stretch>
        </p:blipFill>
        <p:spPr>
          <a:xfrm>
            <a:off x="7366000" y="1651000"/>
            <a:ext cx="3048000" cy="3048000"/>
          </a:xfrm>
          <a:prstGeom prst="roundRect">
            <a:avLst>
              <a:gd name="adj" fmla="val 6250"/>
            </a:avLst>
          </a:prstGeom>
          <a:noFill/>
          <a:ln w="25400" cap="flat" cmpd="sng">
            <a:solidFill>
              <a:srgbClr val="FFFFFF">
                <a:alpha val="100000"/>
              </a:srgbClr>
            </a:solidFill>
            <a:prstDash val="solid"/>
            <a:round/>
          </a:ln>
          <a:effectLst>
            <a:outerShdw blurRad="190500" dist="63500" dir="5400000" algn="tl" rotWithShape="0">
              <a:srgbClr val="000000">
                <a:alpha val="15000"/>
              </a:srgbClr>
            </a:outerShdw>
          </a:effectLst>
        </p:spPr>
      </p:pic>
      <p:sp>
        <p:nvSpPr>
          <p:cNvPr id="16" name="AutoShape 16"/>
          <p:cNvSpPr/>
          <p:nvPr/>
        </p:nvSpPr>
        <p:spPr>
          <a:xfrm>
            <a:off x="7366000" y="4826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Streamlit 聊天界面示例</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62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10.3.3 基于FastAPI的接口部署</a:t>
            </a:r>
            <a:endParaRPr lang="en-US" sz="1100"/>
          </a:p>
        </p:txBody>
      </p:sp>
      <p:sp>
        <p:nvSpPr>
          <p:cNvPr id="3" name="AutoShape 3"/>
          <p:cNvSpPr/>
          <p:nvPr/>
        </p:nvSpPr>
        <p:spPr>
          <a:xfrm>
            <a:off x="762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651000"/>
            <a:ext cx="635000" cy="635000"/>
          </a:xfrm>
          <a:prstGeom prst="rect">
            <a:avLst/>
          </a:prstGeom>
        </p:spPr>
      </p:pic>
      <p:sp>
        <p:nvSpPr>
          <p:cNvPr id="5" name="AutoShape 5"/>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FastAPI简介</a:t>
            </a:r>
            <a:endParaRPr lang="en-US" sz="1100"/>
          </a:p>
        </p:txBody>
      </p:sp>
      <p:sp>
        <p:nvSpPr>
          <p:cNvPr id="6" name="AutoShape 6"/>
          <p:cNvSpPr/>
          <p:nvPr/>
        </p:nvSpPr>
        <p:spPr>
          <a:xfrm>
            <a:off x="952500" y="2921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一个现代、高性能的Web框架，专为构建API接口设计，结合了Starlette的高性能和Pydantic的易用性。</a:t>
            </a:r>
            <a:endParaRPr lang="en-US" sz="1100"/>
          </a:p>
        </p:txBody>
      </p:sp>
      <p:sp>
        <p:nvSpPr>
          <p:cNvPr id="7" name="AutoShape 7"/>
          <p:cNvSpPr/>
          <p:nvPr/>
        </p:nvSpPr>
        <p:spPr>
          <a:xfrm>
            <a:off x="4445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651000"/>
            <a:ext cx="635000" cy="635000"/>
          </a:xfrm>
          <a:prstGeom prst="rect">
            <a:avLst/>
          </a:prstGeom>
        </p:spPr>
      </p:pic>
      <p:sp>
        <p:nvSpPr>
          <p:cNvPr id="9" name="AutoShape 9"/>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核心优势</a:t>
            </a:r>
            <a:endParaRPr lang="en-US" sz="1100"/>
          </a:p>
        </p:txBody>
      </p:sp>
      <p:sp>
        <p:nvSpPr>
          <p:cNvPr id="10" name="AutoShape 10"/>
          <p:cNvSpPr/>
          <p:nvPr/>
        </p:nvSpPr>
        <p:spPr>
          <a:xfrm>
            <a:off x="4635500" y="2921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基于Python类型提示自动校验数据；自动生成交互式API文档；异步支持，性能接近Node.js和Go。</a:t>
            </a:r>
            <a:endParaRPr lang="en-US" sz="1100"/>
          </a:p>
        </p:txBody>
      </p:sp>
      <p:sp>
        <p:nvSpPr>
          <p:cNvPr id="11" name="AutoShape 11"/>
          <p:cNvSpPr/>
          <p:nvPr/>
        </p:nvSpPr>
        <p:spPr>
          <a:xfrm>
            <a:off x="8128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651000"/>
            <a:ext cx="635000" cy="635000"/>
          </a:xfrm>
          <a:prstGeom prst="rect">
            <a:avLst/>
          </a:prstGeom>
        </p:spPr>
      </p:pic>
      <p:sp>
        <p:nvSpPr>
          <p:cNvPr id="13" name="AutoShape 13"/>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安装方法</a:t>
            </a:r>
            <a:endParaRPr lang="en-US" sz="1100"/>
          </a:p>
        </p:txBody>
      </p:sp>
      <p:sp>
        <p:nvSpPr>
          <p:cNvPr id="14" name="AutoShape 14"/>
          <p:cNvSpPr/>
          <p:nvPr/>
        </p:nvSpPr>
        <p:spPr>
          <a:xfrm>
            <a:off x="8318500" y="2921000"/>
            <a:ext cx="2921000" cy="1270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0" i="0" u="none" strike="noStrike">
                <a:solidFill>
                  <a:srgbClr val="757575"/>
                </a:solidFill>
                <a:latin typeface="Noto Sans SC"/>
                <a:ea typeface="Noto Sans SC"/>
                <a:cs typeface="Noto Sans SC"/>
                <a:sym typeface="Noto Sans SC"/>
              </a:rPr>
              <a:t>使用pip包管理器快速安装框架及ASGI服务器：</a:t>
            </a:r>
            <a:endParaRPr lang="en-US" sz="1100"/>
          </a:p>
        </p:txBody>
      </p:sp>
      <p:sp>
        <p:nvSpPr>
          <p:cNvPr id="15" name="AutoShape 15"/>
          <p:cNvSpPr/>
          <p:nvPr/>
        </p:nvSpPr>
        <p:spPr>
          <a:xfrm>
            <a:off x="8382000" y="3810000"/>
            <a:ext cx="2794000" cy="508000"/>
          </a:xfrm>
          <a:prstGeom prst="roundRect">
            <a:avLst>
              <a:gd name="adj" fmla="val 12500"/>
            </a:avLst>
          </a:prstGeom>
          <a:solidFill>
            <a:srgbClr val="0277BD">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82000" y="3873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77BD"/>
                </a:solidFill>
                <a:latin typeface="Noto Sans SC"/>
                <a:ea typeface="Noto Sans SC"/>
                <a:cs typeface="Noto Sans SC"/>
                <a:sym typeface="Noto Sans SC"/>
              </a:rPr>
              <a:t>pip3 install fastapi uvicorn</a:t>
            </a:r>
            <a:endParaRPr lang="en-US" sz="1100"/>
          </a:p>
        </p:txBody>
      </p:sp>
      <p:sp>
        <p:nvSpPr>
          <p:cNvPr id="17" name="AutoShape 17"/>
          <p:cNvSpPr/>
          <p:nvPr/>
        </p:nvSpPr>
        <p:spPr>
          <a:xfrm>
            <a:off x="762000" y="5334000"/>
            <a:ext cx="10668000" cy="762000"/>
          </a:xfrm>
          <a:prstGeom prst="roundRect">
            <a:avLst>
              <a:gd name="adj" fmla="val 16666"/>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sp>
        <p:nvSpPr>
          <p:cNvPr id="18" name="AutoShape 18"/>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77BD"/>
                </a:solidFill>
                <a:latin typeface="Noto Sans SC"/>
                <a:ea typeface="Noto Sans SC"/>
                <a:cs typeface="Noto Sans SC"/>
                <a:sym typeface="Noto Sans SC"/>
              </a:rPr>
              <a:t>总结：FastAPI 凭借其卓越的性能和自动文档生成能力，成为Python部署机器学习模型API的首选框架。</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基于FastAPI的接口定义</a:t>
            </a:r>
            <a:endParaRPr lang="en-US" sz="1100"/>
          </a:p>
        </p:txBody>
      </p:sp>
      <p:sp>
        <p:nvSpPr>
          <p:cNvPr id="3" name="AutoShape 3"/>
          <p:cNvSpPr/>
          <p:nvPr/>
        </p:nvSpPr>
        <p:spPr>
          <a:xfrm>
            <a:off x="762000" y="1397000"/>
            <a:ext cx="3810000" cy="1016000"/>
          </a:xfrm>
          <a:prstGeom prst="roundRect">
            <a:avLst>
              <a:gd name="adj" fmla="val 12500"/>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87500"/>
            <a:ext cx="304800" cy="304800"/>
          </a:xfrm>
          <a:prstGeom prst="rect">
            <a:avLst/>
          </a:prstGeom>
        </p:spPr>
      </p:pic>
      <p:sp>
        <p:nvSpPr>
          <p:cNvPr id="5" name="AutoShape 5"/>
          <p:cNvSpPr/>
          <p:nvPr/>
        </p:nvSpPr>
        <p:spPr>
          <a:xfrm>
            <a:off x="1397000" y="1524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应用初始化</a:t>
            </a:r>
            <a:endParaRPr lang="en-US" sz="1100"/>
          </a:p>
        </p:txBody>
      </p:sp>
      <p:sp>
        <p:nvSpPr>
          <p:cNvPr id="6" name="AutoShape 6"/>
          <p:cNvSpPr/>
          <p:nvPr/>
        </p:nvSpPr>
        <p:spPr>
          <a:xfrm>
            <a:off x="1397000" y="18415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创建FastAPI实例，配置应用元数据，为后续接口定义奠定基础。</a:t>
            </a:r>
            <a:endParaRPr lang="en-US" sz="1100"/>
          </a:p>
        </p:txBody>
      </p:sp>
      <p:sp>
        <p:nvSpPr>
          <p:cNvPr id="7" name="AutoShape 7"/>
          <p:cNvSpPr/>
          <p:nvPr/>
        </p:nvSpPr>
        <p:spPr>
          <a:xfrm>
            <a:off x="762000" y="2603500"/>
            <a:ext cx="3810000" cy="1016000"/>
          </a:xfrm>
          <a:prstGeom prst="roundRect">
            <a:avLst>
              <a:gd name="adj" fmla="val 12500"/>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794000"/>
            <a:ext cx="304800" cy="304800"/>
          </a:xfrm>
          <a:prstGeom prst="rect">
            <a:avLst/>
          </a:prstGeom>
        </p:spPr>
      </p:pic>
      <p:sp>
        <p:nvSpPr>
          <p:cNvPr id="9" name="AutoShape 9"/>
          <p:cNvSpPr/>
          <p:nvPr/>
        </p:nvSpPr>
        <p:spPr>
          <a:xfrm>
            <a:off x="1397000" y="27305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模型加载与配置</a:t>
            </a:r>
            <a:endParaRPr lang="en-US" sz="1100"/>
          </a:p>
        </p:txBody>
      </p:sp>
      <p:sp>
        <p:nvSpPr>
          <p:cNvPr id="10" name="AutoShape 10"/>
          <p:cNvSpPr/>
          <p:nvPr/>
        </p:nvSpPr>
        <p:spPr>
          <a:xfrm>
            <a:off x="1397000" y="3048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加载ChatGLM3-6B模型与分词器，进行量化与CUDA加速，确保高效推理。</a:t>
            </a:r>
            <a:endParaRPr lang="en-US" sz="1100"/>
          </a:p>
        </p:txBody>
      </p:sp>
      <p:sp>
        <p:nvSpPr>
          <p:cNvPr id="11" name="AutoShape 11"/>
          <p:cNvSpPr/>
          <p:nvPr/>
        </p:nvSpPr>
        <p:spPr>
          <a:xfrm>
            <a:off x="762000" y="3810000"/>
            <a:ext cx="3810000" cy="1016000"/>
          </a:xfrm>
          <a:prstGeom prst="roundRect">
            <a:avLst>
              <a:gd name="adj" fmla="val 12500"/>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000500"/>
            <a:ext cx="304800" cy="304800"/>
          </a:xfrm>
          <a:prstGeom prst="rect">
            <a:avLst/>
          </a:prstGeom>
        </p:spPr>
      </p:pic>
      <p:sp>
        <p:nvSpPr>
          <p:cNvPr id="13" name="AutoShape 13"/>
          <p:cNvSpPr/>
          <p:nvPr/>
        </p:nvSpPr>
        <p:spPr>
          <a:xfrm>
            <a:off x="1397000" y="3937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请求体模型定义</a:t>
            </a:r>
            <a:endParaRPr lang="en-US" sz="1100"/>
          </a:p>
        </p:txBody>
      </p:sp>
      <p:sp>
        <p:nvSpPr>
          <p:cNvPr id="14" name="AutoShape 14"/>
          <p:cNvSpPr/>
          <p:nvPr/>
        </p:nvSpPr>
        <p:spPr>
          <a:xfrm>
            <a:off x="1397000" y="42545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利用Pydantic定义ChatRequest，规范用户输入消息与历史记录格式。</a:t>
            </a:r>
            <a:endParaRPr lang="en-US" sz="1100"/>
          </a:p>
        </p:txBody>
      </p:sp>
      <p:sp>
        <p:nvSpPr>
          <p:cNvPr id="15" name="AutoShape 15"/>
          <p:cNvSpPr/>
          <p:nvPr/>
        </p:nvSpPr>
        <p:spPr>
          <a:xfrm>
            <a:off x="762000" y="5016500"/>
            <a:ext cx="3810000" cy="1016000"/>
          </a:xfrm>
          <a:prstGeom prst="roundRect">
            <a:avLst>
              <a:gd name="adj" fmla="val 12500"/>
            </a:avLst>
          </a:prstGeom>
          <a:solidFill>
            <a:srgbClr val="FFFFFF">
              <a:alpha val="80000"/>
            </a:srgbClr>
          </a:solidFill>
          <a:ln cap="flat" cmpd="sng">
            <a:solidFill>
              <a:srgbClr val="E6CFCF">
                <a:alpha val="8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207000"/>
            <a:ext cx="304800" cy="304800"/>
          </a:xfrm>
          <a:prstGeom prst="rect">
            <a:avLst/>
          </a:prstGeom>
        </p:spPr>
      </p:pic>
      <p:sp>
        <p:nvSpPr>
          <p:cNvPr id="17" name="AutoShape 17"/>
          <p:cNvSpPr/>
          <p:nvPr/>
        </p:nvSpPr>
        <p:spPr>
          <a:xfrm>
            <a:off x="1397000" y="51435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聊天接口实现</a:t>
            </a:r>
            <a:endParaRPr lang="en-US" sz="1100"/>
          </a:p>
        </p:txBody>
      </p:sp>
      <p:sp>
        <p:nvSpPr>
          <p:cNvPr id="18" name="AutoShape 18"/>
          <p:cNvSpPr/>
          <p:nvPr/>
        </p:nvSpPr>
        <p:spPr>
          <a:xfrm>
            <a:off x="1397000" y="5461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定义POST接口，调用模型生成回复，并返回结果与更新后的历史。</a:t>
            </a:r>
            <a:endParaRPr lang="en-US" sz="1100"/>
          </a:p>
        </p:txBody>
      </p:sp>
      <p:sp>
        <p:nvSpPr>
          <p:cNvPr id="19" name="AutoShape 19"/>
          <p:cNvSpPr/>
          <p:nvPr/>
        </p:nvSpPr>
        <p:spPr>
          <a:xfrm>
            <a:off x="4953000" y="1397000"/>
            <a:ext cx="6477000" cy="4635500"/>
          </a:xfrm>
          <a:prstGeom prst="roundRect">
            <a:avLst>
              <a:gd name="adj" fmla="val 2739"/>
            </a:avLst>
          </a:prstGeom>
          <a:solidFill>
            <a:srgbClr val="1E1E1E">
              <a:alpha val="100000"/>
            </a:srgbClr>
          </a:solidFill>
          <a:ln w="25400" cap="flat" cmpd="sng">
            <a:noFill/>
            <a:prstDash val="solid"/>
            <a:round/>
          </a:ln>
          <a:effectLst>
            <a:outerShdw blurRad="1270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20" name="AutoShape 20"/>
          <p:cNvSpPr/>
          <p:nvPr/>
        </p:nvSpPr>
        <p:spPr>
          <a:xfrm>
            <a:off x="5143500" y="1587500"/>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5334000" y="15875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5524500" y="1587500"/>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5143500" y="1905000"/>
            <a:ext cx="6096000" cy="393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678DD"/>
                </a:solidFill>
                <a:latin typeface="Roboto Mono"/>
                <a:ea typeface="Roboto Mono"/>
                <a:cs typeface="Roboto Mono"/>
                <a:sym typeface="Roboto Mono"/>
              </a:rPr>
              <a:t>from</a:t>
            </a:r>
            <a:r>
              <a:rPr lang="en-US" sz="1400" b="0" i="0" u="none" strike="noStrike">
                <a:solidFill>
                  <a:srgbClr val="DCDFE4"/>
                </a:solidFill>
                <a:latin typeface="Roboto Mono"/>
                <a:ea typeface="Roboto Mono"/>
                <a:cs typeface="Roboto Mono"/>
                <a:sym typeface="Roboto Mono"/>
              </a:rPr>
              <a:t>fastapi</a:t>
            </a:r>
            <a:r>
              <a:rPr lang="en-US" sz="1400" b="0" i="0" u="none" strike="noStrike">
                <a:solidFill>
                  <a:srgbClr val="C678DD"/>
                </a:solidFill>
                <a:latin typeface="Roboto Mono"/>
                <a:ea typeface="Roboto Mono"/>
                <a:cs typeface="Roboto Mono"/>
                <a:sym typeface="Roboto Mono"/>
              </a:rPr>
              <a:t>import</a:t>
            </a:r>
            <a:r>
              <a:rPr lang="en-US" sz="1400" b="0" i="0" u="none" strike="noStrike">
                <a:solidFill>
                  <a:srgbClr val="DCDFE4"/>
                </a:solidFill>
                <a:latin typeface="Roboto Mono"/>
                <a:ea typeface="Roboto Mono"/>
                <a:cs typeface="Roboto Mono"/>
                <a:sym typeface="Roboto Mono"/>
              </a:rPr>
              <a:t>FastAPI, Body</a:t>
            </a:r>
            <a:endParaRPr lang="en-US" sz="1100"/>
          </a:p>
          <a:p>
            <a:pPr indent="0" algn="l">
              <a:lnSpc>
                <a:spcPct val="125000"/>
              </a:lnSpc>
            </a:pPr>
            <a:r>
              <a:rPr lang="en-US" sz="1400" b="0" i="0" u="none" strike="noStrike">
                <a:solidFill>
                  <a:srgbClr val="C678DD"/>
                </a:solidFill>
                <a:latin typeface="Roboto Mono"/>
                <a:ea typeface="Roboto Mono"/>
                <a:cs typeface="Roboto Mono"/>
                <a:sym typeface="Roboto Mono"/>
              </a:rPr>
              <a:t>from</a:t>
            </a:r>
            <a:r>
              <a:rPr lang="en-US" sz="1400" b="0" i="0" u="none" strike="noStrike">
                <a:solidFill>
                  <a:srgbClr val="DCDFE4"/>
                </a:solidFill>
                <a:latin typeface="Roboto Mono"/>
                <a:ea typeface="Roboto Mono"/>
                <a:cs typeface="Roboto Mono"/>
                <a:sym typeface="Roboto Mono"/>
              </a:rPr>
              <a:t>pydantic</a:t>
            </a:r>
            <a:r>
              <a:rPr lang="en-US" sz="1400" b="0" i="0" u="none" strike="noStrike">
                <a:solidFill>
                  <a:srgbClr val="C678DD"/>
                </a:solidFill>
                <a:latin typeface="Roboto Mono"/>
                <a:ea typeface="Roboto Mono"/>
                <a:cs typeface="Roboto Mono"/>
                <a:sym typeface="Roboto Mono"/>
              </a:rPr>
              <a:t>import</a:t>
            </a:r>
            <a:r>
              <a:rPr lang="en-US" sz="1400" b="0" i="0" u="none" strike="noStrike">
                <a:solidFill>
                  <a:srgbClr val="DCDFE4"/>
                </a:solidFill>
                <a:latin typeface="Roboto Mono"/>
                <a:ea typeface="Roboto Mono"/>
                <a:cs typeface="Roboto Mono"/>
                <a:sym typeface="Roboto Mono"/>
              </a:rPr>
              <a:t>BaseModel</a:t>
            </a:r>
            <a:endParaRPr lang="en-US" sz="1400" b="0" i="0" u="none" strike="noStrike">
              <a:solidFill>
                <a:srgbClr val="DCDFE4"/>
              </a:solidFill>
              <a:latin typeface="Roboto Mono"/>
              <a:ea typeface="Roboto Mono"/>
              <a:cs typeface="Roboto Mono"/>
              <a:sym typeface="Roboto Mono"/>
            </a:endParaRPr>
          </a:p>
          <a:p>
            <a:pPr indent="0" algn="l">
              <a:lnSpc>
                <a:spcPct val="125000"/>
              </a:lnSpc>
            </a:pPr>
            <a:r>
              <a:rPr lang="en-US" sz="1400" b="0" i="0" u="none" strike="noStrike">
                <a:solidFill>
                  <a:srgbClr val="C678DD"/>
                </a:solidFill>
                <a:latin typeface="Roboto Mono"/>
                <a:ea typeface="Roboto Mono"/>
                <a:cs typeface="Roboto Mono"/>
                <a:sym typeface="Roboto Mono"/>
              </a:rPr>
              <a:t>import</a:t>
            </a:r>
            <a:r>
              <a:rPr lang="en-US" sz="1400" b="0" i="0" u="none" strike="noStrike">
                <a:solidFill>
                  <a:srgbClr val="DCDFE4"/>
                </a:solidFill>
                <a:latin typeface="Roboto Mono"/>
                <a:ea typeface="Roboto Mono"/>
                <a:cs typeface="Roboto Mono"/>
                <a:sym typeface="Roboto Mono"/>
              </a:rPr>
              <a:t>torch</a:t>
            </a:r>
            <a:endParaRPr lang="en-US" sz="1400" b="0" i="0" u="none" strike="noStrike">
              <a:solidFill>
                <a:srgbClr val="DCDFE4"/>
              </a:solidFill>
              <a:latin typeface="Roboto Mono"/>
              <a:ea typeface="Roboto Mono"/>
              <a:cs typeface="Roboto Mono"/>
              <a:sym typeface="Roboto Mono"/>
            </a:endParaRPr>
          </a:p>
          <a:p>
            <a:pPr indent="0" algn="l">
              <a:lnSpc>
                <a:spcPct val="125000"/>
              </a:lnSpc>
            </a:pPr>
            <a:r>
              <a:rPr lang="en-US" sz="1400" b="0" i="0" u="none" strike="noStrike">
                <a:solidFill>
                  <a:srgbClr val="C678DD"/>
                </a:solidFill>
                <a:latin typeface="Roboto Mono"/>
                <a:ea typeface="Roboto Mono"/>
                <a:cs typeface="Roboto Mono"/>
                <a:sym typeface="Roboto Mono"/>
              </a:rPr>
              <a:t>from</a:t>
            </a:r>
            <a:r>
              <a:rPr lang="en-US" sz="1400" b="0" i="0" u="none" strike="noStrike">
                <a:solidFill>
                  <a:srgbClr val="DCDFE4"/>
                </a:solidFill>
                <a:latin typeface="Roboto Mono"/>
                <a:ea typeface="Roboto Mono"/>
                <a:cs typeface="Roboto Mono"/>
                <a:sym typeface="Roboto Mono"/>
              </a:rPr>
              <a:t>transformers</a:t>
            </a:r>
            <a:r>
              <a:rPr lang="en-US" sz="1400" b="0" i="0" u="none" strike="noStrike">
                <a:solidFill>
                  <a:srgbClr val="C678DD"/>
                </a:solidFill>
                <a:latin typeface="Roboto Mono"/>
                <a:ea typeface="Roboto Mono"/>
                <a:cs typeface="Roboto Mono"/>
                <a:sym typeface="Roboto Mono"/>
              </a:rPr>
              <a:t>import</a:t>
            </a:r>
            <a:r>
              <a:rPr lang="en-US" sz="1400" b="0" i="0" u="none" strike="noStrike">
                <a:solidFill>
                  <a:srgbClr val="DCDFE4"/>
                </a:solidFill>
                <a:latin typeface="Roboto Mono"/>
                <a:ea typeface="Roboto Mono"/>
                <a:cs typeface="Roboto Mono"/>
                <a:sym typeface="Roboto Mono"/>
              </a:rPr>
              <a:t>AutoTokenizer, AutoModel</a:t>
            </a:r>
            <a:endParaRPr lang="en-US" sz="1400" b="0" i="0" u="none" strike="noStrike">
              <a:solidFill>
                <a:srgbClr val="DCDFE4"/>
              </a:solidFill>
              <a:latin typeface="Roboto Mono"/>
              <a:ea typeface="Roboto Mono"/>
              <a:cs typeface="Roboto Mono"/>
              <a:sym typeface="Roboto Mono"/>
            </a:endParaRPr>
          </a:p>
          <a:p>
            <a:pPr indent="0" algn="l">
              <a:lnSpc>
                <a:spcPct val="125000"/>
              </a:lnSpc>
            </a:pPr>
          </a:p>
          <a:p>
            <a:pPr indent="0" algn="l">
              <a:lnSpc>
                <a:spcPct val="125000"/>
              </a:lnSpc>
            </a:pPr>
            <a:r>
              <a:rPr lang="en-US" sz="1400" b="0" i="0" u="none" strike="noStrike">
                <a:solidFill>
                  <a:srgbClr val="DCDFE4"/>
                </a:solidFill>
                <a:latin typeface="Roboto Mono"/>
                <a:ea typeface="Roboto Mono"/>
                <a:cs typeface="Roboto Mono"/>
                <a:sym typeface="Roboto Mono"/>
              </a:rPr>
              <a:t>app = FastAPI(title=</a:t>
            </a:r>
            <a:r>
              <a:rPr lang="en-US" sz="1400" b="0" i="0" u="none" strike="noStrike">
                <a:solidFill>
                  <a:srgbClr val="98C379"/>
                </a:solidFill>
                <a:latin typeface="Roboto Mono"/>
                <a:ea typeface="Roboto Mono"/>
                <a:cs typeface="Roboto Mono"/>
                <a:sym typeface="Roboto Mono"/>
              </a:rPr>
              <a:t>"ChatGLM3-6B API"</a:t>
            </a:r>
            <a:r>
              <a:rPr lang="en-US" sz="1400" b="0" i="0" u="none" strike="noStrike">
                <a:solidFill>
                  <a:srgbClr val="DCDFE4"/>
                </a:solidFill>
                <a:latin typeface="Roboto Mono"/>
                <a:ea typeface="Roboto Mono"/>
                <a:cs typeface="Roboto Mono"/>
                <a:sym typeface="Roboto Mono"/>
              </a:rPr>
              <a:t>)</a:t>
            </a:r>
            <a:endParaRPr lang="en-US" sz="1400" b="0" i="0" u="none" strike="noStrike">
              <a:solidFill>
                <a:srgbClr val="DCDFE4"/>
              </a:solidFill>
              <a:latin typeface="Roboto Mono"/>
              <a:ea typeface="Roboto Mono"/>
              <a:cs typeface="Roboto Mono"/>
              <a:sym typeface="Roboto Mono"/>
            </a:endParaRPr>
          </a:p>
          <a:p>
            <a:pPr indent="0" algn="l">
              <a:lnSpc>
                <a:spcPct val="125000"/>
              </a:lnSpc>
            </a:pPr>
          </a:p>
          <a:p>
            <a:pPr indent="0" algn="l">
              <a:lnSpc>
                <a:spcPct val="125000"/>
              </a:lnSpc>
            </a:pPr>
            <a:r>
              <a:rPr lang="en-US" sz="1400" b="0" i="0" u="none" strike="noStrike">
                <a:solidFill>
                  <a:srgbClr val="5C6370"/>
                </a:solidFill>
                <a:latin typeface="Roboto Mono"/>
                <a:ea typeface="Roboto Mono"/>
                <a:cs typeface="Roboto Mono"/>
                <a:sym typeface="Roboto Mono"/>
              </a:rPr>
              <a:t># 加载模型和分词器</a:t>
            </a:r>
            <a:endParaRPr lang="en-US" sz="1400" b="0" i="0" u="none" strike="noStrike">
              <a:solidFill>
                <a:srgbClr val="5C6370"/>
              </a:solidFill>
              <a:latin typeface="Roboto Mono"/>
              <a:ea typeface="Roboto Mono"/>
              <a:cs typeface="Roboto Mono"/>
              <a:sym typeface="Roboto Mono"/>
            </a:endParaRPr>
          </a:p>
          <a:p>
            <a:pPr indent="0" algn="l">
              <a:lnSpc>
                <a:spcPct val="125000"/>
              </a:lnSpc>
            </a:pPr>
            <a:r>
              <a:rPr lang="en-US" sz="1400" b="0" i="0" u="none" strike="noStrike">
                <a:solidFill>
                  <a:srgbClr val="DCDFE4"/>
                </a:solidFill>
                <a:latin typeface="Roboto Mono"/>
                <a:ea typeface="Roboto Mono"/>
                <a:cs typeface="Roboto Mono"/>
                <a:sym typeface="Roboto Mono"/>
              </a:rPr>
              <a:t>tokenizer = AutoTokenizer.from_pretrained(</a:t>
            </a:r>
            <a:r>
              <a:rPr lang="en-US" sz="1400" b="0" i="0" u="none" strike="noStrike">
                <a:solidFill>
                  <a:srgbClr val="98C379"/>
                </a:solidFill>
                <a:latin typeface="Roboto Mono"/>
                <a:ea typeface="Roboto Mono"/>
                <a:cs typeface="Roboto Mono"/>
                <a:sym typeface="Roboto Mono"/>
              </a:rPr>
              <a:t>"chatglm3-6b"</a:t>
            </a:r>
            <a:r>
              <a:rPr lang="en-US" sz="1400" b="0" i="0" u="none" strike="noStrike">
                <a:solidFill>
                  <a:srgbClr val="DCDFE4"/>
                </a:solidFill>
                <a:latin typeface="Roboto Mono"/>
                <a:ea typeface="Roboto Mono"/>
                <a:cs typeface="Roboto Mono"/>
                <a:sym typeface="Roboto Mono"/>
              </a:rPr>
              <a:t>, trust_remote_code=</a:t>
            </a:r>
            <a:r>
              <a:rPr lang="en-US" sz="1400" b="0" i="0" u="none" strike="noStrike">
                <a:solidFill>
                  <a:srgbClr val="D19A66"/>
                </a:solidFill>
                <a:latin typeface="Roboto Mono"/>
                <a:ea typeface="Roboto Mono"/>
                <a:cs typeface="Roboto Mono"/>
                <a:sym typeface="Roboto Mono"/>
              </a:rPr>
              <a:t>True</a:t>
            </a:r>
            <a:r>
              <a:rPr lang="en-US" sz="1400" b="0" i="0" u="none" strike="noStrike">
                <a:solidFill>
                  <a:srgbClr val="DCDFE4"/>
                </a:solidFill>
                <a:latin typeface="Roboto Mono"/>
                <a:ea typeface="Roboto Mono"/>
                <a:cs typeface="Roboto Mono"/>
                <a:sym typeface="Roboto Mono"/>
              </a:rPr>
              <a:t>)</a:t>
            </a:r>
            <a:endParaRPr lang="en-US" sz="1400" b="0" i="0" u="none" strike="noStrike">
              <a:solidFill>
                <a:srgbClr val="DCDFE4"/>
              </a:solidFill>
              <a:latin typeface="Roboto Mono"/>
              <a:ea typeface="Roboto Mono"/>
              <a:cs typeface="Roboto Mono"/>
              <a:sym typeface="Roboto Mono"/>
            </a:endParaRPr>
          </a:p>
          <a:p>
            <a:pPr indent="0" algn="l">
              <a:lnSpc>
                <a:spcPct val="125000"/>
              </a:lnSpc>
            </a:pPr>
            <a:r>
              <a:rPr lang="en-US" sz="1400" b="0" i="0" u="none" strike="noStrike">
                <a:solidFill>
                  <a:srgbClr val="DCDFE4"/>
                </a:solidFill>
                <a:latin typeface="Roboto Mono"/>
                <a:ea typeface="Roboto Mono"/>
                <a:cs typeface="Roboto Mono"/>
                <a:sym typeface="Roboto Mono"/>
              </a:rPr>
              <a:t>model = AutoModel.from_pretrained(</a:t>
            </a:r>
            <a:r>
              <a:rPr lang="en-US" sz="1400" b="0" i="0" u="none" strike="noStrike">
                <a:solidFill>
                  <a:srgbClr val="98C379"/>
                </a:solidFill>
                <a:latin typeface="Roboto Mono"/>
                <a:ea typeface="Roboto Mono"/>
                <a:cs typeface="Roboto Mono"/>
                <a:sym typeface="Roboto Mono"/>
              </a:rPr>
              <a:t>"chatglm3-6b"</a:t>
            </a:r>
            <a:r>
              <a:rPr lang="en-US" sz="1400" b="0" i="0" u="none" strike="noStrike">
                <a:solidFill>
                  <a:srgbClr val="DCDFE4"/>
                </a:solidFill>
                <a:latin typeface="Roboto Mono"/>
                <a:ea typeface="Roboto Mono"/>
                <a:cs typeface="Roboto Mono"/>
                <a:sym typeface="Roboto Mono"/>
              </a:rPr>
              <a:t>, trust_remote_code=</a:t>
            </a:r>
            <a:r>
              <a:rPr lang="en-US" sz="1400" b="0" i="0" u="none" strike="noStrike">
                <a:solidFill>
                  <a:srgbClr val="D19A66"/>
                </a:solidFill>
                <a:latin typeface="Roboto Mono"/>
                <a:ea typeface="Roboto Mono"/>
                <a:cs typeface="Roboto Mono"/>
                <a:sym typeface="Roboto Mono"/>
              </a:rPr>
              <a:t>True</a:t>
            </a:r>
            <a:r>
              <a:rPr lang="en-US" sz="1400" b="0" i="0" u="none" strike="noStrike">
                <a:solidFill>
                  <a:srgbClr val="DCDFE4"/>
                </a:solidFill>
                <a:latin typeface="Roboto Mono"/>
                <a:ea typeface="Roboto Mono"/>
                <a:cs typeface="Roboto Mono"/>
                <a:sym typeface="Roboto Mono"/>
              </a:rPr>
              <a:t>).quantize(8).cuda().eval()</a:t>
            </a:r>
            <a:endParaRPr lang="en-US" sz="1400" b="0" i="0" u="none" strike="noStrike">
              <a:solidFill>
                <a:srgbClr val="DCDFE4"/>
              </a:solidFill>
              <a:latin typeface="Roboto Mono"/>
              <a:ea typeface="Roboto Mono"/>
              <a:cs typeface="Roboto Mono"/>
              <a:sym typeface="Roboto Mono"/>
            </a:endParaRPr>
          </a:p>
          <a:p>
            <a:pPr indent="0" algn="l">
              <a:lnSpc>
                <a:spcPct val="125000"/>
              </a:lnSpc>
            </a:pPr>
          </a:p>
          <a:p>
            <a:pPr indent="0" algn="l">
              <a:lnSpc>
                <a:spcPct val="125000"/>
              </a:lnSpc>
            </a:pPr>
            <a:r>
              <a:rPr lang="en-US" sz="1400" b="0" i="0" u="none" strike="noStrike">
                <a:solidFill>
                  <a:srgbClr val="5C6370"/>
                </a:solidFill>
                <a:latin typeface="Roboto Mono"/>
                <a:ea typeface="Roboto Mono"/>
                <a:cs typeface="Roboto Mono"/>
                <a:sym typeface="Roboto Mono"/>
              </a:rPr>
              <a:t># 定义请求体模型</a:t>
            </a:r>
            <a:endParaRPr lang="en-US" sz="1400" b="0" i="0" u="none" strike="noStrike">
              <a:solidFill>
                <a:srgbClr val="5C6370"/>
              </a:solidFill>
              <a:latin typeface="Roboto Mono"/>
              <a:ea typeface="Roboto Mono"/>
              <a:cs typeface="Roboto Mono"/>
              <a:sym typeface="Roboto Mono"/>
            </a:endParaRPr>
          </a:p>
          <a:p>
            <a:pPr indent="0" algn="l">
              <a:lnSpc>
                <a:spcPct val="125000"/>
              </a:lnSpc>
            </a:pPr>
            <a:r>
              <a:rPr lang="en-US" sz="1400" b="0" i="0" u="none" strike="noStrike">
                <a:solidFill>
                  <a:srgbClr val="C678DD"/>
                </a:solidFill>
                <a:latin typeface="Roboto Mono"/>
                <a:ea typeface="Roboto Mono"/>
                <a:cs typeface="Roboto Mono"/>
                <a:sym typeface="Roboto Mono"/>
              </a:rPr>
              <a:t>class</a:t>
            </a:r>
            <a:r>
              <a:rPr lang="en-US" sz="1400" b="0" i="0" u="none" strike="noStrike">
                <a:solidFill>
                  <a:srgbClr val="E5C07B"/>
                </a:solidFill>
                <a:latin typeface="Roboto Mono"/>
                <a:ea typeface="Roboto Mono"/>
                <a:cs typeface="Roboto Mono"/>
                <a:sym typeface="Roboto Mono"/>
              </a:rPr>
              <a:t>ChatRequest</a:t>
            </a:r>
            <a:r>
              <a:rPr lang="en-US" sz="1400" b="0" i="0" u="none" strike="noStrike">
                <a:solidFill>
                  <a:srgbClr val="DCDFE4"/>
                </a:solidFill>
                <a:latin typeface="Roboto Mono"/>
                <a:ea typeface="Roboto Mono"/>
                <a:cs typeface="Roboto Mono"/>
                <a:sym typeface="Roboto Mono"/>
              </a:rPr>
              <a:t>(BaseModel):</a:t>
            </a:r>
            <a:endParaRPr lang="en-US" sz="1400" b="0" i="0" u="none" strike="noStrike">
              <a:solidFill>
                <a:srgbClr val="DCDFE4"/>
              </a:solidFill>
              <a:latin typeface="Roboto Mono"/>
              <a:ea typeface="Roboto Mono"/>
              <a:cs typeface="Roboto Mono"/>
              <a:sym typeface="Roboto Mono"/>
            </a:endParaRPr>
          </a:p>
          <a:p>
            <a:pPr indent="0" algn="l">
              <a:lnSpc>
                <a:spcPct val="125000"/>
              </a:lnSpc>
            </a:pPr>
            <a:r>
              <a:rPr lang="en-US" sz="1400" b="0" i="0" u="none" strike="noStrike">
                <a:solidFill>
                  <a:srgbClr val="DCDFE4"/>
                </a:solidFill>
                <a:latin typeface="Roboto Mono"/>
                <a:ea typeface="Roboto Mono"/>
                <a:cs typeface="Roboto Mono"/>
                <a:sym typeface="Roboto Mono"/>
              </a:rPr>
              <a:t>message:</a:t>
            </a:r>
            <a:r>
              <a:rPr lang="en-US" sz="1400" b="0" i="0" u="none" strike="noStrike">
                <a:solidFill>
                  <a:srgbClr val="E5C07B"/>
                </a:solidFill>
                <a:latin typeface="Roboto Mono"/>
                <a:ea typeface="Roboto Mono"/>
                <a:cs typeface="Roboto Mono"/>
                <a:sym typeface="Roboto Mono"/>
              </a:rPr>
              <a:t>str</a:t>
            </a:r>
            <a:endParaRPr lang="en-US" sz="1400" b="0" i="0" u="none" strike="noStrike">
              <a:solidFill>
                <a:srgbClr val="E5C07B"/>
              </a:solidFill>
              <a:latin typeface="Roboto Mono"/>
              <a:ea typeface="Roboto Mono"/>
              <a:cs typeface="Roboto Mono"/>
              <a:sym typeface="Roboto Mono"/>
            </a:endParaRPr>
          </a:p>
          <a:p>
            <a:pPr indent="0" algn="l">
              <a:lnSpc>
                <a:spcPct val="125000"/>
              </a:lnSpc>
            </a:pPr>
            <a:r>
              <a:rPr lang="en-US" sz="1400" b="0" i="0" u="none" strike="noStrike">
                <a:solidFill>
                  <a:srgbClr val="DCDFE4"/>
                </a:solidFill>
                <a:latin typeface="Roboto Mono"/>
                <a:ea typeface="Roboto Mono"/>
                <a:cs typeface="Roboto Mono"/>
                <a:sym typeface="Roboto Mono"/>
              </a:rPr>
              <a:t>history:</a:t>
            </a:r>
            <a:r>
              <a:rPr lang="en-US" sz="1400" b="0" i="0" u="none" strike="noStrike">
                <a:solidFill>
                  <a:srgbClr val="E5C07B"/>
                </a:solidFill>
                <a:latin typeface="Roboto Mono"/>
                <a:ea typeface="Roboto Mono"/>
                <a:cs typeface="Roboto Mono"/>
                <a:sym typeface="Roboto Mono"/>
              </a:rPr>
              <a:t>list</a:t>
            </a:r>
            <a:r>
              <a:rPr lang="en-US" sz="1400" b="0" i="0" u="none" strike="noStrike">
                <a:solidFill>
                  <a:srgbClr val="DCDFE4"/>
                </a:solidFill>
                <a:latin typeface="Roboto Mono"/>
                <a:ea typeface="Roboto Mono"/>
                <a:cs typeface="Roboto Mono"/>
                <a:sym typeface="Roboto Mono"/>
              </a:rPr>
              <a:t>= Body(default=[])</a:t>
            </a:r>
            <a:endParaRPr lang="en-US" sz="1400" b="0" i="0" u="none" strike="noStrike">
              <a:solidFill>
                <a:srgbClr val="DCDFE4"/>
              </a:solidFill>
              <a:latin typeface="Roboto Mono"/>
              <a:ea typeface="Roboto Mono"/>
              <a:cs typeface="Roboto Mono"/>
              <a:sym typeface="Roboto Mono"/>
            </a:endParaRPr>
          </a:p>
          <a:p>
            <a:pPr indent="0" algn="l">
              <a:lnSpc>
                <a:spcPct val="125000"/>
              </a:lnSpc>
            </a:pPr>
          </a:p>
          <a:p>
            <a:pPr indent="0" algn="l">
              <a:lnSpc>
                <a:spcPct val="125000"/>
              </a:lnSpc>
            </a:pPr>
            <a:r>
              <a:rPr lang="en-US" sz="1400" b="0" i="0" u="none" strike="noStrike">
                <a:solidFill>
                  <a:srgbClr val="5C6370"/>
                </a:solidFill>
                <a:latin typeface="Roboto Mono"/>
                <a:ea typeface="Roboto Mono"/>
                <a:cs typeface="Roboto Mono"/>
                <a:sym typeface="Roboto Mono"/>
              </a:rPr>
              <a:t># 定义聊天接口</a:t>
            </a:r>
            <a:endParaRPr lang="en-US" sz="1400" b="0" i="0" u="none" strike="noStrike">
              <a:solidFill>
                <a:srgbClr val="5C6370"/>
              </a:solidFill>
              <a:latin typeface="Roboto Mono"/>
              <a:ea typeface="Roboto Mono"/>
              <a:cs typeface="Roboto Mono"/>
              <a:sym typeface="Roboto Mono"/>
            </a:endParaRPr>
          </a:p>
          <a:p>
            <a:pPr indent="0" algn="l">
              <a:lnSpc>
                <a:spcPct val="125000"/>
              </a:lnSpc>
            </a:pPr>
            <a:r>
              <a:rPr lang="en-US" sz="1400" b="0" i="0" u="none" strike="noStrike">
                <a:solidFill>
                  <a:srgbClr val="C678DD"/>
                </a:solidFill>
                <a:latin typeface="Roboto Mono"/>
                <a:ea typeface="Roboto Mono"/>
                <a:cs typeface="Roboto Mono"/>
                <a:sym typeface="Roboto Mono"/>
              </a:rPr>
              <a:t>@app.post</a:t>
            </a:r>
            <a:r>
              <a:rPr lang="en-US" sz="1400" b="0" i="0" u="none" strike="noStrike">
                <a:solidFill>
                  <a:srgbClr val="DCDFE4"/>
                </a:solidFill>
                <a:latin typeface="Roboto Mono"/>
                <a:ea typeface="Roboto Mono"/>
                <a:cs typeface="Roboto Mono"/>
                <a:sym typeface="Roboto Mono"/>
              </a:rPr>
              <a:t>(</a:t>
            </a:r>
            <a:r>
              <a:rPr lang="en-US" sz="1400" b="0" i="0" u="none" strike="noStrike">
                <a:solidFill>
                  <a:srgbClr val="98C379"/>
                </a:solidFill>
                <a:latin typeface="Roboto Mono"/>
                <a:ea typeface="Roboto Mono"/>
                <a:cs typeface="Roboto Mono"/>
                <a:sym typeface="Roboto Mono"/>
              </a:rPr>
              <a:t>"/chat"</a:t>
            </a:r>
            <a:r>
              <a:rPr lang="en-US" sz="1400" b="0" i="0" u="none" strike="noStrike">
                <a:solidFill>
                  <a:srgbClr val="DCDFE4"/>
                </a:solidFill>
                <a:latin typeface="Roboto Mono"/>
                <a:ea typeface="Roboto Mono"/>
                <a:cs typeface="Roboto Mono"/>
                <a:sym typeface="Roboto Mono"/>
              </a:rPr>
              <a:t>)</a:t>
            </a:r>
            <a:endParaRPr lang="en-US" sz="1400" b="0" i="0" u="none" strike="noStrike">
              <a:solidFill>
                <a:srgbClr val="DCDFE4"/>
              </a:solidFill>
              <a:latin typeface="Roboto Mono"/>
              <a:ea typeface="Roboto Mono"/>
              <a:cs typeface="Roboto Mono"/>
              <a:sym typeface="Roboto Mono"/>
            </a:endParaRPr>
          </a:p>
          <a:p>
            <a:pPr indent="0" algn="l">
              <a:lnSpc>
                <a:spcPct val="125000"/>
              </a:lnSpc>
            </a:pPr>
            <a:r>
              <a:rPr lang="en-US" sz="1400" b="0" i="0" u="none" strike="noStrike">
                <a:solidFill>
                  <a:srgbClr val="C678DD"/>
                </a:solidFill>
                <a:latin typeface="Roboto Mono"/>
                <a:ea typeface="Roboto Mono"/>
                <a:cs typeface="Roboto Mono"/>
                <a:sym typeface="Roboto Mono"/>
              </a:rPr>
              <a:t>async def</a:t>
            </a:r>
            <a:r>
              <a:rPr lang="en-US" sz="1400" b="0" i="0" u="none" strike="noStrike">
                <a:solidFill>
                  <a:srgbClr val="61AFEF"/>
                </a:solidFill>
                <a:latin typeface="Roboto Mono"/>
                <a:ea typeface="Roboto Mono"/>
                <a:cs typeface="Roboto Mono"/>
                <a:sym typeface="Roboto Mono"/>
              </a:rPr>
              <a:t>chat</a:t>
            </a:r>
            <a:r>
              <a:rPr lang="en-US" sz="1400" b="0" i="0" u="none" strike="noStrike">
                <a:solidFill>
                  <a:srgbClr val="DCDFE4"/>
                </a:solidFill>
                <a:latin typeface="Roboto Mono"/>
                <a:ea typeface="Roboto Mono"/>
                <a:cs typeface="Roboto Mono"/>
                <a:sym typeface="Roboto Mono"/>
              </a:rPr>
              <a:t>(request: ChatRequest):</a:t>
            </a:r>
            <a:endParaRPr lang="en-US" sz="1400" b="0" i="0" u="none" strike="noStrike">
              <a:solidFill>
                <a:srgbClr val="DCDFE4"/>
              </a:solidFill>
              <a:latin typeface="Roboto Mono"/>
              <a:ea typeface="Roboto Mono"/>
              <a:cs typeface="Roboto Mono"/>
              <a:sym typeface="Roboto Mono"/>
            </a:endParaRPr>
          </a:p>
          <a:p>
            <a:pPr indent="0" algn="l">
              <a:lnSpc>
                <a:spcPct val="125000"/>
              </a:lnSpc>
            </a:pPr>
            <a:r>
              <a:rPr lang="en-US" sz="1400" b="0" i="0" u="none" strike="noStrike">
                <a:solidFill>
                  <a:srgbClr val="DCDFE4"/>
                </a:solidFill>
                <a:latin typeface="Roboto Mono"/>
                <a:ea typeface="Roboto Mono"/>
                <a:cs typeface="Roboto Mono"/>
                <a:sym typeface="Roboto Mono"/>
              </a:rPr>
              <a:t>response, updated_history = model.chat(tokenizer, request.message, history=request.history)</a:t>
            </a:r>
            <a:endParaRPr lang="en-US" sz="1400" b="0" i="0" u="none" strike="noStrike">
              <a:solidFill>
                <a:srgbClr val="DCDFE4"/>
              </a:solidFill>
              <a:latin typeface="Roboto Mono"/>
              <a:ea typeface="Roboto Mono"/>
              <a:cs typeface="Roboto Mono"/>
              <a:sym typeface="Roboto Mono"/>
            </a:endParaRPr>
          </a:p>
          <a:p>
            <a:pPr indent="0" algn="l">
              <a:lnSpc>
                <a:spcPct val="125000"/>
              </a:lnSpc>
            </a:pPr>
            <a:r>
              <a:rPr lang="en-US" sz="1400" b="0" i="0" u="none" strike="noStrike">
                <a:solidFill>
                  <a:srgbClr val="C678DD"/>
                </a:solidFill>
                <a:latin typeface="Roboto Mono"/>
                <a:ea typeface="Roboto Mono"/>
                <a:cs typeface="Roboto Mono"/>
                <a:sym typeface="Roboto Mono"/>
              </a:rPr>
              <a:t>return</a:t>
            </a:r>
            <a:r>
              <a:rPr lang="en-US" sz="1400" b="0" i="0" u="none" strike="noStrike">
                <a:solidFill>
                  <a:srgbClr val="DCDFE4"/>
                </a:solidFill>
                <a:latin typeface="Roboto Mono"/>
                <a:ea typeface="Roboto Mono"/>
                <a:cs typeface="Roboto Mono"/>
                <a:sym typeface="Roboto Mono"/>
              </a:rPr>
              <a:t>{</a:t>
            </a:r>
            <a:r>
              <a:rPr lang="en-US" sz="1400" b="0" i="0" u="none" strike="noStrike">
                <a:solidFill>
                  <a:srgbClr val="98C379"/>
                </a:solidFill>
                <a:latin typeface="Roboto Mono"/>
                <a:ea typeface="Roboto Mono"/>
                <a:cs typeface="Roboto Mono"/>
                <a:sym typeface="Roboto Mono"/>
              </a:rPr>
              <a:t>"response"</a:t>
            </a:r>
            <a:r>
              <a:rPr lang="en-US" sz="1400" b="0" i="0" u="none" strike="noStrike">
                <a:solidFill>
                  <a:srgbClr val="DCDFE4"/>
                </a:solidFill>
                <a:latin typeface="Roboto Mono"/>
                <a:ea typeface="Roboto Mono"/>
                <a:cs typeface="Roboto Mono"/>
                <a:sym typeface="Roboto Mono"/>
              </a:rPr>
              <a:t>: response,</a:t>
            </a:r>
            <a:r>
              <a:rPr lang="en-US" sz="1400" b="0" i="0" u="none" strike="noStrike">
                <a:solidFill>
                  <a:srgbClr val="98C379"/>
                </a:solidFill>
                <a:latin typeface="Roboto Mono"/>
                <a:ea typeface="Roboto Mono"/>
                <a:cs typeface="Roboto Mono"/>
                <a:sym typeface="Roboto Mono"/>
              </a:rPr>
              <a:t>"history"</a:t>
            </a:r>
            <a:r>
              <a:rPr lang="en-US" sz="1400" b="0" i="0" u="none" strike="noStrike">
                <a:solidFill>
                  <a:srgbClr val="DCDFE4"/>
                </a:solidFill>
                <a:latin typeface="Roboto Mono"/>
                <a:ea typeface="Roboto Mono"/>
                <a:cs typeface="Roboto Mono"/>
                <a:sym typeface="Roboto Mono"/>
              </a:rPr>
              <a:t>: updated_history}</a:t>
            </a:r>
            <a:endParaRPr lang="en-US" sz="1400" b="0" i="0" u="none" strike="noStrike">
              <a:solidFill>
                <a:srgbClr val="DCDFE4"/>
              </a:solidFill>
              <a:latin typeface="Roboto Mono"/>
              <a:ea typeface="Roboto Mono"/>
              <a:cs typeface="Roboto Mono"/>
              <a:sym typeface="Roboto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启动FastAPI服务</a:t>
            </a:r>
            <a:endParaRPr lang="en-US" sz="1100"/>
          </a:p>
        </p:txBody>
      </p:sp>
      <p:sp>
        <p:nvSpPr>
          <p:cNvPr id="3" name="AutoShape 3"/>
          <p:cNvSpPr/>
          <p:nvPr/>
        </p:nvSpPr>
        <p:spPr>
          <a:xfrm>
            <a:off x="762000" y="1397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651000"/>
            <a:ext cx="635000" cy="635000"/>
          </a:xfrm>
          <a:prstGeom prst="rect">
            <a:avLst/>
          </a:prstGeom>
        </p:spPr>
      </p:pic>
      <p:sp>
        <p:nvSpPr>
          <p:cNvPr id="5" name="AutoShape 5"/>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启动命令</a:t>
            </a:r>
            <a:endParaRPr lang="en-US" sz="1100"/>
          </a:p>
        </p:txBody>
      </p:sp>
      <p:sp>
        <p:nvSpPr>
          <p:cNvPr id="6" name="AutoShape 6"/>
          <p:cNvSpPr/>
          <p:nvPr/>
        </p:nvSpPr>
        <p:spPr>
          <a:xfrm>
            <a:off x="889000" y="2857500"/>
            <a:ext cx="304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在终端运行：</a:t>
            </a:r>
            <a:endParaRPr lang="en-US" sz="1100"/>
          </a:p>
          <a:p>
            <a:pPr indent="0" algn="ctr">
              <a:lnSpc>
                <a:spcPct val="125000"/>
              </a:lnSpc>
            </a:pPr>
            <a:r>
              <a:rPr lang="en-US" sz="1600" b="1" i="0" u="none" strike="noStrike">
                <a:solidFill>
                  <a:srgbClr val="0277BD"/>
                </a:solidFill>
                <a:latin typeface="Noto Sans SC"/>
                <a:ea typeface="Noto Sans SC"/>
                <a:cs typeface="Noto Sans SC"/>
                <a:sym typeface="Noto Sans SC"/>
              </a:rPr>
              <a:t>uvicorn main:app --reload</a:t>
            </a:r>
            <a:endParaRPr lang="en-US" sz="1600" b="1" i="0" u="none" strike="noStrike">
              <a:solidFill>
                <a:srgbClr val="0277BD"/>
              </a:solidFill>
              <a:latin typeface="Noto Sans SC"/>
              <a:ea typeface="Noto Sans SC"/>
              <a:cs typeface="Noto Sans SC"/>
              <a:sym typeface="Noto Sans SC"/>
            </a:endParaRPr>
          </a:p>
        </p:txBody>
      </p:sp>
      <p:sp>
        <p:nvSpPr>
          <p:cNvPr id="7" name="AutoShape 7"/>
          <p:cNvSpPr/>
          <p:nvPr/>
        </p:nvSpPr>
        <p:spPr>
          <a:xfrm>
            <a:off x="4445000" y="1397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651000"/>
            <a:ext cx="635000" cy="635000"/>
          </a:xfrm>
          <a:prstGeom prst="rect">
            <a:avLst/>
          </a:prstGeom>
        </p:spPr>
      </p:pic>
      <p:sp>
        <p:nvSpPr>
          <p:cNvPr id="9" name="AutoShape 9"/>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自动文档</a:t>
            </a:r>
            <a:endParaRPr lang="en-US" sz="1100"/>
          </a:p>
        </p:txBody>
      </p:sp>
      <p:sp>
        <p:nvSpPr>
          <p:cNvPr id="10" name="AutoShape 10"/>
          <p:cNvSpPr/>
          <p:nvPr/>
        </p:nvSpPr>
        <p:spPr>
          <a:xfrm>
            <a:off x="4572000" y="2857500"/>
            <a:ext cx="304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自动生成交互式文档：</a:t>
            </a:r>
            <a:endParaRPr lang="en-US" sz="1100"/>
          </a:p>
          <a:p>
            <a:pPr indent="0" algn="ctr">
              <a:lnSpc>
                <a:spcPct val="125000"/>
              </a:lnSpc>
            </a:pPr>
            <a:r>
              <a:rPr lang="en-US" sz="1600" b="1" i="0" u="none" strike="noStrike">
                <a:solidFill>
                  <a:srgbClr val="0277BD"/>
                </a:solidFill>
                <a:latin typeface="Noto Sans SC"/>
                <a:ea typeface="Noto Sans SC"/>
                <a:cs typeface="Noto Sans SC"/>
                <a:sym typeface="Noto Sans SC"/>
              </a:rPr>
              <a:t>http://localhost:8000/docs</a:t>
            </a:r>
            <a:endParaRPr lang="en-US" sz="1600" b="1" i="0" u="none" strike="noStrike">
              <a:solidFill>
                <a:srgbClr val="0277BD"/>
              </a:solidFill>
              <a:latin typeface="Noto Sans SC"/>
              <a:ea typeface="Noto Sans SC"/>
              <a:cs typeface="Noto Sans SC"/>
              <a:sym typeface="Noto Sans SC"/>
            </a:endParaRPr>
          </a:p>
        </p:txBody>
      </p:sp>
      <p:sp>
        <p:nvSpPr>
          <p:cNvPr id="11" name="AutoShape 11"/>
          <p:cNvSpPr/>
          <p:nvPr/>
        </p:nvSpPr>
        <p:spPr>
          <a:xfrm>
            <a:off x="8128000" y="1397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651000"/>
            <a:ext cx="635000" cy="635000"/>
          </a:xfrm>
          <a:prstGeom prst="rect">
            <a:avLst/>
          </a:prstGeom>
        </p:spPr>
      </p:pic>
      <p:sp>
        <p:nvSpPr>
          <p:cNvPr id="13" name="AutoShape 13"/>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77BD"/>
                </a:solidFill>
                <a:latin typeface="Noto Sans SC"/>
                <a:ea typeface="Noto Sans SC"/>
                <a:cs typeface="Noto Sans SC"/>
                <a:sym typeface="Noto Sans SC"/>
              </a:rPr>
              <a:t>功能测试</a:t>
            </a:r>
            <a:endParaRPr lang="en-US" sz="1100"/>
          </a:p>
        </p:txBody>
      </p:sp>
      <p:sp>
        <p:nvSpPr>
          <p:cNvPr id="14" name="AutoShape 14"/>
          <p:cNvSpPr/>
          <p:nvPr/>
        </p:nvSpPr>
        <p:spPr>
          <a:xfrm>
            <a:off x="8255000" y="2857500"/>
            <a:ext cx="304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无需编写前端代码，直接在文档页面测试API接口。</a:t>
            </a:r>
            <a:endParaRPr lang="en-US" sz="1100"/>
          </a:p>
        </p:txBody>
      </p:sp>
      <p:sp>
        <p:nvSpPr>
          <p:cNvPr id="15" name="AutoShape 15"/>
          <p:cNvSpPr/>
          <p:nvPr/>
        </p:nvSpPr>
        <p:spPr>
          <a:xfrm>
            <a:off x="762000" y="4826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143500"/>
            <a:ext cx="381000" cy="381000"/>
          </a:xfrm>
          <a:prstGeom prst="rect">
            <a:avLst/>
          </a:prstGeom>
        </p:spPr>
      </p:pic>
      <p:sp>
        <p:nvSpPr>
          <p:cNvPr id="17" name="AutoShape 17"/>
          <p:cNvSpPr/>
          <p:nvPr/>
        </p:nvSpPr>
        <p:spPr>
          <a:xfrm>
            <a:off x="1524000" y="5016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提示：main 是你的 Python 文件名，app 是 FastAPI 实例名。启动后，访问上述文档地址即可看到接口详情。</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FastAPI接口测试</a:t>
            </a:r>
            <a:endParaRPr lang="en-US" sz="1100"/>
          </a:p>
        </p:txBody>
      </p:sp>
      <p:sp>
        <p:nvSpPr>
          <p:cNvPr id="3" name="AutoShape 3"/>
          <p:cNvSpPr/>
          <p:nvPr/>
        </p:nvSpPr>
        <p:spPr>
          <a:xfrm>
            <a:off x="762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使用 curl 测试接口</a:t>
            </a:r>
            <a:endParaRPr lang="en-US" sz="1100"/>
          </a:p>
        </p:txBody>
      </p:sp>
      <p:sp>
        <p:nvSpPr>
          <p:cNvPr id="6" name="AutoShape 6"/>
          <p:cNvSpPr/>
          <p:nvPr/>
        </p:nvSpPr>
        <p:spPr>
          <a:xfrm>
            <a:off x="1016000" y="2095500"/>
            <a:ext cx="4572000" cy="2032000"/>
          </a:xfrm>
          <a:prstGeom prst="roundRect">
            <a:avLst>
              <a:gd name="adj" fmla="val 3125"/>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43000" y="2222500"/>
            <a:ext cx="4318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Noto Sans SC"/>
                <a:ea typeface="Noto Sans SC"/>
                <a:cs typeface="Noto Sans SC"/>
                <a:sym typeface="Noto Sans SC"/>
              </a:rPr>
              <a:t>curl -X POST "http://localhost:8000/chat" \</a:t>
            </a:r>
            <a:endParaRPr lang="en-US" sz="1100"/>
          </a:p>
          <a:p>
            <a:pPr indent="0" algn="l">
              <a:lnSpc>
                <a:spcPct val="100000"/>
              </a:lnSpc>
            </a:pPr>
            <a:r>
              <a:rPr lang="en-US" sz="1400" b="0" i="0" u="none" strike="noStrike">
                <a:solidFill>
                  <a:srgbClr val="757575"/>
                </a:solidFill>
                <a:latin typeface="Noto Sans SC"/>
                <a:ea typeface="Noto Sans SC"/>
                <a:cs typeface="Noto Sans SC"/>
                <a:sym typeface="Noto Sans SC"/>
              </a:rPr>
              <a:t>-H "Content-Type: application/json" \</a:t>
            </a:r>
            <a:endParaRPr lang="en-US" sz="1400" b="0" i="0" u="none" strike="noStrike">
              <a:solidFill>
                <a:srgbClr val="757575"/>
              </a:solidFill>
              <a:latin typeface="Noto Sans SC"/>
              <a:ea typeface="Noto Sans SC"/>
              <a:cs typeface="Noto Sans SC"/>
              <a:sym typeface="Noto Sans SC"/>
            </a:endParaRPr>
          </a:p>
          <a:p>
            <a:pPr indent="0" algn="l">
              <a:lnSpc>
                <a:spcPct val="100000"/>
              </a:lnSpc>
            </a:pPr>
            <a:r>
              <a:rPr lang="en-US" sz="1400" b="0" i="0" u="none" strike="noStrike">
                <a:solidFill>
                  <a:srgbClr val="757575"/>
                </a:solidFill>
                <a:latin typeface="Noto Sans SC"/>
                <a:ea typeface="Noto Sans SC"/>
                <a:cs typeface="Noto Sans SC"/>
                <a:sym typeface="Noto Sans SC"/>
              </a:rPr>
              <a:t>-d '{"message": "你好", "history": []}'</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6350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304800" cy="304800"/>
          </a:xfrm>
          <a:prstGeom prst="rect">
            <a:avLst/>
          </a:prstGeom>
        </p:spPr>
      </p:pic>
      <p:sp>
        <p:nvSpPr>
          <p:cNvPr id="10" name="AutoShape 10"/>
          <p:cNvSpPr/>
          <p:nvPr/>
        </p:nvSpPr>
        <p:spPr>
          <a:xfrm>
            <a:off x="6985000" y="1600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服务器响应示例</a:t>
            </a:r>
            <a:endParaRPr lang="en-US" sz="1100"/>
          </a:p>
        </p:txBody>
      </p:sp>
      <p:sp>
        <p:nvSpPr>
          <p:cNvPr id="11" name="AutoShape 11"/>
          <p:cNvSpPr/>
          <p:nvPr/>
        </p:nvSpPr>
        <p:spPr>
          <a:xfrm>
            <a:off x="6604000" y="2095500"/>
            <a:ext cx="4572000" cy="2032000"/>
          </a:xfrm>
          <a:prstGeom prst="roundRect">
            <a:avLst>
              <a:gd name="adj" fmla="val 3125"/>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731000" y="2222500"/>
            <a:ext cx="4318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Noto Sans SC"/>
                <a:ea typeface="Noto Sans SC"/>
                <a:cs typeface="Noto Sans SC"/>
                <a:sym typeface="Noto Sans SC"/>
              </a:rPr>
              <a:t>{</a:t>
            </a:r>
            <a:endParaRPr lang="en-US" sz="1100"/>
          </a:p>
          <a:p>
            <a:pPr indent="0" algn="l">
              <a:lnSpc>
                <a:spcPct val="100000"/>
              </a:lnSpc>
            </a:pPr>
            <a:r>
              <a:rPr lang="en-US" sz="1400" b="0" i="0" u="none" strike="noStrike">
                <a:solidFill>
                  <a:srgbClr val="757575"/>
                </a:solidFill>
                <a:latin typeface="Noto Sans SC"/>
                <a:ea typeface="Noto Sans SC"/>
                <a:cs typeface="Noto Sans SC"/>
                <a:sym typeface="Noto Sans SC"/>
              </a:rPr>
              <a:t>"response": "你好！我是ChatGLM3-6B...",</a:t>
            </a:r>
            <a:endParaRPr lang="en-US" sz="1400" b="0" i="0" u="none" strike="noStrike">
              <a:solidFill>
                <a:srgbClr val="757575"/>
              </a:solidFill>
              <a:latin typeface="Noto Sans SC"/>
              <a:ea typeface="Noto Sans SC"/>
              <a:cs typeface="Noto Sans SC"/>
              <a:sym typeface="Noto Sans SC"/>
            </a:endParaRPr>
          </a:p>
          <a:p>
            <a:pPr indent="0" algn="l">
              <a:lnSpc>
                <a:spcPct val="100000"/>
              </a:lnSpc>
            </a:pPr>
            <a:r>
              <a:rPr lang="en-US" sz="1400" b="0" i="0" u="none" strike="noStrike">
                <a:solidFill>
                  <a:srgbClr val="757575"/>
                </a:solidFill>
                <a:latin typeface="Noto Sans SC"/>
                <a:ea typeface="Noto Sans SC"/>
                <a:cs typeface="Noto Sans SC"/>
                <a:sym typeface="Noto Sans SC"/>
              </a:rPr>
              <a:t>"history": [["你好", "你好！我是..."]]</a:t>
            </a:r>
            <a:endParaRPr lang="en-US" sz="1400" b="0" i="0" u="none" strike="noStrike">
              <a:solidFill>
                <a:srgbClr val="757575"/>
              </a:solidFill>
              <a:latin typeface="Noto Sans SC"/>
              <a:ea typeface="Noto Sans SC"/>
              <a:cs typeface="Noto Sans SC"/>
              <a:sym typeface="Noto Sans SC"/>
            </a:endParaRPr>
          </a:p>
          <a:p>
            <a:pPr indent="0" algn="l">
              <a:lnSpc>
                <a:spcPct val="100000"/>
              </a:lnSpc>
            </a:pPr>
            <a:r>
              <a:rPr lang="en-US" sz="1400" b="0" i="0" u="none" strike="noStrike">
                <a:solidFill>
                  <a:srgbClr val="757575"/>
                </a:solidFill>
                <a:latin typeface="Noto Sans SC"/>
                <a:ea typeface="Noto Sans SC"/>
                <a:cs typeface="Noto Sans SC"/>
                <a:sym typeface="Noto Sans SC"/>
              </a:rPr>
              <a:t>}</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762000" y="4699000"/>
            <a:ext cx="10668000" cy="1016000"/>
          </a:xfrm>
          <a:prstGeom prst="roundRect">
            <a:avLst>
              <a:gd name="adj" fmla="val 12500"/>
            </a:avLst>
          </a:prstGeom>
          <a:solidFill>
            <a:srgbClr val="FFFFFF">
              <a:alpha val="60000"/>
            </a:srgbClr>
          </a:solidFill>
          <a:ln w="12700" cap="flat" cmpd="sng">
            <a:solidFill>
              <a:srgbClr val="0277BD">
                <a:alpha val="100000"/>
              </a:srgbClr>
            </a:solidFill>
            <a:prstDash val="dash"/>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29200"/>
            <a:ext cx="355600" cy="355600"/>
          </a:xfrm>
          <a:prstGeom prst="rect">
            <a:avLst/>
          </a:prstGeom>
        </p:spPr>
      </p:pic>
      <p:sp>
        <p:nvSpPr>
          <p:cNvPr id="15" name="AutoShape 15"/>
          <p:cNvSpPr/>
          <p:nvPr/>
        </p:nvSpPr>
        <p:spPr>
          <a:xfrm>
            <a:off x="1524000" y="4889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其他测试工具：</a:t>
            </a:r>
            <a:r>
              <a:rPr lang="en-US" sz="1800" b="0" i="0" u="none" strike="noStrike">
                <a:solidFill>
                  <a:srgbClr val="757575"/>
                </a:solidFill>
                <a:latin typeface="Noto Sans SC"/>
                <a:ea typeface="Noto Sans SC"/>
                <a:cs typeface="Noto Sans SC"/>
                <a:sym typeface="Noto Sans SC"/>
              </a:rPr>
              <a:t>除了使用curl命令行工具，也可以使用</a:t>
            </a:r>
            <a:r>
              <a:rPr lang="en-US" sz="1800" b="1" i="0" u="none" strike="noStrike">
                <a:solidFill>
                  <a:srgbClr val="0277BD"/>
                </a:solidFill>
                <a:latin typeface="Noto Sans SC"/>
                <a:ea typeface="Noto Sans SC"/>
                <a:cs typeface="Noto Sans SC"/>
                <a:sym typeface="Noto Sans SC"/>
              </a:rPr>
              <a:t>Postman</a:t>
            </a:r>
            <a:r>
              <a:rPr lang="en-US" sz="1800" b="0" i="0" u="none" strike="noStrike">
                <a:solidFill>
                  <a:srgbClr val="757575"/>
                </a:solidFill>
                <a:latin typeface="Noto Sans SC"/>
                <a:ea typeface="Noto Sans SC"/>
                <a:cs typeface="Noto Sans SC"/>
                <a:sym typeface="Noto Sans SC"/>
              </a:rPr>
              <a:t>或</a:t>
            </a:r>
            <a:r>
              <a:rPr lang="en-US" sz="1800" b="1" i="0" u="none" strike="noStrike">
                <a:solidFill>
                  <a:srgbClr val="0277BD"/>
                </a:solidFill>
                <a:latin typeface="Noto Sans SC"/>
                <a:ea typeface="Noto Sans SC"/>
                <a:cs typeface="Noto Sans SC"/>
                <a:sym typeface="Noto Sans SC"/>
              </a:rPr>
              <a:t>FastAPI自动生成的文档页面</a:t>
            </a:r>
            <a:r>
              <a:rPr lang="en-US" sz="1800" b="0" i="0" u="none" strike="noStrike">
                <a:solidFill>
                  <a:srgbClr val="757575"/>
                </a:solidFill>
                <a:latin typeface="Noto Sans SC"/>
                <a:ea typeface="Noto Sans SC"/>
                <a:cs typeface="Noto Sans SC"/>
                <a:sym typeface="Noto Sans SC"/>
              </a:rPr>
              <a:t>发送POST请求进行测试。</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三种部署方式对比</a:t>
            </a:r>
            <a:endParaRPr lang="en-US" sz="1100"/>
          </a:p>
        </p:txBody>
      </p:sp>
      <p:sp>
        <p:nvSpPr>
          <p:cNvPr id="3" name="AutoShape 3"/>
          <p:cNvSpPr/>
          <p:nvPr/>
        </p:nvSpPr>
        <p:spPr>
          <a:xfrm>
            <a:off x="762000" y="1397000"/>
            <a:ext cx="3302000" cy="3683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3302000" cy="609600"/>
          </a:xfrm>
          <a:prstGeom prst="roundRect">
            <a:avLst>
              <a:gd name="adj" fmla="val 20833"/>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498600"/>
            <a:ext cx="304800" cy="304800"/>
          </a:xfrm>
          <a:prstGeom prst="rect">
            <a:avLst/>
          </a:prstGeom>
        </p:spPr>
      </p:pic>
      <p:sp>
        <p:nvSpPr>
          <p:cNvPr id="6" name="AutoShape 6"/>
          <p:cNvSpPr/>
          <p:nvPr/>
        </p:nvSpPr>
        <p:spPr>
          <a:xfrm>
            <a:off x="1333500" y="14478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Gradio</a:t>
            </a:r>
            <a:endParaRPr lang="en-US" sz="1100"/>
          </a:p>
        </p:txBody>
      </p:sp>
      <p:sp>
        <p:nvSpPr>
          <p:cNvPr id="7" name="AutoShape 7"/>
          <p:cNvSpPr/>
          <p:nvPr/>
        </p:nvSpPr>
        <p:spPr>
          <a:xfrm>
            <a:off x="952500" y="2159000"/>
            <a:ext cx="2921000" cy="266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开发速度：</a:t>
            </a:r>
            <a:r>
              <a:rPr lang="en-US" sz="1600" b="0" i="0" u="none" strike="noStrike">
                <a:solidFill>
                  <a:srgbClr val="757575"/>
                </a:solidFill>
                <a:latin typeface="Noto Sans SC"/>
                <a:ea typeface="Noto Sans SC"/>
                <a:cs typeface="Noto Sans SC"/>
                <a:sym typeface="Noto Sans SC"/>
              </a:rPr>
              <a:t>极快，几行代码生成UI</a:t>
            </a:r>
            <a:endParaRPr lang="en-US" sz="1100"/>
          </a:p>
          <a:p>
            <a:pPr indent="0" algn="l">
              <a:lnSpc>
                <a:spcPct val="108000"/>
              </a:lnSpc>
            </a:pPr>
            <a:r>
              <a:rPr lang="en-US" sz="1600" b="1" i="0" u="none" strike="noStrike">
                <a:solidFill>
                  <a:srgbClr val="0277BD"/>
                </a:solidFill>
                <a:latin typeface="Noto Sans SC"/>
                <a:ea typeface="Noto Sans SC"/>
                <a:cs typeface="Noto Sans SC"/>
                <a:sym typeface="Noto Sans SC"/>
              </a:rPr>
              <a:t>UI美观度：</a:t>
            </a:r>
            <a:r>
              <a:rPr lang="en-US" sz="1600" b="0" i="0" u="none" strike="noStrike">
                <a:solidFill>
                  <a:srgbClr val="757575"/>
                </a:solidFill>
                <a:latin typeface="Noto Sans SC"/>
                <a:ea typeface="Noto Sans SC"/>
                <a:cs typeface="Noto Sans SC"/>
                <a:sym typeface="Noto Sans SC"/>
              </a:rPr>
              <a:t>简洁实用，适合快速原型验证</a:t>
            </a:r>
            <a:endParaRPr lang="en-US" sz="1600" b="0" i="0" u="none" strike="noStrike">
              <a:solidFill>
                <a:srgbClr val="757575"/>
              </a:solidFill>
              <a:latin typeface="Noto Sans SC"/>
              <a:ea typeface="Noto Sans SC"/>
              <a:cs typeface="Noto Sans SC"/>
              <a:sym typeface="Noto Sans SC"/>
            </a:endParaRPr>
          </a:p>
          <a:p>
            <a:pPr indent="0" algn="l">
              <a:lnSpc>
                <a:spcPct val="108000"/>
              </a:lnSpc>
            </a:pPr>
            <a:r>
              <a:rPr lang="en-US" sz="1600" b="1" i="0" u="none" strike="noStrike">
                <a:solidFill>
                  <a:srgbClr val="0277BD"/>
                </a:solidFill>
                <a:latin typeface="Noto Sans SC"/>
                <a:ea typeface="Noto Sans SC"/>
                <a:cs typeface="Noto Sans SC"/>
                <a:sym typeface="Noto Sans SC"/>
              </a:rPr>
              <a:t>灵活性：</a:t>
            </a:r>
            <a:r>
              <a:rPr lang="en-US" sz="1600" b="0" i="0" u="none" strike="noStrike">
                <a:solidFill>
                  <a:srgbClr val="757575"/>
                </a:solidFill>
                <a:latin typeface="Noto Sans SC"/>
                <a:ea typeface="Noto Sans SC"/>
                <a:cs typeface="Noto Sans SC"/>
                <a:sym typeface="Noto Sans SC"/>
              </a:rPr>
              <a:t>较低，受限于组件功能</a:t>
            </a:r>
            <a:endParaRPr lang="en-US" sz="1600" b="0" i="0" u="none" strike="noStrike">
              <a:solidFill>
                <a:srgbClr val="757575"/>
              </a:solidFill>
              <a:latin typeface="Noto Sans SC"/>
              <a:ea typeface="Noto Sans SC"/>
              <a:cs typeface="Noto Sans SC"/>
              <a:sym typeface="Noto Sans SC"/>
            </a:endParaRPr>
          </a:p>
          <a:p>
            <a:pPr indent="0" algn="l">
              <a:lnSpc>
                <a:spcPct val="108000"/>
              </a:lnSpc>
            </a:pPr>
            <a:r>
              <a:rPr lang="en-US" sz="1600" b="1" i="0" u="none" strike="noStrike">
                <a:solidFill>
                  <a:srgbClr val="0277BD"/>
                </a:solidFill>
                <a:latin typeface="Noto Sans SC"/>
                <a:ea typeface="Noto Sans SC"/>
                <a:cs typeface="Noto Sans SC"/>
                <a:sym typeface="Noto Sans SC"/>
              </a:rPr>
              <a:t>适用场景：</a:t>
            </a:r>
            <a:r>
              <a:rPr lang="en-US" sz="1600" b="0" i="0" u="none" strike="noStrike">
                <a:solidFill>
                  <a:srgbClr val="757575"/>
                </a:solidFill>
                <a:latin typeface="Noto Sans SC"/>
                <a:ea typeface="Noto Sans SC"/>
                <a:cs typeface="Noto Sans SC"/>
                <a:sym typeface="Noto Sans SC"/>
              </a:rPr>
              <a:t>快速原型验证、内部工具、演示展示</a:t>
            </a:r>
            <a:endParaRPr lang="en-US" sz="16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4445000" y="1397000"/>
            <a:ext cx="3302000" cy="3683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4445000" y="1397000"/>
            <a:ext cx="3302000" cy="609600"/>
          </a:xfrm>
          <a:prstGeom prst="roundRect">
            <a:avLst>
              <a:gd name="adj" fmla="val 20833"/>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498600"/>
            <a:ext cx="304800" cy="304800"/>
          </a:xfrm>
          <a:prstGeom prst="rect">
            <a:avLst/>
          </a:prstGeom>
        </p:spPr>
      </p:pic>
      <p:sp>
        <p:nvSpPr>
          <p:cNvPr id="11" name="AutoShape 11"/>
          <p:cNvSpPr/>
          <p:nvPr/>
        </p:nvSpPr>
        <p:spPr>
          <a:xfrm>
            <a:off x="5016500" y="14478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Streamlit</a:t>
            </a:r>
            <a:endParaRPr lang="en-US" sz="1100"/>
          </a:p>
        </p:txBody>
      </p:sp>
      <p:sp>
        <p:nvSpPr>
          <p:cNvPr id="12" name="AutoShape 12"/>
          <p:cNvSpPr/>
          <p:nvPr/>
        </p:nvSpPr>
        <p:spPr>
          <a:xfrm>
            <a:off x="4635500" y="2159000"/>
            <a:ext cx="2921000" cy="266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开发速度：</a:t>
            </a:r>
            <a:r>
              <a:rPr lang="en-US" sz="1600" b="0" i="0" u="none" strike="noStrike">
                <a:solidFill>
                  <a:srgbClr val="757575"/>
                </a:solidFill>
                <a:latin typeface="Noto Sans SC"/>
                <a:ea typeface="Noto Sans SC"/>
                <a:cs typeface="Noto Sans SC"/>
                <a:sym typeface="Noto Sans SC"/>
              </a:rPr>
              <a:t>快，代码简洁易读</a:t>
            </a:r>
            <a:endParaRPr lang="en-US" sz="1100"/>
          </a:p>
          <a:p>
            <a:pPr indent="0" algn="l">
              <a:lnSpc>
                <a:spcPct val="108000"/>
              </a:lnSpc>
            </a:pPr>
            <a:r>
              <a:rPr lang="en-US" sz="1600" b="1" i="0" u="none" strike="noStrike">
                <a:solidFill>
                  <a:srgbClr val="0277BD"/>
                </a:solidFill>
                <a:latin typeface="Noto Sans SC"/>
                <a:ea typeface="Noto Sans SC"/>
                <a:cs typeface="Noto Sans SC"/>
                <a:sym typeface="Noto Sans SC"/>
              </a:rPr>
              <a:t>UI美观度：</a:t>
            </a:r>
            <a:r>
              <a:rPr lang="en-US" sz="1600" b="0" i="0" u="none" strike="noStrike">
                <a:solidFill>
                  <a:srgbClr val="757575"/>
                </a:solidFill>
                <a:latin typeface="Noto Sans SC"/>
                <a:ea typeface="Noto Sans SC"/>
                <a:cs typeface="Noto Sans SC"/>
                <a:sym typeface="Noto Sans SC"/>
              </a:rPr>
              <a:t>现代美观，适合数据应用展示</a:t>
            </a:r>
            <a:endParaRPr lang="en-US" sz="1600" b="0" i="0" u="none" strike="noStrike">
              <a:solidFill>
                <a:srgbClr val="757575"/>
              </a:solidFill>
              <a:latin typeface="Noto Sans SC"/>
              <a:ea typeface="Noto Sans SC"/>
              <a:cs typeface="Noto Sans SC"/>
              <a:sym typeface="Noto Sans SC"/>
            </a:endParaRPr>
          </a:p>
          <a:p>
            <a:pPr indent="0" algn="l">
              <a:lnSpc>
                <a:spcPct val="108000"/>
              </a:lnSpc>
            </a:pPr>
            <a:r>
              <a:rPr lang="en-US" sz="1600" b="1" i="0" u="none" strike="noStrike">
                <a:solidFill>
                  <a:srgbClr val="0277BD"/>
                </a:solidFill>
                <a:latin typeface="Noto Sans SC"/>
                <a:ea typeface="Noto Sans SC"/>
                <a:cs typeface="Noto Sans SC"/>
                <a:sym typeface="Noto Sans SC"/>
              </a:rPr>
              <a:t>灵活性：</a:t>
            </a:r>
            <a:r>
              <a:rPr lang="en-US" sz="1600" b="0" i="0" u="none" strike="noStrike">
                <a:solidFill>
                  <a:srgbClr val="757575"/>
                </a:solidFill>
                <a:latin typeface="Noto Sans SC"/>
                <a:ea typeface="Noto Sans SC"/>
                <a:cs typeface="Noto Sans SC"/>
                <a:sym typeface="Noto Sans SC"/>
              </a:rPr>
              <a:t>较高，组件丰富，布局灵活</a:t>
            </a:r>
            <a:endParaRPr lang="en-US" sz="1600" b="0" i="0" u="none" strike="noStrike">
              <a:solidFill>
                <a:srgbClr val="757575"/>
              </a:solidFill>
              <a:latin typeface="Noto Sans SC"/>
              <a:ea typeface="Noto Sans SC"/>
              <a:cs typeface="Noto Sans SC"/>
              <a:sym typeface="Noto Sans SC"/>
            </a:endParaRPr>
          </a:p>
          <a:p>
            <a:pPr indent="0" algn="l">
              <a:lnSpc>
                <a:spcPct val="108000"/>
              </a:lnSpc>
            </a:pPr>
            <a:r>
              <a:rPr lang="en-US" sz="1600" b="1" i="0" u="none" strike="noStrike">
                <a:solidFill>
                  <a:srgbClr val="0277BD"/>
                </a:solidFill>
                <a:latin typeface="Noto Sans SC"/>
                <a:ea typeface="Noto Sans SC"/>
                <a:cs typeface="Noto Sans SC"/>
                <a:sym typeface="Noto Sans SC"/>
              </a:rPr>
              <a:t>适用场景：</a:t>
            </a:r>
            <a:r>
              <a:rPr lang="en-US" sz="1600" b="0" i="0" u="none" strike="noStrike">
                <a:solidFill>
                  <a:srgbClr val="757575"/>
                </a:solidFill>
                <a:latin typeface="Noto Sans SC"/>
                <a:ea typeface="Noto Sans SC"/>
                <a:cs typeface="Noto Sans SC"/>
                <a:sym typeface="Noto Sans SC"/>
              </a:rPr>
              <a:t>数据可视化、交互式数据分析、产品展示</a:t>
            </a:r>
            <a:endParaRPr lang="en-US" sz="16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8128000" y="1397000"/>
            <a:ext cx="3302000" cy="3683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8128000" y="1397000"/>
            <a:ext cx="3302000" cy="609600"/>
          </a:xfrm>
          <a:prstGeom prst="roundRect">
            <a:avLst>
              <a:gd name="adj" fmla="val 20833"/>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498600"/>
            <a:ext cx="304800" cy="304800"/>
          </a:xfrm>
          <a:prstGeom prst="rect">
            <a:avLst/>
          </a:prstGeom>
        </p:spPr>
      </p:pic>
      <p:sp>
        <p:nvSpPr>
          <p:cNvPr id="16" name="AutoShape 16"/>
          <p:cNvSpPr/>
          <p:nvPr/>
        </p:nvSpPr>
        <p:spPr>
          <a:xfrm>
            <a:off x="8699500" y="1447800"/>
            <a:ext cx="254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FastAPI</a:t>
            </a:r>
            <a:endParaRPr lang="en-US" sz="1100"/>
          </a:p>
        </p:txBody>
      </p:sp>
      <p:sp>
        <p:nvSpPr>
          <p:cNvPr id="17" name="AutoShape 17"/>
          <p:cNvSpPr/>
          <p:nvPr/>
        </p:nvSpPr>
        <p:spPr>
          <a:xfrm>
            <a:off x="8318500" y="2159000"/>
            <a:ext cx="2921000" cy="266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277BD"/>
                </a:solidFill>
                <a:latin typeface="Noto Sans SC"/>
                <a:ea typeface="Noto Sans SC"/>
                <a:cs typeface="Noto Sans SC"/>
                <a:sym typeface="Noto Sans SC"/>
              </a:rPr>
              <a:t>开发速度：</a:t>
            </a:r>
            <a:r>
              <a:rPr lang="en-US" sz="1600" b="0" i="0" u="none" strike="noStrike">
                <a:solidFill>
                  <a:srgbClr val="757575"/>
                </a:solidFill>
                <a:latin typeface="Noto Sans SC"/>
                <a:ea typeface="Noto Sans SC"/>
                <a:cs typeface="Noto Sans SC"/>
                <a:sym typeface="Noto Sans SC"/>
              </a:rPr>
              <a:t>中等，需定义接口和数据模型</a:t>
            </a:r>
            <a:endParaRPr lang="en-US" sz="1100"/>
          </a:p>
          <a:p>
            <a:pPr indent="0" algn="l">
              <a:lnSpc>
                <a:spcPct val="108000"/>
              </a:lnSpc>
            </a:pPr>
            <a:r>
              <a:rPr lang="en-US" sz="1600" b="1" i="0" u="none" strike="noStrike">
                <a:solidFill>
                  <a:srgbClr val="0277BD"/>
                </a:solidFill>
                <a:latin typeface="Noto Sans SC"/>
                <a:ea typeface="Noto Sans SC"/>
                <a:cs typeface="Noto Sans SC"/>
                <a:sym typeface="Noto Sans SC"/>
              </a:rPr>
              <a:t>UI美观度：</a:t>
            </a:r>
            <a:r>
              <a:rPr lang="en-US" sz="1600" b="0" i="0" u="none" strike="noStrike">
                <a:solidFill>
                  <a:srgbClr val="757575"/>
                </a:solidFill>
                <a:latin typeface="Noto Sans SC"/>
                <a:ea typeface="Noto Sans SC"/>
                <a:cs typeface="Noto Sans SC"/>
                <a:sym typeface="Noto Sans SC"/>
              </a:rPr>
              <a:t>无UI，仅提供API接口</a:t>
            </a:r>
            <a:endParaRPr lang="en-US" sz="1600" b="0" i="0" u="none" strike="noStrike">
              <a:solidFill>
                <a:srgbClr val="757575"/>
              </a:solidFill>
              <a:latin typeface="Noto Sans SC"/>
              <a:ea typeface="Noto Sans SC"/>
              <a:cs typeface="Noto Sans SC"/>
              <a:sym typeface="Noto Sans SC"/>
            </a:endParaRPr>
          </a:p>
          <a:p>
            <a:pPr indent="0" algn="l">
              <a:lnSpc>
                <a:spcPct val="108000"/>
              </a:lnSpc>
            </a:pPr>
            <a:r>
              <a:rPr lang="en-US" sz="1600" b="1" i="0" u="none" strike="noStrike">
                <a:solidFill>
                  <a:srgbClr val="0277BD"/>
                </a:solidFill>
                <a:latin typeface="Noto Sans SC"/>
                <a:ea typeface="Noto Sans SC"/>
                <a:cs typeface="Noto Sans SC"/>
                <a:sym typeface="Noto Sans SC"/>
              </a:rPr>
              <a:t>灵活性：</a:t>
            </a:r>
            <a:r>
              <a:rPr lang="en-US" sz="1600" b="0" i="0" u="none" strike="noStrike">
                <a:solidFill>
                  <a:srgbClr val="757575"/>
                </a:solidFill>
                <a:latin typeface="Noto Sans SC"/>
                <a:ea typeface="Noto Sans SC"/>
                <a:cs typeface="Noto Sans SC"/>
                <a:sym typeface="Noto Sans SC"/>
              </a:rPr>
              <a:t>极高，完全自定义接口和业务逻辑</a:t>
            </a:r>
            <a:endParaRPr lang="en-US" sz="1600" b="0" i="0" u="none" strike="noStrike">
              <a:solidFill>
                <a:srgbClr val="757575"/>
              </a:solidFill>
              <a:latin typeface="Noto Sans SC"/>
              <a:ea typeface="Noto Sans SC"/>
              <a:cs typeface="Noto Sans SC"/>
              <a:sym typeface="Noto Sans SC"/>
            </a:endParaRPr>
          </a:p>
          <a:p>
            <a:pPr indent="0" algn="l">
              <a:lnSpc>
                <a:spcPct val="108000"/>
              </a:lnSpc>
            </a:pPr>
            <a:r>
              <a:rPr lang="en-US" sz="1600" b="1" i="0" u="none" strike="noStrike">
                <a:solidFill>
                  <a:srgbClr val="0277BD"/>
                </a:solidFill>
                <a:latin typeface="Noto Sans SC"/>
                <a:ea typeface="Noto Sans SC"/>
                <a:cs typeface="Noto Sans SC"/>
                <a:sym typeface="Noto Sans SC"/>
              </a:rPr>
              <a:t>适用场景：</a:t>
            </a:r>
            <a:r>
              <a:rPr lang="en-US" sz="1600" b="0" i="0" u="none" strike="noStrike">
                <a:solidFill>
                  <a:srgbClr val="757575"/>
                </a:solidFill>
                <a:latin typeface="Noto Sans SC"/>
                <a:ea typeface="Noto Sans SC"/>
                <a:cs typeface="Noto Sans SC"/>
                <a:sym typeface="Noto Sans SC"/>
              </a:rPr>
              <a:t>后端服务、第三方集成、大规模应用部署</a:t>
            </a:r>
            <a:endParaRPr lang="en-US" sz="16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762000" y="5334000"/>
            <a:ext cx="10668000" cy="762000"/>
          </a:xfrm>
          <a:prstGeom prst="roundRect">
            <a:avLst>
              <a:gd name="adj" fmla="val 16666"/>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37200"/>
            <a:ext cx="355600" cy="355600"/>
          </a:xfrm>
          <a:prstGeom prst="rect">
            <a:avLst/>
          </a:prstGeom>
        </p:spPr>
      </p:pic>
      <p:sp>
        <p:nvSpPr>
          <p:cNvPr id="20" name="AutoShape 20"/>
          <p:cNvSpPr/>
          <p:nvPr/>
        </p:nvSpPr>
        <p:spPr>
          <a:xfrm>
            <a:off x="1524000" y="5435600"/>
            <a:ext cx="965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总结：</a:t>
            </a:r>
            <a:r>
              <a:rPr lang="en-US" sz="1600" b="0" i="0" u="none" strike="noStrike">
                <a:solidFill>
                  <a:srgbClr val="757575"/>
                </a:solidFill>
                <a:latin typeface="Noto Sans SC"/>
                <a:ea typeface="Noto Sans SC"/>
                <a:cs typeface="Noto Sans SC"/>
                <a:sym typeface="Noto Sans SC"/>
              </a:rPr>
              <a:t>根据项目需求选择工具：追求极致开发速度选 Gradio；注重数据可视化展示选 Streamlit；构建高性能后端服务选 FastAPI。</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部署总结与最佳实践</a:t>
            </a:r>
            <a:endParaRPr lang="en-US" sz="1100"/>
          </a:p>
        </p:txBody>
      </p:sp>
      <p:sp>
        <p:nvSpPr>
          <p:cNvPr id="3" name="AutoShape 3"/>
          <p:cNvSpPr/>
          <p:nvPr/>
        </p:nvSpPr>
        <p:spPr>
          <a:xfrm>
            <a:off x="762000" y="1397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模型选择</a:t>
            </a:r>
            <a:endParaRPr lang="en-US" sz="1100"/>
          </a:p>
        </p:txBody>
      </p:sp>
      <p:sp>
        <p:nvSpPr>
          <p:cNvPr id="6" name="AutoShape 6"/>
          <p:cNvSpPr/>
          <p:nvPr/>
        </p:nvSpPr>
        <p:spPr>
          <a:xfrm>
            <a:off x="1016000" y="2159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根据硬件资源和性能需求，选择合适的模型大小和量化策略。</a:t>
            </a:r>
            <a:endParaRPr lang="en-US" sz="1100"/>
          </a:p>
        </p:txBody>
      </p:sp>
      <p:sp>
        <p:nvSpPr>
          <p:cNvPr id="7" name="AutoShape 7"/>
          <p:cNvSpPr/>
          <p:nvPr/>
        </p:nvSpPr>
        <p:spPr>
          <a:xfrm>
            <a:off x="4445000" y="1397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框架选择</a:t>
            </a:r>
            <a:endParaRPr lang="en-US" sz="1100"/>
          </a:p>
        </p:txBody>
      </p:sp>
      <p:sp>
        <p:nvSpPr>
          <p:cNvPr id="10" name="AutoShape 10"/>
          <p:cNvSpPr/>
          <p:nvPr/>
        </p:nvSpPr>
        <p:spPr>
          <a:xfrm>
            <a:off x="4699000" y="2159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根据项目需求（快速原型、产品展示等）选择Gradio、Streamlit或FastAPI。</a:t>
            </a:r>
            <a:endParaRPr lang="en-US" sz="1100"/>
          </a:p>
        </p:txBody>
      </p:sp>
      <p:sp>
        <p:nvSpPr>
          <p:cNvPr id="11" name="AutoShape 11"/>
          <p:cNvSpPr/>
          <p:nvPr/>
        </p:nvSpPr>
        <p:spPr>
          <a:xfrm>
            <a:off x="8128000" y="1397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环境配置</a:t>
            </a:r>
            <a:endParaRPr lang="en-US" sz="1100"/>
          </a:p>
        </p:txBody>
      </p:sp>
      <p:sp>
        <p:nvSpPr>
          <p:cNvPr id="14" name="AutoShape 14"/>
          <p:cNvSpPr/>
          <p:nvPr/>
        </p:nvSpPr>
        <p:spPr>
          <a:xfrm>
            <a:off x="8382000" y="2159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确保生产环境的依赖库版本与开发环境一致，使用虚拟环境进行隔离。</a:t>
            </a:r>
            <a:endParaRPr lang="en-US" sz="1100"/>
          </a:p>
        </p:txBody>
      </p:sp>
      <p:sp>
        <p:nvSpPr>
          <p:cNvPr id="15" name="AutoShape 15"/>
          <p:cNvSpPr/>
          <p:nvPr/>
        </p:nvSpPr>
        <p:spPr>
          <a:xfrm>
            <a:off x="2603500" y="3683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57500" y="3937000"/>
            <a:ext cx="406400" cy="406400"/>
          </a:xfrm>
          <a:prstGeom prst="rect">
            <a:avLst/>
          </a:prstGeom>
        </p:spPr>
      </p:pic>
      <p:sp>
        <p:nvSpPr>
          <p:cNvPr id="17" name="AutoShape 17"/>
          <p:cNvSpPr/>
          <p:nvPr/>
        </p:nvSpPr>
        <p:spPr>
          <a:xfrm>
            <a:off x="33655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系统监控</a:t>
            </a:r>
            <a:endParaRPr lang="en-US" sz="1100"/>
          </a:p>
        </p:txBody>
      </p:sp>
      <p:sp>
        <p:nvSpPr>
          <p:cNvPr id="18" name="AutoShape 18"/>
          <p:cNvSpPr/>
          <p:nvPr/>
        </p:nvSpPr>
        <p:spPr>
          <a:xfrm>
            <a:off x="2857500" y="4445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部署后需监控系统资源使用情况（CPU、内存、GPU）和服务响应时间。</a:t>
            </a:r>
            <a:endParaRPr lang="en-US" sz="1100"/>
          </a:p>
        </p:txBody>
      </p:sp>
      <p:sp>
        <p:nvSpPr>
          <p:cNvPr id="19" name="AutoShape 19"/>
          <p:cNvSpPr/>
          <p:nvPr/>
        </p:nvSpPr>
        <p:spPr>
          <a:xfrm>
            <a:off x="6286500" y="3683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40500" y="3937000"/>
            <a:ext cx="406400" cy="406400"/>
          </a:xfrm>
          <a:prstGeom prst="rect">
            <a:avLst/>
          </a:prstGeom>
        </p:spPr>
      </p:pic>
      <p:sp>
        <p:nvSpPr>
          <p:cNvPr id="21" name="AutoShape 21"/>
          <p:cNvSpPr/>
          <p:nvPr/>
        </p:nvSpPr>
        <p:spPr>
          <a:xfrm>
            <a:off x="70485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持续优化</a:t>
            </a:r>
            <a:endParaRPr lang="en-US" sz="1100"/>
          </a:p>
        </p:txBody>
      </p:sp>
      <p:sp>
        <p:nvSpPr>
          <p:cNvPr id="22" name="AutoShape 22"/>
          <p:cNvSpPr/>
          <p:nvPr/>
        </p:nvSpPr>
        <p:spPr>
          <a:xfrm>
            <a:off x="6540500" y="4445000"/>
            <a:ext cx="2794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根据用户反馈和监控数据，持续优化模型性能和系统稳定性。</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常见问题与解决方案</a:t>
            </a:r>
            <a:endParaRPr lang="en-US" sz="1100"/>
          </a:p>
        </p:txBody>
      </p:sp>
      <p:sp>
        <p:nvSpPr>
          <p:cNvPr id="3" name="AutoShape 3"/>
          <p:cNvSpPr/>
          <p:nvPr/>
        </p:nvSpPr>
        <p:spPr>
          <a:xfrm>
            <a:off x="762000" y="1397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714500" y="1587500"/>
            <a:ext cx="4000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模型加载失败</a:t>
            </a:r>
            <a:endParaRPr lang="en-US" sz="1100"/>
          </a:p>
        </p:txBody>
      </p:sp>
      <p:sp>
        <p:nvSpPr>
          <p:cNvPr id="6" name="AutoShape 6"/>
          <p:cNvSpPr/>
          <p:nvPr/>
        </p:nvSpPr>
        <p:spPr>
          <a:xfrm>
            <a:off x="1714500" y="1968500"/>
            <a:ext cx="4000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检查模型路径是否正确，网络是否通畅，是否缺少依赖库。</a:t>
            </a:r>
            <a:endParaRPr lang="en-US" sz="1100"/>
          </a:p>
        </p:txBody>
      </p:sp>
      <p:sp>
        <p:nvSpPr>
          <p:cNvPr id="7" name="AutoShape 7"/>
          <p:cNvSpPr/>
          <p:nvPr/>
        </p:nvSpPr>
        <p:spPr>
          <a:xfrm>
            <a:off x="6223000" y="1397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14500"/>
            <a:ext cx="508000" cy="508000"/>
          </a:xfrm>
          <a:prstGeom prst="rect">
            <a:avLst/>
          </a:prstGeom>
        </p:spPr>
      </p:pic>
      <p:sp>
        <p:nvSpPr>
          <p:cNvPr id="9" name="AutoShape 9"/>
          <p:cNvSpPr/>
          <p:nvPr/>
        </p:nvSpPr>
        <p:spPr>
          <a:xfrm>
            <a:off x="7175500" y="1587500"/>
            <a:ext cx="4000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推理速度慢</a:t>
            </a:r>
            <a:endParaRPr lang="en-US" sz="1100"/>
          </a:p>
        </p:txBody>
      </p:sp>
      <p:sp>
        <p:nvSpPr>
          <p:cNvPr id="10" name="AutoShape 10"/>
          <p:cNvSpPr/>
          <p:nvPr/>
        </p:nvSpPr>
        <p:spPr>
          <a:xfrm>
            <a:off x="7175500" y="1968500"/>
            <a:ext cx="4000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尝试使用更高效的量化策略（如INT8/FP16），或升级硬件。</a:t>
            </a:r>
            <a:endParaRPr lang="en-US" sz="1100"/>
          </a:p>
        </p:txBody>
      </p:sp>
      <p:sp>
        <p:nvSpPr>
          <p:cNvPr id="11" name="AutoShape 11"/>
          <p:cNvSpPr/>
          <p:nvPr/>
        </p:nvSpPr>
        <p:spPr>
          <a:xfrm>
            <a:off x="762000" y="3048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365500"/>
            <a:ext cx="508000" cy="508000"/>
          </a:xfrm>
          <a:prstGeom prst="rect">
            <a:avLst/>
          </a:prstGeom>
        </p:spPr>
      </p:pic>
      <p:sp>
        <p:nvSpPr>
          <p:cNvPr id="13" name="AutoShape 13"/>
          <p:cNvSpPr/>
          <p:nvPr/>
        </p:nvSpPr>
        <p:spPr>
          <a:xfrm>
            <a:off x="1714500" y="3238500"/>
            <a:ext cx="4000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内存不足</a:t>
            </a:r>
            <a:endParaRPr lang="en-US" sz="1100"/>
          </a:p>
        </p:txBody>
      </p:sp>
      <p:sp>
        <p:nvSpPr>
          <p:cNvPr id="14" name="AutoShape 14"/>
          <p:cNvSpPr/>
          <p:nvPr/>
        </p:nvSpPr>
        <p:spPr>
          <a:xfrm>
            <a:off x="1714500" y="3619500"/>
            <a:ext cx="4000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使用量化技术减少模型内存占用，或分批处理请求。</a:t>
            </a:r>
            <a:endParaRPr lang="en-US" sz="1100"/>
          </a:p>
        </p:txBody>
      </p:sp>
      <p:sp>
        <p:nvSpPr>
          <p:cNvPr id="15" name="AutoShape 15"/>
          <p:cNvSpPr/>
          <p:nvPr/>
        </p:nvSpPr>
        <p:spPr>
          <a:xfrm>
            <a:off x="6223000" y="3048000"/>
            <a:ext cx="5207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365500"/>
            <a:ext cx="508000" cy="508000"/>
          </a:xfrm>
          <a:prstGeom prst="rect">
            <a:avLst/>
          </a:prstGeom>
        </p:spPr>
      </p:pic>
      <p:sp>
        <p:nvSpPr>
          <p:cNvPr id="17" name="AutoShape 17"/>
          <p:cNvSpPr/>
          <p:nvPr/>
        </p:nvSpPr>
        <p:spPr>
          <a:xfrm>
            <a:off x="7175500" y="3238500"/>
            <a:ext cx="40005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接口调用出错</a:t>
            </a:r>
            <a:endParaRPr lang="en-US" sz="1100"/>
          </a:p>
        </p:txBody>
      </p:sp>
      <p:sp>
        <p:nvSpPr>
          <p:cNvPr id="18" name="AutoShape 18"/>
          <p:cNvSpPr/>
          <p:nvPr/>
        </p:nvSpPr>
        <p:spPr>
          <a:xfrm>
            <a:off x="7175500" y="3619500"/>
            <a:ext cx="4000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检查请求格式是否符合API定义，查看服务端日志定位错误。</a:t>
            </a:r>
            <a:endParaRPr lang="en-US" sz="1100"/>
          </a:p>
        </p:txBody>
      </p:sp>
      <p:sp>
        <p:nvSpPr>
          <p:cNvPr id="19" name="AutoShape 19"/>
          <p:cNvSpPr/>
          <p:nvPr/>
        </p:nvSpPr>
        <p:spPr>
          <a:xfrm>
            <a:off x="762000" y="4699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016500"/>
            <a:ext cx="508000" cy="508000"/>
          </a:xfrm>
          <a:prstGeom prst="rect">
            <a:avLst/>
          </a:prstGeom>
        </p:spPr>
      </p:pic>
      <p:sp>
        <p:nvSpPr>
          <p:cNvPr id="21" name="AutoShape 21"/>
          <p:cNvSpPr/>
          <p:nvPr/>
        </p:nvSpPr>
        <p:spPr>
          <a:xfrm>
            <a:off x="1714500" y="4889500"/>
            <a:ext cx="952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部署后无法访问</a:t>
            </a:r>
            <a:endParaRPr lang="en-US" sz="1100"/>
          </a:p>
        </p:txBody>
      </p:sp>
      <p:sp>
        <p:nvSpPr>
          <p:cNvPr id="22" name="AutoShape 22"/>
          <p:cNvSpPr/>
          <p:nvPr/>
        </p:nvSpPr>
        <p:spPr>
          <a:xfrm>
            <a:off x="1714500" y="5270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检查防火墙设置，确保服务端口已开放，服务器IP地址正确。</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本章知识点回顾</a:t>
            </a:r>
            <a:endParaRPr lang="en-US" sz="1100"/>
          </a:p>
        </p:txBody>
      </p:sp>
      <p:sp>
        <p:nvSpPr>
          <p:cNvPr id="3" name="AutoShape 3"/>
          <p:cNvSpPr/>
          <p:nvPr/>
        </p:nvSpPr>
        <p:spPr>
          <a:xfrm>
            <a:off x="762000" y="1397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87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工程化方法演进</a:t>
            </a:r>
            <a:endParaRPr lang="en-US" sz="1100"/>
          </a:p>
        </p:txBody>
      </p:sp>
      <p:sp>
        <p:nvSpPr>
          <p:cNvPr id="6" name="AutoShape 6"/>
          <p:cNvSpPr/>
          <p:nvPr/>
        </p:nvSpPr>
        <p:spPr>
          <a:xfrm>
            <a:off x="1016000" y="2095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理解 DevOps、MLOps、LLMOps 的核心概念及其演进关系，掌握 AI 工程化全流程。</a:t>
            </a:r>
            <a:endParaRPr lang="en-US" sz="1100"/>
          </a:p>
        </p:txBody>
      </p:sp>
      <p:sp>
        <p:nvSpPr>
          <p:cNvPr id="7" name="AutoShape 7"/>
          <p:cNvSpPr/>
          <p:nvPr/>
        </p:nvSpPr>
        <p:spPr>
          <a:xfrm>
            <a:off x="6223000" y="1397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51000"/>
            <a:ext cx="406400" cy="406400"/>
          </a:xfrm>
          <a:prstGeom prst="rect">
            <a:avLst/>
          </a:prstGeom>
        </p:spPr>
      </p:pic>
      <p:sp>
        <p:nvSpPr>
          <p:cNvPr id="9" name="AutoShape 9"/>
          <p:cNvSpPr/>
          <p:nvPr/>
        </p:nvSpPr>
        <p:spPr>
          <a:xfrm>
            <a:off x="6985000" y="1587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模型量化技术</a:t>
            </a:r>
            <a:endParaRPr lang="en-US" sz="1100"/>
          </a:p>
        </p:txBody>
      </p:sp>
      <p:sp>
        <p:nvSpPr>
          <p:cNvPr id="10" name="AutoShape 10"/>
          <p:cNvSpPr/>
          <p:nvPr/>
        </p:nvSpPr>
        <p:spPr>
          <a:xfrm>
            <a:off x="6477000" y="2095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掌握 INT4、INT8、FP16、FP32 等量化技术原理，能够根据场景选择合适的优化策略。</a:t>
            </a:r>
            <a:endParaRPr lang="en-US" sz="1100"/>
          </a:p>
        </p:txBody>
      </p:sp>
      <p:sp>
        <p:nvSpPr>
          <p:cNvPr id="11" name="AutoShape 11"/>
          <p:cNvSpPr/>
          <p:nvPr/>
        </p:nvSpPr>
        <p:spPr>
          <a:xfrm>
            <a:off x="762000" y="3302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556000"/>
            <a:ext cx="406400" cy="406400"/>
          </a:xfrm>
          <a:prstGeom prst="rect">
            <a:avLst/>
          </a:prstGeom>
        </p:spPr>
      </p:pic>
      <p:sp>
        <p:nvSpPr>
          <p:cNvPr id="13" name="AutoShape 13"/>
          <p:cNvSpPr/>
          <p:nvPr/>
        </p:nvSpPr>
        <p:spPr>
          <a:xfrm>
            <a:off x="1524000" y="3492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多框架部署实战</a:t>
            </a:r>
            <a:endParaRPr lang="en-US" sz="1100"/>
          </a:p>
        </p:txBody>
      </p:sp>
      <p:sp>
        <p:nvSpPr>
          <p:cNvPr id="14" name="AutoShape 14"/>
          <p:cNvSpPr/>
          <p:nvPr/>
        </p:nvSpPr>
        <p:spPr>
          <a:xfrm>
            <a:off x="1016000" y="4000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熟练使用 Gradio、Streamlit 构建交互式应用，掌握 FastAPI 开发高性能 API 接口。</a:t>
            </a:r>
            <a:endParaRPr lang="en-US" sz="1100"/>
          </a:p>
        </p:txBody>
      </p:sp>
      <p:sp>
        <p:nvSpPr>
          <p:cNvPr id="15" name="AutoShape 15"/>
          <p:cNvSpPr/>
          <p:nvPr/>
        </p:nvSpPr>
        <p:spPr>
          <a:xfrm>
            <a:off x="6223000" y="3302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2700000" algn="tl" rotWithShape="0">
              <a:srgbClr val="0277BD">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556000"/>
            <a:ext cx="406400" cy="406400"/>
          </a:xfrm>
          <a:prstGeom prst="rect">
            <a:avLst/>
          </a:prstGeom>
        </p:spPr>
      </p:pic>
      <p:sp>
        <p:nvSpPr>
          <p:cNvPr id="17" name="AutoShape 17"/>
          <p:cNvSpPr/>
          <p:nvPr/>
        </p:nvSpPr>
        <p:spPr>
          <a:xfrm>
            <a:off x="6985000" y="3492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部署最佳实践</a:t>
            </a:r>
            <a:endParaRPr lang="en-US" sz="1100"/>
          </a:p>
        </p:txBody>
      </p:sp>
      <p:sp>
        <p:nvSpPr>
          <p:cNvPr id="18" name="AutoShape 18"/>
          <p:cNvSpPr/>
          <p:nvPr/>
        </p:nvSpPr>
        <p:spPr>
          <a:xfrm>
            <a:off x="6477000" y="40005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757575"/>
                </a:solidFill>
                <a:latin typeface="Noto Sans SC"/>
                <a:ea typeface="Noto Sans SC"/>
                <a:cs typeface="Noto Sans SC"/>
                <a:sym typeface="Noto Sans SC"/>
              </a:rPr>
              <a:t>了解生产环境部署的关键要点，掌握常见问题的排查与解决方法，确保服务稳定运行。</a:t>
            </a:r>
            <a:endParaRPr lang="en-US" sz="1100"/>
          </a:p>
        </p:txBody>
      </p:sp>
      <p:sp>
        <p:nvSpPr>
          <p:cNvPr id="19" name="AutoShape 19"/>
          <p:cNvSpPr/>
          <p:nvPr/>
        </p:nvSpPr>
        <p:spPr>
          <a:xfrm>
            <a:off x="762000" y="5207000"/>
            <a:ext cx="10668000" cy="1016000"/>
          </a:xfrm>
          <a:prstGeom prst="roundRect">
            <a:avLst>
              <a:gd name="adj" fmla="val 12500"/>
            </a:avLst>
          </a:prstGeom>
          <a:solidFill>
            <a:srgbClr val="0277BD">
              <a:alpha val="10000"/>
            </a:srgbClr>
          </a:solidFill>
          <a:ln w="12700" cap="flat" cmpd="sng">
            <a:solidFill>
              <a:srgbClr val="0277BD">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5334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800" b="1" i="0" u="none" strike="noStrike">
                <a:solidFill>
                  <a:srgbClr val="0277BD"/>
                </a:solidFill>
                <a:latin typeface="Noto Sans SC"/>
                <a:ea typeface="Noto Sans SC"/>
                <a:cs typeface="Noto Sans SC"/>
                <a:sym typeface="Noto Sans SC"/>
              </a:rPr>
              <a:t>核心目标：从理论到实践，全面掌握大模型工程化落地能力</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277BD"/>
                </a:solidFill>
                <a:latin typeface="Noto Sans SC"/>
                <a:ea typeface="Noto Sans SC"/>
                <a:cs typeface="Noto Sans SC"/>
                <a:sym typeface="Noto Sans SC"/>
              </a:rPr>
              <a:t>课后思考与作业</a:t>
            </a:r>
            <a:endParaRPr lang="en-US" sz="1100"/>
          </a:p>
        </p:txBody>
      </p:sp>
      <p:sp>
        <p:nvSpPr>
          <p:cNvPr id="3" name="AutoShape 3"/>
          <p:cNvSpPr/>
          <p:nvPr/>
        </p:nvSpPr>
        <p:spPr>
          <a:xfrm>
            <a:off x="762000" y="1397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101600" cy="1524000"/>
          </a:xfrm>
          <a:prstGeom prst="roundRect">
            <a:avLst>
              <a:gd name="adj" fmla="val 125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1714500"/>
            <a:ext cx="609600" cy="609600"/>
          </a:xfrm>
          <a:prstGeom prst="rect">
            <a:avLst/>
          </a:prstGeom>
        </p:spPr>
      </p:pic>
      <p:sp>
        <p:nvSpPr>
          <p:cNvPr id="6" name="AutoShape 6"/>
          <p:cNvSpPr/>
          <p:nvPr/>
        </p:nvSpPr>
        <p:spPr>
          <a:xfrm>
            <a:off x="1905000" y="1587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思考题：MLOps vs LLMOps</a:t>
            </a:r>
            <a:endParaRPr lang="en-US" sz="1100"/>
          </a:p>
        </p:txBody>
      </p:sp>
      <p:sp>
        <p:nvSpPr>
          <p:cNvPr id="7" name="AutoShape 7"/>
          <p:cNvSpPr/>
          <p:nvPr/>
        </p:nvSpPr>
        <p:spPr>
          <a:xfrm>
            <a:off x="1905000" y="2032000"/>
            <a:ext cx="927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比较MLOps和LLMOps的异同点，思考为什么需要为大语言模型专门提出LLMOps？</a:t>
            </a:r>
            <a:endParaRPr lang="en-US" sz="1100"/>
          </a:p>
        </p:txBody>
      </p:sp>
      <p:sp>
        <p:nvSpPr>
          <p:cNvPr id="8" name="AutoShape 8"/>
          <p:cNvSpPr/>
          <p:nvPr/>
        </p:nvSpPr>
        <p:spPr>
          <a:xfrm>
            <a:off x="762000" y="3175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762000" y="3175000"/>
            <a:ext cx="101600" cy="1524000"/>
          </a:xfrm>
          <a:prstGeom prst="roundRect">
            <a:avLst>
              <a:gd name="adj" fmla="val 125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3492500"/>
            <a:ext cx="609600" cy="609600"/>
          </a:xfrm>
          <a:prstGeom prst="rect">
            <a:avLst/>
          </a:prstGeom>
        </p:spPr>
      </p:pic>
      <p:sp>
        <p:nvSpPr>
          <p:cNvPr id="11" name="AutoShape 11"/>
          <p:cNvSpPr/>
          <p:nvPr/>
        </p:nvSpPr>
        <p:spPr>
          <a:xfrm>
            <a:off x="1905000" y="3365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实践作业1：量化精度对比部署</a:t>
            </a:r>
            <a:endParaRPr lang="en-US" sz="1100"/>
          </a:p>
        </p:txBody>
      </p:sp>
      <p:sp>
        <p:nvSpPr>
          <p:cNvPr id="12" name="AutoShape 12"/>
          <p:cNvSpPr/>
          <p:nvPr/>
        </p:nvSpPr>
        <p:spPr>
          <a:xfrm>
            <a:off x="1905000" y="3810000"/>
            <a:ext cx="927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尝试使用不同的量化精度（如INT4, INT8, FP16）部署同一个模型（如Qwen2-0.5B或ChatGLM3-6B），比较它们在内存占用、推理速度和回答质量上的差异。</a:t>
            </a:r>
            <a:endParaRPr lang="en-US" sz="1100"/>
          </a:p>
        </p:txBody>
      </p:sp>
      <p:sp>
        <p:nvSpPr>
          <p:cNvPr id="13" name="AutoShape 13"/>
          <p:cNvSpPr/>
          <p:nvPr/>
        </p:nvSpPr>
        <p:spPr>
          <a:xfrm>
            <a:off x="762000" y="4953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77BD">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762000" y="4953000"/>
            <a:ext cx="101600" cy="1397000"/>
          </a:xfrm>
          <a:prstGeom prst="roundRect">
            <a:avLst>
              <a:gd name="adj" fmla="val 125000"/>
            </a:avLst>
          </a:prstGeom>
          <a:solidFill>
            <a:srgbClr val="0277B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5270500"/>
            <a:ext cx="609600" cy="609600"/>
          </a:xfrm>
          <a:prstGeom prst="rect">
            <a:avLst/>
          </a:prstGeom>
        </p:spPr>
      </p:pic>
      <p:sp>
        <p:nvSpPr>
          <p:cNvPr id="16" name="AutoShape 16"/>
          <p:cNvSpPr/>
          <p:nvPr/>
        </p:nvSpPr>
        <p:spPr>
          <a:xfrm>
            <a:off x="1905000" y="5143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77BD"/>
                </a:solidFill>
                <a:latin typeface="Noto Sans SC"/>
                <a:ea typeface="Noto Sans SC"/>
                <a:cs typeface="Noto Sans SC"/>
                <a:sym typeface="Noto Sans SC"/>
              </a:rPr>
              <a:t>实践作业2：模型部署与交互实现</a:t>
            </a:r>
            <a:endParaRPr lang="en-US" sz="1100"/>
          </a:p>
        </p:txBody>
      </p:sp>
      <p:sp>
        <p:nvSpPr>
          <p:cNvPr id="17" name="AutoShape 17"/>
          <p:cNvSpPr/>
          <p:nvPr/>
        </p:nvSpPr>
        <p:spPr>
          <a:xfrm>
            <a:off x="1905000" y="5588000"/>
            <a:ext cx="927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选择一种你喜欢的部署框架（Gradio/Streamlit/FastAPI），部署一个你自己训练或微调过的模型，并实现一个简单的交互功能。</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5080000" cy="508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3810000" cy="3810000"/>
          </a:xfrm>
          <a:prstGeom prst="ellipse">
            <a:avLst/>
          </a:prstGeom>
          <a:solidFill>
            <a:srgbClr val="0277BD">
              <a:alpha val="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5" name="AutoShape 5"/>
          <p:cNvSpPr/>
          <p:nvPr/>
        </p:nvSpPr>
        <p:spPr>
          <a:xfrm>
            <a:off x="1016000" y="2540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277BD"/>
                </a:solidFill>
                <a:latin typeface="Noto Sans SC"/>
                <a:ea typeface="Noto Sans SC"/>
                <a:cs typeface="Noto Sans SC"/>
                <a:sym typeface="Noto Sans SC"/>
              </a:rPr>
              <a:t>感谢聆听</a:t>
            </a:r>
            <a:endParaRPr lang="en-US" sz="1100"/>
          </a:p>
        </p:txBody>
      </p:sp>
      <p:sp>
        <p:nvSpPr>
          <p:cNvPr id="6" name="AutoShape 6"/>
          <p:cNvSpPr/>
          <p:nvPr/>
        </p:nvSpPr>
        <p:spPr>
          <a:xfrm>
            <a:off x="1016000" y="3429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0277BD">
                    <a:alpha val="80000"/>
                  </a:srgbClr>
                </a:solidFill>
                <a:latin typeface="Noto Sans SC"/>
                <a:ea typeface="Noto Sans SC"/>
                <a:cs typeface="Noto Sans SC"/>
                <a:sym typeface="Noto Sans SC"/>
              </a:rPr>
              <a:t>希望这次课程能对大家有所帮助</a:t>
            </a:r>
            <a:endParaRPr lang="en-US" sz="1100"/>
          </a:p>
        </p:txBody>
      </p:sp>
      <p:cxnSp>
        <p:nvCxnSpPr>
          <p:cNvPr id="7" name="Connector 7"/>
          <p:cNvCxnSpPr/>
          <p:nvPr/>
        </p:nvCxnSpPr>
        <p:spPr>
          <a:xfrm rot="-34376">
            <a:off x="5461032" y="4184650"/>
            <a:ext cx="1270000" cy="12700"/>
          </a:xfrm>
          <a:prstGeom prst="straightConnector1">
            <a:avLst/>
          </a:prstGeom>
          <a:solidFill>
            <a:srgbClr val="DEE0E3">
              <a:alpha val="100000"/>
            </a:srgbClr>
          </a:solidFill>
          <a:ln w="25400" cap="flat" cmpd="sng">
            <a:solidFill>
              <a:srgbClr val="0277BD">
                <a:alpha val="30000"/>
              </a:srgbClr>
            </a:solidFill>
            <a:prstDash val="solid"/>
            <a:round/>
            <a:headEnd type="none" w="lg" len="lg"/>
            <a:tailEnd type="none" w="lg" len="lg"/>
          </a:ln>
        </p:spPr>
      </p:cxnSp>
      <p:sp>
        <p:nvSpPr>
          <p:cNvPr id="8" name="AutoShape 8"/>
          <p:cNvSpPr/>
          <p:nvPr/>
        </p:nvSpPr>
        <p:spPr>
          <a:xfrm>
            <a:off x="1016000" y="4445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77BD">
                    <a:alpha val="60000"/>
                  </a:srgbClr>
                </a:solidFill>
                <a:latin typeface="Noto Sans SC"/>
                <a:ea typeface="Noto Sans SC"/>
                <a:cs typeface="Noto Sans SC"/>
                <a:sym typeface="Noto Sans SC"/>
              </a:rPr>
              <a:t>期待与您的下一次相遇</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10901</Words>
  <Application>WPS 演示</Application>
  <PresentationFormat/>
  <Paragraphs>728</Paragraphs>
  <Slides>40</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40</vt:i4>
      </vt:variant>
    </vt:vector>
  </HeadingPairs>
  <TitlesOfParts>
    <vt:vector size="61"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Roboto</vt:lpstr>
      <vt:lpstr>Roboto Mono</vt:lpstr>
      <vt:lpstr>Consolas</vt:lpstr>
      <vt:lpstr>Consolas</vt:lpstr>
      <vt:lpstr>Noto Sans SC</vt:lpstr>
      <vt:lpstr>Roboto</vt:lpstr>
      <vt:lpstr>Roboto Mono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2026-03-14T05:04:53Z</dcterms:created>
  <dcterms:modified xsi:type="dcterms:W3CDTF">2026-03-14T05:04:53Z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E46974F3D4E7B0A075ECB469681F79A4_42</vt:lpwstr>
  </property>
  <property fmtid="{D5CDD505-2E9C-101B-9397-08002B2CF9AE}" pid="3" name="KSOProductBuildVer">
    <vt:lpwstr>2052-7.2.1.8947</vt:lpwstr>
  </property>
</Properties>
</file>