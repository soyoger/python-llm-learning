
<file path=[Content_Types].xml><?xml version="1.0" encoding="utf-8"?>
<Types xmlns="http://schemas.openxmlformats.org/package/2006/content-types">
  <Default Extension="png" ContentType="image/png"/>
  <Default Extension="jpeg" ContentType="image/jpeg"/>
  <Default Extension="JPG" ContentType="image/.jp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00.svg" ContentType="image/svg+xml"/>
  <Override PartName="/ppt/media/image103.svg" ContentType="image/svg+xml"/>
  <Override PartName="/ppt/media/image105.svg" ContentType="image/svg+xml"/>
  <Override PartName="/ppt/media/image107.svg" ContentType="image/svg+xml"/>
  <Override PartName="/ppt/media/image109.svg" ContentType="image/svg+xml"/>
  <Override PartName="/ppt/media/image11.svg" ContentType="image/svg+xml"/>
  <Override PartName="/ppt/media/image111.svg" ContentType="image/svg+xml"/>
  <Override PartName="/ppt/media/image113.svg" ContentType="image/svg+xml"/>
  <Override PartName="/ppt/media/image115.svg" ContentType="image/svg+xml"/>
  <Override PartName="/ppt/media/image117.svg" ContentType="image/svg+xml"/>
  <Override PartName="/ppt/media/image119.svg" ContentType="image/svg+xml"/>
  <Override PartName="/ppt/media/image121.svg" ContentType="image/svg+xml"/>
  <Override PartName="/ppt/media/image123.svg" ContentType="image/svg+xml"/>
  <Override PartName="/ppt/media/image125.svg" ContentType="image/svg+xml"/>
  <Override PartName="/ppt/media/image127.svg" ContentType="image/svg+xml"/>
  <Override PartName="/ppt/media/image129.svg" ContentType="image/svg+xml"/>
  <Override PartName="/ppt/media/image13.svg" ContentType="image/svg+xml"/>
  <Override PartName="/ppt/media/image131.svg" ContentType="image/svg+xml"/>
  <Override PartName="/ppt/media/image133.svg" ContentType="image/svg+xml"/>
  <Override PartName="/ppt/media/image135.svg" ContentType="image/svg+xml"/>
  <Override PartName="/ppt/media/image18.svg" ContentType="image/svg+xml"/>
  <Override PartName="/ppt/media/image2.svg" ContentType="image/svg+xml"/>
  <Override PartName="/ppt/media/image21.svg" ContentType="image/svg+xml"/>
  <Override PartName="/ppt/media/image23.svg" ContentType="image/svg+xml"/>
  <Override PartName="/ppt/media/image25.svg" ContentType="image/svg+xml"/>
  <Override PartName="/ppt/media/image27.svg" ContentType="image/svg+xml"/>
  <Override PartName="/ppt/media/image29.svg" ContentType="image/svg+xml"/>
  <Override PartName="/ppt/media/image31.svg" ContentType="image/svg+xml"/>
  <Override PartName="/ppt/media/image33.svg" ContentType="image/svg+xml"/>
  <Override PartName="/ppt/media/image35.svg" ContentType="image/svg+xml"/>
  <Override PartName="/ppt/media/image37.svg" ContentType="image/svg+xml"/>
  <Override PartName="/ppt/media/image39.svg" ContentType="image/svg+xml"/>
  <Override PartName="/ppt/media/image4.svg" ContentType="image/svg+xml"/>
  <Override PartName="/ppt/media/image41.svg" ContentType="image/svg+xml"/>
  <Override PartName="/ppt/media/image43.svg" ContentType="image/svg+xml"/>
  <Override PartName="/ppt/media/image47.svg" ContentType="image/svg+xml"/>
  <Override PartName="/ppt/media/image51.svg" ContentType="image/svg+xml"/>
  <Override PartName="/ppt/media/image53.svg" ContentType="image/svg+xml"/>
  <Override PartName="/ppt/media/image55.svg" ContentType="image/svg+xml"/>
  <Override PartName="/ppt/media/image57.svg" ContentType="image/svg+xml"/>
  <Override PartName="/ppt/media/image59.svg" ContentType="image/svg+xml"/>
  <Override PartName="/ppt/media/image6.svg" ContentType="image/svg+xml"/>
  <Override PartName="/ppt/media/image61.svg" ContentType="image/svg+xml"/>
  <Override PartName="/ppt/media/image63.svg" ContentType="image/svg+xml"/>
  <Override PartName="/ppt/media/image66.svg" ContentType="image/svg+xml"/>
  <Override PartName="/ppt/media/image68.svg" ContentType="image/svg+xml"/>
  <Override PartName="/ppt/media/image70.svg" ContentType="image/svg+xml"/>
  <Override PartName="/ppt/media/image72.svg" ContentType="image/svg+xml"/>
  <Override PartName="/ppt/media/image74.svg" ContentType="image/svg+xml"/>
  <Override PartName="/ppt/media/image76.svg" ContentType="image/svg+xml"/>
  <Override PartName="/ppt/media/image78.svg" ContentType="image/svg+xml"/>
  <Override PartName="/ppt/media/image80.svg" ContentType="image/svg+xml"/>
  <Override PartName="/ppt/media/image82.svg" ContentType="image/svg+xml"/>
  <Override PartName="/ppt/media/image85.svg" ContentType="image/svg+xml"/>
  <Override PartName="/ppt/media/image87.svg" ContentType="image/svg+xml"/>
  <Override PartName="/ppt/media/image89.svg" ContentType="image/svg+xml"/>
  <Override PartName="/ppt/media/image9.svg" ContentType="image/svg+xml"/>
  <Override PartName="/ppt/media/image91.svg" ContentType="image/svg+xml"/>
  <Override PartName="/ppt/media/image93.svg" ContentType="image/svg+xml"/>
  <Override PartName="/ppt/media/image96.svg" ContentType="image/svg+xml"/>
  <Override PartName="/ppt/media/image98.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1"/>
    <p:sldId id="283" r:id="rId32"/>
    <p:sldId id="284" r:id="rId33"/>
    <p:sldId id="285" r:id="rId34"/>
    <p:sldId id="286" r:id="rId35"/>
    <p:sldId id="287" r:id="rId36"/>
    <p:sldId id="288" r:id="rId37"/>
    <p:sldId id="289" r:id="rId38"/>
    <p:sldId id="290" r:id="rId39"/>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2" Type="http://schemas.openxmlformats.org/officeDocument/2006/relationships/tableStyles" Target="tableStyles.xml"/><Relationship Id="rId41" Type="http://schemas.openxmlformats.org/officeDocument/2006/relationships/viewProps" Target="viewProps.xml"/><Relationship Id="rId40" Type="http://schemas.openxmlformats.org/officeDocument/2006/relationships/presProps" Target="presProps.xml"/><Relationship Id="rId4" Type="http://schemas.openxmlformats.org/officeDocument/2006/relationships/slide" Target="slides/slide1.xml"/><Relationship Id="rId39" Type="http://schemas.openxmlformats.org/officeDocument/2006/relationships/slide" Target="slides/slide35.xml"/><Relationship Id="rId38" Type="http://schemas.openxmlformats.org/officeDocument/2006/relationships/slide" Target="slides/slide34.xml"/><Relationship Id="rId37" Type="http://schemas.openxmlformats.org/officeDocument/2006/relationships/slide" Target="slides/slide33.xml"/><Relationship Id="rId36" Type="http://schemas.openxmlformats.org/officeDocument/2006/relationships/slide" Target="slides/slide32.xml"/><Relationship Id="rId35" Type="http://schemas.openxmlformats.org/officeDocument/2006/relationships/slide" Target="slides/slide31.xml"/><Relationship Id="rId34" Type="http://schemas.openxmlformats.org/officeDocument/2006/relationships/slide" Target="slides/slide30.xml"/><Relationship Id="rId33" Type="http://schemas.openxmlformats.org/officeDocument/2006/relationships/slide" Target="slides/slide29.xml"/><Relationship Id="rId32" Type="http://schemas.openxmlformats.org/officeDocument/2006/relationships/slide" Target="slides/slide28.xml"/><Relationship Id="rId31" Type="http://schemas.openxmlformats.org/officeDocument/2006/relationships/slide" Target="slides/slide27.xml"/><Relationship Id="rId30" Type="http://schemas.openxmlformats.org/officeDocument/2006/relationships/slide" Target="slides/slide26.xml"/><Relationship Id="rId3" Type="http://schemas.openxmlformats.org/officeDocument/2006/relationships/slideMaster" Target="slideMasters/slideMaster2.xml"/><Relationship Id="rId29" Type="http://schemas.openxmlformats.org/officeDocument/2006/relationships/slide" Target="slides/slide25.xml"/><Relationship Id="rId28" Type="http://schemas.openxmlformats.org/officeDocument/2006/relationships/slide" Target="slides/slide24.xml"/><Relationship Id="rId27" Type="http://schemas.openxmlformats.org/officeDocument/2006/relationships/slide" Target="slides/slide23.xml"/><Relationship Id="rId26" Type="http://schemas.openxmlformats.org/officeDocument/2006/relationships/slide" Target="slides/slide22.xml"/><Relationship Id="rId25" Type="http://schemas.openxmlformats.org/officeDocument/2006/relationships/slide" Target="slides/slide21.xml"/><Relationship Id="rId24" Type="http://schemas.openxmlformats.org/officeDocument/2006/relationships/slide" Target="slides/slide20.xml"/><Relationship Id="rId23" Type="http://schemas.openxmlformats.org/officeDocument/2006/relationships/slide" Target="slides/slide19.xml"/><Relationship Id="rId22" Type="http://schemas.openxmlformats.org/officeDocument/2006/relationships/slide" Target="slides/slide18.xml"/><Relationship Id="rId21" Type="http://schemas.openxmlformats.org/officeDocument/2006/relationships/slide" Target="slides/slide17.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们来学习第六章，Prompt提示词工程。这一章将带领大家深入了解如何通过精心设计的提示词，更有效地与大语言模型进行交互，从而充分发挥其强大的能力。希望通过本章的学习，大家能够掌握提示词工程的核心概念和实用技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课程主要分为三个部分。首先，我们会认识提示词工程的基本概念，了解它的起源和发展。接着，也是本章的重点，我们将学习八大核心的提示词使用技巧。最后，通过几个实战案例，我们将看到如何运用这些技巧来解决实际的自然语言处理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现在，让我们进入第一部分：认识提示词工程。在这一节，我们将从人机交互的发展历史讲起，逐步引出提示词和提示词工程的定义，并探讨其价值与局限性。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了解提示词工程之前，我们需要回顾一下人机交互的发展历程。从最早需要记住复杂指令的命令行界面，到后来直观易用的图形界面，再到如今我们可以用日常语言交流的自然语言界面，人机交互变得越来越便捷和智能。提示词工程正是基于第三代自然语言界面的一种新型交互方法。</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更直观地展示了三代人机交互界面的差异。左边是早期的DOS命令行，中间是我们熟悉的Windows桌面，右边则是现在流行的ChatGPT对话界面。可以看到，技术的发展使得人与机器的沟通门槛越来越低，越来越接近人与人之间的交流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那么，到底什么是提示词呢？简单来说，提示词就是我们输入给大语言模型的“指令”或“问题”。它的概念最早来源于学术界，研究人员发现，通过设计特定的输入模板，可以让预训练好的大模型完成各种任务，而无需重新训练。这就是提示词的雏形。</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提示词的作用主要体现在三个方面。首先，也是最主要的，是引导模型生成我们需要的内容。其次，它还可以作为一种轻量级的模型微调手段。最后，它代表了一种全新的人机交互方式，让我们能够用最自然的语言与强大的AI模型进行沟通。</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提示词，我们再来看看提示词工程。提示词工程，顾名思义，就是将提示词的使用系统化、工程化。它不仅仅是写一句话，而是要考虑提示词的各个构成要素，通过科学的设计方法，来最大化模型输出的质量和准确性。其核心思想就是通过优化我们的“提问方式”，来获得更理想的“回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提示词工程也并非完美无缺，它存在一些局限性。首先，模型对提示词非常敏感，这意味着设计需要非常精细。其次，提示词的通用性较差，一个任务的成功经验很难直接复制。此外，其复杂性和黑盒特性也让它难以被完全解释和掌握，目前主要还是依靠试错法来优化。</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提示词工程的局限性还体现在它无法突破模型本身的限制。模型的知识边界、生成能力的天花板，都是提示词无法逾越的。同时，对于生成内容的完全控制，以及解决模型固有的偏见和伦理问题，也不是提示词工程所能独立完成的。认识到这些局限，能帮助我们更理性地看待和使用这项技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了解了基本概念和局限性后，我们进入本章的重点部分：提示词工程的核心使用技巧。掌握这些技巧，将能显著提升你与大语言模型交互的效率和效果，让模型真正为你所用。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技巧是使用文本分隔符。当我们需要让模型处理一段特定的文本时，比如总结或分析，用分隔符把这段文本框起来，可以让模型清晰地识别出“指令”和“待处理内容”的边界，避免误解。这里展示的是使用三引号的例子，这是最常用的一种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除了三引号，我们还可以使用其他类型的分隔符。比如左边这个例子，用HTML的&lt;p&gt;标签来分隔不同的用户评价，让模型分别进行情感分析。右边的例子则使用了Markdown的标题标签，来清晰地定义模型的角色、技能和行为限制，这在构建复杂的提示词时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非常实用的技巧是给模型赋予一个角色。就像在现实生活中，不同身份的人会给出不同角度和深度的回答一样，当我们让模型扮演一个“高级工程师”或“美食家”时，它的回答会更专业、更贴合角色设定。这是一种非常有效的引导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角色赋予的应用场景非常广泛。理论上，任何人类社会中的职业或身份，都可以赋予模型，让它从该角色的视角来思考和回答问题。比如产品经理、心理咨询师、健身教练等等。关键在于，你需要明确地告诉模型它应该扮演谁，以及这个角色需要具备什么样的能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技巧是分步拆解。当任务比较复杂时，我们可以像分解数学题一样，把它拆成几个明确的小步骤。比如这个例子，写一篇小红书文案，我们把它拆解成“写标题”、“加表情”、“加标签”三个步骤，模型就能非常清晰地理解并执行每一个要求，最终产出更符合预期的结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四个技巧是量化需求。“写得详细一点”、“简单说说”这类模糊的要求，模型很难把握尺度。但如果你告诉它“每个要点不超过100字”、“总分三点”，模型就能精准地控制输出的长度和结构。这是让模型输出更符合你预期的关键一步。</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具体来说，我们可以从这几个方面对需求进行量化。比如控制输出的长度和要点数量，指定输出的格式是列表还是表格，甚至可以设定评估标准让模型进行自评。此外，限定知识领域和时间范围，也能让模型的回答更聚焦、更准确。</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五个技巧是提供正反示例。有时候，光说规则可能不够直观，如果能像这个例子一样，给出一个“有效”的评论和一个“无效”的评论作为示例，模型就能立刻明白审核的标准是什么，处理起来也会更准确。这是一种非常高效的“教学”方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六个技巧是要求结构化输出。如果你的目的是让程序自动处理模型的回答，那么让它返回一段自然语言文本会非常麻烦。但如果你明确要求它以JSON格式输出，就像这个例子一样，程序就能轻松地解析出结果和原因，这对于构建自动化应用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里我们对比了三种常见的结构化输出格式。JSON格式可读性和解析性都很好，是目前最主流的数据交换格式。XML在一些传统系统中仍有使用。而Markdown表格则非常适合直接展示给人看，但其解析难度较高，一般不用于程序间的数据交换。选择哪种格式，取决于你的具体应用场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七个技巧是合理设置限制。有时候，模型可能会回答一些你不关心的内容，甚至偏离主题。这时，你可以明确告诉它“只回答与XX相关的问题”、“不要讨论XX话题”，或者像这个例子一样，规定它只能输出食谱相关的内容。这能确保模型的回答始终围绕你的核心需求。</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设置限制条件的方法有很多种。你可以明确禁止模型讨论某些话题，限定它只能使用特定的知识范围，或者强制它遵守某种输出格式。甚至，你还可以为模型设定一些道德准则，引导它生成更安全、更负责任的内容。这些限制共同构成了模型的“护栏”。</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个，也是最高级的技巧之一，是使用链式思维。对于写一篇文章这样的复杂任务，我们不要求模型一步到位，而是像这样，先让它写引言，然后再让它写历史起源、制作步骤等，一步一步地引导它完成整个创作过程。这种方法能有效降低任务难度，保证最终产出的质量和逻辑性。</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张图展示了撰写蛋炒饭文章的完整提示词链。从引言开始，到历史、成分、步骤、文化意义，最后到结论，每一步都是一个独立的提示词，引导模型完成文章的一个部分。通过这种方式，我们能精细地控制文章的每个环节，最终得到一篇高质量的作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掌握了核心技巧后，我们进入实战环节。在这一部分，我们将通过几个具体的自然语言处理（NLP）任务案例，来看看如何将前面学到的提示词技巧组合运用，在不进行任何模型微调的情况下，直接解决实际问题。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提示词工程的强大之处在于，它让我们能够在不修改模型代码、不进行耗时费力的微调的情况下，直接利用大模型解决各种NLP问题。有人甚至说，提示词可以完成90%的NLP任务。接下来，我们就通过四个案例来验证这一点。</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在开始案例之前，我们先准备一个与ChatGPT交互的公共Python函数。这个send_message函数封装了调用OpenAI API的基本逻辑，包括设置API地址、密钥、模型参数等。在后面的案例中，我们只需要专注于设计提示词，然后调用这个函数即可。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一个案例是文本分类中的情感分析。我们设计的提示词组合了“赋予角色”、“提供示例”和“要求结构化输出”三个技巧。我们让模型扮演情感分析专家，给它看两个例子，然后要求它以JSON格式返回结果。这样，我们就能轻松地对用户评论进行自动化的情感判断。</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二个案例是文本生成，我们来写一封商务邮件。这个提示词组合了“赋予角色”、“分步拆解”和“量化需求”的技巧。我们把写邮件这个任务拆分成主题、开场白、正文、结尾等几个步骤，并提供了所有必要的具体信息。模型就能按照这个清晰的框架，生成一封格式规范、内容完整的邮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第三个案例是信息提取。我们需要从一段新闻里找出事件、人物、时间和地点。这里我们使用了“分隔符”来框定新闻内容，并要求模型以JSON格式输出提取的结果。这样，我们就能方便地从非结构化的文本中，获取到结构化的关键信息，这在处理大量文本数据时非常有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一个案例是机器翻译。我们让模型扮演“技术文档翻译专家”，并用分隔符框定需要翻译的中文文本。这个提示词虽然简单，但结合了角色赋予和分隔符技巧，确保了翻译的专业性和准确性。对于大模型来说，完成这样的翻译任务已经非常得心应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好了，我们来对本章内容做一个总结。我们首先认识了提示词和提示词工程的基本概念及其局限性。然后，重点学习了八大核心使用技巧，这是本章的重中之重。最后，通过四个实战案例，我们看到了这些技巧如何组合起来，解决实际的NLP问题。希望大家通过本章的学习，能够对提示词工程有一个全面而深入的理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最后，我给大家留了三个思考题。第一个是希望大家能将所学应用到自己的专业领域中。第二个是鼓励大家进行实践和反思，通过优化旧的提示词来巩固技巧。第三个问题则希望引发大家更深入的思考，探讨提示词工程与传统微调方法的关系。希望大家课后能认真思考这些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本章的内容就到这里，感谢大家的观看！</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9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9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90204"/>
              <a:buNone/>
              <a:defRPr sz="33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90204"/>
              <a:buChar char="•"/>
              <a:defRPr sz="2100" b="0" i="0" u="none" strike="noStrike" cap="none">
                <a:solidFill>
                  <a:schemeClr val="dk1"/>
                </a:solidFill>
                <a:latin typeface="Arial" panose="020B0604020202090204"/>
                <a:ea typeface="Arial" panose="020B0604020202090204"/>
                <a:cs typeface="Arial" panose="020B0604020202090204"/>
                <a:sym typeface="Arial" panose="020B0604020202090204"/>
              </a:defRPr>
            </a:lvl1pPr>
            <a:lvl2pPr marL="914400" marR="0" lvl="1" indent="-342900" algn="l" rtl="0">
              <a:lnSpc>
                <a:spcPct val="90000"/>
              </a:lnSpc>
              <a:spcBef>
                <a:spcPts val="400"/>
              </a:spcBef>
              <a:spcAft>
                <a:spcPts val="0"/>
              </a:spcAft>
              <a:buClr>
                <a:schemeClr val="dk1"/>
              </a:buClr>
              <a:buSzPts val="1800"/>
              <a:buFont typeface="Arial" panose="020B0604020202090204"/>
              <a:buChar char="•"/>
              <a:defRPr sz="18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L="1371600" marR="0" lvl="2" indent="-323850" algn="l" rtl="0">
              <a:lnSpc>
                <a:spcPct val="90000"/>
              </a:lnSpc>
              <a:spcBef>
                <a:spcPts val="400"/>
              </a:spcBef>
              <a:spcAft>
                <a:spcPts val="0"/>
              </a:spcAft>
              <a:buClr>
                <a:schemeClr val="dk1"/>
              </a:buClr>
              <a:buSzPts val="1500"/>
              <a:buFont typeface="Arial" panose="020B0604020202090204"/>
              <a:buChar char="•"/>
              <a:defRPr sz="15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L="1828800" marR="0" lvl="3"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L="2286000" marR="0" lvl="4"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L="2743200" marR="0" lvl="5"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L="3200400" marR="0" lvl="6"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L="3657600" marR="0" lvl="7"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L="4114800" marR="0" lvl="8" indent="-317500" algn="l" rtl="0">
              <a:lnSpc>
                <a:spcPct val="90000"/>
              </a:lnSpc>
              <a:spcBef>
                <a:spcPts val="400"/>
              </a:spcBef>
              <a:spcAft>
                <a:spcPts val="0"/>
              </a:spcAft>
              <a:buClr>
                <a:schemeClr val="dk1"/>
              </a:buClr>
              <a:buSzPts val="1400"/>
              <a:buFont typeface="Arial" panose="020B0604020202090204"/>
              <a:buChar char="•"/>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R="0" lvl="1"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2pPr>
            <a:lvl3pPr marR="0" lvl="2"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3pPr>
            <a:lvl4pPr marR="0" lvl="3"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4pPr>
            <a:lvl5pPr marR="0" lvl="4"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5pPr>
            <a:lvl6pPr marR="0" lvl="5"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6pPr>
            <a:lvl7pPr marR="0" lvl="6"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7pPr>
            <a:lvl8pPr marR="0" lvl="7"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8pPr>
            <a:lvl9pPr marR="0" lvl="8" algn="l" rtl="0">
              <a:spcBef>
                <a:spcPts val="0"/>
              </a:spcBef>
              <a:spcAft>
                <a:spcPts val="0"/>
              </a:spcAft>
              <a:buSzPts val="1100"/>
              <a:buNone/>
              <a:defRPr sz="1400" b="0" i="0" u="none" strike="noStrike" cap="none">
                <a:solidFill>
                  <a:schemeClr val="dk1"/>
                </a:solidFill>
                <a:latin typeface="Arial" panose="020B0604020202090204"/>
                <a:ea typeface="Arial" panose="020B0604020202090204"/>
                <a:cs typeface="Arial" panose="020B0604020202090204"/>
                <a:sym typeface="Arial" panose="020B060402020209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1pPr>
            <a:lvl2pPr marL="0" marR="0" lvl="1"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2pPr>
            <a:lvl3pPr marL="0" marR="0" lvl="2"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3pPr>
            <a:lvl4pPr marL="0" marR="0" lvl="3"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4pPr>
            <a:lvl5pPr marL="0" marR="0" lvl="4"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5pPr>
            <a:lvl6pPr marL="0" marR="0" lvl="5"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6pPr>
            <a:lvl7pPr marL="0" marR="0" lvl="6"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7pPr>
            <a:lvl8pPr marL="0" marR="0" lvl="7"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8pPr>
            <a:lvl9pPr marL="0" marR="0" lvl="8" indent="0" algn="r" rtl="0">
              <a:spcBef>
                <a:spcPts val="0"/>
              </a:spcBef>
              <a:buNone/>
              <a:defRPr sz="900" b="0" i="0" u="none" strike="noStrike" cap="none">
                <a:solidFill>
                  <a:srgbClr val="888888"/>
                </a:solidFill>
                <a:latin typeface="Arial" panose="020B0604020202090204"/>
                <a:ea typeface="Arial" panose="020B0604020202090204"/>
                <a:cs typeface="Arial" panose="020B0604020202090204"/>
                <a:sym typeface="Arial" panose="020B060402020209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1pPr>
      <a:lvl2pPr marR="0" lvl="1"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2pPr>
      <a:lvl3pPr marR="0" lvl="2"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3pPr>
      <a:lvl4pPr marR="0" lvl="3"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4pPr>
      <a:lvl5pPr marR="0" lvl="4"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5pPr>
      <a:lvl6pPr marR="0" lvl="5"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6pPr>
      <a:lvl7pPr marR="0" lvl="6"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7pPr>
      <a:lvl8pPr marR="0" lvl="7"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8pPr>
      <a:lvl9pPr marR="0" lvl="8" algn="l" rtl="0">
        <a:lnSpc>
          <a:spcPct val="100000"/>
        </a:lnSpc>
        <a:spcBef>
          <a:spcPts val="0"/>
        </a:spcBef>
        <a:spcAft>
          <a:spcPts val="0"/>
        </a:spcAft>
        <a:buClr>
          <a:srgbClr val="000000"/>
        </a:buClr>
        <a:buFont typeface="Arial" panose="020B0604020202090204"/>
        <a:defRPr sz="1400" b="0" i="0" u="none" strike="noStrike" cap="none">
          <a:solidFill>
            <a:srgbClr val="000000"/>
          </a:solidFill>
          <a:latin typeface="Arial" panose="020B0604020202090204"/>
          <a:ea typeface="Arial" panose="020B0604020202090204"/>
          <a:cs typeface="Arial" panose="020B0604020202090204"/>
          <a:sym typeface="Arial" panose="020B0604020202090204"/>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notesSlide" Target="../notesSlides/notesSlide2.xml"/><Relationship Id="rId7" Type="http://schemas.openxmlformats.org/officeDocument/2006/relationships/slideLayout" Target="../slideLayouts/slideLayout12.xml"/><Relationship Id="rId6" Type="http://schemas.openxmlformats.org/officeDocument/2006/relationships/image" Target="../media/image2.svg"/><Relationship Id="rId5" Type="http://schemas.openxmlformats.org/officeDocument/2006/relationships/image" Target="../media/image7.png"/><Relationship Id="rId4" Type="http://schemas.openxmlformats.org/officeDocument/2006/relationships/image" Target="../media/image6.svg"/><Relationship Id="rId3" Type="http://schemas.openxmlformats.org/officeDocument/2006/relationships/image" Target="../media/image5.png"/><Relationship Id="rId2" Type="http://schemas.openxmlformats.org/officeDocument/2006/relationships/image" Target="../media/image4.svg"/><Relationship Id="rId1" Type="http://schemas.openxmlformats.org/officeDocument/2006/relationships/image" Target="../media/image3.png"/></Relationships>
</file>

<file path=ppt/slides/_rels/slide3.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7.png"/></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4.xml"/><Relationship Id="rId7" Type="http://schemas.openxmlformats.org/officeDocument/2006/relationships/slideLayout" Target="../slideLayouts/slideLayout12.xml"/><Relationship Id="rId6" Type="http://schemas.openxmlformats.org/officeDocument/2006/relationships/image" Target="../media/image13.svg"/><Relationship Id="rId5" Type="http://schemas.openxmlformats.org/officeDocument/2006/relationships/image" Target="../media/image12.png"/><Relationship Id="rId4" Type="http://schemas.openxmlformats.org/officeDocument/2006/relationships/image" Target="../media/image11.svg"/><Relationship Id="rId3" Type="http://schemas.openxmlformats.org/officeDocument/2006/relationships/image" Target="../media/image10.png"/><Relationship Id="rId2" Type="http://schemas.openxmlformats.org/officeDocument/2006/relationships/image" Target="../media/image9.svg"/><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5" Type="http://schemas.openxmlformats.org/officeDocument/2006/relationships/notesSlide" Target="../notesSlides/notesSlide5.xml"/><Relationship Id="rId4" Type="http://schemas.openxmlformats.org/officeDocument/2006/relationships/slideLayout" Target="../slideLayouts/slideLayout12.xml"/><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image" Target="../media/image14.jpeg"/></Relationships>
</file>

<file path=ppt/slides/_rels/slide6.xml.rels><?xml version="1.0" encoding="UTF-8" standalone="yes"?>
<Relationships xmlns="http://schemas.openxmlformats.org/package/2006/relationships"><Relationship Id="rId8" Type="http://schemas.openxmlformats.org/officeDocument/2006/relationships/notesSlide" Target="../notesSlides/notesSlide6.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9.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2.svg"/><Relationship Id="rId1" Type="http://schemas.openxmlformats.org/officeDocument/2006/relationships/image" Target="../media/image7.png"/></Relationships>
</file>

<file path=ppt/slides/_rels/slide7.xml.rels><?xml version="1.0" encoding="UTF-8" standalone="yes"?>
<Relationships xmlns="http://schemas.openxmlformats.org/package/2006/relationships"><Relationship Id="rId8" Type="http://schemas.openxmlformats.org/officeDocument/2006/relationships/notesSlide" Target="../notesSlides/notesSlide7.xml"/><Relationship Id="rId7" Type="http://schemas.openxmlformats.org/officeDocument/2006/relationships/slideLayout" Target="../slideLayouts/slideLayout1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23.svg"/><Relationship Id="rId3" Type="http://schemas.openxmlformats.org/officeDocument/2006/relationships/image" Target="../media/image22.png"/><Relationship Id="rId2" Type="http://schemas.openxmlformats.org/officeDocument/2006/relationships/image" Target="../media/image21.svg"/><Relationship Id="rId1" Type="http://schemas.openxmlformats.org/officeDocument/2006/relationships/image" Target="../media/image20.png"/></Relationships>
</file>

<file path=ppt/slides/_rels/slide8.xml.rels><?xml version="1.0" encoding="UTF-8" standalone="yes"?>
<Relationships xmlns="http://schemas.openxmlformats.org/package/2006/relationships"><Relationship Id="rId8" Type="http://schemas.openxmlformats.org/officeDocument/2006/relationships/notesSlide" Target="../notesSlides/notesSlide8.xml"/><Relationship Id="rId7" Type="http://schemas.openxmlformats.org/officeDocument/2006/relationships/slideLayout" Target="../slideLayouts/slideLayout12.xml"/><Relationship Id="rId6" Type="http://schemas.openxmlformats.org/officeDocument/2006/relationships/image" Target="../media/image31.svg"/><Relationship Id="rId5" Type="http://schemas.openxmlformats.org/officeDocument/2006/relationships/image" Target="../media/image30.png"/><Relationship Id="rId4" Type="http://schemas.openxmlformats.org/officeDocument/2006/relationships/image" Target="../media/image29.svg"/><Relationship Id="rId3" Type="http://schemas.openxmlformats.org/officeDocument/2006/relationships/image" Target="../media/image28.png"/><Relationship Id="rId2" Type="http://schemas.openxmlformats.org/officeDocument/2006/relationships/image" Target="../media/image27.svg"/><Relationship Id="rId1" Type="http://schemas.openxmlformats.org/officeDocument/2006/relationships/image" Target="../media/image26.png"/></Relationships>
</file>

<file path=ppt/slides/_rels/slide9.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9.svg"/><Relationship Id="rId7" Type="http://schemas.openxmlformats.org/officeDocument/2006/relationships/image" Target="../media/image38.png"/><Relationship Id="rId6" Type="http://schemas.openxmlformats.org/officeDocument/2006/relationships/image" Target="../media/image37.svg"/><Relationship Id="rId5" Type="http://schemas.openxmlformats.org/officeDocument/2006/relationships/image" Target="../media/image36.png"/><Relationship Id="rId4" Type="http://schemas.openxmlformats.org/officeDocument/2006/relationships/image" Target="../media/image35.svg"/><Relationship Id="rId3" Type="http://schemas.openxmlformats.org/officeDocument/2006/relationships/image" Target="../media/image34.png"/><Relationship Id="rId2" Type="http://schemas.openxmlformats.org/officeDocument/2006/relationships/image" Target="../media/image33.svg"/><Relationship Id="rId10" Type="http://schemas.openxmlformats.org/officeDocument/2006/relationships/notesSlide" Target="../notesSlides/notesSlide9.xml"/><Relationship Id="rId1" Type="http://schemas.openxmlformats.org/officeDocument/2006/relationships/image" Target="../media/image32.png"/></Relationships>
</file>

<file path=ppt/slides/_rels/slide10.xml.rels><?xml version="1.0" encoding="UTF-8" standalone="yes"?>
<Relationships xmlns="http://schemas.openxmlformats.org/package/2006/relationships"><Relationship Id="rId8" Type="http://schemas.openxmlformats.org/officeDocument/2006/relationships/notesSlide" Target="../notesSlides/notesSlide10.xml"/><Relationship Id="rId7" Type="http://schemas.openxmlformats.org/officeDocument/2006/relationships/slideLayout" Target="../slideLayouts/slideLayout12.xml"/><Relationship Id="rId6" Type="http://schemas.openxmlformats.org/officeDocument/2006/relationships/image" Target="../media/image43.svg"/><Relationship Id="rId5" Type="http://schemas.openxmlformats.org/officeDocument/2006/relationships/image" Target="../media/image42.png"/><Relationship Id="rId4" Type="http://schemas.openxmlformats.org/officeDocument/2006/relationships/image" Target="../media/image41.svg"/><Relationship Id="rId3" Type="http://schemas.openxmlformats.org/officeDocument/2006/relationships/image" Target="../media/image40.png"/><Relationship Id="rId2" Type="http://schemas.openxmlformats.org/officeDocument/2006/relationships/image" Target="../media/image2.svg"/><Relationship Id="rId1" Type="http://schemas.openxmlformats.org/officeDocument/2006/relationships/image" Target="../media/image7.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12.xml"/><Relationship Id="rId2" Type="http://schemas.openxmlformats.org/officeDocument/2006/relationships/image" Target="../media/image21.svg"/><Relationship Id="rId1" Type="http://schemas.openxmlformats.org/officeDocument/2006/relationships/image" Target="../media/image44.png"/></Relationships>
</file>

<file path=ppt/slides/_rels/slide12.xml.rels><?xml version="1.0" encoding="UTF-8" standalone="yes"?>
<Relationships xmlns="http://schemas.openxmlformats.org/package/2006/relationships"><Relationship Id="rId8" Type="http://schemas.openxmlformats.org/officeDocument/2006/relationships/notesSlide" Target="../notesSlides/notesSlide12.xml"/><Relationship Id="rId7" Type="http://schemas.openxmlformats.org/officeDocument/2006/relationships/slideLayout" Target="../slideLayouts/slideLayout12.xml"/><Relationship Id="rId6" Type="http://schemas.openxmlformats.org/officeDocument/2006/relationships/image" Target="../media/image18.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35.svg"/><Relationship Id="rId1" Type="http://schemas.openxmlformats.org/officeDocument/2006/relationships/image" Target="../media/image45.png"/></Relationships>
</file>

<file path=ppt/slides/_rels/slide13.xml.rels><?xml version="1.0" encoding="UTF-8" standalone="yes"?>
<Relationships xmlns="http://schemas.openxmlformats.org/package/2006/relationships"><Relationship Id="rId8" Type="http://schemas.openxmlformats.org/officeDocument/2006/relationships/notesSlide" Target="../notesSlides/notesSlide13.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9.png"/><Relationship Id="rId4" Type="http://schemas.openxmlformats.org/officeDocument/2006/relationships/image" Target="../media/image51.svg"/><Relationship Id="rId3" Type="http://schemas.openxmlformats.org/officeDocument/2006/relationships/image" Target="../media/image50.png"/><Relationship Id="rId2" Type="http://schemas.openxmlformats.org/officeDocument/2006/relationships/image" Target="../media/image9.svg"/><Relationship Id="rId1" Type="http://schemas.openxmlformats.org/officeDocument/2006/relationships/image" Target="../media/image49.png"/></Relationships>
</file>

<file path=ppt/slides/_rels/slide1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6.svg"/><Relationship Id="rId7" Type="http://schemas.openxmlformats.org/officeDocument/2006/relationships/image" Target="../media/image19.png"/><Relationship Id="rId6" Type="http://schemas.openxmlformats.org/officeDocument/2006/relationships/image" Target="../media/image57.svg"/><Relationship Id="rId5" Type="http://schemas.openxmlformats.org/officeDocument/2006/relationships/image" Target="../media/image56.png"/><Relationship Id="rId4" Type="http://schemas.openxmlformats.org/officeDocument/2006/relationships/image" Target="../media/image55.svg"/><Relationship Id="rId3" Type="http://schemas.openxmlformats.org/officeDocument/2006/relationships/image" Target="../media/image54.png"/><Relationship Id="rId2" Type="http://schemas.openxmlformats.org/officeDocument/2006/relationships/image" Target="../media/image53.svg"/><Relationship Id="rId10" Type="http://schemas.openxmlformats.org/officeDocument/2006/relationships/notesSlide" Target="../notesSlides/notesSlide14.xml"/><Relationship Id="rId1" Type="http://schemas.openxmlformats.org/officeDocument/2006/relationships/image" Target="../media/image52.png"/></Relationships>
</file>

<file path=ppt/slides/_rels/slide15.xml.rels><?xml version="1.0" encoding="UTF-8" standalone="yes"?>
<Relationships xmlns="http://schemas.openxmlformats.org/package/2006/relationships"><Relationship Id="rId9" Type="http://schemas.openxmlformats.org/officeDocument/2006/relationships/image" Target="../media/image65.png"/><Relationship Id="rId8" Type="http://schemas.openxmlformats.org/officeDocument/2006/relationships/image" Target="../media/image4.svg"/><Relationship Id="rId7" Type="http://schemas.openxmlformats.org/officeDocument/2006/relationships/image" Target="../media/image64.png"/><Relationship Id="rId6" Type="http://schemas.openxmlformats.org/officeDocument/2006/relationships/image" Target="../media/image63.svg"/><Relationship Id="rId5" Type="http://schemas.openxmlformats.org/officeDocument/2006/relationships/image" Target="../media/image62.png"/><Relationship Id="rId4" Type="http://schemas.openxmlformats.org/officeDocument/2006/relationships/image" Target="../media/image61.svg"/><Relationship Id="rId3" Type="http://schemas.openxmlformats.org/officeDocument/2006/relationships/image" Target="../media/image60.png"/><Relationship Id="rId2" Type="http://schemas.openxmlformats.org/officeDocument/2006/relationships/image" Target="../media/image59.svg"/><Relationship Id="rId14" Type="http://schemas.openxmlformats.org/officeDocument/2006/relationships/notesSlide" Target="../notesSlides/notesSlide15.xml"/><Relationship Id="rId13" Type="http://schemas.openxmlformats.org/officeDocument/2006/relationships/slideLayout" Target="../slideLayouts/slideLayout12.xml"/><Relationship Id="rId12" Type="http://schemas.openxmlformats.org/officeDocument/2006/relationships/image" Target="../media/image68.svg"/><Relationship Id="rId11" Type="http://schemas.openxmlformats.org/officeDocument/2006/relationships/image" Target="../media/image67.png"/><Relationship Id="rId10" Type="http://schemas.openxmlformats.org/officeDocument/2006/relationships/image" Target="../media/image66.svg"/><Relationship Id="rId1" Type="http://schemas.openxmlformats.org/officeDocument/2006/relationships/image" Target="../media/image58.png"/></Relationships>
</file>

<file path=ppt/slides/_rels/slide16.xml.rels><?xml version="1.0" encoding="UTF-8" standalone="yes"?>
<Relationships xmlns="http://schemas.openxmlformats.org/package/2006/relationships"><Relationship Id="rId6" Type="http://schemas.openxmlformats.org/officeDocument/2006/relationships/notesSlide" Target="../notesSlides/notesSlide16.xml"/><Relationship Id="rId5" Type="http://schemas.openxmlformats.org/officeDocument/2006/relationships/slideLayout" Target="../slideLayouts/slideLayout12.xml"/><Relationship Id="rId4" Type="http://schemas.openxmlformats.org/officeDocument/2006/relationships/image" Target="../media/image72.svg"/><Relationship Id="rId3" Type="http://schemas.openxmlformats.org/officeDocument/2006/relationships/image" Target="../media/image71.png"/><Relationship Id="rId2" Type="http://schemas.openxmlformats.org/officeDocument/2006/relationships/image" Target="../media/image70.svg"/><Relationship Id="rId1" Type="http://schemas.openxmlformats.org/officeDocument/2006/relationships/image" Target="../media/image69.png"/></Relationships>
</file>

<file path=ppt/slides/_rels/slide1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6.svg"/><Relationship Id="rId7" Type="http://schemas.openxmlformats.org/officeDocument/2006/relationships/image" Target="../media/image75.png"/><Relationship Id="rId6" Type="http://schemas.openxmlformats.org/officeDocument/2006/relationships/image" Target="../media/image9.svg"/><Relationship Id="rId5" Type="http://schemas.openxmlformats.org/officeDocument/2006/relationships/image" Target="../media/image49.png"/><Relationship Id="rId4" Type="http://schemas.openxmlformats.org/officeDocument/2006/relationships/image" Target="../media/image74.svg"/><Relationship Id="rId3" Type="http://schemas.openxmlformats.org/officeDocument/2006/relationships/image" Target="../media/image73.png"/><Relationship Id="rId2" Type="http://schemas.openxmlformats.org/officeDocument/2006/relationships/image" Target="../media/image35.svg"/><Relationship Id="rId10" Type="http://schemas.openxmlformats.org/officeDocument/2006/relationships/notesSlide" Target="../notesSlides/notesSlide17.xml"/><Relationship Id="rId1" Type="http://schemas.openxmlformats.org/officeDocument/2006/relationships/image" Target="../media/image45.png"/></Relationships>
</file>

<file path=ppt/slides/_rels/slide18.xml.rels><?xml version="1.0" encoding="UTF-8" standalone="yes"?>
<Relationships xmlns="http://schemas.openxmlformats.org/package/2006/relationships"><Relationship Id="rId9" Type="http://schemas.openxmlformats.org/officeDocument/2006/relationships/image" Target="../media/image84.png"/><Relationship Id="rId8" Type="http://schemas.openxmlformats.org/officeDocument/2006/relationships/image" Target="../media/image29.svg"/><Relationship Id="rId7" Type="http://schemas.openxmlformats.org/officeDocument/2006/relationships/image" Target="../media/image83.png"/><Relationship Id="rId6" Type="http://schemas.openxmlformats.org/officeDocument/2006/relationships/image" Target="../media/image82.svg"/><Relationship Id="rId5" Type="http://schemas.openxmlformats.org/officeDocument/2006/relationships/image" Target="../media/image81.png"/><Relationship Id="rId4" Type="http://schemas.openxmlformats.org/officeDocument/2006/relationships/image" Target="../media/image80.svg"/><Relationship Id="rId3" Type="http://schemas.openxmlformats.org/officeDocument/2006/relationships/image" Target="../media/image79.png"/><Relationship Id="rId2" Type="http://schemas.openxmlformats.org/officeDocument/2006/relationships/image" Target="../media/image78.svg"/><Relationship Id="rId12" Type="http://schemas.openxmlformats.org/officeDocument/2006/relationships/notesSlide" Target="../notesSlides/notesSlide18.xml"/><Relationship Id="rId11" Type="http://schemas.openxmlformats.org/officeDocument/2006/relationships/slideLayout" Target="../slideLayouts/slideLayout12.xml"/><Relationship Id="rId10" Type="http://schemas.openxmlformats.org/officeDocument/2006/relationships/image" Target="../media/image85.svg"/><Relationship Id="rId1" Type="http://schemas.openxmlformats.org/officeDocument/2006/relationships/image" Target="../media/image77.png"/></Relationships>
</file>

<file path=ppt/slides/_rels/slide19.xml.rels><?xml version="1.0" encoding="UTF-8" standalone="yes"?>
<Relationships xmlns="http://schemas.openxmlformats.org/package/2006/relationships"><Relationship Id="rId8" Type="http://schemas.openxmlformats.org/officeDocument/2006/relationships/notesSlide" Target="../notesSlides/notesSlide19.xml"/><Relationship Id="rId7" Type="http://schemas.openxmlformats.org/officeDocument/2006/relationships/slideLayout" Target="../slideLayouts/slideLayout12.xml"/><Relationship Id="rId6" Type="http://schemas.openxmlformats.org/officeDocument/2006/relationships/image" Target="../media/image89.svg"/><Relationship Id="rId5" Type="http://schemas.openxmlformats.org/officeDocument/2006/relationships/image" Target="../media/image88.png"/><Relationship Id="rId4" Type="http://schemas.openxmlformats.org/officeDocument/2006/relationships/image" Target="../media/image87.svg"/><Relationship Id="rId3" Type="http://schemas.openxmlformats.org/officeDocument/2006/relationships/image" Target="../media/image86.png"/><Relationship Id="rId2" Type="http://schemas.openxmlformats.org/officeDocument/2006/relationships/image" Target="../media/image35.svg"/><Relationship Id="rId1" Type="http://schemas.openxmlformats.org/officeDocument/2006/relationships/image" Target="../media/image45.png"/></Relationships>
</file>

<file path=ppt/slides/_rels/slide20.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76.svg"/><Relationship Id="rId7" Type="http://schemas.openxmlformats.org/officeDocument/2006/relationships/image" Target="../media/image75.png"/><Relationship Id="rId6" Type="http://schemas.openxmlformats.org/officeDocument/2006/relationships/image" Target="../media/image68.svg"/><Relationship Id="rId5" Type="http://schemas.openxmlformats.org/officeDocument/2006/relationships/image" Target="../media/image67.png"/><Relationship Id="rId4" Type="http://schemas.openxmlformats.org/officeDocument/2006/relationships/image" Target="../media/image9.svg"/><Relationship Id="rId3" Type="http://schemas.openxmlformats.org/officeDocument/2006/relationships/image" Target="../media/image49.png"/><Relationship Id="rId2" Type="http://schemas.openxmlformats.org/officeDocument/2006/relationships/image" Target="../media/image91.svg"/><Relationship Id="rId10" Type="http://schemas.openxmlformats.org/officeDocument/2006/relationships/notesSlide" Target="../notesSlides/notesSlide20.xml"/><Relationship Id="rId1" Type="http://schemas.openxmlformats.org/officeDocument/2006/relationships/image" Target="../media/image90.png"/></Relationships>
</file>

<file path=ppt/slides/_rels/slide21.xml.rels><?xml version="1.0" encoding="UTF-8" standalone="yes"?>
<Relationships xmlns="http://schemas.openxmlformats.org/package/2006/relationships"><Relationship Id="rId8" Type="http://schemas.openxmlformats.org/officeDocument/2006/relationships/notesSlide" Target="../notesSlides/notesSlide21.xml"/><Relationship Id="rId7" Type="http://schemas.openxmlformats.org/officeDocument/2006/relationships/slideLayout" Target="../slideLayouts/slideLayout12.xml"/><Relationship Id="rId6" Type="http://schemas.openxmlformats.org/officeDocument/2006/relationships/image" Target="../media/image51.svg"/><Relationship Id="rId5" Type="http://schemas.openxmlformats.org/officeDocument/2006/relationships/image" Target="../media/image50.png"/><Relationship Id="rId4" Type="http://schemas.openxmlformats.org/officeDocument/2006/relationships/image" Target="../media/image93.svg"/><Relationship Id="rId3" Type="http://schemas.openxmlformats.org/officeDocument/2006/relationships/image" Target="../media/image92.png"/><Relationship Id="rId2" Type="http://schemas.openxmlformats.org/officeDocument/2006/relationships/image" Target="../media/image9.svg"/><Relationship Id="rId1" Type="http://schemas.openxmlformats.org/officeDocument/2006/relationships/image" Target="../media/image49.png"/></Relationships>
</file>

<file path=ppt/slides/_rels/slide22.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6.svg"/><Relationship Id="rId7" Type="http://schemas.openxmlformats.org/officeDocument/2006/relationships/image" Target="../media/image95.png"/><Relationship Id="rId6" Type="http://schemas.openxmlformats.org/officeDocument/2006/relationships/image" Target="../media/image18.svg"/><Relationship Id="rId5" Type="http://schemas.openxmlformats.org/officeDocument/2006/relationships/image" Target="../media/image48.png"/><Relationship Id="rId4" Type="http://schemas.openxmlformats.org/officeDocument/2006/relationships/image" Target="../media/image41.svg"/><Relationship Id="rId3" Type="http://schemas.openxmlformats.org/officeDocument/2006/relationships/image" Target="../media/image94.png"/><Relationship Id="rId2" Type="http://schemas.openxmlformats.org/officeDocument/2006/relationships/image" Target="../media/image6.svg"/><Relationship Id="rId10" Type="http://schemas.openxmlformats.org/officeDocument/2006/relationships/notesSlide" Target="../notesSlides/notesSlide22.xml"/><Relationship Id="rId1" Type="http://schemas.openxmlformats.org/officeDocument/2006/relationships/image" Target="../media/image19.png"/></Relationships>
</file>

<file path=ppt/slides/_rels/slide2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0.svg"/><Relationship Id="rId7" Type="http://schemas.openxmlformats.org/officeDocument/2006/relationships/image" Target="../media/image99.png"/><Relationship Id="rId6" Type="http://schemas.openxmlformats.org/officeDocument/2006/relationships/image" Target="../media/image80.svg"/><Relationship Id="rId5" Type="http://schemas.openxmlformats.org/officeDocument/2006/relationships/image" Target="../media/image79.png"/><Relationship Id="rId4" Type="http://schemas.openxmlformats.org/officeDocument/2006/relationships/image" Target="../media/image29.svg"/><Relationship Id="rId3" Type="http://schemas.openxmlformats.org/officeDocument/2006/relationships/image" Target="../media/image83.png"/><Relationship Id="rId2" Type="http://schemas.openxmlformats.org/officeDocument/2006/relationships/image" Target="../media/image98.svg"/><Relationship Id="rId10" Type="http://schemas.openxmlformats.org/officeDocument/2006/relationships/notesSlide" Target="../notesSlides/notesSlide23.xml"/><Relationship Id="rId1" Type="http://schemas.openxmlformats.org/officeDocument/2006/relationships/image" Target="../media/image97.png"/></Relationships>
</file>

<file path=ppt/slides/_rels/slide24.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05.svg"/><Relationship Id="rId7" Type="http://schemas.openxmlformats.org/officeDocument/2006/relationships/image" Target="../media/image104.png"/><Relationship Id="rId6" Type="http://schemas.openxmlformats.org/officeDocument/2006/relationships/image" Target="../media/image18.svg"/><Relationship Id="rId5" Type="http://schemas.openxmlformats.org/officeDocument/2006/relationships/image" Target="../media/image48.png"/><Relationship Id="rId4" Type="http://schemas.openxmlformats.org/officeDocument/2006/relationships/image" Target="../media/image103.svg"/><Relationship Id="rId3" Type="http://schemas.openxmlformats.org/officeDocument/2006/relationships/image" Target="../media/image102.png"/><Relationship Id="rId2" Type="http://schemas.openxmlformats.org/officeDocument/2006/relationships/image" Target="../media/image37.svg"/><Relationship Id="rId10" Type="http://schemas.openxmlformats.org/officeDocument/2006/relationships/notesSlide" Target="../notesSlides/notesSlide24.xml"/><Relationship Id="rId1" Type="http://schemas.openxmlformats.org/officeDocument/2006/relationships/image" Target="../media/image101.png"/></Relationships>
</file>

<file path=ppt/slides/_rels/slide25.xml.rels><?xml version="1.0" encoding="UTF-8" standalone="yes"?>
<Relationships xmlns="http://schemas.openxmlformats.org/package/2006/relationships"><Relationship Id="rId9" Type="http://schemas.openxmlformats.org/officeDocument/2006/relationships/image" Target="../media/image110.png"/><Relationship Id="rId8" Type="http://schemas.openxmlformats.org/officeDocument/2006/relationships/image" Target="../media/image109.svg"/><Relationship Id="rId7" Type="http://schemas.openxmlformats.org/officeDocument/2006/relationships/image" Target="../media/image108.png"/><Relationship Id="rId6" Type="http://schemas.openxmlformats.org/officeDocument/2006/relationships/image" Target="../media/image107.svg"/><Relationship Id="rId5" Type="http://schemas.openxmlformats.org/officeDocument/2006/relationships/image" Target="../media/image106.png"/><Relationship Id="rId4" Type="http://schemas.openxmlformats.org/officeDocument/2006/relationships/image" Target="../media/image85.svg"/><Relationship Id="rId3" Type="http://schemas.openxmlformats.org/officeDocument/2006/relationships/image" Target="../media/image84.png"/><Relationship Id="rId2" Type="http://schemas.openxmlformats.org/officeDocument/2006/relationships/image" Target="../media/image18.svg"/><Relationship Id="rId16" Type="http://schemas.openxmlformats.org/officeDocument/2006/relationships/notesSlide" Target="../notesSlides/notesSlide25.xml"/><Relationship Id="rId15" Type="http://schemas.openxmlformats.org/officeDocument/2006/relationships/slideLayout" Target="../slideLayouts/slideLayout12.xml"/><Relationship Id="rId14" Type="http://schemas.openxmlformats.org/officeDocument/2006/relationships/image" Target="../media/image6.svg"/><Relationship Id="rId13" Type="http://schemas.openxmlformats.org/officeDocument/2006/relationships/image" Target="../media/image19.png"/><Relationship Id="rId12" Type="http://schemas.openxmlformats.org/officeDocument/2006/relationships/image" Target="../media/image113.svg"/><Relationship Id="rId11" Type="http://schemas.openxmlformats.org/officeDocument/2006/relationships/image" Target="../media/image112.png"/><Relationship Id="rId10" Type="http://schemas.openxmlformats.org/officeDocument/2006/relationships/image" Target="../media/image111.svg"/><Relationship Id="rId1" Type="http://schemas.openxmlformats.org/officeDocument/2006/relationships/image" Target="../media/image48.png"/></Relationships>
</file>

<file path=ppt/slides/_rels/slide26.xml.rels><?xml version="1.0" encoding="UTF-8" standalone="yes"?>
<Relationships xmlns="http://schemas.openxmlformats.org/package/2006/relationships"><Relationship Id="rId4" Type="http://schemas.openxmlformats.org/officeDocument/2006/relationships/notesSlide" Target="../notesSlides/notesSlide26.xml"/><Relationship Id="rId3" Type="http://schemas.openxmlformats.org/officeDocument/2006/relationships/slideLayout" Target="../slideLayouts/slideLayout12.xml"/><Relationship Id="rId2" Type="http://schemas.openxmlformats.org/officeDocument/2006/relationships/image" Target="../media/image2.svg"/><Relationship Id="rId1" Type="http://schemas.openxmlformats.org/officeDocument/2006/relationships/image" Target="../media/image7.png"/></Relationships>
</file>

<file path=ppt/slides/_rels/slide27.xml.rels><?xml version="1.0" encoding="UTF-8" standalone="yes"?>
<Relationships xmlns="http://schemas.openxmlformats.org/package/2006/relationships"><Relationship Id="rId8" Type="http://schemas.openxmlformats.org/officeDocument/2006/relationships/notesSlide" Target="../notesSlides/notesSlide27.xml"/><Relationship Id="rId7" Type="http://schemas.openxmlformats.org/officeDocument/2006/relationships/slideLayout" Target="../slideLayouts/slideLayout12.xml"/><Relationship Id="rId6" Type="http://schemas.openxmlformats.org/officeDocument/2006/relationships/image" Target="../media/image117.svg"/><Relationship Id="rId5" Type="http://schemas.openxmlformats.org/officeDocument/2006/relationships/image" Target="../media/image116.png"/><Relationship Id="rId4" Type="http://schemas.openxmlformats.org/officeDocument/2006/relationships/image" Target="../media/image53.svg"/><Relationship Id="rId3" Type="http://schemas.openxmlformats.org/officeDocument/2006/relationships/image" Target="../media/image52.png"/><Relationship Id="rId2" Type="http://schemas.openxmlformats.org/officeDocument/2006/relationships/image" Target="../media/image115.svg"/><Relationship Id="rId1" Type="http://schemas.openxmlformats.org/officeDocument/2006/relationships/image" Target="../media/image114.png"/></Relationships>
</file>

<file path=ppt/slides/_rels/slide28.xml.rels><?xml version="1.0" encoding="UTF-8" standalone="yes"?>
<Relationships xmlns="http://schemas.openxmlformats.org/package/2006/relationships"><Relationship Id="rId6" Type="http://schemas.openxmlformats.org/officeDocument/2006/relationships/notesSlide" Target="../notesSlides/notesSlide28.xml"/><Relationship Id="rId5" Type="http://schemas.openxmlformats.org/officeDocument/2006/relationships/slideLayout" Target="../slideLayouts/slideLayout12.xml"/><Relationship Id="rId4" Type="http://schemas.openxmlformats.org/officeDocument/2006/relationships/image" Target="../media/image6.svg"/><Relationship Id="rId3" Type="http://schemas.openxmlformats.org/officeDocument/2006/relationships/image" Target="../media/image19.png"/><Relationship Id="rId2" Type="http://schemas.openxmlformats.org/officeDocument/2006/relationships/image" Target="../media/image119.svg"/><Relationship Id="rId1" Type="http://schemas.openxmlformats.org/officeDocument/2006/relationships/image" Target="../media/image118.png"/></Relationships>
</file>

<file path=ppt/slides/_rels/slide29.xml.rels><?xml version="1.0" encoding="UTF-8" standalone="yes"?>
<Relationships xmlns="http://schemas.openxmlformats.org/package/2006/relationships"><Relationship Id="rId8" Type="http://schemas.openxmlformats.org/officeDocument/2006/relationships/notesSlide" Target="../notesSlides/notesSlide29.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9.png"/><Relationship Id="rId4" Type="http://schemas.openxmlformats.org/officeDocument/2006/relationships/image" Target="../media/image119.svg"/><Relationship Id="rId3" Type="http://schemas.openxmlformats.org/officeDocument/2006/relationships/image" Target="../media/image118.png"/><Relationship Id="rId2" Type="http://schemas.openxmlformats.org/officeDocument/2006/relationships/image" Target="../media/image121.svg"/><Relationship Id="rId1" Type="http://schemas.openxmlformats.org/officeDocument/2006/relationships/image" Target="../media/image120.png"/></Relationships>
</file>

<file path=ppt/slides/_rels/slide30.xml.rels><?xml version="1.0" encoding="UTF-8" standalone="yes"?>
<Relationships xmlns="http://schemas.openxmlformats.org/package/2006/relationships"><Relationship Id="rId4" Type="http://schemas.openxmlformats.org/officeDocument/2006/relationships/notesSlide" Target="../notesSlides/notesSlide30.xml"/><Relationship Id="rId3" Type="http://schemas.openxmlformats.org/officeDocument/2006/relationships/slideLayout" Target="../slideLayouts/slideLayout12.xml"/><Relationship Id="rId2" Type="http://schemas.openxmlformats.org/officeDocument/2006/relationships/image" Target="../media/image18.svg"/><Relationship Id="rId1" Type="http://schemas.openxmlformats.org/officeDocument/2006/relationships/image" Target="../media/image48.png"/></Relationships>
</file>

<file path=ppt/slides/_rels/slide31.xml.rels><?xml version="1.0" encoding="UTF-8" standalone="yes"?>
<Relationships xmlns="http://schemas.openxmlformats.org/package/2006/relationships"><Relationship Id="rId4" Type="http://schemas.openxmlformats.org/officeDocument/2006/relationships/notesSlide" Target="../notesSlides/notesSlide31.xml"/><Relationship Id="rId3" Type="http://schemas.openxmlformats.org/officeDocument/2006/relationships/slideLayout" Target="../slideLayouts/slideLayout12.xml"/><Relationship Id="rId2" Type="http://schemas.openxmlformats.org/officeDocument/2006/relationships/image" Target="../media/image123.svg"/><Relationship Id="rId1" Type="http://schemas.openxmlformats.org/officeDocument/2006/relationships/image" Target="../media/image122.png"/></Relationships>
</file>

<file path=ppt/slides/_rels/slide32.xml.rels><?xml version="1.0" encoding="UTF-8" standalone="yes"?>
<Relationships xmlns="http://schemas.openxmlformats.org/package/2006/relationships"><Relationship Id="rId8" Type="http://schemas.openxmlformats.org/officeDocument/2006/relationships/notesSlide" Target="../notesSlides/notesSlide32.xml"/><Relationship Id="rId7" Type="http://schemas.openxmlformats.org/officeDocument/2006/relationships/slideLayout" Target="../slideLayouts/slideLayout12.xml"/><Relationship Id="rId6" Type="http://schemas.openxmlformats.org/officeDocument/2006/relationships/image" Target="../media/image6.svg"/><Relationship Id="rId5" Type="http://schemas.openxmlformats.org/officeDocument/2006/relationships/image" Target="../media/image19.png"/><Relationship Id="rId4" Type="http://schemas.openxmlformats.org/officeDocument/2006/relationships/image" Target="../media/image119.svg"/><Relationship Id="rId3" Type="http://schemas.openxmlformats.org/officeDocument/2006/relationships/image" Target="../media/image118.png"/><Relationship Id="rId2" Type="http://schemas.openxmlformats.org/officeDocument/2006/relationships/image" Target="../media/image121.svg"/><Relationship Id="rId1" Type="http://schemas.openxmlformats.org/officeDocument/2006/relationships/image" Target="../media/image120.png"/></Relationships>
</file>

<file path=ppt/slides/_rels/slide3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129.svg"/><Relationship Id="rId7" Type="http://schemas.openxmlformats.org/officeDocument/2006/relationships/image" Target="../media/image128.png"/><Relationship Id="rId6" Type="http://schemas.openxmlformats.org/officeDocument/2006/relationships/image" Target="../media/image127.svg"/><Relationship Id="rId5" Type="http://schemas.openxmlformats.org/officeDocument/2006/relationships/image" Target="../media/image126.png"/><Relationship Id="rId4" Type="http://schemas.openxmlformats.org/officeDocument/2006/relationships/image" Target="../media/image125.svg"/><Relationship Id="rId3" Type="http://schemas.openxmlformats.org/officeDocument/2006/relationships/image" Target="../media/image124.png"/><Relationship Id="rId2" Type="http://schemas.openxmlformats.org/officeDocument/2006/relationships/image" Target="../media/image4.svg"/><Relationship Id="rId10" Type="http://schemas.openxmlformats.org/officeDocument/2006/relationships/notesSlide" Target="../notesSlides/notesSlide33.xml"/><Relationship Id="rId1" Type="http://schemas.openxmlformats.org/officeDocument/2006/relationships/image" Target="../media/image64.png"/></Relationships>
</file>

<file path=ppt/slides/_rels/slide34.xml.rels><?xml version="1.0" encoding="UTF-8" standalone="yes"?>
<Relationships xmlns="http://schemas.openxmlformats.org/package/2006/relationships"><Relationship Id="rId8" Type="http://schemas.openxmlformats.org/officeDocument/2006/relationships/notesSlide" Target="../notesSlides/notesSlide34.xml"/><Relationship Id="rId7" Type="http://schemas.openxmlformats.org/officeDocument/2006/relationships/slideLayout" Target="../slideLayouts/slideLayout12.xml"/><Relationship Id="rId6" Type="http://schemas.openxmlformats.org/officeDocument/2006/relationships/image" Target="../media/image133.svg"/><Relationship Id="rId5" Type="http://schemas.openxmlformats.org/officeDocument/2006/relationships/image" Target="../media/image132.png"/><Relationship Id="rId4" Type="http://schemas.openxmlformats.org/officeDocument/2006/relationships/image" Target="../media/image131.svg"/><Relationship Id="rId3" Type="http://schemas.openxmlformats.org/officeDocument/2006/relationships/image" Target="../media/image130.png"/><Relationship Id="rId2" Type="http://schemas.openxmlformats.org/officeDocument/2006/relationships/image" Target="../media/image53.svg"/><Relationship Id="rId1" Type="http://schemas.openxmlformats.org/officeDocument/2006/relationships/image" Target="../media/image52.png"/></Relationships>
</file>

<file path=ppt/slides/_rels/slide35.xml.rels><?xml version="1.0" encoding="UTF-8" standalone="yes"?>
<Relationships xmlns="http://schemas.openxmlformats.org/package/2006/relationships"><Relationship Id="rId4" Type="http://schemas.openxmlformats.org/officeDocument/2006/relationships/notesSlide" Target="../notesSlides/notesSlide35.xml"/><Relationship Id="rId3" Type="http://schemas.openxmlformats.org/officeDocument/2006/relationships/slideLayout" Target="../slideLayouts/slideLayout12.xml"/><Relationship Id="rId2" Type="http://schemas.openxmlformats.org/officeDocument/2006/relationships/image" Target="../media/image135.svg"/><Relationship Id="rId1" Type="http://schemas.openxmlformats.org/officeDocument/2006/relationships/image" Target="../media/image134.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3810000" cy="381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88D1">
              <a:alpha val="5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1016000" y="1397000"/>
            <a:ext cx="10160000" cy="4064000"/>
          </a:xfrm>
          <a:prstGeom prst="roundRect">
            <a:avLst>
              <a:gd name="adj" fmla="val 6250"/>
            </a:avLst>
          </a:prstGeom>
          <a:solidFill>
            <a:srgbClr val="FFFFFF">
              <a:alpha val="100000"/>
            </a:srgbClr>
          </a:solidFill>
          <a:ln w="25400" cap="flat" cmpd="sng">
            <a:noFill/>
            <a:prstDash val="solid"/>
            <a:round/>
          </a:ln>
          <a:effectLst>
            <a:outerShdw blurRad="254000" dist="127000" dir="5400000" algn="tl" rotWithShape="0">
              <a:srgbClr val="0288D1">
                <a:alpha val="15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791200" y="1651000"/>
            <a:ext cx="609600" cy="609600"/>
          </a:xfrm>
          <a:prstGeom prst="rect">
            <a:avLst/>
          </a:prstGeom>
        </p:spPr>
      </p:pic>
      <p:sp>
        <p:nvSpPr>
          <p:cNvPr id="6" name="AutoShape 6"/>
          <p:cNvSpPr/>
          <p:nvPr/>
        </p:nvSpPr>
        <p:spPr>
          <a:xfrm>
            <a:off x="2514600" y="2413000"/>
            <a:ext cx="71628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200" b="1" i="0" u="none" strike="noStrike">
                <a:solidFill>
                  <a:srgbClr val="333333"/>
                </a:solidFill>
                <a:latin typeface="Noto Sans SC"/>
                <a:ea typeface="Noto Sans SC"/>
                <a:cs typeface="Noto Sans SC"/>
                <a:sym typeface="Noto Sans SC"/>
              </a:rPr>
              <a:t>第6章 Prompt提示词工程</a:t>
            </a:r>
            <a:endParaRPr lang="en-US" sz="1100"/>
          </a:p>
        </p:txBody>
      </p:sp>
      <p:cxnSp>
        <p:nvCxnSpPr>
          <p:cNvPr id="7" name="Connector 7"/>
          <p:cNvCxnSpPr/>
          <p:nvPr/>
        </p:nvCxnSpPr>
        <p:spPr>
          <a:xfrm rot="-34376">
            <a:off x="5461032" y="3168650"/>
            <a:ext cx="1270000" cy="12700"/>
          </a:xfrm>
          <a:prstGeom prst="straightConnector1">
            <a:avLst/>
          </a:prstGeom>
          <a:solidFill>
            <a:srgbClr val="DEE0E3">
              <a:alpha val="100000"/>
            </a:srgbClr>
          </a:solidFill>
          <a:ln w="25400" cap="flat" cmpd="sng">
            <a:solidFill>
              <a:srgbClr val="0288D1">
                <a:alpha val="100000"/>
              </a:srgbClr>
            </a:solidFill>
            <a:prstDash val="solid"/>
            <a:round/>
            <a:headEnd type="none" w="lg" len="lg"/>
            <a:tailEnd type="none" w="lg" len="lg"/>
          </a:ln>
        </p:spPr>
      </p:cxnSp>
      <p:sp>
        <p:nvSpPr>
          <p:cNvPr id="8" name="AutoShape 8"/>
          <p:cNvSpPr/>
          <p:nvPr/>
        </p:nvSpPr>
        <p:spPr>
          <a:xfrm>
            <a:off x="3556000" y="3429000"/>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0288D1"/>
                </a:solidFill>
                <a:latin typeface="Noto Sans SC"/>
                <a:ea typeface="Noto Sans SC"/>
                <a:cs typeface="Noto Sans SC"/>
                <a:sym typeface="Noto Sans SC"/>
              </a:rPr>
              <a:t>教学课件</a:t>
            </a:r>
            <a:endParaRPr lang="en-US" sz="1100"/>
          </a:p>
        </p:txBody>
      </p:sp>
      <p:sp>
        <p:nvSpPr>
          <p:cNvPr id="9" name="AutoShape 9"/>
          <p:cNvSpPr/>
          <p:nvPr/>
        </p:nvSpPr>
        <p:spPr>
          <a:xfrm>
            <a:off x="3556000" y="4191000"/>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666666"/>
                </a:solidFill>
                <a:latin typeface="Noto Sans SC"/>
                <a:ea typeface="Noto Sans SC"/>
                <a:cs typeface="Noto Sans SC"/>
                <a:sym typeface="Noto Sans SC"/>
              </a:rPr>
              <a:t>主讲人：_________</a:t>
            </a:r>
            <a:endParaRPr lang="en-US" sz="1100"/>
          </a:p>
        </p:txBody>
      </p:sp>
      <p:sp>
        <p:nvSpPr>
          <p:cNvPr id="10" name="AutoShape 10"/>
          <p:cNvSpPr/>
          <p:nvPr/>
        </p:nvSpPr>
        <p:spPr>
          <a:xfrm>
            <a:off x="0" y="670560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89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目录</a:t>
            </a:r>
            <a:endParaRPr lang="en-US" sz="1100"/>
          </a:p>
        </p:txBody>
      </p:sp>
      <p:sp>
        <p:nvSpPr>
          <p:cNvPr id="3" name="AutoShape 3"/>
          <p:cNvSpPr/>
          <p:nvPr/>
        </p:nvSpPr>
        <p:spPr>
          <a:xfrm>
            <a:off x="762000" y="1079500"/>
            <a:ext cx="50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651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9050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6" name="AutoShape 6"/>
          <p:cNvSpPr/>
          <p:nvPr/>
        </p:nvSpPr>
        <p:spPr>
          <a:xfrm>
            <a:off x="1016000" y="2057400"/>
            <a:ext cx="76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288D1"/>
                </a:solidFill>
                <a:latin typeface="Noto Sans SC"/>
                <a:ea typeface="Noto Sans SC"/>
                <a:cs typeface="Noto Sans SC"/>
                <a:sym typeface="Noto Sans SC"/>
              </a:rPr>
              <a:t>01</a:t>
            </a:r>
            <a:endParaRPr lang="en-US" sz="1100"/>
          </a:p>
        </p:txBody>
      </p:sp>
      <p:pic>
        <p:nvPicPr>
          <p:cNvPr id="7" name="Picture 7"/>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32000" y="2006600"/>
            <a:ext cx="558800" cy="558800"/>
          </a:xfrm>
          <a:prstGeom prst="rect">
            <a:avLst/>
          </a:prstGeom>
        </p:spPr>
      </p:pic>
      <p:sp>
        <p:nvSpPr>
          <p:cNvPr id="8" name="AutoShape 8"/>
          <p:cNvSpPr/>
          <p:nvPr/>
        </p:nvSpPr>
        <p:spPr>
          <a:xfrm>
            <a:off x="2794000" y="1841500"/>
            <a:ext cx="838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认识提示词工程</a:t>
            </a:r>
            <a:endParaRPr lang="en-US" sz="1100"/>
          </a:p>
        </p:txBody>
      </p:sp>
      <p:sp>
        <p:nvSpPr>
          <p:cNvPr id="9" name="AutoShape 9"/>
          <p:cNvSpPr/>
          <p:nvPr/>
        </p:nvSpPr>
        <p:spPr>
          <a:xfrm>
            <a:off x="2794000" y="2222500"/>
            <a:ext cx="838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了解提示词及其工程的核心概念与演进，探索AI交互的底层逻辑。</a:t>
            </a:r>
            <a:endParaRPr lang="en-US" sz="1100"/>
          </a:p>
        </p:txBody>
      </p:sp>
      <p:sp>
        <p:nvSpPr>
          <p:cNvPr id="10" name="AutoShape 10"/>
          <p:cNvSpPr/>
          <p:nvPr/>
        </p:nvSpPr>
        <p:spPr>
          <a:xfrm>
            <a:off x="762000" y="3175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1" name="AutoShape 11"/>
          <p:cNvSpPr/>
          <p:nvPr/>
        </p:nvSpPr>
        <p:spPr>
          <a:xfrm>
            <a:off x="1016000" y="34290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016000" y="3581400"/>
            <a:ext cx="76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288D1"/>
                </a:solidFill>
                <a:latin typeface="Noto Sans SC"/>
                <a:ea typeface="Noto Sans SC"/>
                <a:cs typeface="Noto Sans SC"/>
                <a:sym typeface="Noto Sans SC"/>
              </a:rPr>
              <a:t>02</a:t>
            </a:r>
            <a:endParaRPr lang="en-US" sz="1100"/>
          </a:p>
        </p:txBody>
      </p:sp>
      <p:pic>
        <p:nvPicPr>
          <p:cNvPr id="13" name="Picture 13"/>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2032000" y="3530600"/>
            <a:ext cx="558800" cy="558800"/>
          </a:xfrm>
          <a:prstGeom prst="rect">
            <a:avLst/>
          </a:prstGeom>
        </p:spPr>
      </p:pic>
      <p:sp>
        <p:nvSpPr>
          <p:cNvPr id="14" name="AutoShape 14"/>
          <p:cNvSpPr/>
          <p:nvPr/>
        </p:nvSpPr>
        <p:spPr>
          <a:xfrm>
            <a:off x="2794000" y="3365500"/>
            <a:ext cx="838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提示词工程使用技巧</a:t>
            </a:r>
            <a:endParaRPr lang="en-US" sz="1100"/>
          </a:p>
        </p:txBody>
      </p:sp>
      <p:sp>
        <p:nvSpPr>
          <p:cNvPr id="15" name="AutoShape 15"/>
          <p:cNvSpPr/>
          <p:nvPr/>
        </p:nvSpPr>
        <p:spPr>
          <a:xfrm>
            <a:off x="2794000" y="3746500"/>
            <a:ext cx="838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掌握核心技巧，学习如何通过精准指令高效驾驭大语言模型，提升输出质量。</a:t>
            </a:r>
            <a:endParaRPr lang="en-US" sz="1100"/>
          </a:p>
        </p:txBody>
      </p:sp>
      <p:sp>
        <p:nvSpPr>
          <p:cNvPr id="16" name="AutoShape 16"/>
          <p:cNvSpPr/>
          <p:nvPr/>
        </p:nvSpPr>
        <p:spPr>
          <a:xfrm>
            <a:off x="762000" y="4699000"/>
            <a:ext cx="10668000" cy="1270000"/>
          </a:xfrm>
          <a:prstGeom prst="roundRect">
            <a:avLst>
              <a:gd name="adj" fmla="val 10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7" name="AutoShape 17"/>
          <p:cNvSpPr/>
          <p:nvPr/>
        </p:nvSpPr>
        <p:spPr>
          <a:xfrm>
            <a:off x="1016000" y="49530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8" name="AutoShape 18"/>
          <p:cNvSpPr/>
          <p:nvPr/>
        </p:nvSpPr>
        <p:spPr>
          <a:xfrm>
            <a:off x="1016000" y="5105400"/>
            <a:ext cx="762000" cy="4572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400" b="1" i="0" u="none" strike="noStrike">
                <a:solidFill>
                  <a:srgbClr val="0288D1"/>
                </a:solidFill>
                <a:latin typeface="Noto Sans SC"/>
                <a:ea typeface="Noto Sans SC"/>
                <a:cs typeface="Noto Sans SC"/>
                <a:sym typeface="Noto Sans SC"/>
              </a:rPr>
              <a:t>03</a:t>
            </a:r>
            <a:endParaRPr lang="en-US" sz="1100"/>
          </a:p>
        </p:txBody>
      </p:sp>
      <p:pic>
        <p:nvPicPr>
          <p:cNvPr id="19" name="Picture 1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2032000" y="5054600"/>
            <a:ext cx="558800" cy="558800"/>
          </a:xfrm>
          <a:prstGeom prst="rect">
            <a:avLst/>
          </a:prstGeom>
        </p:spPr>
      </p:pic>
      <p:sp>
        <p:nvSpPr>
          <p:cNvPr id="20" name="AutoShape 20"/>
          <p:cNvSpPr/>
          <p:nvPr/>
        </p:nvSpPr>
        <p:spPr>
          <a:xfrm>
            <a:off x="2794000" y="4889500"/>
            <a:ext cx="838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使用提示词完成NLP任务</a:t>
            </a:r>
            <a:endParaRPr lang="en-US" sz="1100"/>
          </a:p>
        </p:txBody>
      </p:sp>
      <p:sp>
        <p:nvSpPr>
          <p:cNvPr id="21" name="AutoShape 21"/>
          <p:cNvSpPr/>
          <p:nvPr/>
        </p:nvSpPr>
        <p:spPr>
          <a:xfrm>
            <a:off x="2794000" y="5270500"/>
            <a:ext cx="8382000" cy="508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666666"/>
                </a:solidFill>
                <a:latin typeface="Noto Sans SC"/>
                <a:ea typeface="Noto Sans SC"/>
                <a:cs typeface="Noto Sans SC"/>
                <a:sym typeface="Noto Sans SC"/>
              </a:rPr>
              <a:t>通过实战案例，展示在零微调的情况下，如何运用提示词解决实际的自然语言处理问题。</a:t>
            </a:r>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524000" cy="1524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286000" cy="2286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524000"/>
            <a:ext cx="812800" cy="812800"/>
          </a:xfrm>
          <a:prstGeom prst="rect">
            <a:avLst/>
          </a:prstGeom>
        </p:spPr>
      </p:pic>
      <p:sp>
        <p:nvSpPr>
          <p:cNvPr id="5" name="AutoShape 5"/>
          <p:cNvSpPr/>
          <p:nvPr/>
        </p:nvSpPr>
        <p:spPr>
          <a:xfrm>
            <a:off x="635000" y="2540000"/>
            <a:ext cx="10922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6.1 认识提示词工程</a:t>
            </a:r>
            <a:endParaRPr lang="en-US" sz="1100"/>
          </a:p>
        </p:txBody>
      </p:sp>
      <p:cxnSp>
        <p:nvCxnSpPr>
          <p:cNvPr id="6" name="Connector 6"/>
          <p:cNvCxnSpPr/>
          <p:nvPr/>
        </p:nvCxnSpPr>
        <p:spPr>
          <a:xfrm rot="-34376">
            <a:off x="5461032" y="3359150"/>
            <a:ext cx="1270000" cy="12700"/>
          </a:xfrm>
          <a:prstGeom prst="line">
            <a:avLst/>
          </a:prstGeom>
          <a:solidFill>
            <a:srgbClr val="DEE0E3">
              <a:alpha val="100000"/>
            </a:srgbClr>
          </a:solidFill>
          <a:ln w="38100" cap="rnd" cmpd="sng">
            <a:solidFill>
              <a:srgbClr val="0288D1">
                <a:alpha val="100000"/>
              </a:srgbClr>
            </a:solidFill>
            <a:prstDash val="solid"/>
            <a:round/>
            <a:headEnd type="none" w="lg" len="lg"/>
            <a:tailEnd type="none" w="lg" len="lg"/>
          </a:ln>
        </p:spPr>
      </p:cxnSp>
      <p:sp>
        <p:nvSpPr>
          <p:cNvPr id="7" name="AutoShape 7"/>
          <p:cNvSpPr/>
          <p:nvPr/>
        </p:nvSpPr>
        <p:spPr>
          <a:xfrm>
            <a:off x="635000" y="3619500"/>
            <a:ext cx="10922000" cy="381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1800" b="0" i="0" u="none" strike="noStrike">
                <a:solidFill>
                  <a:srgbClr val="555555"/>
                </a:solidFill>
                <a:latin typeface="Noto Sans SC"/>
                <a:ea typeface="Noto Sans SC"/>
                <a:cs typeface="Noto Sans SC"/>
                <a:sym typeface="Noto Sans SC"/>
              </a:rPr>
              <a:t>了解提示词及其工程的核心概念与演进</a:t>
            </a:r>
            <a:endParaRPr lang="en-US" sz="1100"/>
          </a:p>
        </p:txBody>
      </p:sp>
      <p:sp>
        <p:nvSpPr>
          <p:cNvPr id="8" name="AutoShape 8"/>
          <p:cNvSpPr/>
          <p:nvPr/>
        </p:nvSpPr>
        <p:spPr>
          <a:xfrm>
            <a:off x="5207000" y="4572000"/>
            <a:ext cx="1778000" cy="406400"/>
          </a:xfrm>
          <a:prstGeom prst="roundRect">
            <a:avLst>
              <a:gd name="adj" fmla="val 50000"/>
            </a:avLst>
          </a:prstGeom>
          <a:solidFill>
            <a:srgbClr val="0288D1">
              <a:alpha val="10000"/>
            </a:srgbClr>
          </a:solidFill>
          <a:ln w="254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0288D1"/>
                </a:solidFill>
                <a:latin typeface="Noto Sans SC"/>
                <a:ea typeface="Noto Sans SC"/>
                <a:cs typeface="Noto Sans SC"/>
                <a:sym typeface="Noto Sans SC"/>
              </a:rPr>
              <a:t>CHAPTER 06</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6.1.1 人机交互的演进</a:t>
            </a:r>
            <a:endParaRPr lang="en-US" sz="1100"/>
          </a:p>
        </p:txBody>
      </p:sp>
      <p:sp>
        <p:nvSpPr>
          <p:cNvPr id="3" name="AutoShape 3"/>
          <p:cNvSpPr/>
          <p:nvPr/>
        </p:nvSpPr>
        <p:spPr>
          <a:xfrm>
            <a:off x="762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1905000" y="1651000"/>
            <a:ext cx="1016000" cy="1016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108200" y="1854200"/>
            <a:ext cx="609600" cy="609600"/>
          </a:xfrm>
          <a:prstGeom prst="rect">
            <a:avLst/>
          </a:prstGeom>
        </p:spPr>
      </p:pic>
      <p:sp>
        <p:nvSpPr>
          <p:cNvPr id="6" name="AutoShape 6"/>
          <p:cNvSpPr/>
          <p:nvPr/>
        </p:nvSpPr>
        <p:spPr>
          <a:xfrm>
            <a:off x="889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第一代：命令行界面 (CLI)</a:t>
            </a:r>
            <a:endParaRPr lang="en-US" sz="1100"/>
          </a:p>
        </p:txBody>
      </p:sp>
      <p:sp>
        <p:nvSpPr>
          <p:cNvPr id="7" name="AutoShape 7"/>
          <p:cNvSpPr/>
          <p:nvPr/>
        </p:nvSpPr>
        <p:spPr>
          <a:xfrm>
            <a:off x="952500" y="3238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646464"/>
                </a:solidFill>
                <a:latin typeface="Noto Sans SC"/>
                <a:ea typeface="Noto Sans SC"/>
                <a:cs typeface="Noto Sans SC"/>
                <a:sym typeface="Noto Sans SC"/>
              </a:rPr>
              <a:t>代表：UNIX, DOS</a:t>
            </a:r>
            <a:endParaRPr lang="en-US" sz="1100"/>
          </a:p>
          <a:p>
            <a:pPr indent="0" algn="ctr">
              <a:lnSpc>
                <a:spcPct val="108000"/>
              </a:lnSpc>
            </a:pPr>
            <a:r>
              <a:rPr lang="en-US" sz="1300" b="0" i="0" u="none" strike="noStrike">
                <a:solidFill>
                  <a:srgbClr val="505050"/>
                </a:solidFill>
                <a:latin typeface="Noto Sans SC"/>
                <a:ea typeface="Noto Sans SC"/>
                <a:cs typeface="Noto Sans SC"/>
                <a:sym typeface="Noto Sans SC"/>
              </a:rPr>
              <a:t>用户输入命令控制计算机，简洁高效但交互性弱，学习成本较高。</a:t>
            </a:r>
            <a:endParaRPr lang="en-US" sz="1300" b="0" i="0" u="none" strike="noStrike">
              <a:solidFill>
                <a:srgbClr val="505050"/>
              </a:solidFill>
              <a:latin typeface="Noto Sans SC"/>
              <a:ea typeface="Noto Sans SC"/>
              <a:cs typeface="Noto Sans SC"/>
              <a:sym typeface="Noto Sans SC"/>
            </a:endParaRPr>
          </a:p>
        </p:txBody>
      </p:sp>
      <p:sp>
        <p:nvSpPr>
          <p:cNvPr id="8" name="AutoShape 8"/>
          <p:cNvSpPr/>
          <p:nvPr/>
        </p:nvSpPr>
        <p:spPr>
          <a:xfrm>
            <a:off x="4445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9" name="AutoShape 9"/>
          <p:cNvSpPr/>
          <p:nvPr/>
        </p:nvSpPr>
        <p:spPr>
          <a:xfrm>
            <a:off x="5588000" y="1651000"/>
            <a:ext cx="1016000" cy="1016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91200" y="1854200"/>
            <a:ext cx="609600" cy="609600"/>
          </a:xfrm>
          <a:prstGeom prst="rect">
            <a:avLst/>
          </a:prstGeom>
        </p:spPr>
      </p:pic>
      <p:sp>
        <p:nvSpPr>
          <p:cNvPr id="11" name="AutoShape 11"/>
          <p:cNvSpPr/>
          <p:nvPr/>
        </p:nvSpPr>
        <p:spPr>
          <a:xfrm>
            <a:off x="4572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第二代：图形用户界面 (GUI)</a:t>
            </a:r>
            <a:endParaRPr lang="en-US" sz="1100"/>
          </a:p>
        </p:txBody>
      </p:sp>
      <p:sp>
        <p:nvSpPr>
          <p:cNvPr id="12" name="AutoShape 12"/>
          <p:cNvSpPr/>
          <p:nvPr/>
        </p:nvSpPr>
        <p:spPr>
          <a:xfrm>
            <a:off x="4635500" y="3238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646464"/>
                </a:solidFill>
                <a:latin typeface="Noto Sans SC"/>
                <a:ea typeface="Noto Sans SC"/>
                <a:cs typeface="Noto Sans SC"/>
                <a:sym typeface="Noto Sans SC"/>
              </a:rPr>
              <a:t>代表：Windows, Mac OS</a:t>
            </a:r>
            <a:endParaRPr lang="en-US" sz="1100"/>
          </a:p>
          <a:p>
            <a:pPr indent="0" algn="ctr">
              <a:lnSpc>
                <a:spcPct val="108000"/>
              </a:lnSpc>
            </a:pPr>
            <a:r>
              <a:rPr lang="en-US" sz="1300" b="0" i="0" u="none" strike="noStrike">
                <a:solidFill>
                  <a:srgbClr val="505050"/>
                </a:solidFill>
                <a:latin typeface="Noto Sans SC"/>
                <a:ea typeface="Noto Sans SC"/>
                <a:cs typeface="Noto Sans SC"/>
                <a:sym typeface="Noto Sans SC"/>
              </a:rPr>
              <a:t>通过鼠标、键盘进行点击和输入，所见即所得，直观易用，但可能消耗较多资源。</a:t>
            </a:r>
            <a:endParaRPr lang="en-US" sz="1300" b="0" i="0" u="none" strike="noStrike">
              <a:solidFill>
                <a:srgbClr val="505050"/>
              </a:solidFill>
              <a:latin typeface="Noto Sans SC"/>
              <a:ea typeface="Noto Sans SC"/>
              <a:cs typeface="Noto Sans SC"/>
              <a:sym typeface="Noto Sans SC"/>
            </a:endParaRPr>
          </a:p>
        </p:txBody>
      </p:sp>
      <p:sp>
        <p:nvSpPr>
          <p:cNvPr id="13" name="AutoShape 13"/>
          <p:cNvSpPr/>
          <p:nvPr/>
        </p:nvSpPr>
        <p:spPr>
          <a:xfrm>
            <a:off x="8128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14" name="AutoShape 14"/>
          <p:cNvSpPr/>
          <p:nvPr/>
        </p:nvSpPr>
        <p:spPr>
          <a:xfrm>
            <a:off x="9271000" y="1651000"/>
            <a:ext cx="1016000" cy="1016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74200" y="1854200"/>
            <a:ext cx="609600" cy="609600"/>
          </a:xfrm>
          <a:prstGeom prst="rect">
            <a:avLst/>
          </a:prstGeom>
        </p:spPr>
      </p:pic>
      <p:sp>
        <p:nvSpPr>
          <p:cNvPr id="16" name="AutoShape 16"/>
          <p:cNvSpPr/>
          <p:nvPr/>
        </p:nvSpPr>
        <p:spPr>
          <a:xfrm>
            <a:off x="8255000" y="2794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第三代：自然语言界面 (NUI)</a:t>
            </a:r>
            <a:endParaRPr lang="en-US" sz="1100"/>
          </a:p>
        </p:txBody>
      </p:sp>
      <p:sp>
        <p:nvSpPr>
          <p:cNvPr id="17" name="AutoShape 17"/>
          <p:cNvSpPr/>
          <p:nvPr/>
        </p:nvSpPr>
        <p:spPr>
          <a:xfrm>
            <a:off x="8318500" y="3238500"/>
            <a:ext cx="2921000" cy="1524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400" b="1" i="0" u="none" strike="noStrike">
                <a:solidFill>
                  <a:srgbClr val="646464"/>
                </a:solidFill>
                <a:latin typeface="Noto Sans SC"/>
                <a:ea typeface="Noto Sans SC"/>
                <a:cs typeface="Noto Sans SC"/>
                <a:sym typeface="Noto Sans SC"/>
              </a:rPr>
              <a:t>代表：ChatGPT, Siri</a:t>
            </a:r>
            <a:endParaRPr lang="en-US" sz="1100"/>
          </a:p>
          <a:p>
            <a:pPr indent="0" algn="ctr">
              <a:lnSpc>
                <a:spcPct val="108000"/>
              </a:lnSpc>
            </a:pPr>
            <a:r>
              <a:rPr lang="en-US" sz="1300" b="0" i="0" u="none" strike="noStrike">
                <a:solidFill>
                  <a:srgbClr val="505050"/>
                </a:solidFill>
                <a:latin typeface="Noto Sans SC"/>
                <a:ea typeface="Noto Sans SC"/>
                <a:cs typeface="Noto Sans SC"/>
                <a:sym typeface="Noto Sans SC"/>
              </a:rPr>
              <a:t>使用自然语言与机器交流，交互自然、简单、高效，是当前人机交互的发展方向。</a:t>
            </a:r>
            <a:endParaRPr lang="en-US" sz="1300" b="0" i="0" u="none" strike="noStrike">
              <a:solidFill>
                <a:srgbClr val="505050"/>
              </a:solidFill>
              <a:latin typeface="Noto Sans SC"/>
              <a:ea typeface="Noto Sans SC"/>
              <a:cs typeface="Noto Sans SC"/>
              <a:sym typeface="Noto Sans SC"/>
            </a:endParaRPr>
          </a:p>
        </p:txBody>
      </p:sp>
      <p:sp>
        <p:nvSpPr>
          <p:cNvPr id="18" name="AutoShape 18"/>
          <p:cNvSpPr/>
          <p:nvPr/>
        </p:nvSpPr>
        <p:spPr>
          <a:xfrm>
            <a:off x="762000" y="5334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9" name="AutoShape 19"/>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核心趋势：</a:t>
            </a:r>
            <a:r>
              <a:rPr lang="en-US" sz="1600" b="0" i="0" u="none" strike="noStrike">
                <a:solidFill>
                  <a:srgbClr val="333333"/>
                </a:solidFill>
                <a:latin typeface="Noto Sans SC"/>
                <a:ea typeface="Noto Sans SC"/>
                <a:cs typeface="Noto Sans SC"/>
                <a:sym typeface="Noto Sans SC"/>
              </a:rPr>
              <a:t>交互方式从“机器语言”向“人类语言”演进，门槛降低，效率提升。</a:t>
            </a:r>
            <a:endParaRPr lang="en-US" sz="110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人机交互界面演进对比</a:t>
            </a:r>
            <a:endParaRPr lang="en-US" sz="1100"/>
          </a:p>
        </p:txBody>
      </p:sp>
      <p:sp>
        <p:nvSpPr>
          <p:cNvPr id="3" name="AutoShape 3"/>
          <p:cNvSpPr/>
          <p:nvPr/>
        </p:nvSpPr>
        <p:spPr>
          <a:xfrm>
            <a:off x="762000" y="1270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srcRect t="2450" b="2450"/>
          <a:stretch>
            <a:fillRect/>
          </a:stretch>
        </p:blipFill>
        <p:spPr>
          <a:xfrm>
            <a:off x="1016000" y="1460500"/>
            <a:ext cx="2794000" cy="1651000"/>
          </a:xfrm>
          <a:prstGeom prst="roundRect">
            <a:avLst>
              <a:gd name="adj" fmla="val 3846"/>
            </a:avLst>
          </a:prstGeom>
          <a:noFill/>
          <a:ln w="25400" cap="flat" cmpd="sng">
            <a:noFill/>
            <a:prstDash val="solid"/>
            <a:round/>
          </a:ln>
        </p:spPr>
      </p:pic>
      <p:sp>
        <p:nvSpPr>
          <p:cNvPr id="5" name="AutoShape 5"/>
          <p:cNvSpPr/>
          <p:nvPr/>
        </p:nvSpPr>
        <p:spPr>
          <a:xfrm>
            <a:off x="889000" y="32385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命令行界面 (CLI)</a:t>
            </a:r>
            <a:endParaRPr lang="en-US" sz="1100"/>
          </a:p>
        </p:txBody>
      </p:sp>
      <p:sp>
        <p:nvSpPr>
          <p:cNvPr id="6" name="AutoShape 6"/>
          <p:cNvSpPr/>
          <p:nvPr/>
        </p:nvSpPr>
        <p:spPr>
          <a:xfrm>
            <a:off x="889000" y="36195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纯文本输入，操作高效但需要专业知识，门槛较高。</a:t>
            </a:r>
            <a:endParaRPr lang="en-US" sz="1100"/>
          </a:p>
        </p:txBody>
      </p:sp>
      <p:sp>
        <p:nvSpPr>
          <p:cNvPr id="7" name="AutoShape 7"/>
          <p:cNvSpPr/>
          <p:nvPr/>
        </p:nvSpPr>
        <p:spPr>
          <a:xfrm>
            <a:off x="4445000" y="1270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2"/>
          <a:srcRect t="33381" b="33381"/>
          <a:stretch>
            <a:fillRect/>
          </a:stretch>
        </p:blipFill>
        <p:spPr>
          <a:xfrm>
            <a:off x="4699000" y="1460500"/>
            <a:ext cx="2794000" cy="1651000"/>
          </a:xfrm>
          <a:prstGeom prst="roundRect">
            <a:avLst>
              <a:gd name="adj" fmla="val 3846"/>
            </a:avLst>
          </a:prstGeom>
          <a:noFill/>
          <a:ln w="25400" cap="flat" cmpd="sng">
            <a:noFill/>
            <a:prstDash val="solid"/>
            <a:round/>
          </a:ln>
        </p:spPr>
      </p:pic>
      <p:sp>
        <p:nvSpPr>
          <p:cNvPr id="9" name="AutoShape 9"/>
          <p:cNvSpPr/>
          <p:nvPr/>
        </p:nvSpPr>
        <p:spPr>
          <a:xfrm>
            <a:off x="4572000" y="32385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图形用户界面 (GUI)</a:t>
            </a:r>
            <a:endParaRPr lang="en-US" sz="1100"/>
          </a:p>
        </p:txBody>
      </p:sp>
      <p:sp>
        <p:nvSpPr>
          <p:cNvPr id="10" name="AutoShape 10"/>
          <p:cNvSpPr/>
          <p:nvPr/>
        </p:nvSpPr>
        <p:spPr>
          <a:xfrm>
            <a:off x="4572000" y="36195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可视化操作，通过图标和窗口交互，直观便捷，易于普及。</a:t>
            </a:r>
            <a:endParaRPr lang="en-US" sz="1100"/>
          </a:p>
        </p:txBody>
      </p:sp>
      <p:sp>
        <p:nvSpPr>
          <p:cNvPr id="11" name="AutoShape 11"/>
          <p:cNvSpPr/>
          <p:nvPr/>
        </p:nvSpPr>
        <p:spPr>
          <a:xfrm>
            <a:off x="8128000" y="1270000"/>
            <a:ext cx="3302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3"/>
          <a:srcRect l="2389" r="2389"/>
          <a:stretch>
            <a:fillRect/>
          </a:stretch>
        </p:blipFill>
        <p:spPr>
          <a:xfrm>
            <a:off x="8382000" y="1460500"/>
            <a:ext cx="2794000" cy="1651000"/>
          </a:xfrm>
          <a:prstGeom prst="roundRect">
            <a:avLst>
              <a:gd name="adj" fmla="val 3846"/>
            </a:avLst>
          </a:prstGeom>
          <a:noFill/>
          <a:ln w="25400" cap="flat" cmpd="sng">
            <a:noFill/>
            <a:prstDash val="solid"/>
            <a:round/>
          </a:ln>
        </p:spPr>
      </p:pic>
      <p:sp>
        <p:nvSpPr>
          <p:cNvPr id="13" name="AutoShape 13"/>
          <p:cNvSpPr/>
          <p:nvPr/>
        </p:nvSpPr>
        <p:spPr>
          <a:xfrm>
            <a:off x="8255000" y="3238500"/>
            <a:ext cx="3048000" cy="3556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1" i="0" u="none" strike="noStrike">
                <a:solidFill>
                  <a:srgbClr val="0288D1"/>
                </a:solidFill>
                <a:latin typeface="Noto Sans SC"/>
                <a:ea typeface="Noto Sans SC"/>
                <a:cs typeface="Noto Sans SC"/>
                <a:sym typeface="Noto Sans SC"/>
              </a:rPr>
              <a:t>自然语言界面 (NUI)</a:t>
            </a:r>
            <a:endParaRPr lang="en-US" sz="1100"/>
          </a:p>
        </p:txBody>
      </p:sp>
      <p:sp>
        <p:nvSpPr>
          <p:cNvPr id="14" name="AutoShape 14"/>
          <p:cNvSpPr/>
          <p:nvPr/>
        </p:nvSpPr>
        <p:spPr>
          <a:xfrm>
            <a:off x="8255000" y="3619500"/>
            <a:ext cx="3048000" cy="508000"/>
          </a:xfrm>
          <a:prstGeom prst="rect">
            <a:avLst/>
          </a:prstGeom>
          <a:noFill/>
          <a:ln w="12700" cap="flat" cmpd="sng">
            <a:noFill/>
            <a:prstDash val="solid"/>
            <a:round/>
          </a:ln>
        </p:spPr>
        <p:txBody>
          <a:bodyPr vert="horz" wrap="square" lIns="0" tIns="0" rIns="0" bIns="0" rtlCol="0" anchor="ctr" anchorCtr="0"/>
          <a:lstStyle/>
          <a:p>
            <a:pPr indent="0" algn="ctr">
              <a:lnSpc>
                <a:spcPct val="100000"/>
              </a:lnSpc>
              <a:defRPr/>
            </a:pPr>
            <a:r>
              <a:rPr lang="en-US" sz="1400" b="0" i="0" u="none" strike="noStrike">
                <a:solidFill>
                  <a:srgbClr val="333333"/>
                </a:solidFill>
                <a:latin typeface="Noto Sans SC"/>
                <a:ea typeface="Noto Sans SC"/>
                <a:cs typeface="Noto Sans SC"/>
                <a:sym typeface="Noto Sans SC"/>
              </a:rPr>
              <a:t>对话式交互，模拟人类语言沟通，自然智能，降低使用门槛。</a:t>
            </a:r>
            <a:endParaRPr lang="en-US" sz="1100"/>
          </a:p>
        </p:txBody>
      </p:sp>
      <p:sp>
        <p:nvSpPr>
          <p:cNvPr id="15" name="AutoShape 15"/>
          <p:cNvSpPr/>
          <p:nvPr/>
        </p:nvSpPr>
        <p:spPr>
          <a:xfrm>
            <a:off x="762000" y="4699000"/>
            <a:ext cx="10668000" cy="1016000"/>
          </a:xfrm>
          <a:prstGeom prst="roundRect">
            <a:avLst>
              <a:gd name="adj" fmla="val 1250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6" name="AutoShape 16"/>
          <p:cNvSpPr/>
          <p:nvPr/>
        </p:nvSpPr>
        <p:spPr>
          <a:xfrm>
            <a:off x="1016000" y="4889500"/>
            <a:ext cx="10160000" cy="635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600" b="1" i="0" u="none" strike="noStrike">
                <a:solidFill>
                  <a:srgbClr val="333333"/>
                </a:solidFill>
                <a:latin typeface="Noto Sans SC"/>
                <a:ea typeface="Noto Sans SC"/>
                <a:cs typeface="Noto Sans SC"/>
                <a:sym typeface="Noto Sans SC"/>
              </a:rPr>
              <a:t>演进趋势：</a:t>
            </a:r>
            <a:r>
              <a:rPr lang="en-US" sz="1600" b="0" i="0" u="none" strike="noStrike">
                <a:solidFill>
                  <a:srgbClr val="333333"/>
                </a:solidFill>
                <a:latin typeface="Noto Sans SC"/>
                <a:ea typeface="Noto Sans SC"/>
                <a:cs typeface="Noto Sans SC"/>
                <a:sym typeface="Noto Sans SC"/>
              </a:rPr>
              <a:t>从需要记忆指令的“机器语言”，进化到所见即所得的“视觉语言”，最终走向理解人类意图的“自然语言”。</a:t>
            </a:r>
            <a:endParaRPr lang="en-US" sz="110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914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6.1.2 什么是提示词？</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5080000" cy="609600"/>
          </a:xfrm>
          <a:prstGeom prst="roundRect">
            <a:avLst>
              <a:gd name="adj" fmla="val 208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524000"/>
            <a:ext cx="355600" cy="355600"/>
          </a:xfrm>
          <a:prstGeom prst="rect">
            <a:avLst/>
          </a:prstGeom>
        </p:spPr>
      </p:pic>
      <p:sp>
        <p:nvSpPr>
          <p:cNvPr id="6" name="AutoShape 6"/>
          <p:cNvSpPr/>
          <p:nvPr/>
        </p:nvSpPr>
        <p:spPr>
          <a:xfrm>
            <a:off x="1397000" y="14732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起源与发展</a:t>
            </a:r>
            <a:endParaRPr lang="en-US" sz="1100"/>
          </a:p>
        </p:txBody>
      </p:sp>
      <p:sp>
        <p:nvSpPr>
          <p:cNvPr id="7" name="AutoShape 7"/>
          <p:cNvSpPr/>
          <p:nvPr/>
        </p:nvSpPr>
        <p:spPr>
          <a:xfrm>
            <a:off x="1016000" y="2159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333333"/>
                </a:solidFill>
                <a:latin typeface="Noto Sans SC"/>
                <a:ea typeface="Noto Sans SC"/>
                <a:cs typeface="Noto Sans SC"/>
                <a:sym typeface="Noto Sans SC"/>
              </a:rPr>
              <a:t>背景：</a:t>
            </a:r>
            <a:r>
              <a:rPr lang="en-US" sz="1500" b="0" i="0" u="none" strike="noStrike">
                <a:solidFill>
                  <a:srgbClr val="555555"/>
                </a:solidFill>
                <a:latin typeface="Noto Sans SC"/>
                <a:ea typeface="Noto Sans SC"/>
                <a:cs typeface="Noto Sans SC"/>
                <a:sym typeface="Noto Sans SC"/>
              </a:rPr>
              <a:t>随着预训练语言模型（如GPT系列）的发展而出现。</a:t>
            </a:r>
            <a:endParaRPr lang="en-US" sz="1100"/>
          </a:p>
          <a:p>
            <a:pPr indent="0" algn="l">
              <a:lnSpc>
                <a:spcPct val="117000"/>
              </a:lnSpc>
            </a:pPr>
            <a:r>
              <a:rPr lang="en-US" sz="1600" b="1" i="0" u="none" strike="noStrike">
                <a:solidFill>
                  <a:srgbClr val="333333"/>
                </a:solidFill>
                <a:latin typeface="Noto Sans SC"/>
                <a:ea typeface="Noto Sans SC"/>
                <a:cs typeface="Noto Sans SC"/>
                <a:sym typeface="Noto Sans SC"/>
              </a:rPr>
              <a:t>初衷：</a:t>
            </a:r>
            <a:r>
              <a:rPr lang="en-US" sz="1500" b="0" i="0" u="none" strike="noStrike">
                <a:solidFill>
                  <a:srgbClr val="555555"/>
                </a:solidFill>
                <a:latin typeface="Noto Sans SC"/>
                <a:ea typeface="Noto Sans SC"/>
                <a:cs typeface="Noto Sans SC"/>
                <a:sym typeface="Noto Sans SC"/>
              </a:rPr>
              <a:t>最初是科研人员为下游任务设计的输入模板，目的是激活模型已学习的预训练知识，使其在无需微调的情况下完成特定任务。</a:t>
            </a:r>
            <a:endParaRPr lang="en-US" sz="1500" b="0" i="0" u="none" strike="noStrike">
              <a:solidFill>
                <a:srgbClr val="555555"/>
              </a:solidFill>
              <a:latin typeface="Noto Sans SC"/>
              <a:ea typeface="Noto Sans SC"/>
              <a:cs typeface="Noto Sans SC"/>
              <a:sym typeface="Noto Sans SC"/>
            </a:endParaRPr>
          </a:p>
        </p:txBody>
      </p:sp>
      <p:sp>
        <p:nvSpPr>
          <p:cNvPr id="8" name="AutoShape 8"/>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6350000" y="1397000"/>
            <a:ext cx="5080000" cy="609600"/>
          </a:xfrm>
          <a:prstGeom prst="roundRect">
            <a:avLst>
              <a:gd name="adj" fmla="val 208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524000"/>
            <a:ext cx="355600" cy="355600"/>
          </a:xfrm>
          <a:prstGeom prst="rect">
            <a:avLst/>
          </a:prstGeom>
        </p:spPr>
      </p:pic>
      <p:sp>
        <p:nvSpPr>
          <p:cNvPr id="11" name="AutoShape 11"/>
          <p:cNvSpPr/>
          <p:nvPr/>
        </p:nvSpPr>
        <p:spPr>
          <a:xfrm>
            <a:off x="6985000" y="1473200"/>
            <a:ext cx="4191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定义与本质</a:t>
            </a:r>
            <a:endParaRPr lang="en-US" sz="1100"/>
          </a:p>
        </p:txBody>
      </p:sp>
      <p:sp>
        <p:nvSpPr>
          <p:cNvPr id="12" name="AutoShape 12"/>
          <p:cNvSpPr/>
          <p:nvPr/>
        </p:nvSpPr>
        <p:spPr>
          <a:xfrm>
            <a:off x="6604000" y="2159000"/>
            <a:ext cx="4572000" cy="228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600" b="1" i="0" u="none" strike="noStrike">
                <a:solidFill>
                  <a:srgbClr val="333333"/>
                </a:solidFill>
                <a:latin typeface="Noto Sans SC"/>
                <a:ea typeface="Noto Sans SC"/>
                <a:cs typeface="Noto Sans SC"/>
                <a:sym typeface="Noto Sans SC"/>
              </a:rPr>
              <a:t>学术定义：</a:t>
            </a:r>
            <a:r>
              <a:rPr lang="en-US" sz="1500" b="0" i="0" u="none" strike="noStrike">
                <a:solidFill>
                  <a:srgbClr val="555555"/>
                </a:solidFill>
                <a:latin typeface="Noto Sans SC"/>
                <a:ea typeface="Noto Sans SC"/>
                <a:cs typeface="Noto Sans SC"/>
                <a:sym typeface="Noto Sans SC"/>
              </a:rPr>
              <a:t>一种函数，将输入文本 x 转换为特定形式 x'，引导大模型生成适当输出。</a:t>
            </a:r>
            <a:endParaRPr lang="en-US" sz="1100"/>
          </a:p>
          <a:p>
            <a:pPr indent="0" algn="l">
              <a:lnSpc>
                <a:spcPct val="117000"/>
              </a:lnSpc>
            </a:pPr>
            <a:r>
              <a:rPr lang="en-US" sz="1600" b="1" i="0" u="none" strike="noStrike">
                <a:solidFill>
                  <a:srgbClr val="333333"/>
                </a:solidFill>
                <a:latin typeface="Noto Sans SC"/>
                <a:ea typeface="Noto Sans SC"/>
                <a:cs typeface="Noto Sans SC"/>
                <a:sym typeface="Noto Sans SC"/>
              </a:rPr>
              <a:t>通俗理解：</a:t>
            </a:r>
            <a:r>
              <a:rPr lang="en-US" sz="1500" b="0" i="0" u="none" strike="noStrike">
                <a:solidFill>
                  <a:srgbClr val="555555"/>
                </a:solidFill>
                <a:latin typeface="Noto Sans SC"/>
                <a:ea typeface="Noto Sans SC"/>
                <a:cs typeface="Noto Sans SC"/>
                <a:sym typeface="Noto Sans SC"/>
              </a:rPr>
              <a:t>本质是引导模型生成所需内容的信息。它可以是问题、描述、指令等，是用户与AI交互的核心接口。</a:t>
            </a:r>
            <a:endParaRPr lang="en-US" sz="1500" b="0" i="0" u="none" strike="noStrike">
              <a:solidFill>
                <a:srgbClr val="555555"/>
              </a:solidFill>
              <a:latin typeface="Noto Sans SC"/>
              <a:ea typeface="Noto Sans SC"/>
              <a:cs typeface="Noto Sans SC"/>
              <a:sym typeface="Noto Sans SC"/>
            </a:endParaRPr>
          </a:p>
        </p:txBody>
      </p:sp>
      <p:sp>
        <p:nvSpPr>
          <p:cNvPr id="13" name="AutoShape 13"/>
          <p:cNvSpPr/>
          <p:nvPr/>
        </p:nvSpPr>
        <p:spPr>
          <a:xfrm>
            <a:off x="762000" y="5334000"/>
            <a:ext cx="10668000" cy="889000"/>
          </a:xfrm>
          <a:prstGeom prst="roundRect">
            <a:avLst>
              <a:gd name="adj" fmla="val 14285"/>
            </a:avLst>
          </a:prstGeom>
          <a:solidFill>
            <a:srgbClr val="FFFFFF">
              <a:alpha val="10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62600"/>
            <a:ext cx="406400" cy="406400"/>
          </a:xfrm>
          <a:prstGeom prst="rect">
            <a:avLst/>
          </a:prstGeom>
        </p:spPr>
      </p:pic>
      <p:sp>
        <p:nvSpPr>
          <p:cNvPr id="15" name="AutoShape 15"/>
          <p:cNvSpPr/>
          <p:nvPr/>
        </p:nvSpPr>
        <p:spPr>
          <a:xfrm>
            <a:off x="1587500" y="5461000"/>
            <a:ext cx="95885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核心洞察：</a:t>
            </a:r>
            <a:r>
              <a:rPr lang="en-US" sz="1600" b="0" i="0" u="none" strike="noStrike">
                <a:solidFill>
                  <a:srgbClr val="555555"/>
                </a:solidFill>
                <a:latin typeface="Noto Sans SC"/>
                <a:ea typeface="Noto Sans SC"/>
                <a:cs typeface="Noto Sans SC"/>
                <a:sym typeface="Noto Sans SC"/>
              </a:rPr>
              <a:t>提示词不仅仅是简单的提问，更是一种通过语言指令“编程”大模型的艺术，旨在高效地激活模型能力。</a:t>
            </a:r>
            <a:endParaRPr lang="en-US" sz="110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1242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提示词的核心作用</a:t>
            </a:r>
            <a:endParaRPr lang="en-US" sz="1100"/>
          </a:p>
        </p:txBody>
      </p:sp>
      <p:sp>
        <p:nvSpPr>
          <p:cNvPr id="3" name="AutoShape 3"/>
          <p:cNvSpPr/>
          <p:nvPr/>
        </p:nvSpPr>
        <p:spPr>
          <a:xfrm>
            <a:off x="762000" y="1397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1866900"/>
            <a:ext cx="457200" cy="457200"/>
          </a:xfrm>
          <a:prstGeom prst="rect">
            <a:avLst/>
          </a:prstGeom>
        </p:spPr>
      </p:pic>
      <p:sp>
        <p:nvSpPr>
          <p:cNvPr id="6" name="AutoShape 6"/>
          <p:cNvSpPr/>
          <p:nvPr/>
        </p:nvSpPr>
        <p:spPr>
          <a:xfrm>
            <a:off x="2032000" y="1587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引导生成</a:t>
            </a:r>
            <a:endParaRPr lang="en-US" sz="1100"/>
          </a:p>
        </p:txBody>
      </p:sp>
      <p:sp>
        <p:nvSpPr>
          <p:cNvPr id="7" name="AutoShape 7"/>
          <p:cNvSpPr/>
          <p:nvPr/>
        </p:nvSpPr>
        <p:spPr>
          <a:xfrm>
            <a:off x="2032000" y="1968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这是最基本的作用，通过提示词引导模型生成特定主题、风格或格式的内容，例如回答问题、撰写邮件、生成代码等。</a:t>
            </a:r>
            <a:endParaRPr lang="en-US" sz="1100"/>
          </a:p>
        </p:txBody>
      </p:sp>
      <p:sp>
        <p:nvSpPr>
          <p:cNvPr id="8" name="AutoShape 8"/>
          <p:cNvSpPr/>
          <p:nvPr/>
        </p:nvSpPr>
        <p:spPr>
          <a:xfrm>
            <a:off x="762000" y="3048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1016000" y="3365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8400" y="3517900"/>
            <a:ext cx="457200" cy="457200"/>
          </a:xfrm>
          <a:prstGeom prst="rect">
            <a:avLst/>
          </a:prstGeom>
        </p:spPr>
      </p:pic>
      <p:sp>
        <p:nvSpPr>
          <p:cNvPr id="11" name="AutoShape 11"/>
          <p:cNvSpPr/>
          <p:nvPr/>
        </p:nvSpPr>
        <p:spPr>
          <a:xfrm>
            <a:off x="2032000" y="3238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模型微调</a:t>
            </a:r>
            <a:endParaRPr lang="en-US" sz="1100"/>
          </a:p>
        </p:txBody>
      </p:sp>
      <p:sp>
        <p:nvSpPr>
          <p:cNvPr id="12" name="AutoShape 12"/>
          <p:cNvSpPr/>
          <p:nvPr/>
        </p:nvSpPr>
        <p:spPr>
          <a:xfrm>
            <a:off x="2032000" y="3619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提示词也可以用于模型的训练和微调阶段。通过提供高质量的、有针对性的提示和对应的理想输出，可以帮助模型更好地学习特定任务，提升其在该任务上的准确性。</a:t>
            </a:r>
            <a:endParaRPr lang="en-US" sz="1100"/>
          </a:p>
        </p:txBody>
      </p:sp>
      <p:sp>
        <p:nvSpPr>
          <p:cNvPr id="13" name="AutoShape 13"/>
          <p:cNvSpPr/>
          <p:nvPr/>
        </p:nvSpPr>
        <p:spPr>
          <a:xfrm>
            <a:off x="762000" y="4699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1016000" y="5016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400" y="5168900"/>
            <a:ext cx="457200" cy="457200"/>
          </a:xfrm>
          <a:prstGeom prst="rect">
            <a:avLst/>
          </a:prstGeom>
        </p:spPr>
      </p:pic>
      <p:sp>
        <p:nvSpPr>
          <p:cNvPr id="16" name="AutoShape 16"/>
          <p:cNvSpPr/>
          <p:nvPr/>
        </p:nvSpPr>
        <p:spPr>
          <a:xfrm>
            <a:off x="2032000" y="4889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新型交互接口</a:t>
            </a:r>
            <a:endParaRPr lang="en-US" sz="1100"/>
          </a:p>
        </p:txBody>
      </p:sp>
      <p:sp>
        <p:nvSpPr>
          <p:cNvPr id="17" name="AutoShape 17"/>
          <p:cNvSpPr/>
          <p:nvPr/>
        </p:nvSpPr>
        <p:spPr>
          <a:xfrm>
            <a:off x="2032000" y="5270500"/>
            <a:ext cx="9144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400" b="0" i="0" u="none" strike="noStrike">
                <a:solidFill>
                  <a:srgbClr val="333333"/>
                </a:solidFill>
                <a:latin typeface="Noto Sans SC"/>
                <a:ea typeface="Noto Sans SC"/>
                <a:cs typeface="Noto Sans SC"/>
                <a:sym typeface="Noto Sans SC"/>
              </a:rPr>
              <a:t>提示词本身构成了一种全新的、以自然语言为基础的人机交互接口，它重新定义了我们如何与AI系统协作。</a:t>
            </a:r>
            <a:endParaRPr lang="en-US" sz="110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81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6.1.3 什么是提示词工程？</a:t>
            </a:r>
            <a:endParaRPr lang="en-US" sz="1100"/>
          </a:p>
        </p:txBody>
      </p:sp>
      <p:sp>
        <p:nvSpPr>
          <p:cNvPr id="3" name="AutoShape 3"/>
          <p:cNvSpPr/>
          <p:nvPr/>
        </p:nvSpPr>
        <p:spPr>
          <a:xfrm>
            <a:off x="762000" y="1270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87500"/>
            <a:ext cx="508000" cy="508000"/>
          </a:xfrm>
          <a:prstGeom prst="rect">
            <a:avLst/>
          </a:prstGeom>
        </p:spPr>
      </p:pic>
      <p:sp>
        <p:nvSpPr>
          <p:cNvPr id="5" name="AutoShape 5"/>
          <p:cNvSpPr/>
          <p:nvPr/>
        </p:nvSpPr>
        <p:spPr>
          <a:xfrm>
            <a:off x="1651000" y="14605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提示词的构成要素</a:t>
            </a:r>
            <a:endParaRPr lang="en-US" sz="1100"/>
          </a:p>
        </p:txBody>
      </p:sp>
      <p:sp>
        <p:nvSpPr>
          <p:cNvPr id="6" name="AutoShape 6"/>
          <p:cNvSpPr/>
          <p:nvPr/>
        </p:nvSpPr>
        <p:spPr>
          <a:xfrm>
            <a:off x="1651000" y="1841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提示词并非简单的文字，它由文字、标点符号、关键词、语法结构甚至格式（如分隔符、列表）等多种要素构成，这些要素共同影响模型的输出质量。</a:t>
            </a:r>
            <a:endParaRPr lang="en-US" sz="1100"/>
          </a:p>
        </p:txBody>
      </p:sp>
      <p:sp>
        <p:nvSpPr>
          <p:cNvPr id="7" name="AutoShape 7"/>
          <p:cNvSpPr/>
          <p:nvPr/>
        </p:nvSpPr>
        <p:spPr>
          <a:xfrm>
            <a:off x="762000" y="2921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238500"/>
            <a:ext cx="508000" cy="508000"/>
          </a:xfrm>
          <a:prstGeom prst="rect">
            <a:avLst/>
          </a:prstGeom>
        </p:spPr>
      </p:pic>
      <p:sp>
        <p:nvSpPr>
          <p:cNvPr id="9" name="AutoShape 9"/>
          <p:cNvSpPr/>
          <p:nvPr/>
        </p:nvSpPr>
        <p:spPr>
          <a:xfrm>
            <a:off x="1651000" y="31115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定义</a:t>
            </a:r>
            <a:endParaRPr lang="en-US" sz="1100"/>
          </a:p>
        </p:txBody>
      </p:sp>
      <p:sp>
        <p:nvSpPr>
          <p:cNvPr id="10" name="AutoShape 10"/>
          <p:cNvSpPr/>
          <p:nvPr/>
        </p:nvSpPr>
        <p:spPr>
          <a:xfrm>
            <a:off x="1651000" y="3492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提示词工程是一种通过精心设计和使用特定的提示词，来指导大型语言模型生成符合用户预期要求的文本输出的方法学。</a:t>
            </a:r>
            <a:endParaRPr lang="en-US" sz="1100"/>
          </a:p>
        </p:txBody>
      </p:sp>
      <p:sp>
        <p:nvSpPr>
          <p:cNvPr id="11" name="AutoShape 11"/>
          <p:cNvSpPr/>
          <p:nvPr/>
        </p:nvSpPr>
        <p:spPr>
          <a:xfrm>
            <a:off x="762000" y="4572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889500"/>
            <a:ext cx="508000" cy="508000"/>
          </a:xfrm>
          <a:prstGeom prst="rect">
            <a:avLst/>
          </a:prstGeom>
        </p:spPr>
      </p:pic>
      <p:sp>
        <p:nvSpPr>
          <p:cNvPr id="13" name="AutoShape 13"/>
          <p:cNvSpPr/>
          <p:nvPr/>
        </p:nvSpPr>
        <p:spPr>
          <a:xfrm>
            <a:off x="1651000" y="4762500"/>
            <a:ext cx="9525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核心思想</a:t>
            </a:r>
            <a:endParaRPr lang="en-US" sz="1100"/>
          </a:p>
        </p:txBody>
      </p:sp>
      <p:sp>
        <p:nvSpPr>
          <p:cNvPr id="14" name="AutoShape 14"/>
          <p:cNvSpPr/>
          <p:nvPr/>
        </p:nvSpPr>
        <p:spPr>
          <a:xfrm>
            <a:off x="1651000" y="51435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其核心在于“以输入控制输出”，通过优化输入的提示词，来间接控制和优化模型的最终输出结果，从而提高模型在特定任务上的效率和可靠性。</a:t>
            </a:r>
            <a:endParaRPr lang="en-US" sz="110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5856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提示词工程的局限性（一）</a:t>
            </a:r>
            <a:endParaRPr lang="en-US" sz="1100"/>
          </a:p>
        </p:txBody>
      </p:sp>
      <p:sp>
        <p:nvSpPr>
          <p:cNvPr id="3" name="AutoShape 3"/>
          <p:cNvSpPr/>
          <p:nvPr/>
        </p:nvSpPr>
        <p:spPr>
          <a:xfrm>
            <a:off x="7620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提示词敏感性</a:t>
            </a:r>
            <a:endParaRPr lang="en-US" sz="1100"/>
          </a:p>
        </p:txBody>
      </p:sp>
      <p:sp>
        <p:nvSpPr>
          <p:cNvPr id="6" name="AutoShape 6"/>
          <p:cNvSpPr/>
          <p:nvPr/>
        </p:nvSpPr>
        <p:spPr>
          <a:xfrm>
            <a:off x="1016000" y="2095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大模型对提示词的细微变化非常敏感，一个词语或标点的改变都可能导致输出结果的巨大差异，增加了设计难度。</a:t>
            </a:r>
            <a:endParaRPr lang="en-US" sz="1100"/>
          </a:p>
        </p:txBody>
      </p:sp>
      <p:sp>
        <p:nvSpPr>
          <p:cNvPr id="7" name="AutoShape 7"/>
          <p:cNvSpPr/>
          <p:nvPr/>
        </p:nvSpPr>
        <p:spPr>
          <a:xfrm>
            <a:off x="62865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651000"/>
            <a:ext cx="406400" cy="406400"/>
          </a:xfrm>
          <a:prstGeom prst="rect">
            <a:avLst/>
          </a:prstGeom>
        </p:spPr>
      </p:pic>
      <p:sp>
        <p:nvSpPr>
          <p:cNvPr id="9" name="AutoShape 9"/>
          <p:cNvSpPr/>
          <p:nvPr/>
        </p:nvSpPr>
        <p:spPr>
          <a:xfrm>
            <a:off x="7048500" y="1600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缺乏通用性</a:t>
            </a:r>
            <a:endParaRPr lang="en-US" sz="1100"/>
          </a:p>
        </p:txBody>
      </p:sp>
      <p:sp>
        <p:nvSpPr>
          <p:cNvPr id="10" name="AutoShape 10"/>
          <p:cNvSpPr/>
          <p:nvPr/>
        </p:nvSpPr>
        <p:spPr>
          <a:xfrm>
            <a:off x="6540500" y="2095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为特定任务设计的优秀提示词往往难以直接迁移到其他任务，需要为不同任务单独设计，增加了工作量。</a:t>
            </a:r>
            <a:endParaRPr lang="en-US" sz="1100"/>
          </a:p>
        </p:txBody>
      </p:sp>
      <p:sp>
        <p:nvSpPr>
          <p:cNvPr id="11" name="AutoShape 11"/>
          <p:cNvSpPr/>
          <p:nvPr/>
        </p:nvSpPr>
        <p:spPr>
          <a:xfrm>
            <a:off x="7620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4064000"/>
            <a:ext cx="406400" cy="406400"/>
          </a:xfrm>
          <a:prstGeom prst="rect">
            <a:avLst/>
          </a:prstGeom>
        </p:spPr>
      </p:pic>
      <p:sp>
        <p:nvSpPr>
          <p:cNvPr id="13" name="AutoShape 13"/>
          <p:cNvSpPr/>
          <p:nvPr/>
        </p:nvSpPr>
        <p:spPr>
          <a:xfrm>
            <a:off x="1524000" y="4013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复杂性与可解释性</a:t>
            </a:r>
            <a:endParaRPr lang="en-US" sz="1100"/>
          </a:p>
        </p:txBody>
      </p:sp>
      <p:sp>
        <p:nvSpPr>
          <p:cNvPr id="14" name="AutoShape 14"/>
          <p:cNvSpPr/>
          <p:nvPr/>
        </p:nvSpPr>
        <p:spPr>
          <a:xfrm>
            <a:off x="1016000" y="4508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复杂任务的提示词设计极其复杂，且难以解释其工作机制，其有效性往往是一个难以完全理解的“黑盒”。</a:t>
            </a:r>
            <a:endParaRPr lang="en-US" sz="1100"/>
          </a:p>
        </p:txBody>
      </p:sp>
      <p:sp>
        <p:nvSpPr>
          <p:cNvPr id="15" name="AutoShape 15"/>
          <p:cNvSpPr/>
          <p:nvPr/>
        </p:nvSpPr>
        <p:spPr>
          <a:xfrm>
            <a:off x="62865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540500" y="4064000"/>
            <a:ext cx="406400" cy="406400"/>
          </a:xfrm>
          <a:prstGeom prst="rect">
            <a:avLst/>
          </a:prstGeom>
        </p:spPr>
      </p:pic>
      <p:sp>
        <p:nvSpPr>
          <p:cNvPr id="17" name="AutoShape 17"/>
          <p:cNvSpPr/>
          <p:nvPr/>
        </p:nvSpPr>
        <p:spPr>
          <a:xfrm>
            <a:off x="7048500" y="4013200"/>
            <a:ext cx="4127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依赖试错法</a:t>
            </a:r>
            <a:endParaRPr lang="en-US" sz="1100"/>
          </a:p>
        </p:txBody>
      </p:sp>
      <p:sp>
        <p:nvSpPr>
          <p:cNvPr id="18" name="AutoShape 18"/>
          <p:cNvSpPr/>
          <p:nvPr/>
        </p:nvSpPr>
        <p:spPr>
          <a:xfrm>
            <a:off x="6540500" y="4508500"/>
            <a:ext cx="46355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高质量提示词的设计目前很大程度上依赖反复的试错和调优，缺乏普适性理论指导，耗时费力。</a:t>
            </a:r>
            <a:endParaRPr lang="en-US" sz="110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提示词工程的局限性（二）</a:t>
            </a:r>
            <a:endParaRPr lang="en-US" sz="1100"/>
          </a:p>
        </p:txBody>
      </p:sp>
      <p:sp>
        <p:nvSpPr>
          <p:cNvPr id="3" name="AutoShape 3"/>
          <p:cNvSpPr/>
          <p:nvPr/>
        </p:nvSpPr>
        <p:spPr>
          <a:xfrm>
            <a:off x="762000" y="1397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714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206500" y="1905000"/>
            <a:ext cx="381000" cy="381000"/>
          </a:xfrm>
          <a:prstGeom prst="rect">
            <a:avLst/>
          </a:prstGeom>
        </p:spPr>
      </p:pic>
      <p:sp>
        <p:nvSpPr>
          <p:cNvPr id="6" name="AutoShape 6"/>
          <p:cNvSpPr/>
          <p:nvPr/>
        </p:nvSpPr>
        <p:spPr>
          <a:xfrm>
            <a:off x="2032000" y="1587500"/>
            <a:ext cx="914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模型局限性</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提示词工程的效果最终受限于底层大语言模型的能力和知识范围。如果模型本身不具备相关知识或存在缺陷，再好的提示词也无法完全弥补。</a:t>
            </a:r>
            <a:endParaRPr lang="en-US" sz="1400" b="0" i="0" u="none" strike="noStrike">
              <a:solidFill>
                <a:srgbClr val="333333"/>
              </a:solidFill>
              <a:latin typeface="Noto Sans SC"/>
              <a:ea typeface="Noto Sans SC"/>
              <a:cs typeface="Noto Sans SC"/>
              <a:sym typeface="Noto Sans SC"/>
            </a:endParaRPr>
          </a:p>
        </p:txBody>
      </p:sp>
      <p:sp>
        <p:nvSpPr>
          <p:cNvPr id="7" name="AutoShape 7"/>
          <p:cNvSpPr/>
          <p:nvPr/>
        </p:nvSpPr>
        <p:spPr>
          <a:xfrm>
            <a:off x="762000" y="3048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8" name="AutoShape 8"/>
          <p:cNvSpPr/>
          <p:nvPr/>
        </p:nvSpPr>
        <p:spPr>
          <a:xfrm>
            <a:off x="1016000" y="3365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206500" y="3556000"/>
            <a:ext cx="381000" cy="381000"/>
          </a:xfrm>
          <a:prstGeom prst="rect">
            <a:avLst/>
          </a:prstGeom>
        </p:spPr>
      </p:pic>
      <p:sp>
        <p:nvSpPr>
          <p:cNvPr id="10" name="AutoShape 10"/>
          <p:cNvSpPr/>
          <p:nvPr/>
        </p:nvSpPr>
        <p:spPr>
          <a:xfrm>
            <a:off x="2032000" y="3238500"/>
            <a:ext cx="914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生成内容的可控性</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尽管提示词能引导模型，但要完全、精确地控制生成内容的每一个细节，尤其是在开放式创作任务中，仍然是一个巨大的挑战。</a:t>
            </a:r>
            <a:endParaRPr lang="en-US" sz="1400" b="0" i="0" u="none" strike="noStrike">
              <a:solidFill>
                <a:srgbClr val="333333"/>
              </a:solidFill>
              <a:latin typeface="Noto Sans SC"/>
              <a:ea typeface="Noto Sans SC"/>
              <a:cs typeface="Noto Sans SC"/>
              <a:sym typeface="Noto Sans SC"/>
            </a:endParaRPr>
          </a:p>
        </p:txBody>
      </p:sp>
      <p:sp>
        <p:nvSpPr>
          <p:cNvPr id="11" name="AutoShape 11"/>
          <p:cNvSpPr/>
          <p:nvPr/>
        </p:nvSpPr>
        <p:spPr>
          <a:xfrm>
            <a:off x="762000" y="4699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12" name="AutoShape 12"/>
          <p:cNvSpPr/>
          <p:nvPr/>
        </p:nvSpPr>
        <p:spPr>
          <a:xfrm>
            <a:off x="1016000" y="5016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206500" y="5207000"/>
            <a:ext cx="381000" cy="381000"/>
          </a:xfrm>
          <a:prstGeom prst="rect">
            <a:avLst/>
          </a:prstGeom>
        </p:spPr>
      </p:pic>
      <p:sp>
        <p:nvSpPr>
          <p:cNvPr id="14" name="AutoShape 14"/>
          <p:cNvSpPr/>
          <p:nvPr/>
        </p:nvSpPr>
        <p:spPr>
          <a:xfrm>
            <a:off x="2032000" y="4889500"/>
            <a:ext cx="914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数据偏见与伦理问题</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提示词工程无法从根本上解决语言模型在训练数据中可能存在的偏见和潜在的伦理风险，模型仍可能生成不当内容。</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381000" y="-381000"/>
            <a:ext cx="1524000" cy="1524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286000" cy="2286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5" name="AutoShape 5"/>
          <p:cNvSpPr/>
          <p:nvPr/>
        </p:nvSpPr>
        <p:spPr>
          <a:xfrm>
            <a:off x="609600" y="2413000"/>
            <a:ext cx="109728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6.2 提示词工程使用技巧</a:t>
            </a:r>
            <a:endParaRPr lang="en-US" sz="1100"/>
          </a:p>
        </p:txBody>
      </p:sp>
      <p:cxnSp>
        <p:nvCxnSpPr>
          <p:cNvPr id="6" name="Connector 6"/>
          <p:cNvCxnSpPr/>
          <p:nvPr/>
        </p:nvCxnSpPr>
        <p:spPr>
          <a:xfrm rot="-34376">
            <a:off x="5461032" y="3295650"/>
            <a:ext cx="1270000" cy="12700"/>
          </a:xfrm>
          <a:prstGeom prst="straightConnector1">
            <a:avLst/>
          </a:prstGeom>
          <a:solidFill>
            <a:srgbClr val="DEE0E3">
              <a:alpha val="100000"/>
            </a:srgbClr>
          </a:solidFill>
          <a:ln w="38100" cap="flat" cmpd="sng">
            <a:solidFill>
              <a:srgbClr val="0288D1">
                <a:alpha val="100000"/>
              </a:srgbClr>
            </a:solidFill>
            <a:prstDash val="solid"/>
            <a:round/>
            <a:headEnd type="none" w="lg" len="lg"/>
            <a:tailEnd type="none" w="lg" len="lg"/>
          </a:ln>
        </p:spPr>
      </p:cxnSp>
      <p:sp>
        <p:nvSpPr>
          <p:cNvPr id="7" name="AutoShape 7"/>
          <p:cNvSpPr/>
          <p:nvPr/>
        </p:nvSpPr>
        <p:spPr>
          <a:xfrm>
            <a:off x="609600" y="3556000"/>
            <a:ext cx="10972800" cy="508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0288D1"/>
                </a:solidFill>
                <a:latin typeface="Noto Sans SC"/>
                <a:ea typeface="Noto Sans SC"/>
                <a:cs typeface="Noto Sans SC"/>
                <a:sym typeface="Noto Sans SC"/>
              </a:rPr>
              <a:t>掌握核心技巧，高效驾驭大语言模型</a:t>
            </a:r>
            <a:endParaRPr lang="en-US" sz="1100"/>
          </a:p>
        </p:txBody>
      </p:sp>
      <p:sp>
        <p:nvSpPr>
          <p:cNvPr id="8" name="AutoShape 8"/>
          <p:cNvSpPr/>
          <p:nvPr/>
        </p:nvSpPr>
        <p:spPr>
          <a:xfrm>
            <a:off x="0" y="6096000"/>
            <a:ext cx="12192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333333">
                    <a:alpha val="60000"/>
                  </a:srgbClr>
                </a:solidFill>
                <a:latin typeface="Noto Sans SC"/>
                <a:ea typeface="Noto Sans SC"/>
                <a:cs typeface="Noto Sans SC"/>
                <a:sym typeface="Noto Sans SC"/>
              </a:rPr>
              <a:t>CHAPTER 06 · PROMPT ENGINEERING</a:t>
            </a:r>
            <a:endParaRPr lang="en-US" sz="110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6.2.1 使用文本分隔符</a:t>
            </a:r>
            <a:endParaRPr lang="en-US" sz="1100"/>
          </a:p>
        </p:txBody>
      </p:sp>
      <p:sp>
        <p:nvSpPr>
          <p:cNvPr id="3" name="AutoShape 3"/>
          <p:cNvSpPr/>
          <p:nvPr/>
        </p:nvSpPr>
        <p:spPr>
          <a:xfrm>
            <a:off x="762000" y="1397000"/>
            <a:ext cx="5080000" cy="2540000"/>
          </a:xfrm>
          <a:prstGeom prst="roundRect">
            <a:avLst>
              <a:gd name="adj" fmla="val 5000"/>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原理与目的</a:t>
            </a:r>
            <a:endParaRPr lang="en-US" sz="1100"/>
          </a:p>
        </p:txBody>
      </p:sp>
      <p:sp>
        <p:nvSpPr>
          <p:cNvPr id="6" name="AutoShape 6"/>
          <p:cNvSpPr/>
          <p:nvPr/>
        </p:nvSpPr>
        <p:spPr>
          <a:xfrm>
            <a:off x="1016000" y="2032000"/>
            <a:ext cx="4572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1" i="0" u="none" strike="noStrike">
                <a:solidFill>
                  <a:srgbClr val="333333"/>
                </a:solidFill>
                <a:latin typeface="Noto Sans SC"/>
                <a:ea typeface="Noto Sans SC"/>
                <a:cs typeface="Noto Sans SC"/>
                <a:sym typeface="Noto Sans SC"/>
              </a:rPr>
              <a:t>核心作用：</a:t>
            </a:r>
            <a:r>
              <a:rPr lang="en-US" sz="1500" b="0" i="0" u="none" strike="noStrike">
                <a:solidFill>
                  <a:srgbClr val="555555"/>
                </a:solidFill>
                <a:latin typeface="Noto Sans SC"/>
                <a:ea typeface="Noto Sans SC"/>
                <a:cs typeface="Noto Sans SC"/>
                <a:sym typeface="Noto Sans SC"/>
              </a:rPr>
              <a:t>明确告知模型分隔符内部的内容是一个独立、完整的单元（如待总结文本、代码块），避免与指令混淆。</a:t>
            </a:r>
            <a:endParaRPr lang="en-US" sz="1100"/>
          </a:p>
          <a:p>
            <a:pPr indent="0" algn="l">
              <a:lnSpc>
                <a:spcPct val="108000"/>
              </a:lnSpc>
              <a:spcBef>
                <a:spcPts val="1000"/>
              </a:spcBef>
            </a:pPr>
            <a:r>
              <a:rPr lang="en-US" sz="1500" b="1" i="0" u="none" strike="noStrike">
                <a:solidFill>
                  <a:srgbClr val="333333"/>
                </a:solidFill>
                <a:latin typeface="Noto Sans SC"/>
                <a:ea typeface="Noto Sans SC"/>
                <a:cs typeface="Noto Sans SC"/>
                <a:sym typeface="Noto Sans SC"/>
              </a:rPr>
              <a:t>常用符号：</a:t>
            </a:r>
            <a:r>
              <a:rPr lang="en-US" sz="1500" b="0" i="0" u="none" strike="noStrike">
                <a:solidFill>
                  <a:srgbClr val="555555"/>
                </a:solidFill>
                <a:latin typeface="Noto Sans SC"/>
                <a:ea typeface="Noto Sans SC"/>
                <a:cs typeface="Noto Sans SC"/>
                <a:sym typeface="Noto Sans SC"/>
              </a:rPr>
              <a:t>三引号 ``` / """、HTML标签 &lt;p&gt;、XML标签、Markdown标题 ## 等。</a:t>
            </a:r>
            <a:endParaRPr lang="en-US" sz="1500" b="0" i="0" u="none" strike="noStrike">
              <a:solidFill>
                <a:srgbClr val="555555"/>
              </a:solidFill>
              <a:latin typeface="Noto Sans SC"/>
              <a:ea typeface="Noto Sans SC"/>
              <a:cs typeface="Noto Sans SC"/>
              <a:sym typeface="Noto Sans SC"/>
            </a:endParaRPr>
          </a:p>
        </p:txBody>
      </p:sp>
      <p:sp>
        <p:nvSpPr>
          <p:cNvPr id="7" name="AutoShape 7"/>
          <p:cNvSpPr/>
          <p:nvPr/>
        </p:nvSpPr>
        <p:spPr>
          <a:xfrm>
            <a:off x="762000" y="4191000"/>
            <a:ext cx="5080000" cy="1778000"/>
          </a:xfrm>
          <a:prstGeom prst="roundRect">
            <a:avLst>
              <a:gd name="adj" fmla="val 7142"/>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4445000"/>
            <a:ext cx="304800" cy="304800"/>
          </a:xfrm>
          <a:prstGeom prst="rect">
            <a:avLst/>
          </a:prstGeom>
        </p:spPr>
      </p:pic>
      <p:sp>
        <p:nvSpPr>
          <p:cNvPr id="9" name="AutoShape 9"/>
          <p:cNvSpPr/>
          <p:nvPr/>
        </p:nvSpPr>
        <p:spPr>
          <a:xfrm>
            <a:off x="1397000" y="4394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使用场景</a:t>
            </a:r>
            <a:endParaRPr lang="en-US" sz="1100"/>
          </a:p>
        </p:txBody>
      </p:sp>
      <p:sp>
        <p:nvSpPr>
          <p:cNvPr id="10" name="AutoShape 10"/>
          <p:cNvSpPr/>
          <p:nvPr/>
        </p:nvSpPr>
        <p:spPr>
          <a:xfrm>
            <a:off x="1016000" y="4826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555555"/>
                </a:solidFill>
                <a:latin typeface="Noto Sans SC"/>
                <a:ea typeface="Noto Sans SC"/>
                <a:cs typeface="Noto Sans SC"/>
                <a:sym typeface="Noto Sans SC"/>
              </a:rPr>
              <a:t>当输入包含长文本、代码片段或结构化数据时，使用分隔符能显著提升模型对任务边界的识别准确率。</a:t>
            </a:r>
            <a:endParaRPr lang="en-US" sz="1100"/>
          </a:p>
        </p:txBody>
      </p:sp>
      <p:sp>
        <p:nvSpPr>
          <p:cNvPr id="11" name="AutoShape 11"/>
          <p:cNvSpPr/>
          <p:nvPr/>
        </p:nvSpPr>
        <p:spPr>
          <a:xfrm>
            <a:off x="6096000" y="1397000"/>
            <a:ext cx="5334000" cy="4572000"/>
          </a:xfrm>
          <a:prstGeom prst="roundRect">
            <a:avLst>
              <a:gd name="adj" fmla="val 2777"/>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651000"/>
            <a:ext cx="304800" cy="304800"/>
          </a:xfrm>
          <a:prstGeom prst="rect">
            <a:avLst/>
          </a:prstGeom>
        </p:spPr>
      </p:pic>
      <p:sp>
        <p:nvSpPr>
          <p:cNvPr id="13" name="AutoShape 13"/>
          <p:cNvSpPr/>
          <p:nvPr/>
        </p:nvSpPr>
        <p:spPr>
          <a:xfrm>
            <a:off x="6731000" y="1600200"/>
            <a:ext cx="4445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示例：使用三引号总结文本</a:t>
            </a:r>
            <a:endParaRPr lang="en-US" sz="1100"/>
          </a:p>
        </p:txBody>
      </p:sp>
      <p:sp>
        <p:nvSpPr>
          <p:cNvPr id="14" name="AutoShape 14"/>
          <p:cNvSpPr/>
          <p:nvPr/>
        </p:nvSpPr>
        <p:spPr>
          <a:xfrm>
            <a:off x="6350000" y="2159000"/>
            <a:ext cx="4826000" cy="762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477000" y="22225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指令：</a:t>
            </a:r>
            <a:r>
              <a:rPr lang="en-US" sz="1400" b="0" i="0" u="none" strike="noStrike">
                <a:solidFill>
                  <a:srgbClr val="333333"/>
                </a:solidFill>
                <a:latin typeface="Noto Sans SC"/>
                <a:ea typeface="Noto Sans SC"/>
                <a:cs typeface="Noto Sans SC"/>
                <a:sym typeface="Noto Sans SC"/>
              </a:rPr>
              <a:t>请你对三引号中的文本内容进行总结，并将总结的字数限制在10个字以内。</a:t>
            </a:r>
            <a:endParaRPr lang="en-US" sz="1100"/>
          </a:p>
        </p:txBody>
      </p:sp>
      <p:sp>
        <p:nvSpPr>
          <p:cNvPr id="16" name="AutoShape 16"/>
          <p:cNvSpPr/>
          <p:nvPr/>
        </p:nvSpPr>
        <p:spPr>
          <a:xfrm>
            <a:off x="6350000" y="3048000"/>
            <a:ext cx="4826000" cy="2286000"/>
          </a:xfrm>
          <a:prstGeom prst="roundRect">
            <a:avLst>
              <a:gd name="adj" fmla="val 2777"/>
            </a:avLst>
          </a:prstGeom>
          <a:solidFill>
            <a:srgbClr val="F5F5F5">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7" name="AutoShape 17"/>
          <p:cNvSpPr/>
          <p:nvPr/>
        </p:nvSpPr>
        <p:spPr>
          <a:xfrm>
            <a:off x="6477000" y="3175000"/>
            <a:ext cx="4572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内容：</a:t>
            </a:r>
            <a:endParaRPr lang="en-US" sz="1100"/>
          </a:p>
          <a:p>
            <a:pPr indent="0" algn="l">
              <a:lnSpc>
                <a:spcPct val="100000"/>
              </a:lnSpc>
            </a:pPr>
            <a:r>
              <a:rPr lang="en-US" sz="1300" b="0" i="0" u="none" strike="noStrike">
                <a:solidFill>
                  <a:srgbClr val="555555"/>
                </a:solidFill>
                <a:latin typeface="Noto Sans SC"/>
                <a:ea typeface="Noto Sans SC"/>
                <a:cs typeface="Noto Sans SC"/>
                <a:sym typeface="Noto Sans SC"/>
              </a:rPr>
              <a:t>"""ChatGPT是OpenAI研发的一款聊天机器人程序，于2022年11月30日发布。它是人工智能技术驱动的自然语言处理工具，能基于预训练模式生成回答，还能根据上下文互动，完成撰写论文、邮件、代码等任务。"""</a:t>
            </a:r>
            <a:endParaRPr lang="en-US" sz="1300" b="0" i="0" u="none" strike="noStrike">
              <a:solidFill>
                <a:srgbClr val="555555"/>
              </a:solidFill>
              <a:latin typeface="Noto Sans SC"/>
              <a:ea typeface="Noto Sans SC"/>
              <a:cs typeface="Noto Sans SC"/>
              <a:sym typeface="Noto Sans SC"/>
            </a:endParaRPr>
          </a:p>
        </p:txBody>
      </p:sp>
      <p:sp>
        <p:nvSpPr>
          <p:cNvPr id="18" name="AutoShape 18"/>
          <p:cNvSpPr/>
          <p:nvPr/>
        </p:nvSpPr>
        <p:spPr>
          <a:xfrm>
            <a:off x="6350000" y="5461000"/>
            <a:ext cx="4826000" cy="381000"/>
          </a:xfrm>
          <a:prstGeom prst="roundRect">
            <a:avLst>
              <a:gd name="adj" fmla="val 16666"/>
            </a:avLst>
          </a:prstGeom>
          <a:solidFill>
            <a:srgbClr val="FFA726">
              <a:alpha val="1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6477000" y="5499100"/>
            <a:ext cx="457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200" b="0" i="0" u="none" strike="noStrike">
                <a:solidFill>
                  <a:srgbClr val="E65100"/>
                </a:solidFill>
                <a:latin typeface="Noto Sans SC"/>
                <a:ea typeface="Noto Sans SC"/>
                <a:cs typeface="Noto Sans SC"/>
                <a:sym typeface="Noto Sans SC"/>
              </a:rPr>
              <a:t>💡 提示：使用三引号是最简洁高效的方式</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9842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分隔符使用示例（HTML与Markdown）</a:t>
            </a:r>
            <a:endParaRPr lang="en-US" sz="1100"/>
          </a:p>
        </p:txBody>
      </p:sp>
      <p:sp>
        <p:nvSpPr>
          <p:cNvPr id="3" name="AutoShape 3"/>
          <p:cNvSpPr/>
          <p:nvPr/>
        </p:nvSpPr>
        <p:spPr>
          <a:xfrm>
            <a:off x="762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04800" cy="304800"/>
          </a:xfrm>
          <a:prstGeom prst="rect">
            <a:avLst/>
          </a:prstGeom>
        </p:spPr>
      </p:pic>
      <p:sp>
        <p:nvSpPr>
          <p:cNvPr id="5" name="AutoShape 5"/>
          <p:cNvSpPr/>
          <p:nvPr/>
        </p:nvSpPr>
        <p:spPr>
          <a:xfrm>
            <a:off x="1397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使用 HTML 标签进行情感分析</a:t>
            </a:r>
            <a:endParaRPr lang="en-US" sz="1100"/>
          </a:p>
        </p:txBody>
      </p:sp>
      <p:sp>
        <p:nvSpPr>
          <p:cNvPr id="6" name="AutoShape 6"/>
          <p:cNvSpPr/>
          <p:nvPr/>
        </p:nvSpPr>
        <p:spPr>
          <a:xfrm>
            <a:off x="1016000" y="2032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指令：接收多条评价，利用&lt;p&gt;标签分割，分别输出情感色彩。</a:t>
            </a:r>
            <a:endParaRPr lang="en-US" sz="1100"/>
          </a:p>
        </p:txBody>
      </p:sp>
      <p:sp>
        <p:nvSpPr>
          <p:cNvPr id="7" name="AutoShape 7"/>
          <p:cNvSpPr/>
          <p:nvPr/>
        </p:nvSpPr>
        <p:spPr>
          <a:xfrm>
            <a:off x="1016000" y="2667000"/>
            <a:ext cx="4572000" cy="1905000"/>
          </a:xfrm>
          <a:prstGeom prst="roundRect">
            <a:avLst>
              <a:gd name="adj" fmla="val 3333"/>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1143000" y="27940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&lt;p&gt;包装完好，快递速度非常快，感觉还不错！&lt;/p&gt;</a:t>
            </a:r>
            <a:endParaRPr lang="en-US" sz="1100"/>
          </a:p>
          <a:p>
            <a:pPr indent="0" algn="l">
              <a:lnSpc>
                <a:spcPct val="108000"/>
              </a:lnSpc>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&lt;p&gt;一般般吧&lt;/p&gt;</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&lt;p&gt;不建议大家购买，纯玻璃，容易碎。&lt;/p&gt;</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p:txBody>
      </p:sp>
      <p:sp>
        <p:nvSpPr>
          <p:cNvPr id="9" name="AutoShape 9"/>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04000" y="1651000"/>
            <a:ext cx="304800" cy="304800"/>
          </a:xfrm>
          <a:prstGeom prst="rect">
            <a:avLst/>
          </a:prstGeom>
        </p:spPr>
      </p:pic>
      <p:sp>
        <p:nvSpPr>
          <p:cNvPr id="11" name="AutoShape 11"/>
          <p:cNvSpPr/>
          <p:nvPr/>
        </p:nvSpPr>
        <p:spPr>
          <a:xfrm>
            <a:off x="6985000" y="1600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使用 Markdown 标签定义角色</a:t>
            </a:r>
            <a:endParaRPr lang="en-US" sz="1100"/>
          </a:p>
        </p:txBody>
      </p:sp>
      <p:sp>
        <p:nvSpPr>
          <p:cNvPr id="12" name="AutoShape 12"/>
          <p:cNvSpPr/>
          <p:nvPr/>
        </p:nvSpPr>
        <p:spPr>
          <a:xfrm>
            <a:off x="6604000" y="2032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指令：利用 Markdown 标题标签清晰设定角色、技能与限制。</a:t>
            </a:r>
            <a:endParaRPr lang="en-US" sz="1100"/>
          </a:p>
        </p:txBody>
      </p:sp>
      <p:sp>
        <p:nvSpPr>
          <p:cNvPr id="13" name="AutoShape 13"/>
          <p:cNvSpPr/>
          <p:nvPr/>
        </p:nvSpPr>
        <p:spPr>
          <a:xfrm>
            <a:off x="6604000" y="2667000"/>
            <a:ext cx="4572000" cy="1905000"/>
          </a:xfrm>
          <a:prstGeom prst="roundRect">
            <a:avLst>
              <a:gd name="adj" fmla="val 3333"/>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2794000"/>
            <a:ext cx="4318000" cy="1651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角色：你是一个专业且热情的美食爱好者...</a:t>
            </a:r>
            <a:endParaRPr lang="en-US" sz="1100"/>
          </a:p>
          <a:p>
            <a:pPr indent="0" algn="l">
              <a:lnSpc>
                <a:spcPct val="108000"/>
              </a:lnSpc>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技能：根据关键词推荐食谱...</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限制：只专注于与美食相关的内容...</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p:txBody>
      </p:sp>
      <p:sp>
        <p:nvSpPr>
          <p:cNvPr id="15" name="AutoShape 15"/>
          <p:cNvSpPr/>
          <p:nvPr/>
        </p:nvSpPr>
        <p:spPr>
          <a:xfrm>
            <a:off x="762000" y="5207000"/>
            <a:ext cx="10668000" cy="1016000"/>
          </a:xfrm>
          <a:prstGeom prst="roundRect">
            <a:avLst>
              <a:gd name="adj" fmla="val 125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511800"/>
            <a:ext cx="406400" cy="406400"/>
          </a:xfrm>
          <a:prstGeom prst="rect">
            <a:avLst/>
          </a:prstGeom>
        </p:spPr>
      </p:pic>
      <p:sp>
        <p:nvSpPr>
          <p:cNvPr id="17" name="AutoShape 17"/>
          <p:cNvSpPr/>
          <p:nvPr/>
        </p:nvSpPr>
        <p:spPr>
          <a:xfrm>
            <a:off x="1524000" y="5397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核心价值：</a:t>
            </a:r>
            <a:r>
              <a:rPr lang="en-US" sz="1600" b="0" i="0" u="none" strike="noStrike">
                <a:solidFill>
                  <a:srgbClr val="555555"/>
                </a:solidFill>
                <a:latin typeface="Noto Sans SC"/>
                <a:ea typeface="Noto Sans SC"/>
                <a:cs typeface="Noto Sans SC"/>
                <a:sym typeface="Noto Sans SC"/>
              </a:rPr>
              <a:t>除了三引号，结构化标签（HTML/Markdown）能显著提升提示词的可读性与模型的理解准确度，尤其在处理复杂多任务时效果显著。</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6.2.2 给模型赋予角色</a:t>
            </a:r>
            <a:endParaRPr lang="en-US" sz="1100"/>
          </a:p>
        </p:txBody>
      </p:sp>
      <p:sp>
        <p:nvSpPr>
          <p:cNvPr id="3" name="AutoShape 3"/>
          <p:cNvSpPr/>
          <p:nvPr/>
        </p:nvSpPr>
        <p:spPr>
          <a:xfrm>
            <a:off x="762000" y="1397000"/>
            <a:ext cx="5080000" cy="3048000"/>
          </a:xfrm>
          <a:prstGeom prst="roundRect">
            <a:avLst>
              <a:gd name="adj" fmla="val 41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核心原理：角色设定引导输出</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159000"/>
            <a:ext cx="406400" cy="406400"/>
          </a:xfrm>
          <a:prstGeom prst="rect">
            <a:avLst/>
          </a:prstGeom>
        </p:spPr>
      </p:pic>
      <p:sp>
        <p:nvSpPr>
          <p:cNvPr id="6" name="AutoShape 6"/>
          <p:cNvSpPr/>
          <p:nvPr/>
        </p:nvSpPr>
        <p:spPr>
          <a:xfrm>
            <a:off x="1524000" y="2095500"/>
            <a:ext cx="4064000" cy="203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555555"/>
                </a:solidFill>
                <a:latin typeface="Noto Sans SC"/>
                <a:ea typeface="Noto Sans SC"/>
                <a:cs typeface="Noto Sans SC"/>
                <a:sym typeface="Noto Sans SC"/>
              </a:rPr>
              <a:t>在提示词开头为模型设定一个具体的社会角色（如专家、老师、顾问），利用人们对该角色的固有认知，来约束和引导模型的输出风格、专业深度和行为模式，从而获得更符合预期的专业结果。</a:t>
            </a:r>
            <a:endParaRPr lang="en-US" sz="1100"/>
          </a:p>
        </p:txBody>
      </p:sp>
      <p:sp>
        <p:nvSpPr>
          <p:cNvPr id="7" name="AutoShape 7"/>
          <p:cNvSpPr/>
          <p:nvPr/>
        </p:nvSpPr>
        <p:spPr>
          <a:xfrm>
            <a:off x="6096000" y="1397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350000" y="1651000"/>
            <a:ext cx="355600" cy="355600"/>
          </a:xfrm>
          <a:prstGeom prst="rect">
            <a:avLst/>
          </a:prstGeom>
        </p:spPr>
      </p:pic>
      <p:sp>
        <p:nvSpPr>
          <p:cNvPr id="9" name="AutoShape 9"/>
          <p:cNvSpPr/>
          <p:nvPr/>
        </p:nvSpPr>
        <p:spPr>
          <a:xfrm>
            <a:off x="6794500" y="1600200"/>
            <a:ext cx="438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示例 1：扮演美食爱好者</a:t>
            </a:r>
            <a:endParaRPr lang="en-US" sz="1100"/>
          </a:p>
        </p:txBody>
      </p:sp>
      <p:sp>
        <p:nvSpPr>
          <p:cNvPr id="10" name="AutoShape 10"/>
          <p:cNvSpPr/>
          <p:nvPr/>
        </p:nvSpPr>
        <p:spPr>
          <a:xfrm>
            <a:off x="6350000" y="20955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666666"/>
                </a:solidFill>
                <a:latin typeface="Noto Sans SC"/>
                <a:ea typeface="Noto Sans SC"/>
                <a:cs typeface="Noto Sans SC"/>
                <a:sym typeface="Noto Sans SC"/>
              </a:rPr>
              <a:t>指令：假设你是一位地道的中国美食爱好者，现在我告诉你我对食物的偏好和口味，你帮我推荐3个菜...</a:t>
            </a:r>
            <a:endParaRPr lang="en-US" sz="1100"/>
          </a:p>
        </p:txBody>
      </p:sp>
      <p:sp>
        <p:nvSpPr>
          <p:cNvPr id="11" name="AutoShape 11"/>
          <p:cNvSpPr/>
          <p:nvPr/>
        </p:nvSpPr>
        <p:spPr>
          <a:xfrm>
            <a:off x="6096000" y="3429000"/>
            <a:ext cx="5334000" cy="1778000"/>
          </a:xfrm>
          <a:prstGeom prst="roundRect">
            <a:avLst>
              <a:gd name="adj" fmla="val 7142"/>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3683000"/>
            <a:ext cx="355600" cy="355600"/>
          </a:xfrm>
          <a:prstGeom prst="rect">
            <a:avLst/>
          </a:prstGeom>
        </p:spPr>
      </p:pic>
      <p:sp>
        <p:nvSpPr>
          <p:cNvPr id="13" name="AutoShape 13"/>
          <p:cNvSpPr/>
          <p:nvPr/>
        </p:nvSpPr>
        <p:spPr>
          <a:xfrm>
            <a:off x="6794500" y="3632200"/>
            <a:ext cx="43815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示例 2：扮演高级 Python 工程师</a:t>
            </a:r>
            <a:endParaRPr lang="en-US" sz="1100"/>
          </a:p>
        </p:txBody>
      </p:sp>
      <p:sp>
        <p:nvSpPr>
          <p:cNvPr id="14" name="AutoShape 14"/>
          <p:cNvSpPr/>
          <p:nvPr/>
        </p:nvSpPr>
        <p:spPr>
          <a:xfrm>
            <a:off x="6350000" y="4127500"/>
            <a:ext cx="4826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666666"/>
                </a:solidFill>
                <a:latin typeface="Noto Sans SC"/>
                <a:ea typeface="Noto Sans SC"/>
                <a:cs typeface="Noto Sans SC"/>
                <a:sym typeface="Noto Sans SC"/>
              </a:rPr>
              <a:t>指令：假设你是一位拥有10年工作经验的高级Python工程师，请告诉我3个Python的高级用法。</a:t>
            </a:r>
            <a:endParaRPr lang="en-US" sz="1100"/>
          </a:p>
        </p:txBody>
      </p:sp>
      <p:sp>
        <p:nvSpPr>
          <p:cNvPr id="15" name="AutoShape 15"/>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304800" cy="304800"/>
          </a:xfrm>
          <a:prstGeom prst="rect">
            <a:avLst/>
          </a:prstGeom>
        </p:spPr>
      </p:pic>
      <p:sp>
        <p:nvSpPr>
          <p:cNvPr id="17" name="AutoShape 17"/>
          <p:cNvSpPr/>
          <p:nvPr/>
        </p:nvSpPr>
        <p:spPr>
          <a:xfrm>
            <a:off x="1460500" y="5613400"/>
            <a:ext cx="9779000" cy="457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关键提示：</a:t>
            </a:r>
            <a:r>
              <a:rPr lang="en-US" sz="1600" b="0" i="0" u="none" strike="noStrike">
                <a:solidFill>
                  <a:srgbClr val="333333"/>
                </a:solidFill>
                <a:latin typeface="Noto Sans SC"/>
                <a:ea typeface="Noto Sans SC"/>
                <a:cs typeface="Noto Sans SC"/>
                <a:sym typeface="Noto Sans SC"/>
              </a:rPr>
              <a:t>角色设定是一种低成本高回报的引导方式，能显著提升回答的专业性和针对性。</a:t>
            </a:r>
            <a:endParaRPr lang="en-US" sz="110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角色赋予的应用场景</a:t>
            </a:r>
            <a:endParaRPr lang="en-US" sz="1100"/>
          </a:p>
        </p:txBody>
      </p:sp>
      <p:sp>
        <p:nvSpPr>
          <p:cNvPr id="3" name="AutoShape 3"/>
          <p:cNvSpPr/>
          <p:nvPr/>
        </p:nvSpPr>
        <p:spPr>
          <a:xfrm>
            <a:off x="762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产品经理</a:t>
            </a:r>
            <a:endParaRPr lang="en-US" sz="1100"/>
          </a:p>
        </p:txBody>
      </p:sp>
      <p:sp>
        <p:nvSpPr>
          <p:cNvPr id="6" name="AutoShape 6"/>
          <p:cNvSpPr/>
          <p:nvPr/>
        </p:nvSpPr>
        <p:spPr>
          <a:xfrm>
            <a:off x="1016000" y="2159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分析需求与痛点</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撰写PRD文档</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设计用户故事</a:t>
            </a:r>
            <a:endParaRPr lang="en-US" sz="1400" b="0" i="0" u="none" strike="noStrike">
              <a:solidFill>
                <a:srgbClr val="555555"/>
              </a:solidFill>
              <a:latin typeface="Noto Sans SC"/>
              <a:ea typeface="Noto Sans SC"/>
              <a:cs typeface="Noto Sans SC"/>
              <a:sym typeface="Noto Sans SC"/>
            </a:endParaRPr>
          </a:p>
        </p:txBody>
      </p:sp>
      <p:sp>
        <p:nvSpPr>
          <p:cNvPr id="7" name="AutoShape 7"/>
          <p:cNvSpPr/>
          <p:nvPr/>
        </p:nvSpPr>
        <p:spPr>
          <a:xfrm>
            <a:off x="4445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心理咨询师</a:t>
            </a:r>
            <a:endParaRPr lang="en-US" sz="1100"/>
          </a:p>
        </p:txBody>
      </p:sp>
      <p:sp>
        <p:nvSpPr>
          <p:cNvPr id="10" name="AutoShape 10"/>
          <p:cNvSpPr/>
          <p:nvPr/>
        </p:nvSpPr>
        <p:spPr>
          <a:xfrm>
            <a:off x="4699000" y="2159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提供情绪疏导</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给出专业建议</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进行心理评估</a:t>
            </a:r>
            <a:endParaRPr lang="en-US" sz="1400" b="0" i="0" u="none" strike="noStrike">
              <a:solidFill>
                <a:srgbClr val="555555"/>
              </a:solidFill>
              <a:latin typeface="Noto Sans SC"/>
              <a:ea typeface="Noto Sans SC"/>
              <a:cs typeface="Noto Sans SC"/>
              <a:sym typeface="Noto Sans SC"/>
            </a:endParaRPr>
          </a:p>
        </p:txBody>
      </p:sp>
      <p:sp>
        <p:nvSpPr>
          <p:cNvPr id="11" name="AutoShape 11"/>
          <p:cNvSpPr/>
          <p:nvPr/>
        </p:nvSpPr>
        <p:spPr>
          <a:xfrm>
            <a:off x="8128000" y="1397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健身教练</a:t>
            </a:r>
            <a:endParaRPr lang="en-US" sz="1100"/>
          </a:p>
        </p:txBody>
      </p:sp>
      <p:sp>
        <p:nvSpPr>
          <p:cNvPr id="14" name="AutoShape 14"/>
          <p:cNvSpPr/>
          <p:nvPr/>
        </p:nvSpPr>
        <p:spPr>
          <a:xfrm>
            <a:off x="8382000" y="2159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制定健身计划</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提供饮食建议</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纠正动作姿势</a:t>
            </a:r>
            <a:endParaRPr lang="en-US" sz="1400" b="0" i="0" u="none" strike="noStrike">
              <a:solidFill>
                <a:srgbClr val="555555"/>
              </a:solidFill>
              <a:latin typeface="Noto Sans SC"/>
              <a:ea typeface="Noto Sans SC"/>
              <a:cs typeface="Noto Sans SC"/>
              <a:sym typeface="Noto Sans SC"/>
            </a:endParaRPr>
          </a:p>
        </p:txBody>
      </p:sp>
      <p:sp>
        <p:nvSpPr>
          <p:cNvPr id="15" name="AutoShape 15"/>
          <p:cNvSpPr/>
          <p:nvPr/>
        </p:nvSpPr>
        <p:spPr>
          <a:xfrm>
            <a:off x="762000" y="3556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810000"/>
            <a:ext cx="406400" cy="406400"/>
          </a:xfrm>
          <a:prstGeom prst="rect">
            <a:avLst/>
          </a:prstGeom>
        </p:spPr>
      </p:pic>
      <p:sp>
        <p:nvSpPr>
          <p:cNvPr id="17" name="AutoShape 17"/>
          <p:cNvSpPr/>
          <p:nvPr/>
        </p:nvSpPr>
        <p:spPr>
          <a:xfrm>
            <a:off x="1524000" y="3759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历史老师</a:t>
            </a:r>
            <a:endParaRPr lang="en-US" sz="1100"/>
          </a:p>
        </p:txBody>
      </p:sp>
      <p:sp>
        <p:nvSpPr>
          <p:cNvPr id="18" name="AutoShape 18"/>
          <p:cNvSpPr/>
          <p:nvPr/>
        </p:nvSpPr>
        <p:spPr>
          <a:xfrm>
            <a:off x="1016000" y="4318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讲解历史事件</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分析历史人物</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梳理历史脉络</a:t>
            </a:r>
            <a:endParaRPr lang="en-US" sz="1400" b="0" i="0" u="none" strike="noStrike">
              <a:solidFill>
                <a:srgbClr val="555555"/>
              </a:solidFill>
              <a:latin typeface="Noto Sans SC"/>
              <a:ea typeface="Noto Sans SC"/>
              <a:cs typeface="Noto Sans SC"/>
              <a:sym typeface="Noto Sans SC"/>
            </a:endParaRPr>
          </a:p>
        </p:txBody>
      </p:sp>
      <p:sp>
        <p:nvSpPr>
          <p:cNvPr id="19" name="AutoShape 19"/>
          <p:cNvSpPr/>
          <p:nvPr/>
        </p:nvSpPr>
        <p:spPr>
          <a:xfrm>
            <a:off x="4445000" y="3556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810000"/>
            <a:ext cx="406400" cy="406400"/>
          </a:xfrm>
          <a:prstGeom prst="rect">
            <a:avLst/>
          </a:prstGeom>
        </p:spPr>
      </p:pic>
      <p:sp>
        <p:nvSpPr>
          <p:cNvPr id="21" name="AutoShape 21"/>
          <p:cNvSpPr/>
          <p:nvPr/>
        </p:nvSpPr>
        <p:spPr>
          <a:xfrm>
            <a:off x="5207000" y="3759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旅行规划师</a:t>
            </a:r>
            <a:endParaRPr lang="en-US" sz="1100"/>
          </a:p>
        </p:txBody>
      </p:sp>
      <p:sp>
        <p:nvSpPr>
          <p:cNvPr id="22" name="AutoShape 22"/>
          <p:cNvSpPr/>
          <p:nvPr/>
        </p:nvSpPr>
        <p:spPr>
          <a:xfrm>
            <a:off x="4699000" y="4318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设计旅行路线</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推荐景点美食</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制定旅行预算</a:t>
            </a:r>
            <a:endParaRPr lang="en-US" sz="1400" b="0" i="0" u="none" strike="noStrike">
              <a:solidFill>
                <a:srgbClr val="555555"/>
              </a:solidFill>
              <a:latin typeface="Noto Sans SC"/>
              <a:ea typeface="Noto Sans SC"/>
              <a:cs typeface="Noto Sans SC"/>
              <a:sym typeface="Noto Sans SC"/>
            </a:endParaRPr>
          </a:p>
        </p:txBody>
      </p:sp>
      <p:sp>
        <p:nvSpPr>
          <p:cNvPr id="23" name="AutoShape 23"/>
          <p:cNvSpPr/>
          <p:nvPr/>
        </p:nvSpPr>
        <p:spPr>
          <a:xfrm>
            <a:off x="8128000" y="3556000"/>
            <a:ext cx="3302000" cy="1905000"/>
          </a:xfrm>
          <a:prstGeom prst="roundRect">
            <a:avLst>
              <a:gd name="adj" fmla="val 6666"/>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810000"/>
            <a:ext cx="406400" cy="406400"/>
          </a:xfrm>
          <a:prstGeom prst="rect">
            <a:avLst/>
          </a:prstGeom>
        </p:spPr>
      </p:pic>
      <p:sp>
        <p:nvSpPr>
          <p:cNvPr id="25" name="AutoShape 25"/>
          <p:cNvSpPr/>
          <p:nvPr/>
        </p:nvSpPr>
        <p:spPr>
          <a:xfrm>
            <a:off x="8890000" y="3759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代码审查专家</a:t>
            </a:r>
            <a:endParaRPr lang="en-US" sz="1100"/>
          </a:p>
        </p:txBody>
      </p:sp>
      <p:sp>
        <p:nvSpPr>
          <p:cNvPr id="26" name="AutoShape 26"/>
          <p:cNvSpPr/>
          <p:nvPr/>
        </p:nvSpPr>
        <p:spPr>
          <a:xfrm>
            <a:off x="8382000" y="4318000"/>
            <a:ext cx="2794000" cy="889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25000"/>
              </a:lnSpc>
              <a:buClr>
                <a:srgbClr val="555555"/>
              </a:buClr>
              <a:buChar char="•"/>
              <a:defRPr/>
            </a:pPr>
            <a:r>
              <a:rPr lang="en-US" sz="1400" b="0" i="0" u="none" strike="noStrike">
                <a:solidFill>
                  <a:srgbClr val="555555"/>
                </a:solidFill>
                <a:latin typeface="Noto Sans SC"/>
                <a:ea typeface="Noto Sans SC"/>
                <a:cs typeface="Noto Sans SC"/>
                <a:sym typeface="Noto Sans SC"/>
              </a:rPr>
              <a:t>检查代码漏洞</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优化代码结构</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提出改进建议</a:t>
            </a:r>
            <a:endParaRPr lang="en-US" sz="1400" b="0" i="0" u="none" strike="noStrike">
              <a:solidFill>
                <a:srgbClr val="555555"/>
              </a:solidFill>
              <a:latin typeface="Noto Sans SC"/>
              <a:ea typeface="Noto Sans SC"/>
              <a:cs typeface="Noto Sans SC"/>
              <a:sym typeface="Noto Sans SC"/>
            </a:endParaRPr>
          </a:p>
        </p:txBody>
      </p:sp>
      <p:sp>
        <p:nvSpPr>
          <p:cNvPr id="27" name="AutoShape 27"/>
          <p:cNvSpPr/>
          <p:nvPr/>
        </p:nvSpPr>
        <p:spPr>
          <a:xfrm>
            <a:off x="0" y="6731000"/>
            <a:ext cx="12192000" cy="1270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6.2.3 将过程分步拆解</a:t>
            </a:r>
            <a:endParaRPr lang="en-US" sz="1100"/>
          </a:p>
        </p:txBody>
      </p:sp>
      <p:sp>
        <p:nvSpPr>
          <p:cNvPr id="3" name="AutoShape 3"/>
          <p:cNvSpPr/>
          <p:nvPr/>
        </p:nvSpPr>
        <p:spPr>
          <a:xfrm>
            <a:off x="762000" y="1270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24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核心原理：借鉴“分治算法”</a:t>
            </a:r>
            <a:endParaRPr lang="en-US" sz="1100"/>
          </a:p>
        </p:txBody>
      </p:sp>
      <p:sp>
        <p:nvSpPr>
          <p:cNvPr id="5" name="AutoShape 5"/>
          <p:cNvSpPr/>
          <p:nvPr/>
        </p:nvSpPr>
        <p:spPr>
          <a:xfrm>
            <a:off x="1016000" y="2032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将一个复杂、模糊的任务，分解成若干个清晰、简单的子步骤。这能降低模型理解门槛，避免因任务过载产生的误解或遗漏。</a:t>
            </a:r>
            <a:endParaRPr lang="en-US" sz="1100"/>
          </a:p>
        </p:txBody>
      </p:sp>
      <p:cxnSp>
        <p:nvCxnSpPr>
          <p:cNvPr id="6" name="Connector 6"/>
          <p:cNvCxnSpPr/>
          <p:nvPr/>
        </p:nvCxnSpPr>
        <p:spPr>
          <a:xfrm rot="-9549">
            <a:off x="1016009" y="3168650"/>
            <a:ext cx="4572000" cy="12700"/>
          </a:xfrm>
          <a:prstGeom prst="straightConnector1">
            <a:avLst/>
          </a:prstGeom>
          <a:solidFill>
            <a:srgbClr val="DEE0E3">
              <a:alpha val="100000"/>
            </a:srgbClr>
          </a:solidFill>
          <a:ln w="12700" cap="flat" cmpd="sng">
            <a:solidFill>
              <a:srgbClr val="EEEEEE">
                <a:alpha val="100000"/>
              </a:srgbClr>
            </a:solidFill>
            <a:prstDash val="solid"/>
            <a:round/>
            <a:headEnd type="none" w="med" len="med"/>
            <a:tailEnd type="none" w="med" len="med"/>
          </a:ln>
        </p:spPr>
      </p:cxnSp>
      <p:sp>
        <p:nvSpPr>
          <p:cNvPr id="7" name="AutoShape 7"/>
          <p:cNvSpPr/>
          <p:nvPr/>
        </p:nvSpPr>
        <p:spPr>
          <a:xfrm>
            <a:off x="1016000" y="3429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操作方法</a:t>
            </a:r>
            <a:endParaRPr lang="en-US" sz="1100"/>
          </a:p>
        </p:txBody>
      </p:sp>
      <p:sp>
        <p:nvSpPr>
          <p:cNvPr id="8" name="AutoShape 8"/>
          <p:cNvSpPr/>
          <p:nvPr/>
        </p:nvSpPr>
        <p:spPr>
          <a:xfrm>
            <a:off x="1016000" y="3937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使用有序列表（第一、第二、第三）或无序列表，将任务描述清晰地拆分成多个步骤，引导模型逐步完成。</a:t>
            </a:r>
            <a:endParaRPr lang="en-US" sz="1100"/>
          </a:p>
        </p:txBody>
      </p:sp>
      <p:pic>
        <p:nvPicPr>
          <p:cNvPr id="9" name="Picture 9"/>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4826000" y="5080000"/>
            <a:ext cx="609600" cy="609600"/>
          </a:xfrm>
          <a:prstGeom prst="rect">
            <a:avLst/>
          </a:prstGeom>
        </p:spPr>
      </p:pic>
      <p:sp>
        <p:nvSpPr>
          <p:cNvPr id="10" name="AutoShape 10"/>
          <p:cNvSpPr/>
          <p:nvPr/>
        </p:nvSpPr>
        <p:spPr>
          <a:xfrm>
            <a:off x="6096000" y="1270000"/>
            <a:ext cx="5080000" cy="4572000"/>
          </a:xfrm>
          <a:prstGeom prst="roundRect">
            <a:avLst>
              <a:gd name="adj" fmla="val 2777"/>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sp>
        <p:nvSpPr>
          <p:cNvPr id="11" name="AutoShape 11"/>
          <p:cNvSpPr/>
          <p:nvPr/>
        </p:nvSpPr>
        <p:spPr>
          <a:xfrm>
            <a:off x="6350000" y="1524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示例：撰写小红书风格文案</a:t>
            </a:r>
            <a:endParaRPr lang="en-US" sz="1100"/>
          </a:p>
        </p:txBody>
      </p:sp>
      <p:sp>
        <p:nvSpPr>
          <p:cNvPr id="12" name="AutoShape 12"/>
          <p:cNvSpPr/>
          <p:nvPr/>
        </p:nvSpPr>
        <p:spPr>
          <a:xfrm>
            <a:off x="6350000" y="20320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场景：假设你是一位小红书美妆播主，推广一款洗面奶。</a:t>
            </a:r>
            <a:endParaRPr lang="en-US" sz="1100"/>
          </a:p>
        </p:txBody>
      </p:sp>
      <p:sp>
        <p:nvSpPr>
          <p:cNvPr id="13" name="AutoShape 13"/>
          <p:cNvSpPr/>
          <p:nvPr/>
        </p:nvSpPr>
        <p:spPr>
          <a:xfrm>
            <a:off x="6350000" y="2667000"/>
            <a:ext cx="4572000" cy="2286000"/>
          </a:xfrm>
          <a:prstGeom prst="roundRect">
            <a:avLst>
              <a:gd name="adj" fmla="val 2777"/>
            </a:avLst>
          </a:prstGeom>
          <a:solidFill>
            <a:srgbClr val="F0F9FF">
              <a:alpha val="100000"/>
            </a:srgbClr>
          </a:solidFill>
          <a:ln w="12700" cap="flat" cmpd="sng">
            <a:solidFill>
              <a:srgbClr val="B3E5FC">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2857500"/>
            <a:ext cx="4191000" cy="190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指令拆解要求：</a:t>
            </a:r>
            <a:endParaRPr lang="en-US" sz="1100"/>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标题：具有吸引眼球的热门标题</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内容：每个段落带有个性化表情图标</a:t>
            </a:r>
            <a:endParaRPr lang="en-US" sz="1400" b="0" i="0" u="none" strike="noStrike">
              <a:solidFill>
                <a:srgbClr val="333333"/>
              </a:solidFill>
              <a:latin typeface="Noto Sans SC"/>
              <a:ea typeface="Noto Sans SC"/>
              <a:cs typeface="Noto Sans SC"/>
              <a:sym typeface="Noto Sans SC"/>
            </a:endParaRPr>
          </a:p>
          <a:p>
            <a:pPr marL="177800" indent="-177800" algn="l">
              <a:lnSpc>
                <a:spcPct val="125000"/>
              </a:lnSpc>
              <a:buClr>
                <a:srgbClr val="333333"/>
              </a:buClr>
              <a:buChar char="•"/>
            </a:pPr>
            <a:r>
              <a:rPr lang="en-US" sz="1400" b="0" i="0" u="none" strike="noStrike">
                <a:solidFill>
                  <a:srgbClr val="333333"/>
                </a:solidFill>
                <a:latin typeface="Noto Sans SC"/>
                <a:ea typeface="Noto Sans SC"/>
                <a:cs typeface="Noto Sans SC"/>
                <a:sym typeface="Noto Sans SC"/>
              </a:rPr>
              <a:t>结尾：加上表达产品特性的标签词</a:t>
            </a:r>
            <a:endParaRPr lang="en-US" sz="1400" b="0" i="0" u="none" strike="noStrike">
              <a:solidFill>
                <a:srgbClr val="333333"/>
              </a:solidFill>
              <a:latin typeface="Noto Sans SC"/>
              <a:ea typeface="Noto Sans SC"/>
              <a:cs typeface="Noto Sans SC"/>
              <a:sym typeface="Noto Sans SC"/>
            </a:endParaRPr>
          </a:p>
        </p:txBody>
      </p:sp>
      <p:pic>
        <p:nvPicPr>
          <p:cNvPr id="15" name="Picture 15"/>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414000" y="5080000"/>
            <a:ext cx="609600" cy="6096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6.2.4 尽可能量化需求</a:t>
            </a:r>
            <a:endParaRPr lang="en-US" sz="1100"/>
          </a:p>
        </p:txBody>
      </p:sp>
      <p:sp>
        <p:nvSpPr>
          <p:cNvPr id="3" name="AutoShape 3"/>
          <p:cNvSpPr/>
          <p:nvPr/>
        </p:nvSpPr>
        <p:spPr>
          <a:xfrm>
            <a:off x="762000" y="1270000"/>
            <a:ext cx="5080000" cy="3810000"/>
          </a:xfrm>
          <a:prstGeom prst="roundRect">
            <a:avLst>
              <a:gd name="adj" fmla="val 3333"/>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016000" y="1905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将模糊、抽象的需求（如“写一篇短文”）转化为具体、可量化的指标。这能减少模型主观臆断，提升输出结果的可控性与精确性，同时优化API调用成本。</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048000"/>
            <a:ext cx="304800" cy="304800"/>
          </a:xfrm>
          <a:prstGeom prst="rect">
            <a:avLst/>
          </a:prstGeom>
        </p:spPr>
      </p:pic>
      <p:sp>
        <p:nvSpPr>
          <p:cNvPr id="8" name="AutoShape 8"/>
          <p:cNvSpPr/>
          <p:nvPr/>
        </p:nvSpPr>
        <p:spPr>
          <a:xfrm>
            <a:off x="1397000" y="2997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实施方法</a:t>
            </a:r>
            <a:endParaRPr lang="en-US" sz="1100"/>
          </a:p>
        </p:txBody>
      </p:sp>
      <p:sp>
        <p:nvSpPr>
          <p:cNvPr id="9" name="AutoShape 9"/>
          <p:cNvSpPr/>
          <p:nvPr/>
        </p:nvSpPr>
        <p:spPr>
          <a:xfrm>
            <a:off x="1016000" y="3429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明确指定输出的约束条件，例如：</a:t>
            </a:r>
            <a:endParaRPr lang="en-US" sz="1100"/>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字数范围（如100-200字）</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要点数量（如分3点说明）</a:t>
            </a:r>
            <a:endParaRPr lang="en-US" sz="1400" b="0" i="0" u="none" strike="noStrike">
              <a:solidFill>
                <a:srgbClr val="555555"/>
              </a:solidFill>
              <a:latin typeface="Noto Sans SC"/>
              <a:ea typeface="Noto Sans SC"/>
              <a:cs typeface="Noto Sans SC"/>
              <a:sym typeface="Noto Sans SC"/>
            </a:endParaRPr>
          </a:p>
          <a:p>
            <a:pPr marL="177800" indent="-177800" algn="l">
              <a:lnSpc>
                <a:spcPct val="125000"/>
              </a:lnSpc>
              <a:buClr>
                <a:srgbClr val="555555"/>
              </a:buClr>
              <a:buChar char="•"/>
            </a:pPr>
            <a:r>
              <a:rPr lang="en-US" sz="1400" b="0" i="0" u="none" strike="noStrike">
                <a:solidFill>
                  <a:srgbClr val="555555"/>
                </a:solidFill>
                <a:latin typeface="Noto Sans SC"/>
                <a:ea typeface="Noto Sans SC"/>
                <a:cs typeface="Noto Sans SC"/>
                <a:sym typeface="Noto Sans SC"/>
              </a:rPr>
              <a:t>评分标准或完成时间</a:t>
            </a:r>
            <a:endParaRPr lang="en-US" sz="1400" b="0" i="0" u="none" strike="noStrike">
              <a:solidFill>
                <a:srgbClr val="555555"/>
              </a:solidFill>
              <a:latin typeface="Noto Sans SC"/>
              <a:ea typeface="Noto Sans SC"/>
              <a:cs typeface="Noto Sans SC"/>
              <a:sym typeface="Noto Sans SC"/>
            </a:endParaRPr>
          </a:p>
        </p:txBody>
      </p:sp>
      <p:sp>
        <p:nvSpPr>
          <p:cNvPr id="10" name="AutoShape 10"/>
          <p:cNvSpPr/>
          <p:nvPr/>
        </p:nvSpPr>
        <p:spPr>
          <a:xfrm>
            <a:off x="6096000" y="1270000"/>
            <a:ext cx="5080000" cy="3810000"/>
          </a:xfrm>
          <a:prstGeom prst="roundRect">
            <a:avLst>
              <a:gd name="adj" fmla="val 3333"/>
            </a:avLst>
          </a:prstGeom>
          <a:solidFill>
            <a:srgbClr val="FFFFFF">
              <a:alpha val="100000"/>
            </a:srgbClr>
          </a:solidFill>
          <a:ln w="25400" cap="flat" cmpd="sng">
            <a:noFill/>
            <a:prstDash val="solid"/>
            <a:round/>
          </a:ln>
          <a:effectLst>
            <a:outerShdw blurRad="1016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350000" y="1524000"/>
            <a:ext cx="304800" cy="304800"/>
          </a:xfrm>
          <a:prstGeom prst="rect">
            <a:avLst/>
          </a:prstGeom>
        </p:spPr>
      </p:pic>
      <p:sp>
        <p:nvSpPr>
          <p:cNvPr id="12" name="AutoShape 12"/>
          <p:cNvSpPr/>
          <p:nvPr/>
        </p:nvSpPr>
        <p:spPr>
          <a:xfrm>
            <a:off x="6731000" y="147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指令示例：限制输出字数</a:t>
            </a:r>
            <a:endParaRPr lang="en-US" sz="1100"/>
          </a:p>
        </p:txBody>
      </p:sp>
      <p:sp>
        <p:nvSpPr>
          <p:cNvPr id="13" name="AutoShape 13"/>
          <p:cNvSpPr/>
          <p:nvPr/>
        </p:nvSpPr>
        <p:spPr>
          <a:xfrm>
            <a:off x="6350000" y="2032000"/>
            <a:ext cx="4572000" cy="2032000"/>
          </a:xfrm>
          <a:prstGeom prst="roundRect">
            <a:avLst>
              <a:gd name="adj" fmla="val 3125"/>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540500" y="2222500"/>
            <a:ext cx="4191000" cy="165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Noto Sans SC"/>
                <a:ea typeface="Noto Sans SC"/>
                <a:cs typeface="Noto Sans SC"/>
                <a:sym typeface="Noto Sans SC"/>
              </a:rPr>
              <a:t>“假设你是一位拥有10年工作经验的高级Python工程师，请简要告诉我3个Python的高级特性，</a:t>
            </a:r>
            <a:r>
              <a:rPr lang="en-US" sz="1400" b="1" i="0" u="none" strike="noStrike">
                <a:solidFill>
                  <a:srgbClr val="0288D1"/>
                </a:solidFill>
                <a:latin typeface="Noto Sans SC"/>
                <a:ea typeface="Noto Sans SC"/>
                <a:cs typeface="Noto Sans SC"/>
                <a:sym typeface="Noto Sans SC"/>
              </a:rPr>
              <a:t>每个特性的字数限制在100字以内，所有回答总字数限制在300字以内</a:t>
            </a:r>
            <a:r>
              <a:rPr lang="en-US" sz="1400" b="0" i="0" u="none" strike="noStrike">
                <a:solidFill>
                  <a:srgbClr val="333333"/>
                </a:solidFill>
                <a:latin typeface="Noto Sans SC"/>
                <a:ea typeface="Noto Sans SC"/>
                <a:cs typeface="Noto Sans SC"/>
                <a:sym typeface="Noto Sans SC"/>
              </a:rPr>
              <a:t>。”</a:t>
            </a:r>
            <a:endParaRPr lang="en-US" sz="1100"/>
          </a:p>
        </p:txBody>
      </p:sp>
      <p:sp>
        <p:nvSpPr>
          <p:cNvPr id="15" name="AutoShape 15"/>
          <p:cNvSpPr/>
          <p:nvPr/>
        </p:nvSpPr>
        <p:spPr>
          <a:xfrm>
            <a:off x="6350000" y="4191000"/>
            <a:ext cx="4572000" cy="508000"/>
          </a:xfrm>
          <a:prstGeom prst="roundRect">
            <a:avLst>
              <a:gd name="adj" fmla="val 1250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477000" y="4292600"/>
            <a:ext cx="4318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 提示：量化指标能显著提升输出的精准度与可控性。</a:t>
            </a:r>
            <a:endParaRPr lang="en-US" sz="1100"/>
          </a:p>
        </p:txBody>
      </p:sp>
      <p:sp>
        <p:nvSpPr>
          <p:cNvPr id="17" name="AutoShape 17"/>
          <p:cNvSpPr/>
          <p:nvPr/>
        </p:nvSpPr>
        <p:spPr>
          <a:xfrm>
            <a:off x="762000" y="5334000"/>
            <a:ext cx="10668000" cy="762000"/>
          </a:xfrm>
          <a:prstGeom prst="roundRect">
            <a:avLst>
              <a:gd name="adj" fmla="val 16666"/>
            </a:avLst>
          </a:prstGeom>
          <a:solidFill>
            <a:srgbClr val="FFFFFF">
              <a:alpha val="10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537200"/>
            <a:ext cx="304800" cy="304800"/>
          </a:xfrm>
          <a:prstGeom prst="rect">
            <a:avLst/>
          </a:prstGeom>
        </p:spPr>
      </p:pic>
      <p:sp>
        <p:nvSpPr>
          <p:cNvPr id="19" name="AutoShape 19"/>
          <p:cNvSpPr/>
          <p:nvPr/>
        </p:nvSpPr>
        <p:spPr>
          <a:xfrm>
            <a:off x="1397000" y="5461000"/>
            <a:ext cx="977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关键要点：</a:t>
            </a:r>
            <a:r>
              <a:rPr lang="en-US" sz="1600" b="0" i="0" u="none" strike="noStrike">
                <a:solidFill>
                  <a:srgbClr val="333333"/>
                </a:solidFill>
                <a:latin typeface="Noto Sans SC"/>
                <a:ea typeface="Noto Sans SC"/>
                <a:cs typeface="Noto Sans SC"/>
                <a:sym typeface="Noto Sans SC"/>
              </a:rPr>
              <a:t>拒绝“详细一点”、“简单说说”这类模糊指令，用具体的数字和标准来约束模型，让输出结果更符合预期。</a:t>
            </a:r>
            <a:endParaRPr lang="en-US" sz="110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0259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如何进行需求量化？</a:t>
            </a:r>
            <a:endParaRPr lang="en-US" sz="1100"/>
          </a:p>
        </p:txBody>
      </p:sp>
      <p:sp>
        <p:nvSpPr>
          <p:cNvPr id="3" name="AutoShape 3"/>
          <p:cNvSpPr/>
          <p:nvPr/>
        </p:nvSpPr>
        <p:spPr>
          <a:xfrm>
            <a:off x="762000" y="1397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控制输出长度</a:t>
            </a:r>
            <a:endParaRPr lang="en-US" sz="1100"/>
          </a:p>
        </p:txBody>
      </p:sp>
      <p:sp>
        <p:nvSpPr>
          <p:cNvPr id="6" name="AutoShape 6"/>
          <p:cNvSpPr/>
          <p:nvPr/>
        </p:nvSpPr>
        <p:spPr>
          <a:xfrm>
            <a:off x="1016000" y="2159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a:ea typeface="Noto Sans SC"/>
                <a:cs typeface="Noto Sans SC"/>
                <a:sym typeface="Noto Sans SC"/>
              </a:rPr>
              <a:t>明确字数上限/下限（如：50字以内）、要点数量（如：3个核心优势）。</a:t>
            </a:r>
            <a:endParaRPr lang="en-US" sz="1100"/>
          </a:p>
        </p:txBody>
      </p:sp>
      <p:sp>
        <p:nvSpPr>
          <p:cNvPr id="7" name="AutoShape 7"/>
          <p:cNvSpPr/>
          <p:nvPr/>
        </p:nvSpPr>
        <p:spPr>
          <a:xfrm>
            <a:off x="4394200" y="1397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48200" y="1651000"/>
            <a:ext cx="406400" cy="406400"/>
          </a:xfrm>
          <a:prstGeom prst="rect">
            <a:avLst/>
          </a:prstGeom>
        </p:spPr>
      </p:pic>
      <p:sp>
        <p:nvSpPr>
          <p:cNvPr id="9" name="AutoShape 9"/>
          <p:cNvSpPr/>
          <p:nvPr/>
        </p:nvSpPr>
        <p:spPr>
          <a:xfrm>
            <a:off x="51562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指定输出格式</a:t>
            </a:r>
            <a:endParaRPr lang="en-US" sz="1100"/>
          </a:p>
        </p:txBody>
      </p:sp>
      <p:sp>
        <p:nvSpPr>
          <p:cNvPr id="10" name="AutoShape 10"/>
          <p:cNvSpPr/>
          <p:nvPr/>
        </p:nvSpPr>
        <p:spPr>
          <a:xfrm>
            <a:off x="4648200" y="2159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a:ea typeface="Noto Sans SC"/>
                <a:cs typeface="Noto Sans SC"/>
                <a:sym typeface="Noto Sans SC"/>
              </a:rPr>
              <a:t>要求使用特定结构（如：JSON格式、Markdown表格、项目符号列表）。</a:t>
            </a:r>
            <a:endParaRPr lang="en-US" sz="1100"/>
          </a:p>
        </p:txBody>
      </p:sp>
      <p:sp>
        <p:nvSpPr>
          <p:cNvPr id="11" name="AutoShape 11"/>
          <p:cNvSpPr/>
          <p:nvPr/>
        </p:nvSpPr>
        <p:spPr>
          <a:xfrm>
            <a:off x="8026400" y="1397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280400" y="1651000"/>
            <a:ext cx="406400" cy="406400"/>
          </a:xfrm>
          <a:prstGeom prst="rect">
            <a:avLst/>
          </a:prstGeom>
        </p:spPr>
      </p:pic>
      <p:sp>
        <p:nvSpPr>
          <p:cNvPr id="13" name="AutoShape 13"/>
          <p:cNvSpPr/>
          <p:nvPr/>
        </p:nvSpPr>
        <p:spPr>
          <a:xfrm>
            <a:off x="8788400" y="1600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设定评估标准</a:t>
            </a:r>
            <a:endParaRPr lang="en-US" sz="1100"/>
          </a:p>
        </p:txBody>
      </p:sp>
      <p:sp>
        <p:nvSpPr>
          <p:cNvPr id="14" name="AutoShape 14"/>
          <p:cNvSpPr/>
          <p:nvPr/>
        </p:nvSpPr>
        <p:spPr>
          <a:xfrm>
            <a:off x="8280400" y="2159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a:ea typeface="Noto Sans SC"/>
                <a:cs typeface="Noto Sans SC"/>
                <a:sym typeface="Noto Sans SC"/>
              </a:rPr>
              <a:t>给出评分维度和标准（如：从准确性、相关性、简洁性三个维度评分）。</a:t>
            </a:r>
            <a:endParaRPr lang="en-US" sz="1100"/>
          </a:p>
        </p:txBody>
      </p:sp>
      <p:sp>
        <p:nvSpPr>
          <p:cNvPr id="15" name="AutoShape 15"/>
          <p:cNvSpPr/>
          <p:nvPr/>
        </p:nvSpPr>
        <p:spPr>
          <a:xfrm>
            <a:off x="2514600" y="3810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2768600" y="4064000"/>
            <a:ext cx="406400" cy="406400"/>
          </a:xfrm>
          <a:prstGeom prst="rect">
            <a:avLst/>
          </a:prstGeom>
        </p:spPr>
      </p:pic>
      <p:sp>
        <p:nvSpPr>
          <p:cNvPr id="17" name="AutoShape 17"/>
          <p:cNvSpPr/>
          <p:nvPr/>
        </p:nvSpPr>
        <p:spPr>
          <a:xfrm>
            <a:off x="3276600" y="4013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限定专业领域</a:t>
            </a:r>
            <a:endParaRPr lang="en-US" sz="1100"/>
          </a:p>
        </p:txBody>
      </p:sp>
      <p:sp>
        <p:nvSpPr>
          <p:cNvPr id="18" name="AutoShape 18"/>
          <p:cNvSpPr/>
          <p:nvPr/>
        </p:nvSpPr>
        <p:spPr>
          <a:xfrm>
            <a:off x="2768600" y="4572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a:ea typeface="Noto Sans SC"/>
                <a:cs typeface="Noto Sans SC"/>
                <a:sym typeface="Noto Sans SC"/>
              </a:rPr>
              <a:t>明确知识范围（如：仅涉及深度学习领域，不涉及传统机器学习）。</a:t>
            </a:r>
            <a:endParaRPr lang="en-US" sz="1100"/>
          </a:p>
        </p:txBody>
      </p:sp>
      <p:sp>
        <p:nvSpPr>
          <p:cNvPr id="19" name="AutoShape 19"/>
          <p:cNvSpPr/>
          <p:nvPr/>
        </p:nvSpPr>
        <p:spPr>
          <a:xfrm>
            <a:off x="6146800" y="3810000"/>
            <a:ext cx="33782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400800" y="4064000"/>
            <a:ext cx="406400" cy="406400"/>
          </a:xfrm>
          <a:prstGeom prst="rect">
            <a:avLst/>
          </a:prstGeom>
        </p:spPr>
      </p:pic>
      <p:sp>
        <p:nvSpPr>
          <p:cNvPr id="21" name="AutoShape 21"/>
          <p:cNvSpPr/>
          <p:nvPr/>
        </p:nvSpPr>
        <p:spPr>
          <a:xfrm>
            <a:off x="6908800" y="40132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设定时间范围</a:t>
            </a:r>
            <a:endParaRPr lang="en-US" sz="1100"/>
          </a:p>
        </p:txBody>
      </p:sp>
      <p:sp>
        <p:nvSpPr>
          <p:cNvPr id="22" name="AutoShape 22"/>
          <p:cNvSpPr/>
          <p:nvPr/>
        </p:nvSpPr>
        <p:spPr>
          <a:xfrm>
            <a:off x="6400800" y="4572000"/>
            <a:ext cx="2870200" cy="1143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666666"/>
                </a:solidFill>
                <a:latin typeface="Noto Sans SC"/>
                <a:ea typeface="Noto Sans SC"/>
                <a:cs typeface="Noto Sans SC"/>
                <a:sym typeface="Noto Sans SC"/>
              </a:rPr>
              <a:t>限定信息的时间有效性（如：仅提供2023年及以后的研究成果）。</a:t>
            </a:r>
            <a:endParaRPr lang="en-US" sz="110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6.2.5 提供正反示例</a:t>
            </a:r>
            <a:endParaRPr lang="en-US" sz="1100"/>
          </a:p>
        </p:txBody>
      </p:sp>
      <p:sp>
        <p:nvSpPr>
          <p:cNvPr id="3" name="AutoShape 3"/>
          <p:cNvSpPr/>
          <p:nvPr/>
        </p:nvSpPr>
        <p:spPr>
          <a:xfrm>
            <a:off x="762000" y="1270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524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2032000"/>
            <a:ext cx="508000" cy="508000"/>
          </a:xfrm>
          <a:prstGeom prst="rect">
            <a:avLst/>
          </a:prstGeom>
        </p:spPr>
      </p:pic>
      <p:sp>
        <p:nvSpPr>
          <p:cNvPr id="6" name="AutoShape 6"/>
          <p:cNvSpPr/>
          <p:nvPr/>
        </p:nvSpPr>
        <p:spPr>
          <a:xfrm>
            <a:off x="1651000" y="1968500"/>
            <a:ext cx="3937000" cy="1270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333333"/>
                </a:solidFill>
                <a:latin typeface="Noto Sans SC"/>
                <a:ea typeface="Noto Sans SC"/>
                <a:cs typeface="Noto Sans SC"/>
                <a:sym typeface="Noto Sans SC"/>
              </a:rPr>
              <a:t>通过提供具体的、符合要求的正面示例和不符合要求的反面示例，可以帮助模型快速理解任务的边界、规则和期望的输出风格，实现“举一反三”的效果。</a:t>
            </a:r>
            <a:endParaRPr lang="en-US" sz="1100"/>
          </a:p>
        </p:txBody>
      </p:sp>
      <p:sp>
        <p:nvSpPr>
          <p:cNvPr id="7" name="AutoShape 7"/>
          <p:cNvSpPr/>
          <p:nvPr/>
        </p:nvSpPr>
        <p:spPr>
          <a:xfrm>
            <a:off x="1016000" y="3556000"/>
            <a:ext cx="4572000" cy="1524000"/>
          </a:xfrm>
          <a:prstGeom prst="roundRect">
            <a:avLst>
              <a:gd name="adj" fmla="val 8333"/>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3746500"/>
            <a:ext cx="4191000" cy="1143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1" i="0" u="none" strike="noStrike">
                <a:solidFill>
                  <a:srgbClr val="0288D1"/>
                </a:solidFill>
                <a:latin typeface="Noto Sans SC"/>
                <a:ea typeface="Noto Sans SC"/>
                <a:cs typeface="Noto Sans SC"/>
                <a:sym typeface="Noto Sans SC"/>
              </a:rPr>
              <a:t>适用场景：</a:t>
            </a:r>
            <a:endParaRPr lang="en-US" sz="1100"/>
          </a:p>
          <a:p>
            <a:pPr indent="0" algn="l">
              <a:lnSpc>
                <a:spcPct val="117000"/>
              </a:lnSpc>
            </a:pPr>
            <a:r>
              <a:rPr lang="en-US" sz="1400" b="0" i="0" u="none" strike="noStrike">
                <a:solidFill>
                  <a:srgbClr val="333333"/>
                </a:solidFill>
                <a:latin typeface="Noto Sans SC"/>
                <a:ea typeface="Noto Sans SC"/>
                <a:cs typeface="Noto Sans SC"/>
                <a:sym typeface="Noto Sans SC"/>
              </a:rPr>
              <a:t>这在处理一些规则性强或主观性强的任务时特别有效，能有效降低模型的误判率。</a:t>
            </a:r>
            <a:endParaRPr lang="en-US" sz="1400" b="0" i="0" u="none" strike="noStrike">
              <a:solidFill>
                <a:srgbClr val="333333"/>
              </a:solidFill>
              <a:latin typeface="Noto Sans SC"/>
              <a:ea typeface="Noto Sans SC"/>
              <a:cs typeface="Noto Sans SC"/>
              <a:sym typeface="Noto Sans SC"/>
            </a:endParaRPr>
          </a:p>
        </p:txBody>
      </p:sp>
      <p:sp>
        <p:nvSpPr>
          <p:cNvPr id="9" name="AutoShape 9"/>
          <p:cNvSpPr/>
          <p:nvPr/>
        </p:nvSpPr>
        <p:spPr>
          <a:xfrm>
            <a:off x="6350000" y="1270000"/>
            <a:ext cx="5080000" cy="4318000"/>
          </a:xfrm>
          <a:prstGeom prst="roundRect">
            <a:avLst>
              <a:gd name="adj" fmla="val 2941"/>
            </a:avLst>
          </a:prstGeom>
          <a:solidFill>
            <a:srgbClr val="FFFFFF">
              <a:alpha val="100000"/>
            </a:srgbClr>
          </a:solidFill>
          <a:ln w="25400" cap="flat" cmpd="sng">
            <a:noFill/>
            <a:prstDash val="solid"/>
            <a:round/>
          </a:ln>
          <a:effectLst>
            <a:outerShdw blurRad="127000" dist="50800" dir="2700000" algn="tl" rotWithShape="0">
              <a:srgbClr val="000000">
                <a:alpha val="5000"/>
              </a:srgbClr>
            </a:outerShdw>
          </a:effectLst>
        </p:spPr>
        <p:txBody>
          <a:bodyPr vert="horz" wrap="square" lIns="63500" tIns="63500" rIns="63500" bIns="63500" rtlCol="0" anchor="ctr"/>
          <a:lstStyle/>
          <a:p>
            <a:pPr algn="ctr">
              <a:defRPr/>
            </a:pPr>
          </a:p>
        </p:txBody>
      </p:sp>
      <p:sp>
        <p:nvSpPr>
          <p:cNvPr id="10" name="AutoShape 10"/>
          <p:cNvSpPr/>
          <p:nvPr/>
        </p:nvSpPr>
        <p:spPr>
          <a:xfrm>
            <a:off x="6604000" y="1524000"/>
            <a:ext cx="4572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示例：直播间评论审核</a:t>
            </a:r>
            <a:endParaRPr lang="en-US" sz="1100"/>
          </a:p>
        </p:txBody>
      </p:sp>
      <p:sp>
        <p:nvSpPr>
          <p:cNvPr id="11" name="AutoShape 11"/>
          <p:cNvSpPr/>
          <p:nvPr/>
        </p:nvSpPr>
        <p:spPr>
          <a:xfrm>
            <a:off x="6604000" y="2032000"/>
            <a:ext cx="4572000" cy="762000"/>
          </a:xfrm>
          <a:prstGeom prst="roundRect">
            <a:avLst>
              <a:gd name="adj" fmla="val 16666"/>
            </a:avLst>
          </a:prstGeom>
          <a:solidFill>
            <a:srgbClr val="F5F5F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6731000" y="2095500"/>
            <a:ext cx="4318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1" i="0" u="none" strike="noStrike">
                <a:solidFill>
                  <a:srgbClr val="646464"/>
                </a:solidFill>
                <a:latin typeface="Noto Sans SC"/>
                <a:ea typeface="Noto Sans SC"/>
                <a:cs typeface="Noto Sans SC"/>
                <a:sym typeface="Noto Sans SC"/>
              </a:rPr>
              <a:t>指令：</a:t>
            </a:r>
            <a:r>
              <a:rPr lang="en-US" sz="1200" b="0" i="0" u="none" strike="noStrike">
                <a:solidFill>
                  <a:srgbClr val="646464"/>
                </a:solidFill>
                <a:latin typeface="Noto Sans SC"/>
                <a:ea typeface="Noto Sans SC"/>
                <a:cs typeface="Noto Sans SC"/>
                <a:sym typeface="Noto Sans SC"/>
              </a:rPr>
              <a:t>身份：电商直播间评论审核专家。任务：判断评论是否有效合法。输出：有效或无效。</a:t>
            </a:r>
            <a:endParaRPr lang="en-US" sz="1100"/>
          </a:p>
        </p:txBody>
      </p:sp>
      <p:sp>
        <p:nvSpPr>
          <p:cNvPr id="13" name="AutoShape 13"/>
          <p:cNvSpPr/>
          <p:nvPr/>
        </p:nvSpPr>
        <p:spPr>
          <a:xfrm>
            <a:off x="6604000" y="2984500"/>
            <a:ext cx="4572000" cy="889000"/>
          </a:xfrm>
          <a:prstGeom prst="roundRect">
            <a:avLst>
              <a:gd name="adj" fmla="val 14285"/>
            </a:avLst>
          </a:prstGeom>
          <a:solidFill>
            <a:srgbClr val="4CAF50">
              <a:alpha val="10000"/>
            </a:srgbClr>
          </a:solidFill>
          <a:ln w="12700" cap="flat" cmpd="sng">
            <a:solidFill>
              <a:srgbClr val="4CAF50">
                <a:alpha val="10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731000" y="3175000"/>
            <a:ext cx="304800" cy="304800"/>
          </a:xfrm>
          <a:prstGeom prst="rect">
            <a:avLst/>
          </a:prstGeom>
        </p:spPr>
      </p:pic>
      <p:sp>
        <p:nvSpPr>
          <p:cNvPr id="15" name="AutoShape 15"/>
          <p:cNvSpPr/>
          <p:nvPr/>
        </p:nvSpPr>
        <p:spPr>
          <a:xfrm>
            <a:off x="7112000" y="30480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正面示例：</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问题：请问这款面霜3-6岁的小孩子可以用吗？</a:t>
            </a:r>
            <a:endParaRPr lang="en-US" sz="1300" b="0" i="0" u="none" strike="noStrike">
              <a:solidFill>
                <a:srgbClr val="505050"/>
              </a:solidFill>
              <a:latin typeface="Noto Sans SC"/>
              <a:ea typeface="Noto Sans SC"/>
              <a:cs typeface="Noto Sans SC"/>
              <a:sym typeface="Noto Sans SC"/>
            </a:endParaRPr>
          </a:p>
          <a:p>
            <a:pPr indent="0" algn="l">
              <a:lnSpc>
                <a:spcPct val="125000"/>
              </a:lnSpc>
            </a:pPr>
            <a:r>
              <a:rPr lang="en-US" sz="1300" b="1" i="0" u="none" strike="noStrike">
                <a:solidFill>
                  <a:srgbClr val="4CAF50"/>
                </a:solidFill>
                <a:latin typeface="Noto Sans SC"/>
                <a:ea typeface="Noto Sans SC"/>
                <a:cs typeface="Noto Sans SC"/>
                <a:sym typeface="Noto Sans SC"/>
              </a:rPr>
              <a:t>结果：有效</a:t>
            </a:r>
            <a:endParaRPr lang="en-US" sz="1300" b="1" i="0" u="none" strike="noStrike">
              <a:solidFill>
                <a:srgbClr val="4CAF50"/>
              </a:solidFill>
              <a:latin typeface="Noto Sans SC"/>
              <a:ea typeface="Noto Sans SC"/>
              <a:cs typeface="Noto Sans SC"/>
              <a:sym typeface="Noto Sans SC"/>
            </a:endParaRPr>
          </a:p>
        </p:txBody>
      </p:sp>
      <p:sp>
        <p:nvSpPr>
          <p:cNvPr id="16" name="AutoShape 16"/>
          <p:cNvSpPr/>
          <p:nvPr/>
        </p:nvSpPr>
        <p:spPr>
          <a:xfrm>
            <a:off x="6604000" y="4064000"/>
            <a:ext cx="4572000" cy="889000"/>
          </a:xfrm>
          <a:prstGeom prst="roundRect">
            <a:avLst>
              <a:gd name="adj" fmla="val 14285"/>
            </a:avLst>
          </a:prstGeom>
          <a:solidFill>
            <a:srgbClr val="F44336">
              <a:alpha val="10000"/>
            </a:srgbClr>
          </a:solidFill>
          <a:ln w="12700" cap="flat" cmpd="sng">
            <a:solidFill>
              <a:srgbClr val="F44336">
                <a:alpha val="10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731000" y="4254500"/>
            <a:ext cx="304800" cy="304800"/>
          </a:xfrm>
          <a:prstGeom prst="rect">
            <a:avLst/>
          </a:prstGeom>
        </p:spPr>
      </p:pic>
      <p:sp>
        <p:nvSpPr>
          <p:cNvPr id="18" name="AutoShape 18"/>
          <p:cNvSpPr/>
          <p:nvPr/>
        </p:nvSpPr>
        <p:spPr>
          <a:xfrm>
            <a:off x="7112000" y="41275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反面示例：</a:t>
            </a:r>
            <a:endParaRPr lang="en-US" sz="1100"/>
          </a:p>
          <a:p>
            <a:pPr indent="0" algn="l">
              <a:lnSpc>
                <a:spcPct val="125000"/>
              </a:lnSpc>
            </a:pPr>
            <a:r>
              <a:rPr lang="en-US" sz="1300" b="0" i="0" u="none" strike="noStrike">
                <a:solidFill>
                  <a:srgbClr val="505050"/>
                </a:solidFill>
                <a:latin typeface="Noto Sans SC"/>
                <a:ea typeface="Noto Sans SC"/>
                <a:cs typeface="Noto Sans SC"/>
                <a:sym typeface="Noto Sans SC"/>
              </a:rPr>
              <a:t>问题：666。</a:t>
            </a:r>
            <a:endParaRPr lang="en-US" sz="1300" b="0" i="0" u="none" strike="noStrike">
              <a:solidFill>
                <a:srgbClr val="505050"/>
              </a:solidFill>
              <a:latin typeface="Noto Sans SC"/>
              <a:ea typeface="Noto Sans SC"/>
              <a:cs typeface="Noto Sans SC"/>
              <a:sym typeface="Noto Sans SC"/>
            </a:endParaRPr>
          </a:p>
          <a:p>
            <a:pPr indent="0" algn="l">
              <a:lnSpc>
                <a:spcPct val="125000"/>
              </a:lnSpc>
            </a:pPr>
            <a:r>
              <a:rPr lang="en-US" sz="1300" b="1" i="0" u="none" strike="noStrike">
                <a:solidFill>
                  <a:srgbClr val="F44336"/>
                </a:solidFill>
                <a:latin typeface="Noto Sans SC"/>
                <a:ea typeface="Noto Sans SC"/>
                <a:cs typeface="Noto Sans SC"/>
                <a:sym typeface="Noto Sans SC"/>
              </a:rPr>
              <a:t>结果：无效</a:t>
            </a:r>
            <a:endParaRPr lang="en-US" sz="1300" b="1" i="0" u="none" strike="noStrike">
              <a:solidFill>
                <a:srgbClr val="F44336"/>
              </a:solidFill>
              <a:latin typeface="Noto Sans SC"/>
              <a:ea typeface="Noto Sans SC"/>
              <a:cs typeface="Noto Sans SC"/>
              <a:sym typeface="Noto Sans SC"/>
            </a:endParaRPr>
          </a:p>
        </p:txBody>
      </p:sp>
      <p:sp>
        <p:nvSpPr>
          <p:cNvPr id="19" name="AutoShape 19"/>
          <p:cNvSpPr/>
          <p:nvPr/>
        </p:nvSpPr>
        <p:spPr>
          <a:xfrm>
            <a:off x="762000" y="5842000"/>
            <a:ext cx="1066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646464"/>
                </a:solidFill>
                <a:latin typeface="Noto Sans SC"/>
                <a:ea typeface="Noto Sans SC"/>
                <a:cs typeface="Noto Sans SC"/>
                <a:sym typeface="Noto Sans SC"/>
              </a:rPr>
              <a:t>通过对比，模型能更精准地把握审核尺度，避免“一刀切”或误判。</a:t>
            </a:r>
            <a:endParaRPr lang="en-US" sz="110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6.2.6 要求结构化输出</a:t>
            </a:r>
            <a:endParaRPr lang="en-US" sz="1100"/>
          </a:p>
        </p:txBody>
      </p:sp>
      <p:sp>
        <p:nvSpPr>
          <p:cNvPr id="3" name="AutoShape 3"/>
          <p:cNvSpPr/>
          <p:nvPr/>
        </p:nvSpPr>
        <p:spPr>
          <a:xfrm>
            <a:off x="762000" y="1397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355600" cy="355600"/>
          </a:xfrm>
          <a:prstGeom prst="rect">
            <a:avLst/>
          </a:prstGeom>
        </p:spPr>
      </p:pic>
      <p:sp>
        <p:nvSpPr>
          <p:cNvPr id="5" name="AutoShape 5"/>
          <p:cNvSpPr/>
          <p:nvPr/>
        </p:nvSpPr>
        <p:spPr>
          <a:xfrm>
            <a:off x="14986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016000" y="2032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33333"/>
                </a:solidFill>
                <a:latin typeface="Noto Sans SC"/>
                <a:ea typeface="Noto Sans SC"/>
                <a:cs typeface="Noto Sans SC"/>
                <a:sym typeface="Noto Sans SC"/>
              </a:rPr>
              <a:t>在需要对模型输出进行自动化处理（如存入数据库、二次分析）时，强制要求结构化数据格式，可极大降低后续解析成本。</a:t>
            </a:r>
            <a:endParaRPr lang="en-US" sz="1100"/>
          </a:p>
        </p:txBody>
      </p:sp>
      <p:sp>
        <p:nvSpPr>
          <p:cNvPr id="7" name="AutoShape 7"/>
          <p:cNvSpPr/>
          <p:nvPr/>
        </p:nvSpPr>
        <p:spPr>
          <a:xfrm>
            <a:off x="762000" y="3302000"/>
            <a:ext cx="5080000" cy="1651000"/>
          </a:xfrm>
          <a:prstGeom prst="roundRect">
            <a:avLst>
              <a:gd name="adj" fmla="val 7692"/>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556000"/>
            <a:ext cx="355600" cy="355600"/>
          </a:xfrm>
          <a:prstGeom prst="rect">
            <a:avLst/>
          </a:prstGeom>
        </p:spPr>
      </p:pic>
      <p:sp>
        <p:nvSpPr>
          <p:cNvPr id="9" name="AutoShape 9"/>
          <p:cNvSpPr/>
          <p:nvPr/>
        </p:nvSpPr>
        <p:spPr>
          <a:xfrm>
            <a:off x="1498600" y="3505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常用格式推荐</a:t>
            </a:r>
            <a:endParaRPr lang="en-US" sz="1100"/>
          </a:p>
        </p:txBody>
      </p:sp>
      <p:sp>
        <p:nvSpPr>
          <p:cNvPr id="10" name="AutoShape 10"/>
          <p:cNvSpPr/>
          <p:nvPr/>
        </p:nvSpPr>
        <p:spPr>
          <a:xfrm>
            <a:off x="1016000" y="39370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33333"/>
                </a:solidFill>
                <a:latin typeface="Noto Sans SC"/>
                <a:ea typeface="Noto Sans SC"/>
                <a:cs typeface="Noto Sans SC"/>
                <a:sym typeface="Noto Sans SC"/>
              </a:rPr>
              <a:t>•</a:t>
            </a:r>
            <a:r>
              <a:rPr lang="en-US" sz="1400" b="1" i="0" u="none" strike="noStrike">
                <a:solidFill>
                  <a:srgbClr val="333333"/>
                </a:solidFill>
                <a:latin typeface="Noto Sans SC"/>
                <a:ea typeface="Noto Sans SC"/>
                <a:cs typeface="Noto Sans SC"/>
                <a:sym typeface="Noto Sans SC"/>
              </a:rPr>
              <a:t>JSON</a:t>
            </a:r>
            <a:r>
              <a:rPr lang="en-US" sz="1400" b="0" i="0" u="none" strike="noStrike">
                <a:solidFill>
                  <a:srgbClr val="333333"/>
                </a:solidFill>
                <a:latin typeface="Noto Sans SC"/>
                <a:ea typeface="Noto Sans SC"/>
                <a:cs typeface="Noto Sans SC"/>
                <a:sym typeface="Noto Sans SC"/>
              </a:rPr>
              <a:t>：最通用，适合程序解析</a:t>
            </a:r>
            <a:endParaRPr lang="en-US" sz="1100"/>
          </a:p>
          <a:p>
            <a:pPr indent="0" algn="l">
              <a:lnSpc>
                <a:spcPct val="108000"/>
              </a:lnSpc>
            </a:pPr>
            <a:r>
              <a:rPr lang="en-US" sz="1400" b="0" i="0" u="none" strike="noStrike">
                <a:solidFill>
                  <a:srgbClr val="333333"/>
                </a:solidFill>
                <a:latin typeface="Noto Sans SC"/>
                <a:ea typeface="Noto Sans SC"/>
                <a:cs typeface="Noto Sans SC"/>
                <a:sym typeface="Noto Sans SC"/>
              </a:rPr>
              <a:t>•</a:t>
            </a:r>
            <a:r>
              <a:rPr lang="en-US" sz="1400" b="1" i="0" u="none" strike="noStrike">
                <a:solidFill>
                  <a:srgbClr val="333333"/>
                </a:solidFill>
                <a:latin typeface="Noto Sans SC"/>
                <a:ea typeface="Noto Sans SC"/>
                <a:cs typeface="Noto Sans SC"/>
                <a:sym typeface="Noto Sans SC"/>
              </a:rPr>
              <a:t>XML</a:t>
            </a:r>
            <a:r>
              <a:rPr lang="en-US" sz="1400" b="0" i="0" u="none" strike="noStrike">
                <a:solidFill>
                  <a:srgbClr val="333333"/>
                </a:solidFill>
                <a:latin typeface="Noto Sans SC"/>
                <a:ea typeface="Noto Sans SC"/>
                <a:cs typeface="Noto Sans SC"/>
                <a:sym typeface="Noto Sans SC"/>
              </a:rPr>
              <a:t>：适合复杂嵌套结构</a:t>
            </a:r>
            <a:endParaRPr lang="en-US" sz="1400" b="0" i="0" u="none" strike="noStrike">
              <a:solidFill>
                <a:srgbClr val="333333"/>
              </a:solidFill>
              <a:latin typeface="Noto Sans SC"/>
              <a:ea typeface="Noto Sans SC"/>
              <a:cs typeface="Noto Sans SC"/>
              <a:sym typeface="Noto Sans SC"/>
            </a:endParaRPr>
          </a:p>
          <a:p>
            <a:pPr indent="0" algn="l">
              <a:lnSpc>
                <a:spcPct val="108000"/>
              </a:lnSpc>
            </a:pPr>
            <a:r>
              <a:rPr lang="en-US" sz="1400" b="0" i="0" u="none" strike="noStrike">
                <a:solidFill>
                  <a:srgbClr val="333333"/>
                </a:solidFill>
                <a:latin typeface="Noto Sans SC"/>
                <a:ea typeface="Noto Sans SC"/>
                <a:cs typeface="Noto Sans SC"/>
                <a:sym typeface="Noto Sans SC"/>
              </a:rPr>
              <a:t>•</a:t>
            </a:r>
            <a:r>
              <a:rPr lang="en-US" sz="1400" b="1" i="0" u="none" strike="noStrike">
                <a:solidFill>
                  <a:srgbClr val="333333"/>
                </a:solidFill>
                <a:latin typeface="Noto Sans SC"/>
                <a:ea typeface="Noto Sans SC"/>
                <a:cs typeface="Noto Sans SC"/>
                <a:sym typeface="Noto Sans SC"/>
              </a:rPr>
              <a:t>CSV/Markdown表格</a:t>
            </a:r>
            <a:r>
              <a:rPr lang="en-US" sz="1400" b="0" i="0" u="none" strike="noStrike">
                <a:solidFill>
                  <a:srgbClr val="333333"/>
                </a:solidFill>
                <a:latin typeface="Noto Sans SC"/>
                <a:ea typeface="Noto Sans SC"/>
                <a:cs typeface="Noto Sans SC"/>
                <a:sym typeface="Noto Sans SC"/>
              </a:rPr>
              <a:t>：适合数据统计与展示</a:t>
            </a:r>
            <a:endParaRPr lang="en-US" sz="1400" b="0" i="0" u="none" strike="noStrike">
              <a:solidFill>
                <a:srgbClr val="333333"/>
              </a:solidFill>
              <a:latin typeface="Noto Sans SC"/>
              <a:ea typeface="Noto Sans SC"/>
              <a:cs typeface="Noto Sans SC"/>
              <a:sym typeface="Noto Sans SC"/>
            </a:endParaRPr>
          </a:p>
        </p:txBody>
      </p:sp>
      <p:sp>
        <p:nvSpPr>
          <p:cNvPr id="11" name="AutoShape 11"/>
          <p:cNvSpPr/>
          <p:nvPr/>
        </p:nvSpPr>
        <p:spPr>
          <a:xfrm>
            <a:off x="6350000" y="1397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651000"/>
            <a:ext cx="355600" cy="355600"/>
          </a:xfrm>
          <a:prstGeom prst="rect">
            <a:avLst/>
          </a:prstGeom>
        </p:spPr>
      </p:pic>
      <p:sp>
        <p:nvSpPr>
          <p:cNvPr id="13" name="AutoShape 13"/>
          <p:cNvSpPr/>
          <p:nvPr/>
        </p:nvSpPr>
        <p:spPr>
          <a:xfrm>
            <a:off x="7086600" y="1600200"/>
            <a:ext cx="4064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实战示例：评论审核结果</a:t>
            </a:r>
            <a:endParaRPr lang="en-US" sz="1100"/>
          </a:p>
        </p:txBody>
      </p:sp>
      <p:sp>
        <p:nvSpPr>
          <p:cNvPr id="14" name="AutoShape 14"/>
          <p:cNvSpPr/>
          <p:nvPr/>
        </p:nvSpPr>
        <p:spPr>
          <a:xfrm>
            <a:off x="6604000" y="2095500"/>
            <a:ext cx="4572000" cy="508000"/>
          </a:xfrm>
          <a:prstGeom prst="roundRect">
            <a:avLst>
              <a:gd name="adj" fmla="val 12500"/>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31000" y="2184400"/>
            <a:ext cx="4318000" cy="3302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0288D1"/>
                </a:solidFill>
                <a:latin typeface="Noto Sans SC"/>
                <a:ea typeface="Noto Sans SC"/>
                <a:cs typeface="Noto Sans SC"/>
                <a:sym typeface="Noto Sans SC"/>
              </a:rPr>
              <a:t>指令：输出JSON格式，包含 result (有效/无效) 和 reason。</a:t>
            </a:r>
            <a:endParaRPr lang="en-US" sz="1100"/>
          </a:p>
        </p:txBody>
      </p:sp>
      <p:sp>
        <p:nvSpPr>
          <p:cNvPr id="16" name="AutoShape 16"/>
          <p:cNvSpPr/>
          <p:nvPr/>
        </p:nvSpPr>
        <p:spPr>
          <a:xfrm>
            <a:off x="6604000" y="27305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 正面示例 (有效)</a:t>
            </a:r>
            <a:endParaRPr lang="en-US" sz="1100"/>
          </a:p>
        </p:txBody>
      </p:sp>
      <p:sp>
        <p:nvSpPr>
          <p:cNvPr id="17" name="AutoShape 17"/>
          <p:cNvSpPr/>
          <p:nvPr/>
        </p:nvSpPr>
        <p:spPr>
          <a:xfrm>
            <a:off x="6604000" y="3048000"/>
            <a:ext cx="4572000" cy="635000"/>
          </a:xfrm>
          <a:prstGeom prst="roundRect">
            <a:avLst>
              <a:gd name="adj" fmla="val 10000"/>
            </a:avLst>
          </a:prstGeom>
          <a:solidFill>
            <a:srgbClr val="F1F8E9">
              <a:alpha val="100000"/>
            </a:srgbClr>
          </a:solidFill>
          <a:ln w="12700" cap="flat" cmpd="sng">
            <a:solidFill>
              <a:srgbClr val="A5D6A7">
                <a:alpha val="100000"/>
              </a:srgbClr>
            </a:solidFill>
            <a:prstDash val="solid"/>
            <a:round/>
          </a:ln>
        </p:spPr>
        <p:txBody>
          <a:bodyPr vert="horz" wrap="square" lIns="63500" tIns="63500" rIns="63500" bIns="63500" rtlCol="0" anchor="ctr"/>
          <a:lstStyle/>
          <a:p>
            <a:pPr algn="ctr">
              <a:defRPr/>
            </a:pPr>
          </a:p>
        </p:txBody>
      </p:sp>
      <p:sp>
        <p:nvSpPr>
          <p:cNvPr id="18" name="AutoShape 18"/>
          <p:cNvSpPr/>
          <p:nvPr/>
        </p:nvSpPr>
        <p:spPr>
          <a:xfrm>
            <a:off x="6731000" y="31496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Consolas"/>
                <a:ea typeface="Consolas"/>
                <a:cs typeface="Consolas"/>
                <a:sym typeface="Consolas"/>
              </a:rPr>
              <a:t>{ "result": "有效", "reason": "语义明确，产品相关" }</a:t>
            </a:r>
            <a:endParaRPr lang="en-US" sz="1100"/>
          </a:p>
        </p:txBody>
      </p:sp>
      <p:sp>
        <p:nvSpPr>
          <p:cNvPr id="19" name="AutoShape 19"/>
          <p:cNvSpPr/>
          <p:nvPr/>
        </p:nvSpPr>
        <p:spPr>
          <a:xfrm>
            <a:off x="6604000" y="3810000"/>
            <a:ext cx="4572000" cy="25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 反面示例 (无效)</a:t>
            </a:r>
            <a:endParaRPr lang="en-US" sz="1100"/>
          </a:p>
        </p:txBody>
      </p:sp>
      <p:sp>
        <p:nvSpPr>
          <p:cNvPr id="20" name="AutoShape 20"/>
          <p:cNvSpPr/>
          <p:nvPr/>
        </p:nvSpPr>
        <p:spPr>
          <a:xfrm>
            <a:off x="6604000" y="4127500"/>
            <a:ext cx="4572000" cy="635000"/>
          </a:xfrm>
          <a:prstGeom prst="roundRect">
            <a:avLst>
              <a:gd name="adj" fmla="val 10000"/>
            </a:avLst>
          </a:prstGeom>
          <a:solidFill>
            <a:srgbClr val="FDECEC">
              <a:alpha val="100000"/>
            </a:srgbClr>
          </a:solidFill>
          <a:ln w="12700" cap="flat" cmpd="sng">
            <a:solidFill>
              <a:srgbClr val="F48FB1">
                <a:alpha val="10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6731000" y="42291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333333"/>
                </a:solidFill>
                <a:latin typeface="Consolas"/>
                <a:ea typeface="Consolas"/>
                <a:cs typeface="Consolas"/>
                <a:sym typeface="Consolas"/>
              </a:rPr>
              <a:t>{ "result": "无效", "reason": "纯数字" }</a:t>
            </a:r>
            <a:endParaRPr lang="en-US" sz="1100"/>
          </a:p>
        </p:txBody>
      </p:sp>
      <p:sp>
        <p:nvSpPr>
          <p:cNvPr id="22" name="AutoShape 22"/>
          <p:cNvSpPr/>
          <p:nvPr/>
        </p:nvSpPr>
        <p:spPr>
          <a:xfrm>
            <a:off x="762000" y="5207000"/>
            <a:ext cx="10668000" cy="1016000"/>
          </a:xfrm>
          <a:prstGeom prst="roundRect">
            <a:avLst>
              <a:gd name="adj" fmla="val 12500"/>
            </a:avLst>
          </a:prstGeom>
          <a:solidFill>
            <a:srgbClr val="FFFFFF">
              <a:alpha val="100000"/>
            </a:srgbClr>
          </a:solidFill>
          <a:ln w="254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3" name="Picture 23"/>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461000"/>
            <a:ext cx="406400" cy="406400"/>
          </a:xfrm>
          <a:prstGeom prst="rect">
            <a:avLst/>
          </a:prstGeom>
        </p:spPr>
      </p:pic>
      <p:sp>
        <p:nvSpPr>
          <p:cNvPr id="24" name="AutoShape 24"/>
          <p:cNvSpPr/>
          <p:nvPr/>
        </p:nvSpPr>
        <p:spPr>
          <a:xfrm>
            <a:off x="1524000" y="5397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333333"/>
                </a:solidFill>
                <a:latin typeface="Noto Sans SC"/>
                <a:ea typeface="Noto Sans SC"/>
                <a:cs typeface="Noto Sans SC"/>
                <a:sym typeface="Noto Sans SC"/>
              </a:rPr>
              <a:t>关键点：</a:t>
            </a:r>
            <a:r>
              <a:rPr lang="en-US" sz="1600" b="0" i="0" u="none" strike="noStrike">
                <a:solidFill>
                  <a:srgbClr val="555555"/>
                </a:solidFill>
                <a:latin typeface="Noto Sans SC"/>
                <a:ea typeface="Noto Sans SC"/>
                <a:cs typeface="Noto Sans SC"/>
                <a:sym typeface="Noto Sans SC"/>
              </a:rPr>
              <a:t>结构化输出是构建自动化应用的基础。明确的格式要求能让模型输出的数据直接被代码读取，避免了繁琐的文本提取工作，提升效率。</a:t>
            </a:r>
            <a:endParaRPr lang="en-US" sz="110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常见结构化输出格式对比</a:t>
            </a:r>
            <a:endParaRPr lang="en-US" sz="1100"/>
          </a:p>
        </p:txBody>
      </p:sp>
      <p:sp>
        <p:nvSpPr>
          <p:cNvPr id="3" name="AutoShape 3"/>
          <p:cNvSpPr/>
          <p:nvPr/>
        </p:nvSpPr>
        <p:spPr>
          <a:xfrm>
            <a:off x="762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4" name="AutoShape 4"/>
          <p:cNvSpPr/>
          <p:nvPr/>
        </p:nvSpPr>
        <p:spPr>
          <a:xfrm>
            <a:off x="762000" y="1397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714500"/>
            <a:ext cx="635000" cy="635000"/>
          </a:xfrm>
          <a:prstGeom prst="rect">
            <a:avLst/>
          </a:prstGeom>
        </p:spPr>
      </p:pic>
      <p:sp>
        <p:nvSpPr>
          <p:cNvPr id="6" name="AutoShape 6"/>
          <p:cNvSpPr/>
          <p:nvPr/>
        </p:nvSpPr>
        <p:spPr>
          <a:xfrm>
            <a:off x="889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JSON</a:t>
            </a:r>
            <a:endParaRPr lang="en-US" sz="1100"/>
          </a:p>
        </p:txBody>
      </p:sp>
      <p:sp>
        <p:nvSpPr>
          <p:cNvPr id="7" name="AutoShape 7"/>
          <p:cNvSpPr/>
          <p:nvPr/>
        </p:nvSpPr>
        <p:spPr>
          <a:xfrm>
            <a:off x="952500" y="2857500"/>
            <a:ext cx="2921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46464"/>
                </a:solidFill>
                <a:latin typeface="Noto Sans SC"/>
                <a:ea typeface="Noto Sans SC"/>
                <a:cs typeface="Noto Sans SC"/>
                <a:sym typeface="Noto Sans SC"/>
              </a:rPr>
              <a:t>可读性：</a:t>
            </a:r>
            <a:r>
              <a:rPr lang="en-US" sz="1400" b="0" i="0" u="none" strike="noStrike">
                <a:solidFill>
                  <a:srgbClr val="333333"/>
                </a:solidFill>
                <a:latin typeface="Noto Sans SC"/>
                <a:ea typeface="Noto Sans SC"/>
                <a:cs typeface="Noto Sans SC"/>
                <a:sym typeface="Noto Sans SC"/>
              </a:rPr>
              <a:t>较高</a:t>
            </a:r>
            <a:endParaRPr lang="en-US" sz="1100"/>
          </a:p>
          <a:p>
            <a:pPr indent="0" algn="l">
              <a:lnSpc>
                <a:spcPct val="108000"/>
              </a:lnSpc>
            </a:pPr>
            <a:r>
              <a:rPr lang="en-US" sz="1400" b="1" i="0" u="none" strike="noStrike">
                <a:solidFill>
                  <a:srgbClr val="646464"/>
                </a:solidFill>
                <a:latin typeface="Noto Sans SC"/>
                <a:ea typeface="Noto Sans SC"/>
                <a:cs typeface="Noto Sans SC"/>
                <a:sym typeface="Noto Sans SC"/>
              </a:rPr>
              <a:t>解析难度：</a:t>
            </a:r>
            <a:r>
              <a:rPr lang="en-US" sz="1400" b="0" i="0" u="none" strike="noStrike">
                <a:solidFill>
                  <a:srgbClr val="333333"/>
                </a:solidFill>
                <a:latin typeface="Noto Sans SC"/>
                <a:ea typeface="Noto Sans SC"/>
                <a:cs typeface="Noto Sans SC"/>
                <a:sym typeface="Noto Sans SC"/>
              </a:rPr>
              <a:t>低（主流语言均有成熟库）</a:t>
            </a:r>
            <a:endParaRPr lang="en-US" sz="1400" b="0" i="0" u="none" strike="noStrike">
              <a:solidFill>
                <a:srgbClr val="333333"/>
              </a:solidFill>
              <a:latin typeface="Noto Sans SC"/>
              <a:ea typeface="Noto Sans SC"/>
              <a:cs typeface="Noto Sans SC"/>
              <a:sym typeface="Noto Sans SC"/>
            </a:endParaRPr>
          </a:p>
          <a:p>
            <a:pPr indent="0" algn="l">
              <a:lnSpc>
                <a:spcPct val="108000"/>
              </a:lnSpc>
            </a:pPr>
            <a:r>
              <a:rPr lang="en-US" sz="1400" b="1" i="0" u="none" strike="noStrike">
                <a:solidFill>
                  <a:srgbClr val="646464"/>
                </a:solidFill>
                <a:latin typeface="Noto Sans SC"/>
                <a:ea typeface="Noto Sans SC"/>
                <a:cs typeface="Noto Sans SC"/>
                <a:sym typeface="Noto Sans SC"/>
              </a:rPr>
              <a:t>适用场景：</a:t>
            </a:r>
            <a:r>
              <a:rPr lang="en-US" sz="1400" b="0" i="0" u="none" strike="noStrike">
                <a:solidFill>
                  <a:srgbClr val="333333"/>
                </a:solidFill>
                <a:latin typeface="Noto Sans SC"/>
                <a:ea typeface="Noto Sans SC"/>
                <a:cs typeface="Noto Sans SC"/>
                <a:sym typeface="Noto Sans SC"/>
              </a:rPr>
              <a:t>数据交换、API返回、程序处理</a:t>
            </a:r>
            <a:endParaRPr lang="en-US" sz="1400" b="0" i="0" u="none" strike="noStrike">
              <a:solidFill>
                <a:srgbClr val="333333"/>
              </a:solidFill>
              <a:latin typeface="Noto Sans SC"/>
              <a:ea typeface="Noto Sans SC"/>
              <a:cs typeface="Noto Sans SC"/>
              <a:sym typeface="Noto Sans SC"/>
            </a:endParaRPr>
          </a:p>
        </p:txBody>
      </p:sp>
      <p:sp>
        <p:nvSpPr>
          <p:cNvPr id="8" name="AutoShape 8"/>
          <p:cNvSpPr/>
          <p:nvPr/>
        </p:nvSpPr>
        <p:spPr>
          <a:xfrm>
            <a:off x="4445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9" name="AutoShape 9"/>
          <p:cNvSpPr/>
          <p:nvPr/>
        </p:nvSpPr>
        <p:spPr>
          <a:xfrm>
            <a:off x="4445000" y="1397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714500"/>
            <a:ext cx="635000" cy="635000"/>
          </a:xfrm>
          <a:prstGeom prst="rect">
            <a:avLst/>
          </a:prstGeom>
        </p:spPr>
      </p:pic>
      <p:sp>
        <p:nvSpPr>
          <p:cNvPr id="11" name="AutoShape 11"/>
          <p:cNvSpPr/>
          <p:nvPr/>
        </p:nvSpPr>
        <p:spPr>
          <a:xfrm>
            <a:off x="4572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XML</a:t>
            </a:r>
            <a:endParaRPr lang="en-US" sz="1100"/>
          </a:p>
        </p:txBody>
      </p:sp>
      <p:sp>
        <p:nvSpPr>
          <p:cNvPr id="12" name="AutoShape 12"/>
          <p:cNvSpPr/>
          <p:nvPr/>
        </p:nvSpPr>
        <p:spPr>
          <a:xfrm>
            <a:off x="4635500" y="2857500"/>
            <a:ext cx="2921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46464"/>
                </a:solidFill>
                <a:latin typeface="Noto Sans SC"/>
                <a:ea typeface="Noto Sans SC"/>
                <a:cs typeface="Noto Sans SC"/>
                <a:sym typeface="Noto Sans SC"/>
              </a:rPr>
              <a:t>可读性：</a:t>
            </a:r>
            <a:r>
              <a:rPr lang="en-US" sz="1400" b="0" i="0" u="none" strike="noStrike">
                <a:solidFill>
                  <a:srgbClr val="333333"/>
                </a:solidFill>
                <a:latin typeface="Noto Sans SC"/>
                <a:ea typeface="Noto Sans SC"/>
                <a:cs typeface="Noto Sans SC"/>
                <a:sym typeface="Noto Sans SC"/>
              </a:rPr>
              <a:t>中等</a:t>
            </a:r>
            <a:endParaRPr lang="en-US" sz="1100"/>
          </a:p>
          <a:p>
            <a:pPr indent="0" algn="l">
              <a:lnSpc>
                <a:spcPct val="108000"/>
              </a:lnSpc>
            </a:pPr>
            <a:r>
              <a:rPr lang="en-US" sz="1400" b="1" i="0" u="none" strike="noStrike">
                <a:solidFill>
                  <a:srgbClr val="646464"/>
                </a:solidFill>
                <a:latin typeface="Noto Sans SC"/>
                <a:ea typeface="Noto Sans SC"/>
                <a:cs typeface="Noto Sans SC"/>
                <a:sym typeface="Noto Sans SC"/>
              </a:rPr>
              <a:t>解析难度：</a:t>
            </a:r>
            <a:r>
              <a:rPr lang="en-US" sz="1400" b="0" i="0" u="none" strike="noStrike">
                <a:solidFill>
                  <a:srgbClr val="333333"/>
                </a:solidFill>
                <a:latin typeface="Noto Sans SC"/>
                <a:ea typeface="Noto Sans SC"/>
                <a:cs typeface="Noto Sans SC"/>
                <a:sym typeface="Noto Sans SC"/>
              </a:rPr>
              <a:t>中（需要专门的解析器）</a:t>
            </a:r>
            <a:endParaRPr lang="en-US" sz="1400" b="0" i="0" u="none" strike="noStrike">
              <a:solidFill>
                <a:srgbClr val="333333"/>
              </a:solidFill>
              <a:latin typeface="Noto Sans SC"/>
              <a:ea typeface="Noto Sans SC"/>
              <a:cs typeface="Noto Sans SC"/>
              <a:sym typeface="Noto Sans SC"/>
            </a:endParaRPr>
          </a:p>
          <a:p>
            <a:pPr indent="0" algn="l">
              <a:lnSpc>
                <a:spcPct val="108000"/>
              </a:lnSpc>
            </a:pPr>
            <a:r>
              <a:rPr lang="en-US" sz="1400" b="1" i="0" u="none" strike="noStrike">
                <a:solidFill>
                  <a:srgbClr val="646464"/>
                </a:solidFill>
                <a:latin typeface="Noto Sans SC"/>
                <a:ea typeface="Noto Sans SC"/>
                <a:cs typeface="Noto Sans SC"/>
                <a:sym typeface="Noto Sans SC"/>
              </a:rPr>
              <a:t>适用场景：</a:t>
            </a:r>
            <a:r>
              <a:rPr lang="en-US" sz="1400" b="0" i="0" u="none" strike="noStrike">
                <a:solidFill>
                  <a:srgbClr val="333333"/>
                </a:solidFill>
                <a:latin typeface="Noto Sans SC"/>
                <a:ea typeface="Noto Sans SC"/>
                <a:cs typeface="Noto Sans SC"/>
                <a:sym typeface="Noto Sans SC"/>
              </a:rPr>
              <a:t>传统系统集成、配置文件</a:t>
            </a:r>
            <a:endParaRPr lang="en-US" sz="1400" b="0" i="0" u="none" strike="noStrike">
              <a:solidFill>
                <a:srgbClr val="333333"/>
              </a:solidFill>
              <a:latin typeface="Noto Sans SC"/>
              <a:ea typeface="Noto Sans SC"/>
              <a:cs typeface="Noto Sans SC"/>
              <a:sym typeface="Noto Sans SC"/>
            </a:endParaRPr>
          </a:p>
        </p:txBody>
      </p:sp>
      <p:sp>
        <p:nvSpPr>
          <p:cNvPr id="13" name="AutoShape 13"/>
          <p:cNvSpPr/>
          <p:nvPr/>
        </p:nvSpPr>
        <p:spPr>
          <a:xfrm>
            <a:off x="8128000" y="1397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4" name="AutoShape 14"/>
          <p:cNvSpPr/>
          <p:nvPr/>
        </p:nvSpPr>
        <p:spPr>
          <a:xfrm>
            <a:off x="8128000" y="1397000"/>
            <a:ext cx="3302000" cy="76200"/>
          </a:xfrm>
          <a:prstGeom prst="roundRect">
            <a:avLst>
              <a:gd name="adj" fmla="val 16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714500"/>
            <a:ext cx="635000" cy="635000"/>
          </a:xfrm>
          <a:prstGeom prst="rect">
            <a:avLst/>
          </a:prstGeom>
        </p:spPr>
      </p:pic>
      <p:sp>
        <p:nvSpPr>
          <p:cNvPr id="16" name="AutoShape 16"/>
          <p:cNvSpPr/>
          <p:nvPr/>
        </p:nvSpPr>
        <p:spPr>
          <a:xfrm>
            <a:off x="8255000" y="2413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333333"/>
                </a:solidFill>
                <a:latin typeface="Noto Sans SC"/>
                <a:ea typeface="Noto Sans SC"/>
                <a:cs typeface="Noto Sans SC"/>
                <a:sym typeface="Noto Sans SC"/>
              </a:rPr>
              <a:t>Markdown表格</a:t>
            </a:r>
            <a:endParaRPr lang="en-US" sz="1100"/>
          </a:p>
        </p:txBody>
      </p:sp>
      <p:sp>
        <p:nvSpPr>
          <p:cNvPr id="17" name="AutoShape 17"/>
          <p:cNvSpPr/>
          <p:nvPr/>
        </p:nvSpPr>
        <p:spPr>
          <a:xfrm>
            <a:off x="8318500" y="2857500"/>
            <a:ext cx="2921000" cy="190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646464"/>
                </a:solidFill>
                <a:latin typeface="Noto Sans SC"/>
                <a:ea typeface="Noto Sans SC"/>
                <a:cs typeface="Noto Sans SC"/>
                <a:sym typeface="Noto Sans SC"/>
              </a:rPr>
              <a:t>可读性：</a:t>
            </a:r>
            <a:r>
              <a:rPr lang="en-US" sz="1400" b="0" i="0" u="none" strike="noStrike">
                <a:solidFill>
                  <a:srgbClr val="333333"/>
                </a:solidFill>
                <a:latin typeface="Noto Sans SC"/>
                <a:ea typeface="Noto Sans SC"/>
                <a:cs typeface="Noto Sans SC"/>
                <a:sym typeface="Noto Sans SC"/>
              </a:rPr>
              <a:t>高（人类易读）</a:t>
            </a:r>
            <a:endParaRPr lang="en-US" sz="1100"/>
          </a:p>
          <a:p>
            <a:pPr indent="0" algn="l">
              <a:lnSpc>
                <a:spcPct val="108000"/>
              </a:lnSpc>
            </a:pPr>
            <a:r>
              <a:rPr lang="en-US" sz="1400" b="1" i="0" u="none" strike="noStrike">
                <a:solidFill>
                  <a:srgbClr val="646464"/>
                </a:solidFill>
                <a:latin typeface="Noto Sans SC"/>
                <a:ea typeface="Noto Sans SC"/>
                <a:cs typeface="Noto Sans SC"/>
                <a:sym typeface="Noto Sans SC"/>
              </a:rPr>
              <a:t>解析难度：</a:t>
            </a:r>
            <a:r>
              <a:rPr lang="en-US" sz="1400" b="0" i="0" u="none" strike="noStrike">
                <a:solidFill>
                  <a:srgbClr val="333333"/>
                </a:solidFill>
                <a:latin typeface="Noto Sans SC"/>
                <a:ea typeface="Noto Sans SC"/>
                <a:cs typeface="Noto Sans SC"/>
                <a:sym typeface="Noto Sans SC"/>
              </a:rPr>
              <a:t>高（需要自定义解析）</a:t>
            </a:r>
            <a:endParaRPr lang="en-US" sz="1400" b="0" i="0" u="none" strike="noStrike">
              <a:solidFill>
                <a:srgbClr val="333333"/>
              </a:solidFill>
              <a:latin typeface="Noto Sans SC"/>
              <a:ea typeface="Noto Sans SC"/>
              <a:cs typeface="Noto Sans SC"/>
              <a:sym typeface="Noto Sans SC"/>
            </a:endParaRPr>
          </a:p>
          <a:p>
            <a:pPr indent="0" algn="l">
              <a:lnSpc>
                <a:spcPct val="108000"/>
              </a:lnSpc>
            </a:pPr>
            <a:r>
              <a:rPr lang="en-US" sz="1400" b="1" i="0" u="none" strike="noStrike">
                <a:solidFill>
                  <a:srgbClr val="646464"/>
                </a:solidFill>
                <a:latin typeface="Noto Sans SC"/>
                <a:ea typeface="Noto Sans SC"/>
                <a:cs typeface="Noto Sans SC"/>
                <a:sym typeface="Noto Sans SC"/>
              </a:rPr>
              <a:t>适用场景：</a:t>
            </a:r>
            <a:r>
              <a:rPr lang="en-US" sz="1400" b="0" i="0" u="none" strike="noStrike">
                <a:solidFill>
                  <a:srgbClr val="333333"/>
                </a:solidFill>
                <a:latin typeface="Noto Sans SC"/>
                <a:ea typeface="Noto Sans SC"/>
                <a:cs typeface="Noto Sans SC"/>
                <a:sym typeface="Noto Sans SC"/>
              </a:rPr>
              <a:t>报告生成、文档撰写、直接展示</a:t>
            </a:r>
            <a:endParaRPr lang="en-US" sz="1400" b="0" i="0" u="none" strike="noStrike">
              <a:solidFill>
                <a:srgbClr val="333333"/>
              </a:solidFill>
              <a:latin typeface="Noto Sans SC"/>
              <a:ea typeface="Noto Sans SC"/>
              <a:cs typeface="Noto Sans SC"/>
              <a:sym typeface="Noto Sans SC"/>
            </a:endParaRPr>
          </a:p>
        </p:txBody>
      </p:sp>
      <p:sp>
        <p:nvSpPr>
          <p:cNvPr id="18" name="AutoShape 18"/>
          <p:cNvSpPr/>
          <p:nvPr/>
        </p:nvSpPr>
        <p:spPr>
          <a:xfrm>
            <a:off x="762000" y="5334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sp>
        <p:nvSpPr>
          <p:cNvPr id="19" name="AutoShape 19"/>
          <p:cNvSpPr/>
          <p:nvPr/>
        </p:nvSpPr>
        <p:spPr>
          <a:xfrm>
            <a:off x="1016000" y="5461000"/>
            <a:ext cx="10160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1" i="0" u="none" strike="noStrike">
                <a:solidFill>
                  <a:srgbClr val="0288D1"/>
                </a:solidFill>
                <a:latin typeface="Noto Sans SC"/>
                <a:ea typeface="Noto Sans SC"/>
                <a:cs typeface="Noto Sans SC"/>
                <a:sym typeface="Noto Sans SC"/>
              </a:rPr>
              <a:t>总结：</a:t>
            </a:r>
            <a:r>
              <a:rPr lang="en-US" sz="1600" b="0" i="0" u="none" strike="noStrike">
                <a:solidFill>
                  <a:srgbClr val="333333"/>
                </a:solidFill>
                <a:latin typeface="Noto Sans SC"/>
                <a:ea typeface="Noto Sans SC"/>
                <a:cs typeface="Noto Sans SC"/>
                <a:sym typeface="Noto Sans SC"/>
              </a:rPr>
              <a:t>选择合适的格式取决于具体应用场景，JSON适合程序间交互，Markdown适合人类阅读，XML则常用于传统系统。</a:t>
            </a:r>
            <a:endParaRPr lang="en-US" sz="110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4470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6.2.7 合理进行限制</a:t>
            </a:r>
            <a:endParaRPr lang="en-US" sz="1100"/>
          </a:p>
        </p:txBody>
      </p:sp>
      <p:sp>
        <p:nvSpPr>
          <p:cNvPr id="3" name="AutoShape 3"/>
          <p:cNvSpPr/>
          <p:nvPr/>
        </p:nvSpPr>
        <p:spPr>
          <a:xfrm>
            <a:off x="762000" y="1270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016000" y="19050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55555"/>
                </a:solidFill>
                <a:latin typeface="Noto Sans SC"/>
                <a:ea typeface="Noto Sans SC"/>
                <a:cs typeface="Noto Sans SC"/>
                <a:sym typeface="Noto Sans SC"/>
              </a:rPr>
              <a:t>大模型有时会“过度思考”或回答无关内容。通过在提示词中设置明确的限制条件，约束模型的思考范围和输出边界，确保回答聚焦核心问题，避免发散。</a:t>
            </a:r>
            <a:endParaRPr lang="en-US" sz="1100"/>
          </a:p>
        </p:txBody>
      </p:sp>
      <p:cxnSp>
        <p:nvCxnSpPr>
          <p:cNvPr id="7" name="Connector 7"/>
          <p:cNvCxnSpPr/>
          <p:nvPr/>
        </p:nvCxnSpPr>
        <p:spPr>
          <a:xfrm rot="-9549">
            <a:off x="1016009" y="3041650"/>
            <a:ext cx="4572000" cy="12700"/>
          </a:xfrm>
          <a:prstGeom prst="straightConnector1">
            <a:avLst/>
          </a:prstGeom>
          <a:solidFill>
            <a:srgbClr val="DEE0E3">
              <a:alpha val="100000"/>
            </a:srgbClr>
          </a:solidFill>
          <a:ln w="12700" cap="flat" cmpd="sng">
            <a:solidFill>
              <a:srgbClr val="E0E0E0">
                <a:alpha val="100000"/>
              </a:srgbClr>
            </a:solidFill>
            <a:prstDash val="solid"/>
            <a:round/>
            <a:headEnd type="none" w="med" len="med"/>
            <a:tailEnd type="none" w="med" len="med"/>
          </a:ln>
        </p:spPr>
      </p:cxn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3302000"/>
            <a:ext cx="304800" cy="304800"/>
          </a:xfrm>
          <a:prstGeom prst="rect">
            <a:avLst/>
          </a:prstGeom>
        </p:spPr>
      </p:pic>
      <p:sp>
        <p:nvSpPr>
          <p:cNvPr id="9" name="AutoShape 9"/>
          <p:cNvSpPr/>
          <p:nvPr/>
        </p:nvSpPr>
        <p:spPr>
          <a:xfrm>
            <a:off x="1397000" y="3251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实施方法</a:t>
            </a:r>
            <a:endParaRPr lang="en-US" sz="1100"/>
          </a:p>
        </p:txBody>
      </p:sp>
      <p:sp>
        <p:nvSpPr>
          <p:cNvPr id="10" name="AutoShape 10"/>
          <p:cNvSpPr/>
          <p:nvPr/>
        </p:nvSpPr>
        <p:spPr>
          <a:xfrm>
            <a:off x="1016000" y="3683000"/>
            <a:ext cx="4572000" cy="1270000"/>
          </a:xfrm>
          <a:prstGeom prst="rect">
            <a:avLst/>
          </a:prstGeom>
          <a:noFill/>
          <a:ln w="12700" cap="flat" cmpd="sng">
            <a:noFill/>
            <a:prstDash val="solid"/>
            <a:round/>
          </a:ln>
        </p:spPr>
        <p:txBody>
          <a:bodyPr vert="horz" wrap="square" lIns="0" tIns="0" rIns="0" bIns="0" rtlCol="0" anchor="ctr" anchorCtr="0"/>
          <a:lstStyle/>
          <a:p>
            <a:pPr marL="177800" indent="-177800" algn="l">
              <a:lnSpc>
                <a:spcPct val="108000"/>
              </a:lnSpc>
              <a:buClr>
                <a:srgbClr val="555555"/>
              </a:buClr>
              <a:buChar char="•"/>
              <a:defRPr/>
            </a:pPr>
            <a:r>
              <a:rPr lang="en-US" sz="1400" b="0" i="0" u="none" strike="noStrike">
                <a:solidFill>
                  <a:srgbClr val="555555"/>
                </a:solidFill>
                <a:latin typeface="Noto Sans SC"/>
                <a:ea typeface="Noto Sans SC"/>
                <a:cs typeface="Noto Sans SC"/>
                <a:sym typeface="Noto Sans SC"/>
              </a:rPr>
              <a:t>明确禁止讨论的话题，避免无关输出</a:t>
            </a:r>
            <a:endParaRPr lang="en-US" sz="1100"/>
          </a:p>
          <a:p>
            <a:pPr marL="177800" indent="-177800" algn="l">
              <a:lnSpc>
                <a:spcPct val="108000"/>
              </a:lnSpc>
              <a:buClr>
                <a:srgbClr val="555555"/>
              </a:buClr>
              <a:buChar char="•"/>
            </a:pPr>
            <a:r>
              <a:rPr lang="en-US" sz="1400" b="0" i="0" u="none" strike="noStrike">
                <a:solidFill>
                  <a:srgbClr val="555555"/>
                </a:solidFill>
                <a:latin typeface="Noto Sans SC"/>
                <a:ea typeface="Noto Sans SC"/>
                <a:cs typeface="Noto Sans SC"/>
                <a:sym typeface="Noto Sans SC"/>
              </a:rPr>
              <a:t>限定输出的格式框架，规范结构</a:t>
            </a:r>
            <a:endParaRPr lang="en-US" sz="1400" b="0" i="0" u="none" strike="noStrike">
              <a:solidFill>
                <a:srgbClr val="555555"/>
              </a:solidFill>
              <a:latin typeface="Noto Sans SC"/>
              <a:ea typeface="Noto Sans SC"/>
              <a:cs typeface="Noto Sans SC"/>
              <a:sym typeface="Noto Sans SC"/>
            </a:endParaRPr>
          </a:p>
          <a:p>
            <a:pPr marL="177800" indent="-177800" algn="l">
              <a:lnSpc>
                <a:spcPct val="108000"/>
              </a:lnSpc>
              <a:buClr>
                <a:srgbClr val="555555"/>
              </a:buClr>
              <a:buChar char="•"/>
            </a:pPr>
            <a:r>
              <a:rPr lang="en-US" sz="1400" b="0" i="0" u="none" strike="noStrike">
                <a:solidFill>
                  <a:srgbClr val="555555"/>
                </a:solidFill>
                <a:latin typeface="Noto Sans SC"/>
                <a:ea typeface="Noto Sans SC"/>
                <a:cs typeface="Noto Sans SC"/>
                <a:sym typeface="Noto Sans SC"/>
              </a:rPr>
              <a:t>规定回答的知识来源，确保准确性</a:t>
            </a:r>
            <a:endParaRPr lang="en-US" sz="1400" b="0" i="0" u="none" strike="noStrike">
              <a:solidFill>
                <a:srgbClr val="555555"/>
              </a:solidFill>
              <a:latin typeface="Noto Sans SC"/>
              <a:ea typeface="Noto Sans SC"/>
              <a:cs typeface="Noto Sans SC"/>
              <a:sym typeface="Noto Sans SC"/>
            </a:endParaRPr>
          </a:p>
        </p:txBody>
      </p:sp>
      <p:sp>
        <p:nvSpPr>
          <p:cNvPr id="11" name="AutoShape 11"/>
          <p:cNvSpPr/>
          <p:nvPr/>
        </p:nvSpPr>
        <p:spPr>
          <a:xfrm>
            <a:off x="6350000" y="1270000"/>
            <a:ext cx="5080000" cy="4064000"/>
          </a:xfrm>
          <a:prstGeom prst="roundRect">
            <a:avLst>
              <a:gd name="adj" fmla="val 3125"/>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524000"/>
            <a:ext cx="304800" cy="304800"/>
          </a:xfrm>
          <a:prstGeom prst="rect">
            <a:avLst/>
          </a:prstGeom>
        </p:spPr>
      </p:pic>
      <p:sp>
        <p:nvSpPr>
          <p:cNvPr id="13" name="AutoShape 13"/>
          <p:cNvSpPr/>
          <p:nvPr/>
        </p:nvSpPr>
        <p:spPr>
          <a:xfrm>
            <a:off x="6985000" y="1473200"/>
            <a:ext cx="419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实战示例：限制讨论范围</a:t>
            </a:r>
            <a:endParaRPr lang="en-US" sz="1100"/>
          </a:p>
        </p:txBody>
      </p:sp>
      <p:sp>
        <p:nvSpPr>
          <p:cNvPr id="14" name="AutoShape 14"/>
          <p:cNvSpPr/>
          <p:nvPr/>
        </p:nvSpPr>
        <p:spPr>
          <a:xfrm>
            <a:off x="6604000" y="2032000"/>
            <a:ext cx="4572000" cy="1016000"/>
          </a:xfrm>
          <a:prstGeom prst="roundRect">
            <a:avLst>
              <a:gd name="adj" fmla="val 6250"/>
            </a:avLst>
          </a:prstGeom>
          <a:solidFill>
            <a:srgbClr val="0288D1">
              <a:alpha val="8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6731000" y="2095500"/>
            <a:ext cx="4318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0288D1"/>
                </a:solidFill>
                <a:latin typeface="Noto Sans SC"/>
                <a:ea typeface="Noto Sans SC"/>
                <a:cs typeface="Noto Sans SC"/>
                <a:sym typeface="Noto Sans SC"/>
              </a:rPr>
              <a:t>指令背景：</a:t>
            </a:r>
            <a:endParaRPr lang="en-US" sz="1100"/>
          </a:p>
          <a:p>
            <a:pPr indent="0" algn="l">
              <a:lnSpc>
                <a:spcPct val="100000"/>
              </a:lnSpc>
            </a:pPr>
            <a:r>
              <a:rPr lang="en-US" sz="1300" b="0" i="0" u="none" strike="noStrike">
                <a:solidFill>
                  <a:srgbClr val="555555"/>
                </a:solidFill>
                <a:latin typeface="Noto Sans SC"/>
                <a:ea typeface="Noto Sans SC"/>
                <a:cs typeface="Noto Sans SC"/>
                <a:sym typeface="Noto Sans SC"/>
              </a:rPr>
              <a:t>身份：资深美食爱好者。任务：根据用户的提问，精准地推荐地道的食谱。</a:t>
            </a:r>
            <a:endParaRPr lang="en-US" sz="1300" b="0" i="0" u="none" strike="noStrike">
              <a:solidFill>
                <a:srgbClr val="555555"/>
              </a:solidFill>
              <a:latin typeface="Noto Sans SC"/>
              <a:ea typeface="Noto Sans SC"/>
              <a:cs typeface="Noto Sans SC"/>
              <a:sym typeface="Noto Sans SC"/>
            </a:endParaRPr>
          </a:p>
        </p:txBody>
      </p:sp>
      <p:sp>
        <p:nvSpPr>
          <p:cNvPr id="16" name="AutoShape 16"/>
          <p:cNvSpPr/>
          <p:nvPr/>
        </p:nvSpPr>
        <p:spPr>
          <a:xfrm>
            <a:off x="6604000" y="3175000"/>
            <a:ext cx="4572000" cy="1651000"/>
          </a:xfrm>
          <a:prstGeom prst="roundRect">
            <a:avLst>
              <a:gd name="adj" fmla="val 3846"/>
            </a:avLst>
          </a:prstGeom>
          <a:solidFill>
            <a:srgbClr val="FFA726">
              <a:alpha val="8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731000" y="3238500"/>
            <a:ext cx="4318000" cy="1524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F6C00"/>
                </a:solidFill>
                <a:latin typeface="Noto Sans SC"/>
                <a:ea typeface="Noto Sans SC"/>
                <a:cs typeface="Noto Sans SC"/>
                <a:sym typeface="Noto Sans SC"/>
              </a:rPr>
              <a:t>限制条件：</a:t>
            </a:r>
            <a:endParaRPr lang="en-US" sz="1100"/>
          </a:p>
          <a:p>
            <a:pPr marL="165100" indent="-165100" algn="l">
              <a:lnSpc>
                <a:spcPct val="100000"/>
              </a:lnSpc>
              <a:buClr>
                <a:srgbClr val="555555"/>
              </a:buClr>
              <a:buChar char="•"/>
            </a:pPr>
            <a:r>
              <a:rPr lang="en-US" sz="1300" b="0" i="0" u="none" strike="noStrike">
                <a:solidFill>
                  <a:srgbClr val="555555"/>
                </a:solidFill>
                <a:latin typeface="Noto Sans SC"/>
                <a:ea typeface="Noto Sans SC"/>
                <a:cs typeface="Noto Sans SC"/>
                <a:sym typeface="Noto Sans SC"/>
              </a:rPr>
              <a:t>只讨论与美食相关的内容，拒绝回答与美食无关的话题。</a:t>
            </a:r>
            <a:endParaRPr lang="en-US" sz="1300" b="0" i="0" u="none" strike="noStrike">
              <a:solidFill>
                <a:srgbClr val="555555"/>
              </a:solidFill>
              <a:latin typeface="Noto Sans SC"/>
              <a:ea typeface="Noto Sans SC"/>
              <a:cs typeface="Noto Sans SC"/>
              <a:sym typeface="Noto Sans SC"/>
            </a:endParaRPr>
          </a:p>
          <a:p>
            <a:pPr marL="165100" indent="-165100" algn="l">
              <a:lnSpc>
                <a:spcPct val="100000"/>
              </a:lnSpc>
              <a:buClr>
                <a:srgbClr val="555555"/>
              </a:buClr>
              <a:buChar char="•"/>
            </a:pPr>
            <a:r>
              <a:rPr lang="en-US" sz="1300" b="0" i="0" u="none" strike="noStrike">
                <a:solidFill>
                  <a:srgbClr val="555555"/>
                </a:solidFill>
                <a:latin typeface="Noto Sans SC"/>
                <a:ea typeface="Noto Sans SC"/>
                <a:cs typeface="Noto Sans SC"/>
                <a:sym typeface="Noto Sans SC"/>
              </a:rPr>
              <a:t>输出的内容必须严格按照给定的格式进行组织，不能偏离框架要求。</a:t>
            </a:r>
            <a:endParaRPr lang="en-US" sz="1300" b="0" i="0" u="none" strike="noStrike">
              <a:solidFill>
                <a:srgbClr val="555555"/>
              </a:solidFill>
              <a:latin typeface="Noto Sans SC"/>
              <a:ea typeface="Noto Sans SC"/>
              <a:cs typeface="Noto Sans SC"/>
              <a:sym typeface="Noto Sans SC"/>
            </a:endParaRPr>
          </a:p>
        </p:txBody>
      </p:sp>
      <p:sp>
        <p:nvSpPr>
          <p:cNvPr id="18" name="AutoShape 18"/>
          <p:cNvSpPr/>
          <p:nvPr/>
        </p:nvSpPr>
        <p:spPr>
          <a:xfrm>
            <a:off x="762000" y="5588000"/>
            <a:ext cx="10668000" cy="762000"/>
          </a:xfrm>
          <a:prstGeom prst="roundRect">
            <a:avLst>
              <a:gd name="adj" fmla="val 16666"/>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9" name="Picture 19"/>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778500"/>
            <a:ext cx="381000" cy="381000"/>
          </a:xfrm>
          <a:prstGeom prst="rect">
            <a:avLst/>
          </a:prstGeom>
        </p:spPr>
      </p:pic>
      <p:sp>
        <p:nvSpPr>
          <p:cNvPr id="20" name="AutoShape 20"/>
          <p:cNvSpPr/>
          <p:nvPr/>
        </p:nvSpPr>
        <p:spPr>
          <a:xfrm>
            <a:off x="1524000" y="5651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总结：通过设定明确的限制条件，我们可以有效防止模型“答非所问”，确保输出内容的精准性和可用性。</a:t>
            </a:r>
            <a:endParaRPr lang="en-US" sz="110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6261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如何设置有效的限制条件？</a:t>
            </a:r>
            <a:endParaRPr lang="en-US" sz="1100"/>
          </a:p>
        </p:txBody>
      </p:sp>
      <p:sp>
        <p:nvSpPr>
          <p:cNvPr id="3" name="AutoShape 3"/>
          <p:cNvSpPr/>
          <p:nvPr/>
        </p:nvSpPr>
        <p:spPr>
          <a:xfrm>
            <a:off x="7620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6510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17600" y="1752600"/>
            <a:ext cx="406400" cy="406400"/>
          </a:xfrm>
          <a:prstGeom prst="rect">
            <a:avLst/>
          </a:prstGeom>
        </p:spPr>
      </p:pic>
      <p:sp>
        <p:nvSpPr>
          <p:cNvPr id="6" name="AutoShape 6"/>
          <p:cNvSpPr/>
          <p:nvPr/>
        </p:nvSpPr>
        <p:spPr>
          <a:xfrm>
            <a:off x="17780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明确禁止项</a:t>
            </a:r>
            <a:endParaRPr lang="en-US" sz="1100"/>
          </a:p>
        </p:txBody>
      </p:sp>
      <p:sp>
        <p:nvSpPr>
          <p:cNvPr id="7" name="AutoShape 7"/>
          <p:cNvSpPr/>
          <p:nvPr/>
        </p:nvSpPr>
        <p:spPr>
          <a:xfrm>
            <a:off x="1016000" y="2349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05050"/>
                </a:solidFill>
                <a:latin typeface="Noto Sans SC"/>
                <a:ea typeface="Noto Sans SC"/>
                <a:cs typeface="Noto Sans SC"/>
                <a:sym typeface="Noto Sans SC"/>
              </a:rPr>
              <a:t>清晰地列出模型不能做什么，建立行为边界。例如：拒绝回答非技术问题、不生成暴力内容等。</a:t>
            </a:r>
            <a:endParaRPr lang="en-US" sz="1100"/>
          </a:p>
        </p:txBody>
      </p:sp>
      <p:sp>
        <p:nvSpPr>
          <p:cNvPr id="8" name="AutoShape 8"/>
          <p:cNvSpPr/>
          <p:nvPr/>
        </p:nvSpPr>
        <p:spPr>
          <a:xfrm>
            <a:off x="6286500" y="1397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540500" y="16510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642100" y="1752600"/>
            <a:ext cx="406400" cy="406400"/>
          </a:xfrm>
          <a:prstGeom prst="rect">
            <a:avLst/>
          </a:prstGeom>
        </p:spPr>
      </p:pic>
      <p:sp>
        <p:nvSpPr>
          <p:cNvPr id="11" name="AutoShape 11"/>
          <p:cNvSpPr/>
          <p:nvPr/>
        </p:nvSpPr>
        <p:spPr>
          <a:xfrm>
            <a:off x="7302500" y="1651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限定知识范围</a:t>
            </a:r>
            <a:endParaRPr lang="en-US" sz="1100"/>
          </a:p>
        </p:txBody>
      </p:sp>
      <p:sp>
        <p:nvSpPr>
          <p:cNvPr id="12" name="AutoShape 12"/>
          <p:cNvSpPr/>
          <p:nvPr/>
        </p:nvSpPr>
        <p:spPr>
          <a:xfrm>
            <a:off x="6540500" y="2349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05050"/>
                </a:solidFill>
                <a:latin typeface="Noto Sans SC"/>
                <a:ea typeface="Noto Sans SC"/>
                <a:cs typeface="Noto Sans SC"/>
                <a:sym typeface="Noto Sans SC"/>
              </a:rPr>
              <a:t>指定模型回答问题的知识来源和领域。例如：仅基于提供的文本进行分析、只使用中学物理知识。</a:t>
            </a:r>
            <a:endParaRPr lang="en-US" sz="1100"/>
          </a:p>
        </p:txBody>
      </p:sp>
      <p:sp>
        <p:nvSpPr>
          <p:cNvPr id="13" name="AutoShape 13"/>
          <p:cNvSpPr/>
          <p:nvPr/>
        </p:nvSpPr>
        <p:spPr>
          <a:xfrm>
            <a:off x="7620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4" name="AutoShape 14"/>
          <p:cNvSpPr/>
          <p:nvPr/>
        </p:nvSpPr>
        <p:spPr>
          <a:xfrm>
            <a:off x="1016000" y="40640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17600" y="4165600"/>
            <a:ext cx="406400" cy="406400"/>
          </a:xfrm>
          <a:prstGeom prst="rect">
            <a:avLst/>
          </a:prstGeom>
        </p:spPr>
      </p:pic>
      <p:sp>
        <p:nvSpPr>
          <p:cNvPr id="16" name="AutoShape 16"/>
          <p:cNvSpPr/>
          <p:nvPr/>
        </p:nvSpPr>
        <p:spPr>
          <a:xfrm>
            <a:off x="1778000" y="4064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规定输出格式</a:t>
            </a:r>
            <a:endParaRPr lang="en-US" sz="1100"/>
          </a:p>
        </p:txBody>
      </p:sp>
      <p:sp>
        <p:nvSpPr>
          <p:cNvPr id="17" name="AutoShape 17"/>
          <p:cNvSpPr/>
          <p:nvPr/>
        </p:nvSpPr>
        <p:spPr>
          <a:xfrm>
            <a:off x="1016000" y="476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05050"/>
                </a:solidFill>
                <a:latin typeface="Noto Sans SC"/>
                <a:ea typeface="Noto Sans SC"/>
                <a:cs typeface="Noto Sans SC"/>
                <a:sym typeface="Noto Sans SC"/>
              </a:rPr>
              <a:t>强制模型使用特定的结构或格式输出。例如：必须包含“优点”和“缺点”两部分、输出结果按重要性排序。</a:t>
            </a:r>
            <a:endParaRPr lang="en-US" sz="1100"/>
          </a:p>
        </p:txBody>
      </p:sp>
      <p:sp>
        <p:nvSpPr>
          <p:cNvPr id="18" name="AutoShape 18"/>
          <p:cNvSpPr/>
          <p:nvPr/>
        </p:nvSpPr>
        <p:spPr>
          <a:xfrm>
            <a:off x="6286500" y="3810000"/>
            <a:ext cx="5143500" cy="2159000"/>
          </a:xfrm>
          <a:prstGeom prst="roundRect">
            <a:avLst>
              <a:gd name="adj" fmla="val 5882"/>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9" name="AutoShape 19"/>
          <p:cNvSpPr/>
          <p:nvPr/>
        </p:nvSpPr>
        <p:spPr>
          <a:xfrm>
            <a:off x="6540500" y="4064000"/>
            <a:ext cx="609600" cy="6096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642100" y="4165600"/>
            <a:ext cx="406400" cy="406400"/>
          </a:xfrm>
          <a:prstGeom prst="rect">
            <a:avLst/>
          </a:prstGeom>
        </p:spPr>
      </p:pic>
      <p:sp>
        <p:nvSpPr>
          <p:cNvPr id="21" name="AutoShape 21"/>
          <p:cNvSpPr/>
          <p:nvPr/>
        </p:nvSpPr>
        <p:spPr>
          <a:xfrm>
            <a:off x="7302500" y="4064000"/>
            <a:ext cx="381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设置道德准则</a:t>
            </a:r>
            <a:endParaRPr lang="en-US" sz="1100"/>
          </a:p>
        </p:txBody>
      </p:sp>
      <p:sp>
        <p:nvSpPr>
          <p:cNvPr id="22" name="AutoShape 22"/>
          <p:cNvSpPr/>
          <p:nvPr/>
        </p:nvSpPr>
        <p:spPr>
          <a:xfrm>
            <a:off x="6540500" y="4762500"/>
            <a:ext cx="4635500" cy="1016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505050"/>
                </a:solidFill>
                <a:latin typeface="Noto Sans SC"/>
                <a:ea typeface="Noto Sans SC"/>
                <a:cs typeface="Noto Sans SC"/>
                <a:sym typeface="Noto Sans SC"/>
              </a:rPr>
              <a:t>要求模型遵守基本的伦理规范。例如：避免生成歧视性、侮辱性或有害的内容，确保输出安全。</a:t>
            </a:r>
            <a:endParaRPr lang="en-US" sz="110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6.2.8 使用链式思维 (Chain-of-Thought)</a:t>
            </a:r>
            <a:endParaRPr lang="en-US" sz="1100"/>
          </a:p>
        </p:txBody>
      </p:sp>
      <p:sp>
        <p:nvSpPr>
          <p:cNvPr id="3" name="AutoShape 3"/>
          <p:cNvSpPr/>
          <p:nvPr/>
        </p:nvSpPr>
        <p:spPr>
          <a:xfrm>
            <a:off x="762000" y="1270000"/>
            <a:ext cx="5080000" cy="2921000"/>
          </a:xfrm>
          <a:prstGeom prst="roundRect">
            <a:avLst>
              <a:gd name="adj" fmla="val 4347"/>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524000"/>
            <a:ext cx="304800" cy="304800"/>
          </a:xfrm>
          <a:prstGeom prst="rect">
            <a:avLst/>
          </a:prstGeom>
        </p:spPr>
      </p:pic>
      <p:sp>
        <p:nvSpPr>
          <p:cNvPr id="5" name="AutoShape 5"/>
          <p:cNvSpPr/>
          <p:nvPr/>
        </p:nvSpPr>
        <p:spPr>
          <a:xfrm>
            <a:off x="1397000" y="14732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核心原理</a:t>
            </a:r>
            <a:endParaRPr lang="en-US" sz="1100"/>
          </a:p>
        </p:txBody>
      </p:sp>
      <p:sp>
        <p:nvSpPr>
          <p:cNvPr id="6" name="AutoShape 6"/>
          <p:cNvSpPr/>
          <p:nvPr/>
        </p:nvSpPr>
        <p:spPr>
          <a:xfrm>
            <a:off x="1016000" y="1905000"/>
            <a:ext cx="4572000" cy="88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33333"/>
                </a:solidFill>
                <a:latin typeface="Noto Sans SC"/>
                <a:ea typeface="Noto Sans SC"/>
                <a:cs typeface="Noto Sans SC"/>
                <a:sym typeface="Noto Sans SC"/>
              </a:rPr>
              <a:t>面对复杂任务，将其分解为一系列相互关联的简单子任务。通过多轮对话引导模型逐步推理，保持逻辑连贯性与上下文一致性。</a:t>
            </a:r>
            <a:endParaRPr lang="en-US" sz="1100"/>
          </a:p>
        </p:txBody>
      </p:sp>
      <p:pic>
        <p:nvPicPr>
          <p:cNvPr id="7" name="Picture 7"/>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016000" y="2921000"/>
            <a:ext cx="304800" cy="304800"/>
          </a:xfrm>
          <a:prstGeom prst="rect">
            <a:avLst/>
          </a:prstGeom>
        </p:spPr>
      </p:pic>
      <p:sp>
        <p:nvSpPr>
          <p:cNvPr id="8" name="AutoShape 8"/>
          <p:cNvSpPr/>
          <p:nvPr/>
        </p:nvSpPr>
        <p:spPr>
          <a:xfrm>
            <a:off x="1397000" y="28702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关键作用</a:t>
            </a:r>
            <a:endParaRPr lang="en-US" sz="1100"/>
          </a:p>
        </p:txBody>
      </p:sp>
      <p:sp>
        <p:nvSpPr>
          <p:cNvPr id="9" name="AutoShape 9"/>
          <p:cNvSpPr/>
          <p:nvPr/>
        </p:nvSpPr>
        <p:spPr>
          <a:xfrm>
            <a:off x="1016000" y="3302000"/>
            <a:ext cx="4572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333333"/>
                </a:solidFill>
                <a:latin typeface="Noto Sans SC"/>
                <a:ea typeface="Noto Sans SC"/>
                <a:cs typeface="Noto Sans SC"/>
                <a:sym typeface="Noto Sans SC"/>
              </a:rPr>
              <a:t>化整为零，降低单次提示词复杂度，突破模型理解限制，特别适合长文本生成与多步推理场景。</a:t>
            </a:r>
            <a:endParaRPr lang="en-US" sz="1100"/>
          </a:p>
        </p:txBody>
      </p:sp>
      <p:sp>
        <p:nvSpPr>
          <p:cNvPr id="10" name="AutoShape 10"/>
          <p:cNvSpPr/>
          <p:nvPr/>
        </p:nvSpPr>
        <p:spPr>
          <a:xfrm>
            <a:off x="6350000" y="1270000"/>
            <a:ext cx="5080000" cy="2921000"/>
          </a:xfrm>
          <a:prstGeom prst="roundRect">
            <a:avLst>
              <a:gd name="adj" fmla="val 4347"/>
            </a:avLst>
          </a:prstGeom>
          <a:solidFill>
            <a:srgbClr val="FFFFFF">
              <a:alpha val="100000"/>
            </a:srgbClr>
          </a:solidFill>
          <a:ln w="25400" cap="flat" cmpd="sng">
            <a:noFill/>
            <a:prstDash val="solid"/>
            <a:round/>
          </a:ln>
          <a:effectLst>
            <a:outerShdw blurRad="127000" dist="50800" dir="5400000" algn="tl" rotWithShape="0">
              <a:srgbClr val="000000">
                <a:alpha val="5000"/>
              </a:srgbClr>
            </a:outerShdw>
          </a:effectLst>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604000" y="1524000"/>
            <a:ext cx="304800" cy="304800"/>
          </a:xfrm>
          <a:prstGeom prst="rect">
            <a:avLst/>
          </a:prstGeom>
        </p:spPr>
      </p:pic>
      <p:sp>
        <p:nvSpPr>
          <p:cNvPr id="12" name="AutoShape 12"/>
          <p:cNvSpPr/>
          <p:nvPr/>
        </p:nvSpPr>
        <p:spPr>
          <a:xfrm>
            <a:off x="6985000" y="1473200"/>
            <a:ext cx="4191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实战示例：撰写蛋炒饭文章 (第一步)</a:t>
            </a:r>
            <a:endParaRPr lang="en-US" sz="1100"/>
          </a:p>
        </p:txBody>
      </p:sp>
      <p:sp>
        <p:nvSpPr>
          <p:cNvPr id="13" name="AutoShape 13"/>
          <p:cNvSpPr/>
          <p:nvPr/>
        </p:nvSpPr>
        <p:spPr>
          <a:xfrm>
            <a:off x="6604000" y="1968500"/>
            <a:ext cx="4572000" cy="1968500"/>
          </a:xfrm>
          <a:prstGeom prst="roundRect">
            <a:avLst>
              <a:gd name="adj" fmla="val 3225"/>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731000" y="2095500"/>
            <a:ext cx="4318000" cy="1714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300" b="1" i="0" u="none" strike="noStrike">
                <a:solidFill>
                  <a:srgbClr val="555555"/>
                </a:solidFill>
                <a:latin typeface="Noto Sans SC"/>
                <a:ea typeface="Noto Sans SC"/>
                <a:cs typeface="Noto Sans SC"/>
                <a:sym typeface="Noto Sans SC"/>
              </a:rPr>
              <a:t>指令：</a:t>
            </a:r>
            <a:endParaRPr lang="en-US" sz="1100"/>
          </a:p>
          <a:p>
            <a:pPr indent="0" algn="l">
              <a:lnSpc>
                <a:spcPct val="100000"/>
              </a:lnSpc>
            </a:pPr>
            <a:r>
              <a:rPr lang="en-US" sz="1300" b="0" i="0" u="none" strike="noStrike">
                <a:solidFill>
                  <a:srgbClr val="333333"/>
                </a:solidFill>
                <a:latin typeface="Noto Sans SC"/>
                <a:ea typeface="Noto Sans SC"/>
                <a:cs typeface="Noto Sans SC"/>
                <a:sym typeface="Noto Sans SC"/>
              </a:rPr>
              <a:t>身份：资深美食爱好者。任务：精准回答问题。</a:t>
            </a:r>
            <a:endParaRPr lang="en-US" sz="1300" b="0" i="0" u="none" strike="noStrike">
              <a:solidFill>
                <a:srgbClr val="333333"/>
              </a:solidFill>
              <a:latin typeface="Noto Sans SC"/>
              <a:ea typeface="Noto Sans SC"/>
              <a:cs typeface="Noto Sans SC"/>
              <a:sym typeface="Noto Sans SC"/>
            </a:endParaRPr>
          </a:p>
          <a:p>
            <a:pPr indent="0" algn="l">
              <a:lnSpc>
                <a:spcPct val="100000"/>
              </a:lnSpc>
            </a:pPr>
            <a:r>
              <a:rPr lang="en-US" sz="1300" b="0" i="0" u="none" strike="noStrike">
                <a:solidFill>
                  <a:srgbClr val="333333"/>
                </a:solidFill>
                <a:latin typeface="Noto Sans SC"/>
                <a:ea typeface="Noto Sans SC"/>
                <a:cs typeface="Noto Sans SC"/>
                <a:sym typeface="Noto Sans SC"/>
              </a:rPr>
              <a:t>问题：请写一段引言，介绍蛋炒饭的背景和受欢迎程度。</a:t>
            </a:r>
            <a:endParaRPr lang="en-US" sz="1300" b="0" i="0" u="none" strike="noStrike">
              <a:solidFill>
                <a:srgbClr val="333333"/>
              </a:solidFill>
              <a:latin typeface="Noto Sans SC"/>
              <a:ea typeface="Noto Sans SC"/>
              <a:cs typeface="Noto Sans SC"/>
              <a:sym typeface="Noto Sans SC"/>
            </a:endParaRPr>
          </a:p>
          <a:p>
            <a:pPr indent="0" algn="l">
              <a:lnSpc>
                <a:spcPct val="100000"/>
              </a:lnSpc>
            </a:pPr>
            <a:r>
              <a:rPr lang="en-US" sz="1300" b="0" i="0" u="none" strike="noStrike">
                <a:solidFill>
                  <a:srgbClr val="333333"/>
                </a:solidFill>
                <a:latin typeface="Noto Sans SC"/>
                <a:ea typeface="Noto Sans SC"/>
                <a:cs typeface="Noto Sans SC"/>
                <a:sym typeface="Noto Sans SC"/>
              </a:rPr>
              <a:t>限制：字数不超过50字。输出格式：JSON。</a:t>
            </a:r>
            <a:endParaRPr lang="en-US" sz="1300" b="0" i="0" u="none" strike="noStrike">
              <a:solidFill>
                <a:srgbClr val="333333"/>
              </a:solidFill>
              <a:latin typeface="Noto Sans SC"/>
              <a:ea typeface="Noto Sans SC"/>
              <a:cs typeface="Noto Sans SC"/>
              <a:sym typeface="Noto Sans SC"/>
            </a:endParaRPr>
          </a:p>
        </p:txBody>
      </p:sp>
      <p:sp>
        <p:nvSpPr>
          <p:cNvPr id="15" name="AutoShape 15"/>
          <p:cNvSpPr/>
          <p:nvPr/>
        </p:nvSpPr>
        <p:spPr>
          <a:xfrm>
            <a:off x="762000" y="4445000"/>
            <a:ext cx="10668000" cy="1270000"/>
          </a:xfrm>
          <a:prstGeom prst="roundRect">
            <a:avLst>
              <a:gd name="adj" fmla="val 100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4699000"/>
            <a:ext cx="406400" cy="406400"/>
          </a:xfrm>
          <a:prstGeom prst="rect">
            <a:avLst/>
          </a:prstGeom>
        </p:spPr>
      </p:pic>
      <p:sp>
        <p:nvSpPr>
          <p:cNvPr id="17" name="AutoShape 17"/>
          <p:cNvSpPr/>
          <p:nvPr/>
        </p:nvSpPr>
        <p:spPr>
          <a:xfrm>
            <a:off x="1524000" y="4635500"/>
            <a:ext cx="9652000" cy="889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500" b="1" i="0" u="none" strike="noStrike">
                <a:solidFill>
                  <a:srgbClr val="333333"/>
                </a:solidFill>
                <a:latin typeface="Noto Sans SC"/>
                <a:ea typeface="Noto Sans SC"/>
                <a:cs typeface="Noto Sans SC"/>
                <a:sym typeface="Noto Sans SC"/>
              </a:rPr>
              <a:t>思维拓展：</a:t>
            </a:r>
            <a:r>
              <a:rPr lang="en-US" sz="1500" b="0" i="0" u="none" strike="noStrike">
                <a:solidFill>
                  <a:srgbClr val="333333"/>
                </a:solidFill>
                <a:latin typeface="Noto Sans SC"/>
                <a:ea typeface="Noto Sans SC"/>
                <a:cs typeface="Noto Sans SC"/>
                <a:sym typeface="Noto Sans SC"/>
              </a:rPr>
              <a:t>链式思维不仅是提示词技巧，更是一种高效的问题解决策略。它模拟了人类处理复杂问题时“分而治之”的思维路径，让AI模型能够像专家一样，通过层层递进的推理，输出高质量的结果。</a:t>
            </a:r>
            <a:endParaRPr lang="en-US" sz="110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89408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链式思维示例：撰写蛋炒饭文章（续）</a:t>
            </a:r>
            <a:endParaRPr lang="en-US" sz="1100"/>
          </a:p>
        </p:txBody>
      </p:sp>
      <p:sp>
        <p:nvSpPr>
          <p:cNvPr id="3" name="AutoShape 3"/>
          <p:cNvSpPr/>
          <p:nvPr/>
        </p:nvSpPr>
        <p:spPr>
          <a:xfrm>
            <a:off x="762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步骤1：引言</a:t>
            </a:r>
            <a:endParaRPr lang="en-US" sz="1100"/>
          </a:p>
        </p:txBody>
      </p:sp>
      <p:sp>
        <p:nvSpPr>
          <p:cNvPr id="6" name="AutoShape 6"/>
          <p:cNvSpPr/>
          <p:nvPr/>
        </p:nvSpPr>
        <p:spPr>
          <a:xfrm>
            <a:off x="1016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介绍蛋炒饭的背景和受欢迎程度，引出主题。</a:t>
            </a:r>
            <a:endParaRPr lang="en-US" sz="1100"/>
          </a:p>
        </p:txBody>
      </p:sp>
      <p:sp>
        <p:nvSpPr>
          <p:cNvPr id="7" name="AutoShape 7"/>
          <p:cNvSpPr/>
          <p:nvPr/>
        </p:nvSpPr>
        <p:spPr>
          <a:xfrm>
            <a:off x="4445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步骤2：历史起源</a:t>
            </a:r>
            <a:endParaRPr lang="en-US" sz="1100"/>
          </a:p>
        </p:txBody>
      </p:sp>
      <p:sp>
        <p:nvSpPr>
          <p:cNvPr id="10" name="AutoShape 10"/>
          <p:cNvSpPr/>
          <p:nvPr/>
        </p:nvSpPr>
        <p:spPr>
          <a:xfrm>
            <a:off x="4699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追溯蛋炒饭的历史渊源及其演变发展过程。</a:t>
            </a:r>
            <a:endParaRPr lang="en-US" sz="1100"/>
          </a:p>
        </p:txBody>
      </p:sp>
      <p:sp>
        <p:nvSpPr>
          <p:cNvPr id="11" name="AutoShape 11"/>
          <p:cNvSpPr/>
          <p:nvPr/>
        </p:nvSpPr>
        <p:spPr>
          <a:xfrm>
            <a:off x="8128000" y="1397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00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步骤3：主要成分</a:t>
            </a:r>
            <a:endParaRPr lang="en-US" sz="1100"/>
          </a:p>
        </p:txBody>
      </p:sp>
      <p:sp>
        <p:nvSpPr>
          <p:cNvPr id="14" name="AutoShape 14"/>
          <p:cNvSpPr/>
          <p:nvPr/>
        </p:nvSpPr>
        <p:spPr>
          <a:xfrm>
            <a:off x="8382000" y="2095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列举制作蛋炒饭所需的核心食材与辅料。</a:t>
            </a:r>
            <a:endParaRPr lang="en-US" sz="1100"/>
          </a:p>
        </p:txBody>
      </p:sp>
      <p:sp>
        <p:nvSpPr>
          <p:cNvPr id="15" name="AutoShape 15"/>
          <p:cNvSpPr/>
          <p:nvPr/>
        </p:nvSpPr>
        <p:spPr>
          <a:xfrm>
            <a:off x="762000" y="3048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3302000"/>
            <a:ext cx="406400" cy="406400"/>
          </a:xfrm>
          <a:prstGeom prst="rect">
            <a:avLst/>
          </a:prstGeom>
        </p:spPr>
      </p:pic>
      <p:sp>
        <p:nvSpPr>
          <p:cNvPr id="17" name="AutoShape 17"/>
          <p:cNvSpPr/>
          <p:nvPr/>
        </p:nvSpPr>
        <p:spPr>
          <a:xfrm>
            <a:off x="1524000" y="3251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步骤4：制作步骤</a:t>
            </a:r>
            <a:endParaRPr lang="en-US" sz="1100"/>
          </a:p>
        </p:txBody>
      </p:sp>
      <p:sp>
        <p:nvSpPr>
          <p:cNvPr id="18" name="AutoShape 18"/>
          <p:cNvSpPr/>
          <p:nvPr/>
        </p:nvSpPr>
        <p:spPr>
          <a:xfrm>
            <a:off x="1016000" y="3746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详细拆解烹饪流程，从备料到出锅的每一步。</a:t>
            </a:r>
            <a:endParaRPr lang="en-US" sz="1100"/>
          </a:p>
        </p:txBody>
      </p:sp>
      <p:sp>
        <p:nvSpPr>
          <p:cNvPr id="19" name="AutoShape 19"/>
          <p:cNvSpPr/>
          <p:nvPr/>
        </p:nvSpPr>
        <p:spPr>
          <a:xfrm>
            <a:off x="4445000" y="3048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4699000" y="3302000"/>
            <a:ext cx="406400" cy="406400"/>
          </a:xfrm>
          <a:prstGeom prst="rect">
            <a:avLst/>
          </a:prstGeom>
        </p:spPr>
      </p:pic>
      <p:sp>
        <p:nvSpPr>
          <p:cNvPr id="21" name="AutoShape 21"/>
          <p:cNvSpPr/>
          <p:nvPr/>
        </p:nvSpPr>
        <p:spPr>
          <a:xfrm>
            <a:off x="5207000" y="3251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步骤5：文化意义</a:t>
            </a:r>
            <a:endParaRPr lang="en-US" sz="1100"/>
          </a:p>
        </p:txBody>
      </p:sp>
      <p:sp>
        <p:nvSpPr>
          <p:cNvPr id="22" name="AutoShape 22"/>
          <p:cNvSpPr/>
          <p:nvPr/>
        </p:nvSpPr>
        <p:spPr>
          <a:xfrm>
            <a:off x="4699000" y="3746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探讨蛋炒饭在不同地域文化中的象征意义。</a:t>
            </a:r>
            <a:endParaRPr lang="en-US" sz="1100"/>
          </a:p>
        </p:txBody>
      </p:sp>
      <p:sp>
        <p:nvSpPr>
          <p:cNvPr id="23" name="AutoShape 23"/>
          <p:cNvSpPr/>
          <p:nvPr/>
        </p:nvSpPr>
        <p:spPr>
          <a:xfrm>
            <a:off x="8128000" y="3048000"/>
            <a:ext cx="3302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24" name="Picture 24"/>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8382000" y="3302000"/>
            <a:ext cx="406400" cy="406400"/>
          </a:xfrm>
          <a:prstGeom prst="rect">
            <a:avLst/>
          </a:prstGeom>
        </p:spPr>
      </p:pic>
      <p:sp>
        <p:nvSpPr>
          <p:cNvPr id="25" name="AutoShape 25"/>
          <p:cNvSpPr/>
          <p:nvPr/>
        </p:nvSpPr>
        <p:spPr>
          <a:xfrm>
            <a:off x="8890000" y="3251200"/>
            <a:ext cx="2286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333333"/>
                </a:solidFill>
                <a:latin typeface="Noto Sans SC"/>
                <a:ea typeface="Noto Sans SC"/>
                <a:cs typeface="Noto Sans SC"/>
                <a:sym typeface="Noto Sans SC"/>
              </a:rPr>
              <a:t>步骤6：结论</a:t>
            </a:r>
            <a:endParaRPr lang="en-US" sz="1100"/>
          </a:p>
        </p:txBody>
      </p:sp>
      <p:sp>
        <p:nvSpPr>
          <p:cNvPr id="26" name="AutoShape 26"/>
          <p:cNvSpPr/>
          <p:nvPr/>
        </p:nvSpPr>
        <p:spPr>
          <a:xfrm>
            <a:off x="8382000" y="3746500"/>
            <a:ext cx="279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666666"/>
                </a:solidFill>
                <a:latin typeface="Noto Sans SC"/>
                <a:ea typeface="Noto Sans SC"/>
                <a:cs typeface="Noto Sans SC"/>
                <a:sym typeface="Noto Sans SC"/>
              </a:rPr>
              <a:t>总结全文观点，强调蛋炒饭的魅力与普及性。</a:t>
            </a:r>
            <a:endParaRPr lang="en-US" sz="1100"/>
          </a:p>
        </p:txBody>
      </p:sp>
      <p:sp>
        <p:nvSpPr>
          <p:cNvPr id="27" name="AutoShape 27"/>
          <p:cNvSpPr/>
          <p:nvPr/>
        </p:nvSpPr>
        <p:spPr>
          <a:xfrm>
            <a:off x="762000" y="4826000"/>
            <a:ext cx="10668000" cy="1016000"/>
          </a:xfrm>
          <a:prstGeom prst="roundRect">
            <a:avLst>
              <a:gd name="adj" fmla="val 12500"/>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28" name="Picture 28"/>
          <p:cNvPicPr>
            <a:picLocks noChangeAspect="1"/>
          </p:cNvPicPr>
          <p:nvPr/>
        </p:nvPicPr>
        <p:blipFill>
          <a:blip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p:blipFill>
        <p:spPr>
          <a:xfrm>
            <a:off x="1016000" y="5080000"/>
            <a:ext cx="304800" cy="304800"/>
          </a:xfrm>
          <a:prstGeom prst="rect">
            <a:avLst/>
          </a:prstGeom>
        </p:spPr>
      </p:pic>
      <p:sp>
        <p:nvSpPr>
          <p:cNvPr id="29" name="AutoShape 29"/>
          <p:cNvSpPr/>
          <p:nvPr/>
        </p:nvSpPr>
        <p:spPr>
          <a:xfrm>
            <a:off x="1460500" y="4953000"/>
            <a:ext cx="97155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链式思维说明：</a:t>
            </a:r>
            <a:endParaRPr lang="en-US" sz="1100"/>
          </a:p>
          <a:p>
            <a:pPr indent="0" algn="l">
              <a:lnSpc>
                <a:spcPct val="125000"/>
              </a:lnSpc>
            </a:pPr>
            <a:r>
              <a:rPr lang="en-US" sz="1400" b="0" i="0" u="none" strike="noStrike">
                <a:solidFill>
                  <a:srgbClr val="333333"/>
                </a:solidFill>
                <a:latin typeface="Noto Sans SC"/>
                <a:ea typeface="Noto Sans SC"/>
                <a:cs typeface="Noto Sans SC"/>
                <a:sym typeface="Noto Sans SC"/>
              </a:rPr>
              <a:t>每一步都基于前一步的结果，提出新的、具体的问题，最终将所有步骤的结果整合，即可得到一篇完整、结构清晰的文章。</a:t>
            </a:r>
            <a:endParaRPr lang="en-US" sz="1400" b="0" i="0" u="none" strike="noStrike">
              <a:solidFill>
                <a:srgbClr val="333333"/>
              </a:solidFill>
              <a:latin typeface="Noto Sans SC"/>
              <a:ea typeface="Noto Sans SC"/>
              <a:cs typeface="Noto Sans SC"/>
              <a:sym typeface="Noto Sans SC"/>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0" y="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3" name="Picture 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689600" y="1397000"/>
            <a:ext cx="812800" cy="812800"/>
          </a:xfrm>
          <a:prstGeom prst="rect">
            <a:avLst/>
          </a:prstGeom>
        </p:spPr>
      </p:pic>
      <p:sp>
        <p:nvSpPr>
          <p:cNvPr id="4" name="AutoShape 4"/>
          <p:cNvSpPr/>
          <p:nvPr/>
        </p:nvSpPr>
        <p:spPr>
          <a:xfrm>
            <a:off x="508000" y="2413000"/>
            <a:ext cx="11176000" cy="635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3600" b="1" i="0" u="none" strike="noStrike">
                <a:solidFill>
                  <a:srgbClr val="333333"/>
                </a:solidFill>
                <a:latin typeface="Noto Sans SC"/>
                <a:ea typeface="Noto Sans SC"/>
                <a:cs typeface="Noto Sans SC"/>
                <a:sym typeface="Noto Sans SC"/>
              </a:rPr>
              <a:t>6.3 使用提示词完成NLP任务</a:t>
            </a:r>
            <a:endParaRPr lang="en-US" sz="1100"/>
          </a:p>
        </p:txBody>
      </p:sp>
      <p:cxnSp>
        <p:nvCxnSpPr>
          <p:cNvPr id="5" name="Connector 5"/>
          <p:cNvCxnSpPr/>
          <p:nvPr/>
        </p:nvCxnSpPr>
        <p:spPr>
          <a:xfrm rot="-34376">
            <a:off x="5461032" y="3232150"/>
            <a:ext cx="1270000" cy="12700"/>
          </a:xfrm>
          <a:prstGeom prst="line">
            <a:avLst/>
          </a:prstGeom>
          <a:solidFill>
            <a:srgbClr val="DEE0E3">
              <a:alpha val="100000"/>
            </a:srgbClr>
          </a:solidFill>
          <a:ln w="38100" cap="flat" cmpd="sng">
            <a:solidFill>
              <a:srgbClr val="0288D1">
                <a:alpha val="100000"/>
              </a:srgbClr>
            </a:solidFill>
            <a:prstDash val="solid"/>
            <a:round/>
            <a:headEnd type="none" w="lg" len="lg"/>
            <a:tailEnd type="none" w="lg" len="lg"/>
          </a:ln>
        </p:spPr>
      </p:cxnSp>
      <p:sp>
        <p:nvSpPr>
          <p:cNvPr id="6" name="AutoShape 6"/>
          <p:cNvSpPr/>
          <p:nvPr/>
        </p:nvSpPr>
        <p:spPr>
          <a:xfrm>
            <a:off x="508000" y="3492500"/>
            <a:ext cx="11176000" cy="4445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2000" b="0" i="0" u="none" strike="noStrike">
                <a:solidFill>
                  <a:srgbClr val="0288D1"/>
                </a:solidFill>
                <a:latin typeface="Noto Sans SC"/>
                <a:ea typeface="Noto Sans SC"/>
                <a:cs typeface="Noto Sans SC"/>
                <a:sym typeface="Noto Sans SC"/>
              </a:rPr>
              <a:t>实战案例：零微调下的自然语言处理应用</a:t>
            </a:r>
            <a:endParaRPr lang="en-US" sz="1100"/>
          </a:p>
        </p:txBody>
      </p:sp>
      <p:sp>
        <p:nvSpPr>
          <p:cNvPr id="7" name="AutoShape 7"/>
          <p:cNvSpPr/>
          <p:nvPr/>
        </p:nvSpPr>
        <p:spPr>
          <a:xfrm>
            <a:off x="5080000" y="4445000"/>
            <a:ext cx="2032000" cy="457200"/>
          </a:xfrm>
          <a:prstGeom prst="roundRect">
            <a:avLst>
              <a:gd name="adj" fmla="val 50000"/>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080000" y="4521200"/>
            <a:ext cx="2032000" cy="3048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0" i="0" u="none" strike="noStrike">
                <a:solidFill>
                  <a:srgbClr val="0288D1"/>
                </a:solidFill>
                <a:latin typeface="Noto Sans SC"/>
                <a:ea typeface="Noto Sans SC"/>
                <a:cs typeface="Noto Sans SC"/>
                <a:sym typeface="Noto Sans SC"/>
              </a:rPr>
              <a:t>CHAPTER 6.3</a:t>
            </a:r>
            <a:endParaRPr lang="en-US" sz="1100"/>
          </a:p>
        </p:txBody>
      </p:sp>
      <p:sp>
        <p:nvSpPr>
          <p:cNvPr id="9" name="AutoShape 9"/>
          <p:cNvSpPr/>
          <p:nvPr/>
        </p:nvSpPr>
        <p:spPr>
          <a:xfrm>
            <a:off x="0" y="6705600"/>
            <a:ext cx="12192000" cy="1524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26797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NLP任务概述</a:t>
            </a:r>
            <a:endParaRPr lang="en-US" sz="1100"/>
          </a:p>
        </p:txBody>
      </p:sp>
      <p:sp>
        <p:nvSpPr>
          <p:cNvPr id="3" name="AutoShape 3"/>
          <p:cNvSpPr/>
          <p:nvPr/>
        </p:nvSpPr>
        <p:spPr>
          <a:xfrm>
            <a:off x="762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1651000"/>
            <a:ext cx="406400" cy="406400"/>
          </a:xfrm>
          <a:prstGeom prst="rect">
            <a:avLst/>
          </a:prstGeom>
        </p:spPr>
      </p:pic>
      <p:sp>
        <p:nvSpPr>
          <p:cNvPr id="5" name="AutoShape 5"/>
          <p:cNvSpPr/>
          <p:nvPr/>
        </p:nvSpPr>
        <p:spPr>
          <a:xfrm>
            <a:off x="1524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核心观点</a:t>
            </a:r>
            <a:endParaRPr lang="en-US" sz="1100"/>
          </a:p>
        </p:txBody>
      </p:sp>
      <p:sp>
        <p:nvSpPr>
          <p:cNvPr id="6" name="AutoShape 6"/>
          <p:cNvSpPr/>
          <p:nvPr/>
        </p:nvSpPr>
        <p:spPr>
          <a:xfrm>
            <a:off x="1016000" y="215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随着大模型能力提升，仅通过精心设计的提示词，就能完成超过90%的常见NLP任务，如分类、生成、翻译等。</a:t>
            </a:r>
            <a:endParaRPr lang="en-US" sz="1100"/>
          </a:p>
        </p:txBody>
      </p:sp>
      <p:sp>
        <p:nvSpPr>
          <p:cNvPr id="7" name="AutoShape 7"/>
          <p:cNvSpPr/>
          <p:nvPr/>
        </p:nvSpPr>
        <p:spPr>
          <a:xfrm>
            <a:off x="4445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8" name="Picture 8"/>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1651000"/>
            <a:ext cx="406400" cy="406400"/>
          </a:xfrm>
          <a:prstGeom prst="rect">
            <a:avLst/>
          </a:prstGeom>
        </p:spPr>
      </p:pic>
      <p:sp>
        <p:nvSpPr>
          <p:cNvPr id="9" name="AutoShape 9"/>
          <p:cNvSpPr/>
          <p:nvPr/>
        </p:nvSpPr>
        <p:spPr>
          <a:xfrm>
            <a:off x="5207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双重角色</a:t>
            </a:r>
            <a:endParaRPr lang="en-US" sz="1100"/>
          </a:p>
        </p:txBody>
      </p:sp>
      <p:sp>
        <p:nvSpPr>
          <p:cNvPr id="10" name="AutoShape 10"/>
          <p:cNvSpPr/>
          <p:nvPr/>
        </p:nvSpPr>
        <p:spPr>
          <a:xfrm>
            <a:off x="4699000" y="215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大模型不仅是任务的“执行者”，其强大的理解和评估能力，也使其可以作为结果的“裁判”或“评估者”。</a:t>
            </a:r>
            <a:endParaRPr lang="en-US" sz="1100"/>
          </a:p>
        </p:txBody>
      </p:sp>
      <p:sp>
        <p:nvSpPr>
          <p:cNvPr id="11" name="AutoShape 11"/>
          <p:cNvSpPr/>
          <p:nvPr/>
        </p:nvSpPr>
        <p:spPr>
          <a:xfrm>
            <a:off x="8128000" y="1397000"/>
            <a:ext cx="3302000" cy="2540000"/>
          </a:xfrm>
          <a:prstGeom prst="roundRect">
            <a:avLst>
              <a:gd name="adj" fmla="val 500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382000" y="1651000"/>
            <a:ext cx="406400" cy="406400"/>
          </a:xfrm>
          <a:prstGeom prst="rect">
            <a:avLst/>
          </a:prstGeom>
        </p:spPr>
      </p:pic>
      <p:sp>
        <p:nvSpPr>
          <p:cNvPr id="13" name="AutoShape 13"/>
          <p:cNvSpPr/>
          <p:nvPr/>
        </p:nvSpPr>
        <p:spPr>
          <a:xfrm>
            <a:off x="8890000" y="1625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333333"/>
                </a:solidFill>
                <a:latin typeface="Noto Sans SC"/>
                <a:ea typeface="Noto Sans SC"/>
                <a:cs typeface="Noto Sans SC"/>
                <a:sym typeface="Noto Sans SC"/>
              </a:rPr>
              <a:t>本节目标</a:t>
            </a:r>
            <a:endParaRPr lang="en-US" sz="1100"/>
          </a:p>
        </p:txBody>
      </p:sp>
      <p:sp>
        <p:nvSpPr>
          <p:cNvPr id="14" name="AutoShape 14"/>
          <p:cNvSpPr/>
          <p:nvPr/>
        </p:nvSpPr>
        <p:spPr>
          <a:xfrm>
            <a:off x="8382000" y="2159000"/>
            <a:ext cx="2794000" cy="152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555555"/>
                </a:solidFill>
                <a:latin typeface="Noto Sans SC"/>
                <a:ea typeface="Noto Sans SC"/>
                <a:cs typeface="Noto Sans SC"/>
                <a:sym typeface="Noto Sans SC"/>
              </a:rPr>
              <a:t>通过文本分类、生成、信息提取和机器翻译四个典型案例，展示提示词工程的强大应用潜力。</a:t>
            </a:r>
            <a:endParaRPr lang="en-US" sz="1100"/>
          </a:p>
        </p:txBody>
      </p:sp>
      <p:sp>
        <p:nvSpPr>
          <p:cNvPr id="15" name="AutoShape 15"/>
          <p:cNvSpPr/>
          <p:nvPr/>
        </p:nvSpPr>
        <p:spPr>
          <a:xfrm>
            <a:off x="762000" y="4318000"/>
            <a:ext cx="10668000" cy="1524000"/>
          </a:xfrm>
          <a:prstGeom prst="roundRect">
            <a:avLst>
              <a:gd name="adj" fmla="val 8333"/>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sp>
        <p:nvSpPr>
          <p:cNvPr id="16" name="AutoShape 16"/>
          <p:cNvSpPr/>
          <p:nvPr/>
        </p:nvSpPr>
        <p:spPr>
          <a:xfrm>
            <a:off x="1016000" y="4508500"/>
            <a:ext cx="10160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总结：</a:t>
            </a:r>
            <a:r>
              <a:rPr lang="en-US" sz="1600" b="0" i="0" u="none" strike="noStrike">
                <a:solidFill>
                  <a:srgbClr val="333333"/>
                </a:solidFill>
                <a:latin typeface="Noto Sans SC"/>
                <a:ea typeface="Noto Sans SC"/>
                <a:cs typeface="Noto Sans SC"/>
                <a:sym typeface="Noto Sans SC"/>
              </a:rPr>
              <a:t>提示词工程让我们能够在不修改模型代码、不进行耗时费力的微调的情况下，直接利用大模型解决各种NLP问题。掌握提示词技巧，是解锁大模型能力的关键钥匙。</a:t>
            </a:r>
            <a:endParaRPr lang="en-US" sz="110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359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公共请求方法 (Python)</a:t>
            </a:r>
            <a:endParaRPr lang="en-US" sz="1100"/>
          </a:p>
        </p:txBody>
      </p:sp>
      <p:sp>
        <p:nvSpPr>
          <p:cNvPr id="3" name="AutoShape 3"/>
          <p:cNvSpPr/>
          <p:nvPr/>
        </p:nvSpPr>
        <p:spPr>
          <a:xfrm>
            <a:off x="762000" y="1270000"/>
            <a:ext cx="10668000" cy="4318000"/>
          </a:xfrm>
          <a:prstGeom prst="roundRect">
            <a:avLst>
              <a:gd name="adj" fmla="val 2941"/>
            </a:avLst>
          </a:prstGeom>
          <a:solidFill>
            <a:srgbClr val="FFFFFF">
              <a:alpha val="100000"/>
            </a:srgbClr>
          </a:solidFill>
          <a:ln w="12700" cap="flat" cmpd="sng">
            <a:solidFill>
              <a:srgbClr val="0288D1">
                <a:alpha val="20000"/>
              </a:srgbClr>
            </a:solidFill>
            <a:prstDash val="solid"/>
            <a:round/>
          </a:ln>
          <a:effectLst>
            <a:outerShdw blurRad="127000" dist="50800" dir="5400000" algn="tl" rotWithShape="0">
              <a:srgbClr val="000000">
                <a:alpha val="10000"/>
              </a:srgbClr>
            </a:outerShdw>
          </a:effectLst>
        </p:spPr>
        <p:txBody>
          <a:bodyPr vert="horz" wrap="square" lIns="63500" tIns="63500" rIns="63500" bIns="63500" rtlCol="0" anchor="ctr"/>
          <a:lstStyle/>
          <a:p>
            <a:pPr algn="ctr">
              <a:defRPr/>
            </a:pPr>
          </a:p>
        </p:txBody>
      </p:sp>
      <p:sp>
        <p:nvSpPr>
          <p:cNvPr id="4" name="AutoShape 4"/>
          <p:cNvSpPr/>
          <p:nvPr/>
        </p:nvSpPr>
        <p:spPr>
          <a:xfrm>
            <a:off x="762000" y="1270000"/>
            <a:ext cx="10668000" cy="457200"/>
          </a:xfrm>
          <a:prstGeom prst="roundRect">
            <a:avLst>
              <a:gd name="adj" fmla="val 27777"/>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5" name="AutoShape 5"/>
          <p:cNvSpPr/>
          <p:nvPr/>
        </p:nvSpPr>
        <p:spPr>
          <a:xfrm>
            <a:off x="762000" y="1549400"/>
            <a:ext cx="10668000" cy="177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371600"/>
            <a:ext cx="254000" cy="254000"/>
          </a:xfrm>
          <a:prstGeom prst="rect">
            <a:avLst/>
          </a:prstGeom>
        </p:spPr>
      </p:pic>
      <p:sp>
        <p:nvSpPr>
          <p:cNvPr id="7" name="AutoShape 7"/>
          <p:cNvSpPr/>
          <p:nvPr/>
        </p:nvSpPr>
        <p:spPr>
          <a:xfrm>
            <a:off x="1333500" y="1346200"/>
            <a:ext cx="254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FFFFFF"/>
                </a:solidFill>
                <a:latin typeface="Noto Sans SC"/>
                <a:ea typeface="Noto Sans SC"/>
                <a:cs typeface="Noto Sans SC"/>
                <a:sym typeface="Noto Sans SC"/>
              </a:rPr>
              <a:t>openai_request.py</a:t>
            </a:r>
            <a:endParaRPr lang="en-US" sz="1100"/>
          </a:p>
        </p:txBody>
      </p:sp>
      <p:sp>
        <p:nvSpPr>
          <p:cNvPr id="8" name="AutoShape 8"/>
          <p:cNvSpPr/>
          <p:nvPr/>
        </p:nvSpPr>
        <p:spPr>
          <a:xfrm>
            <a:off x="952500" y="1841500"/>
            <a:ext cx="10287000" cy="355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200" b="0" i="0" u="none" strike="noStrike">
                <a:solidFill>
                  <a:srgbClr val="C7254E"/>
                </a:solidFill>
                <a:latin typeface="Consolas"/>
                <a:ea typeface="Consolas"/>
                <a:cs typeface="Consolas"/>
                <a:sym typeface="Consolas"/>
              </a:rPr>
              <a:t>from</a:t>
            </a:r>
            <a:r>
              <a:rPr lang="en-US" sz="1200" b="0" i="0" u="none" strike="noStrike">
                <a:solidFill>
                  <a:srgbClr val="333333"/>
                </a:solidFill>
                <a:latin typeface="Consolas"/>
                <a:ea typeface="Consolas"/>
                <a:cs typeface="Consolas"/>
                <a:sym typeface="Consolas"/>
              </a:rPr>
              <a:t>openai</a:t>
            </a:r>
            <a:r>
              <a:rPr lang="en-US" sz="1200" b="0" i="0" u="none" strike="noStrike">
                <a:solidFill>
                  <a:srgbClr val="C7254E"/>
                </a:solidFill>
                <a:latin typeface="Consolas"/>
                <a:ea typeface="Consolas"/>
                <a:cs typeface="Consolas"/>
                <a:sym typeface="Consolas"/>
              </a:rPr>
              <a:t>import</a:t>
            </a:r>
            <a:r>
              <a:rPr lang="en-US" sz="1200" b="0" i="0" u="none" strike="noStrike">
                <a:solidFill>
                  <a:srgbClr val="333333"/>
                </a:solidFill>
                <a:latin typeface="Consolas"/>
                <a:ea typeface="Consolas"/>
                <a:cs typeface="Consolas"/>
                <a:sym typeface="Consolas"/>
              </a:rPr>
              <a:t>OpenAI</a:t>
            </a:r>
            <a:endParaRPr lang="en-US" sz="1100"/>
          </a:p>
          <a:p>
            <a:pPr indent="0" algn="l">
              <a:lnSpc>
                <a:spcPct val="100000"/>
              </a:lnSpc>
            </a:pPr>
            <a:r>
              <a:rPr lang="en-US" sz="1200" b="0" i="0" u="none" strike="noStrike">
                <a:solidFill>
                  <a:srgbClr val="9B9EA2"/>
                </a:solidFill>
                <a:latin typeface="Consolas"/>
                <a:ea typeface="Consolas"/>
                <a:cs typeface="Consolas"/>
                <a:sym typeface="Consolas"/>
              </a:rPr>
              <a:t># 代理地址和API密钥（请替换为你自己的）</a:t>
            </a:r>
            <a:endParaRPr lang="en-US" sz="1200" b="0" i="0" u="none" strike="noStrike">
              <a:solidFill>
                <a:srgbClr val="9B9EA2"/>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OPENAI_API_BASE =</a:t>
            </a:r>
            <a:r>
              <a:rPr lang="en-US" sz="1200" b="0" i="0" u="none" strike="noStrike">
                <a:solidFill>
                  <a:srgbClr val="036947"/>
                </a:solidFill>
                <a:latin typeface="Consolas"/>
                <a:ea typeface="Consolas"/>
                <a:cs typeface="Consolas"/>
                <a:sym typeface="Consolas"/>
              </a:rPr>
              <a:t>"https://xxx.openai-proxy.org/v1"</a:t>
            </a:r>
            <a:endParaRPr lang="en-US" sz="1200" b="0" i="0" u="none" strike="noStrike">
              <a:solidFill>
                <a:srgbClr val="036947"/>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OPENAI_API_KEY =</a:t>
            </a:r>
            <a:r>
              <a:rPr lang="en-US" sz="1200" b="0" i="0" u="none" strike="noStrike">
                <a:solidFill>
                  <a:srgbClr val="036947"/>
                </a:solidFill>
                <a:latin typeface="Consolas"/>
                <a:ea typeface="Consolas"/>
                <a:cs typeface="Consolas"/>
                <a:sym typeface="Consolas"/>
              </a:rPr>
              <a:t>"sk-xxx"</a:t>
            </a:r>
            <a:endParaRPr lang="en-US" sz="1200" b="0" i="0" u="none" strike="noStrike">
              <a:solidFill>
                <a:srgbClr val="036947"/>
              </a:solidFill>
              <a:latin typeface="Consolas"/>
              <a:ea typeface="Consolas"/>
              <a:cs typeface="Consolas"/>
              <a:sym typeface="Consolas"/>
            </a:endParaRPr>
          </a:p>
          <a:p>
            <a:pPr indent="0" algn="l">
              <a:lnSpc>
                <a:spcPct val="100000"/>
              </a:lnSpc>
            </a:pPr>
            <a:r>
              <a:rPr lang="en-US" sz="1200" b="0" i="0" u="none" strike="noStrike">
                <a:solidFill>
                  <a:srgbClr val="C7254E"/>
                </a:solidFill>
                <a:latin typeface="Consolas"/>
                <a:ea typeface="Consolas"/>
                <a:cs typeface="Consolas"/>
                <a:sym typeface="Consolas"/>
              </a:rPr>
              <a:t>if not</a:t>
            </a:r>
            <a:r>
              <a:rPr lang="en-US" sz="1200" b="0" i="0" u="none" strike="noStrike">
                <a:solidFill>
                  <a:srgbClr val="333333"/>
                </a:solidFill>
                <a:latin typeface="Consolas"/>
                <a:ea typeface="Consolas"/>
                <a:cs typeface="Consolas"/>
                <a:sym typeface="Consolas"/>
              </a:rPr>
              <a:t>OPENAI_API_BASE:</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OPENAI_API_BASE =</a:t>
            </a:r>
            <a:r>
              <a:rPr lang="en-US" sz="1200" b="0" i="0" u="none" strike="noStrike">
                <a:solidFill>
                  <a:srgbClr val="036947"/>
                </a:solidFill>
                <a:latin typeface="Consolas"/>
                <a:ea typeface="Consolas"/>
                <a:cs typeface="Consolas"/>
                <a:sym typeface="Consolas"/>
              </a:rPr>
              <a:t>"https://api.openai.com/v1"</a:t>
            </a:r>
            <a:endParaRPr lang="en-US" sz="1200" b="0" i="0" u="none" strike="noStrike">
              <a:solidFill>
                <a:srgbClr val="036947"/>
              </a:solidFill>
              <a:latin typeface="Consolas"/>
              <a:ea typeface="Consolas"/>
              <a:cs typeface="Consolas"/>
              <a:sym typeface="Consolas"/>
            </a:endParaRPr>
          </a:p>
          <a:p>
            <a:pPr indent="0" algn="l">
              <a:lnSpc>
                <a:spcPct val="100000"/>
              </a:lnSpc>
            </a:pPr>
            <a:r>
              <a:rPr lang="en-US" sz="1200" b="0" i="0" u="none" strike="noStrike">
                <a:solidFill>
                  <a:srgbClr val="C7254E"/>
                </a:solidFill>
                <a:latin typeface="Consolas"/>
                <a:ea typeface="Consolas"/>
                <a:cs typeface="Consolas"/>
                <a:sym typeface="Consolas"/>
              </a:rPr>
              <a:t>def</a:t>
            </a:r>
            <a:r>
              <a:rPr lang="en-US" sz="1200" b="0" i="0" u="none" strike="noStrike">
                <a:solidFill>
                  <a:srgbClr val="2169D2"/>
                </a:solidFill>
                <a:latin typeface="Consolas"/>
                <a:ea typeface="Consolas"/>
                <a:cs typeface="Consolas"/>
                <a:sym typeface="Consolas"/>
              </a:rPr>
              <a:t>send_message</a:t>
            </a:r>
            <a:r>
              <a:rPr lang="en-US" sz="1200" b="0" i="0" u="none" strike="noStrike">
                <a:solidFill>
                  <a:srgbClr val="333333"/>
                </a:solidFill>
                <a:latin typeface="Consolas"/>
                <a:ea typeface="Consolas"/>
                <a:cs typeface="Consolas"/>
                <a:sym typeface="Consolas"/>
              </a:rPr>
              <a:t>(messages, temperature=</a:t>
            </a:r>
            <a:r>
              <a:rPr lang="en-US" sz="1200" b="0" i="0" u="none" strike="noStrike">
                <a:solidFill>
                  <a:srgbClr val="158078"/>
                </a:solidFill>
                <a:latin typeface="Consolas"/>
                <a:ea typeface="Consolas"/>
                <a:cs typeface="Consolas"/>
                <a:sym typeface="Consolas"/>
              </a:rPr>
              <a:t>0.1</a:t>
            </a:r>
            <a:r>
              <a:rPr lang="en-US" sz="1200" b="0" i="0" u="none" strike="noStrike">
                <a:solidFill>
                  <a:srgbClr val="333333"/>
                </a:solidFill>
                <a:latin typeface="Consolas"/>
                <a:ea typeface="Consolas"/>
                <a:cs typeface="Consolas"/>
                <a:sym typeface="Consolas"/>
              </a:rPr>
              <a:t>, model=</a:t>
            </a:r>
            <a:r>
              <a:rPr lang="en-US" sz="1200" b="0" i="0" u="none" strike="noStrike">
                <a:solidFill>
                  <a:srgbClr val="036947"/>
                </a:solidFill>
                <a:latin typeface="Consolas"/>
                <a:ea typeface="Consolas"/>
                <a:cs typeface="Consolas"/>
                <a:sym typeface="Consolas"/>
              </a:rPr>
              <a:t>'gpt-3.5-turbo'</a:t>
            </a:r>
            <a:r>
              <a:rPr lang="en-US" sz="1200" b="0" i="0" u="none" strike="noStrike">
                <a:solidFill>
                  <a:srgbClr val="333333"/>
                </a:solidFill>
                <a:latin typeface="Consolas"/>
                <a:ea typeface="Consolas"/>
                <a:cs typeface="Consolas"/>
                <a:sym typeface="Consolas"/>
              </a:rPr>
              <a:t>):</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9B9EA2"/>
                </a:solidFill>
                <a:latin typeface="Consolas"/>
                <a:ea typeface="Consolas"/>
                <a:cs typeface="Consolas"/>
                <a:sym typeface="Consolas"/>
              </a:rPr>
              <a:t>"""发送消息给OpenAI模型并获取响应"""</a:t>
            </a:r>
            <a:endParaRPr lang="en-US" sz="1200" b="0" i="0" u="none" strike="noStrike">
              <a:solidFill>
                <a:srgbClr val="9B9EA2"/>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client = OpenAI(base_url=OPENAI_API_BASE, api_key=OPENAI_API_KEY)</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response_format = {</a:t>
            </a:r>
            <a:r>
              <a:rPr lang="en-US" sz="1200" b="0" i="0" u="none" strike="noStrike">
                <a:solidFill>
                  <a:srgbClr val="036947"/>
                </a:solidFill>
                <a:latin typeface="Consolas"/>
                <a:ea typeface="Consolas"/>
                <a:cs typeface="Consolas"/>
                <a:sym typeface="Consolas"/>
              </a:rPr>
              <a:t>"type"</a:t>
            </a:r>
            <a:r>
              <a:rPr lang="en-US" sz="1200" b="0" i="0" u="none" strike="noStrike">
                <a:solidFill>
                  <a:srgbClr val="333333"/>
                </a:solidFill>
                <a:latin typeface="Consolas"/>
                <a:ea typeface="Consolas"/>
                <a:cs typeface="Consolas"/>
                <a:sym typeface="Consolas"/>
              </a:rPr>
              <a:t>:</a:t>
            </a:r>
            <a:r>
              <a:rPr lang="en-US" sz="1200" b="0" i="0" u="none" strike="noStrike">
                <a:solidFill>
                  <a:srgbClr val="036947"/>
                </a:solidFill>
                <a:latin typeface="Consolas"/>
                <a:ea typeface="Consolas"/>
                <a:cs typeface="Consolas"/>
                <a:sym typeface="Consolas"/>
              </a:rPr>
              <a:t>"json_object"</a:t>
            </a:r>
            <a:r>
              <a:rPr lang="en-US" sz="1200" b="0" i="0" u="none" strike="noStrike">
                <a:solidFill>
                  <a:srgbClr val="333333"/>
                </a:solidFill>
                <a:latin typeface="Consolas"/>
                <a:ea typeface="Consolas"/>
                <a:cs typeface="Consolas"/>
                <a:sym typeface="Consolas"/>
              </a:rPr>
              <a:t>}</a:t>
            </a:r>
            <a:r>
              <a:rPr lang="en-US" sz="1200" b="0" i="0" u="none" strike="noStrike">
                <a:solidFill>
                  <a:srgbClr val="C7254E"/>
                </a:solidFill>
                <a:latin typeface="Consolas"/>
                <a:ea typeface="Consolas"/>
                <a:cs typeface="Consolas"/>
                <a:sym typeface="Consolas"/>
              </a:rPr>
              <a:t>if</a:t>
            </a:r>
            <a:r>
              <a:rPr lang="en-US" sz="1200" b="0" i="0" u="none" strike="noStrike">
                <a:solidFill>
                  <a:srgbClr val="036947"/>
                </a:solidFill>
                <a:latin typeface="Consolas"/>
                <a:ea typeface="Consolas"/>
                <a:cs typeface="Consolas"/>
                <a:sym typeface="Consolas"/>
              </a:rPr>
              <a:t>"GPT4"</a:t>
            </a:r>
            <a:r>
              <a:rPr lang="en-US" sz="1200" b="0" i="0" u="none" strike="noStrike">
                <a:solidFill>
                  <a:srgbClr val="C7254E"/>
                </a:solidFill>
                <a:latin typeface="Consolas"/>
                <a:ea typeface="Consolas"/>
                <a:cs typeface="Consolas"/>
                <a:sym typeface="Consolas"/>
              </a:rPr>
              <a:t>in</a:t>
            </a:r>
            <a:r>
              <a:rPr lang="en-US" sz="1200" b="0" i="0" u="none" strike="noStrike">
                <a:solidFill>
                  <a:srgbClr val="333333"/>
                </a:solidFill>
                <a:latin typeface="Consolas"/>
                <a:ea typeface="Consolas"/>
                <a:cs typeface="Consolas"/>
                <a:sym typeface="Consolas"/>
              </a:rPr>
              <a:t>model</a:t>
            </a:r>
            <a:r>
              <a:rPr lang="en-US" sz="1200" b="0" i="0" u="none" strike="noStrike">
                <a:solidFill>
                  <a:srgbClr val="C7254E"/>
                </a:solidFill>
                <a:latin typeface="Consolas"/>
                <a:ea typeface="Consolas"/>
                <a:cs typeface="Consolas"/>
                <a:sym typeface="Consolas"/>
              </a:rPr>
              <a:t>elseNone</a:t>
            </a:r>
            <a:endParaRPr lang="en-US" sz="1200" b="0" i="0" u="none" strike="noStrike">
              <a:solidFill>
                <a:srgbClr val="C7254E"/>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response = client.chat.completions.create(</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model=model, messages=messages, temperature=temperature</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333333"/>
                </a:solidFill>
                <a:latin typeface="Consolas"/>
                <a:ea typeface="Consolas"/>
                <a:cs typeface="Consolas"/>
                <a:sym typeface="Consolas"/>
              </a:rPr>
              <a:t>)</a:t>
            </a:r>
            <a:endParaRPr lang="en-US" sz="1200" b="0" i="0" u="none" strike="noStrike">
              <a:solidFill>
                <a:srgbClr val="333333"/>
              </a:solidFill>
              <a:latin typeface="Consolas"/>
              <a:ea typeface="Consolas"/>
              <a:cs typeface="Consolas"/>
              <a:sym typeface="Consolas"/>
            </a:endParaRPr>
          </a:p>
          <a:p>
            <a:pPr indent="0" algn="l">
              <a:lnSpc>
                <a:spcPct val="100000"/>
              </a:lnSpc>
            </a:pPr>
            <a:r>
              <a:rPr lang="en-US" sz="1200" b="0" i="0" u="none" strike="noStrike">
                <a:solidFill>
                  <a:srgbClr val="C7254E"/>
                </a:solidFill>
                <a:latin typeface="Consolas"/>
                <a:ea typeface="Consolas"/>
                <a:cs typeface="Consolas"/>
                <a:sym typeface="Consolas"/>
              </a:rPr>
              <a:t>return</a:t>
            </a:r>
            <a:r>
              <a:rPr lang="en-US" sz="1200" b="0" i="0" u="none" strike="noStrike">
                <a:solidFill>
                  <a:srgbClr val="333333"/>
                </a:solidFill>
                <a:latin typeface="Consolas"/>
                <a:ea typeface="Consolas"/>
                <a:cs typeface="Consolas"/>
                <a:sym typeface="Consolas"/>
              </a:rPr>
              <a:t>response.choices[</a:t>
            </a:r>
            <a:r>
              <a:rPr lang="en-US" sz="1200" b="0" i="0" u="none" strike="noStrike">
                <a:solidFill>
                  <a:srgbClr val="158078"/>
                </a:solidFill>
                <a:latin typeface="Consolas"/>
                <a:ea typeface="Consolas"/>
                <a:cs typeface="Consolas"/>
                <a:sym typeface="Consolas"/>
              </a:rPr>
              <a:t>0</a:t>
            </a:r>
            <a:r>
              <a:rPr lang="en-US" sz="1200" b="0" i="0" u="none" strike="noStrike">
                <a:solidFill>
                  <a:srgbClr val="333333"/>
                </a:solidFill>
                <a:latin typeface="Consolas"/>
                <a:ea typeface="Consolas"/>
                <a:cs typeface="Consolas"/>
                <a:sym typeface="Consolas"/>
              </a:rPr>
              <a:t>].message.content</a:t>
            </a:r>
            <a:endParaRPr lang="en-US" sz="1200" b="0" i="0" u="none" strike="noStrike">
              <a:solidFill>
                <a:srgbClr val="333333"/>
              </a:solidFill>
              <a:latin typeface="Consolas"/>
              <a:ea typeface="Consolas"/>
              <a:cs typeface="Consolas"/>
              <a:sym typeface="Consolas"/>
            </a:endParaRPr>
          </a:p>
        </p:txBody>
      </p:sp>
      <p:sp>
        <p:nvSpPr>
          <p:cNvPr id="9" name="AutoShape 9"/>
          <p:cNvSpPr/>
          <p:nvPr/>
        </p:nvSpPr>
        <p:spPr>
          <a:xfrm>
            <a:off x="762000" y="5842000"/>
            <a:ext cx="10668000" cy="508000"/>
          </a:xfrm>
          <a:prstGeom prst="roundRect">
            <a:avLst>
              <a:gd name="adj" fmla="val 25000"/>
            </a:avLst>
          </a:prstGeom>
          <a:solidFill>
            <a:srgbClr val="FFFFFF">
              <a:alpha val="60000"/>
            </a:srgbClr>
          </a:solidFill>
          <a:ln w="12700" cap="flat" cmpd="sng">
            <a:solidFill>
              <a:srgbClr val="0288D1">
                <a:alpha val="30000"/>
              </a:srgbClr>
            </a:solidFill>
            <a:prstDash val="dash"/>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952500" y="5943600"/>
            <a:ext cx="304800" cy="304800"/>
          </a:xfrm>
          <a:prstGeom prst="rect">
            <a:avLst/>
          </a:prstGeom>
        </p:spPr>
      </p:pic>
      <p:sp>
        <p:nvSpPr>
          <p:cNvPr id="11" name="AutoShape 11"/>
          <p:cNvSpPr/>
          <p:nvPr/>
        </p:nvSpPr>
        <p:spPr>
          <a:xfrm>
            <a:off x="1397000" y="5918200"/>
            <a:ext cx="9906000" cy="3556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Noto Sans SC"/>
                <a:ea typeface="Noto Sans SC"/>
                <a:cs typeface="Noto Sans SC"/>
                <a:sym typeface="Noto Sans SC"/>
              </a:rPr>
              <a:t>核心逻辑：封装了 OpenAI API 调用，通过</a:t>
            </a:r>
            <a:r>
              <a:rPr lang="en-US" sz="1400" b="1" i="0" u="none" strike="noStrike">
                <a:solidFill>
                  <a:srgbClr val="2169D2"/>
                </a:solidFill>
                <a:latin typeface="Consolas"/>
                <a:ea typeface="Consolas"/>
                <a:cs typeface="Consolas"/>
                <a:sym typeface="Consolas"/>
              </a:rPr>
              <a:t>send_message</a:t>
            </a:r>
            <a:r>
              <a:rPr lang="en-US" sz="1400" b="0" i="0" u="none" strike="noStrike">
                <a:solidFill>
                  <a:srgbClr val="333333"/>
                </a:solidFill>
                <a:latin typeface="Noto Sans SC"/>
                <a:ea typeface="Noto Sans SC"/>
                <a:cs typeface="Noto Sans SC"/>
                <a:sym typeface="Noto Sans SC"/>
              </a:rPr>
              <a:t>函数统一处理请求，后续案例只需专注于提示词设计。</a:t>
            </a:r>
            <a:endParaRPr lang="en-US" sz="110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0668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案例一：文本分类 (情感分析)</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0" i="0" u="none" strike="noStrike">
                <a:solidFill>
                  <a:srgbClr val="555555"/>
                </a:solidFill>
                <a:latin typeface="Noto Sans SC"/>
                <a:ea typeface="Noto Sans SC"/>
                <a:cs typeface="Noto Sans SC"/>
                <a:sym typeface="Noto Sans SC"/>
              </a:rPr>
              <a:t>任务描述：对用户评论进行情感分析，判断其情感色彩为积极、消极或中性。</a:t>
            </a:r>
            <a:endParaRPr lang="en-US" sz="1100"/>
          </a:p>
        </p:txBody>
      </p:sp>
      <p:sp>
        <p:nvSpPr>
          <p:cNvPr id="4" name="AutoShape 4"/>
          <p:cNvSpPr/>
          <p:nvPr/>
        </p:nvSpPr>
        <p:spPr>
          <a:xfrm>
            <a:off x="762000" y="1714500"/>
            <a:ext cx="5080000" cy="3683000"/>
          </a:xfrm>
          <a:prstGeom prst="roundRect">
            <a:avLst>
              <a:gd name="adj" fmla="val 3448"/>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714500"/>
            <a:ext cx="5080000" cy="508000"/>
          </a:xfrm>
          <a:prstGeom prst="roundRect">
            <a:avLst>
              <a:gd name="adj" fmla="val 2500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952500" y="1816100"/>
            <a:ext cx="304800" cy="304800"/>
          </a:xfrm>
          <a:prstGeom prst="rect">
            <a:avLst/>
          </a:prstGeom>
        </p:spPr>
      </p:pic>
      <p:sp>
        <p:nvSpPr>
          <p:cNvPr id="7" name="AutoShape 7"/>
          <p:cNvSpPr/>
          <p:nvPr/>
        </p:nvSpPr>
        <p:spPr>
          <a:xfrm>
            <a:off x="1333500" y="17526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提示词设计 (Prompt Design)</a:t>
            </a:r>
            <a:endParaRPr lang="en-US" sz="1100"/>
          </a:p>
        </p:txBody>
      </p:sp>
      <p:sp>
        <p:nvSpPr>
          <p:cNvPr id="8" name="AutoShape 8"/>
          <p:cNvSpPr/>
          <p:nvPr/>
        </p:nvSpPr>
        <p:spPr>
          <a:xfrm>
            <a:off x="952500" y="2349500"/>
            <a:ext cx="4699000" cy="2794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a:ea typeface="Noto Sans SC"/>
                <a:cs typeface="Noto Sans SC"/>
                <a:sym typeface="Noto Sans SC"/>
              </a:rPr>
              <a:t>技巧：赋予角色 + 提供示例 + 结构化输出</a:t>
            </a:r>
            <a:endParaRPr lang="en-US" sz="1100"/>
          </a:p>
          <a:p>
            <a:pPr indent="0" algn="l">
              <a:lnSpc>
                <a:spcPct val="108000"/>
              </a:lnSpc>
            </a:pPr>
            <a:r>
              <a:rPr lang="en-US" sz="1200" b="0" i="0" u="none" strike="noStrike">
                <a:solidFill>
                  <a:srgbClr val="646464"/>
                </a:solidFill>
                <a:latin typeface="Noto Sans SC"/>
                <a:ea typeface="Noto Sans SC"/>
                <a:cs typeface="Noto Sans SC"/>
                <a:sym typeface="Noto Sans SC"/>
              </a:rPr>
              <a:t>你是一位专业的情感分析专家。请根据以下示例，判断用户评论的情感色彩，并以JSON格式输出结果，键为'sentiment'，值为'积极'、'消极'或'中性'。</a:t>
            </a:r>
            <a:endParaRPr lang="en-US" sz="1200" b="0" i="0" u="none" strike="noStrike">
              <a:solidFill>
                <a:srgbClr val="646464"/>
              </a:solidFill>
              <a:latin typeface="Noto Sans SC"/>
              <a:ea typeface="Noto Sans SC"/>
              <a:cs typeface="Noto Sans SC"/>
              <a:sym typeface="Noto Sans SC"/>
            </a:endParaRPr>
          </a:p>
          <a:p>
            <a:pPr indent="0" algn="l">
              <a:lnSpc>
                <a:spcPct val="108000"/>
              </a:lnSpc>
            </a:pPr>
            <a:r>
              <a:rPr lang="en-US" sz="1200" b="0" i="0" u="none" strike="noStrike">
                <a:solidFill>
                  <a:srgbClr val="646464"/>
                </a:solidFill>
                <a:latin typeface="Noto Sans SC"/>
                <a:ea typeface="Noto Sans SC"/>
                <a:cs typeface="Noto Sans SC"/>
                <a:sym typeface="Noto Sans SC"/>
              </a:rPr>
              <a:t>示例1：评论“电池太耐用了” → 结果：{"sentiment": "积极"}</a:t>
            </a:r>
            <a:endParaRPr lang="en-US" sz="1200" b="0" i="0" u="none" strike="noStrike">
              <a:solidFill>
                <a:srgbClr val="646464"/>
              </a:solidFill>
              <a:latin typeface="Noto Sans SC"/>
              <a:ea typeface="Noto Sans SC"/>
              <a:cs typeface="Noto Sans SC"/>
              <a:sym typeface="Noto Sans SC"/>
            </a:endParaRPr>
          </a:p>
          <a:p>
            <a:pPr indent="0" algn="l">
              <a:lnSpc>
                <a:spcPct val="108000"/>
              </a:lnSpc>
            </a:pPr>
            <a:r>
              <a:rPr lang="en-US" sz="1200" b="0" i="0" u="none" strike="noStrike">
                <a:solidFill>
                  <a:srgbClr val="646464"/>
                </a:solidFill>
                <a:latin typeface="Noto Sans SC"/>
                <a:ea typeface="Noto Sans SC"/>
                <a:cs typeface="Noto Sans SC"/>
                <a:sym typeface="Noto Sans SC"/>
              </a:rPr>
              <a:t>示例2：评论“物流太慢了” → 结果：{"sentiment": "消极"}</a:t>
            </a:r>
            <a:endParaRPr lang="en-US" sz="1200" b="0" i="0" u="none" strike="noStrike">
              <a:solidFill>
                <a:srgbClr val="646464"/>
              </a:solidFill>
              <a:latin typeface="Noto Sans SC"/>
              <a:ea typeface="Noto Sans SC"/>
              <a:cs typeface="Noto Sans SC"/>
              <a:sym typeface="Noto Sans SC"/>
            </a:endParaRPr>
          </a:p>
          <a:p>
            <a:pPr indent="0" algn="l">
              <a:lnSpc>
                <a:spcPct val="108000"/>
              </a:lnSpc>
            </a:pPr>
            <a:r>
              <a:rPr lang="en-US" sz="1200" b="0" i="0" u="none" strike="noStrike">
                <a:solidFill>
                  <a:srgbClr val="646464"/>
                </a:solidFill>
                <a:latin typeface="Noto Sans SC"/>
                <a:ea typeface="Noto Sans SC"/>
                <a:cs typeface="Noto Sans SC"/>
                <a:sym typeface="Noto Sans SC"/>
              </a:rPr>
              <a:t>分析：评论“包装还不错，产品本身一般”</a:t>
            </a:r>
            <a:endParaRPr lang="en-US" sz="1200" b="0" i="0" u="none" strike="noStrike">
              <a:solidFill>
                <a:srgbClr val="646464"/>
              </a:solidFill>
              <a:latin typeface="Noto Sans SC"/>
              <a:ea typeface="Noto Sans SC"/>
              <a:cs typeface="Noto Sans SC"/>
              <a:sym typeface="Noto Sans SC"/>
            </a:endParaRPr>
          </a:p>
        </p:txBody>
      </p:sp>
      <p:sp>
        <p:nvSpPr>
          <p:cNvPr id="9" name="AutoShape 9"/>
          <p:cNvSpPr/>
          <p:nvPr/>
        </p:nvSpPr>
        <p:spPr>
          <a:xfrm>
            <a:off x="6350000" y="1714500"/>
            <a:ext cx="5080000" cy="3683000"/>
          </a:xfrm>
          <a:prstGeom prst="roundRect">
            <a:avLst>
              <a:gd name="adj" fmla="val 3448"/>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6350000" y="1714500"/>
            <a:ext cx="5080000" cy="508000"/>
          </a:xfrm>
          <a:prstGeom prst="roundRect">
            <a:avLst>
              <a:gd name="adj" fmla="val 2500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540500" y="1816100"/>
            <a:ext cx="304800" cy="304800"/>
          </a:xfrm>
          <a:prstGeom prst="rect">
            <a:avLst/>
          </a:prstGeom>
        </p:spPr>
      </p:pic>
      <p:sp>
        <p:nvSpPr>
          <p:cNvPr id="12" name="AutoShape 12"/>
          <p:cNvSpPr/>
          <p:nvPr/>
        </p:nvSpPr>
        <p:spPr>
          <a:xfrm>
            <a:off x="6921500" y="1752600"/>
            <a:ext cx="4318000" cy="431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a:ea typeface="Noto Sans SC"/>
                <a:cs typeface="Noto Sans SC"/>
                <a:sym typeface="Noto Sans SC"/>
              </a:rPr>
              <a:t>代码调用 (Python)</a:t>
            </a:r>
            <a:endParaRPr lang="en-US" sz="1100"/>
          </a:p>
        </p:txBody>
      </p:sp>
      <p:sp>
        <p:nvSpPr>
          <p:cNvPr id="13" name="AutoShape 13"/>
          <p:cNvSpPr/>
          <p:nvPr/>
        </p:nvSpPr>
        <p:spPr>
          <a:xfrm>
            <a:off x="6540500" y="2349500"/>
            <a:ext cx="4699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555555"/>
                </a:solidFill>
                <a:latin typeface="Noto Sans SC"/>
                <a:ea typeface="Noto Sans SC"/>
                <a:cs typeface="Noto Sans SC"/>
                <a:sym typeface="Noto Sans SC"/>
              </a:rPr>
              <a:t>prompt = "你是一位专业的情感分析专家..."</a:t>
            </a:r>
            <a:endParaRPr lang="en-US" sz="1100"/>
          </a:p>
          <a:p>
            <a:pPr indent="0" algn="l">
              <a:lnSpc>
                <a:spcPct val="117000"/>
              </a:lnSpc>
            </a:pPr>
            <a:r>
              <a:rPr lang="en-US" sz="1300" b="0" i="0" u="none" strike="noStrike">
                <a:solidFill>
                  <a:srgbClr val="555555"/>
                </a:solidFill>
                <a:latin typeface="Noto Sans SC"/>
                <a:ea typeface="Noto Sans SC"/>
                <a:cs typeface="Noto Sans SC"/>
                <a:sym typeface="Noto Sans SC"/>
              </a:rPr>
              <a:t>messages = [{"role": "user", "content": prompt}]</a:t>
            </a:r>
            <a:endParaRPr lang="en-US" sz="1300" b="0" i="0" u="none" strike="noStrike">
              <a:solidFill>
                <a:srgbClr val="555555"/>
              </a:solidFill>
              <a:latin typeface="Noto Sans SC"/>
              <a:ea typeface="Noto Sans SC"/>
              <a:cs typeface="Noto Sans SC"/>
              <a:sym typeface="Noto Sans SC"/>
            </a:endParaRPr>
          </a:p>
          <a:p>
            <a:pPr indent="0" algn="l">
              <a:lnSpc>
                <a:spcPct val="117000"/>
              </a:lnSpc>
            </a:pPr>
            <a:r>
              <a:rPr lang="en-US" sz="1300" b="0" i="0" u="none" strike="noStrike">
                <a:solidFill>
                  <a:srgbClr val="555555"/>
                </a:solidFill>
                <a:latin typeface="Noto Sans SC"/>
                <a:ea typeface="Noto Sans SC"/>
                <a:cs typeface="Noto Sans SC"/>
                <a:sym typeface="Noto Sans SC"/>
              </a:rPr>
              <a:t>response = send_message(messages)</a:t>
            </a:r>
            <a:endParaRPr lang="en-US" sz="1300" b="0" i="0" u="none" strike="noStrike">
              <a:solidFill>
                <a:srgbClr val="555555"/>
              </a:solidFill>
              <a:latin typeface="Noto Sans SC"/>
              <a:ea typeface="Noto Sans SC"/>
              <a:cs typeface="Noto Sans SC"/>
              <a:sym typeface="Noto Sans SC"/>
            </a:endParaRPr>
          </a:p>
          <a:p>
            <a:pPr indent="0" algn="l">
              <a:lnSpc>
                <a:spcPct val="117000"/>
              </a:lnSpc>
            </a:pPr>
            <a:r>
              <a:rPr lang="en-US" sz="1300" b="0" i="0" u="none" strike="noStrike">
                <a:solidFill>
                  <a:srgbClr val="555555"/>
                </a:solidFill>
                <a:latin typeface="Noto Sans SC"/>
                <a:ea typeface="Noto Sans SC"/>
                <a:cs typeface="Noto Sans SC"/>
                <a:sym typeface="Noto Sans SC"/>
              </a:rPr>
              <a:t>print(response)</a:t>
            </a:r>
            <a:endParaRPr lang="en-US" sz="1300" b="0" i="0" u="none" strike="noStrike">
              <a:solidFill>
                <a:srgbClr val="555555"/>
              </a:solidFill>
              <a:latin typeface="Noto Sans SC"/>
              <a:ea typeface="Noto Sans SC"/>
              <a:cs typeface="Noto Sans SC"/>
              <a:sym typeface="Noto Sans SC"/>
            </a:endParaRPr>
          </a:p>
          <a:p>
            <a:pPr indent="0" algn="l">
              <a:lnSpc>
                <a:spcPct val="117000"/>
              </a:lnSpc>
            </a:pPr>
            <a:r>
              <a:rPr lang="en-US" sz="1300" b="1" i="0" u="none" strike="noStrike">
                <a:solidFill>
                  <a:srgbClr val="0288D1"/>
                </a:solidFill>
                <a:latin typeface="Noto Sans SC"/>
                <a:ea typeface="Noto Sans SC"/>
                <a:cs typeface="Noto Sans SC"/>
                <a:sym typeface="Noto Sans SC"/>
              </a:rPr>
              <a:t># 预期输出: {"sentiment": "中性"}</a:t>
            </a:r>
            <a:endParaRPr lang="en-US" sz="1300" b="1" i="0" u="none" strike="noStrike">
              <a:solidFill>
                <a:srgbClr val="0288D1"/>
              </a:solidFill>
              <a:latin typeface="Noto Sans SC"/>
              <a:ea typeface="Noto Sans SC"/>
              <a:cs typeface="Noto Sans SC"/>
              <a:sym typeface="Noto Sans SC"/>
            </a:endParaRPr>
          </a:p>
        </p:txBody>
      </p:sp>
      <p:sp>
        <p:nvSpPr>
          <p:cNvPr id="14" name="AutoShape 14"/>
          <p:cNvSpPr/>
          <p:nvPr/>
        </p:nvSpPr>
        <p:spPr>
          <a:xfrm>
            <a:off x="762000" y="5588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016000" y="5778500"/>
            <a:ext cx="381000" cy="381000"/>
          </a:xfrm>
          <a:prstGeom prst="rect">
            <a:avLst/>
          </a:prstGeom>
        </p:spPr>
      </p:pic>
      <p:sp>
        <p:nvSpPr>
          <p:cNvPr id="16" name="AutoShape 16"/>
          <p:cNvSpPr/>
          <p:nvPr/>
        </p:nvSpPr>
        <p:spPr>
          <a:xfrm>
            <a:off x="1524000" y="5651500"/>
            <a:ext cx="965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333333"/>
                </a:solidFill>
                <a:latin typeface="Noto Sans SC"/>
                <a:ea typeface="Noto Sans SC"/>
                <a:cs typeface="Noto Sans SC"/>
                <a:sym typeface="Noto Sans SC"/>
              </a:rPr>
              <a:t>核心要点：</a:t>
            </a:r>
            <a:r>
              <a:rPr lang="en-US" sz="1600" b="0" i="0" u="none" strike="noStrike">
                <a:solidFill>
                  <a:srgbClr val="333333"/>
                </a:solidFill>
                <a:latin typeface="Noto Sans SC"/>
                <a:ea typeface="Noto Sans SC"/>
                <a:cs typeface="Noto Sans SC"/>
                <a:sym typeface="Noto Sans SC"/>
              </a:rPr>
              <a:t>通过赋予模型专业角色、提供具体示例和明确输出格式，我们可以显著提升模型在特定任务上的准确性和一致性。</a:t>
            </a:r>
            <a:endParaRPr lang="en-US" sz="110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71501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案例二：文本生成 (撰写邮件)</a:t>
            </a:r>
            <a:endParaRPr lang="en-US" sz="1100"/>
          </a:p>
        </p:txBody>
      </p:sp>
      <p:sp>
        <p:nvSpPr>
          <p:cNvPr id="3" name="AutoShape 3"/>
          <p:cNvSpPr/>
          <p:nvPr/>
        </p:nvSpPr>
        <p:spPr>
          <a:xfrm>
            <a:off x="762000" y="1270000"/>
            <a:ext cx="5207000" cy="4064000"/>
          </a:xfrm>
          <a:prstGeom prst="roundRect">
            <a:avLst>
              <a:gd name="adj" fmla="val 312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4" name="AutoShape 4"/>
          <p:cNvSpPr/>
          <p:nvPr/>
        </p:nvSpPr>
        <p:spPr>
          <a:xfrm>
            <a:off x="1016000" y="1460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提示词设计：组合技巧应用</a:t>
            </a:r>
            <a:endParaRPr lang="en-US" sz="1100"/>
          </a:p>
        </p:txBody>
      </p:sp>
      <p:sp>
        <p:nvSpPr>
          <p:cNvPr id="5" name="AutoShape 5"/>
          <p:cNvSpPr/>
          <p:nvPr/>
        </p:nvSpPr>
        <p:spPr>
          <a:xfrm>
            <a:off x="1016000" y="1905000"/>
            <a:ext cx="4699000" cy="317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1" i="0" u="none" strike="noStrike">
                <a:solidFill>
                  <a:srgbClr val="333333"/>
                </a:solidFill>
                <a:latin typeface="Noto Sans SC"/>
                <a:ea typeface="Noto Sans SC"/>
                <a:cs typeface="Noto Sans SC"/>
                <a:sym typeface="Noto Sans SC"/>
              </a:rPr>
              <a:t>任务描述：</a:t>
            </a:r>
            <a:r>
              <a:rPr lang="en-US" sz="1400" b="0" i="0" u="none" strike="noStrike">
                <a:solidFill>
                  <a:srgbClr val="555555"/>
                </a:solidFill>
                <a:latin typeface="Noto Sans SC"/>
                <a:ea typeface="Noto Sans SC"/>
                <a:cs typeface="Noto Sans SC"/>
                <a:sym typeface="Noto Sans SC"/>
              </a:rPr>
              <a:t>撰写正式商务邮件，通知会议时间变更。</a:t>
            </a:r>
            <a:endParaRPr lang="en-US" sz="1100"/>
          </a:p>
          <a:p>
            <a:pPr indent="0" algn="l">
              <a:lnSpc>
                <a:spcPct val="108000"/>
              </a:lnSpc>
            </a:pPr>
            <a:r>
              <a:rPr lang="en-US" sz="1400" b="1" i="0" u="none" strike="noStrike">
                <a:solidFill>
                  <a:srgbClr val="333333"/>
                </a:solidFill>
                <a:latin typeface="Noto Sans SC"/>
                <a:ea typeface="Noto Sans SC"/>
                <a:cs typeface="Noto Sans SC"/>
                <a:sym typeface="Noto Sans SC"/>
              </a:rPr>
              <a:t>提示词策略：</a:t>
            </a:r>
            <a:r>
              <a:rPr lang="en-US" sz="1400" b="0" i="0" u="none" strike="noStrike">
                <a:solidFill>
                  <a:srgbClr val="555555"/>
                </a:solidFill>
                <a:latin typeface="Noto Sans SC"/>
                <a:ea typeface="Noto Sans SC"/>
                <a:cs typeface="Noto Sans SC"/>
                <a:sym typeface="Noto Sans SC"/>
              </a:rPr>
              <a:t>赋予角色 + 分步拆解 + 量化需求</a:t>
            </a:r>
            <a:endParaRPr lang="en-US" sz="1400" b="0" i="0" u="none" strike="noStrike">
              <a:solidFill>
                <a:srgbClr val="555555"/>
              </a:solidFill>
              <a:latin typeface="Noto Sans SC"/>
              <a:ea typeface="Noto Sans SC"/>
              <a:cs typeface="Noto Sans SC"/>
              <a:sym typeface="Noto Sans SC"/>
            </a:endParaRPr>
          </a:p>
          <a:p>
            <a:pPr indent="0" algn="l">
              <a:lnSpc>
                <a:spcPct val="108000"/>
              </a:lnSpc>
            </a:pPr>
            <a:r>
              <a:rPr lang="en-US" sz="1400" b="1" i="0" u="none" strike="noStrike">
                <a:solidFill>
                  <a:srgbClr val="333333"/>
                </a:solidFill>
                <a:latin typeface="Noto Sans SC"/>
                <a:ea typeface="Noto Sans SC"/>
                <a:cs typeface="Noto Sans SC"/>
                <a:sym typeface="Noto Sans SC"/>
              </a:rPr>
              <a:t>核心指令：</a:t>
            </a:r>
            <a:endParaRPr lang="en-US" sz="1400" b="1" i="0" u="none" strike="noStrike">
              <a:solidFill>
                <a:srgbClr val="333333"/>
              </a:solidFill>
              <a:latin typeface="Noto Sans SC"/>
              <a:ea typeface="Noto Sans SC"/>
              <a:cs typeface="Noto Sans SC"/>
              <a:sym typeface="Noto Sans SC"/>
            </a:endParaRPr>
          </a:p>
          <a:p>
            <a:pPr marL="165100" indent="-165100" algn="l">
              <a:lnSpc>
                <a:spcPct val="100000"/>
              </a:lnSpc>
              <a:buClr>
                <a:srgbClr val="555555"/>
              </a:buClr>
              <a:buChar char="•"/>
            </a:pPr>
            <a:r>
              <a:rPr lang="en-US" sz="1300" b="0" i="0" u="none" strike="noStrike">
                <a:solidFill>
                  <a:srgbClr val="555555"/>
                </a:solidFill>
                <a:latin typeface="Noto Sans SC"/>
                <a:ea typeface="Noto Sans SC"/>
                <a:cs typeface="Noto Sans SC"/>
                <a:sym typeface="Noto Sans SC"/>
              </a:rPr>
              <a:t>角色：经验丰富的商务助理</a:t>
            </a:r>
            <a:endParaRPr lang="en-US" sz="1300" b="0" i="0" u="none" strike="noStrike">
              <a:solidFill>
                <a:srgbClr val="555555"/>
              </a:solidFill>
              <a:latin typeface="Noto Sans SC"/>
              <a:ea typeface="Noto Sans SC"/>
              <a:cs typeface="Noto Sans SC"/>
              <a:sym typeface="Noto Sans SC"/>
            </a:endParaRPr>
          </a:p>
          <a:p>
            <a:pPr marL="165100" indent="-165100" algn="l">
              <a:lnSpc>
                <a:spcPct val="100000"/>
              </a:lnSpc>
              <a:buClr>
                <a:srgbClr val="555555"/>
              </a:buClr>
              <a:buChar char="•"/>
            </a:pPr>
            <a:r>
              <a:rPr lang="en-US" sz="1300" b="0" i="0" u="none" strike="noStrike">
                <a:solidFill>
                  <a:srgbClr val="555555"/>
                </a:solidFill>
                <a:latin typeface="Noto Sans SC"/>
                <a:ea typeface="Noto Sans SC"/>
                <a:cs typeface="Noto Sans SC"/>
                <a:sym typeface="Noto Sans SC"/>
              </a:rPr>
              <a:t>结构：主题、称呼、时间变更、原因、确认、署名</a:t>
            </a:r>
            <a:endParaRPr lang="en-US" sz="1300" b="0" i="0" u="none" strike="noStrike">
              <a:solidFill>
                <a:srgbClr val="555555"/>
              </a:solidFill>
              <a:latin typeface="Noto Sans SC"/>
              <a:ea typeface="Noto Sans SC"/>
              <a:cs typeface="Noto Sans SC"/>
              <a:sym typeface="Noto Sans SC"/>
            </a:endParaRPr>
          </a:p>
          <a:p>
            <a:pPr marL="165100" indent="-165100" algn="l">
              <a:lnSpc>
                <a:spcPct val="100000"/>
              </a:lnSpc>
              <a:buClr>
                <a:srgbClr val="555555"/>
              </a:buClr>
              <a:buChar char="•"/>
            </a:pPr>
            <a:r>
              <a:rPr lang="en-US" sz="1300" b="0" i="0" u="none" strike="noStrike">
                <a:solidFill>
                  <a:srgbClr val="555555"/>
                </a:solidFill>
                <a:latin typeface="Noto Sans SC"/>
                <a:ea typeface="Noto Sans SC"/>
                <a:cs typeface="Noto Sans SC"/>
                <a:sym typeface="Noto Sans SC"/>
              </a:rPr>
              <a:t>细节：原时间(5/20 14:00)、新时间(5/21 10:00)、发件人张三</a:t>
            </a:r>
            <a:endParaRPr lang="en-US" sz="1300" b="0" i="0" u="none" strike="noStrike">
              <a:solidFill>
                <a:srgbClr val="555555"/>
              </a:solidFill>
              <a:latin typeface="Noto Sans SC"/>
              <a:ea typeface="Noto Sans SC"/>
              <a:cs typeface="Noto Sans SC"/>
              <a:sym typeface="Noto Sans SC"/>
            </a:endParaRPr>
          </a:p>
        </p:txBody>
      </p:sp>
      <p:sp>
        <p:nvSpPr>
          <p:cNvPr id="6" name="AutoShape 6"/>
          <p:cNvSpPr/>
          <p:nvPr/>
        </p:nvSpPr>
        <p:spPr>
          <a:xfrm>
            <a:off x="6223000" y="1270000"/>
            <a:ext cx="5207000" cy="4064000"/>
          </a:xfrm>
          <a:prstGeom prst="roundRect">
            <a:avLst>
              <a:gd name="adj" fmla="val 3125"/>
            </a:avLst>
          </a:prstGeom>
          <a:solidFill>
            <a:srgbClr val="FFFFFF">
              <a:alpha val="100000"/>
            </a:srgbClr>
          </a:solidFill>
          <a:ln w="25400" cap="flat" cmpd="sng">
            <a:noFill/>
            <a:prstDash val="solid"/>
            <a:round/>
          </a:ln>
          <a:effectLst>
            <a:outerShdw blurRad="127000" dist="50800" dir="2700000" algn="tl" rotWithShape="0">
              <a:srgbClr val="0288D1">
                <a:alpha val="15000"/>
              </a:srgbClr>
            </a:outerShdw>
          </a:effectLst>
        </p:spPr>
        <p:txBody>
          <a:bodyPr vert="horz" wrap="square" lIns="63500" tIns="63500" rIns="63500" bIns="63500" rtlCol="0" anchor="ctr"/>
          <a:lstStyle/>
          <a:p>
            <a:pPr algn="ctr">
              <a:defRPr/>
            </a:pPr>
          </a:p>
        </p:txBody>
      </p:sp>
      <p:sp>
        <p:nvSpPr>
          <p:cNvPr id="7" name="AutoShape 7"/>
          <p:cNvSpPr/>
          <p:nvPr/>
        </p:nvSpPr>
        <p:spPr>
          <a:xfrm>
            <a:off x="6477000" y="1460500"/>
            <a:ext cx="4699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代码实现：API 调用示例</a:t>
            </a:r>
            <a:endParaRPr lang="en-US" sz="1100"/>
          </a:p>
        </p:txBody>
      </p:sp>
      <p:sp>
        <p:nvSpPr>
          <p:cNvPr id="8" name="AutoShape 8"/>
          <p:cNvSpPr/>
          <p:nvPr/>
        </p:nvSpPr>
        <p:spPr>
          <a:xfrm>
            <a:off x="6477000" y="1905000"/>
            <a:ext cx="4699000" cy="3175000"/>
          </a:xfrm>
          <a:prstGeom prst="roundRect">
            <a:avLst>
              <a:gd name="adj" fmla="val 2000"/>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6604000" y="2032000"/>
            <a:ext cx="4445000" cy="2921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300" b="0" i="0" u="none" strike="noStrike">
                <a:solidFill>
                  <a:srgbClr val="646464"/>
                </a:solidFill>
                <a:latin typeface="Roboto Mono"/>
                <a:ea typeface="Roboto Mono"/>
                <a:cs typeface="Roboto Mono"/>
                <a:sym typeface="Roboto Mono"/>
              </a:rPr>
              <a:t># 构建包含详细指令的 Prompt</a:t>
            </a:r>
            <a:endParaRPr lang="en-US" sz="1100"/>
          </a:p>
          <a:p>
            <a:pPr indent="0" algn="l">
              <a:lnSpc>
                <a:spcPct val="117000"/>
              </a:lnSpc>
            </a:pPr>
            <a:r>
              <a:rPr lang="en-US" sz="1300" b="0" i="0" u="none" strike="noStrike">
                <a:solidFill>
                  <a:srgbClr val="D73A49"/>
                </a:solidFill>
                <a:latin typeface="Roboto Mono"/>
                <a:ea typeface="Roboto Mono"/>
                <a:cs typeface="Roboto Mono"/>
                <a:sym typeface="Roboto Mono"/>
              </a:rPr>
              <a:t>prompt</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036947"/>
                </a:solidFill>
                <a:latin typeface="Roboto Mono"/>
                <a:ea typeface="Roboto Mono"/>
                <a:cs typeface="Roboto Mono"/>
                <a:sym typeface="Roboto Mono"/>
              </a:rPr>
              <a:t>"你是一位经验丰富的商务助理，请帮我撰写一封邮件...（上述提示词）"</a:t>
            </a:r>
            <a:endParaRPr lang="en-US" sz="1300" b="0" i="0" u="none" strike="noStrike">
              <a:solidFill>
                <a:srgbClr val="036947"/>
              </a:solidFill>
              <a:latin typeface="Roboto Mono"/>
              <a:ea typeface="Roboto Mono"/>
              <a:cs typeface="Roboto Mono"/>
              <a:sym typeface="Roboto Mono"/>
            </a:endParaRPr>
          </a:p>
          <a:p>
            <a:pPr indent="0" algn="l">
              <a:lnSpc>
                <a:spcPct val="117000"/>
              </a:lnSpc>
            </a:pPr>
            <a:r>
              <a:rPr lang="en-US" sz="1300" b="0" i="0" u="none" strike="noStrike">
                <a:solidFill>
                  <a:srgbClr val="646464"/>
                </a:solidFill>
                <a:latin typeface="Roboto Mono"/>
                <a:ea typeface="Roboto Mono"/>
                <a:cs typeface="Roboto Mono"/>
                <a:sym typeface="Roboto Mono"/>
              </a:rPr>
              <a:t># 封装消息格式</a:t>
            </a:r>
            <a:endParaRPr lang="en-US" sz="1300" b="0" i="0" u="none" strike="noStrike">
              <a:solidFill>
                <a:srgbClr val="646464"/>
              </a:solidFill>
              <a:latin typeface="Roboto Mono"/>
              <a:ea typeface="Roboto Mono"/>
              <a:cs typeface="Roboto Mono"/>
              <a:sym typeface="Roboto Mono"/>
            </a:endParaRPr>
          </a:p>
          <a:p>
            <a:pPr indent="0" algn="l">
              <a:lnSpc>
                <a:spcPct val="117000"/>
              </a:lnSpc>
            </a:pPr>
            <a:r>
              <a:rPr lang="en-US" sz="1300" b="0" i="0" u="none" strike="noStrike">
                <a:solidFill>
                  <a:srgbClr val="D73A49"/>
                </a:solidFill>
                <a:latin typeface="Roboto Mono"/>
                <a:ea typeface="Roboto Mono"/>
                <a:cs typeface="Roboto Mono"/>
                <a:sym typeface="Roboto Mono"/>
              </a:rPr>
              <a:t>messages</a:t>
            </a:r>
            <a:r>
              <a:rPr lang="en-US" sz="1300" b="0" i="0" u="none" strike="noStrike">
                <a:solidFill>
                  <a:srgbClr val="333333"/>
                </a:solidFill>
                <a:latin typeface="Roboto Mono"/>
                <a:ea typeface="Roboto Mono"/>
                <a:cs typeface="Roboto Mono"/>
                <a:sym typeface="Roboto Mono"/>
              </a:rPr>
              <a:t>= [{</a:t>
            </a:r>
            <a:r>
              <a:rPr lang="en-US" sz="1300" b="0" i="0" u="none" strike="noStrike">
                <a:solidFill>
                  <a:srgbClr val="036947"/>
                </a:solidFill>
                <a:latin typeface="Roboto Mono"/>
                <a:ea typeface="Roboto Mono"/>
                <a:cs typeface="Roboto Mono"/>
                <a:sym typeface="Roboto Mono"/>
              </a:rPr>
              <a:t>"role"</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036947"/>
                </a:solidFill>
                <a:latin typeface="Roboto Mono"/>
                <a:ea typeface="Roboto Mono"/>
                <a:cs typeface="Roboto Mono"/>
                <a:sym typeface="Roboto Mono"/>
              </a:rPr>
              <a:t>"user"</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036947"/>
                </a:solidFill>
                <a:latin typeface="Roboto Mono"/>
                <a:ea typeface="Roboto Mono"/>
                <a:cs typeface="Roboto Mono"/>
                <a:sym typeface="Roboto Mono"/>
              </a:rPr>
              <a:t>"content"</a:t>
            </a:r>
            <a:r>
              <a:rPr lang="en-US" sz="1300" b="0" i="0" u="none" strike="noStrike">
                <a:solidFill>
                  <a:srgbClr val="333333"/>
                </a:solidFill>
                <a:latin typeface="Roboto Mono"/>
                <a:ea typeface="Roboto Mono"/>
                <a:cs typeface="Roboto Mono"/>
                <a:sym typeface="Roboto Mono"/>
              </a:rPr>
              <a:t>: prompt}]</a:t>
            </a:r>
            <a:endParaRPr lang="en-US" sz="1300" b="0" i="0" u="none" strike="noStrike">
              <a:solidFill>
                <a:srgbClr val="333333"/>
              </a:solidFill>
              <a:latin typeface="Roboto Mono"/>
              <a:ea typeface="Roboto Mono"/>
              <a:cs typeface="Roboto Mono"/>
              <a:sym typeface="Roboto Mono"/>
            </a:endParaRPr>
          </a:p>
          <a:p>
            <a:pPr indent="0" algn="l">
              <a:lnSpc>
                <a:spcPct val="117000"/>
              </a:lnSpc>
            </a:pPr>
            <a:r>
              <a:rPr lang="en-US" sz="1300" b="0" i="0" u="none" strike="noStrike">
                <a:solidFill>
                  <a:srgbClr val="646464"/>
                </a:solidFill>
                <a:latin typeface="Roboto Mono"/>
                <a:ea typeface="Roboto Mono"/>
                <a:cs typeface="Roboto Mono"/>
                <a:sym typeface="Roboto Mono"/>
              </a:rPr>
              <a:t># 调用 API 接口</a:t>
            </a:r>
            <a:endParaRPr lang="en-US" sz="1300" b="0" i="0" u="none" strike="noStrike">
              <a:solidFill>
                <a:srgbClr val="646464"/>
              </a:solidFill>
              <a:latin typeface="Roboto Mono"/>
              <a:ea typeface="Roboto Mono"/>
              <a:cs typeface="Roboto Mono"/>
              <a:sym typeface="Roboto Mono"/>
            </a:endParaRPr>
          </a:p>
          <a:p>
            <a:pPr indent="0" algn="l">
              <a:lnSpc>
                <a:spcPct val="117000"/>
              </a:lnSpc>
            </a:pPr>
            <a:r>
              <a:rPr lang="en-US" sz="1300" b="0" i="0" u="none" strike="noStrike">
                <a:solidFill>
                  <a:srgbClr val="D73A49"/>
                </a:solidFill>
                <a:latin typeface="Roboto Mono"/>
                <a:ea typeface="Roboto Mono"/>
                <a:cs typeface="Roboto Mono"/>
                <a:sym typeface="Roboto Mono"/>
              </a:rPr>
              <a:t>response</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036947"/>
                </a:solidFill>
                <a:latin typeface="Roboto Mono"/>
                <a:ea typeface="Roboto Mono"/>
                <a:cs typeface="Roboto Mono"/>
                <a:sym typeface="Roboto Mono"/>
              </a:rPr>
              <a:t>send_message</a:t>
            </a:r>
            <a:r>
              <a:rPr lang="en-US" sz="1300" b="0" i="0" u="none" strike="noStrike">
                <a:solidFill>
                  <a:srgbClr val="333333"/>
                </a:solidFill>
                <a:latin typeface="Roboto Mono"/>
                <a:ea typeface="Roboto Mono"/>
                <a:cs typeface="Roboto Mono"/>
                <a:sym typeface="Roboto Mono"/>
              </a:rPr>
              <a:t>(messages)</a:t>
            </a:r>
            <a:endParaRPr lang="en-US" sz="1300" b="0" i="0" u="none" strike="noStrike">
              <a:solidFill>
                <a:srgbClr val="333333"/>
              </a:solidFill>
              <a:latin typeface="Roboto Mono"/>
              <a:ea typeface="Roboto Mono"/>
              <a:cs typeface="Roboto Mono"/>
              <a:sym typeface="Roboto Mono"/>
            </a:endParaRPr>
          </a:p>
          <a:p>
            <a:pPr indent="0" algn="l">
              <a:lnSpc>
                <a:spcPct val="117000"/>
              </a:lnSpc>
            </a:pPr>
            <a:r>
              <a:rPr lang="en-US" sz="1300" b="0" i="0" u="none" strike="noStrike">
                <a:solidFill>
                  <a:srgbClr val="646464"/>
                </a:solidFill>
                <a:latin typeface="Roboto Mono"/>
                <a:ea typeface="Roboto Mono"/>
                <a:cs typeface="Roboto Mono"/>
                <a:sym typeface="Roboto Mono"/>
              </a:rPr>
              <a:t># 输出结果</a:t>
            </a:r>
            <a:endParaRPr lang="en-US" sz="1300" b="0" i="0" u="none" strike="noStrike">
              <a:solidFill>
                <a:srgbClr val="646464"/>
              </a:solidFill>
              <a:latin typeface="Roboto Mono"/>
              <a:ea typeface="Roboto Mono"/>
              <a:cs typeface="Roboto Mono"/>
              <a:sym typeface="Roboto Mono"/>
            </a:endParaRPr>
          </a:p>
          <a:p>
            <a:pPr indent="0" algn="l">
              <a:lnSpc>
                <a:spcPct val="117000"/>
              </a:lnSpc>
            </a:pPr>
            <a:r>
              <a:rPr lang="en-US" sz="1300" b="0" i="0" u="none" strike="noStrike">
                <a:solidFill>
                  <a:srgbClr val="036947"/>
                </a:solidFill>
                <a:latin typeface="Roboto Mono"/>
                <a:ea typeface="Roboto Mono"/>
                <a:cs typeface="Roboto Mono"/>
                <a:sym typeface="Roboto Mono"/>
              </a:rPr>
              <a:t>print</a:t>
            </a:r>
            <a:r>
              <a:rPr lang="en-US" sz="1300" b="0" i="0" u="none" strike="noStrike">
                <a:solidFill>
                  <a:srgbClr val="333333"/>
                </a:solidFill>
                <a:latin typeface="Roboto Mono"/>
                <a:ea typeface="Roboto Mono"/>
                <a:cs typeface="Roboto Mono"/>
                <a:sym typeface="Roboto Mono"/>
              </a:rPr>
              <a:t>(response)</a:t>
            </a:r>
            <a:endParaRPr lang="en-US" sz="1300" b="0" i="0" u="none" strike="noStrike">
              <a:solidFill>
                <a:srgbClr val="333333"/>
              </a:solidFill>
              <a:latin typeface="Roboto Mono"/>
              <a:ea typeface="Roboto Mono"/>
              <a:cs typeface="Roboto Mono"/>
              <a:sym typeface="Roboto Mono"/>
            </a:endParaRPr>
          </a:p>
        </p:txBody>
      </p:sp>
      <p:sp>
        <p:nvSpPr>
          <p:cNvPr id="10" name="AutoShape 10"/>
          <p:cNvSpPr/>
          <p:nvPr/>
        </p:nvSpPr>
        <p:spPr>
          <a:xfrm>
            <a:off x="762000" y="5588000"/>
            <a:ext cx="10668000" cy="762000"/>
          </a:xfrm>
          <a:prstGeom prst="roundRect">
            <a:avLst>
              <a:gd name="adj" fmla="val 16666"/>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765800"/>
            <a:ext cx="406400" cy="406400"/>
          </a:xfrm>
          <a:prstGeom prst="rect">
            <a:avLst/>
          </a:prstGeom>
        </p:spPr>
      </p:pic>
      <p:sp>
        <p:nvSpPr>
          <p:cNvPr id="12" name="AutoShape 12"/>
          <p:cNvSpPr/>
          <p:nvPr/>
        </p:nvSpPr>
        <p:spPr>
          <a:xfrm>
            <a:off x="1524000" y="5715000"/>
            <a:ext cx="965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333333"/>
                </a:solidFill>
                <a:latin typeface="Noto Sans SC"/>
                <a:ea typeface="Noto Sans SC"/>
                <a:cs typeface="Noto Sans SC"/>
                <a:sym typeface="Noto Sans SC"/>
              </a:rPr>
              <a:t>核心要点：</a:t>
            </a:r>
            <a:r>
              <a:rPr lang="en-US" sz="1500" b="0" i="0" u="none" strike="noStrike">
                <a:solidFill>
                  <a:srgbClr val="555555"/>
                </a:solidFill>
                <a:latin typeface="Noto Sans SC"/>
                <a:ea typeface="Noto Sans SC"/>
                <a:cs typeface="Noto Sans SC"/>
                <a:sym typeface="Noto Sans SC"/>
              </a:rPr>
              <a:t>通过结构化的提示词，将复杂的写作任务拆解为清晰的步骤，确保模型输出符合专业规范和具体需求。</a:t>
            </a:r>
            <a:endParaRPr lang="en-US" sz="110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35814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案例三：信息提取</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任务目标：</a:t>
            </a:r>
            <a:r>
              <a:rPr lang="en-US" sz="1600" b="0" i="0" u="none" strike="noStrike">
                <a:solidFill>
                  <a:srgbClr val="555555"/>
                </a:solidFill>
                <a:latin typeface="Noto Sans SC"/>
                <a:ea typeface="Noto Sans SC"/>
                <a:cs typeface="Noto Sans SC"/>
                <a:sym typeface="Noto Sans SC"/>
              </a:rPr>
              <a:t>从新闻文本中提取事件、人物、时间和地点等关键信息。</a:t>
            </a:r>
            <a:endParaRPr lang="en-US" sz="1100"/>
          </a:p>
        </p:txBody>
      </p:sp>
      <p:sp>
        <p:nvSpPr>
          <p:cNvPr id="4" name="AutoShape 4"/>
          <p:cNvSpPr/>
          <p:nvPr/>
        </p:nvSpPr>
        <p:spPr>
          <a:xfrm>
            <a:off x="762000" y="1651000"/>
            <a:ext cx="51435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41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提示词设计 (Prompt Design)</a:t>
            </a:r>
            <a:endParaRPr lang="en-US" sz="1100"/>
          </a:p>
        </p:txBody>
      </p:sp>
      <p:sp>
        <p:nvSpPr>
          <p:cNvPr id="6" name="AutoShape 6"/>
          <p:cNvSpPr/>
          <p:nvPr/>
        </p:nvSpPr>
        <p:spPr>
          <a:xfrm>
            <a:off x="1016000" y="2286000"/>
            <a:ext cx="4635500" cy="2413000"/>
          </a:xfrm>
          <a:prstGeom prst="roundRect">
            <a:avLst>
              <a:gd name="adj" fmla="val 2631"/>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1143000" y="2413000"/>
            <a:ext cx="43815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333333"/>
                </a:solidFill>
                <a:latin typeface="Noto Sans SC"/>
                <a:ea typeface="Noto Sans SC"/>
                <a:cs typeface="Noto Sans SC"/>
                <a:sym typeface="Noto Sans SC"/>
              </a:rPr>
              <a:t>请从以下新闻内容中提取关键信息，包括事件、人物、时间和地点，并以JSON格式输出，对应的键分别为'event', 'person', 'time', 'location'。如果信息不存在，对应的值为'无'。</a:t>
            </a:r>
            <a:endParaRPr lang="en-US" sz="1100"/>
          </a:p>
          <a:p>
            <a:pPr indent="0" algn="l">
              <a:lnSpc>
                <a:spcPct val="108000"/>
              </a:lnSpc>
            </a:pPr>
            <a:r>
              <a:rPr lang="en-US" sz="1200" b="0" i="0" u="none" strike="noStrike">
                <a:solidFill>
                  <a:srgbClr val="333333"/>
                </a:solidFill>
                <a:latin typeface="Noto Sans SC"/>
                <a:ea typeface="Noto Sans SC"/>
                <a:cs typeface="Noto Sans SC"/>
                <a:sym typeface="Noto Sans SC"/>
              </a:rPr>
              <a:t>新闻内容：</a:t>
            </a:r>
            <a:endParaRPr lang="en-US" sz="1200" b="0" i="0" u="none" strike="noStrike">
              <a:solidFill>
                <a:srgbClr val="333333"/>
              </a:solidFill>
              <a:latin typeface="Noto Sans SC"/>
              <a:ea typeface="Noto Sans SC"/>
              <a:cs typeface="Noto Sans SC"/>
              <a:sym typeface="Noto Sans SC"/>
            </a:endParaRPr>
          </a:p>
          <a:p>
            <a:pPr indent="0" algn="l">
              <a:lnSpc>
                <a:spcPct val="108000"/>
              </a:lnSpc>
            </a:pPr>
            <a:r>
              <a:rPr lang="en-US" sz="1200" b="0" i="1" u="none" strike="noStrike">
                <a:solidFill>
                  <a:srgbClr val="646464"/>
                </a:solidFill>
                <a:latin typeface="Noto Sans SC"/>
                <a:ea typeface="Noto Sans SC"/>
                <a:cs typeface="Noto Sans SC"/>
                <a:sym typeface="Noto Sans SC"/>
              </a:rPr>
              <a:t>"""</a:t>
            </a:r>
            <a:endParaRPr lang="en-US" sz="1200" b="0" i="1" u="none" strike="noStrike">
              <a:solidFill>
                <a:srgbClr val="646464"/>
              </a:solidFill>
              <a:latin typeface="Noto Sans SC"/>
              <a:ea typeface="Noto Sans SC"/>
              <a:cs typeface="Noto Sans SC"/>
              <a:sym typeface="Noto Sans SC"/>
            </a:endParaRPr>
          </a:p>
          <a:p>
            <a:pPr indent="0" algn="l">
              <a:lnSpc>
                <a:spcPct val="108000"/>
              </a:lnSpc>
            </a:pPr>
            <a:r>
              <a:rPr lang="en-US" sz="1200" b="0" i="0" u="none" strike="noStrike">
                <a:solidFill>
                  <a:srgbClr val="333333"/>
                </a:solidFill>
                <a:latin typeface="Noto Sans SC"/>
                <a:ea typeface="Noto Sans SC"/>
                <a:cs typeface="Noto Sans SC"/>
                <a:sym typeface="Noto Sans SC"/>
              </a:rPr>
              <a:t>2024年5月15日，在北京市国家会议中心举行的“2024全球人工智能大会”上，百度公司CEO李彦宏发表了题为《大模型与产业智能化》的主题演讲。</a:t>
            </a:r>
            <a:endParaRPr lang="en-US" sz="1200" b="0" i="0" u="none" strike="noStrike">
              <a:solidFill>
                <a:srgbClr val="333333"/>
              </a:solidFill>
              <a:latin typeface="Noto Sans SC"/>
              <a:ea typeface="Noto Sans SC"/>
              <a:cs typeface="Noto Sans SC"/>
              <a:sym typeface="Noto Sans SC"/>
            </a:endParaRPr>
          </a:p>
          <a:p>
            <a:pPr indent="0" algn="l">
              <a:lnSpc>
                <a:spcPct val="108000"/>
              </a:lnSpc>
            </a:pPr>
            <a:r>
              <a:rPr lang="en-US" sz="1200" b="0" i="1" u="none" strike="noStrike">
                <a:solidFill>
                  <a:srgbClr val="646464"/>
                </a:solidFill>
                <a:latin typeface="Noto Sans SC"/>
                <a:ea typeface="Noto Sans SC"/>
                <a:cs typeface="Noto Sans SC"/>
                <a:sym typeface="Noto Sans SC"/>
              </a:rPr>
              <a:t>"""</a:t>
            </a:r>
            <a:endParaRPr lang="en-US" sz="1200" b="0" i="1" u="none" strike="noStrike">
              <a:solidFill>
                <a:srgbClr val="646464"/>
              </a:solidFill>
              <a:latin typeface="Noto Sans SC"/>
              <a:ea typeface="Noto Sans SC"/>
              <a:cs typeface="Noto Sans SC"/>
              <a:sym typeface="Noto Sans SC"/>
            </a:endParaRPr>
          </a:p>
        </p:txBody>
      </p:sp>
      <p:sp>
        <p:nvSpPr>
          <p:cNvPr id="8" name="AutoShape 8"/>
          <p:cNvSpPr/>
          <p:nvPr/>
        </p:nvSpPr>
        <p:spPr>
          <a:xfrm>
            <a:off x="6286500" y="1651000"/>
            <a:ext cx="5143500" cy="3302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9" name="AutoShape 9"/>
          <p:cNvSpPr/>
          <p:nvPr/>
        </p:nvSpPr>
        <p:spPr>
          <a:xfrm>
            <a:off x="6540500" y="1841500"/>
            <a:ext cx="46355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0288D1"/>
                </a:solidFill>
                <a:latin typeface="Noto Sans SC"/>
                <a:ea typeface="Noto Sans SC"/>
                <a:cs typeface="Noto Sans SC"/>
                <a:sym typeface="Noto Sans SC"/>
              </a:rPr>
              <a:t>代码调用 (Code Implementation)</a:t>
            </a:r>
            <a:endParaRPr lang="en-US" sz="1100"/>
          </a:p>
        </p:txBody>
      </p:sp>
      <p:sp>
        <p:nvSpPr>
          <p:cNvPr id="10" name="AutoShape 10"/>
          <p:cNvSpPr/>
          <p:nvPr/>
        </p:nvSpPr>
        <p:spPr>
          <a:xfrm>
            <a:off x="6540500" y="2286000"/>
            <a:ext cx="4635500" cy="2413000"/>
          </a:xfrm>
          <a:prstGeom prst="roundRect">
            <a:avLst>
              <a:gd name="adj" fmla="val 2631"/>
            </a:avLst>
          </a:prstGeom>
          <a:solidFill>
            <a:srgbClr val="F5F7FA">
              <a:alpha val="100000"/>
            </a:srgbClr>
          </a:solidFill>
          <a:ln w="12700" cap="flat" cmpd="sng">
            <a:solidFill>
              <a:srgbClr val="E0E0E0">
                <a:alpha val="10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6667500" y="2413000"/>
            <a:ext cx="4381500" cy="2159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200" b="0" i="0" u="none" strike="noStrike">
                <a:solidFill>
                  <a:srgbClr val="C586C0"/>
                </a:solidFill>
                <a:latin typeface="Menlo" panose="020B0609030804020204"/>
                <a:ea typeface="Menlo" panose="020B0609030804020204"/>
                <a:cs typeface="Menlo" panose="020B0609030804020204"/>
                <a:sym typeface="Menlo" panose="020B0609030804020204"/>
              </a:rPr>
              <a:t>prompt</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6E22E"/>
                </a:solidFill>
                <a:latin typeface="Menlo" panose="020B0609030804020204"/>
                <a:ea typeface="Menlo" panose="020B0609030804020204"/>
                <a:cs typeface="Menlo" panose="020B0609030804020204"/>
                <a:sym typeface="Menlo" panose="020B0609030804020204"/>
              </a:rPr>
              <a:t>"请从以下新闻内容中提取关键信息..."</a:t>
            </a:r>
            <a:endParaRPr lang="en-US" sz="1100"/>
          </a:p>
          <a:p>
            <a:pPr indent="0" algn="l">
              <a:lnSpc>
                <a:spcPct val="108000"/>
              </a:lnSpc>
            </a:pPr>
            <a:r>
              <a:rPr lang="en-US" sz="1200" b="0" i="0" u="none" strike="noStrike">
                <a:solidFill>
                  <a:srgbClr val="C586C0"/>
                </a:solidFill>
                <a:latin typeface="Menlo" panose="020B0609030804020204"/>
                <a:ea typeface="Menlo" panose="020B0609030804020204"/>
                <a:cs typeface="Menlo" panose="020B0609030804020204"/>
                <a:sym typeface="Menlo" panose="020B0609030804020204"/>
              </a:rPr>
              <a:t>messages</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a:t>
            </a:r>
            <a:r>
              <a:rPr lang="en-US" sz="1200" b="0" i="0" u="none" strike="noStrike">
                <a:solidFill>
                  <a:srgbClr val="A6E22E"/>
                </a:solidFill>
                <a:latin typeface="Menlo" panose="020B0609030804020204"/>
                <a:ea typeface="Menlo" panose="020B0609030804020204"/>
                <a:cs typeface="Menlo" panose="020B0609030804020204"/>
                <a:sym typeface="Menlo" panose="020B0609030804020204"/>
              </a:rPr>
              <a:t>"role"</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6E22E"/>
                </a:solidFill>
                <a:latin typeface="Menlo" panose="020B0609030804020204"/>
                <a:ea typeface="Menlo" panose="020B0609030804020204"/>
                <a:cs typeface="Menlo" panose="020B0609030804020204"/>
                <a:sym typeface="Menlo" panose="020B0609030804020204"/>
              </a:rPr>
              <a:t>"user"</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200" b="0" i="0" u="none" strike="noStrike">
                <a:solidFill>
                  <a:srgbClr val="A6E22E"/>
                </a:solidFill>
                <a:latin typeface="Menlo" panose="020B0609030804020204"/>
                <a:ea typeface="Menlo" panose="020B0609030804020204"/>
                <a:cs typeface="Menlo" panose="020B0609030804020204"/>
                <a:sym typeface="Menlo" panose="020B0609030804020204"/>
              </a:rPr>
              <a:t>"content"</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prompt}]</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200" b="0" i="0" u="none" strike="noStrike">
                <a:solidFill>
                  <a:srgbClr val="C586C0"/>
                </a:solidFill>
                <a:latin typeface="Menlo" panose="020B0609030804020204"/>
                <a:ea typeface="Menlo" panose="020B0609030804020204"/>
                <a:cs typeface="Menlo" panose="020B0609030804020204"/>
                <a:sym typeface="Menlo" panose="020B0609030804020204"/>
              </a:rPr>
              <a:t>response</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 send_message(messages)</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200" b="0" i="0" u="none" strike="noStrike">
                <a:solidFill>
                  <a:srgbClr val="C586C0"/>
                </a:solidFill>
                <a:latin typeface="Menlo" panose="020B0609030804020204"/>
                <a:ea typeface="Menlo" panose="020B0609030804020204"/>
                <a:cs typeface="Menlo" panose="020B0609030804020204"/>
                <a:sym typeface="Menlo" panose="020B0609030804020204"/>
              </a:rPr>
              <a:t>print</a:t>
            </a:r>
            <a:r>
              <a:rPr lang="en-US" sz="1200" b="0" i="0" u="none" strike="noStrike">
                <a:solidFill>
                  <a:srgbClr val="333333"/>
                </a:solidFill>
                <a:latin typeface="Menlo" panose="020B0609030804020204"/>
                <a:ea typeface="Menlo" panose="020B0609030804020204"/>
                <a:cs typeface="Menlo" panose="020B0609030804020204"/>
                <a:sym typeface="Menlo" panose="020B0609030804020204"/>
              </a:rPr>
              <a:t>(response)</a:t>
            </a:r>
            <a:endParaRPr lang="en-US" sz="1200" b="0" i="0" u="none" strike="noStrike">
              <a:solidFill>
                <a:srgbClr val="333333"/>
              </a:solidFill>
              <a:latin typeface="Menlo" panose="020B0609030804020204"/>
              <a:ea typeface="Menlo" panose="020B0609030804020204"/>
              <a:cs typeface="Menlo" panose="020B0609030804020204"/>
              <a:sym typeface="Menlo" panose="020B0609030804020204"/>
            </a:endParaRPr>
          </a:p>
          <a:p>
            <a:pPr indent="0" algn="l">
              <a:lnSpc>
                <a:spcPct val="108000"/>
              </a:lnSpc>
            </a:pPr>
            <a:r>
              <a:rPr lang="en-US" sz="1200" b="0" i="0" u="none" strike="noStrike">
                <a:solidFill>
                  <a:srgbClr val="6A9955"/>
                </a:solidFill>
                <a:latin typeface="Menlo" panose="020B0609030804020204"/>
                <a:ea typeface="Menlo" panose="020B0609030804020204"/>
                <a:cs typeface="Menlo" panose="020B0609030804020204"/>
                <a:sym typeface="Menlo" panose="020B0609030804020204"/>
              </a:rPr>
              <a:t># 预期输出: {"event": "2024全球人工智能大会", ...}</a:t>
            </a:r>
            <a:endParaRPr lang="en-US" sz="1200" b="0" i="0" u="none" strike="noStrike">
              <a:solidFill>
                <a:srgbClr val="6A9955"/>
              </a:solidFill>
              <a:latin typeface="Menlo" panose="020B0609030804020204"/>
              <a:ea typeface="Menlo" panose="020B0609030804020204"/>
              <a:cs typeface="Menlo" panose="020B0609030804020204"/>
              <a:sym typeface="Menlo" panose="020B0609030804020204"/>
            </a:endParaRPr>
          </a:p>
        </p:txBody>
      </p:sp>
      <p:sp>
        <p:nvSpPr>
          <p:cNvPr id="12" name="AutoShape 12"/>
          <p:cNvSpPr/>
          <p:nvPr/>
        </p:nvSpPr>
        <p:spPr>
          <a:xfrm>
            <a:off x="762000" y="5207000"/>
            <a:ext cx="10668000" cy="1143000"/>
          </a:xfrm>
          <a:prstGeom prst="roundRect">
            <a:avLst>
              <a:gd name="adj" fmla="val 11111"/>
            </a:avLst>
          </a:prstGeom>
          <a:solidFill>
            <a:srgbClr val="FFFFFF">
              <a:alpha val="100000"/>
            </a:srgbClr>
          </a:solidFill>
          <a:ln w="25400" cap="flat" cmpd="sng">
            <a:solidFill>
              <a:srgbClr val="0288D1">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016000" y="5524500"/>
            <a:ext cx="508000" cy="508000"/>
          </a:xfrm>
          <a:prstGeom prst="rect">
            <a:avLst/>
          </a:prstGeom>
        </p:spPr>
      </p:pic>
      <p:sp>
        <p:nvSpPr>
          <p:cNvPr id="14" name="AutoShape 14"/>
          <p:cNvSpPr/>
          <p:nvPr/>
        </p:nvSpPr>
        <p:spPr>
          <a:xfrm>
            <a:off x="1651000" y="5334000"/>
            <a:ext cx="1270000" cy="304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提取结果</a:t>
            </a:r>
            <a:endParaRPr lang="en-US" sz="1100"/>
          </a:p>
        </p:txBody>
      </p:sp>
      <p:sp>
        <p:nvSpPr>
          <p:cNvPr id="15" name="AutoShape 15"/>
          <p:cNvSpPr/>
          <p:nvPr/>
        </p:nvSpPr>
        <p:spPr>
          <a:xfrm>
            <a:off x="1651000" y="5715000"/>
            <a:ext cx="9525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C586C0"/>
                </a:solidFill>
                <a:latin typeface="Menlo" panose="020B0609030804020204"/>
                <a:ea typeface="Menlo" panose="020B0609030804020204"/>
                <a:cs typeface="Menlo" panose="020B0609030804020204"/>
                <a:sym typeface="Menlo" panose="020B0609030804020204"/>
              </a:rPr>
              <a:t>"event"</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6E22E"/>
                </a:solidFill>
                <a:latin typeface="Menlo" panose="020B0609030804020204"/>
                <a:ea typeface="Menlo" panose="020B0609030804020204"/>
                <a:cs typeface="Menlo" panose="020B0609030804020204"/>
                <a:sym typeface="Menlo" panose="020B0609030804020204"/>
              </a:rPr>
              <a:t>"2024全球人工智能大会"</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C586C0"/>
                </a:solidFill>
                <a:latin typeface="Menlo" panose="020B0609030804020204"/>
                <a:ea typeface="Menlo" panose="020B0609030804020204"/>
                <a:cs typeface="Menlo" panose="020B0609030804020204"/>
                <a:sym typeface="Menlo" panose="020B0609030804020204"/>
              </a:rPr>
              <a:t>"person"</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6E22E"/>
                </a:solidFill>
                <a:latin typeface="Menlo" panose="020B0609030804020204"/>
                <a:ea typeface="Menlo" panose="020B0609030804020204"/>
                <a:cs typeface="Menlo" panose="020B0609030804020204"/>
                <a:sym typeface="Menlo" panose="020B0609030804020204"/>
              </a:rPr>
              <a:t>"李彦宏"</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C586C0"/>
                </a:solidFill>
                <a:latin typeface="Menlo" panose="020B0609030804020204"/>
                <a:ea typeface="Menlo" panose="020B0609030804020204"/>
                <a:cs typeface="Menlo" panose="020B0609030804020204"/>
                <a:sym typeface="Menlo" panose="020B0609030804020204"/>
              </a:rPr>
              <a:t>"time"</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6E22E"/>
                </a:solidFill>
                <a:latin typeface="Menlo" panose="020B0609030804020204"/>
                <a:ea typeface="Menlo" panose="020B0609030804020204"/>
                <a:cs typeface="Menlo" panose="020B0609030804020204"/>
                <a:sym typeface="Menlo" panose="020B0609030804020204"/>
              </a:rPr>
              <a:t>"2024年5月15日"</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C586C0"/>
                </a:solidFill>
                <a:latin typeface="Menlo" panose="020B0609030804020204"/>
                <a:ea typeface="Menlo" panose="020B0609030804020204"/>
                <a:cs typeface="Menlo" panose="020B0609030804020204"/>
                <a:sym typeface="Menlo" panose="020B0609030804020204"/>
              </a:rPr>
              <a:t>"location"</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r>
              <a:rPr lang="en-US" sz="1400" b="0" i="0" u="none" strike="noStrike">
                <a:solidFill>
                  <a:srgbClr val="A6E22E"/>
                </a:solidFill>
                <a:latin typeface="Menlo" panose="020B0609030804020204"/>
                <a:ea typeface="Menlo" panose="020B0609030804020204"/>
                <a:cs typeface="Menlo" panose="020B0609030804020204"/>
                <a:sym typeface="Menlo" panose="020B0609030804020204"/>
              </a:rPr>
              <a:t>"北京市国家会议中心"</a:t>
            </a:r>
            <a:r>
              <a:rPr lang="en-US" sz="1400" b="0" i="0" u="none" strike="noStrike">
                <a:solidFill>
                  <a:srgbClr val="333333"/>
                </a:solidFill>
                <a:latin typeface="Menlo" panose="020B0609030804020204"/>
                <a:ea typeface="Menlo" panose="020B0609030804020204"/>
                <a:cs typeface="Menlo" panose="020B0609030804020204"/>
                <a:sym typeface="Menlo" panose="020B0609030804020204"/>
              </a:rPr>
              <a:t>}</a:t>
            </a:r>
            <a:endParaRPr lang="en-US" sz="110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58166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案例四：机器翻译 (中译英)</a:t>
            </a:r>
            <a:endParaRPr lang="en-US" sz="1100"/>
          </a:p>
        </p:txBody>
      </p:sp>
      <p:sp>
        <p:nvSpPr>
          <p:cNvPr id="3" name="AutoShape 3"/>
          <p:cNvSpPr/>
          <p:nvPr/>
        </p:nvSpPr>
        <p:spPr>
          <a:xfrm>
            <a:off x="762000" y="1143000"/>
            <a:ext cx="10668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0288D1"/>
                </a:solidFill>
                <a:latin typeface="Noto Sans SC"/>
                <a:ea typeface="Noto Sans SC"/>
                <a:cs typeface="Noto Sans SC"/>
                <a:sym typeface="Noto Sans SC"/>
              </a:rPr>
              <a:t>任务描述：</a:t>
            </a:r>
            <a:r>
              <a:rPr lang="en-US" sz="1600" b="0" i="0" u="none" strike="noStrike">
                <a:solidFill>
                  <a:srgbClr val="555555"/>
                </a:solidFill>
                <a:latin typeface="Noto Sans SC"/>
                <a:ea typeface="Noto Sans SC"/>
                <a:cs typeface="Noto Sans SC"/>
                <a:sym typeface="Noto Sans SC"/>
              </a:rPr>
              <a:t>将一段中文技术文档翻译成英文，要求翻译准确、专业。</a:t>
            </a:r>
            <a:endParaRPr lang="en-US" sz="1100"/>
          </a:p>
        </p:txBody>
      </p:sp>
      <p:sp>
        <p:nvSpPr>
          <p:cNvPr id="4" name="AutoShape 4"/>
          <p:cNvSpPr/>
          <p:nvPr/>
        </p:nvSpPr>
        <p:spPr>
          <a:xfrm>
            <a:off x="762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5" name="AutoShape 5"/>
          <p:cNvSpPr/>
          <p:nvPr/>
        </p:nvSpPr>
        <p:spPr>
          <a:xfrm>
            <a:off x="762000" y="1651000"/>
            <a:ext cx="5080000" cy="508000"/>
          </a:xfrm>
          <a:prstGeom prst="roundRect">
            <a:avLst>
              <a:gd name="adj" fmla="val 2500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889000" y="1752600"/>
            <a:ext cx="304800" cy="304800"/>
          </a:xfrm>
          <a:prstGeom prst="rect">
            <a:avLst/>
          </a:prstGeom>
        </p:spPr>
      </p:pic>
      <p:sp>
        <p:nvSpPr>
          <p:cNvPr id="7" name="AutoShape 7"/>
          <p:cNvSpPr/>
          <p:nvPr/>
        </p:nvSpPr>
        <p:spPr>
          <a:xfrm>
            <a:off x="12700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提示词设计 (Prompt Design)</a:t>
            </a:r>
            <a:endParaRPr lang="en-US" sz="1100"/>
          </a:p>
        </p:txBody>
      </p:sp>
      <p:sp>
        <p:nvSpPr>
          <p:cNvPr id="8" name="AutoShape 8"/>
          <p:cNvSpPr/>
          <p:nvPr/>
        </p:nvSpPr>
        <p:spPr>
          <a:xfrm>
            <a:off x="952500" y="2286000"/>
            <a:ext cx="4699000" cy="2794000"/>
          </a:xfrm>
          <a:prstGeom prst="rect">
            <a:avLst/>
          </a:prstGeom>
          <a:noFill/>
          <a:ln w="12700" cap="flat" cmpd="sng">
            <a:noFill/>
            <a:prstDash val="solid"/>
            <a:round/>
          </a:ln>
        </p:spPr>
        <p:txBody>
          <a:bodyPr vert="horz" wrap="square" lIns="0" tIns="0" rIns="0" bIns="0" rtlCol="0" anchor="t" anchorCtr="0"/>
          <a:lstStyle/>
          <a:p>
            <a:pPr indent="0" algn="l">
              <a:lnSpc>
                <a:spcPct val="108000"/>
              </a:lnSpc>
              <a:defRPr/>
            </a:pPr>
            <a:r>
              <a:rPr lang="en-US" sz="1300" b="1" i="0" u="none" strike="noStrike">
                <a:solidFill>
                  <a:srgbClr val="333333"/>
                </a:solidFill>
                <a:latin typeface="Noto Sans SC"/>
                <a:ea typeface="Noto Sans SC"/>
                <a:cs typeface="Noto Sans SC"/>
                <a:sym typeface="Noto Sans SC"/>
              </a:rPr>
              <a:t>角色赋予：</a:t>
            </a:r>
            <a:r>
              <a:rPr lang="en-US" sz="1300" b="0" i="0" u="none" strike="noStrike">
                <a:solidFill>
                  <a:srgbClr val="555555"/>
                </a:solidFill>
                <a:latin typeface="Noto Sans SC"/>
                <a:ea typeface="Noto Sans SC"/>
                <a:cs typeface="Noto Sans SC"/>
                <a:sym typeface="Noto Sans SC"/>
              </a:rPr>
              <a:t>资深技术文档翻译专家，擅长将中文计算机技术文档准确、专业地翻译成英文。</a:t>
            </a:r>
            <a:endParaRPr lang="en-US" sz="1100"/>
          </a:p>
          <a:p>
            <a:pPr indent="0" algn="l">
              <a:lnSpc>
                <a:spcPct val="108000"/>
              </a:lnSpc>
            </a:pPr>
            <a:r>
              <a:rPr lang="en-US" sz="1300" b="1" i="0" u="none" strike="noStrike">
                <a:solidFill>
                  <a:srgbClr val="333333"/>
                </a:solidFill>
                <a:latin typeface="Noto Sans SC"/>
                <a:ea typeface="Noto Sans SC"/>
                <a:cs typeface="Noto Sans SC"/>
                <a:sym typeface="Noto Sans SC"/>
              </a:rPr>
              <a:t>指令内容：</a:t>
            </a:r>
            <a:r>
              <a:rPr lang="en-US" sz="1300" b="0" i="0" u="none" strike="noStrike">
                <a:solidFill>
                  <a:srgbClr val="555555"/>
                </a:solidFill>
                <a:latin typeface="Noto Sans SC"/>
                <a:ea typeface="Noto Sans SC"/>
                <a:cs typeface="Noto Sans SC"/>
                <a:sym typeface="Noto Sans SC"/>
              </a:rPr>
              <a:t>请翻译以下文本内容：</a:t>
            </a:r>
            <a:endParaRPr lang="en-US" sz="1300" b="0" i="0" u="none" strike="noStrike">
              <a:solidFill>
                <a:srgbClr val="555555"/>
              </a:solidFill>
              <a:latin typeface="Noto Sans SC"/>
              <a:ea typeface="Noto Sans SC"/>
              <a:cs typeface="Noto Sans SC"/>
              <a:sym typeface="Noto Sans SC"/>
            </a:endParaRPr>
          </a:p>
          <a:p>
            <a:pPr indent="0" algn="l">
              <a:lnSpc>
                <a:spcPct val="108000"/>
              </a:lnSpc>
            </a:pPr>
            <a:r>
              <a:rPr lang="en-US" sz="1300" b="1" i="0" u="none" strike="noStrike">
                <a:solidFill>
                  <a:srgbClr val="0288D1"/>
                </a:solidFill>
                <a:latin typeface="Noto Sans SC"/>
                <a:ea typeface="Noto Sans SC"/>
                <a:cs typeface="Noto Sans SC"/>
                <a:sym typeface="Noto Sans SC"/>
              </a:rPr>
              <a:t>"""</a:t>
            </a:r>
            <a:endParaRPr lang="en-US" sz="1300" b="1" i="0" u="none" strike="noStrike">
              <a:solidFill>
                <a:srgbClr val="0288D1"/>
              </a:solidFill>
              <a:latin typeface="Noto Sans SC"/>
              <a:ea typeface="Noto Sans SC"/>
              <a:cs typeface="Noto Sans SC"/>
              <a:sym typeface="Noto Sans SC"/>
            </a:endParaRPr>
          </a:p>
          <a:p>
            <a:pPr indent="0" algn="l">
              <a:lnSpc>
                <a:spcPct val="108000"/>
              </a:lnSpc>
            </a:pPr>
            <a:r>
              <a:rPr lang="en-US" sz="1200" b="0" i="1" u="none" strike="noStrike">
                <a:solidFill>
                  <a:srgbClr val="646464"/>
                </a:solidFill>
                <a:latin typeface="Noto Sans SC"/>
                <a:ea typeface="Noto Sans SC"/>
                <a:cs typeface="Noto Sans SC"/>
                <a:sym typeface="Noto Sans SC"/>
              </a:rPr>
              <a:t>提示词工程是一种通过设计和使用特定的提示词来指导大型语言模型生成符合预期要求的文本输出的方法。其核心思想是通过引导模型的输入来控制输出，使其更符合用户的需求，从而提高模型的效率和可靠性。</a:t>
            </a:r>
            <a:endParaRPr lang="en-US" sz="1200" b="0" i="1" u="none" strike="noStrike">
              <a:solidFill>
                <a:srgbClr val="646464"/>
              </a:solidFill>
              <a:latin typeface="Noto Sans SC"/>
              <a:ea typeface="Noto Sans SC"/>
              <a:cs typeface="Noto Sans SC"/>
              <a:sym typeface="Noto Sans SC"/>
            </a:endParaRPr>
          </a:p>
          <a:p>
            <a:pPr indent="0" algn="l">
              <a:lnSpc>
                <a:spcPct val="108000"/>
              </a:lnSpc>
            </a:pPr>
            <a:r>
              <a:rPr lang="en-US" sz="1300" b="1" i="0" u="none" strike="noStrike">
                <a:solidFill>
                  <a:srgbClr val="0288D1"/>
                </a:solidFill>
                <a:latin typeface="Noto Sans SC"/>
                <a:ea typeface="Noto Sans SC"/>
                <a:cs typeface="Noto Sans SC"/>
                <a:sym typeface="Noto Sans SC"/>
              </a:rPr>
              <a:t>"""</a:t>
            </a:r>
            <a:endParaRPr lang="en-US" sz="1300" b="1" i="0" u="none" strike="noStrike">
              <a:solidFill>
                <a:srgbClr val="0288D1"/>
              </a:solidFill>
              <a:latin typeface="Noto Sans SC"/>
              <a:ea typeface="Noto Sans SC"/>
              <a:cs typeface="Noto Sans SC"/>
              <a:sym typeface="Noto Sans SC"/>
            </a:endParaRPr>
          </a:p>
        </p:txBody>
      </p:sp>
      <p:sp>
        <p:nvSpPr>
          <p:cNvPr id="9" name="AutoShape 9"/>
          <p:cNvSpPr/>
          <p:nvPr/>
        </p:nvSpPr>
        <p:spPr>
          <a:xfrm>
            <a:off x="6350000" y="1651000"/>
            <a:ext cx="5080000" cy="3556000"/>
          </a:xfrm>
          <a:prstGeom prst="roundRect">
            <a:avLst>
              <a:gd name="adj" fmla="val 3571"/>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sp>
        <p:nvSpPr>
          <p:cNvPr id="10" name="AutoShape 10"/>
          <p:cNvSpPr/>
          <p:nvPr/>
        </p:nvSpPr>
        <p:spPr>
          <a:xfrm>
            <a:off x="6350000" y="1651000"/>
            <a:ext cx="5080000" cy="508000"/>
          </a:xfrm>
          <a:prstGeom prst="roundRect">
            <a:avLst>
              <a:gd name="adj" fmla="val 25000"/>
            </a:avLst>
          </a:prstGeom>
          <a:solidFill>
            <a:srgbClr val="333333">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1752600"/>
            <a:ext cx="304800" cy="304800"/>
          </a:xfrm>
          <a:prstGeom prst="rect">
            <a:avLst/>
          </a:prstGeom>
        </p:spPr>
      </p:pic>
      <p:sp>
        <p:nvSpPr>
          <p:cNvPr id="12" name="AutoShape 12"/>
          <p:cNvSpPr/>
          <p:nvPr/>
        </p:nvSpPr>
        <p:spPr>
          <a:xfrm>
            <a:off x="6858000" y="1651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a:ea typeface="Noto Sans SC"/>
                <a:cs typeface="Noto Sans SC"/>
                <a:sym typeface="Noto Sans SC"/>
              </a:rPr>
              <a:t>代码调用 (Python)</a:t>
            </a:r>
            <a:endParaRPr lang="en-US" sz="1100"/>
          </a:p>
        </p:txBody>
      </p:sp>
      <p:sp>
        <p:nvSpPr>
          <p:cNvPr id="13" name="AutoShape 13"/>
          <p:cNvSpPr/>
          <p:nvPr/>
        </p:nvSpPr>
        <p:spPr>
          <a:xfrm>
            <a:off x="6540500" y="2286000"/>
            <a:ext cx="4699000" cy="2794000"/>
          </a:xfrm>
          <a:prstGeom prst="rect">
            <a:avLst/>
          </a:prstGeom>
          <a:noFill/>
          <a:ln w="12700" cap="flat" cmpd="sng">
            <a:noFill/>
            <a:prstDash val="solid"/>
            <a:round/>
          </a:ln>
        </p:spPr>
        <p:txBody>
          <a:bodyPr vert="horz" wrap="square" lIns="0" tIns="0" rIns="0" bIns="0" rtlCol="0" anchor="t" anchorCtr="0"/>
          <a:lstStyle/>
          <a:p>
            <a:pPr indent="0" algn="l">
              <a:lnSpc>
                <a:spcPct val="117000"/>
              </a:lnSpc>
              <a:defRPr/>
            </a:pPr>
            <a:r>
              <a:rPr lang="en-US" sz="1300" b="1" i="0" u="none" strike="noStrike">
                <a:solidFill>
                  <a:srgbClr val="C0392B"/>
                </a:solidFill>
                <a:latin typeface="Roboto Mono"/>
                <a:ea typeface="Roboto Mono"/>
                <a:cs typeface="Roboto Mono"/>
                <a:sym typeface="Roboto Mono"/>
              </a:rPr>
              <a:t>prompt</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2ECC71"/>
                </a:solidFill>
                <a:latin typeface="Roboto Mono"/>
                <a:ea typeface="Roboto Mono"/>
                <a:cs typeface="Roboto Mono"/>
                <a:sym typeface="Roboto Mono"/>
              </a:rPr>
              <a:t>"你是一位资深的技术文档翻译专家...（上述提示词）"</a:t>
            </a:r>
            <a:endParaRPr lang="en-US" sz="1100"/>
          </a:p>
          <a:p>
            <a:pPr indent="0" algn="l">
              <a:lnSpc>
                <a:spcPct val="117000"/>
              </a:lnSpc>
            </a:pPr>
            <a:r>
              <a:rPr lang="en-US" sz="1300" b="1" i="0" u="none" strike="noStrike">
                <a:solidFill>
                  <a:srgbClr val="C0392B"/>
                </a:solidFill>
                <a:latin typeface="Roboto Mono"/>
                <a:ea typeface="Roboto Mono"/>
                <a:cs typeface="Roboto Mono"/>
                <a:sym typeface="Roboto Mono"/>
              </a:rPr>
              <a:t>messages</a:t>
            </a:r>
            <a:r>
              <a:rPr lang="en-US" sz="1300" b="0" i="0" u="none" strike="noStrike">
                <a:solidFill>
                  <a:srgbClr val="333333"/>
                </a:solidFill>
                <a:latin typeface="Roboto Mono"/>
                <a:ea typeface="Roboto Mono"/>
                <a:cs typeface="Roboto Mono"/>
                <a:sym typeface="Roboto Mono"/>
              </a:rPr>
              <a:t>= [{</a:t>
            </a:r>
            <a:r>
              <a:rPr lang="en-US" sz="1300" b="0" i="0" u="none" strike="noStrike">
                <a:solidFill>
                  <a:srgbClr val="2ECC71"/>
                </a:solidFill>
                <a:latin typeface="Roboto Mono"/>
                <a:ea typeface="Roboto Mono"/>
                <a:cs typeface="Roboto Mono"/>
                <a:sym typeface="Roboto Mono"/>
              </a:rPr>
              <a:t>"role"</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2ECC71"/>
                </a:solidFill>
                <a:latin typeface="Roboto Mono"/>
                <a:ea typeface="Roboto Mono"/>
                <a:cs typeface="Roboto Mono"/>
                <a:sym typeface="Roboto Mono"/>
              </a:rPr>
              <a:t>"user"</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2ECC71"/>
                </a:solidFill>
                <a:latin typeface="Roboto Mono"/>
                <a:ea typeface="Roboto Mono"/>
                <a:cs typeface="Roboto Mono"/>
                <a:sym typeface="Roboto Mono"/>
              </a:rPr>
              <a:t>"content"</a:t>
            </a:r>
            <a:r>
              <a:rPr lang="en-US" sz="1300" b="0" i="0" u="none" strike="noStrike">
                <a:solidFill>
                  <a:srgbClr val="333333"/>
                </a:solidFill>
                <a:latin typeface="Roboto Mono"/>
                <a:ea typeface="Roboto Mono"/>
                <a:cs typeface="Roboto Mono"/>
                <a:sym typeface="Roboto Mono"/>
              </a:rPr>
              <a:t>: prompt}]</a:t>
            </a:r>
            <a:endParaRPr lang="en-US" sz="1300" b="0" i="0" u="none" strike="noStrike">
              <a:solidFill>
                <a:srgbClr val="333333"/>
              </a:solidFill>
              <a:latin typeface="Roboto Mono"/>
              <a:ea typeface="Roboto Mono"/>
              <a:cs typeface="Roboto Mono"/>
              <a:sym typeface="Roboto Mono"/>
            </a:endParaRPr>
          </a:p>
          <a:p>
            <a:pPr indent="0" algn="l">
              <a:lnSpc>
                <a:spcPct val="117000"/>
              </a:lnSpc>
            </a:pPr>
            <a:r>
              <a:rPr lang="en-US" sz="1300" b="1" i="0" u="none" strike="noStrike">
                <a:solidFill>
                  <a:srgbClr val="C0392B"/>
                </a:solidFill>
                <a:latin typeface="Roboto Mono"/>
                <a:ea typeface="Roboto Mono"/>
                <a:cs typeface="Roboto Mono"/>
                <a:sym typeface="Roboto Mono"/>
              </a:rPr>
              <a:t>response</a:t>
            </a:r>
            <a:r>
              <a:rPr lang="en-US" sz="1300" b="0" i="0" u="none" strike="noStrike">
                <a:solidFill>
                  <a:srgbClr val="333333"/>
                </a:solidFill>
                <a:latin typeface="Roboto Mono"/>
                <a:ea typeface="Roboto Mono"/>
                <a:cs typeface="Roboto Mono"/>
                <a:sym typeface="Roboto Mono"/>
              </a:rPr>
              <a:t>=</a:t>
            </a:r>
            <a:r>
              <a:rPr lang="en-US" sz="1300" b="0" i="0" u="none" strike="noStrike">
                <a:solidFill>
                  <a:srgbClr val="2980B9"/>
                </a:solidFill>
                <a:latin typeface="Roboto Mono"/>
                <a:ea typeface="Roboto Mono"/>
                <a:cs typeface="Roboto Mono"/>
                <a:sym typeface="Roboto Mono"/>
              </a:rPr>
              <a:t>send_message</a:t>
            </a:r>
            <a:r>
              <a:rPr lang="en-US" sz="1300" b="0" i="0" u="none" strike="noStrike">
                <a:solidFill>
                  <a:srgbClr val="333333"/>
                </a:solidFill>
                <a:latin typeface="Roboto Mono"/>
                <a:ea typeface="Roboto Mono"/>
                <a:cs typeface="Roboto Mono"/>
                <a:sym typeface="Roboto Mono"/>
              </a:rPr>
              <a:t>(messages)</a:t>
            </a:r>
            <a:endParaRPr lang="en-US" sz="1300" b="0" i="0" u="none" strike="noStrike">
              <a:solidFill>
                <a:srgbClr val="333333"/>
              </a:solidFill>
              <a:latin typeface="Roboto Mono"/>
              <a:ea typeface="Roboto Mono"/>
              <a:cs typeface="Roboto Mono"/>
              <a:sym typeface="Roboto Mono"/>
            </a:endParaRPr>
          </a:p>
          <a:p>
            <a:pPr indent="0" algn="l">
              <a:lnSpc>
                <a:spcPct val="117000"/>
              </a:lnSpc>
            </a:pPr>
            <a:r>
              <a:rPr lang="en-US" sz="1300" b="0" i="0" u="none" strike="noStrike">
                <a:solidFill>
                  <a:srgbClr val="2980B9"/>
                </a:solidFill>
                <a:latin typeface="Roboto Mono"/>
                <a:ea typeface="Roboto Mono"/>
                <a:cs typeface="Roboto Mono"/>
                <a:sym typeface="Roboto Mono"/>
              </a:rPr>
              <a:t>print</a:t>
            </a:r>
            <a:r>
              <a:rPr lang="en-US" sz="1300" b="0" i="0" u="none" strike="noStrike">
                <a:solidFill>
                  <a:srgbClr val="333333"/>
                </a:solidFill>
                <a:latin typeface="Roboto Mono"/>
                <a:ea typeface="Roboto Mono"/>
                <a:cs typeface="Roboto Mono"/>
                <a:sym typeface="Roboto Mono"/>
              </a:rPr>
              <a:t>(response)</a:t>
            </a:r>
            <a:endParaRPr lang="en-US" sz="1300" b="0" i="0" u="none" strike="noStrike">
              <a:solidFill>
                <a:srgbClr val="333333"/>
              </a:solidFill>
              <a:latin typeface="Roboto Mono"/>
              <a:ea typeface="Roboto Mono"/>
              <a:cs typeface="Roboto Mono"/>
              <a:sym typeface="Roboto Mono"/>
            </a:endParaRPr>
          </a:p>
          <a:p>
            <a:pPr indent="0" algn="l">
              <a:lnSpc>
                <a:spcPct val="117000"/>
              </a:lnSpc>
            </a:pPr>
            <a:r>
              <a:rPr lang="en-US" sz="1200" b="0" i="0" u="none" strike="noStrike">
                <a:solidFill>
                  <a:srgbClr val="95A5A6"/>
                </a:solidFill>
                <a:latin typeface="Roboto Mono"/>
                <a:ea typeface="Roboto Mono"/>
                <a:cs typeface="Roboto Mono"/>
                <a:sym typeface="Roboto Mono"/>
              </a:rPr>
              <a:t># 预期输出：对应的英文翻译结果</a:t>
            </a:r>
            <a:endParaRPr lang="en-US" sz="1200" b="0" i="0" u="none" strike="noStrike">
              <a:solidFill>
                <a:srgbClr val="95A5A6"/>
              </a:solidFill>
              <a:latin typeface="Roboto Mono"/>
              <a:ea typeface="Roboto Mono"/>
              <a:cs typeface="Roboto Mono"/>
              <a:sym typeface="Roboto Mono"/>
            </a:endParaRPr>
          </a:p>
        </p:txBody>
      </p:sp>
      <p:sp>
        <p:nvSpPr>
          <p:cNvPr id="14" name="AutoShape 14"/>
          <p:cNvSpPr/>
          <p:nvPr/>
        </p:nvSpPr>
        <p:spPr>
          <a:xfrm>
            <a:off x="762000" y="5461000"/>
            <a:ext cx="10668000" cy="762000"/>
          </a:xfrm>
          <a:prstGeom prst="roundRect">
            <a:avLst>
              <a:gd name="adj" fmla="val 16666"/>
            </a:avLst>
          </a:prstGeom>
          <a:solidFill>
            <a:srgbClr val="0288D1">
              <a:alpha val="10000"/>
            </a:srgbClr>
          </a:solidFill>
          <a:ln w="12700" cap="flat" cmpd="sng">
            <a:solidFill>
              <a:srgbClr val="0288D1">
                <a:alpha val="100000"/>
              </a:srgbClr>
            </a:solidFill>
            <a:prstDash val="dash"/>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52500" y="5689600"/>
            <a:ext cx="304800" cy="304800"/>
          </a:xfrm>
          <a:prstGeom prst="rect">
            <a:avLst/>
          </a:prstGeom>
        </p:spPr>
      </p:pic>
      <p:sp>
        <p:nvSpPr>
          <p:cNvPr id="16" name="AutoShape 16"/>
          <p:cNvSpPr/>
          <p:nvPr/>
        </p:nvSpPr>
        <p:spPr>
          <a:xfrm>
            <a:off x="1397000" y="5461000"/>
            <a:ext cx="9906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333333"/>
                </a:solidFill>
                <a:latin typeface="Noto Sans SC"/>
                <a:ea typeface="Noto Sans SC"/>
                <a:cs typeface="Noto Sans SC"/>
                <a:sym typeface="Noto Sans SC"/>
              </a:rPr>
              <a:t>关键技巧总结：</a:t>
            </a:r>
            <a:r>
              <a:rPr lang="en-US" sz="1400" b="0" i="0" u="none" strike="noStrike">
                <a:solidFill>
                  <a:srgbClr val="555555"/>
                </a:solidFill>
                <a:latin typeface="Noto Sans SC"/>
                <a:ea typeface="Noto Sans SC"/>
                <a:cs typeface="Noto Sans SC"/>
                <a:sym typeface="Noto Sans SC"/>
              </a:rPr>
              <a:t>通过赋予模型“专家”角色，并使用三引号作为分隔符框定待翻译文本，能够有效提升翻译的准确性和专业性，避免模型产生幻觉。</a:t>
            </a:r>
            <a:endParaRPr lang="en-US" sz="110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7780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本章总结</a:t>
            </a:r>
            <a:endParaRPr lang="en-US" sz="1100"/>
          </a:p>
        </p:txBody>
      </p:sp>
      <p:sp>
        <p:nvSpPr>
          <p:cNvPr id="3" name="AutoShape 3"/>
          <p:cNvSpPr/>
          <p:nvPr/>
        </p:nvSpPr>
        <p:spPr>
          <a:xfrm>
            <a:off x="762000" y="10795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2095500" y="1778000"/>
            <a:ext cx="635000" cy="635000"/>
          </a:xfrm>
          <a:prstGeom prst="rect">
            <a:avLst/>
          </a:prstGeom>
        </p:spPr>
      </p:pic>
      <p:sp>
        <p:nvSpPr>
          <p:cNvPr id="6" name="AutoShape 6"/>
          <p:cNvSpPr/>
          <p:nvPr/>
        </p:nvSpPr>
        <p:spPr>
          <a:xfrm>
            <a:off x="889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核心概念</a:t>
            </a:r>
            <a:endParaRPr lang="en-US" sz="1100"/>
          </a:p>
        </p:txBody>
      </p:sp>
      <p:sp>
        <p:nvSpPr>
          <p:cNvPr id="7" name="AutoShape 7"/>
          <p:cNvSpPr/>
          <p:nvPr/>
        </p:nvSpPr>
        <p:spPr>
          <a:xfrm>
            <a:off x="952500" y="3048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55555"/>
                </a:solidFill>
                <a:latin typeface="Noto Sans SC"/>
                <a:ea typeface="Noto Sans SC"/>
                <a:cs typeface="Noto Sans SC"/>
                <a:sym typeface="Noto Sans SC"/>
              </a:rPr>
              <a:t>提示词是引导大模型生成内容的指令，提示词工程是系统化设计和使用提示词的方法学，它是人机交互的新范式，但也存在敏感性、通用性等方面的局限。</a:t>
            </a:r>
            <a:endParaRPr lang="en-US" sz="1100"/>
          </a:p>
        </p:txBody>
      </p:sp>
      <p:sp>
        <p:nvSpPr>
          <p:cNvPr id="8" name="AutoShape 8"/>
          <p:cNvSpPr/>
          <p:nvPr/>
        </p:nvSpPr>
        <p:spPr>
          <a:xfrm>
            <a:off x="4445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778500" y="1778000"/>
            <a:ext cx="635000" cy="635000"/>
          </a:xfrm>
          <a:prstGeom prst="rect">
            <a:avLst/>
          </a:prstGeom>
        </p:spPr>
      </p:pic>
      <p:sp>
        <p:nvSpPr>
          <p:cNvPr id="10" name="AutoShape 10"/>
          <p:cNvSpPr/>
          <p:nvPr/>
        </p:nvSpPr>
        <p:spPr>
          <a:xfrm>
            <a:off x="4572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核心技巧</a:t>
            </a:r>
            <a:endParaRPr lang="en-US" sz="1100"/>
          </a:p>
        </p:txBody>
      </p:sp>
      <p:sp>
        <p:nvSpPr>
          <p:cNvPr id="11" name="AutoShape 11"/>
          <p:cNvSpPr/>
          <p:nvPr/>
        </p:nvSpPr>
        <p:spPr>
          <a:xfrm>
            <a:off x="4635500" y="3048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55555"/>
                </a:solidFill>
                <a:latin typeface="Noto Sans SC"/>
                <a:ea typeface="Noto Sans SC"/>
                <a:cs typeface="Noto Sans SC"/>
                <a:sym typeface="Noto Sans SC"/>
              </a:rPr>
              <a:t>掌握八大核心技巧——使用分隔符、赋予角色、分步拆解、量化需求、提供示例、要求结构化输出、合理限制、链式思维——是高效使用大模型的关键。</a:t>
            </a:r>
            <a:endParaRPr lang="en-US" sz="1100"/>
          </a:p>
        </p:txBody>
      </p:sp>
      <p:sp>
        <p:nvSpPr>
          <p:cNvPr id="12" name="AutoShape 12"/>
          <p:cNvSpPr/>
          <p:nvPr/>
        </p:nvSpPr>
        <p:spPr>
          <a:xfrm>
            <a:off x="8128000" y="1524000"/>
            <a:ext cx="3302000" cy="3556000"/>
          </a:xfrm>
          <a:prstGeom prst="roundRect">
            <a:avLst>
              <a:gd name="adj" fmla="val 3846"/>
            </a:avLst>
          </a:prstGeom>
          <a:solidFill>
            <a:srgbClr val="FFFFFF">
              <a:alpha val="100000"/>
            </a:srgbClr>
          </a:solidFill>
          <a:ln w="25400" cap="flat" cmpd="sng">
            <a:noFill/>
            <a:prstDash val="solid"/>
            <a:round/>
          </a:ln>
          <a:effectLst>
            <a:outerShdw blurRad="127000" dist="50800" dir="5400000" algn="tl" rotWithShape="0">
              <a:srgbClr val="000000">
                <a:alpha val="8000"/>
              </a:srgbClr>
            </a:outerShdw>
          </a:effectLst>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9461500" y="1778000"/>
            <a:ext cx="635000" cy="635000"/>
          </a:xfrm>
          <a:prstGeom prst="rect">
            <a:avLst/>
          </a:prstGeom>
        </p:spPr>
      </p:pic>
      <p:sp>
        <p:nvSpPr>
          <p:cNvPr id="14" name="AutoShape 14"/>
          <p:cNvSpPr/>
          <p:nvPr/>
        </p:nvSpPr>
        <p:spPr>
          <a:xfrm>
            <a:off x="8255000" y="2540000"/>
            <a:ext cx="3048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0288D1"/>
                </a:solidFill>
                <a:latin typeface="Noto Sans SC"/>
                <a:ea typeface="Noto Sans SC"/>
                <a:cs typeface="Noto Sans SC"/>
                <a:sym typeface="Noto Sans SC"/>
              </a:rPr>
              <a:t>核心应用</a:t>
            </a:r>
            <a:endParaRPr lang="en-US" sz="1100"/>
          </a:p>
        </p:txBody>
      </p:sp>
      <p:sp>
        <p:nvSpPr>
          <p:cNvPr id="15" name="AutoShape 15"/>
          <p:cNvSpPr/>
          <p:nvPr/>
        </p:nvSpPr>
        <p:spPr>
          <a:xfrm>
            <a:off x="8318500" y="3048000"/>
            <a:ext cx="2921000" cy="1651000"/>
          </a:xfrm>
          <a:prstGeom prst="rect">
            <a:avLst/>
          </a:prstGeom>
          <a:noFill/>
          <a:ln w="12700" cap="flat" cmpd="sng">
            <a:noFill/>
            <a:prstDash val="solid"/>
            <a:round/>
          </a:ln>
        </p:spPr>
        <p:txBody>
          <a:bodyPr vert="horz" wrap="square" lIns="0" tIns="0" rIns="0" bIns="0" rtlCol="0" anchor="ctr" anchorCtr="0"/>
          <a:lstStyle/>
          <a:p>
            <a:pPr indent="0" algn="just">
              <a:lnSpc>
                <a:spcPct val="117000"/>
              </a:lnSpc>
              <a:defRPr/>
            </a:pPr>
            <a:r>
              <a:rPr lang="en-US" sz="1400" b="0" i="0" u="none" strike="noStrike">
                <a:solidFill>
                  <a:srgbClr val="555555"/>
                </a:solidFill>
                <a:latin typeface="Noto Sans SC"/>
                <a:ea typeface="Noto Sans SC"/>
                <a:cs typeface="Noto Sans SC"/>
                <a:sym typeface="Noto Sans SC"/>
              </a:rPr>
              <a:t>提示词工程在零微调的情况下，可广泛应用于文本分类、生成、信息提取、机器翻译等各类NLP任务，是连接用户需求与大模型能力的桥梁。</a:t>
            </a:r>
            <a:endParaRPr lang="en-US" sz="1100"/>
          </a:p>
        </p:txBody>
      </p:sp>
      <p:sp>
        <p:nvSpPr>
          <p:cNvPr id="16" name="AutoShape 16"/>
          <p:cNvSpPr/>
          <p:nvPr/>
        </p:nvSpPr>
        <p:spPr>
          <a:xfrm>
            <a:off x="762000" y="5461000"/>
            <a:ext cx="10668000" cy="889000"/>
          </a:xfrm>
          <a:prstGeom prst="roundRect">
            <a:avLst>
              <a:gd name="adj" fmla="val 14285"/>
            </a:avLst>
          </a:prstGeom>
          <a:solidFill>
            <a:srgbClr val="0288D1">
              <a:alpha val="10000"/>
            </a:srgbClr>
          </a:solidFill>
          <a:ln w="12700" cap="flat" cmpd="sng">
            <a:solidFill>
              <a:srgbClr val="0288D1">
                <a:alpha val="30000"/>
              </a:srgbClr>
            </a:solid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1016000" y="5651500"/>
            <a:ext cx="508000" cy="508000"/>
          </a:xfrm>
          <a:prstGeom prst="rect">
            <a:avLst/>
          </a:prstGeom>
        </p:spPr>
      </p:pic>
      <p:sp>
        <p:nvSpPr>
          <p:cNvPr id="18" name="AutoShape 18"/>
          <p:cNvSpPr/>
          <p:nvPr/>
        </p:nvSpPr>
        <p:spPr>
          <a:xfrm>
            <a:off x="1651000" y="5588000"/>
            <a:ext cx="9525000" cy="635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33333"/>
                </a:solidFill>
                <a:latin typeface="Noto Sans SC"/>
                <a:ea typeface="Noto Sans SC"/>
                <a:cs typeface="Noto Sans SC"/>
                <a:sym typeface="Noto Sans SC"/>
              </a:rPr>
              <a:t>总结回顾：</a:t>
            </a:r>
            <a:r>
              <a:rPr lang="en-US" sz="1500" b="0" i="0" u="none" strike="noStrike">
                <a:solidFill>
                  <a:srgbClr val="333333"/>
                </a:solidFill>
                <a:latin typeface="Noto Sans SC"/>
                <a:ea typeface="Noto Sans SC"/>
                <a:cs typeface="Noto Sans SC"/>
                <a:sym typeface="Noto Sans SC"/>
              </a:rPr>
              <a:t>从基础概念出发，掌握核心技巧，最终在实际NLP任务中实现高效应用，构建人机协作新范式。</a:t>
            </a:r>
            <a:endParaRPr lang="en-US" sz="110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762000" y="508000"/>
            <a:ext cx="1333500" cy="508000"/>
          </a:xfrm>
          <a:prstGeom prst="rect">
            <a:avLst/>
          </a:prstGeom>
          <a:noFill/>
          <a:ln w="12700" cap="flat" cmpd="sng">
            <a:noFill/>
            <a:prstDash val="solid"/>
            <a:round/>
          </a:ln>
        </p:spPr>
        <p:txBody>
          <a:bodyPr vert="horz" wrap="none" lIns="0" tIns="0" rIns="0" bIns="0" rtlCol="0" anchor="ctr" anchorCtr="0"/>
          <a:lstStyle/>
          <a:p>
            <a:pPr indent="0" algn="l">
              <a:lnSpc>
                <a:spcPct val="125000"/>
              </a:lnSpc>
              <a:defRPr/>
            </a:pPr>
            <a:r>
              <a:rPr lang="en-US" sz="3200" b="1" i="0" u="none" strike="noStrike">
                <a:solidFill>
                  <a:srgbClr val="333333"/>
                </a:solidFill>
                <a:latin typeface="Noto Sans SC"/>
                <a:ea typeface="Noto Sans SC"/>
                <a:cs typeface="Noto Sans SC"/>
                <a:sym typeface="Noto Sans SC"/>
              </a:rPr>
              <a:t>思考题</a:t>
            </a:r>
            <a:endParaRPr lang="en-US" sz="1100"/>
          </a:p>
        </p:txBody>
      </p:sp>
      <p:sp>
        <p:nvSpPr>
          <p:cNvPr id="3" name="AutoShape 3"/>
          <p:cNvSpPr/>
          <p:nvPr/>
        </p:nvSpPr>
        <p:spPr>
          <a:xfrm>
            <a:off x="762000" y="1079500"/>
            <a:ext cx="508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
        <p:nvSpPr>
          <p:cNvPr id="4" name="AutoShape 4"/>
          <p:cNvSpPr/>
          <p:nvPr/>
        </p:nvSpPr>
        <p:spPr>
          <a:xfrm>
            <a:off x="762000" y="1524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5" name="AutoShape 5"/>
          <p:cNvSpPr/>
          <p:nvPr/>
        </p:nvSpPr>
        <p:spPr>
          <a:xfrm>
            <a:off x="1016000" y="1841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1168400" y="1993900"/>
            <a:ext cx="457200" cy="457200"/>
          </a:xfrm>
          <a:prstGeom prst="rect">
            <a:avLst/>
          </a:prstGeom>
        </p:spPr>
      </p:pic>
      <p:sp>
        <p:nvSpPr>
          <p:cNvPr id="7" name="AutoShape 7"/>
          <p:cNvSpPr/>
          <p:nvPr/>
        </p:nvSpPr>
        <p:spPr>
          <a:xfrm>
            <a:off x="2032000" y="1714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实践应用：专业导师模拟</a:t>
            </a:r>
            <a:endParaRPr lang="en-US" sz="1100"/>
          </a:p>
        </p:txBody>
      </p:sp>
      <p:sp>
        <p:nvSpPr>
          <p:cNvPr id="8" name="AutoShape 8"/>
          <p:cNvSpPr/>
          <p:nvPr/>
        </p:nvSpPr>
        <p:spPr>
          <a:xfrm>
            <a:off x="2032000" y="21590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555555"/>
                </a:solidFill>
                <a:latin typeface="Noto Sans SC"/>
                <a:ea typeface="Noto Sans SC"/>
                <a:cs typeface="Noto Sans SC"/>
                <a:sym typeface="Noto Sans SC"/>
              </a:rPr>
              <a:t>结合你的专业领域，设计一个提示词，让大语言模型扮演你的专业领域导师，并尝试向它提出一个专业问题，观察其反馈。</a:t>
            </a:r>
            <a:endParaRPr lang="en-US" sz="1100"/>
          </a:p>
        </p:txBody>
      </p:sp>
      <p:sp>
        <p:nvSpPr>
          <p:cNvPr id="9" name="AutoShape 9"/>
          <p:cNvSpPr/>
          <p:nvPr/>
        </p:nvSpPr>
        <p:spPr>
          <a:xfrm>
            <a:off x="762000" y="3175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0" name="AutoShape 10"/>
          <p:cNvSpPr/>
          <p:nvPr/>
        </p:nvSpPr>
        <p:spPr>
          <a:xfrm>
            <a:off x="1016000" y="3492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1168400" y="3644900"/>
            <a:ext cx="457200" cy="457200"/>
          </a:xfrm>
          <a:prstGeom prst="rect">
            <a:avLst/>
          </a:prstGeom>
        </p:spPr>
      </p:pic>
      <p:sp>
        <p:nvSpPr>
          <p:cNvPr id="12" name="AutoShape 12"/>
          <p:cNvSpPr/>
          <p:nvPr/>
        </p:nvSpPr>
        <p:spPr>
          <a:xfrm>
            <a:off x="2032000" y="3365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技巧优化：复盘与改进</a:t>
            </a:r>
            <a:endParaRPr lang="en-US" sz="1100"/>
          </a:p>
        </p:txBody>
      </p:sp>
      <p:sp>
        <p:nvSpPr>
          <p:cNvPr id="13" name="AutoShape 13"/>
          <p:cNvSpPr/>
          <p:nvPr/>
        </p:nvSpPr>
        <p:spPr>
          <a:xfrm>
            <a:off x="2032000" y="38100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555555"/>
                </a:solidFill>
                <a:latin typeface="Noto Sans SC"/>
                <a:ea typeface="Noto Sans SC"/>
                <a:cs typeface="Noto Sans SC"/>
                <a:sym typeface="Noto Sans SC"/>
              </a:rPr>
              <a:t>回顾你之前使用大模型时效果不佳的一个提示词，尝试运用本章所学的技巧（如赋予角色、量化需求、分步拆解等）对其进行优化，验证效果提升。</a:t>
            </a:r>
            <a:endParaRPr lang="en-US" sz="1100"/>
          </a:p>
        </p:txBody>
      </p:sp>
      <p:sp>
        <p:nvSpPr>
          <p:cNvPr id="14" name="AutoShape 14"/>
          <p:cNvSpPr/>
          <p:nvPr/>
        </p:nvSpPr>
        <p:spPr>
          <a:xfrm>
            <a:off x="762000" y="4826000"/>
            <a:ext cx="10668000" cy="1397000"/>
          </a:xfrm>
          <a:prstGeom prst="roundRect">
            <a:avLst>
              <a:gd name="adj" fmla="val 9090"/>
            </a:avLst>
          </a:prstGeom>
          <a:solidFill>
            <a:srgbClr val="FFFFFF">
              <a:alpha val="100000"/>
            </a:srgbClr>
          </a:solidFill>
          <a:ln w="25400" cap="flat" cmpd="sng">
            <a:noFill/>
            <a:prstDash val="solid"/>
            <a:round/>
          </a:ln>
          <a:effectLst>
            <a:outerShdw blurRad="127000" dist="50800" dir="5400000" algn="tl" rotWithShape="0">
              <a:srgbClr val="0288D1">
                <a:alpha val="15000"/>
              </a:srgbClr>
            </a:outerShdw>
          </a:effectLst>
        </p:spPr>
        <p:txBody>
          <a:bodyPr vert="horz" wrap="square" lIns="63500" tIns="63500" rIns="63500" bIns="63500" rtlCol="0" anchor="ctr"/>
          <a:lstStyle/>
          <a:p>
            <a:pPr algn="ctr">
              <a:defRPr/>
            </a:pPr>
          </a:p>
        </p:txBody>
      </p:sp>
      <p:sp>
        <p:nvSpPr>
          <p:cNvPr id="15" name="AutoShape 15"/>
          <p:cNvSpPr/>
          <p:nvPr/>
        </p:nvSpPr>
        <p:spPr>
          <a:xfrm>
            <a:off x="1016000" y="5143500"/>
            <a:ext cx="762000" cy="762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1168400" y="5295900"/>
            <a:ext cx="457200" cy="457200"/>
          </a:xfrm>
          <a:prstGeom prst="rect">
            <a:avLst/>
          </a:prstGeom>
        </p:spPr>
      </p:pic>
      <p:sp>
        <p:nvSpPr>
          <p:cNvPr id="17" name="AutoShape 17"/>
          <p:cNvSpPr/>
          <p:nvPr/>
        </p:nvSpPr>
        <p:spPr>
          <a:xfrm>
            <a:off x="2032000" y="5016500"/>
            <a:ext cx="8890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0288D1"/>
                </a:solidFill>
                <a:latin typeface="Noto Sans SC"/>
                <a:ea typeface="Noto Sans SC"/>
                <a:cs typeface="Noto Sans SC"/>
                <a:sym typeface="Noto Sans SC"/>
              </a:rPr>
              <a:t>深度思考：技术趋势辨析</a:t>
            </a:r>
            <a:endParaRPr lang="en-US" sz="1100"/>
          </a:p>
        </p:txBody>
      </p:sp>
      <p:sp>
        <p:nvSpPr>
          <p:cNvPr id="18" name="AutoShape 18"/>
          <p:cNvSpPr/>
          <p:nvPr/>
        </p:nvSpPr>
        <p:spPr>
          <a:xfrm>
            <a:off x="2032000" y="5461000"/>
            <a:ext cx="9017000" cy="635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500" b="0" i="0" u="none" strike="noStrike">
                <a:solidFill>
                  <a:srgbClr val="555555"/>
                </a:solidFill>
                <a:latin typeface="Noto Sans SC"/>
                <a:ea typeface="Noto Sans SC"/>
                <a:cs typeface="Noto Sans SC"/>
                <a:sym typeface="Noto Sans SC"/>
              </a:rPr>
              <a:t>提示词工程的兴起，是否意味着传统的、需要大量数据和计算资源的模型微调方法会逐渐被淘汰？请谈谈你的看法和理由。</a:t>
            </a:r>
            <a:endParaRPr lang="en-US" sz="110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rgbClr val="E0F7FA">
            <a:alpha val="100000"/>
          </a:srgbClr>
        </a:solidFill>
        <a:effectLst/>
      </p:bgPr>
    </p:bg>
    <p:spTree>
      <p:nvGrpSpPr>
        <p:cNvPr id="1" name=""/>
        <p:cNvGrpSpPr/>
        <p:nvPr/>
      </p:nvGrpSpPr>
      <p:grpSpPr>
        <a:xfrm>
          <a:off x="0" y="0"/>
          <a:ext cx="0" cy="0"/>
          <a:chOff x="0" y="0"/>
          <a:chExt cx="0" cy="0"/>
        </a:xfrm>
      </p:grpSpPr>
      <p:sp>
        <p:nvSpPr>
          <p:cNvPr id="2" name="AutoShape 2"/>
          <p:cNvSpPr/>
          <p:nvPr/>
        </p:nvSpPr>
        <p:spPr>
          <a:xfrm>
            <a:off x="-635000" y="-635000"/>
            <a:ext cx="2540000" cy="254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10287000" y="4953000"/>
            <a:ext cx="2540000" cy="2540000"/>
          </a:xfrm>
          <a:prstGeom prst="ellipse">
            <a:avLst/>
          </a:prstGeom>
          <a:solidFill>
            <a:srgbClr val="0288D1">
              <a:alpha val="10000"/>
            </a:srgbClr>
          </a:solidFill>
          <a:ln w="25400" cap="flat" cmpd="sng">
            <a:noFill/>
            <a:prstDash val="solid"/>
            <a:round/>
          </a:ln>
        </p:spPr>
        <p:txBody>
          <a:bodyPr vert="horz" wrap="square" lIns="63500" tIns="63500" rIns="63500" bIns="63500" rtlCol="0" anchor="ctr"/>
          <a:lstStyle/>
          <a:p>
            <a:pPr algn="ctr">
              <a:defRPr/>
            </a:pPr>
          </a:p>
        </p:txBody>
      </p:sp>
      <p:pic>
        <p:nvPicPr>
          <p:cNvPr id="4" name="Picture 4"/>
          <p:cNvPicPr>
            <a:picLocks noChangeAspect="1"/>
          </p:cNvPicPr>
          <p:nvPr/>
        </p:nvPicPr>
        <p:blipFill>
          <a:blip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p:blipFill>
        <p:spPr>
          <a:xfrm>
            <a:off x="5461000" y="1524000"/>
            <a:ext cx="1270000" cy="1270000"/>
          </a:xfrm>
          <a:prstGeom prst="rect">
            <a:avLst/>
          </a:prstGeom>
        </p:spPr>
      </p:pic>
      <p:sp>
        <p:nvSpPr>
          <p:cNvPr id="5" name="AutoShape 5"/>
          <p:cNvSpPr/>
          <p:nvPr/>
        </p:nvSpPr>
        <p:spPr>
          <a:xfrm>
            <a:off x="4749800" y="3048000"/>
            <a:ext cx="2692400" cy="762000"/>
          </a:xfrm>
          <a:prstGeom prst="rect">
            <a:avLst/>
          </a:prstGeom>
          <a:noFill/>
          <a:ln w="12700" cap="flat" cmpd="sng">
            <a:noFill/>
            <a:prstDash val="solid"/>
            <a:round/>
          </a:ln>
        </p:spPr>
        <p:txBody>
          <a:bodyPr vert="horz" wrap="none" lIns="0" tIns="0" rIns="0" bIns="0" rtlCol="0" anchor="ctr" anchorCtr="0"/>
          <a:lstStyle/>
          <a:p>
            <a:pPr indent="0" algn="ctr">
              <a:lnSpc>
                <a:spcPct val="125000"/>
              </a:lnSpc>
              <a:defRPr/>
            </a:pPr>
            <a:r>
              <a:rPr lang="en-US" sz="4800" b="1" i="0" u="none" strike="noStrike">
                <a:solidFill>
                  <a:srgbClr val="333333"/>
                </a:solidFill>
                <a:latin typeface="Noto Sans SC"/>
                <a:ea typeface="Noto Sans SC"/>
                <a:cs typeface="Noto Sans SC"/>
                <a:sym typeface="Noto Sans SC"/>
              </a:rPr>
              <a:t>感谢观看</a:t>
            </a:r>
            <a:endParaRPr lang="en-US" sz="1100"/>
          </a:p>
        </p:txBody>
      </p:sp>
      <p:sp>
        <p:nvSpPr>
          <p:cNvPr id="6" name="AutoShape 6"/>
          <p:cNvSpPr/>
          <p:nvPr/>
        </p:nvSpPr>
        <p:spPr>
          <a:xfrm>
            <a:off x="3556000" y="3937000"/>
            <a:ext cx="5080000" cy="381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a:solidFill>
                  <a:srgbClr val="333333">
                    <a:alpha val="60000"/>
                  </a:srgbClr>
                </a:solidFill>
                <a:latin typeface="Noto Sans SC"/>
                <a:ea typeface="Noto Sans SC"/>
                <a:cs typeface="Noto Sans SC"/>
                <a:sym typeface="Noto Sans SC"/>
              </a:rPr>
              <a:t>THANKS FOR WATCHING</a:t>
            </a:r>
            <a:endParaRPr lang="en-US" sz="1100"/>
          </a:p>
        </p:txBody>
      </p:sp>
      <p:sp>
        <p:nvSpPr>
          <p:cNvPr id="7" name="AutoShape 7"/>
          <p:cNvSpPr/>
          <p:nvPr/>
        </p:nvSpPr>
        <p:spPr>
          <a:xfrm>
            <a:off x="5715000" y="4572000"/>
            <a:ext cx="762000" cy="50800"/>
          </a:xfrm>
          <a:prstGeom prst="roundRect">
            <a:avLst>
              <a:gd name="adj" fmla="val 0"/>
            </a:avLst>
          </a:prstGeom>
          <a:solidFill>
            <a:srgbClr val="0288D1">
              <a:alpha val="100000"/>
            </a:srgbClr>
          </a:solidFill>
          <a:ln w="25400" cap="flat" cmpd="sng">
            <a:noFill/>
            <a:prstDash val="solid"/>
            <a:round/>
          </a:ln>
        </p:spPr>
        <p:txBody>
          <a:bodyPr vert="horz" wrap="square" lIns="63500" tIns="63500" rIns="63500" bIns="63500" rtlCol="0" anchor="ctr"/>
          <a:lstStyle/>
          <a:p>
            <a:pPr algn="ctr">
              <a:defRPr/>
            </a:pPr>
          </a:p>
        </p:txBody>
      </p:sp>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8690</Words>
  <Application>WPS 演示</Application>
  <PresentationFormat/>
  <Paragraphs>629</Paragraphs>
  <Slides>35</Slides>
  <Notes>0</Notes>
  <HiddenSlides>0</HiddenSlides>
  <MMClips>0</MMClips>
  <ScaleCrop>false</ScaleCrop>
  <HeadingPairs>
    <vt:vector size="6" baseType="variant">
      <vt:variant>
        <vt:lpstr>已用的字体</vt:lpstr>
      </vt:variant>
      <vt:variant>
        <vt:i4>20</vt:i4>
      </vt:variant>
      <vt:variant>
        <vt:lpstr>主题</vt:lpstr>
      </vt:variant>
      <vt:variant>
        <vt:i4>2</vt:i4>
      </vt:variant>
      <vt:variant>
        <vt:lpstr>幻灯片标题</vt:lpstr>
      </vt:variant>
      <vt:variant>
        <vt:i4>35</vt:i4>
      </vt:variant>
    </vt:vector>
  </HeadingPairs>
  <TitlesOfParts>
    <vt:vector size="57" baseType="lpstr">
      <vt:lpstr>Arial</vt:lpstr>
      <vt:lpstr>宋体</vt:lpstr>
      <vt:lpstr>Wingdings</vt:lpstr>
      <vt:lpstr>Arial</vt:lpstr>
      <vt:lpstr>Noto Sans SC</vt:lpstr>
      <vt:lpstr>Thonburi</vt:lpstr>
      <vt:lpstr>宋体</vt:lpstr>
      <vt:lpstr>汉仪书宋二KW</vt:lpstr>
      <vt:lpstr>微软雅黑</vt:lpstr>
      <vt:lpstr>汉仪旗黑</vt:lpstr>
      <vt:lpstr>Arial Unicode MS</vt:lpstr>
      <vt:lpstr>Menlo</vt:lpstr>
      <vt:lpstr>Consolas</vt:lpstr>
      <vt:lpstr>Roboto Mono</vt:lpstr>
      <vt:lpstr>Consolas</vt:lpstr>
      <vt:lpstr>Menlo</vt:lpstr>
      <vt:lpstr>Noto Sans SC</vt:lpstr>
      <vt:lpstr>Roboto Mono</vt:lpstr>
      <vt:lpstr>苹方-简</vt:lpstr>
      <vt:lpstr>Apple Color Emoji</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Soyoger</cp:lastModifiedBy>
  <cp:revision>1</cp:revision>
  <dcterms:created xsi:type="dcterms:W3CDTF">2026-03-12T14:41:57Z</dcterms:created>
  <dcterms:modified xsi:type="dcterms:W3CDTF">2026-03-12T14:41:57Z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A27399A2D460F7D5B5D0B2694EC0E8BA_42</vt:lpwstr>
  </property>
  <property fmtid="{D5CDD505-2E9C-101B-9397-08002B2CF9AE}" pid="3" name="KSOProductBuildVer">
    <vt:lpwstr>2052-7.2.1.8947</vt:lpwstr>
  </property>
</Properties>
</file>