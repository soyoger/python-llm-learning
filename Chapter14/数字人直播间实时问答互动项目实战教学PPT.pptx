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1.svg" ContentType="image/svg+xml"/>
  <Override PartName="/ppt/media/image103.svg" ContentType="image/svg+xml"/>
  <Override PartName="/ppt/media/image106.svg" ContentType="image/svg+xml"/>
  <Override PartName="/ppt/media/image108.svg" ContentType="image/svg+xml"/>
  <Override PartName="/ppt/media/image11.svg" ContentType="image/svg+xml"/>
  <Override PartName="/ppt/media/image110.svg" ContentType="image/svg+xml"/>
  <Override PartName="/ppt/media/image112.svg" ContentType="image/svg+xml"/>
  <Override PartName="/ppt/media/image114.svg" ContentType="image/svg+xml"/>
  <Override PartName="/ppt/media/image116.svg" ContentType="image/svg+xml"/>
  <Override PartName="/ppt/media/image118.svg" ContentType="image/svg+xml"/>
  <Override PartName="/ppt/media/image120.svg" ContentType="image/svg+xml"/>
  <Override PartName="/ppt/media/image122.svg" ContentType="image/svg+xml"/>
  <Override PartName="/ppt/media/image124.svg" ContentType="image/svg+xml"/>
  <Override PartName="/ppt/media/image126.svg" ContentType="image/svg+xml"/>
  <Override PartName="/ppt/media/image128.svg" ContentType="image/svg+xml"/>
  <Override PartName="/ppt/media/image13.svg" ContentType="image/svg+xml"/>
  <Override PartName="/ppt/media/image130.svg" ContentType="image/svg+xml"/>
  <Override PartName="/ppt/media/image132.svg" ContentType="image/svg+xml"/>
  <Override PartName="/ppt/media/image134.svg" ContentType="image/svg+xml"/>
  <Override PartName="/ppt/media/image136.svg" ContentType="image/svg+xml"/>
  <Override PartName="/ppt/media/image138.svg" ContentType="image/svg+xml"/>
  <Override PartName="/ppt/media/image140.svg" ContentType="image/svg+xml"/>
  <Override PartName="/ppt/media/image142.svg" ContentType="image/svg+xml"/>
  <Override PartName="/ppt/media/image144.svg" ContentType="image/svg+xml"/>
  <Override PartName="/ppt/media/image146.svg" ContentType="image/svg+xml"/>
  <Override PartName="/ppt/media/image148.svg" ContentType="image/svg+xml"/>
  <Override PartName="/ppt/media/image15.svg" ContentType="image/svg+xml"/>
  <Override PartName="/ppt/media/image150.svg" ContentType="image/svg+xml"/>
  <Override PartName="/ppt/media/image152.svg" ContentType="image/svg+xml"/>
  <Override PartName="/ppt/media/image154.svg" ContentType="image/svg+xml"/>
  <Override PartName="/ppt/media/image156.svg" ContentType="image/svg+xml"/>
  <Override PartName="/ppt/media/image158.svg" ContentType="image/svg+xml"/>
  <Override PartName="/ppt/media/image160.svg" ContentType="image/svg+xml"/>
  <Override PartName="/ppt/media/image162.svg" ContentType="image/svg+xml"/>
  <Override PartName="/ppt/media/image164.svg" ContentType="image/svg+xml"/>
  <Override PartName="/ppt/media/image166.svg" ContentType="image/svg+xml"/>
  <Override PartName="/ppt/media/image168.svg" ContentType="image/svg+xml"/>
  <Override PartName="/ppt/media/image17.svg" ContentType="image/svg+xml"/>
  <Override PartName="/ppt/media/image170.svg" ContentType="image/svg+xml"/>
  <Override PartName="/ppt/media/image173.svg" ContentType="image/svg+xml"/>
  <Override PartName="/ppt/media/image175.svg" ContentType="image/svg+xml"/>
  <Override PartName="/ppt/media/image177.svg" ContentType="image/svg+xml"/>
  <Override PartName="/ppt/media/image179.svg" ContentType="image/svg+xml"/>
  <Override PartName="/ppt/media/image181.svg" ContentType="image/svg+xml"/>
  <Override PartName="/ppt/media/image183.svg" ContentType="image/svg+xml"/>
  <Override PartName="/ppt/media/image185.svg" ContentType="image/svg+xml"/>
  <Override PartName="/ppt/media/image19.svg" ContentType="image/svg+xml"/>
  <Override PartName="/ppt/media/image2.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6.svg" ContentType="image/svg+xml"/>
  <Override PartName="/ppt/media/image51.svg" ContentType="image/svg+xml"/>
  <Override PartName="/ppt/media/image54.svg" ContentType="image/svg+xml"/>
  <Override PartName="/ppt/media/image57.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7.svg" ContentType="image/svg+xml"/>
  <Override PartName="/ppt/media/image79.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svg" ContentType="image/svg+xml"/>
  <Override PartName="/ppt/media/image91.svg" ContentType="image/svg+xml"/>
  <Override PartName="/ppt/media/image95.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0" Type="http://schemas.openxmlformats.org/officeDocument/2006/relationships/tableStyles" Target="tableStyles.xml"/><Relationship Id="rId5" Type="http://schemas.openxmlformats.org/officeDocument/2006/relationships/notesMaster" Target="notesMasters/notesMaster1.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来到本次课程。今天我们将深入探讨一个非常前沿且实用的话题——数字人直播间实时问答互动项目实战。我们将以RAG技术为核心，系统地学习如何构建一个智能的问答系统，将理论知识应用于真实的直播场景中。希望通过这次课程，大家能够掌握相关的技术要点，并具备独立完成类似项目的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课程内容主要分为四个部分。首先，我们会详细讲解RAG知识库的构建，包括其基本概念、完整流程以及当前的发展趋势和面临的挑战。接着，我们将深入探讨RAG系统的各种优化策略，这对于提升系统性能至关重要。然后，也是本次课程的重点，我们将通过一个数字人直播间的实战项目，将前面所学的理论知识应用于实践，对比不同检索方法的效果，并学习如何通过LLM微调来优化互动体验。最后，我们会对整个课程内容进行总结，并对未来的技术发展进行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好，现在我们进入第一章节：RAG知识库的构建。这是我们整个项目的基础，理解这部分内容对于后续的实战操作至关重要。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了解RAG的基本概念。RAG，即检索增强生成，是由Meta公司在2020年提出的一种技术。它的核心思想非常巧妙，就是将信息检索和生成模型这两种技术结合起来。通过将文本转换为嵌入向量，RAG能够显著提升AI生成内容的准确性和丰富度。整个过程主要分为两个步骤：检索和生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RAG的第一个阶段是检索阶段。在这个阶段，系统的任务是根据用户的问题，从一个庞大的知识库中找到最相关的资料。这里用到的技术主要有三种：传统的关键词检索，比如TF-IDF或BM25算法；更先进的稠密向量检索，它能更好地理解语义；以及结合了两者优点的混合检索方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完成检索后，就进入了生成阶段。在这个阶段，系统会把用户的问题和刚才检索到的相关资料整合在一起，形成一个提示词，然后输入给像GPT、GLM这样的大型语言模型，由模型来生成最终的、自然流畅的回答。这个阶段充分利用了LLM强大的语言生成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相比直接使用LLM，RAG有哪些优势呢？首先，它能增强模型对上下文的理解，让回答更切题。其次，通过引用真实的资料，大大提高了生成内容的准确性，有效减少了AI“胡说八道”的情况，也就是所谓的“幻觉”问题。此外，RAG还能让模型访问到它预训练时没有的特定领域知识，并且适用于多种不同的任务场景。最后，它还具备知识实时更新的能力，无需重新训练大模型即可获取最新信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然，RAG也并非完美无缺。它目前的一个主要局限性是缺乏迭代推理能力，也就是说，它不能像我们人类一样，通过多次思考和验证来逐步接近答案。此外，它也无法判断自己检索到的信息是不是解决问题的最佳资料，这可能会导致生成的回答不够精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RAG的基本概念后，我们来看一下如何构建一个RAG知识库。首先，我们要明确为什么需要RAG，这源于大语言模型本身的一些局限性。RAG通过引入检索环节，有效地弥补了这些不足。整个构建流程主要分为两大块：一是离线阶段，我们需要准备数据、处理数据、将其转换为向量并存储起来，形成一个知识库；二是在线阶段，当用户提出问题时，系统会实时地从知识库中检索相关信息，并生成回答。这张图清晰地展示了整个过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构建流程的第一步是加载文档。我们的数据来源可以多种多样，数据形式也各不相同。无论是结构化的表格，还是非结构化的文档、图片，我们都需要将它们转换成统一的纯文本格式，以便后续处理。这里我们以一个简单的文本文件为例，展示了如何使用LangChain库中的TextLoader来加载数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加载数据后，非常重要的一步是数据清理和规范化。原始数据往往是杂乱无章的，包含了很多无关信息、重复内容和格式不一致的问题。通过清理和规范化，我们可以显著提升数据的质量，为后续的处理打下坚实的基础，确保模型能够准确地理解和匹配信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第二步，分割文档。我们需要将长文档拆分成更小的、便于处理的“块”。这样做不仅能提高计算效率，也能让后续的检索更精准。这里我们使用了LangChain的CharacterTextSplitter，按照段落进行分割，并设置了块的大小和重叠度，以保证上下文的连续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步是文档词嵌入。这一步是将我们分割好的文本块转换成数值向量。这个过程是理解文本语义的关键，语义相似的文本会被转换成相似的向量。我们这里使用了一个中文优化的嵌入模型bge-base-zh，通过代码可以看到如何加载和使用这个模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生成的向量需要被妥善存储起来，这就是第四步：向量存储。我们使用专门的向量数据库，比如这里的FAISS，它能高效地存储向量并支持快速的相似度搜索。代码展示了如何将之前处理好的文本块和对应的向量创建成一个FAISS向量库，并保存到本地，方便后续加载和使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五步是向量检索，这是在线问答阶段的核心。当用户提出一个问题时，系统首先会将这个问题也转换成向量，然后在我们之前构建好的向量数据库中进行搜索，找出最相关的几个文档片段。代码中展示了如何加载本地的FAISS库，并针对“护手霜怎么使用？”这个问题进行检索，返回最相关的前3个结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一步是内容生成。我们需要把用户的问题和检索到的资料整合起来，构建一个详细的提示词。这个提示词会告诉大语言模型它的角色是什么、需要遵循什么规则、以及基于哪些信息来回答问题。这个过程充分体现了提示工程的重要性，一个好的提示词能让模型生成更准确、更符合预期的回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构建好提示词后，我们就可以调用大语言模型了。这里以Azure OpenAI的GPT-3.5 Turbo为例，展示了如何通过API发送请求并获取模型生成的回答。屏幕上显示的就是针对“护手霜怎么使用？”这个问题，模型最终生成的回答示例，它结合了我们检索到的信息，给出了一个完整且实用的建议。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让我们来总结一下RAG知识库构建的六个关键步骤：从加载各种来源的文档开始，经过分割、词嵌入、向量存储，最终在用户查询时进行向量检索，并结合大语言模型生成回答。这六个步骤构成了一个完整的RAG系统工作流程，缺一不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基础的RAG构建流程后，我们来看看RAG技术的一些新发展和挑战。首先是GraphRAG，这是微软在2024年提出的一个新方向。它的核心思想是将文本数据转化为图结构，利用图数据库来更好地处理复杂的实体关系，从而支持更深度的推理，让回答更准确，也更具可解释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另一个重要的技术趋势是长上下文大语言模型的出现。这些模型能够处理更长的文本，带来了很多优势。这也引发了一个讨论：长上下文LLM是否会取代RAG？答案是否定的。虽然长上下文模型很强大，但RAG在资源效率和灵活性方面仍然不可替代。未来，两者很可能会结合使用，各自发挥优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接下来，我们进入第二章节，探讨如何优化我们的RAG知识库。一个基础的RAG系统搭建完成后，性能优化是提升其效果的关键环节。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优化对于构建一个高性能的RAG系统至关重要。我们不能满足于一个能运行的基础版本，而是需要对从数据加载到生成回答的每一个环节进行持续的评估和优化。</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我们要构建高性能的系统，对架构的每一步进行精细化打磨。其次，必须建立持续评估机制，确保检索结果的相关性。第三，要进行端到端的全流程评估，快速定位瓶颈。最终，我们的目标是确保每个模块都能协同工作，为用户提供高质量的回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个优化策略是针对非结构化文档的解析。在实际应用中，我们经常会遇到PDF、图片等难以直接处理的文件。优化这一步的关键在于采用更先进的解析技术，比如用专业的PDF库来提取文本和格式，用OCR技术来识别图片中的文字，确保我们能准确、完整地获取到所需的信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个优化策略是文档分块的优化。简单的固定长度分块可能会破坏文本的语义完整性。更好的做法是采用基于语义的分块策略，让模型理解文本的逻辑结构，确保每个块都是一个完整的、有意义的信息单元。这样可以大大提升后续检索的准确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个优化策略是词嵌入的优化。嵌入模型的选择和质量直接影响检索效果。我们可以根据具体的应用场景选择最合适的预训练模型，甚至可以用自己领域的数据对模型进行微调，让它更好地理解我们的数据特点，从而生成更精准的向量表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和第五个优化策略是Rewrite和Rerank。Rewrite是指对用户的原始问题进行优化重写，让它更清晰、更易于检索。而Rerank则是在初步检索结果出来后，用一个更精细的模型对结果进行重新排序，确保最相关的内容排在最前面。这两步结合起来，可以显著提升检索的精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一个优化策略是混合检索。如我们之前提到的，关键词检索和向量检索各有优劣。混合检索就是将这两种方法结合起来，先用关键词检索保证高召回率，再用向量检索补充语义相关的结果，最后将所有结果合并排序，从而达到兼顾广度和精度的最佳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理论部分我们已经了解得差不多了，现在让我们进入最激动人心的实战环节——数字人直播间互动问答项目。在这里，我们将把前面学到的RAG知识应用到一个真实的场景中。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了解一下这个实战项目的背景和目标。随着AI技术的发展，数字人直播不再仅仅是念稿子，而是需要能够与观众进行智能互动。我们的目标就是构建这样一个系统，让数字人能够实时回答观众的问题。这个项目的核心就是我们前面所学的RAG技术，它将作为数字人的“大脑”，提供准确的知识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虽然数字人直播发展迅速，但仍然面临一些挑战。比如，如何保证回答的准确性，如何在观众提问很多的时候快速响应，以及如何让数字人的回答听起来更自然、更像真人。这些都是我们在项目中需要重点解决的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项目中，我们首先尝试了传统的关键词检索方法。它的优点是简单、快速，对于一些关键词明确的问题能很快找到答案。但缺点也很明显，它不理解语义，对于“怎么样”、“为什么”这类问题，或者表达方式不同但意思相近的问题，效果就不尽如人意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着，我们引入了向量检索。这种方法通过理解语义来匹配信息，完美解决了关键词检索的短板。无论用户用什么方式提问，只要意思相近，都能找到最相关的资料。在我们的项目中，向量检索的引入使得数字人的回答质量有了质的飞跃。当然，它的计算成本也相对高一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兼顾召回率和精确率，我们最终采用了混合检索方案。这种方法结合了关键词检索和向量检索的优点，先用关键词检索广泛撒网，再用向量检索精准定位，最后将结果合并排序。在我们的项目实战中，这种方法取得了最好的综合效果，既保证了不会遗漏重要信息，又确保了回答的精准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表格清晰地总结了三种检索方法的优缺点和适用场景。关键词检索简单快速，适合处理简单的事实问题；向量检索精准智能，适合处理复杂的语义问题；而混合检索则是集大成者，在对效果要求较高的综合场景下表现最佳，也是我们项目最终选择的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优化检索环节，我们还可以通过微调大语言模型来进一步提升互动效果。通过收集直播间的真实对话数据，我们可以让通用的LLM学习到更符合直播场景的说话方式和语气。经过微调后的模型，生成的回答会更加自然、亲切，大大提升了用户的互动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通过这个实战项目，我们实现了理论与实践的有效结合。一方面，RAG的理论知识为我们的项目提供了清晰的指导；另一方面，通过亲手实践，我们也更深刻地理解了理论的应用场景和实际挑战。这个过程让我们真正掌握了从0到1构建一个智能问答系统的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课程的最后，我们来对本次内容进行一个总结，并对未来的技术发展做一些展望。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回顾本次课程，我们首先深入学习了RAG技术的基础理论，包括它的工作原理、优缺点和构建流程。接着，我们探讨了如何通过各种优化策略来提升RAG系统的性能。最后，也是最重要的，我们通过一个完整的实战项目，将所有理论知识融会贯通，亲手实现了一个智能问答系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从技术层面来看，我们接触到了一系列关键技术。包括信息检索领域的多种方法，自然语言处理中的词嵌入和大语言模型，以及知识库构建和系统优化的相关技术。这些技术共同构成了构建智能问答系统的技术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展望未来，RAG技术还有很大的发展空间。它可能会与GraphRAG、长上下文LLM等新技术深度融合，也可能向多模态方向发展，处理图片、视频等更多类型的数据。同时，更高效的优化技术也将不断涌现，让RAG系统变得更强大、更易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具体到数字人直播领域，未来的发展将更加令人期待。数字人不仅会更智能，能够进行更复杂的交流，形象也会更加逼真，甚至达到以假乱真的程度。其应用场景也将从现在的电商直播，扩展到教育、医疗、客服等各行各业，为用户提供更加个性化的服务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我的讲解到此结束，接下来是问答环节，大家有什么问题可以提出来，我们一起交流探讨。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再次感谢大家的参与和聆听，希望本次课程能对大家有所帮助！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9.svg"/><Relationship Id="rId7" Type="http://schemas.openxmlformats.org/officeDocument/2006/relationships/image" Target="../media/image8.png"/><Relationship Id="rId6" Type="http://schemas.openxmlformats.org/officeDocument/2006/relationships/image" Target="../media/image2.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0" Type="http://schemas.openxmlformats.org/officeDocument/2006/relationships/notesSlide" Target="../notesSlides/notesSlide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11.svg"/><Relationship Id="rId1" Type="http://schemas.openxmlformats.org/officeDocument/2006/relationships/image" Target="../media/image10.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9.svg"/><Relationship Id="rId7" Type="http://schemas.openxmlformats.org/officeDocument/2006/relationships/image" Target="../media/image18.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 Id="rId3" Type="http://schemas.openxmlformats.org/officeDocument/2006/relationships/image" Target="../media/image14.png"/><Relationship Id="rId2" Type="http://schemas.openxmlformats.org/officeDocument/2006/relationships/image" Target="../media/image13.svg"/><Relationship Id="rId10" Type="http://schemas.openxmlformats.org/officeDocument/2006/relationships/notesSlide" Target="../notesSlides/notesSlide4.xml"/><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7.svg"/><Relationship Id="rId7" Type="http://schemas.openxmlformats.org/officeDocument/2006/relationships/image" Target="../media/image26.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 Id="rId3" Type="http://schemas.openxmlformats.org/officeDocument/2006/relationships/image" Target="../media/image22.png"/><Relationship Id="rId2" Type="http://schemas.openxmlformats.org/officeDocument/2006/relationships/image" Target="../media/image21.svg"/><Relationship Id="rId10" Type="http://schemas.openxmlformats.org/officeDocument/2006/relationships/notesSlide" Target="../notesSlides/notesSlide5.xml"/><Relationship Id="rId1" Type="http://schemas.openxmlformats.org/officeDocument/2006/relationships/image" Target="../media/image20.png"/></Relationships>
</file>

<file path=ppt/slides/_rels/slide6.xml.rels><?xml version="1.0" encoding="UTF-8" standalone="yes"?>
<Relationships xmlns="http://schemas.openxmlformats.org/package/2006/relationships"><Relationship Id="rId9" Type="http://schemas.openxmlformats.org/officeDocument/2006/relationships/image" Target="../media/image36.png"/><Relationship Id="rId8" Type="http://schemas.openxmlformats.org/officeDocument/2006/relationships/image" Target="../media/image35.svg"/><Relationship Id="rId7" Type="http://schemas.openxmlformats.org/officeDocument/2006/relationships/image" Target="../media/image34.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 Id="rId3" Type="http://schemas.openxmlformats.org/officeDocument/2006/relationships/image" Target="../media/image30.png"/><Relationship Id="rId2" Type="http://schemas.openxmlformats.org/officeDocument/2006/relationships/image" Target="../media/image29.svg"/><Relationship Id="rId12" Type="http://schemas.openxmlformats.org/officeDocument/2006/relationships/notesSlide" Target="../notesSlides/notesSlide6.xml"/><Relationship Id="rId11" Type="http://schemas.openxmlformats.org/officeDocument/2006/relationships/slideLayout" Target="../slideLayouts/slideLayout12.xml"/><Relationship Id="rId10" Type="http://schemas.openxmlformats.org/officeDocument/2006/relationships/image" Target="../media/image37.svg"/><Relationship Id="rId1" Type="http://schemas.openxmlformats.org/officeDocument/2006/relationships/image" Target="../media/image28.png"/></Relationships>
</file>

<file path=ppt/slides/_rels/slide7.xml.rels><?xml version="1.0" encoding="UTF-8" standalone="yes"?>
<Relationships xmlns="http://schemas.openxmlformats.org/package/2006/relationships"><Relationship Id="rId9" Type="http://schemas.openxmlformats.org/officeDocument/2006/relationships/image" Target="../media/image45.png"/><Relationship Id="rId8" Type="http://schemas.openxmlformats.org/officeDocument/2006/relationships/image" Target="../media/image27.svg"/><Relationship Id="rId7" Type="http://schemas.openxmlformats.org/officeDocument/2006/relationships/image" Target="../media/image44.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 Id="rId3" Type="http://schemas.openxmlformats.org/officeDocument/2006/relationships/image" Target="../media/image40.png"/><Relationship Id="rId2" Type="http://schemas.openxmlformats.org/officeDocument/2006/relationships/image" Target="../media/image39.svg"/><Relationship Id="rId14" Type="http://schemas.openxmlformats.org/officeDocument/2006/relationships/notesSlide" Target="../notesSlides/notesSlide7.xml"/><Relationship Id="rId13" Type="http://schemas.openxmlformats.org/officeDocument/2006/relationships/slideLayout" Target="../slideLayouts/slideLayout12.xml"/><Relationship Id="rId12" Type="http://schemas.openxmlformats.org/officeDocument/2006/relationships/image" Target="../media/image13.svg"/><Relationship Id="rId11" Type="http://schemas.openxmlformats.org/officeDocument/2006/relationships/image" Target="../media/image47.png"/><Relationship Id="rId10" Type="http://schemas.openxmlformats.org/officeDocument/2006/relationships/image" Target="../media/image46.svg"/><Relationship Id="rId1" Type="http://schemas.openxmlformats.org/officeDocument/2006/relationships/image" Target="../media/image38.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2.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21.svg"/><Relationship Id="rId3" Type="http://schemas.openxmlformats.org/officeDocument/2006/relationships/image" Target="../media/image49.png"/><Relationship Id="rId2" Type="http://schemas.openxmlformats.org/officeDocument/2006/relationships/image" Target="../media/image39.svg"/><Relationship Id="rId1" Type="http://schemas.openxmlformats.org/officeDocument/2006/relationships/image" Target="../media/image48.pn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2.xml"/><Relationship Id="rId7" Type="http://schemas.openxmlformats.org/officeDocument/2006/relationships/image" Target="../media/image57.svg"/><Relationship Id="rId6" Type="http://schemas.openxmlformats.org/officeDocument/2006/relationships/image" Target="../media/image56.png"/><Relationship Id="rId5" Type="http://schemas.openxmlformats.org/officeDocument/2006/relationships/image" Target="../media/image15.svg"/><Relationship Id="rId4" Type="http://schemas.openxmlformats.org/officeDocument/2006/relationships/image" Target="../media/image55.png"/><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image" Target="../media/image52.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2.xml"/><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60.svg"/><Relationship Id="rId3" Type="http://schemas.openxmlformats.org/officeDocument/2006/relationships/image" Target="../media/image59.png"/><Relationship Id="rId2" Type="http://schemas.openxmlformats.org/officeDocument/2006/relationships/image" Target="../media/image4.svg"/><Relationship Id="rId1" Type="http://schemas.openxmlformats.org/officeDocument/2006/relationships/image" Target="../media/image58.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2.xml"/><Relationship Id="rId6" Type="http://schemas.openxmlformats.org/officeDocument/2006/relationships/image" Target="../media/image68.svg"/><Relationship Id="rId5" Type="http://schemas.openxmlformats.org/officeDocument/2006/relationships/image" Target="../media/image67.png"/><Relationship Id="rId4" Type="http://schemas.openxmlformats.org/officeDocument/2006/relationships/image" Target="../media/image66.svg"/><Relationship Id="rId3" Type="http://schemas.openxmlformats.org/officeDocument/2006/relationships/image" Target="../media/image65.png"/><Relationship Id="rId2" Type="http://schemas.openxmlformats.org/officeDocument/2006/relationships/image" Target="../media/image64.svg"/><Relationship Id="rId1" Type="http://schemas.openxmlformats.org/officeDocument/2006/relationships/image" Target="../media/image63.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73.png"/><Relationship Id="rId4" Type="http://schemas.openxmlformats.org/officeDocument/2006/relationships/image" Target="../media/image72.svg"/><Relationship Id="rId3" Type="http://schemas.openxmlformats.org/officeDocument/2006/relationships/image" Target="../media/image71.png"/><Relationship Id="rId2" Type="http://schemas.openxmlformats.org/officeDocument/2006/relationships/image" Target="../media/image70.svg"/><Relationship Id="rId1" Type="http://schemas.openxmlformats.org/officeDocument/2006/relationships/image" Target="../media/image69.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2.xml"/><Relationship Id="rId6" Type="http://schemas.openxmlformats.org/officeDocument/2006/relationships/image" Target="../media/image77.svg"/><Relationship Id="rId5" Type="http://schemas.openxmlformats.org/officeDocument/2006/relationships/image" Target="../media/image76.png"/><Relationship Id="rId4" Type="http://schemas.openxmlformats.org/officeDocument/2006/relationships/image" Target="../media/image31.svg"/><Relationship Id="rId3" Type="http://schemas.openxmlformats.org/officeDocument/2006/relationships/image" Target="../media/image75.png"/><Relationship Id="rId2" Type="http://schemas.openxmlformats.org/officeDocument/2006/relationships/image" Target="../media/image62.svg"/><Relationship Id="rId1" Type="http://schemas.openxmlformats.org/officeDocument/2006/relationships/image" Target="../media/image74.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2.xml"/><Relationship Id="rId6" Type="http://schemas.openxmlformats.org/officeDocument/2006/relationships/image" Target="../media/image79.svg"/><Relationship Id="rId5" Type="http://schemas.openxmlformats.org/officeDocument/2006/relationships/image" Target="../media/image78.png"/><Relationship Id="rId4" Type="http://schemas.openxmlformats.org/officeDocument/2006/relationships/image" Target="../media/image21.svg"/><Relationship Id="rId3" Type="http://schemas.openxmlformats.org/officeDocument/2006/relationships/image" Target="../media/image49.png"/><Relationship Id="rId2" Type="http://schemas.openxmlformats.org/officeDocument/2006/relationships/image" Target="../media/image4.svg"/><Relationship Id="rId1" Type="http://schemas.openxmlformats.org/officeDocument/2006/relationships/image" Target="../media/image58.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2.xml"/><Relationship Id="rId6" Type="http://schemas.openxmlformats.org/officeDocument/2006/relationships/image" Target="../media/image83.svg"/><Relationship Id="rId5" Type="http://schemas.openxmlformats.org/officeDocument/2006/relationships/image" Target="../media/image82.png"/><Relationship Id="rId4" Type="http://schemas.openxmlformats.org/officeDocument/2006/relationships/image" Target="../media/image81.svg"/><Relationship Id="rId3" Type="http://schemas.openxmlformats.org/officeDocument/2006/relationships/image" Target="../media/image80.png"/><Relationship Id="rId2" Type="http://schemas.openxmlformats.org/officeDocument/2006/relationships/image" Target="../media/image21.svg"/><Relationship Id="rId1" Type="http://schemas.openxmlformats.org/officeDocument/2006/relationships/image" Target="../media/image49.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89.svg"/><Relationship Id="rId7" Type="http://schemas.openxmlformats.org/officeDocument/2006/relationships/image" Target="../media/image88.png"/><Relationship Id="rId6" Type="http://schemas.openxmlformats.org/officeDocument/2006/relationships/image" Target="../media/image87.svg"/><Relationship Id="rId5" Type="http://schemas.openxmlformats.org/officeDocument/2006/relationships/image" Target="../media/image86.png"/><Relationship Id="rId4" Type="http://schemas.openxmlformats.org/officeDocument/2006/relationships/image" Target="../media/image31.svg"/><Relationship Id="rId3" Type="http://schemas.openxmlformats.org/officeDocument/2006/relationships/image" Target="../media/image75.png"/><Relationship Id="rId2" Type="http://schemas.openxmlformats.org/officeDocument/2006/relationships/image" Target="../media/image85.svg"/><Relationship Id="rId10" Type="http://schemas.openxmlformats.org/officeDocument/2006/relationships/notesSlide" Target="../notesSlides/notesSlide16.xml"/><Relationship Id="rId1" Type="http://schemas.openxmlformats.org/officeDocument/2006/relationships/image" Target="../media/image84.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2.xml"/><Relationship Id="rId4" Type="http://schemas.openxmlformats.org/officeDocument/2006/relationships/image" Target="../media/image25.svg"/><Relationship Id="rId3" Type="http://schemas.openxmlformats.org/officeDocument/2006/relationships/image" Target="../media/image92.png"/><Relationship Id="rId2" Type="http://schemas.openxmlformats.org/officeDocument/2006/relationships/image" Target="../media/image91.svg"/><Relationship Id="rId1" Type="http://schemas.openxmlformats.org/officeDocument/2006/relationships/image" Target="../media/image90.png"/></Relationships>
</file>

<file path=ppt/slides/_rels/slide18.xml.rels><?xml version="1.0" encoding="UTF-8" standalone="yes"?>
<Relationships xmlns="http://schemas.openxmlformats.org/package/2006/relationships"><Relationship Id="rId9" Type="http://schemas.openxmlformats.org/officeDocument/2006/relationships/image" Target="../media/image49.png"/><Relationship Id="rId8" Type="http://schemas.openxmlformats.org/officeDocument/2006/relationships/image" Target="../media/image4.svg"/><Relationship Id="rId7" Type="http://schemas.openxmlformats.org/officeDocument/2006/relationships/image" Target="../media/image58.png"/><Relationship Id="rId6" Type="http://schemas.openxmlformats.org/officeDocument/2006/relationships/image" Target="../media/image25.svg"/><Relationship Id="rId5" Type="http://schemas.openxmlformats.org/officeDocument/2006/relationships/image" Target="../media/image92.png"/><Relationship Id="rId4" Type="http://schemas.openxmlformats.org/officeDocument/2006/relationships/image" Target="../media/image95.svg"/><Relationship Id="rId3" Type="http://schemas.openxmlformats.org/officeDocument/2006/relationships/image" Target="../media/image94.png"/><Relationship Id="rId2" Type="http://schemas.openxmlformats.org/officeDocument/2006/relationships/image" Target="../media/image60.svg"/><Relationship Id="rId14" Type="http://schemas.openxmlformats.org/officeDocument/2006/relationships/notesSlide" Target="../notesSlides/notesSlide18.xml"/><Relationship Id="rId13" Type="http://schemas.openxmlformats.org/officeDocument/2006/relationships/slideLayout" Target="../slideLayouts/slideLayout12.xml"/><Relationship Id="rId12" Type="http://schemas.openxmlformats.org/officeDocument/2006/relationships/image" Target="../media/image2.svg"/><Relationship Id="rId11" Type="http://schemas.openxmlformats.org/officeDocument/2006/relationships/image" Target="../media/image7.png"/><Relationship Id="rId10" Type="http://schemas.openxmlformats.org/officeDocument/2006/relationships/image" Target="../media/image21.svg"/><Relationship Id="rId1" Type="http://schemas.openxmlformats.org/officeDocument/2006/relationships/image" Target="../media/image93.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12.xml"/><Relationship Id="rId6" Type="http://schemas.openxmlformats.org/officeDocument/2006/relationships/image" Target="../media/image99.svg"/><Relationship Id="rId5" Type="http://schemas.openxmlformats.org/officeDocument/2006/relationships/image" Target="../media/image98.png"/><Relationship Id="rId4" Type="http://schemas.openxmlformats.org/officeDocument/2006/relationships/image" Target="../media/image97.svg"/><Relationship Id="rId3" Type="http://schemas.openxmlformats.org/officeDocument/2006/relationships/image" Target="../media/image96.png"/><Relationship Id="rId2" Type="http://schemas.openxmlformats.org/officeDocument/2006/relationships/image" Target="../media/image13.svg"/><Relationship Id="rId1" Type="http://schemas.openxmlformats.org/officeDocument/2006/relationships/image" Target="../media/image47.png"/></Relationships>
</file>

<file path=ppt/slides/_rels/slide20.xml.rels><?xml version="1.0" encoding="UTF-8" standalone="yes"?>
<Relationships xmlns="http://schemas.openxmlformats.org/package/2006/relationships"><Relationship Id="rId9" Type="http://schemas.openxmlformats.org/officeDocument/2006/relationships/image" Target="../media/image100.png"/><Relationship Id="rId8" Type="http://schemas.openxmlformats.org/officeDocument/2006/relationships/image" Target="../media/image31.svg"/><Relationship Id="rId7" Type="http://schemas.openxmlformats.org/officeDocument/2006/relationships/image" Target="../media/image75.png"/><Relationship Id="rId6" Type="http://schemas.openxmlformats.org/officeDocument/2006/relationships/image" Target="../media/image21.svg"/><Relationship Id="rId5" Type="http://schemas.openxmlformats.org/officeDocument/2006/relationships/image" Target="../media/image49.png"/><Relationship Id="rId4" Type="http://schemas.openxmlformats.org/officeDocument/2006/relationships/image" Target="../media/image15.svg"/><Relationship Id="rId3" Type="http://schemas.openxmlformats.org/officeDocument/2006/relationships/image" Target="../media/image55.png"/><Relationship Id="rId20" Type="http://schemas.openxmlformats.org/officeDocument/2006/relationships/notesSlide" Target="../notesSlides/notesSlide20.xml"/><Relationship Id="rId2" Type="http://schemas.openxmlformats.org/officeDocument/2006/relationships/image" Target="../media/image39.svg"/><Relationship Id="rId19" Type="http://schemas.openxmlformats.org/officeDocument/2006/relationships/slideLayout" Target="../slideLayouts/slideLayout12.xml"/><Relationship Id="rId18" Type="http://schemas.openxmlformats.org/officeDocument/2006/relationships/image" Target="../media/image103.svg"/><Relationship Id="rId17" Type="http://schemas.openxmlformats.org/officeDocument/2006/relationships/image" Target="../media/image102.png"/><Relationship Id="rId16" Type="http://schemas.openxmlformats.org/officeDocument/2006/relationships/image" Target="../media/image25.svg"/><Relationship Id="rId15" Type="http://schemas.openxmlformats.org/officeDocument/2006/relationships/image" Target="../media/image92.png"/><Relationship Id="rId14" Type="http://schemas.openxmlformats.org/officeDocument/2006/relationships/image" Target="../media/image17.svg"/><Relationship Id="rId13" Type="http://schemas.openxmlformats.org/officeDocument/2006/relationships/image" Target="../media/image73.png"/><Relationship Id="rId12" Type="http://schemas.openxmlformats.org/officeDocument/2006/relationships/image" Target="../media/image27.svg"/><Relationship Id="rId11" Type="http://schemas.openxmlformats.org/officeDocument/2006/relationships/image" Target="../media/image44.png"/><Relationship Id="rId10" Type="http://schemas.openxmlformats.org/officeDocument/2006/relationships/image" Target="../media/image101.svg"/><Relationship Id="rId1" Type="http://schemas.openxmlformats.org/officeDocument/2006/relationships/image" Target="../media/image48.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2.xml"/><Relationship Id="rId2" Type="http://schemas.openxmlformats.org/officeDocument/2006/relationships/image" Target="../media/image6.svg"/><Relationship Id="rId1" Type="http://schemas.openxmlformats.org/officeDocument/2006/relationships/image" Target="../media/image104.pn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7.svg"/><Relationship Id="rId7" Type="http://schemas.openxmlformats.org/officeDocument/2006/relationships/image" Target="../media/image73.png"/><Relationship Id="rId6" Type="http://schemas.openxmlformats.org/officeDocument/2006/relationships/image" Target="../media/image15.svg"/><Relationship Id="rId5" Type="http://schemas.openxmlformats.org/officeDocument/2006/relationships/image" Target="../media/image55.png"/><Relationship Id="rId4" Type="http://schemas.openxmlformats.org/officeDocument/2006/relationships/image" Target="../media/image106.svg"/><Relationship Id="rId3" Type="http://schemas.openxmlformats.org/officeDocument/2006/relationships/image" Target="../media/image105.png"/><Relationship Id="rId2" Type="http://schemas.openxmlformats.org/officeDocument/2006/relationships/image" Target="../media/image31.svg"/><Relationship Id="rId10" Type="http://schemas.openxmlformats.org/officeDocument/2006/relationships/notesSlide" Target="../notesSlides/notesSlide22.xml"/><Relationship Id="rId1" Type="http://schemas.openxmlformats.org/officeDocument/2006/relationships/image" Target="../media/image75.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14.svg"/><Relationship Id="rId7" Type="http://schemas.openxmlformats.org/officeDocument/2006/relationships/image" Target="../media/image113.png"/><Relationship Id="rId6" Type="http://schemas.openxmlformats.org/officeDocument/2006/relationships/image" Target="../media/image112.svg"/><Relationship Id="rId5" Type="http://schemas.openxmlformats.org/officeDocument/2006/relationships/image" Target="../media/image111.png"/><Relationship Id="rId4" Type="http://schemas.openxmlformats.org/officeDocument/2006/relationships/image" Target="../media/image110.svg"/><Relationship Id="rId3" Type="http://schemas.openxmlformats.org/officeDocument/2006/relationships/image" Target="../media/image109.png"/><Relationship Id="rId2" Type="http://schemas.openxmlformats.org/officeDocument/2006/relationships/image" Target="../media/image108.svg"/><Relationship Id="rId10" Type="http://schemas.openxmlformats.org/officeDocument/2006/relationships/notesSlide" Target="../notesSlides/notesSlide23.xml"/><Relationship Id="rId1" Type="http://schemas.openxmlformats.org/officeDocument/2006/relationships/image" Target="../media/image107.pn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7.svg"/><Relationship Id="rId7" Type="http://schemas.openxmlformats.org/officeDocument/2006/relationships/image" Target="../media/image73.png"/><Relationship Id="rId6" Type="http://schemas.openxmlformats.org/officeDocument/2006/relationships/image" Target="../media/image116.svg"/><Relationship Id="rId5" Type="http://schemas.openxmlformats.org/officeDocument/2006/relationships/image" Target="../media/image115.png"/><Relationship Id="rId4" Type="http://schemas.openxmlformats.org/officeDocument/2006/relationships/image" Target="../media/image39.svg"/><Relationship Id="rId3" Type="http://schemas.openxmlformats.org/officeDocument/2006/relationships/image" Target="../media/image48.png"/><Relationship Id="rId2" Type="http://schemas.openxmlformats.org/officeDocument/2006/relationships/image" Target="../media/image27.svg"/><Relationship Id="rId10" Type="http://schemas.openxmlformats.org/officeDocument/2006/relationships/notesSlide" Target="../notesSlides/notesSlide24.xml"/><Relationship Id="rId1" Type="http://schemas.openxmlformats.org/officeDocument/2006/relationships/image" Target="../media/image44.png"/></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7.svg"/><Relationship Id="rId7" Type="http://schemas.openxmlformats.org/officeDocument/2006/relationships/image" Target="../media/image73.png"/><Relationship Id="rId6" Type="http://schemas.openxmlformats.org/officeDocument/2006/relationships/image" Target="../media/image120.svg"/><Relationship Id="rId5" Type="http://schemas.openxmlformats.org/officeDocument/2006/relationships/image" Target="../media/image119.png"/><Relationship Id="rId4" Type="http://schemas.openxmlformats.org/officeDocument/2006/relationships/image" Target="../media/image118.svg"/><Relationship Id="rId3" Type="http://schemas.openxmlformats.org/officeDocument/2006/relationships/image" Target="../media/image117.png"/><Relationship Id="rId2" Type="http://schemas.openxmlformats.org/officeDocument/2006/relationships/image" Target="../media/image83.svg"/><Relationship Id="rId10" Type="http://schemas.openxmlformats.org/officeDocument/2006/relationships/notesSlide" Target="../notesSlides/notesSlide25.xml"/><Relationship Id="rId1" Type="http://schemas.openxmlformats.org/officeDocument/2006/relationships/image" Target="../media/image82.png"/></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6.xml"/><Relationship Id="rId7" Type="http://schemas.openxmlformats.org/officeDocument/2006/relationships/slideLayout" Target="../slideLayouts/slideLayout12.xml"/><Relationship Id="rId6" Type="http://schemas.openxmlformats.org/officeDocument/2006/relationships/image" Target="../media/image15.svg"/><Relationship Id="rId5" Type="http://schemas.openxmlformats.org/officeDocument/2006/relationships/image" Target="../media/image55.png"/><Relationship Id="rId4" Type="http://schemas.openxmlformats.org/officeDocument/2006/relationships/image" Target="../media/image122.svg"/><Relationship Id="rId3" Type="http://schemas.openxmlformats.org/officeDocument/2006/relationships/image" Target="../media/image121.png"/><Relationship Id="rId2" Type="http://schemas.openxmlformats.org/officeDocument/2006/relationships/image" Target="../media/image85.svg"/><Relationship Id="rId1" Type="http://schemas.openxmlformats.org/officeDocument/2006/relationships/image" Target="../media/image84.png"/></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2.svg"/><Relationship Id="rId7" Type="http://schemas.openxmlformats.org/officeDocument/2006/relationships/image" Target="../media/image121.png"/><Relationship Id="rId6" Type="http://schemas.openxmlformats.org/officeDocument/2006/relationships/image" Target="../media/image25.svg"/><Relationship Id="rId5" Type="http://schemas.openxmlformats.org/officeDocument/2006/relationships/image" Target="../media/image92.png"/><Relationship Id="rId4" Type="http://schemas.openxmlformats.org/officeDocument/2006/relationships/image" Target="../media/image21.svg"/><Relationship Id="rId3" Type="http://schemas.openxmlformats.org/officeDocument/2006/relationships/image" Target="../media/image49.png"/><Relationship Id="rId2" Type="http://schemas.openxmlformats.org/officeDocument/2006/relationships/image" Target="../media/image27.svg"/><Relationship Id="rId10" Type="http://schemas.openxmlformats.org/officeDocument/2006/relationships/notesSlide" Target="../notesSlides/notesSlide27.xml"/><Relationship Id="rId1" Type="http://schemas.openxmlformats.org/officeDocument/2006/relationships/image" Target="../media/image44.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2.xml"/><Relationship Id="rId2" Type="http://schemas.openxmlformats.org/officeDocument/2006/relationships/image" Target="../media/image124.svg"/><Relationship Id="rId1" Type="http://schemas.openxmlformats.org/officeDocument/2006/relationships/image" Target="../media/image123.png"/></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8.svg"/><Relationship Id="rId7" Type="http://schemas.openxmlformats.org/officeDocument/2006/relationships/image" Target="../media/image127.png"/><Relationship Id="rId6" Type="http://schemas.openxmlformats.org/officeDocument/2006/relationships/image" Target="../media/image31.svg"/><Relationship Id="rId5" Type="http://schemas.openxmlformats.org/officeDocument/2006/relationships/image" Target="../media/image75.png"/><Relationship Id="rId4" Type="http://schemas.openxmlformats.org/officeDocument/2006/relationships/image" Target="../media/image17.svg"/><Relationship Id="rId3" Type="http://schemas.openxmlformats.org/officeDocument/2006/relationships/image" Target="../media/image73.png"/><Relationship Id="rId2" Type="http://schemas.openxmlformats.org/officeDocument/2006/relationships/image" Target="../media/image126.svg"/><Relationship Id="rId10" Type="http://schemas.openxmlformats.org/officeDocument/2006/relationships/notesSlide" Target="../notesSlides/notesSlide29.xml"/><Relationship Id="rId1" Type="http://schemas.openxmlformats.org/officeDocument/2006/relationships/image" Target="../media/image125.png"/></Relationships>
</file>

<file path=ppt/slides/_rels/slide30.xml.rels><?xml version="1.0" encoding="UTF-8" standalone="yes"?>
<Relationships xmlns="http://schemas.openxmlformats.org/package/2006/relationships"><Relationship Id="rId9" Type="http://schemas.openxmlformats.org/officeDocument/2006/relationships/image" Target="../media/image135.png"/><Relationship Id="rId8" Type="http://schemas.openxmlformats.org/officeDocument/2006/relationships/image" Target="../media/image134.svg"/><Relationship Id="rId7" Type="http://schemas.openxmlformats.org/officeDocument/2006/relationships/image" Target="../media/image133.png"/><Relationship Id="rId6" Type="http://schemas.openxmlformats.org/officeDocument/2006/relationships/image" Target="../media/image132.svg"/><Relationship Id="rId5" Type="http://schemas.openxmlformats.org/officeDocument/2006/relationships/image" Target="../media/image131.png"/><Relationship Id="rId4" Type="http://schemas.openxmlformats.org/officeDocument/2006/relationships/image" Target="../media/image130.svg"/><Relationship Id="rId3" Type="http://schemas.openxmlformats.org/officeDocument/2006/relationships/image" Target="../media/image129.png"/><Relationship Id="rId2" Type="http://schemas.openxmlformats.org/officeDocument/2006/relationships/image" Target="../media/image106.svg"/><Relationship Id="rId18" Type="http://schemas.openxmlformats.org/officeDocument/2006/relationships/notesSlide" Target="../notesSlides/notesSlide30.xml"/><Relationship Id="rId17" Type="http://schemas.openxmlformats.org/officeDocument/2006/relationships/slideLayout" Target="../slideLayouts/slideLayout12.xml"/><Relationship Id="rId16" Type="http://schemas.openxmlformats.org/officeDocument/2006/relationships/image" Target="../media/image142.svg"/><Relationship Id="rId15" Type="http://schemas.openxmlformats.org/officeDocument/2006/relationships/image" Target="../media/image141.png"/><Relationship Id="rId14" Type="http://schemas.openxmlformats.org/officeDocument/2006/relationships/image" Target="../media/image140.svg"/><Relationship Id="rId13" Type="http://schemas.openxmlformats.org/officeDocument/2006/relationships/image" Target="../media/image139.png"/><Relationship Id="rId12" Type="http://schemas.openxmlformats.org/officeDocument/2006/relationships/image" Target="../media/image138.svg"/><Relationship Id="rId11" Type="http://schemas.openxmlformats.org/officeDocument/2006/relationships/image" Target="../media/image137.png"/><Relationship Id="rId10" Type="http://schemas.openxmlformats.org/officeDocument/2006/relationships/image" Target="../media/image136.svg"/><Relationship Id="rId1" Type="http://schemas.openxmlformats.org/officeDocument/2006/relationships/image" Target="../media/image105.png"/></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48.svg"/><Relationship Id="rId7" Type="http://schemas.openxmlformats.org/officeDocument/2006/relationships/image" Target="../media/image147.png"/><Relationship Id="rId6" Type="http://schemas.openxmlformats.org/officeDocument/2006/relationships/image" Target="../media/image146.svg"/><Relationship Id="rId5" Type="http://schemas.openxmlformats.org/officeDocument/2006/relationships/image" Target="../media/image145.png"/><Relationship Id="rId4" Type="http://schemas.openxmlformats.org/officeDocument/2006/relationships/image" Target="../media/image144.svg"/><Relationship Id="rId3" Type="http://schemas.openxmlformats.org/officeDocument/2006/relationships/image" Target="../media/image143.png"/><Relationship Id="rId2" Type="http://schemas.openxmlformats.org/officeDocument/2006/relationships/image" Target="../media/image21.svg"/><Relationship Id="rId10" Type="http://schemas.openxmlformats.org/officeDocument/2006/relationships/notesSlide" Target="../notesSlides/notesSlide31.xml"/><Relationship Id="rId1" Type="http://schemas.openxmlformats.org/officeDocument/2006/relationships/image" Target="../media/image49.png"/></Relationships>
</file>

<file path=ppt/slides/_rels/slide3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52.svg"/><Relationship Id="rId7" Type="http://schemas.openxmlformats.org/officeDocument/2006/relationships/image" Target="../media/image151.png"/><Relationship Id="rId6" Type="http://schemas.openxmlformats.org/officeDocument/2006/relationships/image" Target="../media/image150.svg"/><Relationship Id="rId5" Type="http://schemas.openxmlformats.org/officeDocument/2006/relationships/image" Target="../media/image149.png"/><Relationship Id="rId4" Type="http://schemas.openxmlformats.org/officeDocument/2006/relationships/image" Target="../media/image144.svg"/><Relationship Id="rId3" Type="http://schemas.openxmlformats.org/officeDocument/2006/relationships/image" Target="../media/image143.png"/><Relationship Id="rId2" Type="http://schemas.openxmlformats.org/officeDocument/2006/relationships/image" Target="../media/image25.svg"/><Relationship Id="rId10" Type="http://schemas.openxmlformats.org/officeDocument/2006/relationships/notesSlide" Target="../notesSlides/notesSlide32.xml"/><Relationship Id="rId1" Type="http://schemas.openxmlformats.org/officeDocument/2006/relationships/image" Target="../media/image92.png"/></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56.svg"/><Relationship Id="rId7" Type="http://schemas.openxmlformats.org/officeDocument/2006/relationships/image" Target="../media/image155.png"/><Relationship Id="rId6" Type="http://schemas.openxmlformats.org/officeDocument/2006/relationships/image" Target="../media/image136.svg"/><Relationship Id="rId5" Type="http://schemas.openxmlformats.org/officeDocument/2006/relationships/image" Target="../media/image135.png"/><Relationship Id="rId4" Type="http://schemas.openxmlformats.org/officeDocument/2006/relationships/image" Target="../media/image154.svg"/><Relationship Id="rId3" Type="http://schemas.openxmlformats.org/officeDocument/2006/relationships/image" Target="../media/image153.png"/><Relationship Id="rId2" Type="http://schemas.openxmlformats.org/officeDocument/2006/relationships/image" Target="../media/image15.svg"/><Relationship Id="rId10" Type="http://schemas.openxmlformats.org/officeDocument/2006/relationships/notesSlide" Target="../notesSlides/notesSlide33.xml"/><Relationship Id="rId1" Type="http://schemas.openxmlformats.org/officeDocument/2006/relationships/image" Target="../media/image55.png"/></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4.xml"/><Relationship Id="rId7" Type="http://schemas.openxmlformats.org/officeDocument/2006/relationships/slideLayout" Target="../slideLayouts/slideLayout12.xml"/><Relationship Id="rId6" Type="http://schemas.openxmlformats.org/officeDocument/2006/relationships/image" Target="../media/image27.svg"/><Relationship Id="rId5" Type="http://schemas.openxmlformats.org/officeDocument/2006/relationships/image" Target="../media/image44.png"/><Relationship Id="rId4" Type="http://schemas.openxmlformats.org/officeDocument/2006/relationships/image" Target="../media/image39.svg"/><Relationship Id="rId3" Type="http://schemas.openxmlformats.org/officeDocument/2006/relationships/image" Target="../media/image48.png"/><Relationship Id="rId2" Type="http://schemas.openxmlformats.org/officeDocument/2006/relationships/image" Target="../media/image21.svg"/><Relationship Id="rId1" Type="http://schemas.openxmlformats.org/officeDocument/2006/relationships/image" Target="../media/image49.png"/></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62.svg"/><Relationship Id="rId7" Type="http://schemas.openxmlformats.org/officeDocument/2006/relationships/image" Target="../media/image161.png"/><Relationship Id="rId6" Type="http://schemas.openxmlformats.org/officeDocument/2006/relationships/image" Target="../media/image160.svg"/><Relationship Id="rId5" Type="http://schemas.openxmlformats.org/officeDocument/2006/relationships/image" Target="../media/image159.png"/><Relationship Id="rId4" Type="http://schemas.openxmlformats.org/officeDocument/2006/relationships/image" Target="../media/image158.svg"/><Relationship Id="rId3" Type="http://schemas.openxmlformats.org/officeDocument/2006/relationships/image" Target="../media/image157.png"/><Relationship Id="rId2" Type="http://schemas.openxmlformats.org/officeDocument/2006/relationships/image" Target="../media/image114.svg"/><Relationship Id="rId10" Type="http://schemas.openxmlformats.org/officeDocument/2006/relationships/notesSlide" Target="../notesSlides/notesSlide35.xml"/><Relationship Id="rId1" Type="http://schemas.openxmlformats.org/officeDocument/2006/relationships/image" Target="../media/image113.png"/></Relationships>
</file>

<file path=ppt/slides/_rels/slide36.xml.rels><?xml version="1.0" encoding="UTF-8" standalone="yes"?>
<Relationships xmlns="http://schemas.openxmlformats.org/package/2006/relationships"><Relationship Id="rId8" Type="http://schemas.openxmlformats.org/officeDocument/2006/relationships/notesSlide" Target="../notesSlides/notesSlide36.xml"/><Relationship Id="rId7" Type="http://schemas.openxmlformats.org/officeDocument/2006/relationships/slideLayout" Target="../slideLayouts/slideLayout12.xml"/><Relationship Id="rId6" Type="http://schemas.openxmlformats.org/officeDocument/2006/relationships/image" Target="../media/image168.svg"/><Relationship Id="rId5" Type="http://schemas.openxmlformats.org/officeDocument/2006/relationships/image" Target="../media/image167.png"/><Relationship Id="rId4" Type="http://schemas.openxmlformats.org/officeDocument/2006/relationships/image" Target="../media/image166.svg"/><Relationship Id="rId3" Type="http://schemas.openxmlformats.org/officeDocument/2006/relationships/image" Target="../media/image165.png"/><Relationship Id="rId2" Type="http://schemas.openxmlformats.org/officeDocument/2006/relationships/image" Target="../media/image164.svg"/><Relationship Id="rId1" Type="http://schemas.openxmlformats.org/officeDocument/2006/relationships/image" Target="../media/image163.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2.xml"/><Relationship Id="rId2" Type="http://schemas.openxmlformats.org/officeDocument/2006/relationships/image" Target="../media/image170.svg"/><Relationship Id="rId1" Type="http://schemas.openxmlformats.org/officeDocument/2006/relationships/image" Target="../media/image169.png"/></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slideLayout" Target="../slideLayouts/slideLayout12.xml"/><Relationship Id="rId6" Type="http://schemas.openxmlformats.org/officeDocument/2006/relationships/image" Target="../media/image173.svg"/><Relationship Id="rId5" Type="http://schemas.openxmlformats.org/officeDocument/2006/relationships/image" Target="../media/image172.png"/><Relationship Id="rId4" Type="http://schemas.openxmlformats.org/officeDocument/2006/relationships/image" Target="../media/image160.svg"/><Relationship Id="rId3" Type="http://schemas.openxmlformats.org/officeDocument/2006/relationships/image" Target="../media/image159.png"/><Relationship Id="rId2" Type="http://schemas.openxmlformats.org/officeDocument/2006/relationships/image" Target="../media/image11.svg"/><Relationship Id="rId1" Type="http://schemas.openxmlformats.org/officeDocument/2006/relationships/image" Target="../media/image171.png"/></Relationships>
</file>

<file path=ppt/slides/_rels/slide3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60.svg"/><Relationship Id="rId7" Type="http://schemas.openxmlformats.org/officeDocument/2006/relationships/image" Target="../media/image159.png"/><Relationship Id="rId6" Type="http://schemas.openxmlformats.org/officeDocument/2006/relationships/image" Target="../media/image158.svg"/><Relationship Id="rId5" Type="http://schemas.openxmlformats.org/officeDocument/2006/relationships/image" Target="../media/image157.png"/><Relationship Id="rId4" Type="http://schemas.openxmlformats.org/officeDocument/2006/relationships/image" Target="../media/image31.svg"/><Relationship Id="rId3" Type="http://schemas.openxmlformats.org/officeDocument/2006/relationships/image" Target="../media/image75.png"/><Relationship Id="rId2" Type="http://schemas.openxmlformats.org/officeDocument/2006/relationships/image" Target="../media/image21.svg"/><Relationship Id="rId10" Type="http://schemas.openxmlformats.org/officeDocument/2006/relationships/notesSlide" Target="../notesSlides/notesSlide39.xml"/><Relationship Id="rId1" Type="http://schemas.openxmlformats.org/officeDocument/2006/relationships/image" Target="../media/image49.png"/></Relationships>
</file>

<file path=ppt/slides/_rels/slide4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77.svg"/><Relationship Id="rId7" Type="http://schemas.openxmlformats.org/officeDocument/2006/relationships/image" Target="../media/image176.png"/><Relationship Id="rId6" Type="http://schemas.openxmlformats.org/officeDocument/2006/relationships/image" Target="../media/image175.svg"/><Relationship Id="rId5" Type="http://schemas.openxmlformats.org/officeDocument/2006/relationships/image" Target="../media/image174.png"/><Relationship Id="rId4" Type="http://schemas.openxmlformats.org/officeDocument/2006/relationships/image" Target="../media/image31.svg"/><Relationship Id="rId3" Type="http://schemas.openxmlformats.org/officeDocument/2006/relationships/image" Target="../media/image75.png"/><Relationship Id="rId2" Type="http://schemas.openxmlformats.org/officeDocument/2006/relationships/image" Target="../media/image97.svg"/><Relationship Id="rId10" Type="http://schemas.openxmlformats.org/officeDocument/2006/relationships/notesSlide" Target="../notesSlides/notesSlide40.xml"/><Relationship Id="rId1" Type="http://schemas.openxmlformats.org/officeDocument/2006/relationships/image" Target="../media/image96.png"/></Relationships>
</file>

<file path=ppt/slides/_rels/slide41.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83.svg"/><Relationship Id="rId7" Type="http://schemas.openxmlformats.org/officeDocument/2006/relationships/image" Target="../media/image182.png"/><Relationship Id="rId6" Type="http://schemas.openxmlformats.org/officeDocument/2006/relationships/image" Target="../media/image181.svg"/><Relationship Id="rId5" Type="http://schemas.openxmlformats.org/officeDocument/2006/relationships/image" Target="../media/image180.png"/><Relationship Id="rId4" Type="http://schemas.openxmlformats.org/officeDocument/2006/relationships/image" Target="../media/image179.svg"/><Relationship Id="rId3" Type="http://schemas.openxmlformats.org/officeDocument/2006/relationships/image" Target="../media/image178.png"/><Relationship Id="rId2" Type="http://schemas.openxmlformats.org/officeDocument/2006/relationships/image" Target="../media/image31.svg"/><Relationship Id="rId10" Type="http://schemas.openxmlformats.org/officeDocument/2006/relationships/notesSlide" Target="../notesSlides/notesSlide41.xml"/><Relationship Id="rId1" Type="http://schemas.openxmlformats.org/officeDocument/2006/relationships/image" Target="../media/image75.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2.xml"/><Relationship Id="rId2" Type="http://schemas.openxmlformats.org/officeDocument/2006/relationships/image" Target="../media/image124.svg"/><Relationship Id="rId1" Type="http://schemas.openxmlformats.org/officeDocument/2006/relationships/image" Target="../media/image123.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12.xml"/><Relationship Id="rId2" Type="http://schemas.openxmlformats.org/officeDocument/2006/relationships/image" Target="../media/image185.svg"/><Relationship Id="rId1" Type="http://schemas.openxmlformats.org/officeDocument/2006/relationships/image" Target="../media/image18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525000" y="4445000"/>
            <a:ext cx="3810000" cy="3810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016000"/>
            <a:ext cx="812800" cy="812800"/>
          </a:xfrm>
          <a:prstGeom prst="rect">
            <a:avLst/>
          </a:prstGeom>
        </p:spPr>
      </p:pic>
      <p:sp>
        <p:nvSpPr>
          <p:cNvPr id="5" name="AutoShape 5"/>
          <p:cNvSpPr/>
          <p:nvPr/>
        </p:nvSpPr>
        <p:spPr>
          <a:xfrm>
            <a:off x="508000" y="2032000"/>
            <a:ext cx="11176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88D1"/>
                </a:solidFill>
                <a:latin typeface="Noto Sans SC"/>
                <a:ea typeface="Noto Sans SC"/>
                <a:cs typeface="Noto Sans SC"/>
                <a:sym typeface="Noto Sans SC"/>
              </a:rPr>
              <a:t>数字人直播间实时问答互动项目实战</a:t>
            </a:r>
            <a:endParaRPr lang="en-US" sz="1100"/>
          </a:p>
        </p:txBody>
      </p:sp>
      <p:cxnSp>
        <p:nvCxnSpPr>
          <p:cNvPr id="6" name="Connector 6"/>
          <p:cNvCxnSpPr/>
          <p:nvPr/>
        </p:nvCxnSpPr>
        <p:spPr>
          <a:xfrm rot="-17188">
            <a:off x="4826016" y="2851150"/>
            <a:ext cx="2540000" cy="12700"/>
          </a:xfrm>
          <a:prstGeom prst="straightConnector1">
            <a:avLst/>
          </a:prstGeom>
          <a:solidFill>
            <a:srgbClr val="DEE0E3">
              <a:alpha val="100000"/>
            </a:srgbClr>
          </a:solidFill>
          <a:ln w="25400" cap="flat" cmpd="sng">
            <a:solidFill>
              <a:srgbClr val="0288D1">
                <a:alpha val="30000"/>
              </a:srgbClr>
            </a:solidFill>
            <a:prstDash val="solid"/>
            <a:round/>
            <a:headEnd type="none" w="lg" len="lg"/>
            <a:tailEnd type="none" w="lg" len="lg"/>
          </a:ln>
        </p:spPr>
      </p:cxnSp>
      <p:sp>
        <p:nvSpPr>
          <p:cNvPr id="7" name="AutoShape 7"/>
          <p:cNvSpPr/>
          <p:nvPr/>
        </p:nvSpPr>
        <p:spPr>
          <a:xfrm>
            <a:off x="508000" y="3048000"/>
            <a:ext cx="11176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757575"/>
                </a:solidFill>
                <a:latin typeface="Noto Sans SC"/>
                <a:ea typeface="Noto Sans SC"/>
                <a:cs typeface="Noto Sans SC"/>
                <a:sym typeface="Noto Sans SC"/>
              </a:rPr>
              <a:t>基于RAG技术的智能问答系统构建</a:t>
            </a:r>
            <a:endParaRPr lang="en-US" sz="1100"/>
          </a:p>
        </p:txBody>
      </p:sp>
      <p:sp>
        <p:nvSpPr>
          <p:cNvPr id="8" name="AutoShape 8"/>
          <p:cNvSpPr/>
          <p:nvPr/>
        </p:nvSpPr>
        <p:spPr>
          <a:xfrm>
            <a:off x="5080000" y="4826000"/>
            <a:ext cx="2032000" cy="457200"/>
          </a:xfrm>
          <a:prstGeom prst="roundRect">
            <a:avLst>
              <a:gd name="adj" fmla="val 50000"/>
            </a:avLst>
          </a:prstGeom>
          <a:solidFill>
            <a:srgbClr val="0288D1">
              <a:alpha val="1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5080000" y="4826000"/>
            <a:ext cx="2032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0288D1"/>
                </a:solidFill>
                <a:latin typeface="Noto Sans SC"/>
                <a:ea typeface="Noto Sans SC"/>
                <a:cs typeface="Noto Sans SC"/>
                <a:sym typeface="Noto Sans SC"/>
              </a:rPr>
              <a:t>大学教学课件</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目录</a:t>
            </a:r>
            <a:endParaRPr lang="en-US" sz="1100"/>
          </a:p>
        </p:txBody>
      </p:sp>
      <p:sp>
        <p:nvSpPr>
          <p:cNvPr id="3" name="AutoShape 3"/>
          <p:cNvSpPr/>
          <p:nvPr/>
        </p:nvSpPr>
        <p:spPr>
          <a:xfrm>
            <a:off x="762000" y="1397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01. RAG知识库的构建</a:t>
            </a:r>
            <a:endParaRPr lang="en-US" sz="1100"/>
          </a:p>
        </p:txBody>
      </p:sp>
      <p:sp>
        <p:nvSpPr>
          <p:cNvPr id="6" name="AutoShape 6"/>
          <p:cNvSpPr/>
          <p:nvPr/>
        </p:nvSpPr>
        <p:spPr>
          <a:xfrm>
            <a:off x="1016000" y="2095500"/>
            <a:ext cx="4699000" cy="1270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757575"/>
              </a:buClr>
              <a:buChar char="•"/>
              <a:defRPr/>
            </a:pPr>
            <a:r>
              <a:rPr lang="en-US" sz="1600" b="0" i="0" u="none" strike="noStrike">
                <a:solidFill>
                  <a:srgbClr val="757575"/>
                </a:solidFill>
                <a:latin typeface="Noto Sans SC"/>
                <a:ea typeface="Noto Sans SC"/>
                <a:cs typeface="Noto Sans SC"/>
                <a:sym typeface="Noto Sans SC"/>
              </a:rPr>
              <a:t>基本概念与流程</a:t>
            </a:r>
            <a:endParaRPr lang="en-US" sz="1100"/>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发展与挑战</a:t>
            </a:r>
            <a:endParaRPr lang="en-US" sz="1600" b="0" i="0" u="none" strike="noStrike">
              <a:solidFill>
                <a:srgbClr val="757575"/>
              </a:solidFill>
              <a:latin typeface="Noto Sans SC"/>
              <a:ea typeface="Noto Sans SC"/>
              <a:cs typeface="Noto Sans SC"/>
              <a:sym typeface="Noto Sans SC"/>
            </a:endParaRPr>
          </a:p>
        </p:txBody>
      </p:sp>
      <p:sp>
        <p:nvSpPr>
          <p:cNvPr id="7" name="AutoShape 7"/>
          <p:cNvSpPr/>
          <p:nvPr/>
        </p:nvSpPr>
        <p:spPr>
          <a:xfrm>
            <a:off x="6223000" y="1397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651000"/>
            <a:ext cx="406400" cy="406400"/>
          </a:xfrm>
          <a:prstGeom prst="rect">
            <a:avLst/>
          </a:prstGeom>
        </p:spPr>
      </p:pic>
      <p:sp>
        <p:nvSpPr>
          <p:cNvPr id="9" name="AutoShape 9"/>
          <p:cNvSpPr/>
          <p:nvPr/>
        </p:nvSpPr>
        <p:spPr>
          <a:xfrm>
            <a:off x="6985000" y="160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02. RAG知识库的优化策略</a:t>
            </a:r>
            <a:endParaRPr lang="en-US" sz="1100"/>
          </a:p>
        </p:txBody>
      </p:sp>
      <p:sp>
        <p:nvSpPr>
          <p:cNvPr id="10" name="AutoShape 10"/>
          <p:cNvSpPr/>
          <p:nvPr/>
        </p:nvSpPr>
        <p:spPr>
          <a:xfrm>
            <a:off x="6477000" y="2095500"/>
            <a:ext cx="4699000" cy="1270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757575"/>
              </a:buClr>
              <a:buChar char="•"/>
              <a:defRPr/>
            </a:pPr>
            <a:r>
              <a:rPr lang="en-US" sz="1600" b="0" i="0" u="none" strike="noStrike">
                <a:solidFill>
                  <a:srgbClr val="757575"/>
                </a:solidFill>
                <a:latin typeface="Noto Sans SC"/>
                <a:ea typeface="Noto Sans SC"/>
                <a:cs typeface="Noto Sans SC"/>
                <a:sym typeface="Noto Sans SC"/>
              </a:rPr>
              <a:t>非结构化文档解析</a:t>
            </a:r>
            <a:endParaRPr lang="en-US" sz="1100"/>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文档分块、Embedding、Rewrite、Rerank</a:t>
            </a:r>
            <a:endParaRPr lang="en-US" sz="1600" b="0" i="0" u="none" strike="noStrike">
              <a:solidFill>
                <a:srgbClr val="757575"/>
              </a:solidFill>
              <a:latin typeface="Noto Sans SC"/>
              <a:ea typeface="Noto Sans SC"/>
              <a:cs typeface="Noto Sans SC"/>
              <a:sym typeface="Noto Sans SC"/>
            </a:endParaRPr>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混合检索优化</a:t>
            </a:r>
            <a:endParaRPr lang="en-US" sz="16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762000" y="3810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064000"/>
            <a:ext cx="406400" cy="406400"/>
          </a:xfrm>
          <a:prstGeom prst="rect">
            <a:avLst/>
          </a:prstGeom>
        </p:spPr>
      </p:pic>
      <p:sp>
        <p:nvSpPr>
          <p:cNvPr id="13" name="AutoShape 13"/>
          <p:cNvSpPr/>
          <p:nvPr/>
        </p:nvSpPr>
        <p:spPr>
          <a:xfrm>
            <a:off x="1524000" y="4013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03. 数字人直播间互动问答项目实战</a:t>
            </a:r>
            <a:endParaRPr lang="en-US" sz="1100"/>
          </a:p>
        </p:txBody>
      </p:sp>
      <p:sp>
        <p:nvSpPr>
          <p:cNvPr id="14" name="AutoShape 14"/>
          <p:cNvSpPr/>
          <p:nvPr/>
        </p:nvSpPr>
        <p:spPr>
          <a:xfrm>
            <a:off x="1016000" y="4508500"/>
            <a:ext cx="4699000" cy="1270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757575"/>
              </a:buClr>
              <a:buChar char="•"/>
              <a:defRPr/>
            </a:pPr>
            <a:r>
              <a:rPr lang="en-US" sz="1600" b="0" i="0" u="none" strike="noStrike">
                <a:solidFill>
                  <a:srgbClr val="757575"/>
                </a:solidFill>
                <a:latin typeface="Noto Sans SC"/>
                <a:ea typeface="Noto Sans SC"/>
                <a:cs typeface="Noto Sans SC"/>
                <a:sym typeface="Noto Sans SC"/>
              </a:rPr>
              <a:t>项目简介与现状</a:t>
            </a:r>
            <a:endParaRPr lang="en-US" sz="1100"/>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三种检索方法效果对比</a:t>
            </a:r>
            <a:endParaRPr lang="en-US" sz="1600" b="0" i="0" u="none" strike="noStrike">
              <a:solidFill>
                <a:srgbClr val="757575"/>
              </a:solidFill>
              <a:latin typeface="Noto Sans SC"/>
              <a:ea typeface="Noto Sans SC"/>
              <a:cs typeface="Noto Sans SC"/>
              <a:sym typeface="Noto Sans SC"/>
            </a:endParaRPr>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基于LLM微调提升互动效果</a:t>
            </a:r>
            <a:endParaRPr lang="en-US" sz="1600" b="0" i="0" u="none" strike="noStrike">
              <a:solidFill>
                <a:srgbClr val="757575"/>
              </a:solidFill>
              <a:latin typeface="Noto Sans SC"/>
              <a:ea typeface="Noto Sans SC"/>
              <a:cs typeface="Noto Sans SC"/>
              <a:sym typeface="Noto Sans SC"/>
            </a:endParaRPr>
          </a:p>
        </p:txBody>
      </p:sp>
      <p:sp>
        <p:nvSpPr>
          <p:cNvPr id="15" name="AutoShape 15"/>
          <p:cNvSpPr/>
          <p:nvPr/>
        </p:nvSpPr>
        <p:spPr>
          <a:xfrm>
            <a:off x="6223000" y="3810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064000"/>
            <a:ext cx="406400" cy="406400"/>
          </a:xfrm>
          <a:prstGeom prst="rect">
            <a:avLst/>
          </a:prstGeom>
        </p:spPr>
      </p:pic>
      <p:sp>
        <p:nvSpPr>
          <p:cNvPr id="17" name="AutoShape 17"/>
          <p:cNvSpPr/>
          <p:nvPr/>
        </p:nvSpPr>
        <p:spPr>
          <a:xfrm>
            <a:off x="6985000" y="4013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04. 总结与展望</a:t>
            </a:r>
            <a:endParaRPr lang="en-US" sz="1100"/>
          </a:p>
        </p:txBody>
      </p:sp>
      <p:sp>
        <p:nvSpPr>
          <p:cNvPr id="18" name="AutoShape 18"/>
          <p:cNvSpPr/>
          <p:nvPr/>
        </p:nvSpPr>
        <p:spPr>
          <a:xfrm>
            <a:off x="6477000" y="4508500"/>
            <a:ext cx="4699000" cy="1270000"/>
          </a:xfrm>
          <a:prstGeom prst="rect">
            <a:avLst/>
          </a:prstGeom>
          <a:noFill/>
          <a:ln w="12700" cap="flat" cmpd="sng">
            <a:noFill/>
            <a:prstDash val="solid"/>
            <a:round/>
          </a:ln>
        </p:spPr>
        <p:txBody>
          <a:bodyPr vert="horz" wrap="square" lIns="0" tIns="0" rIns="0" bIns="0" rtlCol="0" anchor="ctr" anchorCtr="0"/>
          <a:lstStyle/>
          <a:p>
            <a:pPr marL="203200" indent="-203200" algn="l">
              <a:lnSpc>
                <a:spcPct val="125000"/>
              </a:lnSpc>
              <a:buClr>
                <a:srgbClr val="757575"/>
              </a:buClr>
              <a:buChar char="•"/>
              <a:defRPr/>
            </a:pPr>
            <a:r>
              <a:rPr lang="en-US" sz="1600" b="0" i="0" u="none" strike="noStrike">
                <a:solidFill>
                  <a:srgbClr val="757575"/>
                </a:solidFill>
                <a:latin typeface="Noto Sans SC"/>
                <a:ea typeface="Noto Sans SC"/>
                <a:cs typeface="Noto Sans SC"/>
                <a:sym typeface="Noto Sans SC"/>
              </a:rPr>
              <a:t>课程内容回顾</a:t>
            </a:r>
            <a:endParaRPr lang="en-US" sz="1100"/>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未来技术发展趋势</a:t>
            </a:r>
            <a:endParaRPr lang="en-US" sz="16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3810000" cy="3810000"/>
          </a:xfrm>
          <a:prstGeom prst="ellipse">
            <a:avLst/>
          </a:prstGeom>
          <a:solidFill>
            <a:srgbClr val="0288D1">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0" y="4445000"/>
            <a:ext cx="2540000" cy="2540000"/>
          </a:xfrm>
          <a:prstGeom prst="ellipse">
            <a:avLst/>
          </a:prstGeom>
          <a:solidFill>
            <a:srgbClr val="0288D1">
              <a:alpha val="5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651000"/>
            <a:ext cx="812800" cy="812800"/>
          </a:xfrm>
          <a:prstGeom prst="rect">
            <a:avLst/>
          </a:prstGeom>
        </p:spPr>
      </p:pic>
      <p:sp>
        <p:nvSpPr>
          <p:cNvPr id="5" name="AutoShape 5"/>
          <p:cNvSpPr/>
          <p:nvPr/>
        </p:nvSpPr>
        <p:spPr>
          <a:xfrm>
            <a:off x="1016000" y="2667000"/>
            <a:ext cx="1016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88D1"/>
                </a:solidFill>
                <a:latin typeface="Noto Sans SC"/>
                <a:ea typeface="Noto Sans SC"/>
                <a:cs typeface="Noto Sans SC"/>
                <a:sym typeface="Noto Sans SC"/>
              </a:rPr>
              <a:t>14.1 RAG知识库的构建</a:t>
            </a:r>
            <a:endParaRPr lang="en-US" sz="1100"/>
          </a:p>
        </p:txBody>
      </p:sp>
      <p:cxnSp>
        <p:nvCxnSpPr>
          <p:cNvPr id="6" name="Connector 6"/>
          <p:cNvCxnSpPr/>
          <p:nvPr/>
        </p:nvCxnSpPr>
        <p:spPr>
          <a:xfrm rot="-34376">
            <a:off x="5461032" y="3549650"/>
            <a:ext cx="1270000" cy="12700"/>
          </a:xfrm>
          <a:prstGeom prst="straightConnector1">
            <a:avLst/>
          </a:prstGeom>
          <a:solidFill>
            <a:srgbClr val="DEE0E3">
              <a:alpha val="100000"/>
            </a:srgbClr>
          </a:solidFill>
          <a:ln w="25400" cap="flat" cmpd="sng">
            <a:solidFill>
              <a:srgbClr val="757575">
                <a:alpha val="100000"/>
              </a:srgbClr>
            </a:solidFill>
            <a:prstDash val="solid"/>
            <a:round/>
            <a:headEnd type="none" w="lg" len="lg"/>
            <a:tailEnd type="none" w="lg" len="lg"/>
          </a:ln>
        </p:spPr>
      </p:cxnSp>
      <p:sp>
        <p:nvSpPr>
          <p:cNvPr id="7" name="AutoShape 7"/>
          <p:cNvSpPr/>
          <p:nvPr/>
        </p:nvSpPr>
        <p:spPr>
          <a:xfrm>
            <a:off x="1651000" y="3810000"/>
            <a:ext cx="889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800" b="0" i="0" u="none" strike="noStrike">
                <a:solidFill>
                  <a:srgbClr val="757575"/>
                </a:solidFill>
                <a:latin typeface="Noto Sans SC"/>
                <a:ea typeface="Noto Sans SC"/>
                <a:cs typeface="Noto Sans SC"/>
                <a:sym typeface="Noto Sans SC"/>
              </a:rPr>
              <a:t>项目基础 · 核心架构 · 实战指南</a:t>
            </a:r>
            <a:endParaRPr lang="en-US" sz="1100"/>
          </a:p>
        </p:txBody>
      </p:sp>
      <p:sp>
        <p:nvSpPr>
          <p:cNvPr id="8" name="AutoShape 8"/>
          <p:cNvSpPr/>
          <p:nvPr/>
        </p:nvSpPr>
        <p:spPr>
          <a:xfrm>
            <a:off x="0" y="609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57575">
                    <a:alpha val="60000"/>
                  </a:srgbClr>
                </a:solidFill>
                <a:latin typeface="Noto Sans SC"/>
                <a:ea typeface="Noto Sans SC"/>
                <a:cs typeface="Noto Sans SC"/>
                <a:sym typeface="Noto Sans SC"/>
              </a:rPr>
              <a:t>CHAPTER 14 · KNOWLEDGE BASE CONSTRUCTION</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0584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14.1.1 RAG知识库基本概念 - 起源</a:t>
            </a:r>
            <a:endParaRPr lang="en-US" sz="1100"/>
          </a:p>
        </p:txBody>
      </p:sp>
      <p:sp>
        <p:nvSpPr>
          <p:cNvPr id="3" name="AutoShape 3"/>
          <p:cNvSpPr/>
          <p:nvPr/>
        </p:nvSpPr>
        <p:spPr>
          <a:xfrm>
            <a:off x="762000" y="1524000"/>
            <a:ext cx="5207000" cy="1778000"/>
          </a:xfrm>
          <a:prstGeom prst="roundRect">
            <a:avLst>
              <a:gd name="adj" fmla="val 7142"/>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508000" cy="508000"/>
          </a:xfrm>
          <a:prstGeom prst="rect">
            <a:avLst/>
          </a:prstGeom>
        </p:spPr>
      </p:pic>
      <p:sp>
        <p:nvSpPr>
          <p:cNvPr id="5" name="AutoShape 5"/>
          <p:cNvSpPr/>
          <p:nvPr/>
        </p:nvSpPr>
        <p:spPr>
          <a:xfrm>
            <a:off x="1651000" y="1714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RAG的提出</a:t>
            </a:r>
            <a:endParaRPr lang="en-US" sz="1100"/>
          </a:p>
        </p:txBody>
      </p:sp>
      <p:sp>
        <p:nvSpPr>
          <p:cNvPr id="6" name="AutoShape 6"/>
          <p:cNvSpPr/>
          <p:nvPr/>
        </p:nvSpPr>
        <p:spPr>
          <a:xfrm>
            <a:off x="1651000" y="2159000"/>
            <a:ext cx="406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由Meta（原Facebook）在2020年首次提出，旨在解决生成模型的知识时效性问题。</a:t>
            </a:r>
            <a:endParaRPr lang="en-US" sz="1100"/>
          </a:p>
        </p:txBody>
      </p:sp>
      <p:sp>
        <p:nvSpPr>
          <p:cNvPr id="7" name="AutoShape 7"/>
          <p:cNvSpPr/>
          <p:nvPr/>
        </p:nvSpPr>
        <p:spPr>
          <a:xfrm>
            <a:off x="6223000" y="1524000"/>
            <a:ext cx="5207000" cy="1778000"/>
          </a:xfrm>
          <a:prstGeom prst="roundRect">
            <a:avLst>
              <a:gd name="adj" fmla="val 7142"/>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778000"/>
            <a:ext cx="508000" cy="508000"/>
          </a:xfrm>
          <a:prstGeom prst="rect">
            <a:avLst/>
          </a:prstGeom>
        </p:spPr>
      </p:pic>
      <p:sp>
        <p:nvSpPr>
          <p:cNvPr id="9" name="AutoShape 9"/>
          <p:cNvSpPr/>
          <p:nvPr/>
        </p:nvSpPr>
        <p:spPr>
          <a:xfrm>
            <a:off x="7112000" y="1714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核心思想</a:t>
            </a:r>
            <a:endParaRPr lang="en-US" sz="1100"/>
          </a:p>
        </p:txBody>
      </p:sp>
      <p:sp>
        <p:nvSpPr>
          <p:cNvPr id="10" name="AutoShape 10"/>
          <p:cNvSpPr/>
          <p:nvPr/>
        </p:nvSpPr>
        <p:spPr>
          <a:xfrm>
            <a:off x="7112000" y="2159000"/>
            <a:ext cx="406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结合信息检索（Retrieval）与生成模型（Generation），利用外部知识库辅助生成。</a:t>
            </a:r>
            <a:endParaRPr lang="en-US" sz="1100"/>
          </a:p>
        </p:txBody>
      </p:sp>
      <p:sp>
        <p:nvSpPr>
          <p:cNvPr id="11" name="AutoShape 11"/>
          <p:cNvSpPr/>
          <p:nvPr/>
        </p:nvSpPr>
        <p:spPr>
          <a:xfrm>
            <a:off x="762000" y="3556000"/>
            <a:ext cx="5207000" cy="1778000"/>
          </a:xfrm>
          <a:prstGeom prst="roundRect">
            <a:avLst>
              <a:gd name="adj" fmla="val 7142"/>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810000"/>
            <a:ext cx="508000" cy="508000"/>
          </a:xfrm>
          <a:prstGeom prst="rect">
            <a:avLst/>
          </a:prstGeom>
        </p:spPr>
      </p:pic>
      <p:sp>
        <p:nvSpPr>
          <p:cNvPr id="13" name="AutoShape 13"/>
          <p:cNvSpPr/>
          <p:nvPr/>
        </p:nvSpPr>
        <p:spPr>
          <a:xfrm>
            <a:off x="1651000" y="3746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核心目标</a:t>
            </a:r>
            <a:endParaRPr lang="en-US" sz="1100"/>
          </a:p>
        </p:txBody>
      </p:sp>
      <p:sp>
        <p:nvSpPr>
          <p:cNvPr id="14" name="AutoShape 14"/>
          <p:cNvSpPr/>
          <p:nvPr/>
        </p:nvSpPr>
        <p:spPr>
          <a:xfrm>
            <a:off x="1651000" y="4191000"/>
            <a:ext cx="406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利用嵌入向量（Embedding）技术，提升文本生成任务的准确性、相关性和质量。</a:t>
            </a:r>
            <a:endParaRPr lang="en-US" sz="1100"/>
          </a:p>
        </p:txBody>
      </p:sp>
      <p:sp>
        <p:nvSpPr>
          <p:cNvPr id="15" name="AutoShape 15"/>
          <p:cNvSpPr/>
          <p:nvPr/>
        </p:nvSpPr>
        <p:spPr>
          <a:xfrm>
            <a:off x="6223000" y="3556000"/>
            <a:ext cx="5207000" cy="1778000"/>
          </a:xfrm>
          <a:prstGeom prst="roundRect">
            <a:avLst>
              <a:gd name="adj" fmla="val 7142"/>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810000"/>
            <a:ext cx="508000" cy="508000"/>
          </a:xfrm>
          <a:prstGeom prst="rect">
            <a:avLst/>
          </a:prstGeom>
        </p:spPr>
      </p:pic>
      <p:sp>
        <p:nvSpPr>
          <p:cNvPr id="17" name="AutoShape 17"/>
          <p:cNvSpPr/>
          <p:nvPr/>
        </p:nvSpPr>
        <p:spPr>
          <a:xfrm>
            <a:off x="7112000" y="3746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主要步骤</a:t>
            </a:r>
            <a:endParaRPr lang="en-US" sz="1100"/>
          </a:p>
        </p:txBody>
      </p:sp>
      <p:sp>
        <p:nvSpPr>
          <p:cNvPr id="18" name="AutoShape 18"/>
          <p:cNvSpPr/>
          <p:nvPr/>
        </p:nvSpPr>
        <p:spPr>
          <a:xfrm>
            <a:off x="7112000" y="4191000"/>
            <a:ext cx="406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分为两个关键阶段：检索（Retrieval）获取相关知识，生成（Generation）整合信息作答。</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检索阶段 (Retrieval Stage)</a:t>
            </a:r>
            <a:endParaRPr lang="en-US" sz="1100"/>
          </a:p>
        </p:txBody>
      </p:sp>
      <p:sp>
        <p:nvSpPr>
          <p:cNvPr id="3" name="AutoShape 3"/>
          <p:cNvSpPr/>
          <p:nvPr/>
        </p:nvSpPr>
        <p:spPr>
          <a:xfrm>
            <a:off x="762000" y="1397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508000" cy="508000"/>
          </a:xfrm>
          <a:prstGeom prst="rect">
            <a:avLst/>
          </a:prstGeom>
        </p:spPr>
      </p:pic>
      <p:sp>
        <p:nvSpPr>
          <p:cNvPr id="5" name="AutoShape 5"/>
          <p:cNvSpPr/>
          <p:nvPr/>
        </p:nvSpPr>
        <p:spPr>
          <a:xfrm>
            <a:off x="1714500" y="1524000"/>
            <a:ext cx="94615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核心任务</a:t>
            </a:r>
            <a:endParaRPr lang="en-US" sz="1100"/>
          </a:p>
          <a:p>
            <a:pPr indent="0" algn="l">
              <a:lnSpc>
                <a:spcPct val="125000"/>
              </a:lnSpc>
            </a:pPr>
            <a:r>
              <a:rPr lang="en-US" sz="1800" b="0" i="0" u="none" strike="noStrike">
                <a:solidFill>
                  <a:srgbClr val="757575"/>
                </a:solidFill>
                <a:latin typeface="Noto Sans SC"/>
                <a:ea typeface="Noto Sans SC"/>
                <a:cs typeface="Noto Sans SC"/>
                <a:sym typeface="Noto Sans SC"/>
              </a:rPr>
              <a:t>从大型知识库中检索与用户输入查询最相关的文档或段落，为后续生成提供精准素材。</a:t>
            </a:r>
            <a:endParaRPr lang="en-US" sz="1800" b="0" i="0" u="none" strike="noStrike">
              <a:solidFill>
                <a:srgbClr val="757575"/>
              </a:solidFill>
              <a:latin typeface="Noto Sans SC"/>
              <a:ea typeface="Noto Sans SC"/>
              <a:cs typeface="Noto Sans SC"/>
              <a:sym typeface="Noto Sans SC"/>
            </a:endParaRPr>
          </a:p>
        </p:txBody>
      </p:sp>
      <p:sp>
        <p:nvSpPr>
          <p:cNvPr id="6" name="AutoShape 6"/>
          <p:cNvSpPr/>
          <p:nvPr/>
        </p:nvSpPr>
        <p:spPr>
          <a:xfrm>
            <a:off x="762000" y="2794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95500" y="2984500"/>
            <a:ext cx="762000" cy="762000"/>
          </a:xfrm>
          <a:prstGeom prst="rect">
            <a:avLst/>
          </a:prstGeom>
        </p:spPr>
      </p:pic>
      <p:sp>
        <p:nvSpPr>
          <p:cNvPr id="8" name="AutoShape 8"/>
          <p:cNvSpPr/>
          <p:nvPr/>
        </p:nvSpPr>
        <p:spPr>
          <a:xfrm>
            <a:off x="889000" y="3873500"/>
            <a:ext cx="3175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关键词检索</a:t>
            </a:r>
            <a:endParaRPr lang="en-US" sz="1100"/>
          </a:p>
          <a:p>
            <a:pPr indent="0" algn="ctr">
              <a:lnSpc>
                <a:spcPct val="125000"/>
              </a:lnSpc>
            </a:pPr>
            <a:r>
              <a:rPr lang="en-US" sz="1600" b="0" i="0" u="none" strike="noStrike">
                <a:solidFill>
                  <a:srgbClr val="757575"/>
                </a:solidFill>
                <a:latin typeface="Noto Sans SC"/>
                <a:ea typeface="Noto Sans SC"/>
                <a:cs typeface="Noto Sans SC"/>
                <a:sym typeface="Noto Sans SC"/>
              </a:rPr>
              <a:t>基于TF-IDF、BM25等传统统计方法，快速匹配关键词。</a:t>
            </a:r>
            <a:endParaRPr lang="en-US" sz="16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4381500" y="2794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15000" y="2984500"/>
            <a:ext cx="762000" cy="762000"/>
          </a:xfrm>
          <a:prstGeom prst="rect">
            <a:avLst/>
          </a:prstGeom>
        </p:spPr>
      </p:pic>
      <p:sp>
        <p:nvSpPr>
          <p:cNvPr id="11" name="AutoShape 11"/>
          <p:cNvSpPr/>
          <p:nvPr/>
        </p:nvSpPr>
        <p:spPr>
          <a:xfrm>
            <a:off x="4508500" y="3873500"/>
            <a:ext cx="3175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稠密向量检索</a:t>
            </a:r>
            <a:endParaRPr lang="en-US" sz="1100"/>
          </a:p>
          <a:p>
            <a:pPr indent="0" algn="ctr">
              <a:lnSpc>
                <a:spcPct val="125000"/>
              </a:lnSpc>
            </a:pPr>
            <a:r>
              <a:rPr lang="en-US" sz="1600" b="0" i="0" u="none" strike="noStrike">
                <a:solidFill>
                  <a:srgbClr val="757575"/>
                </a:solidFill>
                <a:latin typeface="Noto Sans SC"/>
                <a:ea typeface="Noto Sans SC"/>
                <a:cs typeface="Noto Sans SC"/>
                <a:sym typeface="Noto Sans SC"/>
              </a:rPr>
              <a:t>通过计算文本向量的相似度，捕捉深层语义关联。</a:t>
            </a:r>
            <a:endParaRPr lang="en-US" sz="16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8001000" y="2794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334500" y="2984500"/>
            <a:ext cx="762000" cy="762000"/>
          </a:xfrm>
          <a:prstGeom prst="rect">
            <a:avLst/>
          </a:prstGeom>
        </p:spPr>
      </p:pic>
      <p:sp>
        <p:nvSpPr>
          <p:cNvPr id="14" name="AutoShape 14"/>
          <p:cNvSpPr/>
          <p:nvPr/>
        </p:nvSpPr>
        <p:spPr>
          <a:xfrm>
            <a:off x="8128000" y="3873500"/>
            <a:ext cx="3175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混合检索</a:t>
            </a:r>
            <a:endParaRPr lang="en-US" sz="1100"/>
          </a:p>
          <a:p>
            <a:pPr indent="0" algn="ctr">
              <a:lnSpc>
                <a:spcPct val="125000"/>
              </a:lnSpc>
            </a:pPr>
            <a:r>
              <a:rPr lang="en-US" sz="1600" b="0" i="0" u="none" strike="noStrike">
                <a:solidFill>
                  <a:srgbClr val="757575"/>
                </a:solidFill>
                <a:latin typeface="Noto Sans SC"/>
                <a:ea typeface="Noto Sans SC"/>
                <a:cs typeface="Noto Sans SC"/>
                <a:sym typeface="Noto Sans SC"/>
              </a:rPr>
              <a:t>结合关键词的高效与向量的语义理解，提升召回率。</a:t>
            </a:r>
            <a:endParaRPr lang="en-US" sz="1600" b="0" i="0" u="none" strike="noStrike">
              <a:solidFill>
                <a:srgbClr val="757575"/>
              </a:solidFill>
              <a:latin typeface="Noto Sans SC"/>
              <a:ea typeface="Noto Sans SC"/>
              <a:cs typeface="Noto Sans SC"/>
              <a:sym typeface="Noto Sans SC"/>
            </a:endParaRPr>
          </a:p>
        </p:txBody>
      </p:sp>
      <p:sp>
        <p:nvSpPr>
          <p:cNvPr id="15" name="AutoShape 15"/>
          <p:cNvSpPr/>
          <p:nvPr/>
        </p:nvSpPr>
        <p:spPr>
          <a:xfrm>
            <a:off x="762000" y="5461000"/>
            <a:ext cx="10668000" cy="25400"/>
          </a:xfrm>
          <a:prstGeom prst="roundRect">
            <a:avLst>
              <a:gd name="adj" fmla="val 0"/>
            </a:avLst>
          </a:prstGeom>
          <a:solidFill>
            <a:srgbClr val="0288D1">
              <a:alpha val="3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62000" y="5588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高效的检索是构建高质量 RAG 系统的基石，直接决定了回答的准确性与相关性。</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生成阶段 (Generation Stage)</a:t>
            </a:r>
            <a:endParaRPr lang="en-US" sz="1100"/>
          </a:p>
        </p:txBody>
      </p:sp>
      <p:sp>
        <p:nvSpPr>
          <p:cNvPr id="3" name="AutoShape 3"/>
          <p:cNvSpPr/>
          <p:nvPr/>
        </p:nvSpPr>
        <p:spPr>
          <a:xfrm>
            <a:off x="762000" y="1524000"/>
            <a:ext cx="10668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1841500"/>
            <a:ext cx="609600" cy="609600"/>
          </a:xfrm>
          <a:prstGeom prst="rect">
            <a:avLst/>
          </a:prstGeom>
        </p:spPr>
      </p:pic>
      <p:sp>
        <p:nvSpPr>
          <p:cNvPr id="5" name="AutoShape 5"/>
          <p:cNvSpPr/>
          <p:nvPr/>
        </p:nvSpPr>
        <p:spPr>
          <a:xfrm>
            <a:off x="1905000" y="1714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88D1"/>
                </a:solidFill>
                <a:latin typeface="Noto Sans SC"/>
                <a:ea typeface="Noto Sans SC"/>
                <a:cs typeface="Noto Sans SC"/>
                <a:sym typeface="Noto Sans SC"/>
              </a:rPr>
              <a:t>核心任务</a:t>
            </a:r>
            <a:endParaRPr lang="en-US" sz="1100"/>
          </a:p>
        </p:txBody>
      </p:sp>
      <p:sp>
        <p:nvSpPr>
          <p:cNvPr id="6" name="AutoShape 6"/>
          <p:cNvSpPr/>
          <p:nvPr/>
        </p:nvSpPr>
        <p:spPr>
          <a:xfrm>
            <a:off x="1905000" y="2159000"/>
            <a:ext cx="914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将用户的查询与检索到的相关文档作为上下文，生成最终的回答或文本，确保信息的准确性与自然流畅。</a:t>
            </a:r>
            <a:endParaRPr lang="en-US" sz="1100"/>
          </a:p>
        </p:txBody>
      </p:sp>
      <p:sp>
        <p:nvSpPr>
          <p:cNvPr id="7" name="AutoShape 7"/>
          <p:cNvSpPr/>
          <p:nvPr/>
        </p:nvSpPr>
        <p:spPr>
          <a:xfrm>
            <a:off x="762000" y="3429000"/>
            <a:ext cx="10668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3746500"/>
            <a:ext cx="609600" cy="609600"/>
          </a:xfrm>
          <a:prstGeom prst="rect">
            <a:avLst/>
          </a:prstGeom>
        </p:spPr>
      </p:pic>
      <p:sp>
        <p:nvSpPr>
          <p:cNvPr id="9" name="AutoShape 9"/>
          <p:cNvSpPr/>
          <p:nvPr/>
        </p:nvSpPr>
        <p:spPr>
          <a:xfrm>
            <a:off x="1905000" y="3619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88D1"/>
                </a:solidFill>
                <a:latin typeface="Noto Sans SC"/>
                <a:ea typeface="Noto Sans SC"/>
                <a:cs typeface="Noto Sans SC"/>
                <a:sym typeface="Noto Sans SC"/>
              </a:rPr>
              <a:t>依赖模型 (LLM)</a:t>
            </a:r>
            <a:endParaRPr lang="en-US" sz="1100"/>
          </a:p>
        </p:txBody>
      </p:sp>
      <p:sp>
        <p:nvSpPr>
          <p:cNvPr id="10" name="AutoShape 10"/>
          <p:cNvSpPr/>
          <p:nvPr/>
        </p:nvSpPr>
        <p:spPr>
          <a:xfrm>
            <a:off x="1905000" y="4064000"/>
            <a:ext cx="914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通常依赖于预训练的大型语言模型，利用其强大的推理与生成能力。</a:t>
            </a:r>
            <a:endParaRPr lang="en-US" sz="1100"/>
          </a:p>
        </p:txBody>
      </p:sp>
      <p:sp>
        <p:nvSpPr>
          <p:cNvPr id="11" name="AutoShape 11"/>
          <p:cNvSpPr/>
          <p:nvPr/>
        </p:nvSpPr>
        <p:spPr>
          <a:xfrm>
            <a:off x="1905000" y="4572000"/>
            <a:ext cx="2794000" cy="762000"/>
          </a:xfrm>
          <a:prstGeom prst="roundRect">
            <a:avLst>
              <a:gd name="adj" fmla="val 8333"/>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32000" y="4762500"/>
            <a:ext cx="381000" cy="381000"/>
          </a:xfrm>
          <a:prstGeom prst="rect">
            <a:avLst/>
          </a:prstGeom>
        </p:spPr>
      </p:pic>
      <p:sp>
        <p:nvSpPr>
          <p:cNvPr id="13" name="AutoShape 13"/>
          <p:cNvSpPr/>
          <p:nvPr/>
        </p:nvSpPr>
        <p:spPr>
          <a:xfrm>
            <a:off x="2476500" y="4724400"/>
            <a:ext cx="203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GPT系列 (OpenAI)</a:t>
            </a:r>
            <a:endParaRPr lang="en-US" sz="1100"/>
          </a:p>
        </p:txBody>
      </p:sp>
      <p:sp>
        <p:nvSpPr>
          <p:cNvPr id="14" name="AutoShape 14"/>
          <p:cNvSpPr/>
          <p:nvPr/>
        </p:nvSpPr>
        <p:spPr>
          <a:xfrm>
            <a:off x="4889500" y="4572000"/>
            <a:ext cx="2794000" cy="762000"/>
          </a:xfrm>
          <a:prstGeom prst="roundRect">
            <a:avLst>
              <a:gd name="adj" fmla="val 8333"/>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16500" y="4762500"/>
            <a:ext cx="381000" cy="381000"/>
          </a:xfrm>
          <a:prstGeom prst="rect">
            <a:avLst/>
          </a:prstGeom>
        </p:spPr>
      </p:pic>
      <p:sp>
        <p:nvSpPr>
          <p:cNvPr id="16" name="AutoShape 16"/>
          <p:cNvSpPr/>
          <p:nvPr/>
        </p:nvSpPr>
        <p:spPr>
          <a:xfrm>
            <a:off x="5461000" y="4724400"/>
            <a:ext cx="203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GLM系列 (智谱AI)</a:t>
            </a:r>
            <a:endParaRPr lang="en-US" sz="1100"/>
          </a:p>
        </p:txBody>
      </p:sp>
      <p:sp>
        <p:nvSpPr>
          <p:cNvPr id="17" name="AutoShape 17"/>
          <p:cNvSpPr/>
          <p:nvPr/>
        </p:nvSpPr>
        <p:spPr>
          <a:xfrm>
            <a:off x="7874000" y="4572000"/>
            <a:ext cx="2794000" cy="762000"/>
          </a:xfrm>
          <a:prstGeom prst="roundRect">
            <a:avLst>
              <a:gd name="adj" fmla="val 8333"/>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001000" y="4762500"/>
            <a:ext cx="381000" cy="381000"/>
          </a:xfrm>
          <a:prstGeom prst="rect">
            <a:avLst/>
          </a:prstGeom>
        </p:spPr>
      </p:pic>
      <p:sp>
        <p:nvSpPr>
          <p:cNvPr id="19" name="AutoShape 19"/>
          <p:cNvSpPr/>
          <p:nvPr/>
        </p:nvSpPr>
        <p:spPr>
          <a:xfrm>
            <a:off x="8445500" y="4724400"/>
            <a:ext cx="203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其他开源/闭源LLM</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14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RAG的优势</a:t>
            </a:r>
            <a:endParaRPr lang="en-US" sz="1100"/>
          </a:p>
        </p:txBody>
      </p:sp>
      <p:sp>
        <p:nvSpPr>
          <p:cNvPr id="3" name="AutoShape 3"/>
          <p:cNvSpPr/>
          <p:nvPr/>
        </p:nvSpPr>
        <p:spPr>
          <a:xfrm>
            <a:off x="762000" y="1397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增强上下文理解</a:t>
            </a:r>
            <a:endParaRPr lang="en-US" sz="1100"/>
          </a:p>
        </p:txBody>
      </p:sp>
      <p:sp>
        <p:nvSpPr>
          <p:cNvPr id="6" name="AutoShape 6"/>
          <p:cNvSpPr/>
          <p:nvPr/>
        </p:nvSpPr>
        <p:spPr>
          <a:xfrm>
            <a:off x="1016000" y="2159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更深入理解用户查询的意图，使回答更贴合语境。</a:t>
            </a:r>
            <a:endParaRPr lang="en-US" sz="1100"/>
          </a:p>
        </p:txBody>
      </p:sp>
      <p:sp>
        <p:nvSpPr>
          <p:cNvPr id="7" name="AutoShape 7"/>
          <p:cNvSpPr/>
          <p:nvPr/>
        </p:nvSpPr>
        <p:spPr>
          <a:xfrm>
            <a:off x="4445000" y="1397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651000"/>
            <a:ext cx="406400" cy="406400"/>
          </a:xfrm>
          <a:prstGeom prst="rect">
            <a:avLst/>
          </a:prstGeom>
        </p:spPr>
      </p:pic>
      <p:sp>
        <p:nvSpPr>
          <p:cNvPr id="9" name="AutoShape 9"/>
          <p:cNvSpPr/>
          <p:nvPr/>
        </p:nvSpPr>
        <p:spPr>
          <a:xfrm>
            <a:off x="5207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提高生成准确性</a:t>
            </a:r>
            <a:endParaRPr lang="en-US" sz="1100"/>
          </a:p>
        </p:txBody>
      </p:sp>
      <p:sp>
        <p:nvSpPr>
          <p:cNvPr id="10" name="AutoShape 10"/>
          <p:cNvSpPr/>
          <p:nvPr/>
        </p:nvSpPr>
        <p:spPr>
          <a:xfrm>
            <a:off x="4699000" y="2159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通过引用真实资料，显著减少模型产生错误内容的可能性。</a:t>
            </a:r>
            <a:endParaRPr lang="en-US" sz="1100"/>
          </a:p>
        </p:txBody>
      </p:sp>
      <p:sp>
        <p:nvSpPr>
          <p:cNvPr id="11" name="AutoShape 11"/>
          <p:cNvSpPr/>
          <p:nvPr/>
        </p:nvSpPr>
        <p:spPr>
          <a:xfrm>
            <a:off x="8128000" y="1397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651000"/>
            <a:ext cx="406400" cy="406400"/>
          </a:xfrm>
          <a:prstGeom prst="rect">
            <a:avLst/>
          </a:prstGeom>
        </p:spPr>
      </p:pic>
      <p:sp>
        <p:nvSpPr>
          <p:cNvPr id="13" name="AutoShape 13"/>
          <p:cNvSpPr/>
          <p:nvPr/>
        </p:nvSpPr>
        <p:spPr>
          <a:xfrm>
            <a:off x="8890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访问特定领域信息</a:t>
            </a:r>
            <a:endParaRPr lang="en-US" sz="1100"/>
          </a:p>
        </p:txBody>
      </p:sp>
      <p:sp>
        <p:nvSpPr>
          <p:cNvPr id="14" name="AutoShape 14"/>
          <p:cNvSpPr/>
          <p:nvPr/>
        </p:nvSpPr>
        <p:spPr>
          <a:xfrm>
            <a:off x="8382000" y="2159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利用预训练数据中没有的专有或机密信息，拓展知识边界。</a:t>
            </a:r>
            <a:endParaRPr lang="en-US" sz="1100"/>
          </a:p>
        </p:txBody>
      </p:sp>
      <p:sp>
        <p:nvSpPr>
          <p:cNvPr id="15" name="AutoShape 15"/>
          <p:cNvSpPr/>
          <p:nvPr/>
        </p:nvSpPr>
        <p:spPr>
          <a:xfrm>
            <a:off x="762000" y="3429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683000"/>
            <a:ext cx="406400" cy="406400"/>
          </a:xfrm>
          <a:prstGeom prst="rect">
            <a:avLst/>
          </a:prstGeom>
        </p:spPr>
      </p:pic>
      <p:sp>
        <p:nvSpPr>
          <p:cNvPr id="17" name="AutoShape 17"/>
          <p:cNvSpPr/>
          <p:nvPr/>
        </p:nvSpPr>
        <p:spPr>
          <a:xfrm>
            <a:off x="1524000" y="3632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多领域适用性</a:t>
            </a:r>
            <a:endParaRPr lang="en-US" sz="1100"/>
          </a:p>
        </p:txBody>
      </p:sp>
      <p:sp>
        <p:nvSpPr>
          <p:cNvPr id="18" name="AutoShape 18"/>
          <p:cNvSpPr/>
          <p:nvPr/>
        </p:nvSpPr>
        <p:spPr>
          <a:xfrm>
            <a:off x="1016000" y="4191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适用于问答、内容生成、摘要、翻译等多种任务场景。</a:t>
            </a:r>
            <a:endParaRPr lang="en-US" sz="1100"/>
          </a:p>
        </p:txBody>
      </p:sp>
      <p:sp>
        <p:nvSpPr>
          <p:cNvPr id="19" name="AutoShape 19"/>
          <p:cNvSpPr/>
          <p:nvPr/>
        </p:nvSpPr>
        <p:spPr>
          <a:xfrm>
            <a:off x="4445000" y="3429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9000" y="3683000"/>
            <a:ext cx="406400" cy="406400"/>
          </a:xfrm>
          <a:prstGeom prst="rect">
            <a:avLst/>
          </a:prstGeom>
        </p:spPr>
      </p:pic>
      <p:sp>
        <p:nvSpPr>
          <p:cNvPr id="21" name="AutoShape 21"/>
          <p:cNvSpPr/>
          <p:nvPr/>
        </p:nvSpPr>
        <p:spPr>
          <a:xfrm>
            <a:off x="5207000" y="3632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减少“幻觉”问题</a:t>
            </a:r>
            <a:endParaRPr lang="en-US" sz="1100"/>
          </a:p>
        </p:txBody>
      </p:sp>
      <p:sp>
        <p:nvSpPr>
          <p:cNvPr id="22" name="AutoShape 22"/>
          <p:cNvSpPr/>
          <p:nvPr/>
        </p:nvSpPr>
        <p:spPr>
          <a:xfrm>
            <a:off x="4699000" y="4191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基于检索到的真实信息生成回答，避免AI编造事实。</a:t>
            </a:r>
            <a:endParaRPr lang="en-US" sz="1100"/>
          </a:p>
        </p:txBody>
      </p:sp>
      <p:sp>
        <p:nvSpPr>
          <p:cNvPr id="23" name="AutoShape 23"/>
          <p:cNvSpPr/>
          <p:nvPr/>
        </p:nvSpPr>
        <p:spPr>
          <a:xfrm>
            <a:off x="8128000" y="3429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3683000"/>
            <a:ext cx="406400" cy="406400"/>
          </a:xfrm>
          <a:prstGeom prst="rect">
            <a:avLst/>
          </a:prstGeom>
        </p:spPr>
      </p:pic>
      <p:sp>
        <p:nvSpPr>
          <p:cNvPr id="25" name="AutoShape 25"/>
          <p:cNvSpPr/>
          <p:nvPr/>
        </p:nvSpPr>
        <p:spPr>
          <a:xfrm>
            <a:off x="8890000" y="3632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知识实时更新</a:t>
            </a:r>
            <a:endParaRPr lang="en-US" sz="1100"/>
          </a:p>
        </p:txBody>
      </p:sp>
      <p:sp>
        <p:nvSpPr>
          <p:cNvPr id="26" name="AutoShape 26"/>
          <p:cNvSpPr/>
          <p:nvPr/>
        </p:nvSpPr>
        <p:spPr>
          <a:xfrm>
            <a:off x="8382000" y="4191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无需重新训练模型，通过更新知识库即可获取最新信息。</a:t>
            </a:r>
            <a:endParaRPr lang="en-US" sz="1100"/>
          </a:p>
        </p:txBody>
      </p:sp>
      <p:sp>
        <p:nvSpPr>
          <p:cNvPr id="27" name="AutoShape 27"/>
          <p:cNvSpPr/>
          <p:nvPr/>
        </p:nvSpPr>
        <p:spPr>
          <a:xfrm>
            <a:off x="762000" y="5715000"/>
            <a:ext cx="10668000" cy="25400"/>
          </a:xfrm>
          <a:prstGeom prst="roundRect">
            <a:avLst>
              <a:gd name="adj" fmla="val 0"/>
            </a:avLst>
          </a:prstGeom>
          <a:solidFill>
            <a:srgbClr val="0288D1">
              <a:alpha val="3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762000" y="5842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57575"/>
                </a:solidFill>
                <a:latin typeface="Noto Sans SC"/>
                <a:ea typeface="Noto Sans SC"/>
                <a:cs typeface="Noto Sans SC"/>
                <a:sym typeface="Noto Sans SC"/>
              </a:rPr>
              <a:t>RAG技术通过检索增强生成，有效解决了传统LLM的知识滞后与幻觉问题</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01752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RAG的局限性</a:t>
            </a:r>
            <a:endParaRPr lang="en-US" sz="1100"/>
          </a:p>
        </p:txBody>
      </p:sp>
      <p:sp>
        <p:nvSpPr>
          <p:cNvPr id="3" name="AutoShape 3"/>
          <p:cNvSpPr/>
          <p:nvPr/>
        </p:nvSpPr>
        <p:spPr>
          <a:xfrm>
            <a:off x="762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905000"/>
            <a:ext cx="635000" cy="635000"/>
          </a:xfrm>
          <a:prstGeom prst="rect">
            <a:avLst/>
          </a:prstGeom>
        </p:spPr>
      </p:pic>
      <p:sp>
        <p:nvSpPr>
          <p:cNvPr id="5" name="AutoShape 5"/>
          <p:cNvSpPr/>
          <p:nvPr/>
        </p:nvSpPr>
        <p:spPr>
          <a:xfrm>
            <a:off x="952500" y="2667000"/>
            <a:ext cx="292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缺乏迭代推理能力</a:t>
            </a:r>
            <a:endParaRPr lang="en-US" sz="1100"/>
          </a:p>
        </p:txBody>
      </p:sp>
      <p:sp>
        <p:nvSpPr>
          <p:cNvPr id="6" name="AutoShape 6"/>
          <p:cNvSpPr/>
          <p:nvPr/>
        </p:nvSpPr>
        <p:spPr>
          <a:xfrm>
            <a:off x="952500" y="3175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RAG目前无法像人类一样进行多步、迭代式的推理，难以处理复杂的逻辑推导问题。</a:t>
            </a:r>
            <a:endParaRPr lang="en-US" sz="1100"/>
          </a:p>
        </p:txBody>
      </p:sp>
      <p:sp>
        <p:nvSpPr>
          <p:cNvPr id="7" name="AutoShape 7"/>
          <p:cNvSpPr/>
          <p:nvPr/>
        </p:nvSpPr>
        <p:spPr>
          <a:xfrm>
            <a:off x="4445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905000"/>
            <a:ext cx="635000" cy="635000"/>
          </a:xfrm>
          <a:prstGeom prst="rect">
            <a:avLst/>
          </a:prstGeom>
        </p:spPr>
      </p:pic>
      <p:sp>
        <p:nvSpPr>
          <p:cNvPr id="9" name="AutoShape 9"/>
          <p:cNvSpPr/>
          <p:nvPr/>
        </p:nvSpPr>
        <p:spPr>
          <a:xfrm>
            <a:off x="4635500" y="2667000"/>
            <a:ext cx="292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无法判断最优性</a:t>
            </a:r>
            <a:endParaRPr lang="en-US" sz="1100"/>
          </a:p>
        </p:txBody>
      </p:sp>
      <p:sp>
        <p:nvSpPr>
          <p:cNvPr id="10" name="AutoShape 10"/>
          <p:cNvSpPr/>
          <p:nvPr/>
        </p:nvSpPr>
        <p:spPr>
          <a:xfrm>
            <a:off x="4635500" y="3175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系统无法完全确定检索到的信息是否是解决当前问题的最佳或唯一相关信息。</a:t>
            </a:r>
            <a:endParaRPr lang="en-US" sz="1100"/>
          </a:p>
        </p:txBody>
      </p:sp>
      <p:sp>
        <p:nvSpPr>
          <p:cNvPr id="11" name="AutoShape 11"/>
          <p:cNvSpPr/>
          <p:nvPr/>
        </p:nvSpPr>
        <p:spPr>
          <a:xfrm>
            <a:off x="8128000" y="1651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905000"/>
            <a:ext cx="635000" cy="635000"/>
          </a:xfrm>
          <a:prstGeom prst="rect">
            <a:avLst/>
          </a:prstGeom>
        </p:spPr>
      </p:pic>
      <p:sp>
        <p:nvSpPr>
          <p:cNvPr id="13" name="AutoShape 13"/>
          <p:cNvSpPr/>
          <p:nvPr/>
        </p:nvSpPr>
        <p:spPr>
          <a:xfrm>
            <a:off x="8318500" y="2667000"/>
            <a:ext cx="2921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可能影响生成质量</a:t>
            </a:r>
            <a:endParaRPr lang="en-US" sz="1100"/>
          </a:p>
        </p:txBody>
      </p:sp>
      <p:sp>
        <p:nvSpPr>
          <p:cNvPr id="14" name="AutoShape 14"/>
          <p:cNvSpPr/>
          <p:nvPr/>
        </p:nvSpPr>
        <p:spPr>
          <a:xfrm>
            <a:off x="8318500" y="3175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800" b="0" i="0" u="none" strike="noStrike">
                <a:solidFill>
                  <a:srgbClr val="757575"/>
                </a:solidFill>
                <a:latin typeface="Noto Sans SC"/>
                <a:ea typeface="Noto Sans SC"/>
                <a:cs typeface="Noto Sans SC"/>
                <a:sym typeface="Noto Sans SC"/>
              </a:rPr>
              <a:t>如果检索到的信息不完整或不准确，将直接影响最终生成答案的质量和可信度。</a:t>
            </a:r>
            <a:endParaRPr lang="en-US" sz="1100"/>
          </a:p>
        </p:txBody>
      </p:sp>
      <p:sp>
        <p:nvSpPr>
          <p:cNvPr id="15" name="AutoShape 15"/>
          <p:cNvSpPr/>
          <p:nvPr/>
        </p:nvSpPr>
        <p:spPr>
          <a:xfrm>
            <a:off x="762000" y="5461000"/>
            <a:ext cx="10668000" cy="50800"/>
          </a:xfrm>
          <a:prstGeom prst="roundRect">
            <a:avLst>
              <a:gd name="adj" fmla="val 0"/>
            </a:avLst>
          </a:prstGeom>
          <a:solidFill>
            <a:srgbClr val="0288D1">
              <a:alpha val="3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381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14.1.2 RAG知识库构建流程</a:t>
            </a:r>
            <a:endParaRPr lang="en-US" sz="1100"/>
          </a:p>
        </p:txBody>
      </p:sp>
      <p:pic>
        <p:nvPicPr>
          <p:cNvPr id="3" name="Picture 3"/>
          <p:cNvPicPr>
            <a:picLocks noChangeAspect="1"/>
          </p:cNvPicPr>
          <p:nvPr/>
        </p:nvPicPr>
        <p:blipFill>
          <a:blip r:embed="rId1"/>
          <a:srcRect t="48" b="48"/>
          <a:stretch>
            <a:fillRect/>
          </a:stretch>
        </p:blipFill>
        <p:spPr>
          <a:xfrm>
            <a:off x="3683000" y="1079500"/>
            <a:ext cx="4826000" cy="2324100"/>
          </a:xfrm>
          <a:prstGeom prst="roundRect">
            <a:avLst>
              <a:gd name="adj" fmla="val 5464"/>
            </a:avLst>
          </a:prstGeom>
          <a:noFill/>
          <a:ln w="25400" cap="flat" cmpd="sng">
            <a:noFill/>
            <a:prstDash val="solid"/>
            <a:round/>
          </a:ln>
          <a:effectLst>
            <a:outerShdw blurRad="127000" dist="50800" dir="2700000" algn="tl" rotWithShape="0">
              <a:srgbClr val="0288D1">
                <a:alpha val="20000"/>
              </a:srgbClr>
            </a:outerShdw>
          </a:effectLst>
        </p:spPr>
      </p:pic>
      <p:sp>
        <p:nvSpPr>
          <p:cNvPr id="4" name="AutoShape 4"/>
          <p:cNvSpPr/>
          <p:nvPr/>
        </p:nvSpPr>
        <p:spPr>
          <a:xfrm>
            <a:off x="762000" y="3683000"/>
            <a:ext cx="3302000" cy="2159000"/>
          </a:xfrm>
          <a:prstGeom prst="roundRect">
            <a:avLst>
              <a:gd name="adj" fmla="val 5882"/>
            </a:avLst>
          </a:prstGeom>
          <a:solidFill>
            <a:srgbClr val="FFFFFF">
              <a:alpha val="100000"/>
            </a:srgbClr>
          </a:solidFill>
          <a:ln w="25400" cap="flat" cmpd="sng">
            <a:no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873500"/>
            <a:ext cx="304800" cy="304800"/>
          </a:xfrm>
          <a:prstGeom prst="rect">
            <a:avLst/>
          </a:prstGeom>
        </p:spPr>
      </p:pic>
      <p:sp>
        <p:nvSpPr>
          <p:cNvPr id="6" name="AutoShape 6"/>
          <p:cNvSpPr/>
          <p:nvPr/>
        </p:nvSpPr>
        <p:spPr>
          <a:xfrm>
            <a:off x="1333500" y="3835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LLM的局限性</a:t>
            </a:r>
            <a:endParaRPr lang="en-US" sz="1100"/>
          </a:p>
        </p:txBody>
      </p:sp>
      <p:sp>
        <p:nvSpPr>
          <p:cNvPr id="7" name="AutoShape 7"/>
          <p:cNvSpPr/>
          <p:nvPr/>
        </p:nvSpPr>
        <p:spPr>
          <a:xfrm>
            <a:off x="952500" y="4318000"/>
            <a:ext cx="2921000" cy="139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 垂直领域知识缺乏，非公开知识覆盖不足</a:t>
            </a:r>
            <a:endParaRPr lang="en-US" sz="1100"/>
          </a:p>
          <a:p>
            <a:pPr indent="0" algn="l">
              <a:lnSpc>
                <a:spcPct val="108000"/>
              </a:lnSpc>
            </a:pPr>
            <a:r>
              <a:rPr lang="en-US" sz="1400" b="0" i="0" u="none" strike="noStrike">
                <a:solidFill>
                  <a:srgbClr val="757575"/>
                </a:solidFill>
                <a:latin typeface="Noto Sans SC"/>
                <a:ea typeface="Noto Sans SC"/>
                <a:cs typeface="Noto Sans SC"/>
                <a:sym typeface="Noto Sans SC"/>
              </a:rPr>
              <a:t>• 数据安全风险与知识实时性受限</a:t>
            </a:r>
            <a:endParaRPr lang="en-US" sz="1400" b="0" i="0" u="none" strike="noStrike">
              <a:solidFill>
                <a:srgbClr val="757575"/>
              </a:solidFill>
              <a:latin typeface="Noto Sans SC"/>
              <a:ea typeface="Noto Sans SC"/>
              <a:cs typeface="Noto Sans SC"/>
              <a:sym typeface="Noto Sans SC"/>
            </a:endParaRPr>
          </a:p>
          <a:p>
            <a:pPr indent="0" algn="l">
              <a:lnSpc>
                <a:spcPct val="108000"/>
              </a:lnSpc>
            </a:pPr>
            <a:r>
              <a:rPr lang="en-US" sz="1400" b="0" i="0" u="none" strike="noStrike">
                <a:solidFill>
                  <a:srgbClr val="757575"/>
                </a:solidFill>
                <a:latin typeface="Noto Sans SC"/>
                <a:ea typeface="Noto Sans SC"/>
                <a:cs typeface="Noto Sans SC"/>
                <a:sym typeface="Noto Sans SC"/>
              </a:rPr>
              <a:t>• 易产生幻觉，生成内容不可控</a:t>
            </a:r>
            <a:endParaRPr lang="en-US" sz="1400" b="0" i="0" u="none" strike="noStrike">
              <a:solidFill>
                <a:srgbClr val="757575"/>
              </a:solidFill>
              <a:latin typeface="Noto Sans SC"/>
              <a:ea typeface="Noto Sans SC"/>
              <a:cs typeface="Noto Sans SC"/>
              <a:sym typeface="Noto Sans SC"/>
            </a:endParaRPr>
          </a:p>
        </p:txBody>
      </p:sp>
      <p:sp>
        <p:nvSpPr>
          <p:cNvPr id="8" name="AutoShape 8"/>
          <p:cNvSpPr/>
          <p:nvPr/>
        </p:nvSpPr>
        <p:spPr>
          <a:xfrm>
            <a:off x="4445000" y="3683000"/>
            <a:ext cx="3302000" cy="2159000"/>
          </a:xfrm>
          <a:prstGeom prst="roundRect">
            <a:avLst>
              <a:gd name="adj" fmla="val 5882"/>
            </a:avLst>
          </a:prstGeom>
          <a:solidFill>
            <a:srgbClr val="FFFFFF">
              <a:alpha val="100000"/>
            </a:srgbClr>
          </a:solidFill>
          <a:ln w="25400" cap="flat" cmpd="sng">
            <a:no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3873500"/>
            <a:ext cx="304800" cy="304800"/>
          </a:xfrm>
          <a:prstGeom prst="rect">
            <a:avLst/>
          </a:prstGeom>
        </p:spPr>
      </p:pic>
      <p:sp>
        <p:nvSpPr>
          <p:cNvPr id="10" name="AutoShape 10"/>
          <p:cNvSpPr/>
          <p:nvPr/>
        </p:nvSpPr>
        <p:spPr>
          <a:xfrm>
            <a:off x="5016500" y="3835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RAG的解决方案</a:t>
            </a:r>
            <a:endParaRPr lang="en-US" sz="1100"/>
          </a:p>
        </p:txBody>
      </p:sp>
      <p:sp>
        <p:nvSpPr>
          <p:cNvPr id="11" name="AutoShape 11"/>
          <p:cNvSpPr/>
          <p:nvPr/>
        </p:nvSpPr>
        <p:spPr>
          <a:xfrm>
            <a:off x="4635500" y="4318000"/>
            <a:ext cx="2921000" cy="139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 结合LLM语言理解与检索组件精确性</a:t>
            </a:r>
            <a:endParaRPr lang="en-US" sz="1100"/>
          </a:p>
          <a:p>
            <a:pPr indent="0" algn="l">
              <a:lnSpc>
                <a:spcPct val="108000"/>
              </a:lnSpc>
            </a:pPr>
            <a:r>
              <a:rPr lang="en-US" sz="1400" b="0" i="0" u="none" strike="noStrike">
                <a:solidFill>
                  <a:srgbClr val="757575"/>
                </a:solidFill>
                <a:latin typeface="Noto Sans SC"/>
                <a:ea typeface="Noto Sans SC"/>
                <a:cs typeface="Noto Sans SC"/>
                <a:sym typeface="Noto Sans SC"/>
              </a:rPr>
              <a:t>• 从外部数据源获取实时、准确信息</a:t>
            </a:r>
            <a:endParaRPr lang="en-US" sz="1400" b="0" i="0" u="none" strike="noStrike">
              <a:solidFill>
                <a:srgbClr val="757575"/>
              </a:solidFill>
              <a:latin typeface="Noto Sans SC"/>
              <a:ea typeface="Noto Sans SC"/>
              <a:cs typeface="Noto Sans SC"/>
              <a:sym typeface="Noto Sans SC"/>
            </a:endParaRPr>
          </a:p>
          <a:p>
            <a:pPr indent="0" algn="l">
              <a:lnSpc>
                <a:spcPct val="108000"/>
              </a:lnSpc>
            </a:pPr>
            <a:r>
              <a:rPr lang="en-US" sz="1400" b="0" i="0" u="none" strike="noStrike">
                <a:solidFill>
                  <a:srgbClr val="757575"/>
                </a:solidFill>
                <a:latin typeface="Noto Sans SC"/>
                <a:ea typeface="Noto Sans SC"/>
                <a:cs typeface="Noto Sans SC"/>
                <a:sym typeface="Noto Sans SC"/>
              </a:rPr>
              <a:t>• 减少幻觉，提升回答的可信度与时效性</a:t>
            </a:r>
            <a:endParaRPr lang="en-US" sz="14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8128000" y="3683000"/>
            <a:ext cx="3302000" cy="2159000"/>
          </a:xfrm>
          <a:prstGeom prst="roundRect">
            <a:avLst>
              <a:gd name="adj" fmla="val 5882"/>
            </a:avLst>
          </a:prstGeom>
          <a:solidFill>
            <a:srgbClr val="FFFFFF">
              <a:alpha val="100000"/>
            </a:srgbClr>
          </a:solidFill>
          <a:ln w="25400" cap="flat" cmpd="sng">
            <a:noFill/>
            <a:prstDash val="solid"/>
            <a:round/>
          </a:ln>
          <a:effectLst>
            <a:outerShdw blurRad="1016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18500" y="3873500"/>
            <a:ext cx="304800" cy="304800"/>
          </a:xfrm>
          <a:prstGeom prst="rect">
            <a:avLst/>
          </a:prstGeom>
        </p:spPr>
      </p:pic>
      <p:sp>
        <p:nvSpPr>
          <p:cNvPr id="14" name="AutoShape 14"/>
          <p:cNvSpPr/>
          <p:nvPr/>
        </p:nvSpPr>
        <p:spPr>
          <a:xfrm>
            <a:off x="8699500" y="3835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核心流程</a:t>
            </a:r>
            <a:endParaRPr lang="en-US" sz="1100"/>
          </a:p>
        </p:txBody>
      </p:sp>
      <p:sp>
        <p:nvSpPr>
          <p:cNvPr id="15" name="AutoShape 15"/>
          <p:cNvSpPr/>
          <p:nvPr/>
        </p:nvSpPr>
        <p:spPr>
          <a:xfrm>
            <a:off x="8318500" y="4318000"/>
            <a:ext cx="2921000" cy="139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757575"/>
                </a:solidFill>
                <a:latin typeface="Noto Sans SC"/>
                <a:ea typeface="Noto Sans SC"/>
                <a:cs typeface="Noto Sans SC"/>
                <a:sym typeface="Noto Sans SC"/>
              </a:rPr>
              <a:t>•</a:t>
            </a:r>
            <a:r>
              <a:rPr lang="en-US" sz="1400" b="1" i="0" u="none" strike="noStrike">
                <a:solidFill>
                  <a:srgbClr val="757575"/>
                </a:solidFill>
                <a:latin typeface="Noto Sans SC"/>
                <a:ea typeface="Noto Sans SC"/>
                <a:cs typeface="Noto Sans SC"/>
                <a:sym typeface="Noto Sans SC"/>
              </a:rPr>
              <a:t>离线构建：</a:t>
            </a:r>
            <a:r>
              <a:rPr lang="en-US" sz="1400" b="0" i="0" u="none" strike="noStrike">
                <a:solidFill>
                  <a:srgbClr val="757575"/>
                </a:solidFill>
                <a:latin typeface="Noto Sans SC"/>
                <a:ea typeface="Noto Sans SC"/>
                <a:cs typeface="Noto Sans SC"/>
                <a:sym typeface="Noto Sans SC"/>
              </a:rPr>
              <a:t>加载数据→清洗处理→向量化→存储入库</a:t>
            </a:r>
            <a:endParaRPr lang="en-US" sz="1100"/>
          </a:p>
          <a:p>
            <a:pPr indent="0" algn="l">
              <a:lnSpc>
                <a:spcPct val="108000"/>
              </a:lnSpc>
            </a:pPr>
            <a:r>
              <a:rPr lang="en-US" sz="1400" b="0" i="0" u="none" strike="noStrike">
                <a:solidFill>
                  <a:srgbClr val="757575"/>
                </a:solidFill>
                <a:latin typeface="Noto Sans SC"/>
                <a:ea typeface="Noto Sans SC"/>
                <a:cs typeface="Noto Sans SC"/>
                <a:sym typeface="Noto Sans SC"/>
              </a:rPr>
              <a:t>•</a:t>
            </a:r>
            <a:r>
              <a:rPr lang="en-US" sz="1400" b="1" i="0" u="none" strike="noStrike">
                <a:solidFill>
                  <a:srgbClr val="757575"/>
                </a:solidFill>
                <a:latin typeface="Noto Sans SC"/>
                <a:ea typeface="Noto Sans SC"/>
                <a:cs typeface="Noto Sans SC"/>
                <a:sym typeface="Noto Sans SC"/>
              </a:rPr>
              <a:t>在线问答：</a:t>
            </a:r>
            <a:r>
              <a:rPr lang="en-US" sz="1400" b="0" i="0" u="none" strike="noStrike">
                <a:solidFill>
                  <a:srgbClr val="757575"/>
                </a:solidFill>
                <a:latin typeface="Noto Sans SC"/>
                <a:ea typeface="Noto Sans SC"/>
                <a:cs typeface="Noto Sans SC"/>
                <a:sym typeface="Noto Sans SC"/>
              </a:rPr>
              <a:t>接收查询→检索匹配→提示词增强→生成回答</a:t>
            </a:r>
            <a:endParaRPr lang="en-US" sz="14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30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步骤1：加载文档</a:t>
            </a:r>
            <a:endParaRPr lang="en-US" sz="1100"/>
          </a:p>
        </p:txBody>
      </p:sp>
      <p:sp>
        <p:nvSpPr>
          <p:cNvPr id="3" name="AutoShape 3"/>
          <p:cNvSpPr/>
          <p:nvPr/>
        </p:nvSpPr>
        <p:spPr>
          <a:xfrm>
            <a:off x="762000" y="1524000"/>
            <a:ext cx="5080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841500"/>
            <a:ext cx="508000" cy="508000"/>
          </a:xfrm>
          <a:prstGeom prst="rect">
            <a:avLst/>
          </a:prstGeom>
        </p:spPr>
      </p:pic>
      <p:sp>
        <p:nvSpPr>
          <p:cNvPr id="5" name="AutoShape 5"/>
          <p:cNvSpPr/>
          <p:nvPr/>
        </p:nvSpPr>
        <p:spPr>
          <a:xfrm>
            <a:off x="1651000" y="1651000"/>
            <a:ext cx="3937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数据来源</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自有业务数据、网络爬取数据、第三方数据等多种渠道。</a:t>
            </a:r>
            <a:endParaRPr lang="en-US" sz="1600" b="0" i="0" u="none" strike="noStrike">
              <a:solidFill>
                <a:srgbClr val="757575"/>
              </a:solidFill>
              <a:latin typeface="Noto Sans SC"/>
              <a:ea typeface="Noto Sans SC"/>
              <a:cs typeface="Noto Sans SC"/>
              <a:sym typeface="Noto Sans SC"/>
            </a:endParaRPr>
          </a:p>
        </p:txBody>
      </p:sp>
      <p:sp>
        <p:nvSpPr>
          <p:cNvPr id="6" name="AutoShape 6"/>
          <p:cNvSpPr/>
          <p:nvPr/>
        </p:nvSpPr>
        <p:spPr>
          <a:xfrm>
            <a:off x="762000" y="3048000"/>
            <a:ext cx="5080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365500"/>
            <a:ext cx="508000" cy="508000"/>
          </a:xfrm>
          <a:prstGeom prst="rect">
            <a:avLst/>
          </a:prstGeom>
        </p:spPr>
      </p:pic>
      <p:sp>
        <p:nvSpPr>
          <p:cNvPr id="8" name="AutoShape 8"/>
          <p:cNvSpPr/>
          <p:nvPr/>
        </p:nvSpPr>
        <p:spPr>
          <a:xfrm>
            <a:off x="1651000" y="3175000"/>
            <a:ext cx="3937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数据形式</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结构化数据（表格）及非结构化数据（Word、PDF、图片等）。</a:t>
            </a:r>
            <a:endParaRPr lang="en-US" sz="16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762000" y="4572000"/>
            <a:ext cx="5080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889500"/>
            <a:ext cx="508000" cy="508000"/>
          </a:xfrm>
          <a:prstGeom prst="rect">
            <a:avLst/>
          </a:prstGeom>
        </p:spPr>
      </p:pic>
      <p:sp>
        <p:nvSpPr>
          <p:cNvPr id="11" name="AutoShape 11"/>
          <p:cNvSpPr/>
          <p:nvPr/>
        </p:nvSpPr>
        <p:spPr>
          <a:xfrm>
            <a:off x="1651000" y="4699000"/>
            <a:ext cx="3937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处理方法</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利用文档加载器或多模态模型（如OCR）将数据转换为纯文本。</a:t>
            </a:r>
            <a:endParaRPr lang="en-US" sz="16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6350000" y="1524000"/>
            <a:ext cx="5080000" cy="4318000"/>
          </a:xfrm>
          <a:prstGeom prst="roundRect">
            <a:avLst>
              <a:gd name="adj" fmla="val 2941"/>
            </a:avLst>
          </a:prstGeom>
          <a:solidFill>
            <a:srgbClr val="1E1E1E">
              <a:alpha val="100000"/>
            </a:srgbClr>
          </a:solidFill>
          <a:ln w="25400" cap="flat" cmpd="sng">
            <a:noFill/>
            <a:prstDash val="solid"/>
            <a:round/>
          </a:ln>
          <a:effectLst>
            <a:outerShdw blurRad="190500" dist="76200" dir="5400000" algn="tl" rotWithShape="0">
              <a:srgbClr val="000000">
                <a:alpha val="30000"/>
              </a:srgbClr>
            </a:outerShdw>
          </a:effectLst>
        </p:spPr>
        <p:txBody>
          <a:bodyPr vert="horz" wrap="square" lIns="63500" tIns="63500" rIns="63500" bIns="63500" rtlCol="0" anchor="ctr"/>
          <a:lstStyle/>
          <a:p>
            <a:pPr algn="ctr">
              <a:defRPr/>
            </a:pPr>
          </a:p>
        </p:txBody>
      </p:sp>
      <p:sp>
        <p:nvSpPr>
          <p:cNvPr id="13" name="AutoShape 13"/>
          <p:cNvSpPr/>
          <p:nvPr/>
        </p:nvSpPr>
        <p:spPr>
          <a:xfrm>
            <a:off x="6350000" y="1524000"/>
            <a:ext cx="5080000" cy="4572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477000" y="1524000"/>
            <a:ext cx="482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969696"/>
                </a:solidFill>
                <a:latin typeface="Noto Sans SC"/>
                <a:ea typeface="Noto Sans SC"/>
                <a:cs typeface="Noto Sans SC"/>
                <a:sym typeface="Noto Sans SC"/>
              </a:rPr>
              <a:t>loader_demo.py</a:t>
            </a:r>
            <a:endParaRPr lang="en-US" sz="1100"/>
          </a:p>
        </p:txBody>
      </p:sp>
      <p:sp>
        <p:nvSpPr>
          <p:cNvPr id="15" name="AutoShape 15"/>
          <p:cNvSpPr/>
          <p:nvPr/>
        </p:nvSpPr>
        <p:spPr>
          <a:xfrm>
            <a:off x="6540500" y="2095500"/>
            <a:ext cx="4699000" cy="355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600" b="0" i="0" u="none" strike="noStrike">
                <a:solidFill>
                  <a:srgbClr val="C678DD"/>
                </a:solidFill>
                <a:latin typeface="Roboto Mono"/>
                <a:ea typeface="Roboto Mono"/>
                <a:cs typeface="Roboto Mono"/>
                <a:sym typeface="Roboto Mono"/>
              </a:rPr>
              <a:t>from</a:t>
            </a:r>
            <a:r>
              <a:rPr lang="en-US" sz="1600" b="0" i="0" u="none" strike="noStrike">
                <a:solidFill>
                  <a:srgbClr val="E5C07B"/>
                </a:solidFill>
                <a:latin typeface="Roboto Mono"/>
                <a:ea typeface="Roboto Mono"/>
                <a:cs typeface="Roboto Mono"/>
                <a:sym typeface="Roboto Mono"/>
              </a:rPr>
              <a:t>langchain_community.document_loaders</a:t>
            </a:r>
            <a:r>
              <a:rPr lang="en-US" sz="1600" b="0" i="0" u="none" strike="noStrike">
                <a:solidFill>
                  <a:srgbClr val="C678DD"/>
                </a:solidFill>
                <a:latin typeface="Roboto Mono"/>
                <a:ea typeface="Roboto Mono"/>
                <a:cs typeface="Roboto Mono"/>
                <a:sym typeface="Roboto Mono"/>
              </a:rPr>
              <a:t>import</a:t>
            </a:r>
            <a:r>
              <a:rPr lang="en-US" sz="1600" b="0" i="0" u="none" strike="noStrike">
                <a:solidFill>
                  <a:srgbClr val="61AFEF"/>
                </a:solidFill>
                <a:latin typeface="Roboto Mono"/>
                <a:ea typeface="Roboto Mono"/>
                <a:cs typeface="Roboto Mono"/>
                <a:sym typeface="Roboto Mono"/>
              </a:rPr>
              <a:t>TextLoader</a:t>
            </a:r>
            <a:endParaRPr lang="en-US" sz="1100"/>
          </a:p>
          <a:p>
            <a:pPr indent="0" algn="l">
              <a:lnSpc>
                <a:spcPct val="117000"/>
              </a:lnSpc>
            </a:pPr>
          </a:p>
          <a:p>
            <a:pPr indent="0" algn="l">
              <a:lnSpc>
                <a:spcPct val="117000"/>
              </a:lnSpc>
            </a:pPr>
            <a:r>
              <a:rPr lang="en-US" sz="1600" b="0" i="0" u="none" strike="noStrike">
                <a:solidFill>
                  <a:srgbClr val="E0E0E0"/>
                </a:solidFill>
                <a:latin typeface="Roboto Mono"/>
                <a:ea typeface="Roboto Mono"/>
                <a:cs typeface="Roboto Mono"/>
                <a:sym typeface="Roboto Mono"/>
              </a:rPr>
              <a:t># 初始化加载器，指定文件路径</a:t>
            </a:r>
            <a:endParaRPr lang="en-US" sz="1600" b="0" i="0" u="none" strike="noStrike">
              <a:solidFill>
                <a:srgbClr val="E0E0E0"/>
              </a:solidFill>
              <a:latin typeface="Roboto Mono"/>
              <a:ea typeface="Roboto Mono"/>
              <a:cs typeface="Roboto Mono"/>
              <a:sym typeface="Roboto Mono"/>
            </a:endParaRPr>
          </a:p>
          <a:p>
            <a:pPr indent="0" algn="l">
              <a:lnSpc>
                <a:spcPct val="117000"/>
              </a:lnSpc>
            </a:pPr>
            <a:r>
              <a:rPr lang="en-US" sz="1600" b="0" i="0" u="none" strike="noStrike">
                <a:solidFill>
                  <a:srgbClr val="E0E0E0"/>
                </a:solidFill>
                <a:latin typeface="Roboto Mono"/>
                <a:ea typeface="Roboto Mono"/>
                <a:cs typeface="Roboto Mono"/>
                <a:sym typeface="Roboto Mono"/>
              </a:rPr>
              <a:t>loader =</a:t>
            </a:r>
            <a:r>
              <a:rPr lang="en-US" sz="1600" b="0" i="0" u="none" strike="noStrike">
                <a:solidFill>
                  <a:srgbClr val="61AFEF"/>
                </a:solidFill>
                <a:latin typeface="Roboto Mono"/>
                <a:ea typeface="Roboto Mono"/>
                <a:cs typeface="Roboto Mono"/>
                <a:sym typeface="Roboto Mono"/>
              </a:rPr>
              <a:t>TextLoader</a:t>
            </a:r>
            <a:r>
              <a:rPr lang="en-US" sz="1600" b="0" i="0" u="none" strike="noStrike">
                <a:solidFill>
                  <a:srgbClr val="E0E0E0"/>
                </a:solidFill>
                <a:latin typeface="Roboto Mono"/>
                <a:ea typeface="Roboto Mono"/>
                <a:cs typeface="Roboto Mono"/>
                <a:sym typeface="Roboto Mono"/>
              </a:rPr>
              <a:t>(</a:t>
            </a:r>
            <a:r>
              <a:rPr lang="en-US" sz="1600" b="0" i="0" u="none" strike="noStrike">
                <a:solidFill>
                  <a:srgbClr val="98C379"/>
                </a:solidFill>
                <a:latin typeface="Roboto Mono"/>
                <a:ea typeface="Roboto Mono"/>
                <a:cs typeface="Roboto Mono"/>
                <a:sym typeface="Roboto Mono"/>
              </a:rPr>
              <a:t>'dataset/data.txt'</a:t>
            </a:r>
            <a:r>
              <a:rPr lang="en-US" sz="1600" b="0" i="0" u="none" strike="noStrike">
                <a:solidFill>
                  <a:srgbClr val="E0E0E0"/>
                </a:solidFill>
                <a:latin typeface="Roboto Mono"/>
                <a:ea typeface="Roboto Mono"/>
                <a:cs typeface="Roboto Mono"/>
                <a:sym typeface="Roboto Mono"/>
              </a:rPr>
              <a:t>)</a:t>
            </a:r>
            <a:endParaRPr lang="en-US" sz="1600" b="0" i="0" u="none" strike="noStrike">
              <a:solidFill>
                <a:srgbClr val="E0E0E0"/>
              </a:solidFill>
              <a:latin typeface="Roboto Mono"/>
              <a:ea typeface="Roboto Mono"/>
              <a:cs typeface="Roboto Mono"/>
              <a:sym typeface="Roboto Mono"/>
            </a:endParaRPr>
          </a:p>
          <a:p>
            <a:pPr indent="0" algn="l">
              <a:lnSpc>
                <a:spcPct val="117000"/>
              </a:lnSpc>
            </a:pPr>
          </a:p>
          <a:p>
            <a:pPr indent="0" algn="l">
              <a:lnSpc>
                <a:spcPct val="117000"/>
              </a:lnSpc>
            </a:pPr>
            <a:r>
              <a:rPr lang="en-US" sz="1600" b="0" i="0" u="none" strike="noStrike">
                <a:solidFill>
                  <a:srgbClr val="E0E0E0"/>
                </a:solidFill>
                <a:latin typeface="Roboto Mono"/>
                <a:ea typeface="Roboto Mono"/>
                <a:cs typeface="Roboto Mono"/>
                <a:sym typeface="Roboto Mono"/>
              </a:rPr>
              <a:t># 加载文档数据</a:t>
            </a:r>
            <a:endParaRPr lang="en-US" sz="1600" b="0" i="0" u="none" strike="noStrike">
              <a:solidFill>
                <a:srgbClr val="E0E0E0"/>
              </a:solidFill>
              <a:latin typeface="Roboto Mono"/>
              <a:ea typeface="Roboto Mono"/>
              <a:cs typeface="Roboto Mono"/>
              <a:sym typeface="Roboto Mono"/>
            </a:endParaRPr>
          </a:p>
          <a:p>
            <a:pPr indent="0" algn="l">
              <a:lnSpc>
                <a:spcPct val="117000"/>
              </a:lnSpc>
            </a:pPr>
            <a:r>
              <a:rPr lang="en-US" sz="1600" b="0" i="0" u="none" strike="noStrike">
                <a:solidFill>
                  <a:srgbClr val="E0E0E0"/>
                </a:solidFill>
                <a:latin typeface="Roboto Mono"/>
                <a:ea typeface="Roboto Mono"/>
                <a:cs typeface="Roboto Mono"/>
                <a:sym typeface="Roboto Mono"/>
              </a:rPr>
              <a:t>documents = loader.</a:t>
            </a:r>
            <a:r>
              <a:rPr lang="en-US" sz="1600" b="0" i="0" u="none" strike="noStrike">
                <a:solidFill>
                  <a:srgbClr val="61AFEF"/>
                </a:solidFill>
                <a:latin typeface="Roboto Mono"/>
                <a:ea typeface="Roboto Mono"/>
                <a:cs typeface="Roboto Mono"/>
                <a:sym typeface="Roboto Mono"/>
              </a:rPr>
              <a:t>load</a:t>
            </a:r>
            <a:r>
              <a:rPr lang="en-US" sz="1600" b="0" i="0" u="none" strike="noStrike">
                <a:solidFill>
                  <a:srgbClr val="E0E0E0"/>
                </a:solidFill>
                <a:latin typeface="Roboto Mono"/>
                <a:ea typeface="Roboto Mono"/>
                <a:cs typeface="Roboto Mono"/>
                <a:sym typeface="Roboto Mono"/>
              </a:rPr>
              <a:t>()</a:t>
            </a:r>
            <a:endParaRPr lang="en-US" sz="1600" b="0" i="0" u="none" strike="noStrike">
              <a:solidFill>
                <a:srgbClr val="E0E0E0"/>
              </a:solidFill>
              <a:latin typeface="Roboto Mono"/>
              <a:ea typeface="Roboto Mono"/>
              <a:cs typeface="Roboto Mono"/>
              <a:sym typeface="Roboto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013200" cy="584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数据清理与规范化</a:t>
            </a:r>
            <a:endParaRPr lang="en-US" sz="1100"/>
          </a:p>
        </p:txBody>
      </p:sp>
      <p:sp>
        <p:nvSpPr>
          <p:cNvPr id="3" name="AutoShape 3"/>
          <p:cNvSpPr/>
          <p:nvPr/>
        </p:nvSpPr>
        <p:spPr>
          <a:xfrm>
            <a:off x="762000" y="1524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778000"/>
            <a:ext cx="635000" cy="635000"/>
          </a:xfrm>
          <a:prstGeom prst="rect">
            <a:avLst/>
          </a:prstGeom>
        </p:spPr>
      </p:pic>
      <p:sp>
        <p:nvSpPr>
          <p:cNvPr id="5" name="AutoShape 5"/>
          <p:cNvSpPr/>
          <p:nvPr/>
        </p:nvSpPr>
        <p:spPr>
          <a:xfrm>
            <a:off x="889000" y="2540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数据清理</a:t>
            </a:r>
            <a:endParaRPr lang="en-US" sz="1100"/>
          </a:p>
        </p:txBody>
      </p:sp>
      <p:sp>
        <p:nvSpPr>
          <p:cNvPr id="6" name="AutoShape 6"/>
          <p:cNvSpPr/>
          <p:nvPr/>
        </p:nvSpPr>
        <p:spPr>
          <a:xfrm>
            <a:off x="952500" y="3048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过滤不必要的内容、删除重复数据、处理缺失值，去除数据噪声。</a:t>
            </a:r>
            <a:endParaRPr lang="en-US" sz="1100"/>
          </a:p>
        </p:txBody>
      </p:sp>
      <p:sp>
        <p:nvSpPr>
          <p:cNvPr id="7" name="AutoShape 7"/>
          <p:cNvSpPr/>
          <p:nvPr/>
        </p:nvSpPr>
        <p:spPr>
          <a:xfrm>
            <a:off x="4445000" y="1524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778000"/>
            <a:ext cx="635000" cy="635000"/>
          </a:xfrm>
          <a:prstGeom prst="rect">
            <a:avLst/>
          </a:prstGeom>
        </p:spPr>
      </p:pic>
      <p:sp>
        <p:nvSpPr>
          <p:cNvPr id="9" name="AutoShape 9"/>
          <p:cNvSpPr/>
          <p:nvPr/>
        </p:nvSpPr>
        <p:spPr>
          <a:xfrm>
            <a:off x="4572000" y="2540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数据规范化</a:t>
            </a:r>
            <a:endParaRPr lang="en-US" sz="1100"/>
          </a:p>
        </p:txBody>
      </p:sp>
      <p:sp>
        <p:nvSpPr>
          <p:cNvPr id="10" name="AutoShape 10"/>
          <p:cNvSpPr/>
          <p:nvPr/>
        </p:nvSpPr>
        <p:spPr>
          <a:xfrm>
            <a:off x="4635500" y="3048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标准化拼写、语法、数字格式、单位和命名法，确保数据的一致性。</a:t>
            </a:r>
            <a:endParaRPr lang="en-US" sz="1100"/>
          </a:p>
        </p:txBody>
      </p:sp>
      <p:sp>
        <p:nvSpPr>
          <p:cNvPr id="11" name="AutoShape 11"/>
          <p:cNvSpPr/>
          <p:nvPr/>
        </p:nvSpPr>
        <p:spPr>
          <a:xfrm>
            <a:off x="8128000" y="1524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778000"/>
            <a:ext cx="635000" cy="635000"/>
          </a:xfrm>
          <a:prstGeom prst="rect">
            <a:avLst/>
          </a:prstGeom>
        </p:spPr>
      </p:pic>
      <p:sp>
        <p:nvSpPr>
          <p:cNvPr id="13" name="AutoShape 13"/>
          <p:cNvSpPr/>
          <p:nvPr/>
        </p:nvSpPr>
        <p:spPr>
          <a:xfrm>
            <a:off x="8255000" y="2540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核心价值</a:t>
            </a:r>
            <a:endParaRPr lang="en-US" sz="1100"/>
          </a:p>
        </p:txBody>
      </p:sp>
      <p:sp>
        <p:nvSpPr>
          <p:cNvPr id="14" name="AutoShape 14"/>
          <p:cNvSpPr/>
          <p:nvPr/>
        </p:nvSpPr>
        <p:spPr>
          <a:xfrm>
            <a:off x="8318500" y="3048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提升数据质量，避免相同概念被视为不同实体，提高模型匹配度和检索准确性。</a:t>
            </a:r>
            <a:endParaRPr lang="en-US" sz="1100"/>
          </a:p>
        </p:txBody>
      </p:sp>
      <p:sp>
        <p:nvSpPr>
          <p:cNvPr id="15" name="AutoShape 15"/>
          <p:cNvSpPr/>
          <p:nvPr/>
        </p:nvSpPr>
        <p:spPr>
          <a:xfrm>
            <a:off x="762000" y="4953000"/>
            <a:ext cx="10668000" cy="1016000"/>
          </a:xfrm>
          <a:prstGeom prst="roundRect">
            <a:avLst>
              <a:gd name="adj" fmla="val 12500"/>
            </a:avLst>
          </a:prstGeom>
          <a:solidFill>
            <a:srgbClr val="0288D1">
              <a:alpha val="1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143500"/>
            <a:ext cx="101600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800" b="1" i="0" u="none" strike="noStrike">
                <a:solidFill>
                  <a:srgbClr val="0288D1"/>
                </a:solidFill>
                <a:latin typeface="Noto Sans SC"/>
                <a:ea typeface="Noto Sans SC"/>
                <a:cs typeface="Noto Sans SC"/>
                <a:sym typeface="Noto Sans SC"/>
              </a:rPr>
              <a:t>总结：</a:t>
            </a:r>
            <a:r>
              <a:rPr lang="en-US" sz="1800" b="0" i="0" u="none" strike="noStrike">
                <a:solidFill>
                  <a:srgbClr val="505050"/>
                </a:solidFill>
                <a:latin typeface="Noto Sans SC"/>
                <a:ea typeface="Noto Sans SC"/>
                <a:cs typeface="Noto Sans SC"/>
                <a:sym typeface="Noto Sans SC"/>
              </a:rPr>
              <a:t>原始数据往往杂乱无章，清理与规范化是构建高质量数据集的基石，是确保后续AI模型精准运行的前提。</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013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步骤2：分割文档</a:t>
            </a:r>
            <a:endParaRPr lang="en-US" sz="1100"/>
          </a:p>
        </p:txBody>
      </p:sp>
      <p:sp>
        <p:nvSpPr>
          <p:cNvPr id="3" name="AutoShape 3"/>
          <p:cNvSpPr/>
          <p:nvPr/>
        </p:nvSpPr>
        <p:spPr>
          <a:xfrm>
            <a:off x="762000" y="1397000"/>
            <a:ext cx="5080000" cy="1397000"/>
          </a:xfrm>
          <a:prstGeom prst="roundRect">
            <a:avLst>
              <a:gd name="adj" fmla="val 909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587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分割好处</a:t>
            </a:r>
            <a:endParaRPr lang="en-US" sz="1100"/>
          </a:p>
        </p:txBody>
      </p:sp>
      <p:sp>
        <p:nvSpPr>
          <p:cNvPr id="6" name="AutoShape 6"/>
          <p:cNvSpPr/>
          <p:nvPr/>
        </p:nvSpPr>
        <p:spPr>
          <a:xfrm>
            <a:off x="1524000" y="19685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提升处理效率、增强可维护性、便于检索组件匹配。</a:t>
            </a:r>
            <a:endParaRPr lang="en-US" sz="1100"/>
          </a:p>
        </p:txBody>
      </p:sp>
      <p:sp>
        <p:nvSpPr>
          <p:cNvPr id="7" name="AutoShape 7"/>
          <p:cNvSpPr/>
          <p:nvPr/>
        </p:nvSpPr>
        <p:spPr>
          <a:xfrm>
            <a:off x="762000" y="2984500"/>
            <a:ext cx="5080000" cy="1397000"/>
          </a:xfrm>
          <a:prstGeom prst="roundRect">
            <a:avLst>
              <a:gd name="adj" fmla="val 909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238500"/>
            <a:ext cx="406400" cy="406400"/>
          </a:xfrm>
          <a:prstGeom prst="rect">
            <a:avLst/>
          </a:prstGeom>
        </p:spPr>
      </p:pic>
      <p:sp>
        <p:nvSpPr>
          <p:cNvPr id="9" name="AutoShape 9"/>
          <p:cNvSpPr/>
          <p:nvPr/>
        </p:nvSpPr>
        <p:spPr>
          <a:xfrm>
            <a:off x="1524000" y="31750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常用方法</a:t>
            </a:r>
            <a:endParaRPr lang="en-US" sz="1100"/>
          </a:p>
        </p:txBody>
      </p:sp>
      <p:sp>
        <p:nvSpPr>
          <p:cNvPr id="10" name="AutoShape 10"/>
          <p:cNvSpPr/>
          <p:nvPr/>
        </p:nvSpPr>
        <p:spPr>
          <a:xfrm>
            <a:off x="1524000" y="35560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固定大小分块、基于文档结构分块、基于语义分块。</a:t>
            </a:r>
            <a:endParaRPr lang="en-US" sz="1100"/>
          </a:p>
        </p:txBody>
      </p:sp>
      <p:sp>
        <p:nvSpPr>
          <p:cNvPr id="11" name="AutoShape 11"/>
          <p:cNvSpPr/>
          <p:nvPr/>
        </p:nvSpPr>
        <p:spPr>
          <a:xfrm>
            <a:off x="762000" y="4572000"/>
            <a:ext cx="5080000" cy="1397000"/>
          </a:xfrm>
          <a:prstGeom prst="roundRect">
            <a:avLst>
              <a:gd name="adj" fmla="val 909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826000"/>
            <a:ext cx="406400" cy="406400"/>
          </a:xfrm>
          <a:prstGeom prst="rect">
            <a:avLst/>
          </a:prstGeom>
        </p:spPr>
      </p:pic>
      <p:sp>
        <p:nvSpPr>
          <p:cNvPr id="13" name="AutoShape 13"/>
          <p:cNvSpPr/>
          <p:nvPr/>
        </p:nvSpPr>
        <p:spPr>
          <a:xfrm>
            <a:off x="1524000" y="4762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核心目标</a:t>
            </a:r>
            <a:endParaRPr lang="en-US" sz="1100"/>
          </a:p>
        </p:txBody>
      </p:sp>
      <p:sp>
        <p:nvSpPr>
          <p:cNvPr id="14" name="AutoShape 14"/>
          <p:cNvSpPr/>
          <p:nvPr/>
        </p:nvSpPr>
        <p:spPr>
          <a:xfrm>
            <a:off x="1524000" y="51435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将文档分解为可检索的单元，保持关键信息完整和上下文连贯。</a:t>
            </a:r>
            <a:endParaRPr lang="en-US" sz="1100"/>
          </a:p>
        </p:txBody>
      </p:sp>
      <p:sp>
        <p:nvSpPr>
          <p:cNvPr id="15" name="AutoShape 15"/>
          <p:cNvSpPr/>
          <p:nvPr/>
        </p:nvSpPr>
        <p:spPr>
          <a:xfrm>
            <a:off x="6223000" y="1397000"/>
            <a:ext cx="4953000" cy="4572000"/>
          </a:xfrm>
          <a:prstGeom prst="roundRect">
            <a:avLst>
              <a:gd name="adj" fmla="val 2777"/>
            </a:avLst>
          </a:prstGeom>
          <a:solidFill>
            <a:srgbClr val="1E1E1E">
              <a:alpha val="100000"/>
            </a:srgbClr>
          </a:solidFill>
          <a:ln w="25400" cap="flat" cmpd="sng">
            <a:noFill/>
            <a:prstDash val="solid"/>
            <a:round/>
          </a:ln>
          <a:effectLst>
            <a:outerShdw blurRad="190500" dist="101600" dir="2700000" algn="tl" rotWithShape="0">
              <a:srgbClr val="000000">
                <a:alpha val="20000"/>
              </a:srgbClr>
            </a:outerShdw>
          </a:effectLst>
        </p:spPr>
        <p:txBody>
          <a:bodyPr vert="horz" wrap="square" lIns="63500" tIns="63500" rIns="63500" bIns="63500" rtlCol="0" anchor="ctr"/>
          <a:lstStyle/>
          <a:p>
            <a:pPr algn="ctr">
              <a:defRPr/>
            </a:pPr>
          </a:p>
        </p:txBody>
      </p:sp>
      <p:sp>
        <p:nvSpPr>
          <p:cNvPr id="16" name="AutoShape 16"/>
          <p:cNvSpPr/>
          <p:nvPr/>
        </p:nvSpPr>
        <p:spPr>
          <a:xfrm>
            <a:off x="6477000" y="15875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9CA3AF"/>
                </a:solidFill>
                <a:latin typeface="Noto Sans SC"/>
                <a:ea typeface="Noto Sans SC"/>
                <a:cs typeface="Noto Sans SC"/>
                <a:sym typeface="Noto Sans SC"/>
              </a:rPr>
              <a:t>LangChain 文本分割示例</a:t>
            </a:r>
            <a:endParaRPr lang="en-US" sz="1100"/>
          </a:p>
        </p:txBody>
      </p:sp>
      <p:sp>
        <p:nvSpPr>
          <p:cNvPr id="17" name="AutoShape 17"/>
          <p:cNvSpPr/>
          <p:nvPr/>
        </p:nvSpPr>
        <p:spPr>
          <a:xfrm>
            <a:off x="6477000" y="2032000"/>
            <a:ext cx="4445000" cy="355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C678DD"/>
                </a:solidFill>
                <a:latin typeface="Noto Sans SC"/>
                <a:ea typeface="Noto Sans SC"/>
                <a:cs typeface="Noto Sans SC"/>
                <a:sym typeface="Noto Sans SC"/>
              </a:rPr>
              <a:t>from</a:t>
            </a:r>
            <a:r>
              <a:rPr lang="en-US" sz="1400" b="0" i="0" u="none" strike="noStrike">
                <a:solidFill>
                  <a:srgbClr val="DCDFE4"/>
                </a:solidFill>
                <a:latin typeface="Noto Sans SC"/>
                <a:ea typeface="Noto Sans SC"/>
                <a:cs typeface="Noto Sans SC"/>
                <a:sym typeface="Noto Sans SC"/>
              </a:rPr>
              <a:t>langchain.text_splitter</a:t>
            </a:r>
            <a:r>
              <a:rPr lang="en-US" sz="1400" b="0" i="0" u="none" strike="noStrike">
                <a:solidFill>
                  <a:srgbClr val="C678DD"/>
                </a:solidFill>
                <a:latin typeface="Noto Sans SC"/>
                <a:ea typeface="Noto Sans SC"/>
                <a:cs typeface="Noto Sans SC"/>
                <a:sym typeface="Noto Sans SC"/>
              </a:rPr>
              <a:t>import</a:t>
            </a:r>
            <a:r>
              <a:rPr lang="en-US" sz="1400" b="0" i="0" u="none" strike="noStrike">
                <a:solidFill>
                  <a:srgbClr val="E5C07B"/>
                </a:solidFill>
                <a:latin typeface="Noto Sans SC"/>
                <a:ea typeface="Noto Sans SC"/>
                <a:cs typeface="Noto Sans SC"/>
                <a:sym typeface="Noto Sans SC"/>
              </a:rPr>
              <a:t>CharacterTextSplitter</a:t>
            </a:r>
            <a:endParaRPr lang="en-US" sz="1100"/>
          </a:p>
          <a:p>
            <a:pPr indent="0" algn="l">
              <a:lnSpc>
                <a:spcPct val="108000"/>
              </a:lnSpc>
            </a:pPr>
          </a:p>
          <a:p>
            <a:pPr indent="0" algn="l">
              <a:lnSpc>
                <a:spcPct val="108000"/>
              </a:lnSpc>
            </a:pPr>
            <a:r>
              <a:rPr lang="en-US" sz="1400" b="0" i="0" u="none" strike="noStrike">
                <a:solidFill>
                  <a:srgbClr val="DCDFE4"/>
                </a:solidFill>
                <a:latin typeface="Noto Sans SC"/>
                <a:ea typeface="Noto Sans SC"/>
                <a:cs typeface="Noto Sans SC"/>
                <a:sym typeface="Noto Sans SC"/>
              </a:rPr>
              <a:t>text_splitter =</a:t>
            </a:r>
            <a:r>
              <a:rPr lang="en-US" sz="1400" b="0" i="0" u="none" strike="noStrike">
                <a:solidFill>
                  <a:srgbClr val="E5C07B"/>
                </a:solidFill>
                <a:latin typeface="Noto Sans SC"/>
                <a:ea typeface="Noto Sans SC"/>
                <a:cs typeface="Noto Sans SC"/>
                <a:sym typeface="Noto Sans SC"/>
              </a:rPr>
              <a:t>CharacterTextSplitter</a:t>
            </a:r>
            <a:r>
              <a:rPr lang="en-US" sz="1400" b="0" i="0" u="none" strike="noStrike">
                <a:solidFill>
                  <a:srgbClr val="DCDFE4"/>
                </a:solidFill>
                <a:latin typeface="Noto Sans SC"/>
                <a:ea typeface="Noto Sans SC"/>
                <a:cs typeface="Noto Sans SC"/>
                <a:sym typeface="Noto Sans SC"/>
              </a:rPr>
              <a:t>(</a:t>
            </a:r>
            <a:endParaRPr lang="en-US" sz="1400" b="0" i="0" u="none" strike="noStrike">
              <a:solidFill>
                <a:srgbClr val="DCDFE4"/>
              </a:solidFill>
              <a:latin typeface="Noto Sans SC"/>
              <a:ea typeface="Noto Sans SC"/>
              <a:cs typeface="Noto Sans SC"/>
              <a:sym typeface="Noto Sans SC"/>
            </a:endParaRPr>
          </a:p>
          <a:p>
            <a:pPr indent="0" algn="l">
              <a:lnSpc>
                <a:spcPct val="108000"/>
              </a:lnSpc>
            </a:pPr>
            <a:r>
              <a:rPr lang="en-US" sz="1400" b="0" i="0" u="none" strike="noStrike">
                <a:solidFill>
                  <a:srgbClr val="DCDFE4"/>
                </a:solidFill>
                <a:latin typeface="Noto Sans SC"/>
                <a:ea typeface="Noto Sans SC"/>
                <a:cs typeface="Noto Sans SC"/>
                <a:sym typeface="Noto Sans SC"/>
              </a:rPr>
              <a:t>separator=</a:t>
            </a:r>
            <a:r>
              <a:rPr lang="en-US" sz="1400" b="0" i="0" u="none" strike="noStrike">
                <a:solidFill>
                  <a:srgbClr val="98C379"/>
                </a:solidFill>
                <a:latin typeface="Noto Sans SC"/>
                <a:ea typeface="Noto Sans SC"/>
                <a:cs typeface="Noto Sans SC"/>
                <a:sym typeface="Noto Sans SC"/>
              </a:rPr>
              <a:t>"\n\n"</a:t>
            </a:r>
            <a:r>
              <a:rPr lang="en-US" sz="1400" b="0" i="0" u="none" strike="noStrike">
                <a:solidFill>
                  <a:srgbClr val="DCDFE4"/>
                </a:solidFill>
                <a:latin typeface="Noto Sans SC"/>
                <a:ea typeface="Noto Sans SC"/>
                <a:cs typeface="Noto Sans SC"/>
                <a:sym typeface="Noto Sans SC"/>
              </a:rPr>
              <a:t>,</a:t>
            </a:r>
            <a:endParaRPr lang="en-US" sz="1400" b="0" i="0" u="none" strike="noStrike">
              <a:solidFill>
                <a:srgbClr val="DCDFE4"/>
              </a:solidFill>
              <a:latin typeface="Noto Sans SC"/>
              <a:ea typeface="Noto Sans SC"/>
              <a:cs typeface="Noto Sans SC"/>
              <a:sym typeface="Noto Sans SC"/>
            </a:endParaRPr>
          </a:p>
          <a:p>
            <a:pPr indent="0" algn="l">
              <a:lnSpc>
                <a:spcPct val="108000"/>
              </a:lnSpc>
            </a:pPr>
            <a:r>
              <a:rPr lang="en-US" sz="1400" b="0" i="0" u="none" strike="noStrike">
                <a:solidFill>
                  <a:srgbClr val="DCDFE4"/>
                </a:solidFill>
                <a:latin typeface="Noto Sans SC"/>
                <a:ea typeface="Noto Sans SC"/>
                <a:cs typeface="Noto Sans SC"/>
                <a:sym typeface="Noto Sans SC"/>
              </a:rPr>
              <a:t>chunk_size=</a:t>
            </a:r>
            <a:r>
              <a:rPr lang="en-US" sz="1400" b="0" i="0" u="none" strike="noStrike">
                <a:solidFill>
                  <a:srgbClr val="D19A66"/>
                </a:solidFill>
                <a:latin typeface="Noto Sans SC"/>
                <a:ea typeface="Noto Sans SC"/>
                <a:cs typeface="Noto Sans SC"/>
                <a:sym typeface="Noto Sans SC"/>
              </a:rPr>
              <a:t>256</a:t>
            </a:r>
            <a:r>
              <a:rPr lang="en-US" sz="1400" b="0" i="0" u="none" strike="noStrike">
                <a:solidFill>
                  <a:srgbClr val="DCDFE4"/>
                </a:solidFill>
                <a:latin typeface="Noto Sans SC"/>
                <a:ea typeface="Noto Sans SC"/>
                <a:cs typeface="Noto Sans SC"/>
                <a:sym typeface="Noto Sans SC"/>
              </a:rPr>
              <a:t>,</a:t>
            </a:r>
            <a:endParaRPr lang="en-US" sz="1400" b="0" i="0" u="none" strike="noStrike">
              <a:solidFill>
                <a:srgbClr val="DCDFE4"/>
              </a:solidFill>
              <a:latin typeface="Noto Sans SC"/>
              <a:ea typeface="Noto Sans SC"/>
              <a:cs typeface="Noto Sans SC"/>
              <a:sym typeface="Noto Sans SC"/>
            </a:endParaRPr>
          </a:p>
          <a:p>
            <a:pPr indent="0" algn="l">
              <a:lnSpc>
                <a:spcPct val="108000"/>
              </a:lnSpc>
            </a:pPr>
            <a:r>
              <a:rPr lang="en-US" sz="1400" b="0" i="0" u="none" strike="noStrike">
                <a:solidFill>
                  <a:srgbClr val="DCDFE4"/>
                </a:solidFill>
                <a:latin typeface="Noto Sans SC"/>
                <a:ea typeface="Noto Sans SC"/>
                <a:cs typeface="Noto Sans SC"/>
                <a:sym typeface="Noto Sans SC"/>
              </a:rPr>
              <a:t>chunk_overlap=</a:t>
            </a:r>
            <a:r>
              <a:rPr lang="en-US" sz="1400" b="0" i="0" u="none" strike="noStrike">
                <a:solidFill>
                  <a:srgbClr val="D19A66"/>
                </a:solidFill>
                <a:latin typeface="Noto Sans SC"/>
                <a:ea typeface="Noto Sans SC"/>
                <a:cs typeface="Noto Sans SC"/>
                <a:sym typeface="Noto Sans SC"/>
              </a:rPr>
              <a:t>20</a:t>
            </a:r>
            <a:r>
              <a:rPr lang="en-US" sz="1400" b="0" i="0" u="none" strike="noStrike">
                <a:solidFill>
                  <a:srgbClr val="DCDFE4"/>
                </a:solidFill>
                <a:latin typeface="Noto Sans SC"/>
                <a:ea typeface="Noto Sans SC"/>
                <a:cs typeface="Noto Sans SC"/>
                <a:sym typeface="Noto Sans SC"/>
              </a:rPr>
              <a:t>,</a:t>
            </a:r>
            <a:endParaRPr lang="en-US" sz="1400" b="0" i="0" u="none" strike="noStrike">
              <a:solidFill>
                <a:srgbClr val="DCDFE4"/>
              </a:solidFill>
              <a:latin typeface="Noto Sans SC"/>
              <a:ea typeface="Noto Sans SC"/>
              <a:cs typeface="Noto Sans SC"/>
              <a:sym typeface="Noto Sans SC"/>
            </a:endParaRPr>
          </a:p>
          <a:p>
            <a:pPr indent="0" algn="l">
              <a:lnSpc>
                <a:spcPct val="108000"/>
              </a:lnSpc>
            </a:pPr>
            <a:r>
              <a:rPr lang="en-US" sz="1400" b="0" i="0" u="none" strike="noStrike">
                <a:solidFill>
                  <a:srgbClr val="DCDFE4"/>
                </a:solidFill>
                <a:latin typeface="Noto Sans SC"/>
                <a:ea typeface="Noto Sans SC"/>
                <a:cs typeface="Noto Sans SC"/>
                <a:sym typeface="Noto Sans SC"/>
              </a:rPr>
              <a:t>length_function=</a:t>
            </a:r>
            <a:r>
              <a:rPr lang="en-US" sz="1400" b="0" i="0" u="none" strike="noStrike">
                <a:solidFill>
                  <a:srgbClr val="61AFEF"/>
                </a:solidFill>
                <a:latin typeface="Noto Sans SC"/>
                <a:ea typeface="Noto Sans SC"/>
                <a:cs typeface="Noto Sans SC"/>
                <a:sym typeface="Noto Sans SC"/>
              </a:rPr>
              <a:t>len</a:t>
            </a:r>
            <a:r>
              <a:rPr lang="en-US" sz="1400" b="0" i="0" u="none" strike="noStrike">
                <a:solidFill>
                  <a:srgbClr val="DCDFE4"/>
                </a:solidFill>
                <a:latin typeface="Noto Sans SC"/>
                <a:ea typeface="Noto Sans SC"/>
                <a:cs typeface="Noto Sans SC"/>
                <a:sym typeface="Noto Sans SC"/>
              </a:rPr>
              <a:t>,</a:t>
            </a:r>
            <a:endParaRPr lang="en-US" sz="1400" b="0" i="0" u="none" strike="noStrike">
              <a:solidFill>
                <a:srgbClr val="DCDFE4"/>
              </a:solidFill>
              <a:latin typeface="Noto Sans SC"/>
              <a:ea typeface="Noto Sans SC"/>
              <a:cs typeface="Noto Sans SC"/>
              <a:sym typeface="Noto Sans SC"/>
            </a:endParaRPr>
          </a:p>
          <a:p>
            <a:pPr indent="0" algn="l">
              <a:lnSpc>
                <a:spcPct val="108000"/>
              </a:lnSpc>
            </a:pPr>
            <a:r>
              <a:rPr lang="en-US" sz="1400" b="0" i="0" u="none" strike="noStrike">
                <a:solidFill>
                  <a:srgbClr val="DCDFE4"/>
                </a:solidFill>
                <a:latin typeface="Noto Sans SC"/>
                <a:ea typeface="Noto Sans SC"/>
                <a:cs typeface="Noto Sans SC"/>
                <a:sym typeface="Noto Sans SC"/>
              </a:rPr>
              <a:t>)</a:t>
            </a:r>
            <a:endParaRPr lang="en-US" sz="1400" b="0" i="0" u="none" strike="noStrike">
              <a:solidFill>
                <a:srgbClr val="DCDFE4"/>
              </a:solidFill>
              <a:latin typeface="Noto Sans SC"/>
              <a:ea typeface="Noto Sans SC"/>
              <a:cs typeface="Noto Sans SC"/>
              <a:sym typeface="Noto Sans SC"/>
            </a:endParaRPr>
          </a:p>
          <a:p>
            <a:pPr indent="0" algn="l">
              <a:lnSpc>
                <a:spcPct val="108000"/>
              </a:lnSpc>
            </a:pPr>
            <a:r>
              <a:rPr lang="en-US" sz="1400" b="0" i="0" u="none" strike="noStrike">
                <a:solidFill>
                  <a:srgbClr val="DCDFE4"/>
                </a:solidFill>
                <a:latin typeface="Noto Sans SC"/>
                <a:ea typeface="Noto Sans SC"/>
                <a:cs typeface="Noto Sans SC"/>
                <a:sym typeface="Noto Sans SC"/>
              </a:rPr>
              <a:t>texts = text_splitter.split_documents(documents)</a:t>
            </a:r>
            <a:endParaRPr lang="en-US" sz="1400" b="0" i="0" u="none" strike="noStrike">
              <a:solidFill>
                <a:srgbClr val="DCDFE4"/>
              </a:solidFill>
              <a:latin typeface="Noto Sans SC"/>
              <a:ea typeface="Noto Sans SC"/>
              <a:cs typeface="Noto Sans SC"/>
              <a:sym typeface="Noto Sans S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521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步骤3：文档词嵌入</a:t>
            </a:r>
            <a:endParaRPr lang="en-US" sz="1100"/>
          </a:p>
        </p:txBody>
      </p:sp>
      <p:sp>
        <p:nvSpPr>
          <p:cNvPr id="3" name="AutoShape 3"/>
          <p:cNvSpPr/>
          <p:nvPr/>
        </p:nvSpPr>
        <p:spPr>
          <a:xfrm>
            <a:off x="762000" y="1524000"/>
            <a:ext cx="5080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841500"/>
            <a:ext cx="508000" cy="508000"/>
          </a:xfrm>
          <a:prstGeom prst="rect">
            <a:avLst/>
          </a:prstGeom>
        </p:spPr>
      </p:pic>
      <p:sp>
        <p:nvSpPr>
          <p:cNvPr id="5" name="AutoShape 5"/>
          <p:cNvSpPr/>
          <p:nvPr/>
        </p:nvSpPr>
        <p:spPr>
          <a:xfrm>
            <a:off x="1651000" y="1651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核心任务</a:t>
            </a:r>
            <a:endParaRPr lang="en-US" sz="1100"/>
          </a:p>
        </p:txBody>
      </p:sp>
      <p:sp>
        <p:nvSpPr>
          <p:cNvPr id="6" name="AutoShape 6"/>
          <p:cNvSpPr/>
          <p:nvPr/>
        </p:nvSpPr>
        <p:spPr>
          <a:xfrm>
            <a:off x="1651000" y="2032000"/>
            <a:ext cx="393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将文本数据转换为计算机能够理解的向量表示（Embedding）。</a:t>
            </a:r>
            <a:endParaRPr lang="en-US" sz="1100"/>
          </a:p>
        </p:txBody>
      </p:sp>
      <p:sp>
        <p:nvSpPr>
          <p:cNvPr id="7" name="AutoShape 7"/>
          <p:cNvSpPr/>
          <p:nvPr/>
        </p:nvSpPr>
        <p:spPr>
          <a:xfrm>
            <a:off x="762000" y="3048000"/>
            <a:ext cx="5080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365500"/>
            <a:ext cx="508000" cy="508000"/>
          </a:xfrm>
          <a:prstGeom prst="rect">
            <a:avLst/>
          </a:prstGeom>
        </p:spPr>
      </p:pic>
      <p:sp>
        <p:nvSpPr>
          <p:cNvPr id="9" name="AutoShape 9"/>
          <p:cNvSpPr/>
          <p:nvPr/>
        </p:nvSpPr>
        <p:spPr>
          <a:xfrm>
            <a:off x="1651000" y="3175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常用模型</a:t>
            </a:r>
            <a:endParaRPr lang="en-US" sz="1100"/>
          </a:p>
        </p:txBody>
      </p:sp>
      <p:sp>
        <p:nvSpPr>
          <p:cNvPr id="10" name="AutoShape 10"/>
          <p:cNvSpPr/>
          <p:nvPr/>
        </p:nvSpPr>
        <p:spPr>
          <a:xfrm>
            <a:off x="1651000" y="3556000"/>
            <a:ext cx="393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预训练模型如BERT、Sentence-BERT，以及针对中文优化的bge-base-zh。</a:t>
            </a:r>
            <a:endParaRPr lang="en-US" sz="1100"/>
          </a:p>
        </p:txBody>
      </p:sp>
      <p:sp>
        <p:nvSpPr>
          <p:cNvPr id="11" name="AutoShape 11"/>
          <p:cNvSpPr/>
          <p:nvPr/>
        </p:nvSpPr>
        <p:spPr>
          <a:xfrm>
            <a:off x="762000" y="4572000"/>
            <a:ext cx="5080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889500"/>
            <a:ext cx="508000" cy="508000"/>
          </a:xfrm>
          <a:prstGeom prst="rect">
            <a:avLst/>
          </a:prstGeom>
        </p:spPr>
      </p:pic>
      <p:sp>
        <p:nvSpPr>
          <p:cNvPr id="13" name="AutoShape 13"/>
          <p:cNvSpPr/>
          <p:nvPr/>
        </p:nvSpPr>
        <p:spPr>
          <a:xfrm>
            <a:off x="1651000" y="4699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关键作用</a:t>
            </a:r>
            <a:endParaRPr lang="en-US" sz="1100"/>
          </a:p>
        </p:txBody>
      </p:sp>
      <p:sp>
        <p:nvSpPr>
          <p:cNvPr id="14" name="AutoShape 14"/>
          <p:cNvSpPr/>
          <p:nvPr/>
        </p:nvSpPr>
        <p:spPr>
          <a:xfrm>
            <a:off x="1651000" y="5080000"/>
            <a:ext cx="393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将语义相似的文本映射到相近的向量空间，为相似度检索奠定基础。</a:t>
            </a:r>
            <a:endParaRPr lang="en-US" sz="1100"/>
          </a:p>
        </p:txBody>
      </p:sp>
      <p:sp>
        <p:nvSpPr>
          <p:cNvPr id="15" name="AutoShape 15"/>
          <p:cNvSpPr/>
          <p:nvPr/>
        </p:nvSpPr>
        <p:spPr>
          <a:xfrm>
            <a:off x="6223000" y="1524000"/>
            <a:ext cx="5207000" cy="3302000"/>
          </a:xfrm>
          <a:prstGeom prst="roundRect">
            <a:avLst>
              <a:gd name="adj" fmla="val 3846"/>
            </a:avLst>
          </a:prstGeom>
          <a:solidFill>
            <a:srgbClr val="282C34">
              <a:alpha val="100000"/>
            </a:srgbClr>
          </a:solidFill>
          <a:ln w="25400" cap="flat" cmpd="sng">
            <a:noFill/>
            <a:prstDash val="solid"/>
            <a:round/>
          </a:ln>
          <a:effectLst>
            <a:outerShdw blurRad="190500" dist="101600" dir="5400000" algn="tl" rotWithShape="0">
              <a:srgbClr val="000000">
                <a:alpha val="20000"/>
              </a:srgbClr>
            </a:outerShdw>
          </a:effectLst>
        </p:spPr>
        <p:txBody>
          <a:bodyPr vert="horz" wrap="square" lIns="63500" tIns="63500" rIns="63500" bIns="63500" rtlCol="0" anchor="ctr"/>
          <a:lstStyle/>
          <a:p>
            <a:pPr algn="ctr">
              <a:defRPr/>
            </a:pPr>
          </a:p>
        </p:txBody>
      </p:sp>
      <p:sp>
        <p:nvSpPr>
          <p:cNvPr id="16" name="AutoShape 16"/>
          <p:cNvSpPr/>
          <p:nvPr/>
        </p:nvSpPr>
        <p:spPr>
          <a:xfrm>
            <a:off x="6477000" y="1714500"/>
            <a:ext cx="4699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9DA5B4"/>
                </a:solidFill>
                <a:latin typeface="Noto Sans SC"/>
                <a:ea typeface="Noto Sans SC"/>
                <a:cs typeface="Noto Sans SC"/>
                <a:sym typeface="Noto Sans SC"/>
              </a:rPr>
              <a:t>Python Code: 使用HuggingFace加载嵌入模型</a:t>
            </a:r>
            <a:endParaRPr lang="en-US" sz="1100"/>
          </a:p>
        </p:txBody>
      </p:sp>
      <p:sp>
        <p:nvSpPr>
          <p:cNvPr id="17" name="AutoShape 17"/>
          <p:cNvSpPr/>
          <p:nvPr/>
        </p:nvSpPr>
        <p:spPr>
          <a:xfrm>
            <a:off x="6477000" y="2095500"/>
            <a:ext cx="4699000" cy="241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E06C75"/>
                </a:solidFill>
                <a:latin typeface="Noto Sans SC"/>
                <a:ea typeface="Noto Sans SC"/>
                <a:cs typeface="Noto Sans SC"/>
                <a:sym typeface="Noto Sans SC"/>
              </a:rPr>
              <a:t>from</a:t>
            </a:r>
            <a:r>
              <a:rPr lang="en-US" sz="1300" b="0" i="0" u="none" strike="noStrike">
                <a:solidFill>
                  <a:srgbClr val="ABB2BF"/>
                </a:solidFill>
                <a:latin typeface="Noto Sans SC"/>
                <a:ea typeface="Noto Sans SC"/>
                <a:cs typeface="Noto Sans SC"/>
                <a:sym typeface="Noto Sans SC"/>
              </a:rPr>
              <a:t>langchain_community.embeddings</a:t>
            </a:r>
            <a:r>
              <a:rPr lang="en-US" sz="1300" b="0" i="0" u="none" strike="noStrike">
                <a:solidFill>
                  <a:srgbClr val="E06C75"/>
                </a:solidFill>
                <a:latin typeface="Noto Sans SC"/>
                <a:ea typeface="Noto Sans SC"/>
                <a:cs typeface="Noto Sans SC"/>
                <a:sym typeface="Noto Sans SC"/>
              </a:rPr>
              <a:t>import</a:t>
            </a:r>
            <a:r>
              <a:rPr lang="en-US" sz="1300" b="0" i="0" u="none" strike="noStrike">
                <a:solidFill>
                  <a:srgbClr val="D19A66"/>
                </a:solidFill>
                <a:latin typeface="Noto Sans SC"/>
                <a:ea typeface="Noto Sans SC"/>
                <a:cs typeface="Noto Sans SC"/>
                <a:sym typeface="Noto Sans SC"/>
              </a:rPr>
              <a:t>HuggingFaceEmbeddings</a:t>
            </a:r>
            <a:endParaRPr lang="en-US" sz="1100"/>
          </a:p>
          <a:p>
            <a:pPr indent="0" algn="l">
              <a:lnSpc>
                <a:spcPct val="108000"/>
              </a:lnSpc>
            </a:pPr>
            <a:r>
              <a:rPr lang="en-US" sz="1300" b="0" i="0" u="none" strike="noStrike">
                <a:solidFill>
                  <a:srgbClr val="E06C75"/>
                </a:solidFill>
                <a:latin typeface="Noto Sans SC"/>
                <a:ea typeface="Noto Sans SC"/>
                <a:cs typeface="Noto Sans SC"/>
                <a:sym typeface="Noto Sans SC"/>
              </a:rPr>
              <a:t>def</a:t>
            </a:r>
            <a:r>
              <a:rPr lang="en-US" sz="1300" b="0" i="0" u="none" strike="noStrike">
                <a:solidFill>
                  <a:srgbClr val="61AFEF"/>
                </a:solidFill>
                <a:latin typeface="Noto Sans SC"/>
                <a:ea typeface="Noto Sans SC"/>
                <a:cs typeface="Noto Sans SC"/>
                <a:sym typeface="Noto Sans SC"/>
              </a:rPr>
              <a:t>get_embeddings</a:t>
            </a:r>
            <a:r>
              <a:rPr lang="en-US" sz="1300" b="0" i="0" u="none" strike="noStrike">
                <a:solidFill>
                  <a:srgbClr val="ABB2BF"/>
                </a:solidFill>
                <a:latin typeface="Noto Sans SC"/>
                <a:ea typeface="Noto Sans SC"/>
                <a:cs typeface="Noto Sans SC"/>
                <a:sym typeface="Noto Sans SC"/>
              </a:rPr>
              <a:t>(bge_small_model_name=</a:t>
            </a:r>
            <a:r>
              <a:rPr lang="en-US" sz="1300" b="0" i="0" u="none" strike="noStrike">
                <a:solidFill>
                  <a:srgbClr val="98C379"/>
                </a:solidFill>
                <a:latin typeface="Noto Sans SC"/>
                <a:ea typeface="Noto Sans SC"/>
                <a:cs typeface="Noto Sans SC"/>
                <a:sym typeface="Noto Sans SC"/>
              </a:rPr>
              <a:t>"bge-base-zh"</a:t>
            </a:r>
            <a:r>
              <a:rPr lang="en-US" sz="1300" b="0" i="0" u="none" strike="noStrike">
                <a:solidFill>
                  <a:srgbClr val="ABB2BF"/>
                </a:solidFill>
                <a:latin typeface="Noto Sans SC"/>
                <a:ea typeface="Noto Sans SC"/>
                <a:cs typeface="Noto Sans SC"/>
                <a:sym typeface="Noto Sans SC"/>
              </a:rPr>
              <a:t>):</a:t>
            </a:r>
            <a:endParaRPr lang="en-US" sz="1300" b="0" i="0" u="none" strike="noStrike">
              <a:solidFill>
                <a:srgbClr val="ABB2BF"/>
              </a:solidFill>
              <a:latin typeface="Noto Sans SC"/>
              <a:ea typeface="Noto Sans SC"/>
              <a:cs typeface="Noto Sans SC"/>
              <a:sym typeface="Noto Sans SC"/>
            </a:endParaRPr>
          </a:p>
          <a:p>
            <a:pPr indent="0" algn="l">
              <a:lnSpc>
                <a:spcPct val="108000"/>
              </a:lnSpc>
            </a:pPr>
            <a:r>
              <a:rPr lang="en-US" sz="1300" b="0" i="0" u="none" strike="noStrike">
                <a:solidFill>
                  <a:srgbClr val="ABB2BF"/>
                </a:solidFill>
                <a:latin typeface="Noto Sans SC"/>
                <a:ea typeface="Noto Sans SC"/>
                <a:cs typeface="Noto Sans SC"/>
                <a:sym typeface="Noto Sans SC"/>
              </a:rPr>
              <a:t>embeddings =</a:t>
            </a:r>
            <a:r>
              <a:rPr lang="en-US" sz="1300" b="0" i="0" u="none" strike="noStrike">
                <a:solidFill>
                  <a:srgbClr val="D19A66"/>
                </a:solidFill>
                <a:latin typeface="Noto Sans SC"/>
                <a:ea typeface="Noto Sans SC"/>
                <a:cs typeface="Noto Sans SC"/>
                <a:sym typeface="Noto Sans SC"/>
              </a:rPr>
              <a:t>HuggingFaceEmbeddings</a:t>
            </a:r>
            <a:r>
              <a:rPr lang="en-US" sz="1300" b="0" i="0" u="none" strike="noStrike">
                <a:solidFill>
                  <a:srgbClr val="ABB2BF"/>
                </a:solidFill>
                <a:latin typeface="Noto Sans SC"/>
                <a:ea typeface="Noto Sans SC"/>
                <a:cs typeface="Noto Sans SC"/>
                <a:sym typeface="Noto Sans SC"/>
              </a:rPr>
              <a:t>(model_name=bge_small_model_name)</a:t>
            </a:r>
            <a:endParaRPr lang="en-US" sz="1300" b="0" i="0" u="none" strike="noStrike">
              <a:solidFill>
                <a:srgbClr val="ABB2BF"/>
              </a:solidFill>
              <a:latin typeface="Noto Sans SC"/>
              <a:ea typeface="Noto Sans SC"/>
              <a:cs typeface="Noto Sans SC"/>
              <a:sym typeface="Noto Sans SC"/>
            </a:endParaRPr>
          </a:p>
          <a:p>
            <a:pPr indent="0" algn="l">
              <a:lnSpc>
                <a:spcPct val="108000"/>
              </a:lnSpc>
            </a:pPr>
            <a:r>
              <a:rPr lang="en-US" sz="1300" b="0" i="0" u="none" strike="noStrike">
                <a:solidFill>
                  <a:srgbClr val="E06C75"/>
                </a:solidFill>
                <a:latin typeface="Noto Sans SC"/>
                <a:ea typeface="Noto Sans SC"/>
                <a:cs typeface="Noto Sans SC"/>
                <a:sym typeface="Noto Sans SC"/>
              </a:rPr>
              <a:t>return</a:t>
            </a:r>
            <a:r>
              <a:rPr lang="en-US" sz="1300" b="0" i="0" u="none" strike="noStrike">
                <a:solidFill>
                  <a:srgbClr val="ABB2BF"/>
                </a:solidFill>
                <a:latin typeface="Noto Sans SC"/>
                <a:ea typeface="Noto Sans SC"/>
                <a:cs typeface="Noto Sans SC"/>
                <a:sym typeface="Noto Sans SC"/>
              </a:rPr>
              <a:t>embeddings</a:t>
            </a:r>
            <a:endParaRPr lang="en-US" sz="1300" b="0" i="0" u="none" strike="noStrike">
              <a:solidFill>
                <a:srgbClr val="ABB2BF"/>
              </a:solidFill>
              <a:latin typeface="Noto Sans SC"/>
              <a:ea typeface="Noto Sans SC"/>
              <a:cs typeface="Noto Sans SC"/>
              <a:sym typeface="Noto Sans SC"/>
            </a:endParaRPr>
          </a:p>
          <a:p>
            <a:pPr indent="0" algn="l">
              <a:lnSpc>
                <a:spcPct val="108000"/>
              </a:lnSpc>
            </a:pPr>
            <a:r>
              <a:rPr lang="en-US" sz="1300" b="0" i="0" u="none" strike="noStrike">
                <a:solidFill>
                  <a:srgbClr val="ABB2BF"/>
                </a:solidFill>
                <a:latin typeface="Noto Sans SC"/>
                <a:ea typeface="Noto Sans SC"/>
                <a:cs typeface="Noto Sans SC"/>
                <a:sym typeface="Noto Sans SC"/>
              </a:rPr>
              <a:t>embeddings =</a:t>
            </a:r>
            <a:r>
              <a:rPr lang="en-US" sz="1300" b="0" i="0" u="none" strike="noStrike">
                <a:solidFill>
                  <a:srgbClr val="61AFEF"/>
                </a:solidFill>
                <a:latin typeface="Noto Sans SC"/>
                <a:ea typeface="Noto Sans SC"/>
                <a:cs typeface="Noto Sans SC"/>
                <a:sym typeface="Noto Sans SC"/>
              </a:rPr>
              <a:t>get_embeddings</a:t>
            </a:r>
            <a:r>
              <a:rPr lang="en-US" sz="1300" b="0" i="0" u="none" strike="noStrike">
                <a:solidFill>
                  <a:srgbClr val="ABB2BF"/>
                </a:solidFill>
                <a:latin typeface="Noto Sans SC"/>
                <a:ea typeface="Noto Sans SC"/>
                <a:cs typeface="Noto Sans SC"/>
                <a:sym typeface="Noto Sans SC"/>
              </a:rPr>
              <a:t>()</a:t>
            </a:r>
            <a:endParaRPr lang="en-US" sz="1300" b="0" i="0" u="none" strike="noStrike">
              <a:solidFill>
                <a:srgbClr val="ABB2BF"/>
              </a:solidFill>
              <a:latin typeface="Noto Sans SC"/>
              <a:ea typeface="Noto Sans SC"/>
              <a:cs typeface="Noto Sans SC"/>
              <a:sym typeface="Noto Sans SC"/>
            </a:endParaRPr>
          </a:p>
        </p:txBody>
      </p:sp>
      <p:sp>
        <p:nvSpPr>
          <p:cNvPr id="18" name="AutoShape 18"/>
          <p:cNvSpPr/>
          <p:nvPr/>
        </p:nvSpPr>
        <p:spPr>
          <a:xfrm>
            <a:off x="6223000" y="5080000"/>
            <a:ext cx="5207000" cy="762000"/>
          </a:xfrm>
          <a:prstGeom prst="roundRect">
            <a:avLst>
              <a:gd name="adj" fmla="val 16666"/>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sp>
        <p:nvSpPr>
          <p:cNvPr id="19" name="AutoShape 19"/>
          <p:cNvSpPr/>
          <p:nvPr/>
        </p:nvSpPr>
        <p:spPr>
          <a:xfrm>
            <a:off x="6413500" y="52070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88D1"/>
                </a:solidFill>
                <a:latin typeface="Noto Sans SC"/>
                <a:ea typeface="Noto Sans SC"/>
                <a:cs typeface="Noto Sans SC"/>
                <a:sym typeface="Noto Sans SC"/>
              </a:rPr>
              <a:t>提示：</a:t>
            </a:r>
            <a:r>
              <a:rPr lang="en-US" sz="1400" b="0" i="0" u="none" strike="noStrike">
                <a:solidFill>
                  <a:srgbClr val="0288D1"/>
                </a:solidFill>
                <a:latin typeface="Noto Sans SC"/>
                <a:ea typeface="Noto Sans SC"/>
                <a:cs typeface="Noto Sans SC"/>
                <a:sym typeface="Noto Sans SC"/>
              </a:rPr>
              <a:t>选择合适的嵌入模型直接影响后续检索的准确性，中文场景推荐使用bge系列。</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步骤4：向量存储</a:t>
            </a:r>
            <a:endParaRPr lang="en-US" sz="1100"/>
          </a:p>
        </p:txBody>
      </p:sp>
      <p:sp>
        <p:nvSpPr>
          <p:cNvPr id="3" name="AutoShape 3"/>
          <p:cNvSpPr/>
          <p:nvPr/>
        </p:nvSpPr>
        <p:spPr>
          <a:xfrm>
            <a:off x="762000" y="1397000"/>
            <a:ext cx="5080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5240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存储系统</a:t>
            </a:r>
            <a:endParaRPr lang="en-US" sz="1100"/>
          </a:p>
        </p:txBody>
      </p:sp>
      <p:sp>
        <p:nvSpPr>
          <p:cNvPr id="6" name="AutoShape 6"/>
          <p:cNvSpPr/>
          <p:nvPr/>
        </p:nvSpPr>
        <p:spPr>
          <a:xfrm>
            <a:off x="1524000" y="18796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757575"/>
                </a:solidFill>
                <a:latin typeface="Noto Sans SC"/>
                <a:ea typeface="Noto Sans SC"/>
                <a:cs typeface="Noto Sans SC"/>
                <a:sym typeface="Noto Sans SC"/>
              </a:rPr>
              <a:t>使用专门的向量数据库（如FAISS、Pinecone、Milvus）来高效存储和管理向量数据。</a:t>
            </a:r>
            <a:endParaRPr lang="en-US" sz="1100"/>
          </a:p>
        </p:txBody>
      </p:sp>
      <p:sp>
        <p:nvSpPr>
          <p:cNvPr id="7" name="AutoShape 7"/>
          <p:cNvSpPr/>
          <p:nvPr/>
        </p:nvSpPr>
        <p:spPr>
          <a:xfrm>
            <a:off x="762000" y="2857500"/>
            <a:ext cx="5080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11500"/>
            <a:ext cx="406400" cy="406400"/>
          </a:xfrm>
          <a:prstGeom prst="rect">
            <a:avLst/>
          </a:prstGeom>
        </p:spPr>
      </p:pic>
      <p:sp>
        <p:nvSpPr>
          <p:cNvPr id="9" name="AutoShape 9"/>
          <p:cNvSpPr/>
          <p:nvPr/>
        </p:nvSpPr>
        <p:spPr>
          <a:xfrm>
            <a:off x="1524000" y="29845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核心功能</a:t>
            </a:r>
            <a:endParaRPr lang="en-US" sz="1100"/>
          </a:p>
        </p:txBody>
      </p:sp>
      <p:sp>
        <p:nvSpPr>
          <p:cNvPr id="10" name="AutoShape 10"/>
          <p:cNvSpPr/>
          <p:nvPr/>
        </p:nvSpPr>
        <p:spPr>
          <a:xfrm>
            <a:off x="1524000" y="33401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757575"/>
                </a:solidFill>
                <a:latin typeface="Noto Sans SC"/>
                <a:ea typeface="Noto Sans SC"/>
                <a:cs typeface="Noto Sans SC"/>
                <a:sym typeface="Noto Sans SC"/>
              </a:rPr>
              <a:t>支持快速的相似度检索，能够根据用户查询的向量快速找到最相似的文档向量。</a:t>
            </a:r>
            <a:endParaRPr lang="en-US" sz="1100"/>
          </a:p>
        </p:txBody>
      </p:sp>
      <p:sp>
        <p:nvSpPr>
          <p:cNvPr id="11" name="AutoShape 11"/>
          <p:cNvSpPr/>
          <p:nvPr/>
        </p:nvSpPr>
        <p:spPr>
          <a:xfrm>
            <a:off x="762000" y="4318000"/>
            <a:ext cx="5080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572000"/>
            <a:ext cx="406400" cy="406400"/>
          </a:xfrm>
          <a:prstGeom prst="rect">
            <a:avLst/>
          </a:prstGeom>
        </p:spPr>
      </p:pic>
      <p:sp>
        <p:nvSpPr>
          <p:cNvPr id="13" name="AutoShape 13"/>
          <p:cNvSpPr/>
          <p:nvPr/>
        </p:nvSpPr>
        <p:spPr>
          <a:xfrm>
            <a:off x="1524000" y="4445000"/>
            <a:ext cx="406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元数据</a:t>
            </a:r>
            <a:endParaRPr lang="en-US" sz="1100"/>
          </a:p>
        </p:txBody>
      </p:sp>
      <p:sp>
        <p:nvSpPr>
          <p:cNvPr id="14" name="AutoShape 14"/>
          <p:cNvSpPr/>
          <p:nvPr/>
        </p:nvSpPr>
        <p:spPr>
          <a:xfrm>
            <a:off x="1524000" y="48006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757575"/>
                </a:solidFill>
                <a:latin typeface="Noto Sans SC"/>
                <a:ea typeface="Noto Sans SC"/>
                <a:cs typeface="Noto Sans SC"/>
                <a:sym typeface="Noto Sans SC"/>
              </a:rPr>
              <a:t>通常还会存储与向量对应的原始文本、元数据（如时间戳、类别）等，以便后续使用。</a:t>
            </a:r>
            <a:endParaRPr lang="en-US" sz="1100"/>
          </a:p>
        </p:txBody>
      </p:sp>
      <p:sp>
        <p:nvSpPr>
          <p:cNvPr id="15" name="AutoShape 15"/>
          <p:cNvSpPr/>
          <p:nvPr/>
        </p:nvSpPr>
        <p:spPr>
          <a:xfrm>
            <a:off x="6350000" y="1397000"/>
            <a:ext cx="5080000" cy="2540000"/>
          </a:xfrm>
          <a:prstGeom prst="roundRect">
            <a:avLst>
              <a:gd name="adj" fmla="val 5000"/>
            </a:avLst>
          </a:prstGeom>
          <a:solidFill>
            <a:srgbClr val="1E1E1E">
              <a:alpha val="100000"/>
            </a:srgbClr>
          </a:solidFill>
          <a:ln w="25400" cap="flat" cmpd="sng">
            <a:noFill/>
            <a:prstDash val="solid"/>
            <a:round/>
          </a:ln>
          <a:effectLst>
            <a:outerShdw blurRad="190500" dist="101600" dir="5400000" algn="tl" rotWithShape="0">
              <a:srgbClr val="000000">
                <a:alpha val="20000"/>
              </a:srgbClr>
            </a:outerShdw>
          </a:effectLst>
        </p:spPr>
        <p:txBody>
          <a:bodyPr vert="horz" wrap="square" lIns="63500" tIns="63500" rIns="63500" bIns="63500" rtlCol="0" anchor="ctr"/>
          <a:lstStyle/>
          <a:p>
            <a:pPr algn="ctr">
              <a:defRPr/>
            </a:pPr>
          </a:p>
        </p:txBody>
      </p:sp>
      <p:sp>
        <p:nvSpPr>
          <p:cNvPr id="16" name="AutoShape 16"/>
          <p:cNvSpPr/>
          <p:nvPr/>
        </p:nvSpPr>
        <p:spPr>
          <a:xfrm>
            <a:off x="6540500" y="1524000"/>
            <a:ext cx="4699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代码示例：使用 FAISS 创建向量库</a:t>
            </a:r>
            <a:endParaRPr lang="en-US" sz="1100"/>
          </a:p>
        </p:txBody>
      </p:sp>
      <p:sp>
        <p:nvSpPr>
          <p:cNvPr id="17" name="AutoShape 17"/>
          <p:cNvSpPr/>
          <p:nvPr/>
        </p:nvSpPr>
        <p:spPr>
          <a:xfrm>
            <a:off x="6540500" y="1905000"/>
            <a:ext cx="46990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C678DD"/>
                </a:solidFill>
                <a:latin typeface="Source Code Pro"/>
                <a:ea typeface="Source Code Pro"/>
                <a:cs typeface="Source Code Pro"/>
                <a:sym typeface="Source Code Pro"/>
              </a:rPr>
              <a:t>from</a:t>
            </a:r>
            <a:r>
              <a:rPr lang="en-US" sz="1300" b="0" i="0" u="none" strike="noStrike">
                <a:solidFill>
                  <a:srgbClr val="ABB2BF"/>
                </a:solidFill>
                <a:latin typeface="Source Code Pro"/>
                <a:ea typeface="Source Code Pro"/>
                <a:cs typeface="Source Code Pro"/>
                <a:sym typeface="Source Code Pro"/>
              </a:rPr>
              <a:t>langchain_community.vectorstores.faiss</a:t>
            </a:r>
            <a:r>
              <a:rPr lang="en-US" sz="1300" b="0" i="0" u="none" strike="noStrike">
                <a:solidFill>
                  <a:srgbClr val="C678DD"/>
                </a:solidFill>
                <a:latin typeface="Source Code Pro"/>
                <a:ea typeface="Source Code Pro"/>
                <a:cs typeface="Source Code Pro"/>
                <a:sym typeface="Source Code Pro"/>
              </a:rPr>
              <a:t>import</a:t>
            </a:r>
            <a:r>
              <a:rPr lang="en-US" sz="1300" b="0" i="0" u="none" strike="noStrike">
                <a:solidFill>
                  <a:srgbClr val="61AFEF"/>
                </a:solidFill>
                <a:latin typeface="Source Code Pro"/>
                <a:ea typeface="Source Code Pro"/>
                <a:cs typeface="Source Code Pro"/>
                <a:sym typeface="Source Code Pro"/>
              </a:rPr>
              <a:t>FAISS</a:t>
            </a:r>
            <a:endParaRPr lang="en-US" sz="1100"/>
          </a:p>
          <a:p>
            <a:pPr indent="0" algn="l">
              <a:lnSpc>
                <a:spcPct val="108000"/>
              </a:lnSpc>
            </a:pPr>
          </a:p>
          <a:p>
            <a:pPr indent="0" algn="l">
              <a:lnSpc>
                <a:spcPct val="108000"/>
              </a:lnSpc>
            </a:pPr>
            <a:r>
              <a:rPr lang="en-US" sz="1300" b="0" i="0" u="none" strike="noStrike">
                <a:solidFill>
                  <a:srgbClr val="E5C07B"/>
                </a:solidFill>
                <a:latin typeface="Source Code Pro"/>
                <a:ea typeface="Source Code Pro"/>
                <a:cs typeface="Source Code Pro"/>
                <a:sym typeface="Source Code Pro"/>
              </a:rPr>
              <a:t>vector_store</a:t>
            </a:r>
            <a:r>
              <a:rPr lang="en-US" sz="1300" b="0" i="0" u="none" strike="noStrike">
                <a:solidFill>
                  <a:srgbClr val="ABB2BF"/>
                </a:solidFill>
                <a:latin typeface="Source Code Pro"/>
                <a:ea typeface="Source Code Pro"/>
                <a:cs typeface="Source Code Pro"/>
                <a:sym typeface="Source Code Pro"/>
              </a:rPr>
              <a:t>=</a:t>
            </a:r>
            <a:r>
              <a:rPr lang="en-US" sz="1300" b="0" i="0" u="none" strike="noStrike">
                <a:solidFill>
                  <a:srgbClr val="61AFEF"/>
                </a:solidFill>
                <a:latin typeface="Source Code Pro"/>
                <a:ea typeface="Source Code Pro"/>
                <a:cs typeface="Source Code Pro"/>
                <a:sym typeface="Source Code Pro"/>
              </a:rPr>
              <a:t>FAISS</a:t>
            </a:r>
            <a:r>
              <a:rPr lang="en-US" sz="1300" b="0" i="0" u="none" strike="noStrike">
                <a:solidFill>
                  <a:srgbClr val="ABB2BF"/>
                </a:solidFill>
                <a:latin typeface="Source Code Pro"/>
                <a:ea typeface="Source Code Pro"/>
                <a:cs typeface="Source Code Pro"/>
                <a:sym typeface="Source Code Pro"/>
              </a:rPr>
              <a:t>.from_documents(texts, embedding=embeddings)</a:t>
            </a:r>
            <a:endParaRPr lang="en-US" sz="1300" b="0" i="0" u="none" strike="noStrike">
              <a:solidFill>
                <a:srgbClr val="ABB2BF"/>
              </a:solidFill>
              <a:latin typeface="Source Code Pro"/>
              <a:ea typeface="Source Code Pro"/>
              <a:cs typeface="Source Code Pro"/>
              <a:sym typeface="Source Code Pro"/>
            </a:endParaRPr>
          </a:p>
          <a:p>
            <a:pPr indent="0" algn="l">
              <a:lnSpc>
                <a:spcPct val="108000"/>
              </a:lnSpc>
            </a:pPr>
            <a:r>
              <a:rPr lang="en-US" sz="1300" b="0" i="0" u="none" strike="noStrike">
                <a:solidFill>
                  <a:srgbClr val="E5C07B"/>
                </a:solidFill>
                <a:latin typeface="Source Code Pro"/>
                <a:ea typeface="Source Code Pro"/>
                <a:cs typeface="Source Code Pro"/>
                <a:sym typeface="Source Code Pro"/>
              </a:rPr>
              <a:t>vec_path</a:t>
            </a:r>
            <a:r>
              <a:rPr lang="en-US" sz="1300" b="0" i="0" u="none" strike="noStrike">
                <a:solidFill>
                  <a:srgbClr val="ABB2BF"/>
                </a:solidFill>
                <a:latin typeface="Source Code Pro"/>
                <a:ea typeface="Source Code Pro"/>
                <a:cs typeface="Source Code Pro"/>
                <a:sym typeface="Source Code Pro"/>
              </a:rPr>
              <a:t>=</a:t>
            </a:r>
            <a:r>
              <a:rPr lang="en-US" sz="1300" b="0" i="0" u="none" strike="noStrike">
                <a:solidFill>
                  <a:srgbClr val="98C379"/>
                </a:solidFill>
                <a:latin typeface="Source Code Pro"/>
                <a:ea typeface="Source Code Pro"/>
                <a:cs typeface="Source Code Pro"/>
                <a:sym typeface="Source Code Pro"/>
              </a:rPr>
              <a:t>"rag_vec.db"</a:t>
            </a:r>
            <a:endParaRPr lang="en-US" sz="1300" b="0" i="0" u="none" strike="noStrike">
              <a:solidFill>
                <a:srgbClr val="98C379"/>
              </a:solidFill>
              <a:latin typeface="Source Code Pro"/>
              <a:ea typeface="Source Code Pro"/>
              <a:cs typeface="Source Code Pro"/>
              <a:sym typeface="Source Code Pro"/>
            </a:endParaRPr>
          </a:p>
          <a:p>
            <a:pPr indent="0" algn="l">
              <a:lnSpc>
                <a:spcPct val="108000"/>
              </a:lnSpc>
            </a:pPr>
            <a:r>
              <a:rPr lang="en-US" sz="1300" b="0" i="0" u="none" strike="noStrike">
                <a:solidFill>
                  <a:srgbClr val="E5C07B"/>
                </a:solidFill>
                <a:latin typeface="Source Code Pro"/>
                <a:ea typeface="Source Code Pro"/>
                <a:cs typeface="Source Code Pro"/>
                <a:sym typeface="Source Code Pro"/>
              </a:rPr>
              <a:t>vector_store</a:t>
            </a:r>
            <a:r>
              <a:rPr lang="en-US" sz="1300" b="0" i="0" u="none" strike="noStrike">
                <a:solidFill>
                  <a:srgbClr val="ABB2BF"/>
                </a:solidFill>
                <a:latin typeface="Source Code Pro"/>
                <a:ea typeface="Source Code Pro"/>
                <a:cs typeface="Source Code Pro"/>
                <a:sym typeface="Source Code Pro"/>
              </a:rPr>
              <a:t>.save_local(vec_path)</a:t>
            </a:r>
            <a:endParaRPr lang="en-US" sz="1300" b="0" i="0" u="none" strike="noStrike">
              <a:solidFill>
                <a:srgbClr val="ABB2BF"/>
              </a:solidFill>
              <a:latin typeface="Source Code Pro"/>
              <a:ea typeface="Source Code Pro"/>
              <a:cs typeface="Source Code Pro"/>
              <a:sym typeface="Source Code Pro"/>
            </a:endParaRPr>
          </a:p>
        </p:txBody>
      </p:sp>
      <p:sp>
        <p:nvSpPr>
          <p:cNvPr id="18" name="AutoShape 18"/>
          <p:cNvSpPr/>
          <p:nvPr/>
        </p:nvSpPr>
        <p:spPr>
          <a:xfrm>
            <a:off x="6350000" y="4191000"/>
            <a:ext cx="5080000" cy="1397000"/>
          </a:xfrm>
          <a:prstGeom prst="roundRect">
            <a:avLst>
              <a:gd name="adj" fmla="val 9090"/>
            </a:avLst>
          </a:prstGeom>
          <a:solidFill>
            <a:srgbClr val="FFFFFF">
              <a:alpha val="6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sp>
        <p:nvSpPr>
          <p:cNvPr id="19" name="AutoShape 19"/>
          <p:cNvSpPr/>
          <p:nvPr/>
        </p:nvSpPr>
        <p:spPr>
          <a:xfrm>
            <a:off x="6540500" y="43815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0288D1"/>
                </a:solidFill>
                <a:latin typeface="Noto Sans SC"/>
                <a:ea typeface="Noto Sans SC"/>
                <a:cs typeface="Noto Sans SC"/>
                <a:sym typeface="Noto Sans SC"/>
              </a:rPr>
              <a:t>💡 关键提示：</a:t>
            </a:r>
            <a:endParaRPr lang="en-US" sz="1100"/>
          </a:p>
          <a:p>
            <a:pPr indent="0" algn="l">
              <a:lnSpc>
                <a:spcPct val="117000"/>
              </a:lnSpc>
            </a:pPr>
            <a:r>
              <a:rPr lang="en-US" sz="1400" b="0" i="0" u="none" strike="noStrike">
                <a:solidFill>
                  <a:srgbClr val="424242"/>
                </a:solidFill>
                <a:latin typeface="Noto Sans SC"/>
                <a:ea typeface="Noto Sans SC"/>
                <a:cs typeface="Noto Sans SC"/>
                <a:sym typeface="Noto Sans SC"/>
              </a:rPr>
              <a:t>向量数据库是 RAG 架构的核心组件，它解决了大规模高维数据的存储与检索难题，使得实时问答成为可能。</a:t>
            </a:r>
            <a:endParaRPr lang="en-US" sz="1400" b="0" i="0" u="none" strike="noStrike">
              <a:solidFill>
                <a:srgbClr val="424242"/>
              </a:solidFill>
              <a:latin typeface="Noto Sans SC"/>
              <a:ea typeface="Noto Sans SC"/>
              <a:cs typeface="Noto Sans SC"/>
              <a:sym typeface="Noto Sans S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步骤5：向量检索</a:t>
            </a:r>
            <a:endParaRPr lang="en-US" sz="1100"/>
          </a:p>
        </p:txBody>
      </p:sp>
      <p:sp>
        <p:nvSpPr>
          <p:cNvPr id="3" name="AutoShape 3"/>
          <p:cNvSpPr/>
          <p:nvPr/>
        </p:nvSpPr>
        <p:spPr>
          <a:xfrm>
            <a:off x="762000" y="1524000"/>
            <a:ext cx="5080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841500"/>
            <a:ext cx="508000" cy="508000"/>
          </a:xfrm>
          <a:prstGeom prst="rect">
            <a:avLst/>
          </a:prstGeom>
        </p:spPr>
      </p:pic>
      <p:sp>
        <p:nvSpPr>
          <p:cNvPr id="5" name="AutoShape 5"/>
          <p:cNvSpPr/>
          <p:nvPr/>
        </p:nvSpPr>
        <p:spPr>
          <a:xfrm>
            <a:off x="1651000" y="1651000"/>
            <a:ext cx="3937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检索过程</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将用户的查询转换为向量，然后在向量数据库中进行相似度匹配。</a:t>
            </a:r>
            <a:endParaRPr lang="en-US" sz="1600" b="0" i="0" u="none" strike="noStrike">
              <a:solidFill>
                <a:srgbClr val="757575"/>
              </a:solidFill>
              <a:latin typeface="Noto Sans SC"/>
              <a:ea typeface="Noto Sans SC"/>
              <a:cs typeface="Noto Sans SC"/>
              <a:sym typeface="Noto Sans SC"/>
            </a:endParaRPr>
          </a:p>
        </p:txBody>
      </p:sp>
      <p:sp>
        <p:nvSpPr>
          <p:cNvPr id="6" name="AutoShape 6"/>
          <p:cNvSpPr/>
          <p:nvPr/>
        </p:nvSpPr>
        <p:spPr>
          <a:xfrm>
            <a:off x="762000" y="3048000"/>
            <a:ext cx="5080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365500"/>
            <a:ext cx="508000" cy="508000"/>
          </a:xfrm>
          <a:prstGeom prst="rect">
            <a:avLst/>
          </a:prstGeom>
        </p:spPr>
      </p:pic>
      <p:sp>
        <p:nvSpPr>
          <p:cNvPr id="8" name="AutoShape 8"/>
          <p:cNvSpPr/>
          <p:nvPr/>
        </p:nvSpPr>
        <p:spPr>
          <a:xfrm>
            <a:off x="1651000" y="3175000"/>
            <a:ext cx="3937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返回结果</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返回与查询向量最相似的Top-N个文档片段，作为回答的依据。</a:t>
            </a:r>
            <a:endParaRPr lang="en-US" sz="16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762000" y="4572000"/>
            <a:ext cx="5080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889500"/>
            <a:ext cx="508000" cy="508000"/>
          </a:xfrm>
          <a:prstGeom prst="rect">
            <a:avLst/>
          </a:prstGeom>
        </p:spPr>
      </p:pic>
      <p:sp>
        <p:nvSpPr>
          <p:cNvPr id="11" name="AutoShape 11"/>
          <p:cNvSpPr/>
          <p:nvPr/>
        </p:nvSpPr>
        <p:spPr>
          <a:xfrm>
            <a:off x="1651000" y="4699000"/>
            <a:ext cx="3937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优化策略</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通过合理设置返回结果的数量（k值），平衡检索效果和计算成本。</a:t>
            </a:r>
            <a:endParaRPr lang="en-US" sz="16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6223000" y="1524000"/>
            <a:ext cx="4953000" cy="4318000"/>
          </a:xfrm>
          <a:prstGeom prst="roundRect">
            <a:avLst>
              <a:gd name="adj" fmla="val 2941"/>
            </a:avLst>
          </a:prstGeom>
          <a:solidFill>
            <a:srgbClr val="1E1E1E">
              <a:alpha val="100000"/>
            </a:srgbClr>
          </a:solidFill>
          <a:ln w="25400" cap="flat" cmpd="sng">
            <a:noFill/>
            <a:prstDash val="solid"/>
            <a:round/>
          </a:ln>
          <a:effectLst>
            <a:outerShdw blurRad="190500" dist="101600" dir="5400000" algn="tl" rotWithShape="0">
              <a:srgbClr val="000000">
                <a:alpha val="20000"/>
              </a:srgbClr>
            </a:outerShdw>
          </a:effectLst>
        </p:spPr>
        <p:txBody>
          <a:bodyPr vert="horz" wrap="square" lIns="63500" tIns="63500" rIns="63500" bIns="63500" rtlCol="0" anchor="ctr"/>
          <a:lstStyle/>
          <a:p>
            <a:pPr algn="ctr">
              <a:defRPr/>
            </a:pPr>
          </a:p>
        </p:txBody>
      </p:sp>
      <p:sp>
        <p:nvSpPr>
          <p:cNvPr id="13" name="AutoShape 13"/>
          <p:cNvSpPr/>
          <p:nvPr/>
        </p:nvSpPr>
        <p:spPr>
          <a:xfrm>
            <a:off x="6477000" y="1714500"/>
            <a:ext cx="152400" cy="1524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731000" y="1714500"/>
            <a:ext cx="152400" cy="1524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985000" y="1714500"/>
            <a:ext cx="152400" cy="1524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13500" y="2032000"/>
            <a:ext cx="4572000" cy="355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C792EA"/>
                </a:solidFill>
                <a:latin typeface="Source Code Pro"/>
                <a:ea typeface="Source Code Pro"/>
                <a:cs typeface="Source Code Pro"/>
                <a:sym typeface="Source Code Pro"/>
              </a:rPr>
              <a:t>from</a:t>
            </a:r>
            <a:r>
              <a:rPr lang="en-US" sz="1400" b="0" i="0" u="none" strike="noStrike">
                <a:solidFill>
                  <a:srgbClr val="DCDCDC"/>
                </a:solidFill>
                <a:latin typeface="Source Code Pro"/>
                <a:ea typeface="Source Code Pro"/>
                <a:cs typeface="Source Code Pro"/>
                <a:sym typeface="Source Code Pro"/>
              </a:rPr>
              <a:t>langchain_community.vectorstores.faiss</a:t>
            </a:r>
            <a:r>
              <a:rPr lang="en-US" sz="1400" b="0" i="0" u="none" strike="noStrike">
                <a:solidFill>
                  <a:srgbClr val="C792EA"/>
                </a:solidFill>
                <a:latin typeface="Source Code Pro"/>
                <a:ea typeface="Source Code Pro"/>
                <a:cs typeface="Source Code Pro"/>
                <a:sym typeface="Source Code Pro"/>
              </a:rPr>
              <a:t>import</a:t>
            </a:r>
            <a:r>
              <a:rPr lang="en-US" sz="1400" b="0" i="0" u="none" strike="noStrike">
                <a:solidFill>
                  <a:srgbClr val="DCDCDC"/>
                </a:solidFill>
                <a:latin typeface="Source Code Pro"/>
                <a:ea typeface="Source Code Pro"/>
                <a:cs typeface="Source Code Pro"/>
                <a:sym typeface="Source Code Pro"/>
              </a:rPr>
              <a:t>FAISS</a:t>
            </a:r>
            <a:endParaRPr lang="en-US" sz="1100"/>
          </a:p>
          <a:p>
            <a:pPr indent="0" algn="l">
              <a:lnSpc>
                <a:spcPct val="108000"/>
              </a:lnSpc>
            </a:pPr>
          </a:p>
          <a:p>
            <a:pPr indent="0" algn="l">
              <a:lnSpc>
                <a:spcPct val="108000"/>
              </a:lnSpc>
            </a:pPr>
            <a:r>
              <a:rPr lang="en-US" sz="1400" b="0" i="0" u="none" strike="noStrike">
                <a:solidFill>
                  <a:srgbClr val="9CDCFE"/>
                </a:solidFill>
                <a:latin typeface="Source Code Pro"/>
                <a:ea typeface="Source Code Pro"/>
                <a:cs typeface="Source Code Pro"/>
                <a:sym typeface="Source Code Pro"/>
              </a:rPr>
              <a:t>vec_path</a:t>
            </a:r>
            <a:r>
              <a:rPr lang="en-US" sz="1400" b="0" i="0" u="none" strike="noStrike">
                <a:solidFill>
                  <a:srgbClr val="DCDCDC"/>
                </a:solidFill>
                <a:latin typeface="Source Code Pro"/>
                <a:ea typeface="Source Code Pro"/>
                <a:cs typeface="Source Code Pro"/>
                <a:sym typeface="Source Code Pro"/>
              </a:rPr>
              <a:t>=</a:t>
            </a:r>
            <a:r>
              <a:rPr lang="en-US" sz="1400" b="0" i="0" u="none" strike="noStrike">
                <a:solidFill>
                  <a:srgbClr val="CE9178"/>
                </a:solidFill>
                <a:latin typeface="Source Code Pro"/>
                <a:ea typeface="Source Code Pro"/>
                <a:cs typeface="Source Code Pro"/>
                <a:sym typeface="Source Code Pro"/>
              </a:rPr>
              <a:t>"rag_vec.db"</a:t>
            </a:r>
            <a:endParaRPr lang="en-US" sz="1400" b="0" i="0" u="none" strike="noStrike">
              <a:solidFill>
                <a:srgbClr val="CE9178"/>
              </a:solidFill>
              <a:latin typeface="Source Code Pro"/>
              <a:ea typeface="Source Code Pro"/>
              <a:cs typeface="Source Code Pro"/>
              <a:sym typeface="Source Code Pro"/>
            </a:endParaRPr>
          </a:p>
          <a:p>
            <a:pPr indent="0" algn="l">
              <a:lnSpc>
                <a:spcPct val="108000"/>
              </a:lnSpc>
            </a:pPr>
            <a:r>
              <a:rPr lang="en-US" sz="1400" b="0" i="0" u="none" strike="noStrike">
                <a:solidFill>
                  <a:srgbClr val="9CDCFE"/>
                </a:solidFill>
                <a:latin typeface="Source Code Pro"/>
                <a:ea typeface="Source Code Pro"/>
                <a:cs typeface="Source Code Pro"/>
                <a:sym typeface="Source Code Pro"/>
              </a:rPr>
              <a:t>faiss</a:t>
            </a:r>
            <a:r>
              <a:rPr lang="en-US" sz="1400" b="0" i="0" u="none" strike="noStrike">
                <a:solidFill>
                  <a:srgbClr val="DCDCDC"/>
                </a:solidFill>
                <a:latin typeface="Source Code Pro"/>
                <a:ea typeface="Source Code Pro"/>
                <a:cs typeface="Source Code Pro"/>
                <a:sym typeface="Source Code Pro"/>
              </a:rPr>
              <a:t>= FAISS.load_local(vec_path, embeddings)</a:t>
            </a:r>
            <a:endParaRPr lang="en-US" sz="1400" b="0" i="0" u="none" strike="noStrike">
              <a:solidFill>
                <a:srgbClr val="DCDCDC"/>
              </a:solidFill>
              <a:latin typeface="Source Code Pro"/>
              <a:ea typeface="Source Code Pro"/>
              <a:cs typeface="Source Code Pro"/>
              <a:sym typeface="Source Code Pro"/>
            </a:endParaRPr>
          </a:p>
          <a:p>
            <a:pPr indent="0" algn="l">
              <a:lnSpc>
                <a:spcPct val="108000"/>
              </a:lnSpc>
            </a:pPr>
          </a:p>
          <a:p>
            <a:pPr indent="0" algn="l">
              <a:lnSpc>
                <a:spcPct val="108000"/>
              </a:lnSpc>
            </a:pPr>
            <a:r>
              <a:rPr lang="en-US" sz="1400" b="0" i="0" u="none" strike="noStrike">
                <a:solidFill>
                  <a:srgbClr val="C792EA"/>
                </a:solidFill>
                <a:latin typeface="Source Code Pro"/>
                <a:ea typeface="Source Code Pro"/>
                <a:cs typeface="Source Code Pro"/>
                <a:sym typeface="Source Code Pro"/>
              </a:rPr>
              <a:t>def</a:t>
            </a:r>
            <a:r>
              <a:rPr lang="en-US" sz="1400" b="0" i="0" u="none" strike="noStrike">
                <a:solidFill>
                  <a:srgbClr val="DCDCDC"/>
                </a:solidFill>
                <a:latin typeface="Source Code Pro"/>
                <a:ea typeface="Source Code Pro"/>
                <a:cs typeface="Source Code Pro"/>
                <a:sym typeface="Source Code Pro"/>
              </a:rPr>
              <a:t>get_similarity_search(question, k=</a:t>
            </a:r>
            <a:r>
              <a:rPr lang="en-US" sz="1400" b="0" i="0" u="none" strike="noStrike">
                <a:solidFill>
                  <a:srgbClr val="B5CEA8"/>
                </a:solidFill>
                <a:latin typeface="Source Code Pro"/>
                <a:ea typeface="Source Code Pro"/>
                <a:cs typeface="Source Code Pro"/>
                <a:sym typeface="Source Code Pro"/>
              </a:rPr>
              <a:t>3</a:t>
            </a:r>
            <a:r>
              <a:rPr lang="en-US" sz="1400" b="0" i="0" u="none" strike="noStrike">
                <a:solidFill>
                  <a:srgbClr val="DCDCDC"/>
                </a:solidFill>
                <a:latin typeface="Source Code Pro"/>
                <a:ea typeface="Source Code Pro"/>
                <a:cs typeface="Source Code Pro"/>
                <a:sym typeface="Source Code Pro"/>
              </a:rPr>
              <a:t>):</a:t>
            </a:r>
            <a:endParaRPr lang="en-US" sz="1400" b="0" i="0" u="none" strike="noStrike">
              <a:solidFill>
                <a:srgbClr val="DCDCDC"/>
              </a:solidFill>
              <a:latin typeface="Source Code Pro"/>
              <a:ea typeface="Source Code Pro"/>
              <a:cs typeface="Source Code Pro"/>
              <a:sym typeface="Source Code Pro"/>
            </a:endParaRPr>
          </a:p>
          <a:p>
            <a:pPr indent="0" algn="l">
              <a:lnSpc>
                <a:spcPct val="108000"/>
              </a:lnSpc>
            </a:pPr>
            <a:r>
              <a:rPr lang="en-US" sz="1400" b="0" i="0" u="none" strike="noStrike">
                <a:solidFill>
                  <a:srgbClr val="DCDCDC"/>
                </a:solidFill>
                <a:latin typeface="Source Code Pro"/>
                <a:ea typeface="Source Code Pro"/>
                <a:cs typeface="Source Code Pro"/>
                <a:sym typeface="Source Code Pro"/>
              </a:rPr>
              <a:t>top3_results = faiss.similarity_search(question, k=k)</a:t>
            </a:r>
            <a:endParaRPr lang="en-US" sz="1400" b="0" i="0" u="none" strike="noStrike">
              <a:solidFill>
                <a:srgbClr val="DCDCDC"/>
              </a:solidFill>
              <a:latin typeface="Source Code Pro"/>
              <a:ea typeface="Source Code Pro"/>
              <a:cs typeface="Source Code Pro"/>
              <a:sym typeface="Source Code Pro"/>
            </a:endParaRPr>
          </a:p>
          <a:p>
            <a:pPr indent="0" algn="l">
              <a:lnSpc>
                <a:spcPct val="108000"/>
              </a:lnSpc>
            </a:pPr>
            <a:r>
              <a:rPr lang="en-US" sz="1400" b="0" i="0" u="none" strike="noStrike">
                <a:solidFill>
                  <a:srgbClr val="C792EA"/>
                </a:solidFill>
                <a:latin typeface="Source Code Pro"/>
                <a:ea typeface="Source Code Pro"/>
                <a:cs typeface="Source Code Pro"/>
                <a:sym typeface="Source Code Pro"/>
              </a:rPr>
              <a:t>return</a:t>
            </a:r>
            <a:r>
              <a:rPr lang="en-US" sz="1400" b="0" i="0" u="none" strike="noStrike">
                <a:solidFill>
                  <a:srgbClr val="DCDCDC"/>
                </a:solidFill>
                <a:latin typeface="Source Code Pro"/>
                <a:ea typeface="Source Code Pro"/>
                <a:cs typeface="Source Code Pro"/>
                <a:sym typeface="Source Code Pro"/>
              </a:rPr>
              <a:t>top3_results</a:t>
            </a:r>
            <a:endParaRPr lang="en-US" sz="1400" b="0" i="0" u="none" strike="noStrike">
              <a:solidFill>
                <a:srgbClr val="DCDCDC"/>
              </a:solidFill>
              <a:latin typeface="Source Code Pro"/>
              <a:ea typeface="Source Code Pro"/>
              <a:cs typeface="Source Code Pro"/>
              <a:sym typeface="Source Code Pro"/>
            </a:endParaRPr>
          </a:p>
          <a:p>
            <a:pPr indent="0" algn="l">
              <a:lnSpc>
                <a:spcPct val="108000"/>
              </a:lnSpc>
            </a:pPr>
          </a:p>
          <a:p>
            <a:pPr indent="0" algn="l">
              <a:lnSpc>
                <a:spcPct val="108000"/>
              </a:lnSpc>
            </a:pPr>
            <a:r>
              <a:rPr lang="en-US" sz="1400" b="0" i="0" u="none" strike="noStrike">
                <a:solidFill>
                  <a:srgbClr val="9CDCFE"/>
                </a:solidFill>
                <a:latin typeface="Source Code Pro"/>
                <a:ea typeface="Source Code Pro"/>
                <a:cs typeface="Source Code Pro"/>
                <a:sym typeface="Source Code Pro"/>
              </a:rPr>
              <a:t>question</a:t>
            </a:r>
            <a:r>
              <a:rPr lang="en-US" sz="1400" b="0" i="0" u="none" strike="noStrike">
                <a:solidFill>
                  <a:srgbClr val="DCDCDC"/>
                </a:solidFill>
                <a:latin typeface="Source Code Pro"/>
                <a:ea typeface="Source Code Pro"/>
                <a:cs typeface="Source Code Pro"/>
                <a:sym typeface="Source Code Pro"/>
              </a:rPr>
              <a:t>=</a:t>
            </a:r>
            <a:r>
              <a:rPr lang="en-US" sz="1400" b="0" i="0" u="none" strike="noStrike">
                <a:solidFill>
                  <a:srgbClr val="CE9178"/>
                </a:solidFill>
                <a:latin typeface="Source Code Pro"/>
                <a:ea typeface="Source Code Pro"/>
                <a:cs typeface="Source Code Pro"/>
                <a:sym typeface="Source Code Pro"/>
              </a:rPr>
              <a:t>"护手霜怎么使用？"</a:t>
            </a:r>
            <a:endParaRPr lang="en-US" sz="1400" b="0" i="0" u="none" strike="noStrike">
              <a:solidFill>
                <a:srgbClr val="CE9178"/>
              </a:solidFill>
              <a:latin typeface="Source Code Pro"/>
              <a:ea typeface="Source Code Pro"/>
              <a:cs typeface="Source Code Pro"/>
              <a:sym typeface="Source Code Pro"/>
            </a:endParaRPr>
          </a:p>
          <a:p>
            <a:pPr indent="0" algn="l">
              <a:lnSpc>
                <a:spcPct val="108000"/>
              </a:lnSpc>
            </a:pPr>
            <a:r>
              <a:rPr lang="en-US" sz="1400" b="0" i="0" u="none" strike="noStrike">
                <a:solidFill>
                  <a:srgbClr val="9CDCFE"/>
                </a:solidFill>
                <a:latin typeface="Source Code Pro"/>
                <a:ea typeface="Source Code Pro"/>
                <a:cs typeface="Source Code Pro"/>
                <a:sym typeface="Source Code Pro"/>
              </a:rPr>
              <a:t>top3_results</a:t>
            </a:r>
            <a:r>
              <a:rPr lang="en-US" sz="1400" b="0" i="0" u="none" strike="noStrike">
                <a:solidFill>
                  <a:srgbClr val="DCDCDC"/>
                </a:solidFill>
                <a:latin typeface="Source Code Pro"/>
                <a:ea typeface="Source Code Pro"/>
                <a:cs typeface="Source Code Pro"/>
                <a:sym typeface="Source Code Pro"/>
              </a:rPr>
              <a:t>= get_similarity_search(question)</a:t>
            </a:r>
            <a:endParaRPr lang="en-US" sz="1400" b="0" i="0" u="none" strike="noStrike">
              <a:solidFill>
                <a:srgbClr val="DCDCDC"/>
              </a:solidFill>
              <a:latin typeface="Source Code Pro"/>
              <a:ea typeface="Source Code Pro"/>
              <a:cs typeface="Source Code Pro"/>
              <a:sym typeface="Source Code Pr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013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步骤6：内容生成</a:t>
            </a:r>
            <a:endParaRPr lang="en-US" sz="1100"/>
          </a:p>
        </p:txBody>
      </p:sp>
      <p:sp>
        <p:nvSpPr>
          <p:cNvPr id="3" name="AutoShape 3"/>
          <p:cNvSpPr/>
          <p:nvPr/>
        </p:nvSpPr>
        <p:spPr>
          <a:xfrm>
            <a:off x="762000" y="1397000"/>
            <a:ext cx="4826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587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构建提示词 (Prompt)</a:t>
            </a:r>
            <a:endParaRPr lang="en-US" sz="1100"/>
          </a:p>
        </p:txBody>
      </p:sp>
      <p:sp>
        <p:nvSpPr>
          <p:cNvPr id="6" name="AutoShape 6"/>
          <p:cNvSpPr/>
          <p:nvPr/>
        </p:nvSpPr>
        <p:spPr>
          <a:xfrm>
            <a:off x="1524000" y="1968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整合用户问题、检索信息及预设规则，构建详细指令。</a:t>
            </a:r>
            <a:endParaRPr lang="en-US" sz="1100"/>
          </a:p>
        </p:txBody>
      </p:sp>
      <p:sp>
        <p:nvSpPr>
          <p:cNvPr id="7" name="AutoShape 7"/>
          <p:cNvSpPr/>
          <p:nvPr/>
        </p:nvSpPr>
        <p:spPr>
          <a:xfrm>
            <a:off x="762000" y="2921000"/>
            <a:ext cx="4826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75000"/>
            <a:ext cx="406400" cy="406400"/>
          </a:xfrm>
          <a:prstGeom prst="rect">
            <a:avLst/>
          </a:prstGeom>
        </p:spPr>
      </p:pic>
      <p:sp>
        <p:nvSpPr>
          <p:cNvPr id="9" name="AutoShape 9"/>
          <p:cNvSpPr/>
          <p:nvPr/>
        </p:nvSpPr>
        <p:spPr>
          <a:xfrm>
            <a:off x="1524000" y="3111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输入大语言模型 (LLM)</a:t>
            </a:r>
            <a:endParaRPr lang="en-US" sz="1100"/>
          </a:p>
        </p:txBody>
      </p:sp>
      <p:sp>
        <p:nvSpPr>
          <p:cNvPr id="10" name="AutoShape 10"/>
          <p:cNvSpPr/>
          <p:nvPr/>
        </p:nvSpPr>
        <p:spPr>
          <a:xfrm>
            <a:off x="1524000" y="3492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将构建好的结构化提示词输入模型进行推理计算。</a:t>
            </a:r>
            <a:endParaRPr lang="en-US" sz="1100"/>
          </a:p>
        </p:txBody>
      </p:sp>
      <p:sp>
        <p:nvSpPr>
          <p:cNvPr id="11" name="AutoShape 11"/>
          <p:cNvSpPr/>
          <p:nvPr/>
        </p:nvSpPr>
        <p:spPr>
          <a:xfrm>
            <a:off x="762000" y="4445000"/>
            <a:ext cx="4826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699000"/>
            <a:ext cx="406400" cy="406400"/>
          </a:xfrm>
          <a:prstGeom prst="rect">
            <a:avLst/>
          </a:prstGeom>
        </p:spPr>
      </p:pic>
      <p:sp>
        <p:nvSpPr>
          <p:cNvPr id="13" name="AutoShape 13"/>
          <p:cNvSpPr/>
          <p:nvPr/>
        </p:nvSpPr>
        <p:spPr>
          <a:xfrm>
            <a:off x="1524000" y="4635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生成最终回答</a:t>
            </a:r>
            <a:endParaRPr lang="en-US" sz="1100"/>
          </a:p>
        </p:txBody>
      </p:sp>
      <p:sp>
        <p:nvSpPr>
          <p:cNvPr id="14" name="AutoShape 14"/>
          <p:cNvSpPr/>
          <p:nvPr/>
        </p:nvSpPr>
        <p:spPr>
          <a:xfrm>
            <a:off x="1524000" y="5016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模型基于上下文信息，生成符合角色设定的最终台词。</a:t>
            </a:r>
            <a:endParaRPr lang="en-US" sz="1100"/>
          </a:p>
        </p:txBody>
      </p:sp>
      <p:sp>
        <p:nvSpPr>
          <p:cNvPr id="15" name="AutoShape 15"/>
          <p:cNvSpPr/>
          <p:nvPr/>
        </p:nvSpPr>
        <p:spPr>
          <a:xfrm>
            <a:off x="6096000" y="1397000"/>
            <a:ext cx="5334000" cy="4318000"/>
          </a:xfrm>
          <a:prstGeom prst="roundRect">
            <a:avLst>
              <a:gd name="adj" fmla="val 2941"/>
            </a:avLst>
          </a:prstGeom>
          <a:solidFill>
            <a:srgbClr val="1E1E1E">
              <a:alpha val="100000"/>
            </a:srgbClr>
          </a:solidFill>
          <a:ln w="25400" cap="flat" cmpd="sng">
            <a:noFill/>
            <a:prstDash val="solid"/>
            <a:round/>
          </a:ln>
          <a:effectLst>
            <a:outerShdw blurRad="190500" dist="101600" dir="2700000" algn="tl" rotWithShape="0">
              <a:srgbClr val="000000">
                <a:alpha val="20000"/>
              </a:srgbClr>
            </a:outerShdw>
          </a:effectLst>
        </p:spPr>
        <p:txBody>
          <a:bodyPr vert="horz" wrap="square" lIns="63500" tIns="63500" rIns="63500" bIns="63500" rtlCol="0" anchor="ctr"/>
          <a:lstStyle/>
          <a:p>
            <a:pPr algn="ctr">
              <a:defRPr/>
            </a:pPr>
          </a:p>
        </p:txBody>
      </p:sp>
      <p:sp>
        <p:nvSpPr>
          <p:cNvPr id="16" name="AutoShape 16"/>
          <p:cNvSpPr/>
          <p:nvPr/>
        </p:nvSpPr>
        <p:spPr>
          <a:xfrm>
            <a:off x="6096000" y="1397000"/>
            <a:ext cx="5334000" cy="4572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23000" y="1498600"/>
            <a:ext cx="254000" cy="254000"/>
          </a:xfrm>
          <a:prstGeom prst="rect">
            <a:avLst/>
          </a:prstGeom>
        </p:spPr>
      </p:pic>
      <p:sp>
        <p:nvSpPr>
          <p:cNvPr id="18" name="AutoShape 18"/>
          <p:cNvSpPr/>
          <p:nvPr/>
        </p:nvSpPr>
        <p:spPr>
          <a:xfrm>
            <a:off x="6604000" y="14732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969696"/>
                </a:solidFill>
                <a:latin typeface="Noto Sans SC"/>
                <a:ea typeface="Noto Sans SC"/>
                <a:cs typeface="Noto Sans SC"/>
                <a:sym typeface="Noto Sans SC"/>
              </a:rPr>
              <a:t>prompt_template.py</a:t>
            </a:r>
            <a:endParaRPr lang="en-US" sz="1100"/>
          </a:p>
        </p:txBody>
      </p:sp>
      <p:sp>
        <p:nvSpPr>
          <p:cNvPr id="19" name="AutoShape 19"/>
          <p:cNvSpPr/>
          <p:nvPr/>
        </p:nvSpPr>
        <p:spPr>
          <a:xfrm>
            <a:off x="6286500" y="1968500"/>
            <a:ext cx="4953000" cy="355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C678DD"/>
                </a:solidFill>
                <a:latin typeface="Consolas"/>
                <a:ea typeface="Consolas"/>
                <a:cs typeface="Consolas"/>
                <a:sym typeface="Consolas"/>
              </a:rPr>
              <a:t>prompt_template</a:t>
            </a:r>
            <a:r>
              <a:rPr lang="en-US" sz="1400" b="0" i="0" u="none" strike="noStrike">
                <a:solidFill>
                  <a:srgbClr val="D19A66"/>
                </a:solidFill>
                <a:latin typeface="Consolas"/>
                <a:ea typeface="Consolas"/>
                <a:cs typeface="Consolas"/>
                <a:sym typeface="Consolas"/>
              </a:rPr>
              <a:t>=</a:t>
            </a:r>
            <a:r>
              <a:rPr lang="en-US" sz="1400" b="0" i="0" u="none" strike="noStrike">
                <a:solidFill>
                  <a:srgbClr val="98C379"/>
                </a:solidFill>
                <a:latin typeface="Consolas"/>
                <a:ea typeface="Consolas"/>
                <a:cs typeface="Consolas"/>
                <a:sym typeface="Consolas"/>
              </a:rPr>
              <a:t>"""</a:t>
            </a:r>
            <a:endParaRPr lang="en-US" sz="1100"/>
          </a:p>
          <a:p>
            <a:pPr indent="0" algn="l">
              <a:lnSpc>
                <a:spcPct val="108000"/>
              </a:lnSpc>
            </a:pPr>
            <a:r>
              <a:rPr lang="en-US" sz="1400" b="0" i="0" u="none" strike="noStrike">
                <a:solidFill>
                  <a:srgbClr val="98C379"/>
                </a:solidFill>
                <a:latin typeface="Consolas"/>
                <a:ea typeface="Consolas"/>
                <a:cs typeface="Consolas"/>
                <a:sym typeface="Consolas"/>
              </a:rPr>
              <a:t>你是一名专业的直播间主播，负责回答用户提问。</a:t>
            </a:r>
            <a:endParaRPr lang="en-US" sz="1400" b="0" i="0" u="none" strike="noStrike">
              <a:solidFill>
                <a:srgbClr val="98C379"/>
              </a:solidFill>
              <a:latin typeface="Consolas"/>
              <a:ea typeface="Consolas"/>
              <a:cs typeface="Consolas"/>
              <a:sym typeface="Consolas"/>
            </a:endParaRPr>
          </a:p>
          <a:p>
            <a:pPr indent="0" algn="l">
              <a:lnSpc>
                <a:spcPct val="108000"/>
              </a:lnSpc>
            </a:pPr>
            <a:r>
              <a:rPr lang="en-US" sz="1400" b="0" i="0" u="none" strike="noStrike">
                <a:solidFill>
                  <a:srgbClr val="98C379"/>
                </a:solidFill>
                <a:latin typeface="Consolas"/>
                <a:ea typeface="Consolas"/>
                <a:cs typeface="Consolas"/>
                <a:sym typeface="Consolas"/>
              </a:rPr>
              <a:t>请基于以下信息回答问题：</a:t>
            </a:r>
            <a:endParaRPr lang="en-US" sz="1400" b="0" i="0" u="none" strike="noStrike">
              <a:solidFill>
                <a:srgbClr val="98C379"/>
              </a:solidFill>
              <a:latin typeface="Consolas"/>
              <a:ea typeface="Consolas"/>
              <a:cs typeface="Consolas"/>
              <a:sym typeface="Consolas"/>
            </a:endParaRPr>
          </a:p>
          <a:p>
            <a:pPr indent="0" algn="l">
              <a:lnSpc>
                <a:spcPct val="108000"/>
              </a:lnSpc>
            </a:pPr>
            <a:r>
              <a:rPr lang="en-US" sz="1400" b="0" i="0" u="none" strike="noStrike">
                <a:solidFill>
                  <a:srgbClr val="98C379"/>
                </a:solidFill>
                <a:latin typeface="Consolas"/>
                <a:ea typeface="Consolas"/>
                <a:cs typeface="Consolas"/>
                <a:sym typeface="Consolas"/>
              </a:rPr>
              <a:t>1. 角色设定：热情、专业、有耐心。</a:t>
            </a:r>
            <a:endParaRPr lang="en-US" sz="1400" b="0" i="0" u="none" strike="noStrike">
              <a:solidFill>
                <a:srgbClr val="98C379"/>
              </a:solidFill>
              <a:latin typeface="Consolas"/>
              <a:ea typeface="Consolas"/>
              <a:cs typeface="Consolas"/>
              <a:sym typeface="Consolas"/>
            </a:endParaRPr>
          </a:p>
          <a:p>
            <a:pPr indent="0" algn="l">
              <a:lnSpc>
                <a:spcPct val="108000"/>
              </a:lnSpc>
            </a:pPr>
            <a:r>
              <a:rPr lang="en-US" sz="1400" b="0" i="0" u="none" strike="noStrike">
                <a:solidFill>
                  <a:srgbClr val="98C379"/>
                </a:solidFill>
                <a:latin typeface="Consolas"/>
                <a:ea typeface="Consolas"/>
                <a:cs typeface="Consolas"/>
                <a:sym typeface="Consolas"/>
              </a:rPr>
              <a:t>2. 知识库：{{retrieved_info}}</a:t>
            </a:r>
            <a:endParaRPr lang="en-US" sz="1400" b="0" i="0" u="none" strike="noStrike">
              <a:solidFill>
                <a:srgbClr val="98C379"/>
              </a:solidFill>
              <a:latin typeface="Consolas"/>
              <a:ea typeface="Consolas"/>
              <a:cs typeface="Consolas"/>
              <a:sym typeface="Consolas"/>
            </a:endParaRPr>
          </a:p>
          <a:p>
            <a:pPr indent="0" algn="l">
              <a:lnSpc>
                <a:spcPct val="108000"/>
              </a:lnSpc>
            </a:pPr>
            <a:r>
              <a:rPr lang="en-US" sz="1400" b="0" i="0" u="none" strike="noStrike">
                <a:solidFill>
                  <a:srgbClr val="98C379"/>
                </a:solidFill>
                <a:latin typeface="Consolas"/>
                <a:ea typeface="Consolas"/>
                <a:cs typeface="Consolas"/>
                <a:sym typeface="Consolas"/>
              </a:rPr>
              <a:t>3. 用户问题：{{user_question}}</a:t>
            </a:r>
            <a:endParaRPr lang="en-US" sz="1400" b="0" i="0" u="none" strike="noStrike">
              <a:solidFill>
                <a:srgbClr val="98C379"/>
              </a:solidFill>
              <a:latin typeface="Consolas"/>
              <a:ea typeface="Consolas"/>
              <a:cs typeface="Consolas"/>
              <a:sym typeface="Consolas"/>
            </a:endParaRPr>
          </a:p>
          <a:p>
            <a:pPr indent="0" algn="l">
              <a:lnSpc>
                <a:spcPct val="108000"/>
              </a:lnSpc>
            </a:pPr>
            <a:r>
              <a:rPr lang="en-US" sz="1400" b="0" i="0" u="none" strike="noStrike">
                <a:solidFill>
                  <a:srgbClr val="98C379"/>
                </a:solidFill>
                <a:latin typeface="Consolas"/>
                <a:ea typeface="Consolas"/>
                <a:cs typeface="Consolas"/>
                <a:sym typeface="Consolas"/>
              </a:rPr>
              <a:t>回答要求：简洁明了，口语化，不超过3句话。</a:t>
            </a:r>
            <a:endParaRPr lang="en-US" sz="1400" b="0" i="0" u="none" strike="noStrike">
              <a:solidFill>
                <a:srgbClr val="98C379"/>
              </a:solidFill>
              <a:latin typeface="Consolas"/>
              <a:ea typeface="Consolas"/>
              <a:cs typeface="Consolas"/>
              <a:sym typeface="Consolas"/>
            </a:endParaRPr>
          </a:p>
          <a:p>
            <a:pPr indent="0" algn="l">
              <a:lnSpc>
                <a:spcPct val="108000"/>
              </a:lnSpc>
            </a:pPr>
            <a:r>
              <a:rPr lang="en-US" sz="1400" b="0" i="0" u="none" strike="noStrike">
                <a:solidFill>
                  <a:srgbClr val="98C379"/>
                </a:solidFill>
                <a:latin typeface="Consolas"/>
                <a:ea typeface="Consolas"/>
                <a:cs typeface="Consolas"/>
                <a:sym typeface="Consolas"/>
              </a:rPr>
              <a:t>"""</a:t>
            </a:r>
            <a:endParaRPr lang="en-US" sz="1400" b="0" i="0" u="none" strike="noStrike">
              <a:solidFill>
                <a:srgbClr val="98C379"/>
              </a:solidFill>
              <a:latin typeface="Consolas"/>
              <a:ea typeface="Consolas"/>
              <a:cs typeface="Consolas"/>
              <a:sym typeface="Consolas"/>
            </a:endParaRPr>
          </a:p>
          <a:p>
            <a:pPr indent="0" algn="l">
              <a:lnSpc>
                <a:spcPct val="108000"/>
              </a:lnSpc>
            </a:pPr>
            <a:r>
              <a:rPr lang="en-US" sz="1400" b="0" i="0" u="none" strike="noStrike">
                <a:solidFill>
                  <a:srgbClr val="C678DD"/>
                </a:solidFill>
                <a:latin typeface="Consolas"/>
                <a:ea typeface="Consolas"/>
                <a:cs typeface="Consolas"/>
                <a:sym typeface="Consolas"/>
              </a:rPr>
              <a:t>llm_response</a:t>
            </a:r>
            <a:r>
              <a:rPr lang="en-US" sz="1400" b="0" i="0" u="none" strike="noStrike">
                <a:solidFill>
                  <a:srgbClr val="D19A66"/>
                </a:solidFill>
                <a:latin typeface="Consolas"/>
                <a:ea typeface="Consolas"/>
                <a:cs typeface="Consolas"/>
                <a:sym typeface="Consolas"/>
              </a:rPr>
              <a:t>=</a:t>
            </a:r>
            <a:r>
              <a:rPr lang="en-US" sz="1400" b="0" i="0" u="none" strike="noStrike">
                <a:solidFill>
                  <a:srgbClr val="61AFEF"/>
                </a:solidFill>
                <a:latin typeface="Consolas"/>
                <a:ea typeface="Consolas"/>
                <a:cs typeface="Consolas"/>
                <a:sym typeface="Consolas"/>
              </a:rPr>
              <a:t>generate</a:t>
            </a:r>
            <a:r>
              <a:rPr lang="en-US" sz="1400" b="0" i="0" u="none" strike="noStrike">
                <a:solidFill>
                  <a:srgbClr val="ABB2BF"/>
                </a:solidFill>
                <a:latin typeface="Consolas"/>
                <a:ea typeface="Consolas"/>
                <a:cs typeface="Consolas"/>
                <a:sym typeface="Consolas"/>
              </a:rPr>
              <a:t>(prompt_template)</a:t>
            </a:r>
            <a:endParaRPr lang="en-US" sz="1400" b="0" i="0" u="none" strike="noStrike">
              <a:solidFill>
                <a:srgbClr val="ABB2BF"/>
              </a:solidFill>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073400" y="508000"/>
            <a:ext cx="60452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88D1"/>
                </a:solidFill>
                <a:latin typeface="Noto Sans SC"/>
                <a:ea typeface="Noto Sans SC"/>
                <a:cs typeface="Noto Sans SC"/>
                <a:sym typeface="Noto Sans SC"/>
              </a:rPr>
              <a:t>调用大语言模型生成回答</a:t>
            </a:r>
            <a:endParaRPr lang="en-US" sz="1100"/>
          </a:p>
        </p:txBody>
      </p:sp>
      <p:sp>
        <p:nvSpPr>
          <p:cNvPr id="3" name="AutoShape 3"/>
          <p:cNvSpPr/>
          <p:nvPr/>
        </p:nvSpPr>
        <p:spPr>
          <a:xfrm>
            <a:off x="762000" y="1397000"/>
            <a:ext cx="5080000" cy="4064000"/>
          </a:xfrm>
          <a:prstGeom prst="roundRect">
            <a:avLst>
              <a:gd name="adj" fmla="val 3125"/>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04800" cy="304800"/>
          </a:xfrm>
          <a:prstGeom prst="rect">
            <a:avLst/>
          </a:prstGeom>
        </p:spPr>
      </p:pic>
      <p:sp>
        <p:nvSpPr>
          <p:cNvPr id="5" name="AutoShape 5"/>
          <p:cNvSpPr/>
          <p:nvPr/>
        </p:nvSpPr>
        <p:spPr>
          <a:xfrm>
            <a:off x="1397000" y="160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调用模型 (API Request)</a:t>
            </a:r>
            <a:endParaRPr lang="en-US" sz="1100"/>
          </a:p>
        </p:txBody>
      </p:sp>
      <p:sp>
        <p:nvSpPr>
          <p:cNvPr id="6" name="AutoShape 6"/>
          <p:cNvSpPr/>
          <p:nvPr/>
        </p:nvSpPr>
        <p:spPr>
          <a:xfrm>
            <a:off x="1016000" y="20320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使用 API 调用大语言模型（如 Azure OpenAI 的 GPT-3.5 Turbo），将构建好的提示词发送给模型。</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667000"/>
            <a:ext cx="304800" cy="304800"/>
          </a:xfrm>
          <a:prstGeom prst="rect">
            <a:avLst/>
          </a:prstGeom>
        </p:spPr>
      </p:pic>
      <p:sp>
        <p:nvSpPr>
          <p:cNvPr id="8" name="AutoShape 8"/>
          <p:cNvSpPr/>
          <p:nvPr/>
        </p:nvSpPr>
        <p:spPr>
          <a:xfrm>
            <a:off x="1397000" y="2616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获取结果 (Response)</a:t>
            </a:r>
            <a:endParaRPr lang="en-US" sz="1100"/>
          </a:p>
        </p:txBody>
      </p:sp>
      <p:sp>
        <p:nvSpPr>
          <p:cNvPr id="9" name="AutoShape 9"/>
          <p:cNvSpPr/>
          <p:nvPr/>
        </p:nvSpPr>
        <p:spPr>
          <a:xfrm>
            <a:off x="1016000" y="30480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接收模型返回的 JSON 数据，解析其中的生成内容，完成交互闭环。</a:t>
            </a:r>
            <a:endParaRPr lang="en-US" sz="1100"/>
          </a:p>
        </p:txBody>
      </p:sp>
      <p:sp>
        <p:nvSpPr>
          <p:cNvPr id="10" name="AutoShape 10"/>
          <p:cNvSpPr/>
          <p:nvPr/>
        </p:nvSpPr>
        <p:spPr>
          <a:xfrm>
            <a:off x="1016000" y="3683000"/>
            <a:ext cx="4572000" cy="1524000"/>
          </a:xfrm>
          <a:prstGeom prst="roundRect">
            <a:avLst>
              <a:gd name="adj" fmla="val 4166"/>
            </a:avLst>
          </a:prstGeom>
          <a:solidFill>
            <a:srgbClr val="E0F7FA">
              <a:alpha val="50000"/>
            </a:srgbClr>
          </a:solidFill>
          <a:ln w="12700" cap="flat" cmpd="sng">
            <a:solidFill>
              <a:srgbClr val="B2DFDB">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1143000" y="38100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88D1"/>
                </a:solidFill>
                <a:latin typeface="Noto Sans SC"/>
                <a:ea typeface="Noto Sans SC"/>
                <a:cs typeface="Noto Sans SC"/>
                <a:sym typeface="Noto Sans SC"/>
              </a:rPr>
              <a:t>示例输出：</a:t>
            </a:r>
            <a:endParaRPr lang="en-US" sz="1100"/>
          </a:p>
        </p:txBody>
      </p:sp>
      <p:sp>
        <p:nvSpPr>
          <p:cNvPr id="12" name="AutoShape 12"/>
          <p:cNvSpPr/>
          <p:nvPr/>
        </p:nvSpPr>
        <p:spPr>
          <a:xfrm>
            <a:off x="1143000" y="41910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424242"/>
                </a:solidFill>
                <a:latin typeface="Noto Sans SC"/>
                <a:ea typeface="Noto Sans SC"/>
                <a:cs typeface="Noto Sans SC"/>
                <a:sym typeface="Noto Sans SC"/>
              </a:rPr>
              <a:t>"护手霜需要比脸部更深层次的滋润和保护。使用方法也有所不同，需要在每次洗手后或者双手感到干燥时适量使用，并且需要充分按摩使其吸收。"</a:t>
            </a:r>
            <a:endParaRPr lang="en-US" sz="1100"/>
          </a:p>
        </p:txBody>
      </p:sp>
      <p:sp>
        <p:nvSpPr>
          <p:cNvPr id="13" name="AutoShape 13"/>
          <p:cNvSpPr/>
          <p:nvPr/>
        </p:nvSpPr>
        <p:spPr>
          <a:xfrm>
            <a:off x="6096000" y="1397000"/>
            <a:ext cx="5080000" cy="4064000"/>
          </a:xfrm>
          <a:prstGeom prst="roundRect">
            <a:avLst>
              <a:gd name="adj" fmla="val 3125"/>
            </a:avLst>
          </a:prstGeom>
          <a:solidFill>
            <a:srgbClr val="1E1E1E">
              <a:alpha val="100000"/>
            </a:srgbClr>
          </a:solidFill>
          <a:ln w="25400" cap="flat" cmpd="sng">
            <a:noFill/>
            <a:prstDash val="solid"/>
            <a:round/>
          </a:ln>
          <a:effectLst>
            <a:outerShdw blurRad="127000" dist="50800" dir="2700000" algn="tl" rotWithShape="0">
              <a:srgbClr val="000000">
                <a:alpha val="20000"/>
              </a:srgbClr>
            </a:outerShdw>
          </a:effectLst>
        </p:spPr>
        <p:txBody>
          <a:bodyPr vert="horz" wrap="square" lIns="63500" tIns="63500" rIns="63500" bIns="63500" rtlCol="0" anchor="ctr"/>
          <a:lstStyle/>
          <a:p>
            <a:pPr algn="ctr">
              <a:defRPr/>
            </a:pPr>
          </a:p>
        </p:txBody>
      </p:sp>
      <p:sp>
        <p:nvSpPr>
          <p:cNvPr id="14" name="AutoShape 14"/>
          <p:cNvSpPr/>
          <p:nvPr/>
        </p:nvSpPr>
        <p:spPr>
          <a:xfrm>
            <a:off x="6350000" y="16002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B2DFDB"/>
                </a:solidFill>
                <a:latin typeface="Noto Sans SC"/>
                <a:ea typeface="Noto Sans SC"/>
                <a:cs typeface="Noto Sans SC"/>
                <a:sym typeface="Noto Sans SC"/>
              </a:rPr>
              <a:t>代码实现 (Python)</a:t>
            </a:r>
            <a:endParaRPr lang="en-US" sz="1100"/>
          </a:p>
        </p:txBody>
      </p:sp>
      <p:sp>
        <p:nvSpPr>
          <p:cNvPr id="15" name="AutoShape 15"/>
          <p:cNvSpPr/>
          <p:nvPr/>
        </p:nvSpPr>
        <p:spPr>
          <a:xfrm>
            <a:off x="6350000" y="2032000"/>
            <a:ext cx="4572000" cy="317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C678DD"/>
                </a:solidFill>
                <a:latin typeface="Noto Sans SC"/>
                <a:ea typeface="Noto Sans SC"/>
                <a:cs typeface="Noto Sans SC"/>
                <a:sym typeface="Noto Sans SC"/>
              </a:rPr>
              <a:t>from</a:t>
            </a:r>
            <a:r>
              <a:rPr lang="en-US" sz="1300" b="0" i="0" u="none" strike="noStrike">
                <a:solidFill>
                  <a:srgbClr val="DCDFE4"/>
                </a:solidFill>
                <a:latin typeface="Noto Sans SC"/>
                <a:ea typeface="Noto Sans SC"/>
                <a:cs typeface="Noto Sans SC"/>
                <a:sym typeface="Noto Sans SC"/>
              </a:rPr>
              <a:t>langchain.chat_models</a:t>
            </a:r>
            <a:r>
              <a:rPr lang="en-US" sz="1300" b="0" i="0" u="none" strike="noStrike">
                <a:solidFill>
                  <a:srgbClr val="C678DD"/>
                </a:solidFill>
                <a:latin typeface="Noto Sans SC"/>
                <a:ea typeface="Noto Sans SC"/>
                <a:cs typeface="Noto Sans SC"/>
                <a:sym typeface="Noto Sans SC"/>
              </a:rPr>
              <a:t>import</a:t>
            </a:r>
            <a:r>
              <a:rPr lang="en-US" sz="1300" b="0" i="0" u="none" strike="noStrike">
                <a:solidFill>
                  <a:srgbClr val="DCDFE4"/>
                </a:solidFill>
                <a:latin typeface="Noto Sans SC"/>
                <a:ea typeface="Noto Sans SC"/>
                <a:cs typeface="Noto Sans SC"/>
                <a:sym typeface="Noto Sans SC"/>
              </a:rPr>
              <a:t>AzureChatOpenAI</a:t>
            </a:r>
            <a:endParaRPr lang="en-US" sz="1100"/>
          </a:p>
          <a:p>
            <a:pPr indent="0" algn="l">
              <a:lnSpc>
                <a:spcPct val="108000"/>
              </a:lnSpc>
            </a:pPr>
            <a:r>
              <a:rPr lang="en-US" sz="1300" b="0" i="0" u="none" strike="noStrike">
                <a:solidFill>
                  <a:srgbClr val="C678DD"/>
                </a:solidFill>
                <a:latin typeface="Noto Sans SC"/>
                <a:ea typeface="Noto Sans SC"/>
                <a:cs typeface="Noto Sans SC"/>
                <a:sym typeface="Noto Sans SC"/>
              </a:rPr>
              <a:t>from</a:t>
            </a:r>
            <a:r>
              <a:rPr lang="en-US" sz="1300" b="0" i="0" u="none" strike="noStrike">
                <a:solidFill>
                  <a:srgbClr val="DCDFE4"/>
                </a:solidFill>
                <a:latin typeface="Noto Sans SC"/>
                <a:ea typeface="Noto Sans SC"/>
                <a:cs typeface="Noto Sans SC"/>
                <a:sym typeface="Noto Sans SC"/>
              </a:rPr>
              <a:t>langchain.schema</a:t>
            </a:r>
            <a:r>
              <a:rPr lang="en-US" sz="1300" b="0" i="0" u="none" strike="noStrike">
                <a:solidFill>
                  <a:srgbClr val="C678DD"/>
                </a:solidFill>
                <a:latin typeface="Noto Sans SC"/>
                <a:ea typeface="Noto Sans SC"/>
                <a:cs typeface="Noto Sans SC"/>
                <a:sym typeface="Noto Sans SC"/>
              </a:rPr>
              <a:t>import</a:t>
            </a:r>
            <a:r>
              <a:rPr lang="en-US" sz="1300" b="0" i="0" u="none" strike="noStrike">
                <a:solidFill>
                  <a:srgbClr val="DCDFE4"/>
                </a:solidFill>
                <a:latin typeface="Noto Sans SC"/>
                <a:ea typeface="Noto Sans SC"/>
                <a:cs typeface="Noto Sans SC"/>
                <a:sym typeface="Noto Sans SC"/>
              </a:rPr>
              <a:t>HumanMessage</a:t>
            </a:r>
            <a:endParaRPr lang="en-US" sz="1300" b="0" i="0" u="none" strike="noStrike">
              <a:solidFill>
                <a:srgbClr val="DCDFE4"/>
              </a:solidFill>
              <a:latin typeface="Noto Sans SC"/>
              <a:ea typeface="Noto Sans SC"/>
              <a:cs typeface="Noto Sans SC"/>
              <a:sym typeface="Noto Sans SC"/>
            </a:endParaRPr>
          </a:p>
          <a:p>
            <a:pPr indent="0" algn="l">
              <a:lnSpc>
                <a:spcPct val="108000"/>
              </a:lnSpc>
            </a:pPr>
          </a:p>
          <a:p>
            <a:pPr indent="0" algn="l">
              <a:lnSpc>
                <a:spcPct val="108000"/>
              </a:lnSpc>
            </a:pPr>
            <a:r>
              <a:rPr lang="en-US" sz="1300" b="0" i="0" u="none" strike="noStrike">
                <a:solidFill>
                  <a:srgbClr val="E5C07B"/>
                </a:solidFill>
                <a:latin typeface="Noto Sans SC"/>
                <a:ea typeface="Noto Sans SC"/>
                <a:cs typeface="Noto Sans SC"/>
                <a:sym typeface="Noto Sans SC"/>
              </a:rPr>
              <a:t># 初始化模型</a:t>
            </a:r>
            <a:endParaRPr lang="en-US" sz="1300" b="0" i="0" u="none" strike="noStrike">
              <a:solidFill>
                <a:srgbClr val="E5C07B"/>
              </a:solidFill>
              <a:latin typeface="Noto Sans SC"/>
              <a:ea typeface="Noto Sans SC"/>
              <a:cs typeface="Noto Sans SC"/>
              <a:sym typeface="Noto Sans SC"/>
            </a:endParaRPr>
          </a:p>
          <a:p>
            <a:pPr indent="0" algn="l">
              <a:lnSpc>
                <a:spcPct val="108000"/>
              </a:lnSpc>
            </a:pPr>
            <a:r>
              <a:rPr lang="en-US" sz="1300" b="0" i="0" u="none" strike="noStrike">
                <a:solidFill>
                  <a:srgbClr val="DCDFE4"/>
                </a:solidFill>
                <a:latin typeface="Noto Sans SC"/>
                <a:ea typeface="Noto Sans SC"/>
                <a:cs typeface="Noto Sans SC"/>
                <a:sym typeface="Noto Sans SC"/>
              </a:rPr>
              <a:t>llm = AzureChatOpenAI(</a:t>
            </a:r>
            <a:endParaRPr lang="en-US" sz="1300" b="0" i="0" u="none" strike="noStrike">
              <a:solidFill>
                <a:srgbClr val="DCDFE4"/>
              </a:solidFill>
              <a:latin typeface="Noto Sans SC"/>
              <a:ea typeface="Noto Sans SC"/>
              <a:cs typeface="Noto Sans SC"/>
              <a:sym typeface="Noto Sans SC"/>
            </a:endParaRPr>
          </a:p>
          <a:p>
            <a:pPr indent="0" algn="l">
              <a:lnSpc>
                <a:spcPct val="108000"/>
              </a:lnSpc>
            </a:pPr>
            <a:r>
              <a:rPr lang="en-US" sz="1300" b="0" i="0" u="none" strike="noStrike">
                <a:solidFill>
                  <a:srgbClr val="DCDFE4"/>
                </a:solidFill>
                <a:latin typeface="Noto Sans SC"/>
                <a:ea typeface="Noto Sans SC"/>
                <a:cs typeface="Noto Sans SC"/>
                <a:sym typeface="Noto Sans SC"/>
              </a:rPr>
              <a:t>deployment_name=</a:t>
            </a:r>
            <a:r>
              <a:rPr lang="en-US" sz="1300" b="0" i="0" u="none" strike="noStrike">
                <a:solidFill>
                  <a:srgbClr val="98C379"/>
                </a:solidFill>
                <a:latin typeface="Noto Sans SC"/>
                <a:ea typeface="Noto Sans SC"/>
                <a:cs typeface="Noto Sans SC"/>
                <a:sym typeface="Noto Sans SC"/>
              </a:rPr>
              <a:t>"gpt-35-turbo"</a:t>
            </a:r>
            <a:r>
              <a:rPr lang="en-US" sz="1300" b="0" i="0" u="none" strike="noStrike">
                <a:solidFill>
                  <a:srgbClr val="DCDFE4"/>
                </a:solidFill>
                <a:latin typeface="Noto Sans SC"/>
                <a:ea typeface="Noto Sans SC"/>
                <a:cs typeface="Noto Sans SC"/>
                <a:sym typeface="Noto Sans SC"/>
              </a:rPr>
              <a:t>,</a:t>
            </a:r>
            <a:endParaRPr lang="en-US" sz="1300" b="0" i="0" u="none" strike="noStrike">
              <a:solidFill>
                <a:srgbClr val="DCDFE4"/>
              </a:solidFill>
              <a:latin typeface="Noto Sans SC"/>
              <a:ea typeface="Noto Sans SC"/>
              <a:cs typeface="Noto Sans SC"/>
              <a:sym typeface="Noto Sans SC"/>
            </a:endParaRPr>
          </a:p>
          <a:p>
            <a:pPr indent="0" algn="l">
              <a:lnSpc>
                <a:spcPct val="108000"/>
              </a:lnSpc>
            </a:pPr>
            <a:r>
              <a:rPr lang="en-US" sz="1300" b="0" i="0" u="none" strike="noStrike">
                <a:solidFill>
                  <a:srgbClr val="DCDFE4"/>
                </a:solidFill>
                <a:latin typeface="Noto Sans SC"/>
                <a:ea typeface="Noto Sans SC"/>
                <a:cs typeface="Noto Sans SC"/>
                <a:sym typeface="Noto Sans SC"/>
              </a:rPr>
              <a:t>openai_api_version=</a:t>
            </a:r>
            <a:r>
              <a:rPr lang="en-US" sz="1300" b="0" i="0" u="none" strike="noStrike">
                <a:solidFill>
                  <a:srgbClr val="98C379"/>
                </a:solidFill>
                <a:latin typeface="Noto Sans SC"/>
                <a:ea typeface="Noto Sans SC"/>
                <a:cs typeface="Noto Sans SC"/>
                <a:sym typeface="Noto Sans SC"/>
              </a:rPr>
              <a:t>"2023-05-15"</a:t>
            </a:r>
            <a:endParaRPr lang="en-US" sz="1300" b="0" i="0" u="none" strike="noStrike">
              <a:solidFill>
                <a:srgbClr val="98C379"/>
              </a:solidFill>
              <a:latin typeface="Noto Sans SC"/>
              <a:ea typeface="Noto Sans SC"/>
              <a:cs typeface="Noto Sans SC"/>
              <a:sym typeface="Noto Sans SC"/>
            </a:endParaRPr>
          </a:p>
          <a:p>
            <a:pPr indent="0" algn="l">
              <a:lnSpc>
                <a:spcPct val="108000"/>
              </a:lnSpc>
            </a:pPr>
            <a:r>
              <a:rPr lang="en-US" sz="1300" b="0" i="0" u="none" strike="noStrike">
                <a:solidFill>
                  <a:srgbClr val="DCDFE4"/>
                </a:solidFill>
                <a:latin typeface="Noto Sans SC"/>
                <a:ea typeface="Noto Sans SC"/>
                <a:cs typeface="Noto Sans SC"/>
                <a:sym typeface="Noto Sans SC"/>
              </a:rPr>
              <a:t>)</a:t>
            </a:r>
            <a:endParaRPr lang="en-US" sz="1300" b="0" i="0" u="none" strike="noStrike">
              <a:solidFill>
                <a:srgbClr val="DCDFE4"/>
              </a:solidFill>
              <a:latin typeface="Noto Sans SC"/>
              <a:ea typeface="Noto Sans SC"/>
              <a:cs typeface="Noto Sans SC"/>
              <a:sym typeface="Noto Sans SC"/>
            </a:endParaRPr>
          </a:p>
          <a:p>
            <a:pPr indent="0" algn="l">
              <a:lnSpc>
                <a:spcPct val="108000"/>
              </a:lnSpc>
            </a:pPr>
          </a:p>
          <a:p>
            <a:pPr indent="0" algn="l">
              <a:lnSpc>
                <a:spcPct val="108000"/>
              </a:lnSpc>
            </a:pPr>
            <a:r>
              <a:rPr lang="en-US" sz="1300" b="0" i="0" u="none" strike="noStrike">
                <a:solidFill>
                  <a:srgbClr val="E5C07B"/>
                </a:solidFill>
                <a:latin typeface="Noto Sans SC"/>
                <a:ea typeface="Noto Sans SC"/>
                <a:cs typeface="Noto Sans SC"/>
                <a:sym typeface="Noto Sans SC"/>
              </a:rPr>
              <a:t># 发送请求并获取回答</a:t>
            </a:r>
            <a:endParaRPr lang="en-US" sz="1300" b="0" i="0" u="none" strike="noStrike">
              <a:solidFill>
                <a:srgbClr val="E5C07B"/>
              </a:solidFill>
              <a:latin typeface="Noto Sans SC"/>
              <a:ea typeface="Noto Sans SC"/>
              <a:cs typeface="Noto Sans SC"/>
              <a:sym typeface="Noto Sans SC"/>
            </a:endParaRPr>
          </a:p>
          <a:p>
            <a:pPr indent="0" algn="l">
              <a:lnSpc>
                <a:spcPct val="108000"/>
              </a:lnSpc>
            </a:pPr>
            <a:r>
              <a:rPr lang="en-US" sz="1300" b="0" i="0" u="none" strike="noStrike">
                <a:solidFill>
                  <a:srgbClr val="DCDFE4"/>
                </a:solidFill>
                <a:latin typeface="Noto Sans SC"/>
                <a:ea typeface="Noto Sans SC"/>
                <a:cs typeface="Noto Sans SC"/>
                <a:sym typeface="Noto Sans SC"/>
              </a:rPr>
              <a:t>response = llm([HumanMessage(content=</a:t>
            </a:r>
            <a:r>
              <a:rPr lang="en-US" sz="1300" b="0" i="0" u="none" strike="noStrike">
                <a:solidFill>
                  <a:srgbClr val="98C379"/>
                </a:solidFill>
                <a:latin typeface="Noto Sans SC"/>
                <a:ea typeface="Noto Sans SC"/>
                <a:cs typeface="Noto Sans SC"/>
                <a:sym typeface="Noto Sans SC"/>
              </a:rPr>
              <a:t>"护手霜怎么使用？"</a:t>
            </a:r>
            <a:r>
              <a:rPr lang="en-US" sz="1300" b="0" i="0" u="none" strike="noStrike">
                <a:solidFill>
                  <a:srgbClr val="DCDFE4"/>
                </a:solidFill>
                <a:latin typeface="Noto Sans SC"/>
                <a:ea typeface="Noto Sans SC"/>
                <a:cs typeface="Noto Sans SC"/>
                <a:sym typeface="Noto Sans SC"/>
              </a:rPr>
              <a:t>)])</a:t>
            </a:r>
            <a:endParaRPr lang="en-US" sz="1300" b="0" i="0" u="none" strike="noStrike">
              <a:solidFill>
                <a:srgbClr val="DCDFE4"/>
              </a:solidFill>
              <a:latin typeface="Noto Sans SC"/>
              <a:ea typeface="Noto Sans SC"/>
              <a:cs typeface="Noto Sans SC"/>
              <a:sym typeface="Noto Sans SC"/>
            </a:endParaRPr>
          </a:p>
          <a:p>
            <a:pPr indent="0" algn="l">
              <a:lnSpc>
                <a:spcPct val="108000"/>
              </a:lnSpc>
            </a:pPr>
            <a:r>
              <a:rPr lang="en-US" sz="1300" b="0" i="0" u="none" strike="noStrike">
                <a:solidFill>
                  <a:srgbClr val="DCDFE4"/>
                </a:solidFill>
                <a:latin typeface="Noto Sans SC"/>
                <a:ea typeface="Noto Sans SC"/>
                <a:cs typeface="Noto Sans SC"/>
                <a:sym typeface="Noto Sans SC"/>
              </a:rPr>
              <a:t>print(response.content)</a:t>
            </a:r>
            <a:endParaRPr lang="en-US" sz="1300" b="0" i="0" u="none" strike="noStrike">
              <a:solidFill>
                <a:srgbClr val="DCDFE4"/>
              </a:solidFill>
              <a:latin typeface="Noto Sans SC"/>
              <a:ea typeface="Noto Sans SC"/>
              <a:cs typeface="Noto Sans SC"/>
              <a:sym typeface="Noto Sans SC"/>
            </a:endParaRPr>
          </a:p>
        </p:txBody>
      </p:sp>
      <p:sp>
        <p:nvSpPr>
          <p:cNvPr id="16" name="AutoShape 16"/>
          <p:cNvSpPr/>
          <p:nvPr/>
        </p:nvSpPr>
        <p:spPr>
          <a:xfrm>
            <a:off x="0" y="6604000"/>
            <a:ext cx="12192000" cy="2540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RAG知识库构建流程总结</a:t>
            </a:r>
            <a:endParaRPr lang="en-US" sz="1100"/>
          </a:p>
        </p:txBody>
      </p:sp>
      <p:sp>
        <p:nvSpPr>
          <p:cNvPr id="3" name="AutoShape 3"/>
          <p:cNvSpPr/>
          <p:nvPr/>
        </p:nvSpPr>
        <p:spPr>
          <a:xfrm>
            <a:off x="762000" y="1524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27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01 加载文档</a:t>
            </a:r>
            <a:endParaRPr lang="en-US" sz="1100"/>
          </a:p>
        </p:txBody>
      </p:sp>
      <p:sp>
        <p:nvSpPr>
          <p:cNvPr id="6" name="AutoShape 6"/>
          <p:cNvSpPr/>
          <p:nvPr/>
        </p:nvSpPr>
        <p:spPr>
          <a:xfrm>
            <a:off x="1016000" y="2286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准备并加载多源、多格式的数据，统一数据输入标准。</a:t>
            </a:r>
            <a:endParaRPr lang="en-US" sz="1100"/>
          </a:p>
        </p:txBody>
      </p:sp>
      <p:sp>
        <p:nvSpPr>
          <p:cNvPr id="7" name="AutoShape 7"/>
          <p:cNvSpPr/>
          <p:nvPr/>
        </p:nvSpPr>
        <p:spPr>
          <a:xfrm>
            <a:off x="4445000" y="1524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778000"/>
            <a:ext cx="406400" cy="406400"/>
          </a:xfrm>
          <a:prstGeom prst="rect">
            <a:avLst/>
          </a:prstGeom>
        </p:spPr>
      </p:pic>
      <p:sp>
        <p:nvSpPr>
          <p:cNvPr id="9" name="AutoShape 9"/>
          <p:cNvSpPr/>
          <p:nvPr/>
        </p:nvSpPr>
        <p:spPr>
          <a:xfrm>
            <a:off x="5207000" y="1727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02 分割文档</a:t>
            </a:r>
            <a:endParaRPr lang="en-US" sz="1100"/>
          </a:p>
        </p:txBody>
      </p:sp>
      <p:sp>
        <p:nvSpPr>
          <p:cNvPr id="10" name="AutoShape 10"/>
          <p:cNvSpPr/>
          <p:nvPr/>
        </p:nvSpPr>
        <p:spPr>
          <a:xfrm>
            <a:off x="4699000" y="2286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将长文档拆分为语义独立的文本块，便于后续处理。</a:t>
            </a:r>
            <a:endParaRPr lang="en-US" sz="1100"/>
          </a:p>
        </p:txBody>
      </p:sp>
      <p:sp>
        <p:nvSpPr>
          <p:cNvPr id="11" name="AutoShape 11"/>
          <p:cNvSpPr/>
          <p:nvPr/>
        </p:nvSpPr>
        <p:spPr>
          <a:xfrm>
            <a:off x="8128000" y="1524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78000"/>
            <a:ext cx="406400" cy="406400"/>
          </a:xfrm>
          <a:prstGeom prst="rect">
            <a:avLst/>
          </a:prstGeom>
        </p:spPr>
      </p:pic>
      <p:sp>
        <p:nvSpPr>
          <p:cNvPr id="13" name="AutoShape 13"/>
          <p:cNvSpPr/>
          <p:nvPr/>
        </p:nvSpPr>
        <p:spPr>
          <a:xfrm>
            <a:off x="8890000" y="1727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03 文档词嵌入</a:t>
            </a:r>
            <a:endParaRPr lang="en-US" sz="1100"/>
          </a:p>
        </p:txBody>
      </p:sp>
      <p:sp>
        <p:nvSpPr>
          <p:cNvPr id="14" name="AutoShape 14"/>
          <p:cNvSpPr/>
          <p:nvPr/>
        </p:nvSpPr>
        <p:spPr>
          <a:xfrm>
            <a:off x="8382000" y="2286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利用模型将文本块转换为高维向量表示，捕捉语义信息。</a:t>
            </a:r>
            <a:endParaRPr lang="en-US" sz="1100"/>
          </a:p>
        </p:txBody>
      </p:sp>
      <p:sp>
        <p:nvSpPr>
          <p:cNvPr id="15" name="AutoShape 15"/>
          <p:cNvSpPr/>
          <p:nvPr/>
        </p:nvSpPr>
        <p:spPr>
          <a:xfrm>
            <a:off x="762000" y="3683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937000"/>
            <a:ext cx="406400" cy="406400"/>
          </a:xfrm>
          <a:prstGeom prst="rect">
            <a:avLst/>
          </a:prstGeom>
        </p:spPr>
      </p:pic>
      <p:sp>
        <p:nvSpPr>
          <p:cNvPr id="17" name="AutoShape 17"/>
          <p:cNvSpPr/>
          <p:nvPr/>
        </p:nvSpPr>
        <p:spPr>
          <a:xfrm>
            <a:off x="1524000" y="3886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04 向量存储</a:t>
            </a:r>
            <a:endParaRPr lang="en-US" sz="1100"/>
          </a:p>
        </p:txBody>
      </p:sp>
      <p:sp>
        <p:nvSpPr>
          <p:cNvPr id="18" name="AutoShape 18"/>
          <p:cNvSpPr/>
          <p:nvPr/>
        </p:nvSpPr>
        <p:spPr>
          <a:xfrm>
            <a:off x="1016000" y="4445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将生成的向量数据存储到专用的向量数据库中持久化。</a:t>
            </a:r>
            <a:endParaRPr lang="en-US" sz="1100"/>
          </a:p>
        </p:txBody>
      </p:sp>
      <p:sp>
        <p:nvSpPr>
          <p:cNvPr id="19" name="AutoShape 19"/>
          <p:cNvSpPr/>
          <p:nvPr/>
        </p:nvSpPr>
        <p:spPr>
          <a:xfrm>
            <a:off x="4445000" y="3683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9000" y="3937000"/>
            <a:ext cx="406400" cy="406400"/>
          </a:xfrm>
          <a:prstGeom prst="rect">
            <a:avLst/>
          </a:prstGeom>
        </p:spPr>
      </p:pic>
      <p:sp>
        <p:nvSpPr>
          <p:cNvPr id="21" name="AutoShape 21"/>
          <p:cNvSpPr/>
          <p:nvPr/>
        </p:nvSpPr>
        <p:spPr>
          <a:xfrm>
            <a:off x="5207000" y="3886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05 向量检索</a:t>
            </a:r>
            <a:endParaRPr lang="en-US" sz="1100"/>
          </a:p>
        </p:txBody>
      </p:sp>
      <p:sp>
        <p:nvSpPr>
          <p:cNvPr id="22" name="AutoShape 22"/>
          <p:cNvSpPr/>
          <p:nvPr/>
        </p:nvSpPr>
        <p:spPr>
          <a:xfrm>
            <a:off x="4699000" y="4445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根据用户查询的向量，在数据库中检索相似度最高的文档。</a:t>
            </a:r>
            <a:endParaRPr lang="en-US" sz="1100"/>
          </a:p>
        </p:txBody>
      </p:sp>
      <p:sp>
        <p:nvSpPr>
          <p:cNvPr id="23" name="AutoShape 23"/>
          <p:cNvSpPr/>
          <p:nvPr/>
        </p:nvSpPr>
        <p:spPr>
          <a:xfrm>
            <a:off x="8128000" y="3683000"/>
            <a:ext cx="3302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3937000"/>
            <a:ext cx="406400" cy="406400"/>
          </a:xfrm>
          <a:prstGeom prst="rect">
            <a:avLst/>
          </a:prstGeom>
        </p:spPr>
      </p:pic>
      <p:sp>
        <p:nvSpPr>
          <p:cNvPr id="25" name="AutoShape 25"/>
          <p:cNvSpPr/>
          <p:nvPr/>
        </p:nvSpPr>
        <p:spPr>
          <a:xfrm>
            <a:off x="8890000" y="3886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06 内容生成</a:t>
            </a:r>
            <a:endParaRPr lang="en-US" sz="1100"/>
          </a:p>
        </p:txBody>
      </p:sp>
      <p:sp>
        <p:nvSpPr>
          <p:cNvPr id="26" name="AutoShape 26"/>
          <p:cNvSpPr/>
          <p:nvPr/>
        </p:nvSpPr>
        <p:spPr>
          <a:xfrm>
            <a:off x="8382000" y="44450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结合检索结果和LLM生成准确、符合上下文的最终回答。</a:t>
            </a:r>
            <a:endParaRPr lang="en-US" sz="1100"/>
          </a:p>
        </p:txBody>
      </p:sp>
      <p:sp>
        <p:nvSpPr>
          <p:cNvPr id="27" name="AutoShape 27"/>
          <p:cNvSpPr/>
          <p:nvPr/>
        </p:nvSpPr>
        <p:spPr>
          <a:xfrm>
            <a:off x="762000" y="5842000"/>
            <a:ext cx="10668000" cy="25400"/>
          </a:xfrm>
          <a:prstGeom prst="roundRect">
            <a:avLst>
              <a:gd name="adj" fmla="val 0"/>
            </a:avLst>
          </a:prstGeom>
          <a:solidFill>
            <a:srgbClr val="0288D1">
              <a:alpha val="3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762000" y="5969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57575"/>
                </a:solidFill>
                <a:latin typeface="Noto Sans SC"/>
                <a:ea typeface="Noto Sans SC"/>
                <a:cs typeface="Noto Sans SC"/>
                <a:sym typeface="Noto Sans SC"/>
              </a:rPr>
              <a:t>完整的RAG系统工作流程，从数据处理到智能问答闭环</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RAG发展与挑战：GraphRAG</a:t>
            </a:r>
            <a:endParaRPr lang="en-US" sz="1100"/>
          </a:p>
        </p:txBody>
      </p:sp>
      <p:sp>
        <p:nvSpPr>
          <p:cNvPr id="3" name="AutoShape 3"/>
          <p:cNvSpPr/>
          <p:nvPr/>
        </p:nvSpPr>
        <p:spPr>
          <a:xfrm>
            <a:off x="762000" y="1524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841500"/>
            <a:ext cx="609600" cy="609600"/>
          </a:xfrm>
          <a:prstGeom prst="rect">
            <a:avLst/>
          </a:prstGeom>
        </p:spPr>
      </p:pic>
      <p:sp>
        <p:nvSpPr>
          <p:cNvPr id="5" name="AutoShape 5"/>
          <p:cNvSpPr/>
          <p:nvPr/>
        </p:nvSpPr>
        <p:spPr>
          <a:xfrm>
            <a:off x="1778000" y="1651000"/>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提出背景</a:t>
            </a:r>
            <a:endParaRPr lang="en-US" sz="1100"/>
          </a:p>
        </p:txBody>
      </p:sp>
      <p:sp>
        <p:nvSpPr>
          <p:cNvPr id="6" name="AutoShape 6"/>
          <p:cNvSpPr/>
          <p:nvPr/>
        </p:nvSpPr>
        <p:spPr>
          <a:xfrm>
            <a:off x="1778000" y="2032000"/>
            <a:ext cx="939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为了增强传统RAG处理复杂关系数据的能力，微软于2024年开源了GraphRAG。</a:t>
            </a:r>
            <a:endParaRPr lang="en-US" sz="1100"/>
          </a:p>
        </p:txBody>
      </p:sp>
      <p:sp>
        <p:nvSpPr>
          <p:cNvPr id="7" name="AutoShape 7"/>
          <p:cNvSpPr/>
          <p:nvPr/>
        </p:nvSpPr>
        <p:spPr>
          <a:xfrm>
            <a:off x="762000" y="3048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365500"/>
            <a:ext cx="609600" cy="609600"/>
          </a:xfrm>
          <a:prstGeom prst="rect">
            <a:avLst/>
          </a:prstGeom>
        </p:spPr>
      </p:pic>
      <p:sp>
        <p:nvSpPr>
          <p:cNvPr id="9" name="AutoShape 9"/>
          <p:cNvSpPr/>
          <p:nvPr/>
        </p:nvSpPr>
        <p:spPr>
          <a:xfrm>
            <a:off x="1778000" y="3175000"/>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核心原理</a:t>
            </a:r>
            <a:endParaRPr lang="en-US" sz="1100"/>
          </a:p>
        </p:txBody>
      </p:sp>
      <p:sp>
        <p:nvSpPr>
          <p:cNvPr id="10" name="AutoShape 10"/>
          <p:cNvSpPr/>
          <p:nvPr/>
        </p:nvSpPr>
        <p:spPr>
          <a:xfrm>
            <a:off x="1778000" y="3556000"/>
            <a:ext cx="939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将非结构化数据转换为图结构（实体和关系），存储在图数据库中，并利用图查询能力进行检索。</a:t>
            </a:r>
            <a:endParaRPr lang="en-US" sz="1100"/>
          </a:p>
        </p:txBody>
      </p:sp>
      <p:sp>
        <p:nvSpPr>
          <p:cNvPr id="11" name="AutoShape 11"/>
          <p:cNvSpPr/>
          <p:nvPr/>
        </p:nvSpPr>
        <p:spPr>
          <a:xfrm>
            <a:off x="762000" y="4572000"/>
            <a:ext cx="10668000" cy="1524000"/>
          </a:xfrm>
          <a:prstGeom prst="roundRect">
            <a:avLst>
              <a:gd name="adj" fmla="val 8333"/>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029200"/>
            <a:ext cx="609600" cy="609600"/>
          </a:xfrm>
          <a:prstGeom prst="rect">
            <a:avLst/>
          </a:prstGeom>
        </p:spPr>
      </p:pic>
      <p:sp>
        <p:nvSpPr>
          <p:cNvPr id="13" name="AutoShape 13"/>
          <p:cNvSpPr/>
          <p:nvPr/>
        </p:nvSpPr>
        <p:spPr>
          <a:xfrm>
            <a:off x="1778000" y="4699000"/>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解决的问题</a:t>
            </a:r>
            <a:endParaRPr lang="en-US" sz="1100"/>
          </a:p>
        </p:txBody>
      </p:sp>
      <p:sp>
        <p:nvSpPr>
          <p:cNvPr id="14" name="AutoShape 14"/>
          <p:cNvSpPr/>
          <p:nvPr/>
        </p:nvSpPr>
        <p:spPr>
          <a:xfrm>
            <a:off x="1778000" y="5080000"/>
            <a:ext cx="9398000" cy="889000"/>
          </a:xfrm>
          <a:prstGeom prst="rect">
            <a:avLst/>
          </a:prstGeom>
          <a:noFill/>
          <a:ln w="12700" cap="flat" cmpd="sng">
            <a:noFill/>
            <a:prstDash val="solid"/>
            <a:round/>
          </a:ln>
        </p:spPr>
        <p:txBody>
          <a:bodyPr vert="horz" wrap="square" lIns="0" tIns="0" rIns="0" bIns="0" rtlCol="0" anchor="ctr" anchorCtr="0"/>
          <a:lstStyle/>
          <a:p>
            <a:pPr marL="228600" indent="-228600" algn="l">
              <a:lnSpc>
                <a:spcPct val="125000"/>
              </a:lnSpc>
              <a:buClr>
                <a:srgbClr val="757575"/>
              </a:buClr>
              <a:buChar char="•"/>
              <a:defRPr/>
            </a:pPr>
            <a:r>
              <a:rPr lang="en-US" sz="1800" b="0" i="0" u="none" strike="noStrike">
                <a:solidFill>
                  <a:srgbClr val="757575"/>
                </a:solidFill>
                <a:latin typeface="Noto Sans SC"/>
                <a:ea typeface="Noto Sans SC"/>
                <a:cs typeface="Noto Sans SC"/>
                <a:sym typeface="Noto Sans SC"/>
              </a:rPr>
              <a:t>更好地处理复杂关系和多层次关联数据。</a:t>
            </a:r>
            <a:endParaRPr lang="en-US" sz="1100"/>
          </a:p>
          <a:p>
            <a:pPr marL="228600" indent="-228600" algn="l">
              <a:lnSpc>
                <a:spcPct val="125000"/>
              </a:lnSpc>
              <a:buClr>
                <a:srgbClr val="757575"/>
              </a:buClr>
              <a:buChar char="•"/>
            </a:pPr>
            <a:r>
              <a:rPr lang="en-US" sz="1800" b="0" i="0" u="none" strike="noStrike">
                <a:solidFill>
                  <a:srgbClr val="757575"/>
                </a:solidFill>
                <a:latin typeface="Noto Sans SC"/>
                <a:ea typeface="Noto Sans SC"/>
                <a:cs typeface="Noto Sans SC"/>
                <a:sym typeface="Noto Sans SC"/>
              </a:rPr>
              <a:t>支持多步推理，生成更精确的回答。</a:t>
            </a:r>
            <a:endParaRPr lang="en-US" sz="1800" b="0" i="0" u="none" strike="noStrike">
              <a:solidFill>
                <a:srgbClr val="757575"/>
              </a:solidFill>
              <a:latin typeface="Noto Sans SC"/>
              <a:ea typeface="Noto Sans SC"/>
              <a:cs typeface="Noto Sans SC"/>
              <a:sym typeface="Noto Sans SC"/>
            </a:endParaRPr>
          </a:p>
          <a:p>
            <a:pPr marL="228600" indent="-228600" algn="l">
              <a:lnSpc>
                <a:spcPct val="125000"/>
              </a:lnSpc>
              <a:buClr>
                <a:srgbClr val="757575"/>
              </a:buClr>
              <a:buChar char="•"/>
            </a:pPr>
            <a:r>
              <a:rPr lang="en-US" sz="1800" b="0" i="0" u="none" strike="noStrike">
                <a:solidFill>
                  <a:srgbClr val="757575"/>
                </a:solidFill>
                <a:latin typeface="Noto Sans SC"/>
                <a:ea typeface="Noto Sans SC"/>
                <a:cs typeface="Noto Sans SC"/>
                <a:sym typeface="Noto Sans SC"/>
              </a:rPr>
              <a:t>增强模型推理过程的可解释性。</a:t>
            </a:r>
            <a:endParaRPr lang="en-US" sz="18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013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长上下文的LLMs</a:t>
            </a:r>
            <a:endParaRPr lang="en-US" sz="1100"/>
          </a:p>
        </p:txBody>
      </p:sp>
      <p:sp>
        <p:nvSpPr>
          <p:cNvPr id="3" name="AutoShape 3"/>
          <p:cNvSpPr/>
          <p:nvPr/>
        </p:nvSpPr>
        <p:spPr>
          <a:xfrm>
            <a:off x="762000" y="1397000"/>
            <a:ext cx="5080000" cy="3810000"/>
          </a:xfrm>
          <a:prstGeom prst="roundRect">
            <a:avLst>
              <a:gd name="adj" fmla="val 3333"/>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587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核心优势与价值</a:t>
            </a:r>
            <a:endParaRPr lang="en-US" sz="1100"/>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095500"/>
            <a:ext cx="304800" cy="304800"/>
          </a:xfrm>
          <a:prstGeom prst="rect">
            <a:avLst/>
          </a:prstGeom>
        </p:spPr>
      </p:pic>
      <p:sp>
        <p:nvSpPr>
          <p:cNvPr id="6" name="AutoShape 6"/>
          <p:cNvSpPr/>
          <p:nvPr/>
        </p:nvSpPr>
        <p:spPr>
          <a:xfrm>
            <a:off x="1397000" y="20574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提高理解能力：深度解析长文本逻辑与细节</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540000"/>
            <a:ext cx="304800" cy="304800"/>
          </a:xfrm>
          <a:prstGeom prst="rect">
            <a:avLst/>
          </a:prstGeom>
        </p:spPr>
      </p:pic>
      <p:sp>
        <p:nvSpPr>
          <p:cNvPr id="8" name="AutoShape 8"/>
          <p:cNvSpPr/>
          <p:nvPr/>
        </p:nvSpPr>
        <p:spPr>
          <a:xfrm>
            <a:off x="1397000" y="25019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提升连贯性：保持长对话与文档的上下文一致</a:t>
            </a:r>
            <a:endParaRPr lang="en-US" sz="1100"/>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2984500"/>
            <a:ext cx="304800" cy="304800"/>
          </a:xfrm>
          <a:prstGeom prst="rect">
            <a:avLst/>
          </a:prstGeom>
        </p:spPr>
      </p:pic>
      <p:sp>
        <p:nvSpPr>
          <p:cNvPr id="10" name="AutoShape 10"/>
          <p:cNvSpPr/>
          <p:nvPr/>
        </p:nvSpPr>
        <p:spPr>
          <a:xfrm>
            <a:off x="1397000" y="29464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丰富信息提取：从海量数据中精准检索关键信息</a:t>
            </a:r>
            <a:endParaRPr lang="en-US" sz="1100"/>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429000"/>
            <a:ext cx="304800" cy="304800"/>
          </a:xfrm>
          <a:prstGeom prst="rect">
            <a:avLst/>
          </a:prstGeom>
        </p:spPr>
      </p:pic>
      <p:sp>
        <p:nvSpPr>
          <p:cNvPr id="12" name="AutoShape 12"/>
          <p:cNvSpPr/>
          <p:nvPr/>
        </p:nvSpPr>
        <p:spPr>
          <a:xfrm>
            <a:off x="1397000" y="33909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支持复杂任务：处理多步骤推理与复杂指令</a:t>
            </a:r>
            <a:endParaRPr lang="en-US" sz="1100"/>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3873500"/>
            <a:ext cx="304800" cy="304800"/>
          </a:xfrm>
          <a:prstGeom prst="rect">
            <a:avLst/>
          </a:prstGeom>
        </p:spPr>
      </p:pic>
      <p:sp>
        <p:nvSpPr>
          <p:cNvPr id="14" name="AutoShape 14"/>
          <p:cNvSpPr/>
          <p:nvPr/>
        </p:nvSpPr>
        <p:spPr>
          <a:xfrm>
            <a:off x="1397000" y="38354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提高响应质量：减少因上下文丢失导致的错误</a:t>
            </a:r>
            <a:endParaRPr lang="en-US" sz="1100"/>
          </a:p>
        </p:txBody>
      </p:sp>
      <p:pic>
        <p:nvPicPr>
          <p:cNvPr id="15" name="Picture 1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16000" y="4318000"/>
            <a:ext cx="304800" cy="304800"/>
          </a:xfrm>
          <a:prstGeom prst="rect">
            <a:avLst/>
          </a:prstGeom>
        </p:spPr>
      </p:pic>
      <p:sp>
        <p:nvSpPr>
          <p:cNvPr id="16" name="AutoShape 16"/>
          <p:cNvSpPr/>
          <p:nvPr/>
        </p:nvSpPr>
        <p:spPr>
          <a:xfrm>
            <a:off x="1397000" y="4279900"/>
            <a:ext cx="419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场景多样化：适用于法律、医疗、代码等长文档场景</a:t>
            </a:r>
            <a:endParaRPr lang="en-US" sz="1100"/>
          </a:p>
        </p:txBody>
      </p:sp>
      <p:sp>
        <p:nvSpPr>
          <p:cNvPr id="17" name="AutoShape 17"/>
          <p:cNvSpPr/>
          <p:nvPr/>
        </p:nvSpPr>
        <p:spPr>
          <a:xfrm>
            <a:off x="6350000" y="1397000"/>
            <a:ext cx="5080000" cy="3810000"/>
          </a:xfrm>
          <a:prstGeom prst="roundRect">
            <a:avLst>
              <a:gd name="adj" fmla="val 3333"/>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sp>
        <p:nvSpPr>
          <p:cNvPr id="18" name="AutoShape 18"/>
          <p:cNvSpPr/>
          <p:nvPr/>
        </p:nvSpPr>
        <p:spPr>
          <a:xfrm>
            <a:off x="6604000" y="1587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与RAG技术的关系</a:t>
            </a:r>
            <a:endParaRPr lang="en-US" sz="1100"/>
          </a:p>
        </p:txBody>
      </p:sp>
      <p:sp>
        <p:nvSpPr>
          <p:cNvPr id="19" name="AutoShape 19"/>
          <p:cNvSpPr/>
          <p:nvPr/>
        </p:nvSpPr>
        <p:spPr>
          <a:xfrm>
            <a:off x="6604000" y="2095500"/>
            <a:ext cx="4572000" cy="1270000"/>
          </a:xfrm>
          <a:prstGeom prst="roundRect">
            <a:avLst>
              <a:gd name="adj" fmla="val 10000"/>
            </a:avLst>
          </a:prstGeom>
          <a:solidFill>
            <a:srgbClr val="0288D1">
              <a:alpha val="5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794500" y="2286000"/>
            <a:ext cx="406400" cy="406400"/>
          </a:xfrm>
          <a:prstGeom prst="rect">
            <a:avLst/>
          </a:prstGeom>
        </p:spPr>
      </p:pic>
      <p:sp>
        <p:nvSpPr>
          <p:cNvPr id="21" name="AutoShape 21"/>
          <p:cNvSpPr/>
          <p:nvPr/>
        </p:nvSpPr>
        <p:spPr>
          <a:xfrm>
            <a:off x="7302500" y="2222500"/>
            <a:ext cx="3746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挑战：对RAG的替代效应</a:t>
            </a:r>
            <a:endParaRPr lang="en-US" sz="1100"/>
          </a:p>
        </p:txBody>
      </p:sp>
      <p:sp>
        <p:nvSpPr>
          <p:cNvPr id="22" name="AutoShape 22"/>
          <p:cNvSpPr/>
          <p:nvPr/>
        </p:nvSpPr>
        <p:spPr>
          <a:xfrm>
            <a:off x="7302500" y="2603500"/>
            <a:ext cx="3746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长上下文LLMs具备直接处理海量信息的能力，理论上减少了对外部知识库检索的依赖。</a:t>
            </a:r>
            <a:endParaRPr lang="en-US" sz="1100"/>
          </a:p>
        </p:txBody>
      </p:sp>
      <p:sp>
        <p:nvSpPr>
          <p:cNvPr id="23" name="AutoShape 23"/>
          <p:cNvSpPr/>
          <p:nvPr/>
        </p:nvSpPr>
        <p:spPr>
          <a:xfrm>
            <a:off x="6604000" y="3556000"/>
            <a:ext cx="4572000" cy="1270000"/>
          </a:xfrm>
          <a:prstGeom prst="roundRect">
            <a:avLst>
              <a:gd name="adj" fmla="val 10000"/>
            </a:avLst>
          </a:prstGeom>
          <a:solidFill>
            <a:srgbClr val="0288D1">
              <a:alpha val="5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794500" y="3746500"/>
            <a:ext cx="406400" cy="406400"/>
          </a:xfrm>
          <a:prstGeom prst="rect">
            <a:avLst/>
          </a:prstGeom>
        </p:spPr>
      </p:pic>
      <p:sp>
        <p:nvSpPr>
          <p:cNvPr id="25" name="AutoShape 25"/>
          <p:cNvSpPr/>
          <p:nvPr/>
        </p:nvSpPr>
        <p:spPr>
          <a:xfrm>
            <a:off x="7302500" y="3683000"/>
            <a:ext cx="3746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共存：互补的最佳实践</a:t>
            </a:r>
            <a:endParaRPr lang="en-US" sz="1100"/>
          </a:p>
        </p:txBody>
      </p:sp>
      <p:sp>
        <p:nvSpPr>
          <p:cNvPr id="26" name="AutoShape 26"/>
          <p:cNvSpPr/>
          <p:nvPr/>
        </p:nvSpPr>
        <p:spPr>
          <a:xfrm>
            <a:off x="7302500" y="4064000"/>
            <a:ext cx="3746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RAG在资源优化、灵活扩展和时效性方面仍具优势，两者将针对不同场景协同发挥作用。</a:t>
            </a:r>
            <a:endParaRPr lang="en-US" sz="1100"/>
          </a:p>
        </p:txBody>
      </p:sp>
      <p:sp>
        <p:nvSpPr>
          <p:cNvPr id="27" name="AutoShape 27"/>
          <p:cNvSpPr/>
          <p:nvPr/>
        </p:nvSpPr>
        <p:spPr>
          <a:xfrm>
            <a:off x="762000" y="5461000"/>
            <a:ext cx="10668000" cy="762000"/>
          </a:xfrm>
          <a:prstGeom prst="roundRect">
            <a:avLst>
              <a:gd name="adj" fmla="val 16666"/>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16000" y="5638800"/>
            <a:ext cx="406400" cy="406400"/>
          </a:xfrm>
          <a:prstGeom prst="rect">
            <a:avLst/>
          </a:prstGeom>
        </p:spPr>
      </p:pic>
      <p:sp>
        <p:nvSpPr>
          <p:cNvPr id="29" name="AutoShape 29"/>
          <p:cNvSpPr/>
          <p:nvPr/>
        </p:nvSpPr>
        <p:spPr>
          <a:xfrm>
            <a:off x="1524000" y="5562600"/>
            <a:ext cx="9652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总结：长上下文LLMs 提升了模型的“内存”，而 RAG 提供了强大的“外存”，两者结合将构建更强大的智能系统。</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524000"/>
            <a:ext cx="812800" cy="812800"/>
          </a:xfrm>
          <a:prstGeom prst="rect">
            <a:avLst/>
          </a:prstGeom>
        </p:spPr>
      </p:pic>
      <p:sp>
        <p:nvSpPr>
          <p:cNvPr id="4" name="AutoShape 4"/>
          <p:cNvSpPr/>
          <p:nvPr/>
        </p:nvSpPr>
        <p:spPr>
          <a:xfrm>
            <a:off x="635000" y="2540000"/>
            <a:ext cx="10922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88D1"/>
                </a:solidFill>
                <a:latin typeface="Noto Sans SC"/>
                <a:ea typeface="Noto Sans SC"/>
                <a:cs typeface="Noto Sans SC"/>
                <a:sym typeface="Noto Sans SC"/>
              </a:rPr>
              <a:t>14.2 RAG知识库的优化策略</a:t>
            </a:r>
            <a:endParaRPr lang="en-US" sz="1100"/>
          </a:p>
        </p:txBody>
      </p:sp>
      <p:cxnSp>
        <p:nvCxnSpPr>
          <p:cNvPr id="5" name="Connector 5"/>
          <p:cNvCxnSpPr/>
          <p:nvPr/>
        </p:nvCxnSpPr>
        <p:spPr>
          <a:xfrm rot="-34376">
            <a:off x="5461032" y="3422650"/>
            <a:ext cx="1270000" cy="12700"/>
          </a:xfrm>
          <a:prstGeom prst="line">
            <a:avLst/>
          </a:prstGeom>
          <a:solidFill>
            <a:srgbClr val="DEE0E3">
              <a:alpha val="100000"/>
            </a:srgbClr>
          </a:solidFill>
          <a:ln w="25400" cap="flat" cmpd="sng">
            <a:solidFill>
              <a:srgbClr val="757575">
                <a:alpha val="100000"/>
              </a:srgbClr>
            </a:solidFill>
            <a:prstDash val="solid"/>
            <a:round/>
            <a:headEnd type="none" w="lg" len="lg"/>
            <a:tailEnd type="none" w="lg" len="lg"/>
          </a:ln>
        </p:spPr>
      </p:cxnSp>
      <p:sp>
        <p:nvSpPr>
          <p:cNvPr id="6" name="AutoShape 6"/>
          <p:cNvSpPr/>
          <p:nvPr/>
        </p:nvSpPr>
        <p:spPr>
          <a:xfrm>
            <a:off x="1016000" y="3683000"/>
            <a:ext cx="1016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757575"/>
                </a:solidFill>
                <a:latin typeface="Noto Sans SC"/>
                <a:ea typeface="Noto Sans SC"/>
                <a:cs typeface="Noto Sans SC"/>
                <a:sym typeface="Noto Sans SC"/>
              </a:rPr>
              <a:t>Optimization Strategies for RAG Knowledge Base</a:t>
            </a:r>
            <a:endParaRPr lang="en-US" sz="1100"/>
          </a:p>
        </p:txBody>
      </p:sp>
      <p:sp>
        <p:nvSpPr>
          <p:cNvPr id="7" name="AutoShape 7"/>
          <p:cNvSpPr/>
          <p:nvPr/>
        </p:nvSpPr>
        <p:spPr>
          <a:xfrm>
            <a:off x="5334000" y="6096000"/>
            <a:ext cx="1524000" cy="76200"/>
          </a:xfrm>
          <a:prstGeom prst="roundRect">
            <a:avLst>
              <a:gd name="adj" fmla="val 50000"/>
            </a:avLst>
          </a:prstGeom>
          <a:solidFill>
            <a:srgbClr val="0288D1">
              <a:alpha val="3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6032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RAG系统优化的重要性</a:t>
            </a:r>
            <a:endParaRPr lang="en-US" sz="1100"/>
          </a:p>
        </p:txBody>
      </p:sp>
      <p:sp>
        <p:nvSpPr>
          <p:cNvPr id="3" name="AutoShape 3"/>
          <p:cNvSpPr/>
          <p:nvPr/>
        </p:nvSpPr>
        <p:spPr>
          <a:xfrm>
            <a:off x="762000" y="1524000"/>
            <a:ext cx="5080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841500"/>
            <a:ext cx="508000" cy="508000"/>
          </a:xfrm>
          <a:prstGeom prst="rect">
            <a:avLst/>
          </a:prstGeom>
        </p:spPr>
      </p:pic>
      <p:sp>
        <p:nvSpPr>
          <p:cNvPr id="5" name="AutoShape 5"/>
          <p:cNvSpPr/>
          <p:nvPr/>
        </p:nvSpPr>
        <p:spPr>
          <a:xfrm>
            <a:off x="1714500" y="1714500"/>
            <a:ext cx="3873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构建高性能系统</a:t>
            </a:r>
            <a:endParaRPr lang="en-US" sz="1100"/>
          </a:p>
        </p:txBody>
      </p:sp>
      <p:sp>
        <p:nvSpPr>
          <p:cNvPr id="6" name="AutoShape 6"/>
          <p:cNvSpPr/>
          <p:nvPr/>
        </p:nvSpPr>
        <p:spPr>
          <a:xfrm>
            <a:off x="1714500" y="2159000"/>
            <a:ext cx="3873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需要对RAG架构的每个步骤进行精细化优化，确保数据流转高效。</a:t>
            </a:r>
            <a:endParaRPr lang="en-US" sz="1100"/>
          </a:p>
        </p:txBody>
      </p:sp>
      <p:sp>
        <p:nvSpPr>
          <p:cNvPr id="7" name="AutoShape 7"/>
          <p:cNvSpPr/>
          <p:nvPr/>
        </p:nvSpPr>
        <p:spPr>
          <a:xfrm>
            <a:off x="6350000" y="1524000"/>
            <a:ext cx="5080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841500"/>
            <a:ext cx="508000" cy="508000"/>
          </a:xfrm>
          <a:prstGeom prst="rect">
            <a:avLst/>
          </a:prstGeom>
        </p:spPr>
      </p:pic>
      <p:sp>
        <p:nvSpPr>
          <p:cNvPr id="9" name="AutoShape 9"/>
          <p:cNvSpPr/>
          <p:nvPr/>
        </p:nvSpPr>
        <p:spPr>
          <a:xfrm>
            <a:off x="7302500" y="1714500"/>
            <a:ext cx="3873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持续评估与优化</a:t>
            </a:r>
            <a:endParaRPr lang="en-US" sz="1100"/>
          </a:p>
        </p:txBody>
      </p:sp>
      <p:sp>
        <p:nvSpPr>
          <p:cNvPr id="10" name="AutoShape 10"/>
          <p:cNvSpPr/>
          <p:nvPr/>
        </p:nvSpPr>
        <p:spPr>
          <a:xfrm>
            <a:off x="7302500" y="2159000"/>
            <a:ext cx="3873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定期评估检索结果质量，确保其与用户需求的高度相关性。</a:t>
            </a:r>
            <a:endParaRPr lang="en-US" sz="1100"/>
          </a:p>
        </p:txBody>
      </p:sp>
      <p:sp>
        <p:nvSpPr>
          <p:cNvPr id="11" name="AutoShape 11"/>
          <p:cNvSpPr/>
          <p:nvPr/>
        </p:nvSpPr>
        <p:spPr>
          <a:xfrm>
            <a:off x="762000" y="3556000"/>
            <a:ext cx="5080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873500"/>
            <a:ext cx="508000" cy="508000"/>
          </a:xfrm>
          <a:prstGeom prst="rect">
            <a:avLst/>
          </a:prstGeom>
        </p:spPr>
      </p:pic>
      <p:sp>
        <p:nvSpPr>
          <p:cNvPr id="13" name="AutoShape 13"/>
          <p:cNvSpPr/>
          <p:nvPr/>
        </p:nvSpPr>
        <p:spPr>
          <a:xfrm>
            <a:off x="1714500" y="3746500"/>
            <a:ext cx="3873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端到端评估</a:t>
            </a:r>
            <a:endParaRPr lang="en-US" sz="1100"/>
          </a:p>
        </p:txBody>
      </p:sp>
      <p:sp>
        <p:nvSpPr>
          <p:cNvPr id="14" name="AutoShape 14"/>
          <p:cNvSpPr/>
          <p:nvPr/>
        </p:nvSpPr>
        <p:spPr>
          <a:xfrm>
            <a:off x="1714500" y="4191000"/>
            <a:ext cx="3873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从用户输入到最终响应的全流程评估，精准识别系统性能瓶颈。</a:t>
            </a:r>
            <a:endParaRPr lang="en-US" sz="1100"/>
          </a:p>
        </p:txBody>
      </p:sp>
      <p:sp>
        <p:nvSpPr>
          <p:cNvPr id="15" name="AutoShape 15"/>
          <p:cNvSpPr/>
          <p:nvPr/>
        </p:nvSpPr>
        <p:spPr>
          <a:xfrm>
            <a:off x="6350000" y="3556000"/>
            <a:ext cx="5080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873500"/>
            <a:ext cx="508000" cy="508000"/>
          </a:xfrm>
          <a:prstGeom prst="rect">
            <a:avLst/>
          </a:prstGeom>
        </p:spPr>
      </p:pic>
      <p:sp>
        <p:nvSpPr>
          <p:cNvPr id="17" name="AutoShape 17"/>
          <p:cNvSpPr/>
          <p:nvPr/>
        </p:nvSpPr>
        <p:spPr>
          <a:xfrm>
            <a:off x="7302500" y="3746500"/>
            <a:ext cx="3873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核心目标</a:t>
            </a:r>
            <a:endParaRPr lang="en-US" sz="1100"/>
          </a:p>
        </p:txBody>
      </p:sp>
      <p:sp>
        <p:nvSpPr>
          <p:cNvPr id="18" name="AutoShape 18"/>
          <p:cNvSpPr/>
          <p:nvPr/>
        </p:nvSpPr>
        <p:spPr>
          <a:xfrm>
            <a:off x="7302500" y="4191000"/>
            <a:ext cx="3873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确保每个模块都为最终的高质量回答服务，提升用户体验。</a:t>
            </a:r>
            <a:endParaRPr lang="en-US" sz="1100"/>
          </a:p>
        </p:txBody>
      </p:sp>
      <p:sp>
        <p:nvSpPr>
          <p:cNvPr id="19" name="AutoShape 19"/>
          <p:cNvSpPr/>
          <p:nvPr/>
        </p:nvSpPr>
        <p:spPr>
          <a:xfrm>
            <a:off x="762000" y="5588000"/>
            <a:ext cx="10668000" cy="25400"/>
          </a:xfrm>
          <a:prstGeom prst="roundRect">
            <a:avLst>
              <a:gd name="adj" fmla="val 0"/>
            </a:avLst>
          </a:prstGeom>
          <a:solidFill>
            <a:srgbClr val="0288D1">
              <a:alpha val="3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62000" y="57785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通过持续的迭代优化，让系统从“可用”走向“好用”，构建稳定可靠的知识问答体系。</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035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优化策略：非结构化文档解析</a:t>
            </a:r>
            <a:endParaRPr lang="en-US" sz="1100"/>
          </a:p>
        </p:txBody>
      </p:sp>
      <p:sp>
        <p:nvSpPr>
          <p:cNvPr id="3" name="AutoShape 3"/>
          <p:cNvSpPr/>
          <p:nvPr/>
        </p:nvSpPr>
        <p:spPr>
          <a:xfrm>
            <a:off x="762000" y="1524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609600" cy="609600"/>
          </a:xfrm>
          <a:prstGeom prst="rect">
            <a:avLst/>
          </a:prstGeom>
        </p:spPr>
      </p:pic>
      <p:sp>
        <p:nvSpPr>
          <p:cNvPr id="5" name="AutoShape 5"/>
          <p:cNvSpPr/>
          <p:nvPr/>
        </p:nvSpPr>
        <p:spPr>
          <a:xfrm>
            <a:off x="1778000" y="1651000"/>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面临挑战</a:t>
            </a:r>
            <a:endParaRPr lang="en-US" sz="1100"/>
          </a:p>
        </p:txBody>
      </p:sp>
      <p:sp>
        <p:nvSpPr>
          <p:cNvPr id="6" name="AutoShape 6"/>
          <p:cNvSpPr/>
          <p:nvPr/>
        </p:nvSpPr>
        <p:spPr>
          <a:xfrm>
            <a:off x="1778000" y="20320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PDF、图片、扫描件等非结构化文档难以直接提取文本，阻碍数据流转。</a:t>
            </a:r>
            <a:endParaRPr lang="en-US" sz="1100"/>
          </a:p>
        </p:txBody>
      </p:sp>
      <p:sp>
        <p:nvSpPr>
          <p:cNvPr id="7" name="AutoShape 7"/>
          <p:cNvSpPr/>
          <p:nvPr/>
        </p:nvSpPr>
        <p:spPr>
          <a:xfrm>
            <a:off x="762000" y="28575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11500"/>
            <a:ext cx="609600" cy="609600"/>
          </a:xfrm>
          <a:prstGeom prst="rect">
            <a:avLst/>
          </a:prstGeom>
        </p:spPr>
      </p:pic>
      <p:sp>
        <p:nvSpPr>
          <p:cNvPr id="9" name="AutoShape 9"/>
          <p:cNvSpPr/>
          <p:nvPr/>
        </p:nvSpPr>
        <p:spPr>
          <a:xfrm>
            <a:off x="1778000" y="2984500"/>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针对 PDF 文档优化</a:t>
            </a:r>
            <a:endParaRPr lang="en-US" sz="1100"/>
          </a:p>
        </p:txBody>
      </p:sp>
      <p:sp>
        <p:nvSpPr>
          <p:cNvPr id="10" name="AutoShape 10"/>
          <p:cNvSpPr/>
          <p:nvPr/>
        </p:nvSpPr>
        <p:spPr>
          <a:xfrm>
            <a:off x="1778000" y="33655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使用专业的 PDF 解析库（如 PyPDF2, pdfplumber）提取文本和布局信息，保留结构完整性。</a:t>
            </a:r>
            <a:endParaRPr lang="en-US" sz="1100"/>
          </a:p>
        </p:txBody>
      </p:sp>
      <p:sp>
        <p:nvSpPr>
          <p:cNvPr id="11" name="AutoShape 11"/>
          <p:cNvSpPr/>
          <p:nvPr/>
        </p:nvSpPr>
        <p:spPr>
          <a:xfrm>
            <a:off x="762000" y="4191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445000"/>
            <a:ext cx="609600" cy="609600"/>
          </a:xfrm>
          <a:prstGeom prst="rect">
            <a:avLst/>
          </a:prstGeom>
        </p:spPr>
      </p:pic>
      <p:sp>
        <p:nvSpPr>
          <p:cNvPr id="13" name="AutoShape 13"/>
          <p:cNvSpPr/>
          <p:nvPr/>
        </p:nvSpPr>
        <p:spPr>
          <a:xfrm>
            <a:off x="1778000" y="4318000"/>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针对图片与扫描件优化</a:t>
            </a:r>
            <a:endParaRPr lang="en-US" sz="1100"/>
          </a:p>
        </p:txBody>
      </p:sp>
      <p:sp>
        <p:nvSpPr>
          <p:cNvPr id="14" name="AutoShape 14"/>
          <p:cNvSpPr/>
          <p:nvPr/>
        </p:nvSpPr>
        <p:spPr>
          <a:xfrm>
            <a:off x="1778000" y="46990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利用 OCR 技术（如 Tesseract, PaddleOCR）结合多模态模型，精准识别图像中的文字内容。</a:t>
            </a:r>
            <a:endParaRPr lang="en-US" sz="1100"/>
          </a:p>
        </p:txBody>
      </p:sp>
      <p:sp>
        <p:nvSpPr>
          <p:cNvPr id="15" name="AutoShape 15"/>
          <p:cNvSpPr/>
          <p:nvPr/>
        </p:nvSpPr>
        <p:spPr>
          <a:xfrm>
            <a:off x="762000" y="55245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702300"/>
            <a:ext cx="406400" cy="406400"/>
          </a:xfrm>
          <a:prstGeom prst="rect">
            <a:avLst/>
          </a:prstGeom>
        </p:spPr>
      </p:pic>
      <p:sp>
        <p:nvSpPr>
          <p:cNvPr id="17" name="AutoShape 17"/>
          <p:cNvSpPr/>
          <p:nvPr/>
        </p:nvSpPr>
        <p:spPr>
          <a:xfrm>
            <a:off x="1778000" y="56515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目标：</a:t>
            </a:r>
            <a:r>
              <a:rPr lang="en-US" sz="1800" b="0" i="0" u="none" strike="noStrike">
                <a:solidFill>
                  <a:srgbClr val="757575"/>
                </a:solidFill>
                <a:latin typeface="Noto Sans SC"/>
                <a:ea typeface="Noto Sans SC"/>
                <a:cs typeface="Noto Sans SC"/>
                <a:sym typeface="Noto Sans SC"/>
              </a:rPr>
              <a:t>提高数据提取的准确性和完整性，为后续业务处理打下坚实基础。</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048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优化策略：文档分块优化</a:t>
            </a:r>
            <a:endParaRPr lang="en-US" sz="1100"/>
          </a:p>
        </p:txBody>
      </p:sp>
      <p:sp>
        <p:nvSpPr>
          <p:cNvPr id="3" name="AutoShape 3"/>
          <p:cNvSpPr/>
          <p:nvPr/>
        </p:nvSpPr>
        <p:spPr>
          <a:xfrm>
            <a:off x="762000" y="1524000"/>
            <a:ext cx="5207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508000" cy="508000"/>
          </a:xfrm>
          <a:prstGeom prst="rect">
            <a:avLst/>
          </a:prstGeom>
        </p:spPr>
      </p:pic>
      <p:sp>
        <p:nvSpPr>
          <p:cNvPr id="5" name="AutoShape 5"/>
          <p:cNvSpPr/>
          <p:nvPr/>
        </p:nvSpPr>
        <p:spPr>
          <a:xfrm>
            <a:off x="1651000" y="1714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超越固定分块</a:t>
            </a:r>
            <a:endParaRPr lang="en-US" sz="1100"/>
          </a:p>
        </p:txBody>
      </p:sp>
      <p:sp>
        <p:nvSpPr>
          <p:cNvPr id="6" name="AutoShape 6"/>
          <p:cNvSpPr/>
          <p:nvPr/>
        </p:nvSpPr>
        <p:spPr>
          <a:xfrm>
            <a:off x="1651000" y="2159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避免简单的固定大小分块，采用更智能的分块策略，适应不同内容的长度需求。</a:t>
            </a:r>
            <a:endParaRPr lang="en-US" sz="1100"/>
          </a:p>
        </p:txBody>
      </p:sp>
      <p:sp>
        <p:nvSpPr>
          <p:cNvPr id="7" name="AutoShape 7"/>
          <p:cNvSpPr/>
          <p:nvPr/>
        </p:nvSpPr>
        <p:spPr>
          <a:xfrm>
            <a:off x="6223000" y="1524000"/>
            <a:ext cx="5207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778000"/>
            <a:ext cx="508000" cy="508000"/>
          </a:xfrm>
          <a:prstGeom prst="rect">
            <a:avLst/>
          </a:prstGeom>
        </p:spPr>
      </p:pic>
      <p:sp>
        <p:nvSpPr>
          <p:cNvPr id="9" name="AutoShape 9"/>
          <p:cNvSpPr/>
          <p:nvPr/>
        </p:nvSpPr>
        <p:spPr>
          <a:xfrm>
            <a:off x="7112000" y="1714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基于语义的分块</a:t>
            </a:r>
            <a:endParaRPr lang="en-US" sz="1100"/>
          </a:p>
        </p:txBody>
      </p:sp>
      <p:sp>
        <p:nvSpPr>
          <p:cNvPr id="10" name="AutoShape 10"/>
          <p:cNvSpPr/>
          <p:nvPr/>
        </p:nvSpPr>
        <p:spPr>
          <a:xfrm>
            <a:off x="7112000" y="2159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利用模型理解文本的语义边界，确保分块在逻辑上是完整的，不割裂上下文。</a:t>
            </a:r>
            <a:endParaRPr lang="en-US" sz="1100"/>
          </a:p>
        </p:txBody>
      </p:sp>
      <p:sp>
        <p:nvSpPr>
          <p:cNvPr id="11" name="AutoShape 11"/>
          <p:cNvSpPr/>
          <p:nvPr/>
        </p:nvSpPr>
        <p:spPr>
          <a:xfrm>
            <a:off x="762000" y="3429000"/>
            <a:ext cx="5207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683000"/>
            <a:ext cx="508000" cy="508000"/>
          </a:xfrm>
          <a:prstGeom prst="rect">
            <a:avLst/>
          </a:prstGeom>
        </p:spPr>
      </p:pic>
      <p:sp>
        <p:nvSpPr>
          <p:cNvPr id="13" name="AutoShape 13"/>
          <p:cNvSpPr/>
          <p:nvPr/>
        </p:nvSpPr>
        <p:spPr>
          <a:xfrm>
            <a:off x="1651000" y="3619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结合文档结构</a:t>
            </a:r>
            <a:endParaRPr lang="en-US" sz="1100"/>
          </a:p>
        </p:txBody>
      </p:sp>
      <p:sp>
        <p:nvSpPr>
          <p:cNvPr id="14" name="AutoShape 14"/>
          <p:cNvSpPr/>
          <p:nvPr/>
        </p:nvSpPr>
        <p:spPr>
          <a:xfrm>
            <a:off x="1651000" y="4064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根据文档的章节、段落、标题等天然结构信息进行分块，保持内容的组织性。</a:t>
            </a:r>
            <a:endParaRPr lang="en-US" sz="1100"/>
          </a:p>
        </p:txBody>
      </p:sp>
      <p:sp>
        <p:nvSpPr>
          <p:cNvPr id="15" name="AutoShape 15"/>
          <p:cNvSpPr/>
          <p:nvPr/>
        </p:nvSpPr>
        <p:spPr>
          <a:xfrm>
            <a:off x="6223000" y="3429000"/>
            <a:ext cx="5207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683000"/>
            <a:ext cx="508000" cy="508000"/>
          </a:xfrm>
          <a:prstGeom prst="rect">
            <a:avLst/>
          </a:prstGeom>
        </p:spPr>
      </p:pic>
      <p:sp>
        <p:nvSpPr>
          <p:cNvPr id="17" name="AutoShape 17"/>
          <p:cNvSpPr/>
          <p:nvPr/>
        </p:nvSpPr>
        <p:spPr>
          <a:xfrm>
            <a:off x="7112000" y="3619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优化目标</a:t>
            </a:r>
            <a:endParaRPr lang="en-US" sz="1100"/>
          </a:p>
        </p:txBody>
      </p:sp>
      <p:sp>
        <p:nvSpPr>
          <p:cNvPr id="18" name="AutoShape 18"/>
          <p:cNvSpPr/>
          <p:nvPr/>
        </p:nvSpPr>
        <p:spPr>
          <a:xfrm>
            <a:off x="7112000" y="4064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使每个文本块成为一个有意义的信息单元，最大化提升检索的相关性和效率。</a:t>
            </a:r>
            <a:endParaRPr lang="en-US" sz="1100"/>
          </a:p>
        </p:txBody>
      </p:sp>
      <p:sp>
        <p:nvSpPr>
          <p:cNvPr id="19" name="AutoShape 19"/>
          <p:cNvSpPr/>
          <p:nvPr/>
        </p:nvSpPr>
        <p:spPr>
          <a:xfrm>
            <a:off x="762000" y="5588000"/>
            <a:ext cx="10668000" cy="25400"/>
          </a:xfrm>
          <a:prstGeom prst="roundRect">
            <a:avLst>
              <a:gd name="adj" fmla="val 0"/>
            </a:avLst>
          </a:prstGeom>
          <a:solidFill>
            <a:srgbClr val="0288D1">
              <a:alpha val="3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62000" y="5715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核心价值：将碎片化信息转化为结构化知识单元</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优化策略：Embedding优化</a:t>
            </a:r>
            <a:endParaRPr lang="en-US" sz="1100"/>
          </a:p>
        </p:txBody>
      </p:sp>
      <p:sp>
        <p:nvSpPr>
          <p:cNvPr id="3" name="AutoShape 3"/>
          <p:cNvSpPr/>
          <p:nvPr/>
        </p:nvSpPr>
        <p:spPr>
          <a:xfrm>
            <a:off x="762000" y="1524000"/>
            <a:ext cx="5207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508000" cy="508000"/>
          </a:xfrm>
          <a:prstGeom prst="rect">
            <a:avLst/>
          </a:prstGeom>
        </p:spPr>
      </p:pic>
      <p:sp>
        <p:nvSpPr>
          <p:cNvPr id="5" name="AutoShape 5"/>
          <p:cNvSpPr/>
          <p:nvPr/>
        </p:nvSpPr>
        <p:spPr>
          <a:xfrm>
            <a:off x="1651000" y="1714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模型选择</a:t>
            </a:r>
            <a:endParaRPr lang="en-US" sz="1100"/>
          </a:p>
        </p:txBody>
      </p:sp>
      <p:sp>
        <p:nvSpPr>
          <p:cNvPr id="6" name="AutoShape 6"/>
          <p:cNvSpPr/>
          <p:nvPr/>
        </p:nvSpPr>
        <p:spPr>
          <a:xfrm>
            <a:off x="1651000" y="2159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根据具体任务和领域，选择更合适的预训练嵌入模型，确保模型能力与业务场景匹配。</a:t>
            </a:r>
            <a:endParaRPr lang="en-US" sz="1100"/>
          </a:p>
        </p:txBody>
      </p:sp>
      <p:sp>
        <p:nvSpPr>
          <p:cNvPr id="7" name="AutoShape 7"/>
          <p:cNvSpPr/>
          <p:nvPr/>
        </p:nvSpPr>
        <p:spPr>
          <a:xfrm>
            <a:off x="6223000" y="1524000"/>
            <a:ext cx="5207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778000"/>
            <a:ext cx="508000" cy="508000"/>
          </a:xfrm>
          <a:prstGeom prst="rect">
            <a:avLst/>
          </a:prstGeom>
        </p:spPr>
      </p:pic>
      <p:sp>
        <p:nvSpPr>
          <p:cNvPr id="9" name="AutoShape 9"/>
          <p:cNvSpPr/>
          <p:nvPr/>
        </p:nvSpPr>
        <p:spPr>
          <a:xfrm>
            <a:off x="7112000" y="1714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模型微调</a:t>
            </a:r>
            <a:endParaRPr lang="en-US" sz="1100"/>
          </a:p>
        </p:txBody>
      </p:sp>
      <p:sp>
        <p:nvSpPr>
          <p:cNvPr id="10" name="AutoShape 10"/>
          <p:cNvSpPr/>
          <p:nvPr/>
        </p:nvSpPr>
        <p:spPr>
          <a:xfrm>
            <a:off x="7112000" y="2159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使用领域内的特定数据对嵌入模型进行微调，使其更适应特定场景的语义表示，提升相关性。</a:t>
            </a:r>
            <a:endParaRPr lang="en-US" sz="1100"/>
          </a:p>
        </p:txBody>
      </p:sp>
      <p:sp>
        <p:nvSpPr>
          <p:cNvPr id="11" name="AutoShape 11"/>
          <p:cNvSpPr/>
          <p:nvPr/>
        </p:nvSpPr>
        <p:spPr>
          <a:xfrm>
            <a:off x="762000" y="3429000"/>
            <a:ext cx="5207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683000"/>
            <a:ext cx="508000" cy="508000"/>
          </a:xfrm>
          <a:prstGeom prst="rect">
            <a:avLst/>
          </a:prstGeom>
        </p:spPr>
      </p:pic>
      <p:sp>
        <p:nvSpPr>
          <p:cNvPr id="13" name="AutoShape 13"/>
          <p:cNvSpPr/>
          <p:nvPr/>
        </p:nvSpPr>
        <p:spPr>
          <a:xfrm>
            <a:off x="1651000" y="3619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多粒度嵌入</a:t>
            </a:r>
            <a:endParaRPr lang="en-US" sz="1100"/>
          </a:p>
        </p:txBody>
      </p:sp>
      <p:sp>
        <p:nvSpPr>
          <p:cNvPr id="14" name="AutoShape 14"/>
          <p:cNvSpPr/>
          <p:nvPr/>
        </p:nvSpPr>
        <p:spPr>
          <a:xfrm>
            <a:off x="1651000" y="4064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尝试不同粒度的嵌入（如词、句子、段落），并选择效果最佳的方案，适应不同检索需求。</a:t>
            </a:r>
            <a:endParaRPr lang="en-US" sz="1100"/>
          </a:p>
        </p:txBody>
      </p:sp>
      <p:sp>
        <p:nvSpPr>
          <p:cNvPr id="15" name="AutoShape 15"/>
          <p:cNvSpPr/>
          <p:nvPr/>
        </p:nvSpPr>
        <p:spPr>
          <a:xfrm>
            <a:off x="6223000" y="3429000"/>
            <a:ext cx="5207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683000"/>
            <a:ext cx="508000" cy="508000"/>
          </a:xfrm>
          <a:prstGeom prst="rect">
            <a:avLst/>
          </a:prstGeom>
        </p:spPr>
      </p:pic>
      <p:sp>
        <p:nvSpPr>
          <p:cNvPr id="17" name="AutoShape 17"/>
          <p:cNvSpPr/>
          <p:nvPr/>
        </p:nvSpPr>
        <p:spPr>
          <a:xfrm>
            <a:off x="7112000" y="3619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优化目标</a:t>
            </a:r>
            <a:endParaRPr lang="en-US" sz="1100"/>
          </a:p>
        </p:txBody>
      </p:sp>
      <p:sp>
        <p:nvSpPr>
          <p:cNvPr id="18" name="AutoShape 18"/>
          <p:cNvSpPr/>
          <p:nvPr/>
        </p:nvSpPr>
        <p:spPr>
          <a:xfrm>
            <a:off x="7112000" y="4064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a:solidFill>
                  <a:srgbClr val="757575"/>
                </a:solidFill>
                <a:latin typeface="Noto Sans SC"/>
                <a:ea typeface="Noto Sans SC"/>
                <a:cs typeface="Noto Sans SC"/>
                <a:sym typeface="Noto Sans SC"/>
              </a:rPr>
              <a:t>提升向量表示的质量，使语义相似的文本在向量空间中距离更近，从而提高检索准确性。</a:t>
            </a:r>
            <a:endParaRPr lang="en-US" sz="1100"/>
          </a:p>
        </p:txBody>
      </p:sp>
      <p:sp>
        <p:nvSpPr>
          <p:cNvPr id="19" name="AutoShape 19"/>
          <p:cNvSpPr/>
          <p:nvPr/>
        </p:nvSpPr>
        <p:spPr>
          <a:xfrm>
            <a:off x="762000" y="5461000"/>
            <a:ext cx="10668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62000" y="56515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通过精细化的 Embedding 优化，构建更精准的语义检索体系</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0288D1"/>
                </a:solidFill>
                <a:latin typeface="Noto Sans SC"/>
                <a:ea typeface="Noto Sans SC"/>
                <a:cs typeface="Noto Sans SC"/>
                <a:sym typeface="Noto Sans SC"/>
              </a:rPr>
              <a:t>优化策略：Rewrite与Rerank</a:t>
            </a:r>
            <a:endParaRPr lang="en-US" sz="1100"/>
          </a:p>
        </p:txBody>
      </p:sp>
      <p:sp>
        <p:nvSpPr>
          <p:cNvPr id="3" name="AutoShape 3"/>
          <p:cNvSpPr/>
          <p:nvPr/>
        </p:nvSpPr>
        <p:spPr>
          <a:xfrm>
            <a:off x="762000" y="1524000"/>
            <a:ext cx="5080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508000" cy="508000"/>
          </a:xfrm>
          <a:prstGeom prst="rect">
            <a:avLst/>
          </a:prstGeom>
        </p:spPr>
      </p:pic>
      <p:sp>
        <p:nvSpPr>
          <p:cNvPr id="5" name="AutoShape 5"/>
          <p:cNvSpPr/>
          <p:nvPr/>
        </p:nvSpPr>
        <p:spPr>
          <a:xfrm>
            <a:off x="1651000" y="1727200"/>
            <a:ext cx="3937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0288D1"/>
                </a:solidFill>
                <a:latin typeface="Noto Sans SC"/>
                <a:ea typeface="Noto Sans SC"/>
                <a:cs typeface="Noto Sans SC"/>
                <a:sym typeface="Noto Sans SC"/>
              </a:rPr>
              <a:t>Rewrite (查询重写)</a:t>
            </a:r>
            <a:endParaRPr lang="en-US" sz="1100"/>
          </a:p>
        </p:txBody>
      </p:sp>
      <p:sp>
        <p:nvSpPr>
          <p:cNvPr id="6" name="AutoShape 6"/>
          <p:cNvSpPr/>
          <p:nvPr/>
        </p:nvSpPr>
        <p:spPr>
          <a:xfrm>
            <a:off x="1016000" y="2413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a:solidFill>
                  <a:srgbClr val="757575"/>
                </a:solidFill>
                <a:latin typeface="Noto Sans SC"/>
                <a:ea typeface="Noto Sans SC"/>
                <a:cs typeface="Noto Sans SC"/>
                <a:sym typeface="Noto Sans SC"/>
              </a:rPr>
              <a:t>目的：</a:t>
            </a:r>
            <a:r>
              <a:rPr lang="en-US" sz="1800" b="0" i="0" u="none" strike="noStrike">
                <a:solidFill>
                  <a:srgbClr val="757575"/>
                </a:solidFill>
                <a:latin typeface="Noto Sans SC"/>
                <a:ea typeface="Noto Sans SC"/>
                <a:cs typeface="Noto Sans SC"/>
                <a:sym typeface="Noto Sans SC"/>
              </a:rPr>
              <a:t>优化用户的原始查询，使其更清晰、更易于被检索系统理解。</a:t>
            </a:r>
            <a:endParaRPr lang="en-US" sz="1100"/>
          </a:p>
        </p:txBody>
      </p:sp>
      <p:sp>
        <p:nvSpPr>
          <p:cNvPr id="7" name="AutoShape 7"/>
          <p:cNvSpPr/>
          <p:nvPr/>
        </p:nvSpPr>
        <p:spPr>
          <a:xfrm>
            <a:off x="1016000" y="3302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a:solidFill>
                  <a:srgbClr val="757575"/>
                </a:solidFill>
                <a:latin typeface="Noto Sans SC"/>
                <a:ea typeface="Noto Sans SC"/>
                <a:cs typeface="Noto Sans SC"/>
                <a:sym typeface="Noto Sans SC"/>
              </a:rPr>
              <a:t>方法：</a:t>
            </a:r>
            <a:r>
              <a:rPr lang="en-US" sz="1800" b="0" i="0" u="none" strike="noStrike">
                <a:solidFill>
                  <a:srgbClr val="757575"/>
                </a:solidFill>
                <a:latin typeface="Noto Sans SC"/>
                <a:ea typeface="Noto Sans SC"/>
                <a:cs typeface="Noto Sans SC"/>
                <a:sym typeface="Noto Sans SC"/>
              </a:rPr>
              <a:t>使用LLM对用户问题进行改写、扩写或纠错。</a:t>
            </a:r>
            <a:endParaRPr lang="en-US" sz="1100"/>
          </a:p>
        </p:txBody>
      </p:sp>
      <p:sp>
        <p:nvSpPr>
          <p:cNvPr id="8" name="AutoShape 8"/>
          <p:cNvSpPr/>
          <p:nvPr/>
        </p:nvSpPr>
        <p:spPr>
          <a:xfrm>
            <a:off x="6350000" y="1524000"/>
            <a:ext cx="50800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778000"/>
            <a:ext cx="508000" cy="508000"/>
          </a:xfrm>
          <a:prstGeom prst="rect">
            <a:avLst/>
          </a:prstGeom>
        </p:spPr>
      </p:pic>
      <p:sp>
        <p:nvSpPr>
          <p:cNvPr id="10" name="AutoShape 10"/>
          <p:cNvSpPr/>
          <p:nvPr/>
        </p:nvSpPr>
        <p:spPr>
          <a:xfrm>
            <a:off x="7239000" y="1727200"/>
            <a:ext cx="3937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0288D1"/>
                </a:solidFill>
                <a:latin typeface="Noto Sans SC"/>
                <a:ea typeface="Noto Sans SC"/>
                <a:cs typeface="Noto Sans SC"/>
                <a:sym typeface="Noto Sans SC"/>
              </a:rPr>
              <a:t>Rerank (重排序)</a:t>
            </a:r>
            <a:endParaRPr lang="en-US" sz="1100"/>
          </a:p>
        </p:txBody>
      </p:sp>
      <p:sp>
        <p:nvSpPr>
          <p:cNvPr id="11" name="AutoShape 11"/>
          <p:cNvSpPr/>
          <p:nvPr/>
        </p:nvSpPr>
        <p:spPr>
          <a:xfrm>
            <a:off x="6604000" y="2413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a:solidFill>
                  <a:srgbClr val="757575"/>
                </a:solidFill>
                <a:latin typeface="Noto Sans SC"/>
                <a:ea typeface="Noto Sans SC"/>
                <a:cs typeface="Noto Sans SC"/>
                <a:sym typeface="Noto Sans SC"/>
              </a:rPr>
              <a:t>目的：</a:t>
            </a:r>
            <a:r>
              <a:rPr lang="en-US" sz="1800" b="0" i="0" u="none" strike="noStrike">
                <a:solidFill>
                  <a:srgbClr val="757575"/>
                </a:solidFill>
                <a:latin typeface="Noto Sans SC"/>
                <a:ea typeface="Noto Sans SC"/>
                <a:cs typeface="Noto Sans SC"/>
                <a:sym typeface="Noto Sans SC"/>
              </a:rPr>
              <a:t>对初步检索出的结果进行重新排序，提升最相关结果的排名。</a:t>
            </a:r>
            <a:endParaRPr lang="en-US" sz="1100"/>
          </a:p>
        </p:txBody>
      </p:sp>
      <p:sp>
        <p:nvSpPr>
          <p:cNvPr id="12" name="AutoShape 12"/>
          <p:cNvSpPr/>
          <p:nvPr/>
        </p:nvSpPr>
        <p:spPr>
          <a:xfrm>
            <a:off x="6604000" y="3302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a:solidFill>
                  <a:srgbClr val="757575"/>
                </a:solidFill>
                <a:latin typeface="Noto Sans SC"/>
                <a:ea typeface="Noto Sans SC"/>
                <a:cs typeface="Noto Sans SC"/>
                <a:sym typeface="Noto Sans SC"/>
              </a:rPr>
              <a:t>方法：</a:t>
            </a:r>
            <a:r>
              <a:rPr lang="en-US" sz="1800" b="0" i="0" u="none" strike="noStrike">
                <a:solidFill>
                  <a:srgbClr val="757575"/>
                </a:solidFill>
                <a:latin typeface="Noto Sans SC"/>
                <a:ea typeface="Noto Sans SC"/>
                <a:cs typeface="Noto Sans SC"/>
                <a:sym typeface="Noto Sans SC"/>
              </a:rPr>
              <a:t>使用专门的重排序模型（如Cross-Encoder）对检索结果进行精排。</a:t>
            </a:r>
            <a:endParaRPr lang="en-US" sz="1100"/>
          </a:p>
        </p:txBody>
      </p:sp>
      <p:sp>
        <p:nvSpPr>
          <p:cNvPr id="13" name="AutoShape 13"/>
          <p:cNvSpPr/>
          <p:nvPr/>
        </p:nvSpPr>
        <p:spPr>
          <a:xfrm>
            <a:off x="762000" y="5207000"/>
            <a:ext cx="10668000" cy="1016000"/>
          </a:xfrm>
          <a:prstGeom prst="roundRect">
            <a:avLst>
              <a:gd name="adj" fmla="val 12500"/>
            </a:avLst>
          </a:prstGeom>
          <a:solidFill>
            <a:srgbClr val="0288D1">
              <a:alpha val="1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461000"/>
            <a:ext cx="508000" cy="508000"/>
          </a:xfrm>
          <a:prstGeom prst="rect">
            <a:avLst/>
          </a:prstGeom>
        </p:spPr>
      </p:pic>
      <p:sp>
        <p:nvSpPr>
          <p:cNvPr id="15" name="AutoShape 15"/>
          <p:cNvSpPr/>
          <p:nvPr/>
        </p:nvSpPr>
        <p:spPr>
          <a:xfrm>
            <a:off x="1651000" y="5207000"/>
            <a:ext cx="9525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核心价值：</a:t>
            </a:r>
            <a:r>
              <a:rPr lang="en-US" sz="1800" b="0" i="0" u="none" strike="noStrike">
                <a:solidFill>
                  <a:srgbClr val="757575"/>
                </a:solidFill>
                <a:latin typeface="Noto Sans SC"/>
                <a:ea typeface="Noto Sans SC"/>
                <a:cs typeface="Noto Sans SC"/>
                <a:sym typeface="Noto Sans SC"/>
              </a:rPr>
              <a:t>通过 Rewrite 提升输入质量，通过 Rerank 提升输出精度，两者结合显著优化检索体验。</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064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优化策略：混合检索</a:t>
            </a:r>
            <a:endParaRPr lang="en-US" sz="1100"/>
          </a:p>
        </p:txBody>
      </p:sp>
      <p:sp>
        <p:nvSpPr>
          <p:cNvPr id="3" name="AutoShape 3"/>
          <p:cNvSpPr/>
          <p:nvPr/>
        </p:nvSpPr>
        <p:spPr>
          <a:xfrm>
            <a:off x="762000" y="1397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609600" cy="609600"/>
          </a:xfrm>
          <a:prstGeom prst="rect">
            <a:avLst/>
          </a:prstGeom>
        </p:spPr>
      </p:pic>
      <p:sp>
        <p:nvSpPr>
          <p:cNvPr id="5" name="AutoShape 5"/>
          <p:cNvSpPr/>
          <p:nvPr/>
        </p:nvSpPr>
        <p:spPr>
          <a:xfrm>
            <a:off x="1778000" y="1524000"/>
            <a:ext cx="939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核心思想：优势互补</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结合关键词检索（如BM25）和向量检索的优势，解决单一检索方式的局限性。</a:t>
            </a:r>
            <a:endParaRPr lang="en-US" sz="1600" b="0" i="0" u="none" strike="noStrike">
              <a:solidFill>
                <a:srgbClr val="757575"/>
              </a:solidFill>
              <a:latin typeface="Noto Sans SC"/>
              <a:ea typeface="Noto Sans SC"/>
              <a:cs typeface="Noto Sans SC"/>
              <a:sym typeface="Noto Sans SC"/>
            </a:endParaRPr>
          </a:p>
        </p:txBody>
      </p:sp>
      <p:sp>
        <p:nvSpPr>
          <p:cNvPr id="6" name="AutoShape 6"/>
          <p:cNvSpPr/>
          <p:nvPr/>
        </p:nvSpPr>
        <p:spPr>
          <a:xfrm>
            <a:off x="762000" y="27305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984500"/>
            <a:ext cx="609600" cy="609600"/>
          </a:xfrm>
          <a:prstGeom prst="rect">
            <a:avLst/>
          </a:prstGeom>
        </p:spPr>
      </p:pic>
      <p:sp>
        <p:nvSpPr>
          <p:cNvPr id="8" name="AutoShape 8"/>
          <p:cNvSpPr/>
          <p:nvPr/>
        </p:nvSpPr>
        <p:spPr>
          <a:xfrm>
            <a:off x="1778000" y="2857500"/>
            <a:ext cx="939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关键词检索优势：高召回率</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利用精确匹配，能快速找到包含特定关键词的文档，确保不漏掉重要信息。</a:t>
            </a:r>
            <a:endParaRPr lang="en-US" sz="16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762000" y="4064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318000"/>
            <a:ext cx="609600" cy="609600"/>
          </a:xfrm>
          <a:prstGeom prst="rect">
            <a:avLst/>
          </a:prstGeom>
        </p:spPr>
      </p:pic>
      <p:sp>
        <p:nvSpPr>
          <p:cNvPr id="11" name="AutoShape 11"/>
          <p:cNvSpPr/>
          <p:nvPr/>
        </p:nvSpPr>
        <p:spPr>
          <a:xfrm>
            <a:off x="1778000" y="4191000"/>
            <a:ext cx="939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向量检索优势：语义理解</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基于深度学习理解语义，能找到内容相似但关键词不同的文档，提升搜索相关性。</a:t>
            </a:r>
            <a:endParaRPr lang="en-US" sz="16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762000" y="53975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651500"/>
            <a:ext cx="609600" cy="609600"/>
          </a:xfrm>
          <a:prstGeom prst="rect">
            <a:avLst/>
          </a:prstGeom>
        </p:spPr>
      </p:pic>
      <p:sp>
        <p:nvSpPr>
          <p:cNvPr id="14" name="AutoShape 14"/>
          <p:cNvSpPr/>
          <p:nvPr/>
        </p:nvSpPr>
        <p:spPr>
          <a:xfrm>
            <a:off x="1778000" y="5524500"/>
            <a:ext cx="939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实现方式：合并重排</a:t>
            </a:r>
            <a:endParaRPr lang="en-US" sz="1100"/>
          </a:p>
          <a:p>
            <a:pPr indent="0" algn="l">
              <a:lnSpc>
                <a:spcPct val="125000"/>
              </a:lnSpc>
            </a:pPr>
            <a:r>
              <a:rPr lang="en-US" sz="1600" b="0" i="0" u="none" strike="noStrike">
                <a:solidFill>
                  <a:srgbClr val="757575"/>
                </a:solidFill>
                <a:latin typeface="Noto Sans SC"/>
                <a:ea typeface="Noto Sans SC"/>
                <a:cs typeface="Noto Sans SC"/>
                <a:sym typeface="Noto Sans SC"/>
              </a:rPr>
              <a:t>分别执行两种检索，合并结果集，通过重排序算法（如Reciprocal Rank Fusion）整合，兼顾召回率和精确率。</a:t>
            </a:r>
            <a:endParaRPr lang="en-US" sz="16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556000" y="889000"/>
            <a:ext cx="5080000" cy="5080000"/>
          </a:xfrm>
          <a:prstGeom prst="ellipse">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651000"/>
            <a:ext cx="812800" cy="812800"/>
          </a:xfrm>
          <a:prstGeom prst="rect">
            <a:avLst/>
          </a:prstGeom>
        </p:spPr>
      </p:pic>
      <p:sp>
        <p:nvSpPr>
          <p:cNvPr id="4" name="AutoShape 4"/>
          <p:cNvSpPr/>
          <p:nvPr/>
        </p:nvSpPr>
        <p:spPr>
          <a:xfrm>
            <a:off x="2070100" y="2667000"/>
            <a:ext cx="80518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0288D1"/>
                </a:solidFill>
                <a:latin typeface="Noto Sans SC"/>
                <a:ea typeface="Noto Sans SC"/>
                <a:cs typeface="Noto Sans SC"/>
                <a:sym typeface="Noto Sans SC"/>
              </a:rPr>
              <a:t>14.3 数字人直播间互动问答项目实战</a:t>
            </a:r>
            <a:endParaRPr lang="en-US" sz="1100"/>
          </a:p>
        </p:txBody>
      </p:sp>
      <p:sp>
        <p:nvSpPr>
          <p:cNvPr id="5" name="AutoShape 5"/>
          <p:cNvSpPr/>
          <p:nvPr/>
        </p:nvSpPr>
        <p:spPr>
          <a:xfrm>
            <a:off x="1016000" y="3429000"/>
            <a:ext cx="1016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理论结合实践 · RAG技术应用落地 · 真实场景模拟</a:t>
            </a:r>
            <a:endParaRPr lang="en-US" sz="1100"/>
          </a:p>
        </p:txBody>
      </p:sp>
      <p:sp>
        <p:nvSpPr>
          <p:cNvPr id="6" name="AutoShape 6"/>
          <p:cNvSpPr/>
          <p:nvPr/>
        </p:nvSpPr>
        <p:spPr>
          <a:xfrm>
            <a:off x="5715000" y="4191000"/>
            <a:ext cx="762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0" y="609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57575">
                    <a:alpha val="80000"/>
                  </a:srgbClr>
                </a:solidFill>
                <a:latin typeface="Noto Sans SC"/>
                <a:ea typeface="Noto Sans SC"/>
                <a:cs typeface="Noto Sans SC"/>
                <a:sym typeface="Noto Sans SC"/>
              </a:rPr>
              <a:t>CHAPTER 14 · PRACTICAL TRAINING</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006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项目简介</a:t>
            </a:r>
            <a:endParaRPr lang="en-US" sz="1100"/>
          </a:p>
        </p:txBody>
      </p:sp>
      <p:sp>
        <p:nvSpPr>
          <p:cNvPr id="3" name="AutoShape 3"/>
          <p:cNvSpPr/>
          <p:nvPr/>
        </p:nvSpPr>
        <p:spPr>
          <a:xfrm>
            <a:off x="762000" y="1397000"/>
            <a:ext cx="5080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项目背景</a:t>
            </a:r>
            <a:endParaRPr lang="en-US" sz="1100"/>
          </a:p>
        </p:txBody>
      </p:sp>
      <p:sp>
        <p:nvSpPr>
          <p:cNvPr id="6" name="AutoShape 6"/>
          <p:cNvSpPr/>
          <p:nvPr/>
        </p:nvSpPr>
        <p:spPr>
          <a:xfrm>
            <a:off x="1016000" y="2095500"/>
            <a:ext cx="4572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AI技术推动数字人直播发展，功能从产品讲解向智能互动问答演进。</a:t>
            </a:r>
            <a:endParaRPr lang="en-US" sz="1100"/>
          </a:p>
        </p:txBody>
      </p:sp>
      <p:sp>
        <p:nvSpPr>
          <p:cNvPr id="7" name="AutoShape 7"/>
          <p:cNvSpPr/>
          <p:nvPr/>
        </p:nvSpPr>
        <p:spPr>
          <a:xfrm>
            <a:off x="6350000" y="1397000"/>
            <a:ext cx="5080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651000"/>
            <a:ext cx="406400" cy="406400"/>
          </a:xfrm>
          <a:prstGeom prst="rect">
            <a:avLst/>
          </a:prstGeom>
        </p:spPr>
      </p:pic>
      <p:sp>
        <p:nvSpPr>
          <p:cNvPr id="9" name="AutoShape 9"/>
          <p:cNvSpPr/>
          <p:nvPr/>
        </p:nvSpPr>
        <p:spPr>
          <a:xfrm>
            <a:off x="7112000" y="1600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项目目标</a:t>
            </a:r>
            <a:endParaRPr lang="en-US" sz="1100"/>
          </a:p>
        </p:txBody>
      </p:sp>
      <p:sp>
        <p:nvSpPr>
          <p:cNvPr id="10" name="AutoShape 10"/>
          <p:cNvSpPr/>
          <p:nvPr/>
        </p:nvSpPr>
        <p:spPr>
          <a:xfrm>
            <a:off x="6604000" y="2095500"/>
            <a:ext cx="4572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构建一个能在直播间与用户进行智能互动问答的数字人系统。</a:t>
            </a:r>
            <a:endParaRPr lang="en-US" sz="1100"/>
          </a:p>
        </p:txBody>
      </p:sp>
      <p:sp>
        <p:nvSpPr>
          <p:cNvPr id="11" name="AutoShape 11"/>
          <p:cNvSpPr/>
          <p:nvPr/>
        </p:nvSpPr>
        <p:spPr>
          <a:xfrm>
            <a:off x="762000" y="3937000"/>
            <a:ext cx="5080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191000"/>
            <a:ext cx="406400" cy="406400"/>
          </a:xfrm>
          <a:prstGeom prst="rect">
            <a:avLst/>
          </a:prstGeom>
        </p:spPr>
      </p:pic>
      <p:sp>
        <p:nvSpPr>
          <p:cNvPr id="13" name="AutoShape 13"/>
          <p:cNvSpPr/>
          <p:nvPr/>
        </p:nvSpPr>
        <p:spPr>
          <a:xfrm>
            <a:off x="1524000" y="4140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核心技术</a:t>
            </a:r>
            <a:endParaRPr lang="en-US" sz="1100"/>
          </a:p>
        </p:txBody>
      </p:sp>
      <p:sp>
        <p:nvSpPr>
          <p:cNvPr id="14" name="AutoShape 14"/>
          <p:cNvSpPr/>
          <p:nvPr/>
        </p:nvSpPr>
        <p:spPr>
          <a:xfrm>
            <a:off x="1016000" y="4635500"/>
            <a:ext cx="4572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基于RAG技术构建问答知识库，结合大语言模型生成自然的互动台词。</a:t>
            </a:r>
            <a:endParaRPr lang="en-US" sz="1100"/>
          </a:p>
        </p:txBody>
      </p:sp>
      <p:sp>
        <p:nvSpPr>
          <p:cNvPr id="15" name="AutoShape 15"/>
          <p:cNvSpPr/>
          <p:nvPr/>
        </p:nvSpPr>
        <p:spPr>
          <a:xfrm>
            <a:off x="6350000" y="3937000"/>
            <a:ext cx="5080000" cy="2286000"/>
          </a:xfrm>
          <a:prstGeom prst="roundRect">
            <a:avLst>
              <a:gd name="adj" fmla="val 5555"/>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4191000"/>
            <a:ext cx="406400" cy="406400"/>
          </a:xfrm>
          <a:prstGeom prst="rect">
            <a:avLst/>
          </a:prstGeom>
        </p:spPr>
      </p:pic>
      <p:sp>
        <p:nvSpPr>
          <p:cNvPr id="17" name="AutoShape 17"/>
          <p:cNvSpPr/>
          <p:nvPr/>
        </p:nvSpPr>
        <p:spPr>
          <a:xfrm>
            <a:off x="7112000" y="4140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项目意义</a:t>
            </a:r>
            <a:endParaRPr lang="en-US" sz="1100"/>
          </a:p>
        </p:txBody>
      </p:sp>
      <p:sp>
        <p:nvSpPr>
          <p:cNvPr id="18" name="AutoShape 18"/>
          <p:cNvSpPr/>
          <p:nvPr/>
        </p:nvSpPr>
        <p:spPr>
          <a:xfrm>
            <a:off x="6604000" y="4635500"/>
            <a:ext cx="4572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提升用户参与感和直播效果，推动直播技术向智能化、个性化发展。</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013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发展现状与挑战</a:t>
            </a:r>
            <a:endParaRPr lang="en-US" sz="1100"/>
          </a:p>
        </p:txBody>
      </p:sp>
      <p:sp>
        <p:nvSpPr>
          <p:cNvPr id="3" name="AutoShape 3"/>
          <p:cNvSpPr/>
          <p:nvPr/>
        </p:nvSpPr>
        <p:spPr>
          <a:xfrm>
            <a:off x="762000" y="1397000"/>
            <a:ext cx="5080000" cy="3810000"/>
          </a:xfrm>
          <a:prstGeom prst="roundRect">
            <a:avLst>
              <a:gd name="adj" fmla="val 3333"/>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55600" cy="355600"/>
          </a:xfrm>
          <a:prstGeom prst="rect">
            <a:avLst/>
          </a:prstGeom>
        </p:spPr>
      </p:pic>
      <p:sp>
        <p:nvSpPr>
          <p:cNvPr id="5" name="AutoShape 5"/>
          <p:cNvSpPr/>
          <p:nvPr/>
        </p:nvSpPr>
        <p:spPr>
          <a:xfrm>
            <a:off x="1473200" y="16002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88D1"/>
                </a:solidFill>
                <a:latin typeface="Noto Sans SC"/>
                <a:ea typeface="Noto Sans SC"/>
                <a:cs typeface="Noto Sans SC"/>
                <a:sym typeface="Noto Sans SC"/>
              </a:rPr>
              <a:t>发展现状</a:t>
            </a:r>
            <a:endParaRPr lang="en-US" sz="1100"/>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286000"/>
            <a:ext cx="254000" cy="254000"/>
          </a:xfrm>
          <a:prstGeom prst="rect">
            <a:avLst/>
          </a:prstGeom>
        </p:spPr>
      </p:pic>
      <p:sp>
        <p:nvSpPr>
          <p:cNvPr id="7" name="AutoShape 7"/>
          <p:cNvSpPr/>
          <p:nvPr/>
        </p:nvSpPr>
        <p:spPr>
          <a:xfrm>
            <a:off x="1397000" y="22352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数字人形象和语音合成技术日趋成熟，表现力丰富。</a:t>
            </a:r>
            <a:endParaRPr lang="en-US" sz="1100"/>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048000"/>
            <a:ext cx="254000" cy="254000"/>
          </a:xfrm>
          <a:prstGeom prst="rect">
            <a:avLst/>
          </a:prstGeom>
        </p:spPr>
      </p:pic>
      <p:sp>
        <p:nvSpPr>
          <p:cNvPr id="9" name="AutoShape 9"/>
          <p:cNvSpPr/>
          <p:nvPr/>
        </p:nvSpPr>
        <p:spPr>
          <a:xfrm>
            <a:off x="1397000" y="29972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互动功能从简单预设问答向基于知识库的智能问答发展。</a:t>
            </a:r>
            <a:endParaRPr lang="en-US" sz="1100"/>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810000"/>
            <a:ext cx="254000" cy="254000"/>
          </a:xfrm>
          <a:prstGeom prst="rect">
            <a:avLst/>
          </a:prstGeom>
        </p:spPr>
      </p:pic>
      <p:sp>
        <p:nvSpPr>
          <p:cNvPr id="11" name="AutoShape 11"/>
          <p:cNvSpPr/>
          <p:nvPr/>
        </p:nvSpPr>
        <p:spPr>
          <a:xfrm>
            <a:off x="1397000" y="37592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应用场景不断拓展，涵盖电商、教育、娱乐等多个领域。</a:t>
            </a:r>
            <a:endParaRPr lang="en-US" sz="1100"/>
          </a:p>
        </p:txBody>
      </p:sp>
      <p:sp>
        <p:nvSpPr>
          <p:cNvPr id="12" name="AutoShape 12"/>
          <p:cNvSpPr/>
          <p:nvPr/>
        </p:nvSpPr>
        <p:spPr>
          <a:xfrm>
            <a:off x="6350000" y="1397000"/>
            <a:ext cx="5080000" cy="3810000"/>
          </a:xfrm>
          <a:prstGeom prst="roundRect">
            <a:avLst>
              <a:gd name="adj" fmla="val 3333"/>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1651000"/>
            <a:ext cx="355600" cy="355600"/>
          </a:xfrm>
          <a:prstGeom prst="rect">
            <a:avLst/>
          </a:prstGeom>
        </p:spPr>
      </p:pic>
      <p:sp>
        <p:nvSpPr>
          <p:cNvPr id="14" name="AutoShape 14"/>
          <p:cNvSpPr/>
          <p:nvPr/>
        </p:nvSpPr>
        <p:spPr>
          <a:xfrm>
            <a:off x="7061200" y="16002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88D1"/>
                </a:solidFill>
                <a:latin typeface="Noto Sans SC"/>
                <a:ea typeface="Noto Sans SC"/>
                <a:cs typeface="Noto Sans SC"/>
                <a:sym typeface="Noto Sans SC"/>
              </a:rPr>
              <a:t>面临挑战</a:t>
            </a:r>
            <a:endParaRPr lang="en-US" sz="1100"/>
          </a:p>
        </p:txBody>
      </p:sp>
      <p:pic>
        <p:nvPicPr>
          <p:cNvPr id="15" name="Picture 1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2286000"/>
            <a:ext cx="254000" cy="254000"/>
          </a:xfrm>
          <a:prstGeom prst="rect">
            <a:avLst/>
          </a:prstGeom>
        </p:spPr>
      </p:pic>
      <p:sp>
        <p:nvSpPr>
          <p:cNvPr id="16" name="AutoShape 16"/>
          <p:cNvSpPr/>
          <p:nvPr/>
        </p:nvSpPr>
        <p:spPr>
          <a:xfrm>
            <a:off x="6985000" y="22352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回答准确性：</a:t>
            </a:r>
            <a:r>
              <a:rPr lang="en-US" sz="1800" b="0" i="0" u="none" strike="noStrike">
                <a:solidFill>
                  <a:srgbClr val="757575"/>
                </a:solidFill>
                <a:latin typeface="Noto Sans SC"/>
                <a:ea typeface="Noto Sans SC"/>
                <a:cs typeface="Noto Sans SC"/>
                <a:sym typeface="Noto Sans SC"/>
              </a:rPr>
              <a:t>确保回答准确专业，避免“幻觉”。</a:t>
            </a:r>
            <a:endParaRPr lang="en-US" sz="1100"/>
          </a:p>
        </p:txBody>
      </p:sp>
      <p:pic>
        <p:nvPicPr>
          <p:cNvPr id="17" name="Picture 17"/>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04000" y="3048000"/>
            <a:ext cx="254000" cy="254000"/>
          </a:xfrm>
          <a:prstGeom prst="rect">
            <a:avLst/>
          </a:prstGeom>
        </p:spPr>
      </p:pic>
      <p:sp>
        <p:nvSpPr>
          <p:cNvPr id="18" name="AutoShape 18"/>
          <p:cNvSpPr/>
          <p:nvPr/>
        </p:nvSpPr>
        <p:spPr>
          <a:xfrm>
            <a:off x="6985000" y="29972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实时性：</a:t>
            </a:r>
            <a:r>
              <a:rPr lang="en-US" sz="1800" b="0" i="0" u="none" strike="noStrike">
                <a:solidFill>
                  <a:srgbClr val="757575"/>
                </a:solidFill>
                <a:latin typeface="Noto Sans SC"/>
                <a:ea typeface="Noto Sans SC"/>
                <a:cs typeface="Noto Sans SC"/>
                <a:sym typeface="Noto Sans SC"/>
              </a:rPr>
              <a:t>在直播高并发场景下保证快速响应。</a:t>
            </a:r>
            <a:endParaRPr lang="en-US" sz="1100"/>
          </a:p>
        </p:txBody>
      </p:sp>
      <p:pic>
        <p:nvPicPr>
          <p:cNvPr id="19" name="Picture 19"/>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604000" y="3810000"/>
            <a:ext cx="254000" cy="254000"/>
          </a:xfrm>
          <a:prstGeom prst="rect">
            <a:avLst/>
          </a:prstGeom>
        </p:spPr>
      </p:pic>
      <p:sp>
        <p:nvSpPr>
          <p:cNvPr id="20" name="AutoShape 20"/>
          <p:cNvSpPr/>
          <p:nvPr/>
        </p:nvSpPr>
        <p:spPr>
          <a:xfrm>
            <a:off x="6985000" y="37592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用户体验：</a:t>
            </a:r>
            <a:r>
              <a:rPr lang="en-US" sz="1800" b="0" i="0" u="none" strike="noStrike">
                <a:solidFill>
                  <a:srgbClr val="757575"/>
                </a:solidFill>
                <a:latin typeface="Noto Sans SC"/>
                <a:ea typeface="Noto Sans SC"/>
                <a:cs typeface="Noto Sans SC"/>
                <a:sym typeface="Noto Sans SC"/>
              </a:rPr>
              <a:t>生成自然、人性化的互动台词。</a:t>
            </a:r>
            <a:endParaRPr lang="en-US" sz="1100"/>
          </a:p>
        </p:txBody>
      </p:sp>
      <p:sp>
        <p:nvSpPr>
          <p:cNvPr id="21" name="AutoShape 21"/>
          <p:cNvSpPr/>
          <p:nvPr/>
        </p:nvSpPr>
        <p:spPr>
          <a:xfrm>
            <a:off x="762000" y="54610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1016000" y="5588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总结：</a:t>
            </a:r>
            <a:r>
              <a:rPr lang="en-US" sz="1600" b="0" i="0" u="none" strike="noStrike">
                <a:solidFill>
                  <a:srgbClr val="505050"/>
                </a:solidFill>
                <a:latin typeface="Noto Sans SC"/>
                <a:ea typeface="Noto Sans SC"/>
                <a:cs typeface="Noto Sans SC"/>
                <a:sym typeface="Noto Sans SC"/>
              </a:rPr>
              <a:t>技术进步推动了数字人直播的普及，但在准确性、实时性和用户体验的人性化方面仍需持续优化突破。</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检索方法对比：关键词检索</a:t>
            </a:r>
            <a:endParaRPr lang="en-US" sz="1100"/>
          </a:p>
        </p:txBody>
      </p:sp>
      <p:sp>
        <p:nvSpPr>
          <p:cNvPr id="3" name="AutoShape 3"/>
          <p:cNvSpPr/>
          <p:nvPr/>
        </p:nvSpPr>
        <p:spPr>
          <a:xfrm>
            <a:off x="762000" y="1397000"/>
            <a:ext cx="10668000" cy="1079500"/>
          </a:xfrm>
          <a:prstGeom prst="roundRect">
            <a:avLst>
              <a:gd name="adj" fmla="val 11764"/>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508000" cy="508000"/>
          </a:xfrm>
          <a:prstGeom prst="rect">
            <a:avLst/>
          </a:prstGeom>
        </p:spPr>
      </p:pic>
      <p:sp>
        <p:nvSpPr>
          <p:cNvPr id="5" name="AutoShape 5"/>
          <p:cNvSpPr/>
          <p:nvPr/>
        </p:nvSpPr>
        <p:spPr>
          <a:xfrm>
            <a:off x="1714500" y="1524000"/>
            <a:ext cx="946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核心原理</a:t>
            </a:r>
            <a:endParaRPr lang="en-US" sz="1100"/>
          </a:p>
        </p:txBody>
      </p:sp>
      <p:sp>
        <p:nvSpPr>
          <p:cNvPr id="6" name="AutoShape 6"/>
          <p:cNvSpPr/>
          <p:nvPr/>
        </p:nvSpPr>
        <p:spPr>
          <a:xfrm>
            <a:off x="1714500" y="1905000"/>
            <a:ext cx="94615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基于关键词匹配（如TF-IDF、BM25），查找包含用户问题关键词的文档。</a:t>
            </a:r>
            <a:endParaRPr lang="en-US" sz="1100"/>
          </a:p>
        </p:txBody>
      </p:sp>
      <p:sp>
        <p:nvSpPr>
          <p:cNvPr id="7" name="AutoShape 7"/>
          <p:cNvSpPr/>
          <p:nvPr/>
        </p:nvSpPr>
        <p:spPr>
          <a:xfrm>
            <a:off x="762000" y="2667000"/>
            <a:ext cx="10668000" cy="1079500"/>
          </a:xfrm>
          <a:prstGeom prst="roundRect">
            <a:avLst>
              <a:gd name="adj" fmla="val 11764"/>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921000"/>
            <a:ext cx="508000" cy="508000"/>
          </a:xfrm>
          <a:prstGeom prst="rect">
            <a:avLst/>
          </a:prstGeom>
        </p:spPr>
      </p:pic>
      <p:sp>
        <p:nvSpPr>
          <p:cNvPr id="9" name="AutoShape 9"/>
          <p:cNvSpPr/>
          <p:nvPr/>
        </p:nvSpPr>
        <p:spPr>
          <a:xfrm>
            <a:off x="1714500" y="2794000"/>
            <a:ext cx="946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主要优点</a:t>
            </a:r>
            <a:endParaRPr lang="en-US" sz="1100"/>
          </a:p>
        </p:txBody>
      </p:sp>
      <p:sp>
        <p:nvSpPr>
          <p:cNvPr id="10" name="AutoShape 10"/>
          <p:cNvSpPr/>
          <p:nvPr/>
        </p:nvSpPr>
        <p:spPr>
          <a:xfrm>
            <a:off x="1714500" y="3175000"/>
            <a:ext cx="94615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实现简单，计算速度快；对于事实性、关键词明确的问题效果较好。</a:t>
            </a:r>
            <a:endParaRPr lang="en-US" sz="1100"/>
          </a:p>
        </p:txBody>
      </p:sp>
      <p:sp>
        <p:nvSpPr>
          <p:cNvPr id="11" name="AutoShape 11"/>
          <p:cNvSpPr/>
          <p:nvPr/>
        </p:nvSpPr>
        <p:spPr>
          <a:xfrm>
            <a:off x="762000" y="3937000"/>
            <a:ext cx="10668000" cy="1079500"/>
          </a:xfrm>
          <a:prstGeom prst="roundRect">
            <a:avLst>
              <a:gd name="adj" fmla="val 11764"/>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191000"/>
            <a:ext cx="508000" cy="508000"/>
          </a:xfrm>
          <a:prstGeom prst="rect">
            <a:avLst/>
          </a:prstGeom>
        </p:spPr>
      </p:pic>
      <p:sp>
        <p:nvSpPr>
          <p:cNvPr id="13" name="AutoShape 13"/>
          <p:cNvSpPr/>
          <p:nvPr/>
        </p:nvSpPr>
        <p:spPr>
          <a:xfrm>
            <a:off x="1714500" y="4064000"/>
            <a:ext cx="946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主要缺点</a:t>
            </a:r>
            <a:endParaRPr lang="en-US" sz="1100"/>
          </a:p>
        </p:txBody>
      </p:sp>
      <p:sp>
        <p:nvSpPr>
          <p:cNvPr id="14" name="AutoShape 14"/>
          <p:cNvSpPr/>
          <p:nvPr/>
        </p:nvSpPr>
        <p:spPr>
          <a:xfrm>
            <a:off x="1714500" y="4445000"/>
            <a:ext cx="94615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语义理解能力弱，无法处理同义词或语义相似问题；容易受关键词歧义影响。</a:t>
            </a:r>
            <a:endParaRPr lang="en-US" sz="1100"/>
          </a:p>
        </p:txBody>
      </p:sp>
      <p:sp>
        <p:nvSpPr>
          <p:cNvPr id="15" name="AutoShape 15"/>
          <p:cNvSpPr/>
          <p:nvPr/>
        </p:nvSpPr>
        <p:spPr>
          <a:xfrm>
            <a:off x="762000" y="5207000"/>
            <a:ext cx="10668000" cy="1079500"/>
          </a:xfrm>
          <a:prstGeom prst="roundRect">
            <a:avLst>
              <a:gd name="adj" fmla="val 11764"/>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461000"/>
            <a:ext cx="508000" cy="508000"/>
          </a:xfrm>
          <a:prstGeom prst="rect">
            <a:avLst/>
          </a:prstGeom>
        </p:spPr>
      </p:pic>
      <p:sp>
        <p:nvSpPr>
          <p:cNvPr id="17" name="AutoShape 17"/>
          <p:cNvSpPr/>
          <p:nvPr/>
        </p:nvSpPr>
        <p:spPr>
          <a:xfrm>
            <a:off x="1714500" y="5334000"/>
            <a:ext cx="946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项目效果</a:t>
            </a:r>
            <a:endParaRPr lang="en-US" sz="1100"/>
          </a:p>
        </p:txBody>
      </p:sp>
      <p:sp>
        <p:nvSpPr>
          <p:cNvPr id="18" name="AutoShape 18"/>
          <p:cNvSpPr/>
          <p:nvPr/>
        </p:nvSpPr>
        <p:spPr>
          <a:xfrm>
            <a:off x="1714500" y="5715000"/>
            <a:ext cx="94615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作为基础检索方法，能快速召回相关文档，但可能不够精准，需结合其他方法优化。</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537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检索方法对比：向量检索</a:t>
            </a:r>
            <a:endParaRPr lang="en-US" sz="1100"/>
          </a:p>
        </p:txBody>
      </p:sp>
      <p:sp>
        <p:nvSpPr>
          <p:cNvPr id="3" name="AutoShape 3"/>
          <p:cNvSpPr/>
          <p:nvPr/>
        </p:nvSpPr>
        <p:spPr>
          <a:xfrm>
            <a:off x="762000" y="1397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508000" cy="508000"/>
          </a:xfrm>
          <a:prstGeom prst="rect">
            <a:avLst/>
          </a:prstGeom>
        </p:spPr>
      </p:pic>
      <p:sp>
        <p:nvSpPr>
          <p:cNvPr id="5" name="AutoShape 5"/>
          <p:cNvSpPr/>
          <p:nvPr/>
        </p:nvSpPr>
        <p:spPr>
          <a:xfrm>
            <a:off x="1714500" y="1524000"/>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核心原理</a:t>
            </a:r>
            <a:endParaRPr lang="en-US" sz="1100"/>
          </a:p>
        </p:txBody>
      </p:sp>
      <p:sp>
        <p:nvSpPr>
          <p:cNvPr id="6" name="AutoShape 6"/>
          <p:cNvSpPr/>
          <p:nvPr/>
        </p:nvSpPr>
        <p:spPr>
          <a:xfrm>
            <a:off x="1714500" y="19050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将用户问题和文档都转换为向量，通过计算向量相似度来匹配最相关的文档。</a:t>
            </a:r>
            <a:endParaRPr lang="en-US" sz="1100"/>
          </a:p>
        </p:txBody>
      </p:sp>
      <p:sp>
        <p:nvSpPr>
          <p:cNvPr id="7" name="AutoShape 7"/>
          <p:cNvSpPr/>
          <p:nvPr/>
        </p:nvSpPr>
        <p:spPr>
          <a:xfrm>
            <a:off x="762000" y="2794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11500"/>
            <a:ext cx="508000" cy="508000"/>
          </a:xfrm>
          <a:prstGeom prst="rect">
            <a:avLst/>
          </a:prstGeom>
        </p:spPr>
      </p:pic>
      <p:sp>
        <p:nvSpPr>
          <p:cNvPr id="9" name="AutoShape 9"/>
          <p:cNvSpPr/>
          <p:nvPr/>
        </p:nvSpPr>
        <p:spPr>
          <a:xfrm>
            <a:off x="1714500" y="2921000"/>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主要优势</a:t>
            </a:r>
            <a:endParaRPr lang="en-US" sz="1100"/>
          </a:p>
        </p:txBody>
      </p:sp>
      <p:sp>
        <p:nvSpPr>
          <p:cNvPr id="10" name="AutoShape 10"/>
          <p:cNvSpPr/>
          <p:nvPr/>
        </p:nvSpPr>
        <p:spPr>
          <a:xfrm>
            <a:off x="1714500" y="33020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具备语义理解能力，能处理同义词、近义词；检索结果更精准，符合用户真实意图。</a:t>
            </a:r>
            <a:endParaRPr lang="en-US" sz="1100"/>
          </a:p>
        </p:txBody>
      </p:sp>
      <p:sp>
        <p:nvSpPr>
          <p:cNvPr id="11" name="AutoShape 11"/>
          <p:cNvSpPr/>
          <p:nvPr/>
        </p:nvSpPr>
        <p:spPr>
          <a:xfrm>
            <a:off x="762000" y="4191000"/>
            <a:ext cx="10668000" cy="1143000"/>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508500"/>
            <a:ext cx="508000" cy="508000"/>
          </a:xfrm>
          <a:prstGeom prst="rect">
            <a:avLst/>
          </a:prstGeom>
        </p:spPr>
      </p:pic>
      <p:sp>
        <p:nvSpPr>
          <p:cNvPr id="13" name="AutoShape 13"/>
          <p:cNvSpPr/>
          <p:nvPr/>
        </p:nvSpPr>
        <p:spPr>
          <a:xfrm>
            <a:off x="1714500" y="4318000"/>
            <a:ext cx="939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潜在挑战</a:t>
            </a:r>
            <a:endParaRPr lang="en-US" sz="1100"/>
          </a:p>
        </p:txBody>
      </p:sp>
      <p:sp>
        <p:nvSpPr>
          <p:cNvPr id="14" name="AutoShape 14"/>
          <p:cNvSpPr/>
          <p:nvPr/>
        </p:nvSpPr>
        <p:spPr>
          <a:xfrm>
            <a:off x="1714500" y="46990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757575"/>
                </a:solidFill>
                <a:latin typeface="Noto Sans SC"/>
                <a:ea typeface="Noto Sans SC"/>
                <a:cs typeface="Noto Sans SC"/>
                <a:sym typeface="Noto Sans SC"/>
              </a:rPr>
              <a:t>计算成本相对较高，对硬件有一定要求；检索效果高度依赖于嵌入模型的质量。</a:t>
            </a:r>
            <a:endParaRPr lang="en-US" sz="1100"/>
          </a:p>
        </p:txBody>
      </p:sp>
      <p:sp>
        <p:nvSpPr>
          <p:cNvPr id="15" name="AutoShape 15"/>
          <p:cNvSpPr/>
          <p:nvPr/>
        </p:nvSpPr>
        <p:spPr>
          <a:xfrm>
            <a:off x="762000" y="5588000"/>
            <a:ext cx="10668000" cy="762000"/>
          </a:xfrm>
          <a:prstGeom prst="roundRect">
            <a:avLst>
              <a:gd name="adj" fmla="val 1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778500"/>
            <a:ext cx="381000" cy="381000"/>
          </a:xfrm>
          <a:prstGeom prst="rect">
            <a:avLst/>
          </a:prstGeom>
        </p:spPr>
      </p:pic>
      <p:sp>
        <p:nvSpPr>
          <p:cNvPr id="17" name="AutoShape 17"/>
          <p:cNvSpPr/>
          <p:nvPr/>
        </p:nvSpPr>
        <p:spPr>
          <a:xfrm>
            <a:off x="1714500" y="5715000"/>
            <a:ext cx="939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项目成效：</a:t>
            </a:r>
            <a:r>
              <a:rPr lang="en-US" sz="1800" b="0" i="0" u="none" strike="noStrike">
                <a:solidFill>
                  <a:srgbClr val="757575"/>
                </a:solidFill>
                <a:latin typeface="Noto Sans SC"/>
                <a:ea typeface="Noto Sans SC"/>
                <a:cs typeface="Noto Sans SC"/>
                <a:sym typeface="Noto Sans SC"/>
              </a:rPr>
              <a:t>显著提升了回答的相关性和准确性，是实现智能问答的核心技术。</a:t>
            </a:r>
            <a:endParaRPr lang="en-US" sz="11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检索方法对比：混合检索</a:t>
            </a:r>
            <a:endParaRPr lang="en-US" sz="1100"/>
          </a:p>
        </p:txBody>
      </p:sp>
      <p:sp>
        <p:nvSpPr>
          <p:cNvPr id="3" name="AutoShape 3"/>
          <p:cNvSpPr/>
          <p:nvPr/>
        </p:nvSpPr>
        <p:spPr>
          <a:xfrm>
            <a:off x="762000" y="1397000"/>
            <a:ext cx="10668000" cy="1016000"/>
          </a:xfrm>
          <a:prstGeom prst="roundRect">
            <a:avLst>
              <a:gd name="adj" fmla="val 1250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508000" cy="508000"/>
          </a:xfrm>
          <a:prstGeom prst="rect">
            <a:avLst/>
          </a:prstGeom>
        </p:spPr>
      </p:pic>
      <p:sp>
        <p:nvSpPr>
          <p:cNvPr id="5" name="AutoShape 5"/>
          <p:cNvSpPr/>
          <p:nvPr/>
        </p:nvSpPr>
        <p:spPr>
          <a:xfrm>
            <a:off x="1651000" y="15240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核心原理：</a:t>
            </a:r>
            <a:r>
              <a:rPr lang="en-US" sz="1800" b="0" i="0" u="none" strike="noStrike">
                <a:solidFill>
                  <a:srgbClr val="757575"/>
                </a:solidFill>
                <a:latin typeface="Noto Sans SC"/>
                <a:ea typeface="Noto Sans SC"/>
                <a:cs typeface="Noto Sans SC"/>
                <a:sym typeface="Noto Sans SC"/>
              </a:rPr>
              <a:t>结合关键词检索和向量检索的结果，进行合并和重排序，发挥两者优势。</a:t>
            </a:r>
            <a:endParaRPr lang="en-US" sz="1100"/>
          </a:p>
        </p:txBody>
      </p:sp>
      <p:sp>
        <p:nvSpPr>
          <p:cNvPr id="6" name="AutoShape 6"/>
          <p:cNvSpPr/>
          <p:nvPr/>
        </p:nvSpPr>
        <p:spPr>
          <a:xfrm>
            <a:off x="762000" y="2667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048000"/>
            <a:ext cx="508000" cy="508000"/>
          </a:xfrm>
          <a:prstGeom prst="rect">
            <a:avLst/>
          </a:prstGeom>
        </p:spPr>
      </p:pic>
      <p:sp>
        <p:nvSpPr>
          <p:cNvPr id="8" name="AutoShape 8"/>
          <p:cNvSpPr/>
          <p:nvPr/>
        </p:nvSpPr>
        <p:spPr>
          <a:xfrm>
            <a:off x="1651000" y="2794000"/>
            <a:ext cx="9525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主要优点：</a:t>
            </a:r>
            <a:endParaRPr lang="en-US" sz="1100"/>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兼顾关键词检索的高召回率和向量检索的高精确率。</a:t>
            </a:r>
            <a:endParaRPr lang="en-US" sz="1600" b="0" i="0" u="none" strike="noStrike">
              <a:solidFill>
                <a:srgbClr val="757575"/>
              </a:solidFill>
              <a:latin typeface="Noto Sans SC"/>
              <a:ea typeface="Noto Sans SC"/>
              <a:cs typeface="Noto Sans SC"/>
              <a:sym typeface="Noto Sans SC"/>
            </a:endParaRPr>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鲁棒性更强，能适应更多样化的用户提问方式。</a:t>
            </a:r>
            <a:endParaRPr lang="en-US" sz="16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762000" y="4191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572000"/>
            <a:ext cx="508000" cy="508000"/>
          </a:xfrm>
          <a:prstGeom prst="rect">
            <a:avLst/>
          </a:prstGeom>
        </p:spPr>
      </p:pic>
      <p:sp>
        <p:nvSpPr>
          <p:cNvPr id="11" name="AutoShape 11"/>
          <p:cNvSpPr/>
          <p:nvPr/>
        </p:nvSpPr>
        <p:spPr>
          <a:xfrm>
            <a:off x="1651000" y="4318000"/>
            <a:ext cx="9525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潜在缺点：</a:t>
            </a:r>
            <a:endParaRPr lang="en-US" sz="1100"/>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实现相对复杂，需要处理结果合并和排序的逻辑。</a:t>
            </a:r>
            <a:endParaRPr lang="en-US" sz="1600" b="0" i="0" u="none" strike="noStrike">
              <a:solidFill>
                <a:srgbClr val="757575"/>
              </a:solidFill>
              <a:latin typeface="Noto Sans SC"/>
              <a:ea typeface="Noto Sans SC"/>
              <a:cs typeface="Noto Sans SC"/>
              <a:sym typeface="Noto Sans SC"/>
            </a:endParaRPr>
          </a:p>
          <a:p>
            <a:pPr marL="203200" indent="-203200" algn="l">
              <a:lnSpc>
                <a:spcPct val="125000"/>
              </a:lnSpc>
              <a:buClr>
                <a:srgbClr val="757575"/>
              </a:buClr>
              <a:buChar char="•"/>
            </a:pPr>
            <a:r>
              <a:rPr lang="en-US" sz="1600" b="0" i="0" u="none" strike="noStrike">
                <a:solidFill>
                  <a:srgbClr val="757575"/>
                </a:solidFill>
                <a:latin typeface="Noto Sans SC"/>
                <a:ea typeface="Noto Sans SC"/>
                <a:cs typeface="Noto Sans SC"/>
                <a:sym typeface="Noto Sans SC"/>
              </a:rPr>
              <a:t>计算成本高于单一检索方法。</a:t>
            </a:r>
            <a:endParaRPr lang="en-US" sz="1600" b="0" i="0" u="none" strike="noStrike">
              <a:solidFill>
                <a:srgbClr val="757575"/>
              </a:solidFill>
              <a:latin typeface="Noto Sans SC"/>
              <a:ea typeface="Noto Sans SC"/>
              <a:cs typeface="Noto Sans SC"/>
              <a:sym typeface="Noto Sans SC"/>
            </a:endParaRPr>
          </a:p>
        </p:txBody>
      </p:sp>
      <p:sp>
        <p:nvSpPr>
          <p:cNvPr id="12" name="AutoShape 12"/>
          <p:cNvSpPr/>
          <p:nvPr/>
        </p:nvSpPr>
        <p:spPr>
          <a:xfrm>
            <a:off x="762000" y="5715000"/>
            <a:ext cx="10668000" cy="762000"/>
          </a:xfrm>
          <a:prstGeom prst="roundRect">
            <a:avLst>
              <a:gd name="adj" fmla="val 16666"/>
            </a:avLst>
          </a:prstGeom>
          <a:solidFill>
            <a:srgbClr val="0288D1">
              <a:alpha val="100000"/>
            </a:srgbClr>
          </a:solidFill>
          <a:ln w="25400" cap="flat" cmpd="sng">
            <a:noFill/>
            <a:prstDash val="solid"/>
            <a:round/>
          </a:ln>
          <a:effectLst>
            <a:outerShdw blurRad="127000" dist="50800" dir="2700000" algn="tl" rotWithShape="0">
              <a:srgbClr val="0288D1">
                <a:alpha val="30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842000"/>
            <a:ext cx="508000" cy="508000"/>
          </a:xfrm>
          <a:prstGeom prst="rect">
            <a:avLst/>
          </a:prstGeom>
        </p:spPr>
      </p:pic>
      <p:sp>
        <p:nvSpPr>
          <p:cNvPr id="14" name="AutoShape 14"/>
          <p:cNvSpPr/>
          <p:nvPr/>
        </p:nvSpPr>
        <p:spPr>
          <a:xfrm>
            <a:off x="1651000" y="5715000"/>
            <a:ext cx="9525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项目实战：作为最终采用的检索方案，综合效果最佳，平衡了召回率和精确率。</a:t>
            </a:r>
            <a:endParaRPr lang="en-US" sz="1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6032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三种检索方法效果总结</a:t>
            </a:r>
            <a:endParaRPr lang="en-US" sz="1100"/>
          </a:p>
        </p:txBody>
      </p:sp>
      <p:sp>
        <p:nvSpPr>
          <p:cNvPr id="3" name="AutoShape 3"/>
          <p:cNvSpPr/>
          <p:nvPr/>
        </p:nvSpPr>
        <p:spPr>
          <a:xfrm>
            <a:off x="762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714500"/>
            <a:ext cx="406400" cy="406400"/>
          </a:xfrm>
          <a:prstGeom prst="rect">
            <a:avLst/>
          </a:prstGeom>
        </p:spPr>
      </p:pic>
      <p:sp>
        <p:nvSpPr>
          <p:cNvPr id="5" name="AutoShape 5"/>
          <p:cNvSpPr/>
          <p:nvPr/>
        </p:nvSpPr>
        <p:spPr>
          <a:xfrm>
            <a:off x="889000" y="2159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关键词检索</a:t>
            </a:r>
            <a:endParaRPr lang="en-US" sz="1100"/>
          </a:p>
        </p:txBody>
      </p:sp>
      <p:sp>
        <p:nvSpPr>
          <p:cNvPr id="6" name="AutoShape 6"/>
          <p:cNvSpPr/>
          <p:nvPr/>
        </p:nvSpPr>
        <p:spPr>
          <a:xfrm>
            <a:off x="952500" y="2603500"/>
            <a:ext cx="2921000" cy="228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757575"/>
                </a:solidFill>
                <a:latin typeface="Noto Sans SC"/>
                <a:ea typeface="Noto Sans SC"/>
                <a:cs typeface="Noto Sans SC"/>
                <a:sym typeface="Noto Sans SC"/>
              </a:rPr>
              <a:t>优点：</a:t>
            </a:r>
            <a:r>
              <a:rPr lang="en-US" sz="1400" b="0" i="0" u="none" strike="noStrike">
                <a:solidFill>
                  <a:srgbClr val="424242"/>
                </a:solidFill>
                <a:latin typeface="Noto Sans SC"/>
                <a:ea typeface="Noto Sans SC"/>
                <a:cs typeface="Noto Sans SC"/>
                <a:sym typeface="Noto Sans SC"/>
              </a:rPr>
              <a:t>简单、快速、召回率高</a:t>
            </a:r>
            <a:endParaRPr lang="en-US" sz="1100"/>
          </a:p>
          <a:p>
            <a:pPr indent="0" algn="l">
              <a:lnSpc>
                <a:spcPct val="108000"/>
              </a:lnSpc>
            </a:pPr>
            <a:r>
              <a:rPr lang="en-US" sz="1400" b="1" i="0" u="none" strike="noStrike">
                <a:solidFill>
                  <a:srgbClr val="757575"/>
                </a:solidFill>
                <a:latin typeface="Noto Sans SC"/>
                <a:ea typeface="Noto Sans SC"/>
                <a:cs typeface="Noto Sans SC"/>
                <a:sym typeface="Noto Sans SC"/>
              </a:rPr>
              <a:t>缺点：</a:t>
            </a:r>
            <a:r>
              <a:rPr lang="en-US" sz="1400" b="0" i="0" u="none" strike="noStrike">
                <a:solidFill>
                  <a:srgbClr val="424242"/>
                </a:solidFill>
                <a:latin typeface="Noto Sans SC"/>
                <a:ea typeface="Noto Sans SC"/>
                <a:cs typeface="Noto Sans SC"/>
                <a:sym typeface="Noto Sans SC"/>
              </a:rPr>
              <a:t>语义理解弱、易歧义</a:t>
            </a:r>
            <a:endParaRPr lang="en-US" sz="1400" b="0" i="0" u="none" strike="noStrike">
              <a:solidFill>
                <a:srgbClr val="424242"/>
              </a:solidFill>
              <a:latin typeface="Noto Sans SC"/>
              <a:ea typeface="Noto Sans SC"/>
              <a:cs typeface="Noto Sans SC"/>
              <a:sym typeface="Noto Sans SC"/>
            </a:endParaRPr>
          </a:p>
          <a:p>
            <a:pPr indent="0" algn="l">
              <a:lnSpc>
                <a:spcPct val="108000"/>
              </a:lnSpc>
            </a:pPr>
            <a:r>
              <a:rPr lang="en-US" sz="1400" b="1" i="0" u="none" strike="noStrike">
                <a:solidFill>
                  <a:srgbClr val="757575"/>
                </a:solidFill>
                <a:latin typeface="Noto Sans SC"/>
                <a:ea typeface="Noto Sans SC"/>
                <a:cs typeface="Noto Sans SC"/>
                <a:sym typeface="Noto Sans SC"/>
              </a:rPr>
              <a:t>适用：</a:t>
            </a:r>
            <a:r>
              <a:rPr lang="en-US" sz="1400" b="0" i="0" u="none" strike="noStrike">
                <a:solidFill>
                  <a:srgbClr val="424242"/>
                </a:solidFill>
                <a:latin typeface="Noto Sans SC"/>
                <a:ea typeface="Noto Sans SC"/>
                <a:cs typeface="Noto Sans SC"/>
                <a:sym typeface="Noto Sans SC"/>
              </a:rPr>
              <a:t>事实性问题、关键词明确的查询</a:t>
            </a:r>
            <a:endParaRPr lang="en-US" sz="1400" b="0" i="0" u="none" strike="noStrike">
              <a:solidFill>
                <a:srgbClr val="424242"/>
              </a:solidFill>
              <a:latin typeface="Noto Sans SC"/>
              <a:ea typeface="Noto Sans SC"/>
              <a:cs typeface="Noto Sans SC"/>
              <a:sym typeface="Noto Sans SC"/>
            </a:endParaRPr>
          </a:p>
        </p:txBody>
      </p:sp>
      <p:sp>
        <p:nvSpPr>
          <p:cNvPr id="7" name="AutoShape 7"/>
          <p:cNvSpPr/>
          <p:nvPr/>
        </p:nvSpPr>
        <p:spPr>
          <a:xfrm>
            <a:off x="4445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714500"/>
            <a:ext cx="406400" cy="406400"/>
          </a:xfrm>
          <a:prstGeom prst="rect">
            <a:avLst/>
          </a:prstGeom>
        </p:spPr>
      </p:pic>
      <p:sp>
        <p:nvSpPr>
          <p:cNvPr id="9" name="AutoShape 9"/>
          <p:cNvSpPr/>
          <p:nvPr/>
        </p:nvSpPr>
        <p:spPr>
          <a:xfrm>
            <a:off x="4572000" y="2159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向量检索</a:t>
            </a:r>
            <a:endParaRPr lang="en-US" sz="1100"/>
          </a:p>
        </p:txBody>
      </p:sp>
      <p:sp>
        <p:nvSpPr>
          <p:cNvPr id="10" name="AutoShape 10"/>
          <p:cNvSpPr/>
          <p:nvPr/>
        </p:nvSpPr>
        <p:spPr>
          <a:xfrm>
            <a:off x="4635500" y="2603500"/>
            <a:ext cx="2921000" cy="228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757575"/>
                </a:solidFill>
                <a:latin typeface="Noto Sans SC"/>
                <a:ea typeface="Noto Sans SC"/>
                <a:cs typeface="Noto Sans SC"/>
                <a:sym typeface="Noto Sans SC"/>
              </a:rPr>
              <a:t>优点：</a:t>
            </a:r>
            <a:r>
              <a:rPr lang="en-US" sz="1400" b="0" i="0" u="none" strike="noStrike">
                <a:solidFill>
                  <a:srgbClr val="424242"/>
                </a:solidFill>
                <a:latin typeface="Noto Sans SC"/>
                <a:ea typeface="Noto Sans SC"/>
                <a:cs typeface="Noto Sans SC"/>
                <a:sym typeface="Noto Sans SC"/>
              </a:rPr>
              <a:t>语义理解强、结果精准</a:t>
            </a:r>
            <a:endParaRPr lang="en-US" sz="1100"/>
          </a:p>
          <a:p>
            <a:pPr indent="0" algn="l">
              <a:lnSpc>
                <a:spcPct val="108000"/>
              </a:lnSpc>
            </a:pPr>
            <a:r>
              <a:rPr lang="en-US" sz="1400" b="1" i="0" u="none" strike="noStrike">
                <a:solidFill>
                  <a:srgbClr val="757575"/>
                </a:solidFill>
                <a:latin typeface="Noto Sans SC"/>
                <a:ea typeface="Noto Sans SC"/>
                <a:cs typeface="Noto Sans SC"/>
                <a:sym typeface="Noto Sans SC"/>
              </a:rPr>
              <a:t>缺点：</a:t>
            </a:r>
            <a:r>
              <a:rPr lang="en-US" sz="1400" b="0" i="0" u="none" strike="noStrike">
                <a:solidFill>
                  <a:srgbClr val="424242"/>
                </a:solidFill>
                <a:latin typeface="Noto Sans SC"/>
                <a:ea typeface="Noto Sans SC"/>
                <a:cs typeface="Noto Sans SC"/>
                <a:sym typeface="Noto Sans SC"/>
              </a:rPr>
              <a:t>计算成本高、依赖模型</a:t>
            </a:r>
            <a:endParaRPr lang="en-US" sz="1400" b="0" i="0" u="none" strike="noStrike">
              <a:solidFill>
                <a:srgbClr val="424242"/>
              </a:solidFill>
              <a:latin typeface="Noto Sans SC"/>
              <a:ea typeface="Noto Sans SC"/>
              <a:cs typeface="Noto Sans SC"/>
              <a:sym typeface="Noto Sans SC"/>
            </a:endParaRPr>
          </a:p>
          <a:p>
            <a:pPr indent="0" algn="l">
              <a:lnSpc>
                <a:spcPct val="108000"/>
              </a:lnSpc>
            </a:pPr>
            <a:r>
              <a:rPr lang="en-US" sz="1400" b="1" i="0" u="none" strike="noStrike">
                <a:solidFill>
                  <a:srgbClr val="757575"/>
                </a:solidFill>
                <a:latin typeface="Noto Sans SC"/>
                <a:ea typeface="Noto Sans SC"/>
                <a:cs typeface="Noto Sans SC"/>
                <a:sym typeface="Noto Sans SC"/>
              </a:rPr>
              <a:t>适用：</a:t>
            </a:r>
            <a:r>
              <a:rPr lang="en-US" sz="1400" b="0" i="0" u="none" strike="noStrike">
                <a:solidFill>
                  <a:srgbClr val="424242"/>
                </a:solidFill>
                <a:latin typeface="Noto Sans SC"/>
                <a:ea typeface="Noto Sans SC"/>
                <a:cs typeface="Noto Sans SC"/>
                <a:sym typeface="Noto Sans SC"/>
              </a:rPr>
              <a:t>开放性问题、语义相似的查询</a:t>
            </a:r>
            <a:endParaRPr lang="en-US" sz="1400" b="0" i="0" u="none" strike="noStrike">
              <a:solidFill>
                <a:srgbClr val="424242"/>
              </a:solidFill>
              <a:latin typeface="Noto Sans SC"/>
              <a:ea typeface="Noto Sans SC"/>
              <a:cs typeface="Noto Sans SC"/>
              <a:sym typeface="Noto Sans SC"/>
            </a:endParaRPr>
          </a:p>
        </p:txBody>
      </p:sp>
      <p:sp>
        <p:nvSpPr>
          <p:cNvPr id="11" name="AutoShape 11"/>
          <p:cNvSpPr/>
          <p:nvPr/>
        </p:nvSpPr>
        <p:spPr>
          <a:xfrm>
            <a:off x="8128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714500"/>
            <a:ext cx="406400" cy="406400"/>
          </a:xfrm>
          <a:prstGeom prst="rect">
            <a:avLst/>
          </a:prstGeom>
        </p:spPr>
      </p:pic>
      <p:sp>
        <p:nvSpPr>
          <p:cNvPr id="13" name="AutoShape 13"/>
          <p:cNvSpPr/>
          <p:nvPr/>
        </p:nvSpPr>
        <p:spPr>
          <a:xfrm>
            <a:off x="8255000" y="2159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混合检索</a:t>
            </a:r>
            <a:endParaRPr lang="en-US" sz="1100"/>
          </a:p>
        </p:txBody>
      </p:sp>
      <p:sp>
        <p:nvSpPr>
          <p:cNvPr id="14" name="AutoShape 14"/>
          <p:cNvSpPr/>
          <p:nvPr/>
        </p:nvSpPr>
        <p:spPr>
          <a:xfrm>
            <a:off x="8318500" y="2603500"/>
            <a:ext cx="2921000" cy="228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757575"/>
                </a:solidFill>
                <a:latin typeface="Noto Sans SC"/>
                <a:ea typeface="Noto Sans SC"/>
                <a:cs typeface="Noto Sans SC"/>
                <a:sym typeface="Noto Sans SC"/>
              </a:rPr>
              <a:t>优点：</a:t>
            </a:r>
            <a:r>
              <a:rPr lang="en-US" sz="1400" b="0" i="0" u="none" strike="noStrike">
                <a:solidFill>
                  <a:srgbClr val="424242"/>
                </a:solidFill>
                <a:latin typeface="Noto Sans SC"/>
                <a:ea typeface="Noto Sans SC"/>
                <a:cs typeface="Noto Sans SC"/>
                <a:sym typeface="Noto Sans SC"/>
              </a:rPr>
              <a:t>兼顾召回与精准、鲁棒性强</a:t>
            </a:r>
            <a:endParaRPr lang="en-US" sz="1100"/>
          </a:p>
          <a:p>
            <a:pPr indent="0" algn="l">
              <a:lnSpc>
                <a:spcPct val="108000"/>
              </a:lnSpc>
            </a:pPr>
            <a:r>
              <a:rPr lang="en-US" sz="1400" b="1" i="0" u="none" strike="noStrike">
                <a:solidFill>
                  <a:srgbClr val="757575"/>
                </a:solidFill>
                <a:latin typeface="Noto Sans SC"/>
                <a:ea typeface="Noto Sans SC"/>
                <a:cs typeface="Noto Sans SC"/>
                <a:sym typeface="Noto Sans SC"/>
              </a:rPr>
              <a:t>缺点：</a:t>
            </a:r>
            <a:r>
              <a:rPr lang="en-US" sz="1400" b="0" i="0" u="none" strike="noStrike">
                <a:solidFill>
                  <a:srgbClr val="424242"/>
                </a:solidFill>
                <a:latin typeface="Noto Sans SC"/>
                <a:ea typeface="Noto Sans SC"/>
                <a:cs typeface="Noto Sans SC"/>
                <a:sym typeface="Noto Sans SC"/>
              </a:rPr>
              <a:t>实现复杂、成本较高</a:t>
            </a:r>
            <a:endParaRPr lang="en-US" sz="1400" b="0" i="0" u="none" strike="noStrike">
              <a:solidFill>
                <a:srgbClr val="424242"/>
              </a:solidFill>
              <a:latin typeface="Noto Sans SC"/>
              <a:ea typeface="Noto Sans SC"/>
              <a:cs typeface="Noto Sans SC"/>
              <a:sym typeface="Noto Sans SC"/>
            </a:endParaRPr>
          </a:p>
          <a:p>
            <a:pPr indent="0" algn="l">
              <a:lnSpc>
                <a:spcPct val="108000"/>
              </a:lnSpc>
            </a:pPr>
            <a:r>
              <a:rPr lang="en-US" sz="1400" b="1" i="0" u="none" strike="noStrike">
                <a:solidFill>
                  <a:srgbClr val="757575"/>
                </a:solidFill>
                <a:latin typeface="Noto Sans SC"/>
                <a:ea typeface="Noto Sans SC"/>
                <a:cs typeface="Noto Sans SC"/>
                <a:sym typeface="Noto Sans SC"/>
              </a:rPr>
              <a:t>适用：</a:t>
            </a:r>
            <a:r>
              <a:rPr lang="en-US" sz="1400" b="0" i="0" u="none" strike="noStrike">
                <a:solidFill>
                  <a:srgbClr val="424242"/>
                </a:solidFill>
                <a:latin typeface="Noto Sans SC"/>
                <a:ea typeface="Noto Sans SC"/>
                <a:cs typeface="Noto Sans SC"/>
                <a:sym typeface="Noto Sans SC"/>
              </a:rPr>
              <a:t>综合型问答系统、高要求场景</a:t>
            </a:r>
            <a:endParaRPr lang="en-US" sz="1400" b="0" i="0" u="none" strike="noStrike">
              <a:solidFill>
                <a:srgbClr val="424242"/>
              </a:solidFill>
              <a:latin typeface="Noto Sans SC"/>
              <a:ea typeface="Noto Sans SC"/>
              <a:cs typeface="Noto Sans SC"/>
              <a:sym typeface="Noto Sans SC"/>
            </a:endParaRPr>
          </a:p>
        </p:txBody>
      </p:sp>
      <p:sp>
        <p:nvSpPr>
          <p:cNvPr id="15" name="AutoShape 15"/>
          <p:cNvSpPr/>
          <p:nvPr/>
        </p:nvSpPr>
        <p:spPr>
          <a:xfrm>
            <a:off x="762000" y="54610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sp>
        <p:nvSpPr>
          <p:cNvPr id="16" name="AutoShape 16"/>
          <p:cNvSpPr/>
          <p:nvPr/>
        </p:nvSpPr>
        <p:spPr>
          <a:xfrm>
            <a:off x="1016000" y="5588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88D1"/>
                </a:solidFill>
                <a:latin typeface="Noto Sans SC"/>
                <a:ea typeface="Noto Sans SC"/>
                <a:cs typeface="Noto Sans SC"/>
                <a:sym typeface="Noto Sans SC"/>
              </a:rPr>
              <a:t>总结：</a:t>
            </a:r>
            <a:r>
              <a:rPr lang="en-US" sz="1600" b="0" i="0" u="none" strike="noStrike">
                <a:solidFill>
                  <a:srgbClr val="424242"/>
                </a:solidFill>
                <a:latin typeface="Noto Sans SC"/>
                <a:ea typeface="Noto Sans SC"/>
                <a:cs typeface="Noto Sans SC"/>
                <a:sym typeface="Noto Sans SC"/>
              </a:rPr>
              <a:t>混合检索是集大成者，在对效果要求较高的综合场景下表现最佳，也是我们项目的最终选择方案。</a:t>
            </a:r>
            <a:endParaRPr lang="en-US" sz="11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035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基于LLM微调提升互动效果</a:t>
            </a:r>
            <a:endParaRPr lang="en-US" sz="1100"/>
          </a:p>
        </p:txBody>
      </p:sp>
      <p:sp>
        <p:nvSpPr>
          <p:cNvPr id="3" name="AutoShape 3"/>
          <p:cNvSpPr/>
          <p:nvPr/>
        </p:nvSpPr>
        <p:spPr>
          <a:xfrm>
            <a:off x="762000" y="1524000"/>
            <a:ext cx="51435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272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微调目的</a:t>
            </a:r>
            <a:endParaRPr lang="en-US" sz="1100"/>
          </a:p>
        </p:txBody>
      </p:sp>
      <p:sp>
        <p:nvSpPr>
          <p:cNvPr id="6" name="AutoShape 6"/>
          <p:cNvSpPr/>
          <p:nvPr/>
        </p:nvSpPr>
        <p:spPr>
          <a:xfrm>
            <a:off x="1016000" y="2222500"/>
            <a:ext cx="46355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让通用的大语言模型更好地适应直播间互动问答的特定场景和话术风格。</a:t>
            </a:r>
            <a:endParaRPr lang="en-US" sz="1100"/>
          </a:p>
        </p:txBody>
      </p:sp>
      <p:sp>
        <p:nvSpPr>
          <p:cNvPr id="7" name="AutoShape 7"/>
          <p:cNvSpPr/>
          <p:nvPr/>
        </p:nvSpPr>
        <p:spPr>
          <a:xfrm>
            <a:off x="6286500" y="1524000"/>
            <a:ext cx="51435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778000"/>
            <a:ext cx="406400" cy="406400"/>
          </a:xfrm>
          <a:prstGeom prst="rect">
            <a:avLst/>
          </a:prstGeom>
        </p:spPr>
      </p:pic>
      <p:sp>
        <p:nvSpPr>
          <p:cNvPr id="9" name="AutoShape 9"/>
          <p:cNvSpPr/>
          <p:nvPr/>
        </p:nvSpPr>
        <p:spPr>
          <a:xfrm>
            <a:off x="7048500" y="17272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数据准备</a:t>
            </a:r>
            <a:endParaRPr lang="en-US" sz="1100"/>
          </a:p>
        </p:txBody>
      </p:sp>
      <p:sp>
        <p:nvSpPr>
          <p:cNvPr id="10" name="AutoShape 10"/>
          <p:cNvSpPr/>
          <p:nvPr/>
        </p:nvSpPr>
        <p:spPr>
          <a:xfrm>
            <a:off x="6540500" y="2222500"/>
            <a:ext cx="46355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收集直播间的真实问答数据，进行清洗和标注，构建微调数据集。</a:t>
            </a:r>
            <a:endParaRPr lang="en-US" sz="1100"/>
          </a:p>
        </p:txBody>
      </p:sp>
      <p:sp>
        <p:nvSpPr>
          <p:cNvPr id="11" name="AutoShape 11"/>
          <p:cNvSpPr/>
          <p:nvPr/>
        </p:nvSpPr>
        <p:spPr>
          <a:xfrm>
            <a:off x="762000" y="3683000"/>
            <a:ext cx="51435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937000"/>
            <a:ext cx="406400" cy="406400"/>
          </a:xfrm>
          <a:prstGeom prst="rect">
            <a:avLst/>
          </a:prstGeom>
        </p:spPr>
      </p:pic>
      <p:sp>
        <p:nvSpPr>
          <p:cNvPr id="13" name="AutoShape 13"/>
          <p:cNvSpPr/>
          <p:nvPr/>
        </p:nvSpPr>
        <p:spPr>
          <a:xfrm>
            <a:off x="1524000" y="38862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微调方法</a:t>
            </a:r>
            <a:endParaRPr lang="en-US" sz="1100"/>
          </a:p>
        </p:txBody>
      </p:sp>
      <p:sp>
        <p:nvSpPr>
          <p:cNvPr id="14" name="AutoShape 14"/>
          <p:cNvSpPr/>
          <p:nvPr/>
        </p:nvSpPr>
        <p:spPr>
          <a:xfrm>
            <a:off x="1016000" y="4381500"/>
            <a:ext cx="46355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采用参数高效微调（PEFT）等技术，在不更新模型全部参数的情况下，快速适应新数据。</a:t>
            </a:r>
            <a:endParaRPr lang="en-US" sz="1100"/>
          </a:p>
        </p:txBody>
      </p:sp>
      <p:sp>
        <p:nvSpPr>
          <p:cNvPr id="15" name="AutoShape 15"/>
          <p:cNvSpPr/>
          <p:nvPr/>
        </p:nvSpPr>
        <p:spPr>
          <a:xfrm>
            <a:off x="6286500" y="3683000"/>
            <a:ext cx="51435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3937000"/>
            <a:ext cx="406400" cy="406400"/>
          </a:xfrm>
          <a:prstGeom prst="rect">
            <a:avLst/>
          </a:prstGeom>
        </p:spPr>
      </p:pic>
      <p:sp>
        <p:nvSpPr>
          <p:cNvPr id="17" name="AutoShape 17"/>
          <p:cNvSpPr/>
          <p:nvPr/>
        </p:nvSpPr>
        <p:spPr>
          <a:xfrm>
            <a:off x="7048500" y="38862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项目效果</a:t>
            </a:r>
            <a:endParaRPr lang="en-US" sz="1100"/>
          </a:p>
        </p:txBody>
      </p:sp>
      <p:sp>
        <p:nvSpPr>
          <p:cNvPr id="18" name="AutoShape 18"/>
          <p:cNvSpPr/>
          <p:nvPr/>
        </p:nvSpPr>
        <p:spPr>
          <a:xfrm>
            <a:off x="6540500" y="4381500"/>
            <a:ext cx="46355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微调后的模型生成的台词更符合直播场景的语言习惯，语气更自然，互动感更强。</a:t>
            </a:r>
            <a:endParaRPr lang="en-US"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521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理论与实践的有效结合</a:t>
            </a:r>
            <a:endParaRPr lang="en-US" sz="1100"/>
          </a:p>
        </p:txBody>
      </p:sp>
      <p:sp>
        <p:nvSpPr>
          <p:cNvPr id="3" name="AutoShape 3"/>
          <p:cNvSpPr/>
          <p:nvPr/>
        </p:nvSpPr>
        <p:spPr>
          <a:xfrm>
            <a:off x="762000" y="1524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3600" y="1778000"/>
            <a:ext cx="558800" cy="558800"/>
          </a:xfrm>
          <a:prstGeom prst="rect">
            <a:avLst/>
          </a:prstGeom>
        </p:spPr>
      </p:pic>
      <p:sp>
        <p:nvSpPr>
          <p:cNvPr id="5" name="AutoShape 5"/>
          <p:cNvSpPr/>
          <p:nvPr/>
        </p:nvSpPr>
        <p:spPr>
          <a:xfrm>
            <a:off x="889000" y="24638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理论指导实践</a:t>
            </a:r>
            <a:endParaRPr lang="en-US" sz="1100"/>
          </a:p>
        </p:txBody>
      </p:sp>
      <p:sp>
        <p:nvSpPr>
          <p:cNvPr id="6" name="AutoShape 6"/>
          <p:cNvSpPr/>
          <p:nvPr/>
        </p:nvSpPr>
        <p:spPr>
          <a:xfrm>
            <a:off x="952500" y="29718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RAG的基本原理和优化策略为项目提供了清晰的技术路线和解决方案，指明了研发方向。</a:t>
            </a:r>
            <a:endParaRPr lang="en-US" sz="1100"/>
          </a:p>
        </p:txBody>
      </p:sp>
      <p:sp>
        <p:nvSpPr>
          <p:cNvPr id="7" name="AutoShape 7"/>
          <p:cNvSpPr/>
          <p:nvPr/>
        </p:nvSpPr>
        <p:spPr>
          <a:xfrm>
            <a:off x="4445000" y="1524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16600" y="1778000"/>
            <a:ext cx="558800" cy="558800"/>
          </a:xfrm>
          <a:prstGeom prst="rect">
            <a:avLst/>
          </a:prstGeom>
        </p:spPr>
      </p:pic>
      <p:sp>
        <p:nvSpPr>
          <p:cNvPr id="9" name="AutoShape 9"/>
          <p:cNvSpPr/>
          <p:nvPr/>
        </p:nvSpPr>
        <p:spPr>
          <a:xfrm>
            <a:off x="4572000" y="24638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实践反哺理论</a:t>
            </a:r>
            <a:endParaRPr lang="en-US" sz="1100"/>
          </a:p>
        </p:txBody>
      </p:sp>
      <p:sp>
        <p:nvSpPr>
          <p:cNvPr id="10" name="AutoShape 10"/>
          <p:cNvSpPr/>
          <p:nvPr/>
        </p:nvSpPr>
        <p:spPr>
          <a:xfrm>
            <a:off x="4635500" y="29718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通过项目实战，验证了不同检索方法的效果，加深了对RAG技术应用场景和局限性的理解。</a:t>
            </a:r>
            <a:endParaRPr lang="en-US" sz="1100"/>
          </a:p>
        </p:txBody>
      </p:sp>
      <p:sp>
        <p:nvSpPr>
          <p:cNvPr id="11" name="AutoShape 11"/>
          <p:cNvSpPr/>
          <p:nvPr/>
        </p:nvSpPr>
        <p:spPr>
          <a:xfrm>
            <a:off x="8128000" y="1524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99600" y="1778000"/>
            <a:ext cx="558800" cy="558800"/>
          </a:xfrm>
          <a:prstGeom prst="rect">
            <a:avLst/>
          </a:prstGeom>
        </p:spPr>
      </p:pic>
      <p:sp>
        <p:nvSpPr>
          <p:cNvPr id="13" name="AutoShape 13"/>
          <p:cNvSpPr/>
          <p:nvPr/>
        </p:nvSpPr>
        <p:spPr>
          <a:xfrm>
            <a:off x="8255000" y="24638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核心收获</a:t>
            </a:r>
            <a:endParaRPr lang="en-US" sz="1100"/>
          </a:p>
        </p:txBody>
      </p:sp>
      <p:sp>
        <p:nvSpPr>
          <p:cNvPr id="14" name="AutoShape 14"/>
          <p:cNvSpPr/>
          <p:nvPr/>
        </p:nvSpPr>
        <p:spPr>
          <a:xfrm>
            <a:off x="8318500" y="29718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掌握了从理论到实践的完整流程，具备了独立设计和实现智能问答系统的能力。</a:t>
            </a:r>
            <a:endParaRPr lang="en-US" sz="1100"/>
          </a:p>
        </p:txBody>
      </p:sp>
      <p:sp>
        <p:nvSpPr>
          <p:cNvPr id="15" name="AutoShape 15"/>
          <p:cNvSpPr/>
          <p:nvPr/>
        </p:nvSpPr>
        <p:spPr>
          <a:xfrm>
            <a:off x="762000" y="50800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232400"/>
            <a:ext cx="10160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“知行合一，不仅掌握了技术，更获得了解决实际问题的能力。”</a:t>
            </a:r>
            <a:endParaRPr lang="en-US" sz="11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556000" y="889000"/>
            <a:ext cx="5080000" cy="5080000"/>
          </a:xfrm>
          <a:prstGeom prst="ellipse">
            <a:avLst/>
          </a:prstGeom>
          <a:solidFill>
            <a:srgbClr val="FFFFFF">
              <a:alpha val="60000"/>
            </a:srgbClr>
          </a:solidFill>
          <a:ln cap="flat" cmpd="sng">
            <a:solidFill>
              <a:srgbClr val="E6CFCF">
                <a:alpha val="60000"/>
              </a:srgbClr>
            </a:solid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651000"/>
            <a:ext cx="812800" cy="812800"/>
          </a:xfrm>
          <a:prstGeom prst="rect">
            <a:avLst/>
          </a:prstGeom>
        </p:spPr>
      </p:pic>
      <p:sp>
        <p:nvSpPr>
          <p:cNvPr id="4" name="AutoShape 4"/>
          <p:cNvSpPr/>
          <p:nvPr/>
        </p:nvSpPr>
        <p:spPr>
          <a:xfrm>
            <a:off x="4419600" y="2667000"/>
            <a:ext cx="33528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a:solidFill>
                  <a:srgbClr val="0288D1"/>
                </a:solidFill>
                <a:latin typeface="Noto Sans SC"/>
                <a:ea typeface="Noto Sans SC"/>
                <a:cs typeface="Noto Sans SC"/>
                <a:sym typeface="Noto Sans SC"/>
              </a:rPr>
              <a:t>总结与展望</a:t>
            </a:r>
            <a:endParaRPr lang="en-US" sz="1100"/>
          </a:p>
        </p:txBody>
      </p:sp>
      <p:sp>
        <p:nvSpPr>
          <p:cNvPr id="5" name="AutoShape 5"/>
          <p:cNvSpPr/>
          <p:nvPr/>
        </p:nvSpPr>
        <p:spPr>
          <a:xfrm>
            <a:off x="0" y="34925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spc="200">
                <a:solidFill>
                  <a:srgbClr val="757575"/>
                </a:solidFill>
                <a:latin typeface="Noto Sans SC"/>
                <a:ea typeface="Noto Sans SC"/>
                <a:cs typeface="Noto Sans SC"/>
                <a:sym typeface="Noto Sans SC"/>
              </a:rPr>
              <a:t>SUMMARY AND OUTLOOK</a:t>
            </a:r>
            <a:endParaRPr lang="en-US" sz="1100"/>
          </a:p>
        </p:txBody>
      </p:sp>
      <p:cxnSp>
        <p:nvCxnSpPr>
          <p:cNvPr id="6" name="Connector 6"/>
          <p:cNvCxnSpPr/>
          <p:nvPr/>
        </p:nvCxnSpPr>
        <p:spPr>
          <a:xfrm rot="-57290">
            <a:off x="5715053" y="3994150"/>
            <a:ext cx="762000" cy="12700"/>
          </a:xfrm>
          <a:prstGeom prst="line">
            <a:avLst/>
          </a:prstGeom>
          <a:solidFill>
            <a:srgbClr val="DEE0E3">
              <a:alpha val="100000"/>
            </a:srgbClr>
          </a:solidFill>
          <a:ln w="25400" cap="flat" cmpd="sng">
            <a:solidFill>
              <a:srgbClr val="0288D1">
                <a:alpha val="100000"/>
              </a:srgbClr>
            </a:solidFill>
            <a:prstDash val="solid"/>
            <a:round/>
            <a:headEnd type="none" w="lg" len="lg"/>
            <a:tailEnd type="none" w="lg" len="lg"/>
          </a:ln>
        </p:spPr>
      </p:cxnSp>
      <p:sp>
        <p:nvSpPr>
          <p:cNvPr id="7" name="AutoShape 7"/>
          <p:cNvSpPr/>
          <p:nvPr/>
        </p:nvSpPr>
        <p:spPr>
          <a:xfrm>
            <a:off x="2286000" y="4318000"/>
            <a:ext cx="762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757575"/>
                </a:solidFill>
                <a:latin typeface="Noto Sans SC"/>
                <a:ea typeface="Noto Sans SC"/>
                <a:cs typeface="Noto Sans SC"/>
                <a:sym typeface="Noto Sans SC"/>
              </a:rPr>
              <a:t>回顾核心知识点，洞察未来技术趋势</a:t>
            </a:r>
            <a:endParaRPr lang="en-US" sz="1100"/>
          </a:p>
        </p:txBody>
      </p:sp>
      <p:sp>
        <p:nvSpPr>
          <p:cNvPr id="8" name="AutoShape 8"/>
          <p:cNvSpPr/>
          <p:nvPr/>
        </p:nvSpPr>
        <p:spPr>
          <a:xfrm>
            <a:off x="0" y="6756400"/>
            <a:ext cx="12192000" cy="1016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2044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核心知识点回顾</a:t>
            </a:r>
            <a:endParaRPr lang="en-US" sz="1100"/>
          </a:p>
        </p:txBody>
      </p:sp>
      <p:sp>
        <p:nvSpPr>
          <p:cNvPr id="3" name="AutoShape 3"/>
          <p:cNvSpPr/>
          <p:nvPr/>
        </p:nvSpPr>
        <p:spPr>
          <a:xfrm>
            <a:off x="762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32000" y="1778000"/>
            <a:ext cx="762000" cy="762000"/>
          </a:xfrm>
          <a:prstGeom prst="rect">
            <a:avLst/>
          </a:prstGeom>
        </p:spPr>
      </p:pic>
      <p:sp>
        <p:nvSpPr>
          <p:cNvPr id="5" name="AutoShape 5"/>
          <p:cNvSpPr/>
          <p:nvPr/>
        </p:nvSpPr>
        <p:spPr>
          <a:xfrm>
            <a:off x="889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RAG基础</a:t>
            </a:r>
            <a:endParaRPr lang="en-US" sz="1100"/>
          </a:p>
        </p:txBody>
      </p:sp>
      <p:sp>
        <p:nvSpPr>
          <p:cNvPr id="6" name="AutoShape 6"/>
          <p:cNvSpPr/>
          <p:nvPr/>
        </p:nvSpPr>
        <p:spPr>
          <a:xfrm>
            <a:off x="952500" y="3175000"/>
            <a:ext cx="2921000" cy="1651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深入理解了RAG的核心概念、优势、局限性及其完整的构建流程，建立了坚实的理论基础。</a:t>
            </a:r>
            <a:endParaRPr lang="en-US" sz="1100"/>
          </a:p>
        </p:txBody>
      </p:sp>
      <p:sp>
        <p:nvSpPr>
          <p:cNvPr id="7" name="AutoShape 7"/>
          <p:cNvSpPr/>
          <p:nvPr/>
        </p:nvSpPr>
        <p:spPr>
          <a:xfrm>
            <a:off x="4445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5000" y="1778000"/>
            <a:ext cx="762000" cy="762000"/>
          </a:xfrm>
          <a:prstGeom prst="rect">
            <a:avLst/>
          </a:prstGeom>
        </p:spPr>
      </p:pic>
      <p:sp>
        <p:nvSpPr>
          <p:cNvPr id="9" name="AutoShape 9"/>
          <p:cNvSpPr/>
          <p:nvPr/>
        </p:nvSpPr>
        <p:spPr>
          <a:xfrm>
            <a:off x="4572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RAG优化</a:t>
            </a:r>
            <a:endParaRPr lang="en-US" sz="1100"/>
          </a:p>
        </p:txBody>
      </p:sp>
      <p:sp>
        <p:nvSpPr>
          <p:cNvPr id="10" name="AutoShape 10"/>
          <p:cNvSpPr/>
          <p:nvPr/>
        </p:nvSpPr>
        <p:spPr>
          <a:xfrm>
            <a:off x="4635500" y="3175000"/>
            <a:ext cx="2921000" cy="1651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掌握了从文档解析、索引构建到混合检索的一系列优化策略，显著提升系统响应速度与准确性。</a:t>
            </a:r>
            <a:endParaRPr lang="en-US" sz="1100"/>
          </a:p>
        </p:txBody>
      </p:sp>
      <p:sp>
        <p:nvSpPr>
          <p:cNvPr id="11" name="AutoShape 11"/>
          <p:cNvSpPr/>
          <p:nvPr/>
        </p:nvSpPr>
        <p:spPr>
          <a:xfrm>
            <a:off x="8128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98000" y="1778000"/>
            <a:ext cx="762000" cy="762000"/>
          </a:xfrm>
          <a:prstGeom prst="rect">
            <a:avLst/>
          </a:prstGeom>
        </p:spPr>
      </p:pic>
      <p:sp>
        <p:nvSpPr>
          <p:cNvPr id="13" name="AutoShape 13"/>
          <p:cNvSpPr/>
          <p:nvPr/>
        </p:nvSpPr>
        <p:spPr>
          <a:xfrm>
            <a:off x="8255000" y="2667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项目实战</a:t>
            </a:r>
            <a:endParaRPr lang="en-US" sz="1100"/>
          </a:p>
        </p:txBody>
      </p:sp>
      <p:sp>
        <p:nvSpPr>
          <p:cNvPr id="14" name="AutoShape 14"/>
          <p:cNvSpPr/>
          <p:nvPr/>
        </p:nvSpPr>
        <p:spPr>
          <a:xfrm>
            <a:off x="8318500" y="3175000"/>
            <a:ext cx="2921000" cy="1651000"/>
          </a:xfrm>
          <a:prstGeom prst="rect">
            <a:avLst/>
          </a:prstGeom>
          <a:noFill/>
          <a:ln w="12700" cap="flat" cmpd="sng">
            <a:noFill/>
            <a:prstDash val="solid"/>
            <a:round/>
          </a:ln>
        </p:spPr>
        <p:txBody>
          <a:bodyPr vert="horz" wrap="square" lIns="0" tIns="0" rIns="0" bIns="0" rtlCol="0" anchor="ctr" anchorCtr="0"/>
          <a:lstStyle/>
          <a:p>
            <a:pPr indent="0" algn="just">
              <a:lnSpc>
                <a:spcPct val="108000"/>
              </a:lnSpc>
              <a:defRPr/>
            </a:pPr>
            <a:r>
              <a:rPr lang="en-US" sz="1600" b="0" i="0" u="none" strike="noStrike">
                <a:solidFill>
                  <a:srgbClr val="757575"/>
                </a:solidFill>
                <a:latin typeface="Noto Sans SC"/>
                <a:ea typeface="Noto Sans SC"/>
                <a:cs typeface="Noto Sans SC"/>
                <a:sym typeface="Noto Sans SC"/>
              </a:rPr>
              <a:t>通过数字人直播间项目将理论落地，对比不同检索方法效果，并学习了LLM微调技术的应用。</a:t>
            </a:r>
            <a:endParaRPr lang="en-US" sz="1100"/>
          </a:p>
        </p:txBody>
      </p:sp>
      <p:sp>
        <p:nvSpPr>
          <p:cNvPr id="15" name="AutoShape 15"/>
          <p:cNvSpPr/>
          <p:nvPr/>
        </p:nvSpPr>
        <p:spPr>
          <a:xfrm>
            <a:off x="762000" y="54610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588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总结：</a:t>
            </a:r>
            <a:r>
              <a:rPr lang="en-US" sz="1800" b="0" i="0" u="none" strike="noStrike">
                <a:solidFill>
                  <a:srgbClr val="757575"/>
                </a:solidFill>
                <a:latin typeface="Noto Sans SC"/>
                <a:ea typeface="Noto Sans SC"/>
                <a:cs typeface="Noto Sans SC"/>
                <a:sym typeface="Noto Sans SC"/>
              </a:rPr>
              <a:t>从理论到实践，全方位掌握RAG技术体系，具备独立构建高性能问答系统的能力。</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022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关键技术总结</a:t>
            </a:r>
            <a:endParaRPr lang="en-US" sz="1100"/>
          </a:p>
        </p:txBody>
      </p:sp>
      <p:sp>
        <p:nvSpPr>
          <p:cNvPr id="3" name="AutoShape 3"/>
          <p:cNvSpPr/>
          <p:nvPr/>
        </p:nvSpPr>
        <p:spPr>
          <a:xfrm>
            <a:off x="762000" y="1397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信息检索技术</a:t>
            </a:r>
            <a:endParaRPr lang="en-US" sz="1100"/>
          </a:p>
        </p:txBody>
      </p:sp>
      <p:sp>
        <p:nvSpPr>
          <p:cNvPr id="6" name="AutoShape 6"/>
          <p:cNvSpPr/>
          <p:nvPr/>
        </p:nvSpPr>
        <p:spPr>
          <a:xfrm>
            <a:off x="1016000" y="21590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关键词检索、向量检索、混合检索，是RAG的核心。</a:t>
            </a:r>
            <a:endParaRPr lang="en-US" sz="1100"/>
          </a:p>
        </p:txBody>
      </p:sp>
      <p:sp>
        <p:nvSpPr>
          <p:cNvPr id="7" name="AutoShape 7"/>
          <p:cNvSpPr/>
          <p:nvPr/>
        </p:nvSpPr>
        <p:spPr>
          <a:xfrm>
            <a:off x="6223000" y="1397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651000"/>
            <a:ext cx="406400" cy="406400"/>
          </a:xfrm>
          <a:prstGeom prst="rect">
            <a:avLst/>
          </a:prstGeom>
        </p:spPr>
      </p:pic>
      <p:sp>
        <p:nvSpPr>
          <p:cNvPr id="9" name="AutoShape 9"/>
          <p:cNvSpPr/>
          <p:nvPr/>
        </p:nvSpPr>
        <p:spPr>
          <a:xfrm>
            <a:off x="6985000" y="160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自然语言处理技术</a:t>
            </a:r>
            <a:endParaRPr lang="en-US" sz="1100"/>
          </a:p>
        </p:txBody>
      </p:sp>
      <p:sp>
        <p:nvSpPr>
          <p:cNvPr id="10" name="AutoShape 10"/>
          <p:cNvSpPr/>
          <p:nvPr/>
        </p:nvSpPr>
        <p:spPr>
          <a:xfrm>
            <a:off x="6477000" y="21590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词嵌入（Embedding）、大语言模型（LLM）、提示工程（Prompt Engineering）。</a:t>
            </a:r>
            <a:endParaRPr lang="en-US" sz="1100"/>
          </a:p>
        </p:txBody>
      </p:sp>
      <p:sp>
        <p:nvSpPr>
          <p:cNvPr id="11" name="AutoShape 11"/>
          <p:cNvSpPr/>
          <p:nvPr/>
        </p:nvSpPr>
        <p:spPr>
          <a:xfrm>
            <a:off x="762000" y="3810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064000"/>
            <a:ext cx="406400" cy="406400"/>
          </a:xfrm>
          <a:prstGeom prst="rect">
            <a:avLst/>
          </a:prstGeom>
        </p:spPr>
      </p:pic>
      <p:sp>
        <p:nvSpPr>
          <p:cNvPr id="13" name="AutoShape 13"/>
          <p:cNvSpPr/>
          <p:nvPr/>
        </p:nvSpPr>
        <p:spPr>
          <a:xfrm>
            <a:off x="1524000" y="4013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知识库构建与管理</a:t>
            </a:r>
            <a:endParaRPr lang="en-US" sz="1100"/>
          </a:p>
        </p:txBody>
      </p:sp>
      <p:sp>
        <p:nvSpPr>
          <p:cNvPr id="14" name="AutoShape 14"/>
          <p:cNvSpPr/>
          <p:nvPr/>
        </p:nvSpPr>
        <p:spPr>
          <a:xfrm>
            <a:off x="1016000" y="45720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数据加载、清洗、分块、向量化、向量数据库存储与检索。</a:t>
            </a:r>
            <a:endParaRPr lang="en-US" sz="1100"/>
          </a:p>
        </p:txBody>
      </p:sp>
      <p:sp>
        <p:nvSpPr>
          <p:cNvPr id="15" name="AutoShape 15"/>
          <p:cNvSpPr/>
          <p:nvPr/>
        </p:nvSpPr>
        <p:spPr>
          <a:xfrm>
            <a:off x="6223000" y="3810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064000"/>
            <a:ext cx="406400" cy="406400"/>
          </a:xfrm>
          <a:prstGeom prst="rect">
            <a:avLst/>
          </a:prstGeom>
        </p:spPr>
      </p:pic>
      <p:sp>
        <p:nvSpPr>
          <p:cNvPr id="17" name="AutoShape 17"/>
          <p:cNvSpPr/>
          <p:nvPr/>
        </p:nvSpPr>
        <p:spPr>
          <a:xfrm>
            <a:off x="6985000" y="4013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系统优化技术</a:t>
            </a:r>
            <a:endParaRPr lang="en-US" sz="1100"/>
          </a:p>
        </p:txBody>
      </p:sp>
      <p:sp>
        <p:nvSpPr>
          <p:cNvPr id="18" name="AutoShape 18"/>
          <p:cNvSpPr/>
          <p:nvPr/>
        </p:nvSpPr>
        <p:spPr>
          <a:xfrm>
            <a:off x="6477000" y="45720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Rewrite、Rerank、模型微调（Fine-tuning）。</a:t>
            </a:r>
            <a:endParaRPr lang="en-US" sz="11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013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RAG技术的未来发展</a:t>
            </a:r>
            <a:endParaRPr lang="en-US" sz="1100"/>
          </a:p>
        </p:txBody>
      </p:sp>
      <p:sp>
        <p:nvSpPr>
          <p:cNvPr id="3" name="AutoShape 3"/>
          <p:cNvSpPr/>
          <p:nvPr/>
        </p:nvSpPr>
        <p:spPr>
          <a:xfrm>
            <a:off x="762000" y="1524000"/>
            <a:ext cx="51435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272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与GraphRAG融合</a:t>
            </a:r>
            <a:endParaRPr lang="en-US" sz="1100"/>
          </a:p>
        </p:txBody>
      </p:sp>
      <p:sp>
        <p:nvSpPr>
          <p:cNvPr id="6" name="AutoShape 6"/>
          <p:cNvSpPr/>
          <p:nvPr/>
        </p:nvSpPr>
        <p:spPr>
          <a:xfrm>
            <a:off x="1016000" y="2222500"/>
            <a:ext cx="46355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更好地处理复杂知识图谱和关系推理，提升对结构化数据的理解能力。</a:t>
            </a:r>
            <a:endParaRPr lang="en-US" sz="1100"/>
          </a:p>
        </p:txBody>
      </p:sp>
      <p:sp>
        <p:nvSpPr>
          <p:cNvPr id="7" name="AutoShape 7"/>
          <p:cNvSpPr/>
          <p:nvPr/>
        </p:nvSpPr>
        <p:spPr>
          <a:xfrm>
            <a:off x="6286500" y="1524000"/>
            <a:ext cx="51435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778000"/>
            <a:ext cx="406400" cy="406400"/>
          </a:xfrm>
          <a:prstGeom prst="rect">
            <a:avLst/>
          </a:prstGeom>
        </p:spPr>
      </p:pic>
      <p:sp>
        <p:nvSpPr>
          <p:cNvPr id="9" name="AutoShape 9"/>
          <p:cNvSpPr/>
          <p:nvPr/>
        </p:nvSpPr>
        <p:spPr>
          <a:xfrm>
            <a:off x="7048500" y="17272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与长上下文LLMs协同</a:t>
            </a:r>
            <a:endParaRPr lang="en-US" sz="1100"/>
          </a:p>
        </p:txBody>
      </p:sp>
      <p:sp>
        <p:nvSpPr>
          <p:cNvPr id="10" name="AutoShape 10"/>
          <p:cNvSpPr/>
          <p:nvPr/>
        </p:nvSpPr>
        <p:spPr>
          <a:xfrm>
            <a:off x="6540500" y="2222500"/>
            <a:ext cx="46355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结合两者优势，构建更强大的智能系统，充分利用长文本记忆与检索能力。</a:t>
            </a:r>
            <a:endParaRPr lang="en-US" sz="1100"/>
          </a:p>
        </p:txBody>
      </p:sp>
      <p:sp>
        <p:nvSpPr>
          <p:cNvPr id="11" name="AutoShape 11"/>
          <p:cNvSpPr/>
          <p:nvPr/>
        </p:nvSpPr>
        <p:spPr>
          <a:xfrm>
            <a:off x="762000" y="3683000"/>
            <a:ext cx="51435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937000"/>
            <a:ext cx="406400" cy="406400"/>
          </a:xfrm>
          <a:prstGeom prst="rect">
            <a:avLst/>
          </a:prstGeom>
        </p:spPr>
      </p:pic>
      <p:sp>
        <p:nvSpPr>
          <p:cNvPr id="13" name="AutoShape 13"/>
          <p:cNvSpPr/>
          <p:nvPr/>
        </p:nvSpPr>
        <p:spPr>
          <a:xfrm>
            <a:off x="1524000" y="38862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多模态RAG</a:t>
            </a:r>
            <a:endParaRPr lang="en-US" sz="1100"/>
          </a:p>
        </p:txBody>
      </p:sp>
      <p:sp>
        <p:nvSpPr>
          <p:cNvPr id="14" name="AutoShape 14"/>
          <p:cNvSpPr/>
          <p:nvPr/>
        </p:nvSpPr>
        <p:spPr>
          <a:xfrm>
            <a:off x="1016000" y="4381500"/>
            <a:ext cx="46355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支持图像、音频、视频等多模态数据的检索与生成，实现更全面的信息交互。</a:t>
            </a:r>
            <a:endParaRPr lang="en-US" sz="1100"/>
          </a:p>
        </p:txBody>
      </p:sp>
      <p:sp>
        <p:nvSpPr>
          <p:cNvPr id="15" name="AutoShape 15"/>
          <p:cNvSpPr/>
          <p:nvPr/>
        </p:nvSpPr>
        <p:spPr>
          <a:xfrm>
            <a:off x="6286500" y="3683000"/>
            <a:ext cx="51435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3937000"/>
            <a:ext cx="406400" cy="406400"/>
          </a:xfrm>
          <a:prstGeom prst="rect">
            <a:avLst/>
          </a:prstGeom>
        </p:spPr>
      </p:pic>
      <p:sp>
        <p:nvSpPr>
          <p:cNvPr id="17" name="AutoShape 17"/>
          <p:cNvSpPr/>
          <p:nvPr/>
        </p:nvSpPr>
        <p:spPr>
          <a:xfrm>
            <a:off x="7048500" y="38862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更高效的优化技术</a:t>
            </a:r>
            <a:endParaRPr lang="en-US" sz="1100"/>
          </a:p>
        </p:txBody>
      </p:sp>
      <p:sp>
        <p:nvSpPr>
          <p:cNvPr id="18" name="AutoShape 18"/>
          <p:cNvSpPr/>
          <p:nvPr/>
        </p:nvSpPr>
        <p:spPr>
          <a:xfrm>
            <a:off x="6540500" y="4381500"/>
            <a:ext cx="46355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在检索速度、准确性和资源消耗之间取得更好的平衡，降低部署门槛。</a:t>
            </a:r>
            <a:endParaRPr lang="en-US" sz="11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02336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数字人直播的未来</a:t>
            </a:r>
            <a:endParaRPr lang="en-US" sz="1100"/>
          </a:p>
        </p:txBody>
      </p:sp>
      <p:sp>
        <p:nvSpPr>
          <p:cNvPr id="3" name="AutoShape 3"/>
          <p:cNvSpPr/>
          <p:nvPr/>
        </p:nvSpPr>
        <p:spPr>
          <a:xfrm>
            <a:off x="762000" y="1524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508000" cy="508000"/>
          </a:xfrm>
          <a:prstGeom prst="rect">
            <a:avLst/>
          </a:prstGeom>
        </p:spPr>
      </p:pic>
      <p:sp>
        <p:nvSpPr>
          <p:cNvPr id="5" name="AutoShape 5"/>
          <p:cNvSpPr/>
          <p:nvPr/>
        </p:nvSpPr>
        <p:spPr>
          <a:xfrm>
            <a:off x="1651000" y="1714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更智能的交互</a:t>
            </a:r>
            <a:endParaRPr lang="en-US" sz="1100"/>
          </a:p>
        </p:txBody>
      </p:sp>
      <p:sp>
        <p:nvSpPr>
          <p:cNvPr id="6" name="AutoShape 6"/>
          <p:cNvSpPr/>
          <p:nvPr/>
        </p:nvSpPr>
        <p:spPr>
          <a:xfrm>
            <a:off x="1651000" y="2159000"/>
            <a:ext cx="3937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基于更强大的AI模型，实现更自然、更深入的对话，理解用户意图并提供精准反馈。</a:t>
            </a:r>
            <a:endParaRPr lang="en-US" sz="1100"/>
          </a:p>
        </p:txBody>
      </p:sp>
      <p:sp>
        <p:nvSpPr>
          <p:cNvPr id="7" name="AutoShape 7"/>
          <p:cNvSpPr/>
          <p:nvPr/>
        </p:nvSpPr>
        <p:spPr>
          <a:xfrm>
            <a:off x="6350000" y="1524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778000"/>
            <a:ext cx="508000" cy="508000"/>
          </a:xfrm>
          <a:prstGeom prst="rect">
            <a:avLst/>
          </a:prstGeom>
        </p:spPr>
      </p:pic>
      <p:sp>
        <p:nvSpPr>
          <p:cNvPr id="9" name="AutoShape 9"/>
          <p:cNvSpPr/>
          <p:nvPr/>
        </p:nvSpPr>
        <p:spPr>
          <a:xfrm>
            <a:off x="7239000" y="1714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更逼真的形象</a:t>
            </a:r>
            <a:endParaRPr lang="en-US" sz="1100"/>
          </a:p>
        </p:txBody>
      </p:sp>
      <p:sp>
        <p:nvSpPr>
          <p:cNvPr id="10" name="AutoShape 10"/>
          <p:cNvSpPr/>
          <p:nvPr/>
        </p:nvSpPr>
        <p:spPr>
          <a:xfrm>
            <a:off x="7239000" y="2159000"/>
            <a:ext cx="3937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结合先进的图形渲染和动作捕捉技术，打造高度拟真的数字人，提升视觉沉浸感。</a:t>
            </a:r>
            <a:endParaRPr lang="en-US" sz="1100"/>
          </a:p>
        </p:txBody>
      </p:sp>
      <p:sp>
        <p:nvSpPr>
          <p:cNvPr id="11" name="AutoShape 11"/>
          <p:cNvSpPr/>
          <p:nvPr/>
        </p:nvSpPr>
        <p:spPr>
          <a:xfrm>
            <a:off x="762000" y="3683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937000"/>
            <a:ext cx="508000" cy="508000"/>
          </a:xfrm>
          <a:prstGeom prst="rect">
            <a:avLst/>
          </a:prstGeom>
        </p:spPr>
      </p:pic>
      <p:sp>
        <p:nvSpPr>
          <p:cNvPr id="13" name="AutoShape 13"/>
          <p:cNvSpPr/>
          <p:nvPr/>
        </p:nvSpPr>
        <p:spPr>
          <a:xfrm>
            <a:off x="1651000" y="3873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更广泛的应用</a:t>
            </a:r>
            <a:endParaRPr lang="en-US" sz="1100"/>
          </a:p>
        </p:txBody>
      </p:sp>
      <p:sp>
        <p:nvSpPr>
          <p:cNvPr id="14" name="AutoShape 14"/>
          <p:cNvSpPr/>
          <p:nvPr/>
        </p:nvSpPr>
        <p:spPr>
          <a:xfrm>
            <a:off x="1651000" y="4318000"/>
            <a:ext cx="3937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从电商直播拓展到教育、医疗、客服、娱乐等更多领域，覆盖全场景服务需求。</a:t>
            </a:r>
            <a:endParaRPr lang="en-US" sz="1100"/>
          </a:p>
        </p:txBody>
      </p:sp>
      <p:sp>
        <p:nvSpPr>
          <p:cNvPr id="15" name="AutoShape 15"/>
          <p:cNvSpPr/>
          <p:nvPr/>
        </p:nvSpPr>
        <p:spPr>
          <a:xfrm>
            <a:off x="6350000" y="3683000"/>
            <a:ext cx="5080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937000"/>
            <a:ext cx="508000" cy="508000"/>
          </a:xfrm>
          <a:prstGeom prst="rect">
            <a:avLst/>
          </a:prstGeom>
        </p:spPr>
      </p:pic>
      <p:sp>
        <p:nvSpPr>
          <p:cNvPr id="17" name="AutoShape 17"/>
          <p:cNvSpPr/>
          <p:nvPr/>
        </p:nvSpPr>
        <p:spPr>
          <a:xfrm>
            <a:off x="7239000" y="3873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个性化体验</a:t>
            </a:r>
            <a:endParaRPr lang="en-US" sz="1100"/>
          </a:p>
        </p:txBody>
      </p:sp>
      <p:sp>
        <p:nvSpPr>
          <p:cNvPr id="18" name="AutoShape 18"/>
          <p:cNvSpPr/>
          <p:nvPr/>
        </p:nvSpPr>
        <p:spPr>
          <a:xfrm>
            <a:off x="7239000" y="4318000"/>
            <a:ext cx="3937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a:solidFill>
                  <a:srgbClr val="757575"/>
                </a:solidFill>
                <a:latin typeface="Noto Sans SC"/>
                <a:ea typeface="Noto Sans SC"/>
                <a:cs typeface="Noto Sans SC"/>
                <a:sym typeface="Noto Sans SC"/>
              </a:rPr>
              <a:t>根据用户画像提供个性化的内容推荐和互动方式，实现千人千面的直播体验。</a:t>
            </a:r>
            <a:endParaRPr lang="en-US" sz="11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524000"/>
            <a:ext cx="812800" cy="812800"/>
          </a:xfrm>
          <a:prstGeom prst="rect">
            <a:avLst/>
          </a:prstGeom>
        </p:spPr>
      </p:pic>
      <p:sp>
        <p:nvSpPr>
          <p:cNvPr id="4" name="AutoShape 4"/>
          <p:cNvSpPr/>
          <p:nvPr/>
        </p:nvSpPr>
        <p:spPr>
          <a:xfrm>
            <a:off x="0" y="2413000"/>
            <a:ext cx="12192000" cy="1270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8000" b="1" i="0" u="none" strike="noStrike">
                <a:solidFill>
                  <a:srgbClr val="0288D1"/>
                </a:solidFill>
                <a:latin typeface="Noto Sans SC"/>
                <a:ea typeface="Noto Sans SC"/>
                <a:cs typeface="Noto Sans SC"/>
                <a:sym typeface="Noto Sans SC"/>
              </a:rPr>
              <a:t>Q&amp;A</a:t>
            </a:r>
            <a:endParaRPr lang="en-US" sz="1100"/>
          </a:p>
        </p:txBody>
      </p:sp>
      <p:sp>
        <p:nvSpPr>
          <p:cNvPr id="5" name="AutoShape 5"/>
          <p:cNvSpPr/>
          <p:nvPr/>
        </p:nvSpPr>
        <p:spPr>
          <a:xfrm>
            <a:off x="0" y="3683000"/>
            <a:ext cx="12192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0" i="0" u="none" strike="noStrike">
                <a:solidFill>
                  <a:srgbClr val="757575"/>
                </a:solidFill>
                <a:latin typeface="Noto Sans SC"/>
                <a:ea typeface="Noto Sans SC"/>
                <a:cs typeface="Noto Sans SC"/>
                <a:sym typeface="Noto Sans SC"/>
              </a:rPr>
              <a:t>问答环节</a:t>
            </a:r>
            <a:endParaRPr lang="en-US" sz="1100"/>
          </a:p>
        </p:txBody>
      </p:sp>
      <p:sp>
        <p:nvSpPr>
          <p:cNvPr id="6" name="AutoShape 6"/>
          <p:cNvSpPr/>
          <p:nvPr/>
        </p:nvSpPr>
        <p:spPr>
          <a:xfrm>
            <a:off x="1016000" y="4572000"/>
            <a:ext cx="1016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800" b="0" i="0" u="none" strike="noStrike">
                <a:solidFill>
                  <a:srgbClr val="757575"/>
                </a:solidFill>
                <a:latin typeface="Noto Sans SC"/>
                <a:ea typeface="Noto Sans SC"/>
                <a:cs typeface="Noto Sans SC"/>
                <a:sym typeface="Noto Sans SC"/>
              </a:rPr>
              <a:t>欢迎大家提出问题，我们一起交流探讨</a:t>
            </a:r>
            <a:endParaRPr lang="en-US" sz="1100"/>
          </a:p>
        </p:txBody>
      </p:sp>
      <p:sp>
        <p:nvSpPr>
          <p:cNvPr id="7" name="AutoShape 7"/>
          <p:cNvSpPr/>
          <p:nvPr/>
        </p:nvSpPr>
        <p:spPr>
          <a:xfrm>
            <a:off x="0" y="6705600"/>
            <a:ext cx="12192000" cy="1524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0288D1">
              <a:alpha val="10000"/>
            </a:srgbClr>
          </a:solidFill>
          <a:ln cap="flat" cmpd="sng">
            <a:solidFill>
              <a:srgbClr val="0077B7">
                <a:alpha val="1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9652000" y="4318000"/>
            <a:ext cx="3810000" cy="3810000"/>
          </a:xfrm>
          <a:prstGeom prst="ellipse">
            <a:avLst/>
          </a:prstGeom>
          <a:solidFill>
            <a:srgbClr val="0288D1">
              <a:alpha val="10000"/>
            </a:srgbClr>
          </a:solidFill>
          <a:ln cap="flat" cmpd="sng">
            <a:solidFill>
              <a:srgbClr val="0077B7">
                <a:alpha val="1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524000"/>
            <a:ext cx="812800" cy="812800"/>
          </a:xfrm>
          <a:prstGeom prst="rect">
            <a:avLst/>
          </a:prstGeom>
        </p:spPr>
      </p:pic>
      <p:sp>
        <p:nvSpPr>
          <p:cNvPr id="5" name="AutoShape 5"/>
          <p:cNvSpPr/>
          <p:nvPr/>
        </p:nvSpPr>
        <p:spPr>
          <a:xfrm>
            <a:off x="4749800" y="2540000"/>
            <a:ext cx="26797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a:solidFill>
                  <a:srgbClr val="0288D1"/>
                </a:solidFill>
                <a:latin typeface="Noto Sans SC"/>
                <a:ea typeface="Noto Sans SC"/>
                <a:cs typeface="Noto Sans SC"/>
                <a:sym typeface="Noto Sans SC"/>
              </a:rPr>
              <a:t>感谢聆听</a:t>
            </a:r>
            <a:endParaRPr lang="en-US" sz="1100"/>
          </a:p>
        </p:txBody>
      </p:sp>
      <p:sp>
        <p:nvSpPr>
          <p:cNvPr id="6" name="AutoShape 6"/>
          <p:cNvSpPr/>
          <p:nvPr/>
        </p:nvSpPr>
        <p:spPr>
          <a:xfrm>
            <a:off x="1016000" y="3429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757575"/>
                </a:solidFill>
                <a:latin typeface="Noto Sans SC"/>
                <a:ea typeface="Noto Sans SC"/>
                <a:cs typeface="Noto Sans SC"/>
                <a:sym typeface="Noto Sans SC"/>
              </a:rPr>
              <a:t>希望本次课程能对大家有所帮助！</a:t>
            </a:r>
            <a:endParaRPr lang="en-US" sz="1100"/>
          </a:p>
        </p:txBody>
      </p:sp>
      <p:sp>
        <p:nvSpPr>
          <p:cNvPr id="7" name="AutoShape 7"/>
          <p:cNvSpPr/>
          <p:nvPr/>
        </p:nvSpPr>
        <p:spPr>
          <a:xfrm>
            <a:off x="5715000" y="4191000"/>
            <a:ext cx="762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0" y="609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57575">
                    <a:alpha val="60000"/>
                  </a:srgbClr>
                </a:solidFill>
                <a:latin typeface="Noto Sans SC"/>
                <a:ea typeface="Noto Sans SC"/>
                <a:cs typeface="Noto Sans SC"/>
                <a:sym typeface="Noto Sans SC"/>
              </a:rPr>
              <a:t>2024 教育课程系列 | 持续学习，不断进步</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8396</Words>
  <Application>WPS 演示</Application>
  <PresentationFormat/>
  <Paragraphs>755</Paragraphs>
  <Slides>43</Slides>
  <Notes>0</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43</vt:i4>
      </vt:variant>
    </vt:vector>
  </HeadingPairs>
  <TitlesOfParts>
    <vt:vector size="65" baseType="lpstr">
      <vt:lpstr>Arial</vt:lpstr>
      <vt:lpstr>宋体</vt:lpstr>
      <vt:lpstr>Wingdings</vt:lpstr>
      <vt:lpstr>Arial</vt:lpstr>
      <vt:lpstr>Noto Sans SC</vt:lpstr>
      <vt:lpstr>Thonburi</vt:lpstr>
      <vt:lpstr>Roboto Mono</vt:lpstr>
      <vt:lpstr>宋体</vt:lpstr>
      <vt:lpstr>汉仪书宋二KW</vt:lpstr>
      <vt:lpstr>微软雅黑</vt:lpstr>
      <vt:lpstr>汉仪旗黑</vt:lpstr>
      <vt:lpstr>Arial Unicode MS</vt:lpstr>
      <vt:lpstr>Source Code Pro</vt:lpstr>
      <vt:lpstr>Consolas</vt:lpstr>
      <vt:lpstr>Consolas</vt:lpstr>
      <vt:lpstr>Noto Sans SC</vt:lpstr>
      <vt:lpstr>Roboto Mono</vt:lpstr>
      <vt:lpstr>Source Code Pro</vt:lpstr>
      <vt:lpstr>苹方-简</vt:lpstr>
      <vt:lpstr>Apple Color Emoji</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Soyoger</cp:lastModifiedBy>
  <cp:revision>1</cp:revision>
  <dcterms:created xsi:type="dcterms:W3CDTF">2026-03-14T06:08:50Z</dcterms:created>
  <dcterms:modified xsi:type="dcterms:W3CDTF">2026-03-14T06:08:50Z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04DE8E9095C10B8771FBB469B66A3109_42</vt:lpwstr>
  </property>
  <property fmtid="{D5CDD505-2E9C-101B-9397-08002B2CF9AE}" pid="3" name="KSOProductBuildVer">
    <vt:lpwstr>2052-7.2.1.8947</vt:lpwstr>
  </property>
</Properties>
</file>