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1.svg" ContentType="image/svg+xml"/>
  <Override PartName="/ppt/media/image163.svg" ContentType="image/svg+xml"/>
  <Override PartName="/ppt/media/image166.svg" ContentType="image/svg+xml"/>
  <Override PartName="/ppt/media/image168.svg" ContentType="image/svg+xml"/>
  <Override PartName="/ppt/media/image17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9.svg" ContentType="image/svg+xml"/>
  <Override PartName="/ppt/media/image2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3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学习第七章的内容，主题是“HuggingFace入门与开发”。HuggingFace作为人工智能领域的重要开源平台，为我们提供了强大的工具和丰富的资源。希望通过本章的学习，大家能够掌握HuggingFace的核心开发技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本次课程的主要内容框架。我们将首先对HuggingFace进行一个整体的介绍，然后深入学习其核心的Hub客户端库、数据集工具、模型工具和评估工具。最后，我们会对本章内容进行总结，并对HuggingFace的未来发展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首先，让我们进入第一部分，了解一下HuggingFace这家公司及其平台的基本情况。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成立于2016年，最初的目标是开发一款社交聊天机器人。随着技术的发展，它逐渐转型，成为了一个提供自然语言处理和人工智能技术、工具及资源的平台。其核心产品包括广为人知的Transformers库和用于模型与数据集分享的Hugging Face Hub，因此也被形象地称为“AI界的GitHub”。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的官方网站是我们获取其资源的主要入口。网站的主要模块包括Models，这里汇集了海量的预训练模型；Datasets，提供了丰富的数据集；Spaces，展示了社区的AI应用成果；以及文档中心Docs等。大家可以访问其官网进行探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接下来，我们将学习如何通过HuggingFace Hub客户端库与Hub平台进行交互。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 Hub是一个用于分享机器学习模型、数据集等资源的平台。我们主要通过基于HTTP的方法与其交互，这也是官方推荐的方式。它的核心功能就是为全球的开发者提供一个模型和数据集的存储、分享和协作平台。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要使用Hub的功能，我们首先需要安装其客户端库huggingface_hub。大家可以通过这个pip命令进行安装，它能让我们在Python代码中直接与Hub平台进行交互。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在进行一些需要权限的操作，比如上传模型或数据集时，我们需要进行身份验证。首先要在官网注册一个账户，然后在账户设置中生成一个访问Token。最后，在代码中使用这个Token进行登录。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掌握了身份验证后，我们来看看一些常用的操作。比如，我们可以使用create_repo方法在Hub上创建一个新的存储库，也可以使用delete_repo方法删除一个已有的存储库。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下载文件是我们经常需要做的操作。我们可以使用hf_hub_download下载单个文件，也可以使用snapshot_download一次性下载整个存储库，非常方便。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同样，我们也可以使用upload_file方法将本地文件上传到Hub的存储库中。此外，通过HfApi类，我们可以实现更多高级功能，比如列出Hub上所有的模型。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了解了Hub的基本操作后，我们进入第三部分，学习HuggingFace的数据集工具，它将帮助我们高效地处理各种AI任务所需的数据集。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HuggingFace的Datasets库是处理数据集的利器。它支持NLP、音频和计算机视觉等多种任务的数据集，我们可以通过简单的一行代码加载数据，并利用其强大的处理方法快速准备好训练数据。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在HuggingFace的官网上，我们可以通过Datasets板块浏览和搜索各种公开的数据集。平台提供了丰富的筛选条件，帮助我们快速找到所需的数据。每个数据集都有详细的介绍页面。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Datasets库主要提供了两种数据集对象类型：Dataset和IterableDataset。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左边的Dataset适合处理中小规模数据，它需要一次性加载到内存或磁盘，支持随机访问。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右边的IterableDataset则采用惰性加载的方式，更适合处理大规模的数据集，可以边读边处理，节省内存，非常适合处理大数据场景。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在下载数据集之前，我们可以先用load_dataset_builder方法查看数据集的基本信息，比如描述、特征等，这有助于我们快速了解数据情况。确认无误后，再用load_dataset方法加载数据集。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数据集都被分成了训练集、验证集和测试集。我们可以使用get_dataset_split_names方法查看一个数据集有哪些分割，然后通过split参数只加载我们需要的部分。对于大数据集，还可以使用num_proc参数开启多进程加载，以提高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处理好的数据集可以使用save_to_disk方法保存到本地，方便后续再次使用。当需要时，再用load_from_disk方法从本地加载即可，无需重新下载和处理。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加载数据集后，我们可以通过多种方式选择和查看数据。比如，可以选择特定的分割、合并多个分割、按行号或百分比来选取数据。通过切片操作，我们可以方便地查看数据集中具体的样本内容。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为了满足不同的训练需求，我们可能需要对数据集进行排序或打散。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左边展示的是排序操作：sort方法可以让我们根据指定的列对数据进行排序，比如这里我们根据'id'列进行降序排列。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右边展示的是打散操作：shuffle方法则可以随机打乱数据的顺序。请注意，我们设置了seed参数以确保结果的可复现性，这在训练模型时非常重要。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我们还可以对数据集进行抽样和过滤。select方法允许我们按照索引选取特定的样本，而filter方法则可以根据自定义的条件过滤出我们需要的数据，非常灵活。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在模型训练中，我们经常需要将一个数据集切分为训练集和测试集，这可以通过train_test_split方法轻松实现。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对于非常大的数据集，我们还可以使用shard方法将其分成多个小块，方便分布式处理。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最后，我们还可以对数据集的列进行操作，比如使用rename_column或rename_columns方法重命名列，或者使用remove_columns方法删除不需要的列，以满足我们的数据处理需求。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学习了数据集工具后，我们现在进入第四部分，探讨HuggingFace的模型工具，包括如何使用预训练模型进行编码，以及如何进行模型的训练和应用。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HuggingFace的模型工具主要围绕其核心的Transformers库展开。这个库提供了我们耳熟能详的各种预训练模型，如BERT、GPT等。它不仅让我们能够方便地使用这些模型进行推理，还提供了强大的Trainer API来简化模型的训练过程。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编码，也就是我们常说的推理，是使用预训练模型的基础。通过AutoClass，我们可以非常方便地加载模型和对应的分词器。整个过程包括分词、模型前向传播，最终得到文本的向量表示，这可以用于后续的各种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HuggingFace提供了非常强大的Trainer API来简化模型训练。其基本流程包括准备数据、加载模型、设置训练参数、初始化Trainer并开始训练。使用Trainer，我们无需编写复杂的训练循环，就能高效地完成模型的微调任务。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除了使用Trainer API，对于有特殊需求的用户，也可以编写自定义的训练循环。此外，HuggingFace还提供了Accelerate等库，帮助我们在不同的硬件环境下高效地进行训练。训练好的模型可以方便地保存并分享到Hub上。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模型应用方面，HuggingFace的Pipeline API提供了极大的便利，我们可以用它快速实现各种NLP任务。训练好的模型也可以很方便地部署成在线服务或演示应用，让更多人能够使用我们的成果。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模型训练完成后，如何科学地评价其性能是非常重要的。接下来，我们将学习HuggingFace的评估工具，它可以帮助我们对模型和数据集进行全面的评价。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HuggingFace的Evaluate库为我们提供了一套完整的评估解决方案。它包含了各种常见的评估指标，并能与我们之前学习的数据集工具和训练工具无缝集成，帮助我们在整个开发流程中进行有效的评估。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在开始训练之前，我们应该对数据集进行全面的评估。这包括分析数据的统计特征，检查是否存在噪声或质量问题，以及评估数据是否存在偏差。高质量的数据是训练出优秀模型的前提。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对于不同的任务，我们有不同的评价指标。比如，在分类任务中，我们常用准确率、精确率、召回率和F1分数。在生成任务中，则会使用BLEU或ROUGE等指标。Evaluate库提供了这些指标的便捷实现。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基本的指标计算，我们还可以将评估过程与训练过程深度集成，实现自动化评估。同时，Evaluate库也支持自定义指标的开发。此外，了解模型的决策依据，即模型的解释性，也是模型评价中越来越重要的一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最后，我们对本章的内容进行一个简要的总结，并对HuggingFace的未来发展进行一些展望。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我们系统地学习了HuggingFace的核心工具链。从Hub的基本操作，到Datasets库的数据处理，再到Transformers库的模型使用与训练，最后是Evaluate库的模型评估。希望大家通过本章的学习，能够熟练运用这些工具进行AI模型的开发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展望未来，HuggingFace及其社区将继续蓬勃发展。我们可以预见，模型的性能会越来越强，多模态融合将成为重要方向，工具链也会更加完善。同时，HuggingFace的影响力也将扩展到更多的行业和领域。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本章的内容就到这里。接下来是问答环节，大家有什么问题可以提出来，我们一起交流讨论。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非常感谢大家的观看和参与，希望本次课程对大家有所帮助。谢谢！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2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image" Target="../media/image15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.svg"/><Relationship Id="rId7" Type="http://schemas.openxmlformats.org/officeDocument/2006/relationships/image" Target="../media/image13.png"/><Relationship Id="rId6" Type="http://schemas.openxmlformats.org/officeDocument/2006/relationships/image" Target="../media/image19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6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image" Target="../media/image25.svg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12.svg"/><Relationship Id="rId5" Type="http://schemas.openxmlformats.org/officeDocument/2006/relationships/image" Target="../media/image30.png"/><Relationship Id="rId4" Type="http://schemas.openxmlformats.org/officeDocument/2006/relationships/image" Target="../media/image2.svg"/><Relationship Id="rId3" Type="http://schemas.openxmlformats.org/officeDocument/2006/relationships/image" Target="../media/image13.png"/><Relationship Id="rId2" Type="http://schemas.openxmlformats.org/officeDocument/2006/relationships/image" Target="../media/image29.svg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27.svg"/><Relationship Id="rId16" Type="http://schemas.openxmlformats.org/officeDocument/2006/relationships/image" Target="../media/image39.png"/><Relationship Id="rId15" Type="http://schemas.openxmlformats.org/officeDocument/2006/relationships/image" Target="../media/image38.png"/><Relationship Id="rId14" Type="http://schemas.openxmlformats.org/officeDocument/2006/relationships/image" Target="../media/image37.svg"/><Relationship Id="rId13" Type="http://schemas.openxmlformats.org/officeDocument/2006/relationships/image" Target="../media/image36.png"/><Relationship Id="rId12" Type="http://schemas.openxmlformats.org/officeDocument/2006/relationships/image" Target="../media/image8.svg"/><Relationship Id="rId11" Type="http://schemas.openxmlformats.org/officeDocument/2006/relationships/image" Target="../media/image35.png"/><Relationship Id="rId10" Type="http://schemas.openxmlformats.org/officeDocument/2006/relationships/image" Target="../media/image34.svg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19.svg"/><Relationship Id="rId5" Type="http://schemas.openxmlformats.org/officeDocument/2006/relationships/image" Target="../media/image23.png"/><Relationship Id="rId4" Type="http://schemas.openxmlformats.org/officeDocument/2006/relationships/image" Target="../media/image2.svg"/><Relationship Id="rId3" Type="http://schemas.openxmlformats.org/officeDocument/2006/relationships/image" Target="../media/image13.png"/><Relationship Id="rId2" Type="http://schemas.openxmlformats.org/officeDocument/2006/relationships/image" Target="../media/image41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1.png"/><Relationship Id="rId6" Type="http://schemas.openxmlformats.org/officeDocument/2006/relationships/image" Target="../media/image53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1.svg"/><Relationship Id="rId4" Type="http://schemas.openxmlformats.org/officeDocument/2006/relationships/image" Target="../media/image65.png"/><Relationship Id="rId3" Type="http://schemas.openxmlformats.org/officeDocument/2006/relationships/image" Target="../media/image64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69.svg"/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43.svg"/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sv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3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12.sv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88.svg"/><Relationship Id="rId1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55.svg"/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1.svg"/><Relationship Id="rId3" Type="http://schemas.openxmlformats.org/officeDocument/2006/relationships/image" Target="../media/image65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103.svg"/><Relationship Id="rId3" Type="http://schemas.openxmlformats.org/officeDocument/2006/relationships/image" Target="../media/image102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65.png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1.svg"/><Relationship Id="rId3" Type="http://schemas.openxmlformats.org/officeDocument/2006/relationships/image" Target="../media/image65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2.svg"/><Relationship Id="rId3" Type="http://schemas.openxmlformats.org/officeDocument/2006/relationships/image" Target="../media/image13.png"/><Relationship Id="rId2" Type="http://schemas.openxmlformats.org/officeDocument/2006/relationships/image" Target="../media/image55.svg"/><Relationship Id="rId1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svg"/><Relationship Id="rId3" Type="http://schemas.openxmlformats.org/officeDocument/2006/relationships/image" Target="../media/image108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2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3.sv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7.svg"/><Relationship Id="rId7" Type="http://schemas.openxmlformats.org/officeDocument/2006/relationships/image" Target="../media/image116.png"/><Relationship Id="rId6" Type="http://schemas.openxmlformats.org/officeDocument/2006/relationships/image" Target="../media/image115.svg"/><Relationship Id="rId5" Type="http://schemas.openxmlformats.org/officeDocument/2006/relationships/image" Target="../media/image114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74.svg"/><Relationship Id="rId7" Type="http://schemas.openxmlformats.org/officeDocument/2006/relationships/image" Target="../media/image73.png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119.svg"/><Relationship Id="rId3" Type="http://schemas.openxmlformats.org/officeDocument/2006/relationships/image" Target="../media/image118.png"/><Relationship Id="rId20" Type="http://schemas.openxmlformats.org/officeDocument/2006/relationships/notesSlide" Target="../notesSlides/notesSlide28.xml"/><Relationship Id="rId2" Type="http://schemas.openxmlformats.org/officeDocument/2006/relationships/image" Target="../media/image95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28.svg"/><Relationship Id="rId17" Type="http://schemas.openxmlformats.org/officeDocument/2006/relationships/image" Target="../media/image127.png"/><Relationship Id="rId16" Type="http://schemas.openxmlformats.org/officeDocument/2006/relationships/image" Target="../media/image126.svg"/><Relationship Id="rId15" Type="http://schemas.openxmlformats.org/officeDocument/2006/relationships/image" Target="../media/image125.png"/><Relationship Id="rId14" Type="http://schemas.openxmlformats.org/officeDocument/2006/relationships/image" Target="../media/image47.svg"/><Relationship Id="rId13" Type="http://schemas.openxmlformats.org/officeDocument/2006/relationships/image" Target="../media/image124.png"/><Relationship Id="rId12" Type="http://schemas.openxmlformats.org/officeDocument/2006/relationships/image" Target="../media/image123.svg"/><Relationship Id="rId11" Type="http://schemas.openxmlformats.org/officeDocument/2006/relationships/image" Target="../media/image122.png"/><Relationship Id="rId10" Type="http://schemas.openxmlformats.org/officeDocument/2006/relationships/image" Target="../media/image2.svg"/><Relationship Id="rId1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2.svg"/><Relationship Id="rId3" Type="http://schemas.openxmlformats.org/officeDocument/2006/relationships/image" Target="../media/image13.png"/><Relationship Id="rId2" Type="http://schemas.openxmlformats.org/officeDocument/2006/relationships/image" Target="../media/image53.svg"/><Relationship Id="rId1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" Type="http://schemas.openxmlformats.org/officeDocument/2006/relationships/image" Target="../media/image2.svg"/><Relationship Id="rId7" Type="http://schemas.openxmlformats.org/officeDocument/2006/relationships/image" Target="../media/image13.png"/><Relationship Id="rId6" Type="http://schemas.openxmlformats.org/officeDocument/2006/relationships/image" Target="../media/image132.svg"/><Relationship Id="rId5" Type="http://schemas.openxmlformats.org/officeDocument/2006/relationships/image" Target="../media/image131.png"/><Relationship Id="rId4" Type="http://schemas.openxmlformats.org/officeDocument/2006/relationships/image" Target="../media/image130.svg"/><Relationship Id="rId3" Type="http://schemas.openxmlformats.org/officeDocument/2006/relationships/image" Target="../media/image129.png"/><Relationship Id="rId2" Type="http://schemas.openxmlformats.org/officeDocument/2006/relationships/image" Target="../media/image85.svg"/><Relationship Id="rId12" Type="http://schemas.openxmlformats.org/officeDocument/2006/relationships/notesSlide" Target="../notesSlides/notesSlide3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34.svg"/><Relationship Id="rId1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svg"/><Relationship Id="rId7" Type="http://schemas.openxmlformats.org/officeDocument/2006/relationships/image" Target="../media/image139.png"/><Relationship Id="rId6" Type="http://schemas.openxmlformats.org/officeDocument/2006/relationships/image" Target="../media/image138.svg"/><Relationship Id="rId5" Type="http://schemas.openxmlformats.org/officeDocument/2006/relationships/image" Target="../media/image137.png"/><Relationship Id="rId4" Type="http://schemas.openxmlformats.org/officeDocument/2006/relationships/image" Target="../media/image2.svg"/><Relationship Id="rId3" Type="http://schemas.openxmlformats.org/officeDocument/2006/relationships/image" Target="../media/image13.png"/><Relationship Id="rId2" Type="http://schemas.openxmlformats.org/officeDocument/2006/relationships/image" Target="../media/image136.svg"/><Relationship Id="rId10" Type="http://schemas.openxmlformats.org/officeDocument/2006/relationships/notesSlide" Target="../notesSlides/notesSlide31.xml"/><Relationship Id="rId1" Type="http://schemas.openxmlformats.org/officeDocument/2006/relationships/image" Target="../media/image135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png"/><Relationship Id="rId8" Type="http://schemas.openxmlformats.org/officeDocument/2006/relationships/image" Target="../media/image47.svg"/><Relationship Id="rId7" Type="http://schemas.openxmlformats.org/officeDocument/2006/relationships/image" Target="../media/image124.png"/><Relationship Id="rId6" Type="http://schemas.openxmlformats.org/officeDocument/2006/relationships/image" Target="../media/image143.svg"/><Relationship Id="rId5" Type="http://schemas.openxmlformats.org/officeDocument/2006/relationships/image" Target="../media/image142.png"/><Relationship Id="rId4" Type="http://schemas.openxmlformats.org/officeDocument/2006/relationships/image" Target="../media/image15.svg"/><Relationship Id="rId3" Type="http://schemas.openxmlformats.org/officeDocument/2006/relationships/image" Target="../media/image139.png"/><Relationship Id="rId2" Type="http://schemas.openxmlformats.org/officeDocument/2006/relationships/image" Target="../media/image141.svg"/><Relationship Id="rId12" Type="http://schemas.openxmlformats.org/officeDocument/2006/relationships/notesSlide" Target="../notesSlides/notesSlide3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45.svg"/><Relationship Id="rId1" Type="http://schemas.openxmlformats.org/officeDocument/2006/relationships/image" Target="../media/image140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png"/><Relationship Id="rId8" Type="http://schemas.openxmlformats.org/officeDocument/2006/relationships/image" Target="../media/image149.svg"/><Relationship Id="rId7" Type="http://schemas.openxmlformats.org/officeDocument/2006/relationships/image" Target="../media/image148.png"/><Relationship Id="rId6" Type="http://schemas.openxmlformats.org/officeDocument/2006/relationships/image" Target="../media/image147.svg"/><Relationship Id="rId5" Type="http://schemas.openxmlformats.org/officeDocument/2006/relationships/image" Target="../media/image146.png"/><Relationship Id="rId4" Type="http://schemas.openxmlformats.org/officeDocument/2006/relationships/image" Target="../media/image15.svg"/><Relationship Id="rId3" Type="http://schemas.openxmlformats.org/officeDocument/2006/relationships/image" Target="../media/image139.png"/><Relationship Id="rId2" Type="http://schemas.openxmlformats.org/officeDocument/2006/relationships/image" Target="../media/image99.svg"/><Relationship Id="rId12" Type="http://schemas.openxmlformats.org/officeDocument/2006/relationships/notesSlide" Target="../notesSlides/notesSlide3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1.svg"/><Relationship Id="rId1" Type="http://schemas.openxmlformats.org/officeDocument/2006/relationships/image" Target="../media/image98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svg"/><Relationship Id="rId7" Type="http://schemas.openxmlformats.org/officeDocument/2006/relationships/image" Target="../media/image154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153.svg"/><Relationship Id="rId3" Type="http://schemas.openxmlformats.org/officeDocument/2006/relationships/image" Target="../media/image152.png"/><Relationship Id="rId2" Type="http://schemas.openxmlformats.org/officeDocument/2006/relationships/image" Target="../media/image99.svg"/><Relationship Id="rId16" Type="http://schemas.openxmlformats.org/officeDocument/2006/relationships/notesSlide" Target="../notesSlides/notesSlide3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23.svg"/><Relationship Id="rId13" Type="http://schemas.openxmlformats.org/officeDocument/2006/relationships/image" Target="../media/image122.png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157.svg"/><Relationship Id="rId1" Type="http://schemas.openxmlformats.org/officeDocument/2006/relationships/image" Target="../media/image9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9.svg"/><Relationship Id="rId5" Type="http://schemas.openxmlformats.org/officeDocument/2006/relationships/image" Target="../media/image158.png"/><Relationship Id="rId4" Type="http://schemas.openxmlformats.org/officeDocument/2006/relationships/image" Target="../media/image143.svg"/><Relationship Id="rId3" Type="http://schemas.openxmlformats.org/officeDocument/2006/relationships/image" Target="../media/image142.png"/><Relationship Id="rId2" Type="http://schemas.openxmlformats.org/officeDocument/2006/relationships/image" Target="../media/image47.svg"/><Relationship Id="rId1" Type="http://schemas.openxmlformats.org/officeDocument/2006/relationships/image" Target="../media/image12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1.svg"/><Relationship Id="rId1" Type="http://schemas.openxmlformats.org/officeDocument/2006/relationships/image" Target="../media/image160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2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30.png"/><Relationship Id="rId4" Type="http://schemas.openxmlformats.org/officeDocument/2006/relationships/image" Target="../media/image10.svg"/><Relationship Id="rId3" Type="http://schemas.openxmlformats.org/officeDocument/2006/relationships/image" Target="../media/image164.png"/><Relationship Id="rId2" Type="http://schemas.openxmlformats.org/officeDocument/2006/relationships/image" Target="../media/image163.svg"/><Relationship Id="rId14" Type="http://schemas.openxmlformats.org/officeDocument/2006/relationships/notesSlide" Target="../notesSlides/notesSlide3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68.svg"/><Relationship Id="rId11" Type="http://schemas.openxmlformats.org/officeDocument/2006/relationships/image" Target="../media/image167.png"/><Relationship Id="rId10" Type="http://schemas.openxmlformats.org/officeDocument/2006/relationships/image" Target="../media/image166.svg"/><Relationship Id="rId1" Type="http://schemas.openxmlformats.org/officeDocument/2006/relationships/image" Target="../media/image162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png"/><Relationship Id="rId8" Type="http://schemas.openxmlformats.org/officeDocument/2006/relationships/image" Target="../media/image172.svg"/><Relationship Id="rId7" Type="http://schemas.openxmlformats.org/officeDocument/2006/relationships/image" Target="../media/image171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70.svg"/><Relationship Id="rId3" Type="http://schemas.openxmlformats.org/officeDocument/2006/relationships/image" Target="../media/image169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3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74.svg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6.svg"/><Relationship Id="rId1" Type="http://schemas.openxmlformats.org/officeDocument/2006/relationships/image" Target="../media/image17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8.svg"/><Relationship Id="rId1" Type="http://schemas.openxmlformats.org/officeDocument/2006/relationships/image" Target="../media/image1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7200" y="1270000"/>
            <a:ext cx="1117600" cy="11176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324100" y="2540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第7章 HuggingFace入门与开发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359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3556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人工智能前沿技术教学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4572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4889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318000" y="48514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讲师：[留空]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488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477000" y="48514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日期：[留空]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50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01. HuggingFace简介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222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了解 HuggingFace 的起源、使命及在 NLP 领域的地位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025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02. Hub客户端库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02500" y="2222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学习如何使用客户端库与模型库进行交互与管理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17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925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336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03. 数据集工具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841500" y="3746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掌握加载、处理和分享各类 NLP 数据集的方法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17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4925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02500" y="336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04. 模型工具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02500" y="3746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深入学习模型的加载、微调、推理及部署流程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69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016500"/>
            <a:ext cx="635000" cy="635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841500" y="488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05. 评估工具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841500" y="5270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Evaluate 库对模型性能进行多维度评测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69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016500"/>
            <a:ext cx="635000" cy="635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488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06. 总结与展望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02500" y="5270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回顾核心知识点，探讨 HuggingFace 的未来发展趋势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81000" y="-381000"/>
            <a:ext cx="1524000" cy="1524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286000" cy="2286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3581400" y="2540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01 HuggingFace简介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29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AI界的GitHub，开源协作的典范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HuggingFace公司简介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41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成立时间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222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2016年成立，总部位于美国纽约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841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初始目标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39000" y="2222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最初致力于开发一款社交聊天机器人应用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17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92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365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发展方向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3746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转向提供广泛的NLP和AI技术、工具及资源平台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17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492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3365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3746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Transformers库、Hugging Face Hub模型库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69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016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4889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行业地位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78000" y="5270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被誉为“AI界的GitHub”，推动模型开源共享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69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016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39000" y="4889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5270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拥有庞大的开发者社区，持续贡献最新模型技术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HuggingFace官方网站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826000" cy="508000"/>
          </a:xfrm>
          <a:prstGeom prst="roundRect">
            <a:avLst>
              <a:gd name="adj" fmla="val 25000"/>
            </a:avLst>
          </a:prstGeom>
          <a:solidFill>
            <a:srgbClr val="0277BD">
              <a:alpha val="10000"/>
            </a:srgbClr>
          </a:solidFill>
          <a:ln cap="flat" cmpd="sng">
            <a:solidFill>
              <a:srgbClr val="0066A4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4986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4732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官方主页：https://huggingface.co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95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03500"/>
            <a:ext cx="228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27940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667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Models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海量预训练开源模型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619500"/>
            <a:ext cx="228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38100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683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丰富的开源数据集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635500"/>
            <a:ext cx="228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" y="48260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699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Spaces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热门AI应用展示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302000" y="2603500"/>
            <a:ext cx="228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9000" y="27940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937000" y="2667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Posts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HF Hub社区帖子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302000" y="3619500"/>
            <a:ext cx="228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9000" y="38100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3937000" y="3683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Docs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官方文档中心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302000" y="4635500"/>
            <a:ext cx="228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29000" y="48260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3937000" y="4699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Pricing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高级功能定价方案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rcRect l="23" r="23"/>
          <a:stretch>
            <a:fillRect/>
          </a:stretch>
        </p:blipFill>
        <p:spPr>
          <a:xfrm>
            <a:off x="7112000" y="1651000"/>
            <a:ext cx="4318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6" name="AutoShape 26"/>
          <p:cNvSpPr/>
          <p:nvPr/>
        </p:nvSpPr>
        <p:spPr>
          <a:xfrm>
            <a:off x="7112000" y="3810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官网首页界面展示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12000" y="4318000"/>
            <a:ext cx="4318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02500" y="4508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683500" y="4445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社区生态优势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汇聚全球开发者，支持模型共享、协作与部署，构建开放的AI创新平台。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635000" y="2540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02 HuggingFace Hub客户端库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359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635000" y="3556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与Hub交互的核心工具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4572000"/>
            <a:ext cx="304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482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32000" y="4762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5270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便捷下载与上传模型文件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4572000"/>
            <a:ext cx="304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482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4762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26000" y="5270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追踪模型迭代与历史版本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4572000"/>
            <a:ext cx="304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8000" y="482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4762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交互接口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5270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程序化调用Hub各类功能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Hub简介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54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分享机器学习模型、演示、数据集和指标的首选平台，本质是基于Git的存储库集合。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854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访问方式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17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基于Git的方法（已弃用）</a:t>
            </a:r>
            <a:endParaRPr lang="en-US" sz="1100"/>
          </a:p>
          <a:p>
            <a:pPr marL="177800" indent="-177800" algn="l">
              <a:lnSpc>
                <a:spcPct val="117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基于HTTP的方法（推荐使用）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854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提供模型、数据集的存储和分享功能，促进社区协作和知识共享，加速AI开发进程。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130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953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 是连接全球AI开发者的桥梁，通过标准化的资源分享机制，极大地降低了模型复用和协作的门槛。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Hub客户端库安装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5000" y="1905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核心功能与优势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2667000"/>
            <a:ext cx="40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通过安装</a:t>
            </a: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huggingface_hub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库，开发者可以在本地开发环境中直接与 Hugging Face Hub 进行交互，无需离开代码编辑器即可完成模型下载、上传和管理等操作。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1524000"/>
            <a:ext cx="558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905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快速安装命令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4826000" cy="889000"/>
          </a:xfrm>
          <a:prstGeom prst="roundRect">
            <a:avLst>
              <a:gd name="adj" fmla="val 7142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2857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pip3 install --upgrade huggingface_hub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368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 建议使用虚拟环境进行安装，避免依赖冲突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准备就绪：安装完成后，即可开启高效的模型开发之旅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Hub身份验证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注册账户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访问HuggingFace官网，完成个人账户注册。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603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857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30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获取访问Token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在账户“设置”-&gt;“Access Tokens”中生成新Token。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00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937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代码实现登录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4381500"/>
            <a:ext cx="3937000" cy="889000"/>
          </a:xfrm>
          <a:prstGeom prst="roundRect">
            <a:avLst>
              <a:gd name="adj" fmla="val 7142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778000" y="4445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from huggingface_hub import login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token = "hf_xxxxxx" # 替换为你的Token</a:t>
            </a:r>
            <a:endParaRPr lang="en-US" sz="1200" b="0" i="0" u="none" strike="noStrike">
              <a:solidFill>
                <a:srgbClr val="505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login(token=token)</a:t>
            </a:r>
            <a:endParaRPr lang="en-US" sz="1200" b="0" i="0" u="none" strike="noStrike">
              <a:solidFill>
                <a:srgbClr val="505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397000"/>
            <a:ext cx="5207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t="92" b="92"/>
          <a:stretch>
            <a:fillRect/>
          </a:stretch>
        </p:blipFill>
        <p:spPr>
          <a:xfrm>
            <a:off x="6350000" y="1524000"/>
            <a:ext cx="4953000" cy="2349500"/>
          </a:xfrm>
          <a:prstGeom prst="roundRect">
            <a:avLst>
              <a:gd name="adj" fmla="val 540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223000" y="406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图示：HuggingFace Access Tokens 页面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Hub常用操作（1）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609600"/>
          </a:xfrm>
          <a:prstGeom prst="roundRect">
            <a:avLst>
              <a:gd name="adj" fmla="val 20833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625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574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创建存储库 (Create)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create_repo 方法创建新的模型或数据集库。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30500"/>
            <a:ext cx="4699000" cy="1968500"/>
          </a:xfrm>
          <a:prstGeom prst="roundRect">
            <a:avLst>
              <a:gd name="adj" fmla="val 322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2857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huggingface_hub</a:t>
            </a:r>
            <a:r>
              <a:rPr lang="en-US" sz="1300" b="0" i="0" u="none" strike="noStrike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create_repo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repo_id =</a:t>
            </a:r>
            <a:r>
              <a:rPr lang="en-US" sz="1300" b="0" i="0" u="none" strike="noStrik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"soyoger/test-model"</a:t>
            </a:r>
            <a:endParaRPr lang="en-US" sz="1300" b="0" i="0" u="none" strike="noStrike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create_repo(repo_id, private=</a:t>
            </a:r>
            <a:r>
              <a:rPr lang="en-US" sz="1300" b="0" i="0" u="none" strike="noStrike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, repo_type=</a:t>
            </a:r>
            <a:r>
              <a:rPr lang="en-US" sz="1300" b="0" i="0" u="none" strike="noStrik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"model"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3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524000"/>
            <a:ext cx="5080000" cy="609600"/>
          </a:xfrm>
          <a:prstGeom prst="roundRect">
            <a:avLst>
              <a:gd name="adj" fmla="val 20833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6256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1574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删除存储库 (Delete)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2286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delete_repo 方法删除已有的存储库，注意权限。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2730500"/>
            <a:ext cx="4699000" cy="1968500"/>
          </a:xfrm>
          <a:prstGeom prst="roundRect">
            <a:avLst>
              <a:gd name="adj" fmla="val 322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67500" y="2857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huggingface_hub</a:t>
            </a:r>
            <a:r>
              <a:rPr lang="en-US" sz="1300" b="0" i="0" u="none" strike="noStrike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delete_repo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repo_id =</a:t>
            </a:r>
            <a:r>
              <a:rPr lang="en-US" sz="1300" b="0" i="0" u="none" strike="noStrik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"soyoger/test-model"</a:t>
            </a:r>
            <a:endParaRPr lang="en-US" sz="1300" b="0" i="0" u="none" strike="noStrike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delete_repo(repo_id, repo_type=</a:t>
            </a:r>
            <a:r>
              <a:rPr lang="en-US" sz="1300" b="0" i="0" u="none" strike="noStrik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"model"</a:t>
            </a:r>
            <a:r>
              <a:rPr lang="en-US" sz="13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3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6515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588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操作前请确保已完成身份验证。删除操作不可逆，请谨慎执行。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Hub常用操作（2）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下载单个文件 (hf_hub_download)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2286000"/>
          </a:xfrm>
          <a:prstGeom prst="roundRect">
            <a:avLst>
              <a:gd name="adj" fmla="val 2777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4130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from huggingface_hub import hf_hub_download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repo_id = "moka-ai/m3e-base"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filename = "config.json"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hf_hub_download(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repo_id=repo_id, filename=filename,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repo_type="model", local_dir='./tmp'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下载完整存储库 (snapshot_download)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286000"/>
            <a:ext cx="4572000" cy="2286000"/>
          </a:xfrm>
          <a:prstGeom prst="roundRect">
            <a:avLst>
              <a:gd name="adj" fmla="val 2777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731000" y="24130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from huggingface_hub import snapshot_download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repo_id = "moka-ai/m3e-base"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snapshot_download(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repo_id=repo_id,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repo_type="model",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local_dir='./tmp'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524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4610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提示：使用</a:t>
            </a:r>
            <a:r>
              <a:rPr lang="en-US" sz="1400" b="1" i="0" u="none" strike="noStrike">
                <a:solidFill>
                  <a:srgbClr val="0277BD"/>
                </a:solidFill>
                <a:latin typeface="Consolas"/>
                <a:ea typeface="Consolas"/>
                <a:cs typeface="Consolas"/>
                <a:sym typeface="Consolas"/>
              </a:rPr>
              <a:t>hf_hub_download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可精确获取特定文件，节省带宽；使用</a:t>
            </a:r>
            <a:r>
              <a:rPr lang="en-US" sz="1400" b="1" i="0" u="none" strike="noStrike">
                <a:solidFill>
                  <a:srgbClr val="0277BD"/>
                </a:solidFill>
                <a:latin typeface="Consolas"/>
                <a:ea typeface="Consolas"/>
                <a:cs typeface="Consolas"/>
                <a:sym typeface="Consolas"/>
              </a:rPr>
              <a:t>snapshot_download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则可完整克隆仓库，适合需要所有模型文件的场景。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9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Hub常用操作（3）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上传文件 (upload_file)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572000" cy="2413000"/>
          </a:xfrm>
          <a:prstGeom prst="roundRect">
            <a:avLst>
              <a:gd name="adj" fmla="val 2631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286000"/>
            <a:ext cx="431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from huggingface_hub import upload_file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repo_id = "soyoger/test-model"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upload_file(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path_or_fileobj="/path/README.md",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path_in_repo="README.md",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repo_id=repo_id,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repo_type='model'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HfApi (高级功能)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159000"/>
            <a:ext cx="4572000" cy="2413000"/>
          </a:xfrm>
          <a:prstGeom prst="roundRect">
            <a:avLst>
              <a:gd name="adj" fmla="val 2631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731000" y="2286000"/>
            <a:ext cx="431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from huggingface_hub.hf_api import HfApi, list_models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token = "hf_xxxxxx"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hf_api = HfApi(token=token)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models = list_models()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for model in models: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print(model)</a:t>
            </a:r>
            <a:endParaRPr lang="en-US" sz="1200" b="0" i="0" u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270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操作要点：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`upload_file` 可以便捷地上传文件；而 `HfApi` 提供了更底层的接口，支持更复杂的操作，如模型列表查询、仓库管理等。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444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01600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032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966720" y="2971800"/>
            <a:ext cx="62585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03 HuggingFace数据集工具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37338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轻松访问和处理各类数据集，加速AI模型训练流程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HuggingFace数据集工具简介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核心功能：Datasets库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专为音频、计算机视觉和自然语言处理任务设计。提供统一的接口，用于轻松访问和共享各类高质量数据集。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支持一行代码快速加载数据集，内置强大的数据处理流水线，显著提高数据预处理效率，降低开发门槛。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759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安装命令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254500"/>
            <a:ext cx="10160000" cy="889000"/>
          </a:xfrm>
          <a:prstGeom prst="roundRect">
            <a:avLst>
              <a:gd name="adj" fmla="val 7142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43000" y="4318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基础安装：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pip3 install datasets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扩展支持：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音频支持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pip3 install datasets[audio]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| 图像支持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pip3 install datasets[vision]</a:t>
            </a:r>
            <a:endParaRPr lang="en-US" sz="1400" b="0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HuggingFace数据集平台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714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访问方式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0" y="203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访问HuggingFace官网，单击顶部导航栏中的“Datasets”板块即可进入。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1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73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平台核心功能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97000" y="34925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搜索与浏览：快速检索海量公开数据集资源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多维筛选：按任务类型、数据量、语言等条件精准定位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详情查看：获取数据集描述、特征、大小等关键信息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41" r="41"/>
          <a:stretch>
            <a:fillRect/>
          </a:stretch>
        </p:blipFill>
        <p:spPr>
          <a:xfrm>
            <a:off x="6350000" y="1524000"/>
            <a:ext cx="4826000" cy="2286000"/>
          </a:xfrm>
          <a:prstGeom prst="roundRect">
            <a:avLst>
              <a:gd name="adj" fmla="val 5555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5400000" algn="tl" rotWithShape="0">
              <a:srgbClr val="0277BD">
                <a:alpha val="15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3500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Datasets 平台界面示例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数据集对象类型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8288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28800" y="1828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28800" y="22098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Map-style 数据集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766">
            <a:off x="1066809" y="2660650"/>
            <a:ext cx="4470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28575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需要将整个数据集存储在磁盘或内存中，支持随机访问。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36195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中小规模的数据集，数据量较小且易于加载。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18288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16800" y="1828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IterableDataset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416800" y="22098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Iterable-style 数据集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766">
            <a:off x="6654809" y="2660650"/>
            <a:ext cx="4470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54800" y="28575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具有惰性行为优势，在线流式读取数据，无需写入磁盘。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54800" y="36195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大规模数据集，数据量过大无法一次性加载到内存。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B2DF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308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2324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参考文档：</a:t>
            </a:r>
            <a:r>
              <a:rPr lang="en-US" sz="1400" b="0" i="0" u="sng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https://huggingface.co/docs/datasets/about_mapstyle_vs_iterable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数据集基本操作（1）- 检查与加载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508000"/>
          </a:xfrm>
          <a:prstGeom prst="roundRect">
            <a:avLst>
              <a:gd name="adj" fmla="val 2500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625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549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检查数据集 (Inspection)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load_dataset_builder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方法，无需下载即可快速获取数据集元信息。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4699000" cy="1905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2921000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from datasets import load_dataset_builder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ds_builder = load_dataset_builder(</a:t>
            </a:r>
            <a:r>
              <a:rPr lang="en-US" sz="1200" b="0" i="0" u="none" strike="noStrike">
                <a:solidFill>
                  <a:srgbClr val="D69E2E"/>
                </a:solidFill>
                <a:latin typeface="Roboto Mono"/>
                <a:ea typeface="Roboto Mono"/>
                <a:cs typeface="Roboto Mono"/>
                <a:sym typeface="Roboto Mono"/>
              </a:rPr>
              <a:t>"hltcoe/weibo_ner"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, trust_remote_code=True)</a:t>
            </a:r>
            <a:endParaRPr lang="en-US" sz="12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print(ds_builder.info.description)</a:t>
            </a:r>
            <a:endParaRPr lang="en-US" sz="12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print(ds_builder.info.features)</a:t>
            </a:r>
            <a:endParaRPr lang="en-US" sz="12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524000"/>
            <a:ext cx="5080000" cy="508000"/>
          </a:xfrm>
          <a:prstGeom prst="roundRect">
            <a:avLst>
              <a:gd name="adj" fmla="val 2500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625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1549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加载数据集 (Loading)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确认信息无误后，使用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load_dataset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方法正式加载数据进行后续处理。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2794000"/>
            <a:ext cx="4699000" cy="1905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67500" y="2921000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from datasets import load_dataset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dataset = load_dataset(</a:t>
            </a:r>
            <a:r>
              <a:rPr lang="en-US" sz="1200" b="0" i="0" u="none" strike="noStrike">
                <a:solidFill>
                  <a:srgbClr val="D69E2E"/>
                </a:solidFill>
                <a:latin typeface="Roboto Mono"/>
                <a:ea typeface="Roboto Mono"/>
                <a:cs typeface="Roboto Mono"/>
                <a:sym typeface="Roboto Mono"/>
              </a:rPr>
              <a:t>"hltcoe/weibo_ner"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, trust_remote_code=True)</a:t>
            </a:r>
            <a:endParaRPr lang="en-US" sz="12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print(dataset)</a:t>
            </a:r>
            <a:endParaRPr lang="en-US" sz="12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5245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461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操作提示：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在下载大型数据集前，建议先使用 `load_dataset_builder` 预览信息，避免下载错误或过大的数据集浪费时间。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数据集基本操作（2）- 加载特定分割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1587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获取分割名称：查看数据集包含哪些部分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74800" y="19685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`get_dataset_split_names` 方法获取数据集的所有分割名称。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74800" y="2286000"/>
            <a:ext cx="9525000" cy="381000"/>
          </a:xfrm>
          <a:prstGeom prst="roundRect">
            <a:avLst>
              <a:gd name="adj" fmla="val 16666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701800" y="2311400"/>
            <a:ext cx="927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print(get_dataset_split_names("hltcoe/weibo_ner", trust_remote_code=True))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3238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加载特定分割：按需加载数据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74800" y="36195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`split` 参数指定加载训练集(train)、验证集(validation)或测试集(test)。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74800" y="3937000"/>
            <a:ext cx="9525000" cy="381000"/>
          </a:xfrm>
          <a:prstGeom prst="roundRect">
            <a:avLst>
              <a:gd name="adj" fmla="val 16666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701800" y="3962400"/>
            <a:ext cx="927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dataset = load_dataset("hltcoe/weibo_ner", split="train", trust_remote_code=True)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74800" y="4889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多进程加载：提升大数据集处理效率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74800" y="52705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利用多核CPU，通过 `num_proc` 参数开启多进程加载，显著加快数据处理速度。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74800" y="5588000"/>
            <a:ext cx="9525000" cy="381000"/>
          </a:xfrm>
          <a:prstGeom prst="roundRect">
            <a:avLst>
              <a:gd name="adj" fmla="val 16666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701800" y="5613400"/>
            <a:ext cx="927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dataset = load_dataset("hltcoe/weibo_ner", trust_remote_code=True, num_proc=8)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数据集基本操作（3）- 保存与加载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保存数据集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save_to_disk 方法将数据集持久化到本地磁盘，方便后续复用。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572000" cy="1143000"/>
          </a:xfrm>
          <a:prstGeom prst="roundRect">
            <a:avLst>
              <a:gd name="adj" fmla="val 555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048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dataset.save_to_disk(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"./tmp/weibo_ner"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加载本地数据集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load_from_disk 方法从本地加载已保存的数据集，避免重复处理。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921000"/>
            <a:ext cx="4572000" cy="1143000"/>
          </a:xfrm>
          <a:prstGeom prst="roundRect">
            <a:avLst>
              <a:gd name="adj" fmla="val 555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31000" y="3048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from datasets import load_from_disk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 = load_from_disk(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"./tmp/weibo_ner"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8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07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5143500"/>
            <a:ext cx="971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核心提示：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预处理后的数据集通常体积较大且处理耗时，将其保存到本地可以显著提升后续实验的启动速度，是高效开发的必备技巧。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49376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数据集基本操作（4）- 查看数据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选择特定数据 (Selection)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4699000" cy="2159000"/>
          </a:xfrm>
          <a:prstGeom prst="roundRect">
            <a:avLst>
              <a:gd name="adj" fmla="val 2941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22225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选择train的数据集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dataset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load_dataset("weibo_ner",</a:t>
            </a:r>
            <a:r>
              <a:rPr lang="en-US" sz="1200" b="0" i="0" u="none" strike="noStrike">
                <a:solidFill>
                  <a:srgbClr val="33691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split="train"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选择train+test的数据集</a:t>
            </a:r>
            <a:endParaRPr lang="en-US" sz="1200" b="0" i="0" u="none" strike="noStrike">
              <a:solidFill>
                <a:srgbClr val="7575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dataset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load_dataset("weibo_ner",</a:t>
            </a:r>
            <a:r>
              <a:rPr lang="en-US" sz="1200" b="0" i="0" u="none" strike="noStrike">
                <a:solidFill>
                  <a:srgbClr val="33691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split="train+test"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按行获取数据集 (10-20行)</a:t>
            </a:r>
            <a:endParaRPr lang="en-US" sz="1200" b="0" i="0" u="none" strike="noStrike">
              <a:solidFill>
                <a:srgbClr val="7575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dataset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load_dataset("weibo_ner",</a:t>
            </a:r>
            <a:r>
              <a:rPr lang="en-US" sz="1200" b="0" i="0" u="none" strike="noStrike">
                <a:solidFill>
                  <a:srgbClr val="33691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split="train[10:20]"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按百分比获取数据集 (前20%)</a:t>
            </a:r>
            <a:endParaRPr lang="en-US" sz="1200" b="0" i="0" u="none" strike="noStrike">
              <a:solidFill>
                <a:srgbClr val="7575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dataset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load_dataset("weibo_ner",</a:t>
            </a:r>
            <a:r>
              <a:rPr lang="en-US" sz="1200" b="0" i="0" u="none" strike="noStrike">
                <a:solidFill>
                  <a:srgbClr val="33691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split="train[:20%]"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查看数据内容 (Inspection)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159000"/>
            <a:ext cx="4699000" cy="2159000"/>
          </a:xfrm>
          <a:prstGeom prst="roundRect">
            <a:avLst>
              <a:gd name="adj" fmla="val 2941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67500" y="22225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查看数据集中的第一个样本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</a:t>
            </a: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dataset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[:1])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输出结果示例：</a:t>
            </a:r>
            <a:endParaRPr lang="en-US" sz="1200" b="0" i="0" u="none" strike="noStrike">
              <a:solidFill>
                <a:srgbClr val="7575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[{'text': '...', 'label': ['O', 'PER', ...]}]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遍历查看数据</a:t>
            </a:r>
            <a:endParaRPr lang="en-US" sz="1200" b="0" i="0" u="none" strike="noStrike">
              <a:solidFill>
                <a:srgbClr val="7575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item</a:t>
            </a:r>
            <a:r>
              <a:rPr lang="en-US" sz="12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indataset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print(item[</a:t>
            </a:r>
            <a:r>
              <a:rPr lang="en-US" sz="1200" b="0" i="0" u="none" strike="noStrike">
                <a:solidFill>
                  <a:srgbClr val="33691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"text"</a:t>
            </a:r>
            <a:r>
              <a:rPr lang="en-US" sz="1200" b="0" i="0" u="none" strike="noStrike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])</a:t>
            </a:r>
            <a:endParaRPr lang="en-US" sz="1200" b="0" i="0" u="none" strike="noStrike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80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0165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核心要点总结：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1. 灵活的分割选择：通过 `split` 参数支持精确到行号、百分比或组合分割的方式，便于快速获取数据子集。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2. 直观的数据预览：利用 Python 切片语法（如 [:1]）可以快速查看数据结构，验证数据加载是否正确。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数据集基本操作（5）- 排序与打散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828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排序 (Sort)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286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sort 方法对数据集指定列进行排序，支持升序或降序排列。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470400" cy="1397000"/>
          </a:xfrm>
          <a:prstGeom prst="roundRect">
            <a:avLst>
              <a:gd name="adj" fmla="val 4545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93800" y="3048000"/>
            <a:ext cx="421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# 根据 'id' 列进行降序排序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sorted_dataset = dataset.sort(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column_names=['id'],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reverse=True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4800" y="1828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打散 (Shuffle)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54800" y="2286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shuffle 方法对数据集进行随机重新排列，常用于训练前的数据准备。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54800" y="2921000"/>
            <a:ext cx="4470400" cy="1397000"/>
          </a:xfrm>
          <a:prstGeom prst="roundRect">
            <a:avLst>
              <a:gd name="adj" fmla="val 4545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81800" y="3048000"/>
            <a:ext cx="421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# 随机打乱数据顺序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shuffled_dataset = dataset.shuffle(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seed=100,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writer_batch_size=10000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546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核心提示：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在机器学习训练流程中，数据排序有助于特定数据的预处理，而数据打散（Shuffle）则是防止模型过拟合、保证训练随机性的关键步骤。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数据集基本操作（6）- 抽样与过滤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抽样 (Sampling)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413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select 方法按照索引下标抽取数据，适用于选取特定样本。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4470400" cy="1143000"/>
          </a:xfrm>
          <a:prstGeom prst="roundRect">
            <a:avLst>
              <a:gd name="adj" fmla="val 555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93800" y="3175000"/>
            <a:ext cx="4216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# 抽取索引为 0, 10, 20, 30 的样本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Consolas"/>
                <a:ea typeface="Consolas"/>
                <a:cs typeface="Consolas"/>
                <a:sym typeface="Consolas"/>
              </a:rPr>
              <a:t>sample_dataset</a:t>
            </a: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= dataset.select([0, 10, 20, 30])</a:t>
            </a:r>
            <a:endParaRPr lang="en-US" sz="1400" b="0" i="0" u="none" strike="noStrike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过滤 (Filtering)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54800" y="2413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filter 方法结合自定义条件过滤数据，灵活性极高。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54800" y="3048000"/>
            <a:ext cx="4470400" cy="1143000"/>
          </a:xfrm>
          <a:prstGeom prst="roundRect">
            <a:avLst>
              <a:gd name="adj" fmla="val 555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81800" y="3175000"/>
            <a:ext cx="4216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# 过滤出 id 小于 10 的数据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Consolas"/>
                <a:ea typeface="Consolas"/>
                <a:cs typeface="Consolas"/>
                <a:sym typeface="Consolas"/>
              </a:rPr>
              <a:t>filtered_dataset</a:t>
            </a: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= dataset.filter(lambda x: int(x['id']) &lt; 10)</a:t>
            </a:r>
            <a:endParaRPr lang="en-US" sz="1400" b="0" i="0" u="none" strike="noStrike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832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0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核心提示：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抽样侧重于索引选取，过滤侧重于条件筛选，两者常结合使用以高效处理大数据集。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70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数据集基本操作（7）- 切分与分片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切分 (Split)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train_test_split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方法将数据集随机划分为训练集和测试集，常用于模型验证。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175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train_test_dataset = dataset.train_test_split(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test_size=0.3, writer_batch_size=10000</a:t>
            </a:r>
            <a:endParaRPr lang="en-US" sz="1200" b="0" i="0" u="none" strike="noStrike">
              <a:solidFill>
                <a:srgbClr val="42424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200" b="0" i="0" u="none" strike="noStrike">
              <a:solidFill>
                <a:srgbClr val="42424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分片 (Shard)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86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shard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方法将大数据集切分为多个小块，适用于分布式处理或内存受限场景。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048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31000" y="3175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shard_dataset = dataset.shard(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num_shards=5, index=0</a:t>
            </a:r>
            <a:endParaRPr lang="en-US" sz="1200" b="0" i="0" u="none" strike="noStrike">
              <a:solidFill>
                <a:srgbClr val="42424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200" b="0" i="0" u="none" strike="noStrike">
              <a:solidFill>
                <a:srgbClr val="42424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65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56134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切分用于数据划分（训练/测试），分片用于数据并行处理。两者都是高效管理大数据集的关键手段。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94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数据集基本操作（8）- 重命名与删除列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重命名列 (Rename)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rename_column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rename_columns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方法修改列名。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4572000" cy="1905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8575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重命名单个列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rename_dataset</a:t>
            </a: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dataset.</a:t>
            </a:r>
            <a:r>
              <a:rPr lang="en-US" sz="1300" b="0" i="0" u="none" strike="noStrike">
                <a:solidFill>
                  <a:srgbClr val="D32F2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rename_column</a:t>
            </a: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('id', 'my_id')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批量重命名列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renames_dataset</a:t>
            </a: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rename_dataset.</a:t>
            </a:r>
            <a:r>
              <a:rPr lang="en-US" sz="1300" b="0" i="0" u="none" strike="noStrike">
                <a:solidFill>
                  <a:srgbClr val="D32F2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rename_columns</a:t>
            </a: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({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"tokens": "my_tokens",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"ner_tags": "my_ner_tags"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})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删除列 (Remove)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15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remove_columns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方法删除指定列。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730500"/>
            <a:ext cx="4572000" cy="1905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31000" y="28575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删除指定列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277B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remove_dataset</a:t>
            </a: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dataset.</a:t>
            </a:r>
            <a:r>
              <a:rPr lang="en-US" sz="1300" b="0" i="0" u="none" strike="noStrike">
                <a:solidFill>
                  <a:srgbClr val="D32F2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remove_columns</a:t>
            </a: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([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"id"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])</a:t>
            </a:r>
            <a:endParaRPr lang="en-US" sz="1300" b="0" i="0" u="none" strike="noStrike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E9E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注意：该方法返回新的数据集对象，</a:t>
            </a:r>
            <a:endParaRPr lang="en-US" sz="1300" b="0" i="0" u="none" strike="noStrike">
              <a:solidFill>
                <a:srgbClr val="9E9E9E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E9E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原数据集保持不变</a:t>
            </a:r>
            <a:endParaRPr lang="en-US" sz="1300" b="0" i="0" u="none" strike="noStrike">
              <a:solidFill>
                <a:srgbClr val="9E9E9E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65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5588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这些操作默认不会修改原始数据集，而是返回一个新的数据集对象。如需原地修改，请设置参数 inplace=True。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04 HuggingFace模型工具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2533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rnd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635000" y="2794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掌握模型的编码、训练与应用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3683000"/>
            <a:ext cx="2794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0" y="3937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57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模型编码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683000"/>
            <a:ext cx="2794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3937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457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7000" y="3683000"/>
            <a:ext cx="2794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0" y="393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747000" y="457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模型应用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HuggingFace模型工具简介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778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核心库：Transformers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Transformers库是HuggingFace模型工具的基石，它为自然语言处理提供了最先进的技术支持。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524000"/>
            <a:ext cx="7112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1714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主要功能亮点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8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03800" y="22352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丰富的预训练模型：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内置BERT、GPT、T5等海量前沿模型，开箱即用。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85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03800" y="28067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高效推理能力：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支持快速加载模型，便捷进行文本编码与推理任务。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3429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03800" y="33782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简化训练流程：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提供Trainer API，大幅降低自定义训练循环的复杂度。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000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03800" y="39497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灵活的模型管理：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支持模型的微调、保存以及在社区轻松分享成果。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致力于让先进的机器学习技术人人可用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模型编码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AutoClass 自动加载机制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1968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AutoTokenizer 和 AutoModel，只需模型名称即可自动加载对应的分词器和预训练模型，简化开发流程。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1115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标准编码流程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556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加载组件：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加载预训练模型与分词器。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文本预处理：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分词器将文本转换为模型可接受的张量格式。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模型推理：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输入模型得到编码结果（如词嵌入、句嵌入）。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397000"/>
            <a:ext cx="5207000" cy="3556000"/>
          </a:xfrm>
          <a:prstGeom prst="roundRect">
            <a:avLst>
              <a:gd name="adj" fmla="val 3571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207000" cy="381000"/>
          </a:xfrm>
          <a:prstGeom prst="roundRect">
            <a:avLst>
              <a:gd name="adj" fmla="val 0"/>
            </a:avLst>
          </a:prstGeom>
          <a:solidFill>
            <a:srgbClr val="3232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460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67500" y="14224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model_encoding.py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841500"/>
            <a:ext cx="49530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from</a:t>
            </a: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transformers</a:t>
            </a:r>
            <a:r>
              <a:rPr lang="en-US" sz="1300" b="0" i="0" u="none" strike="noStrike">
                <a:solidFill>
                  <a:srgbClr val="C678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import</a:t>
            </a:r>
            <a:r>
              <a:rPr lang="en-US" sz="1300" b="0" i="0" u="none" strike="noStrike">
                <a:solidFill>
                  <a:srgbClr val="E5C07B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AutoTokenizer</a:t>
            </a: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300" b="0" i="0" u="none" strike="noStrike">
                <a:solidFill>
                  <a:srgbClr val="E5C07B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AutoModel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model_name =</a:t>
            </a:r>
            <a:r>
              <a:rPr lang="en-US" sz="1300" b="0" i="0" u="none" strike="noStrike">
                <a:solidFill>
                  <a:srgbClr val="98C379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"bert-base-uncased"</a:t>
            </a:r>
            <a:endParaRPr lang="en-US" sz="1300" b="0" i="0" u="none" strike="noStrike">
              <a:solidFill>
                <a:srgbClr val="98C379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tokenizer = AutoTokenizer.from_pretrained(model_name)</a:t>
            </a:r>
            <a:endParaRPr lang="en-US" sz="1300" b="0" i="0" u="none" strike="noStrike">
              <a:solidFill>
                <a:srgbClr val="DCDFE4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model = AutoModel.from_pretrained(model_name)</a:t>
            </a:r>
            <a:endParaRPr lang="en-US" sz="1300" b="0" i="0" u="none" strike="noStrike">
              <a:solidFill>
                <a:srgbClr val="DCDFE4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inputs = tokenizer(</a:t>
            </a:r>
            <a:r>
              <a:rPr lang="en-US" sz="1300" b="0" i="0" u="none" strike="noStrike">
                <a:solidFill>
                  <a:srgbClr val="98C379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"Hello, HuggingFace!"</a:t>
            </a: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return_tensors=</a:t>
            </a:r>
            <a:r>
              <a:rPr lang="en-US" sz="1300" b="0" i="0" u="none" strike="noStrike">
                <a:solidFill>
                  <a:srgbClr val="98C379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"pt"</a:t>
            </a: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endParaRPr lang="en-US" sz="1300" b="0" i="0" u="none" strike="noStrike">
              <a:solidFill>
                <a:srgbClr val="DCDFE4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outputs = model(**inputs)</a:t>
            </a:r>
            <a:endParaRPr lang="en-US" sz="1300" b="0" i="0" u="none" strike="noStrike">
              <a:solidFill>
                <a:srgbClr val="DCDFE4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last_hidden_states = outputs.last_hidden_state</a:t>
            </a:r>
            <a:endParaRPr lang="en-US" sz="1300" b="0" i="0" u="none" strike="noStrike">
              <a:solidFill>
                <a:srgbClr val="DCDFE4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461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通过简单的几行代码，即可完成从文本到高维向量的转换，为下游任务（如分类、聚类、检索）提供强大的语义表示基础。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模型训练（1）- 基本流程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Trainer API 核心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推荐的训练方式，高度封装，无需手动编写复杂的训练循环。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68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657600"/>
            <a:ext cx="247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自动处理设备分配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64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4038600"/>
            <a:ext cx="247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自动梯度累积与日志记录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419600"/>
            <a:ext cx="247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模型自动保存与断点续训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397000"/>
            <a:ext cx="7112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1651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标准训练五步法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159000"/>
            <a:ext cx="3175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0" y="22987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143500" y="2222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1. 准备数据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使用Datasets库加载预处理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001000" y="2159000"/>
            <a:ext cx="3175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8000" y="22987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72500" y="2222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2. 加载模型与分词器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AutoClass自动加载适配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572000" y="2921000"/>
            <a:ext cx="3175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30607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143500" y="2984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3. 定义训练参数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设置学习率、批次等超参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001000" y="2921000"/>
            <a:ext cx="3175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8000" y="30607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572500" y="2984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4. 初始化Trainer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组装模型、参数与数据集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572000" y="3683000"/>
            <a:ext cx="6604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99000" y="38227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143500" y="37465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5. 开始训练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调用trainer.train()方法，自动执行训练循环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53848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524000" y="5334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Trainer API 极大地降低了大模型微调的门槛，让开发者能更专注于数据和模型架构本身。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372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模型训练（2）- 高级技巧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自定义训练循环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对于更复杂的训练需求，可以不使用Trainer API，而是编写自己的训练循环，获得更大的灵活性与控制权。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使用加速库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Accelerate：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支持多GPU、TPU等分布式训练。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DeepSpeed：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用于大规模模型训练，支持ZeRO优化。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模型保存与分享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训练完成后，使用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model.save_pretrained()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保存模型，并通过HuggingFace Hub轻松分享给社区。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641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 Face Ecosystem · Advanced Training Techniques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790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73200" y="1600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 API：极简调用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整合分词、推理、解析全流程，一行代码即可完成情感分析、文本生成、问答等任务。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84500"/>
            <a:ext cx="4572000" cy="1397000"/>
          </a:xfrm>
          <a:prstGeom prst="roundRect">
            <a:avLst>
              <a:gd name="adj" fmla="val 4545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048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ts val="2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from transformers import pipeline</a:t>
            </a:r>
            <a:endParaRPr lang="en-US" sz="1100"/>
          </a:p>
          <a:p>
            <a:pPr indent="0" algn="l">
              <a:lnSpc>
                <a:spcPts val="2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classifier = pipeline("sentiment-analysis")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ts val="2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result = classifier("I love using HuggingFace!")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ts val="2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  <a:endParaRPr lang="en-US" sz="1200" b="0" i="0" u="none" strike="noStrike">
              <a:solidFill>
                <a:srgbClr val="75757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61200" y="1600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模型部署：灵活高效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22500"/>
            <a:ext cx="4572000" cy="825500"/>
          </a:xfrm>
          <a:prstGeom prst="roundRect">
            <a:avLst>
              <a:gd name="adj" fmla="val 7692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413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286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快速演示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Gradio 或 Spaces 快速创建交互式应用，即时分享成果。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3175000"/>
            <a:ext cx="4572000" cy="825500"/>
          </a:xfrm>
          <a:prstGeom prst="roundRect">
            <a:avLst>
              <a:gd name="adj" fmla="val 7692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336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238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高性能推理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导出为 ONNX 格式，优化模型结构，显著提升推理速度。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127500"/>
            <a:ext cx="4572000" cy="825500"/>
          </a:xfrm>
          <a:prstGeom prst="roundRect">
            <a:avLst>
              <a:gd name="adj" fmla="val 7692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4318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4191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云端服务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部署到 AWS, GCP, Azure 等云平台，构建稳定可靠的 API 服务。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35000" y="2032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05 HuggingFace评估工具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2787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635000" y="3048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科学评价模型性能与数据集质量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810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7800" y="4000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444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模型性能评估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4762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精准计算准确率、召回率等关键指标，全方位衡量模型表现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810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2800" y="400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72000" y="444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数据集质量分析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762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自动检测数据偏差与噪声，确保训练数据的有效性与可靠性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0" y="3810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7800" y="400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47000" y="444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可视化报告生成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747000" y="4762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生成直观的图表与报告，助力快速决策与模型迭代优化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4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HuggingFace评估工具简介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核心库：Evaluate库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HuggingFace官方提供的评估工具库，为模型评估提供标准化接口。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94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丰富的评估指标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内置准确率(Accuracy)、F1分数、BLEU、ROUGE等多种常用指标，覆盖分类、生成等任务。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66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92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794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支持自定义指标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允许用户根据特定需求自定义评估逻辑，灵活扩展评估能力，满足个性化任务需求。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699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572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集成训练流程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与Datasets库和Trainer API深度集成，支持训练过程中实时监控模型性能，优化训练策略。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445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699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572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数据集质量评估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不仅评估模型，还支持对数据集本身进行质量检查，确保数据输入的可靠性。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23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数据集评价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数据质量直接决定了模型的上限，因此在使用数据集前进行评估至关重要。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9000" y="2857500"/>
            <a:ext cx="635000" cy="635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556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937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分析文本长度分布、词汇量、类别分布等基本特征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66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2857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08500" y="3556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3937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检查数据中的噪声、重复、缺失值等问题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66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2857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28000" y="3556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数据偏差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937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评估数据集中是否存在对特定群体的偏见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016500"/>
            <a:ext cx="6350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4953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常用工具：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可以使用 Datasets 库的内置方法和 Evaluate 库的相关指标来进行数据集评价。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4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模型评价（1）- 基本指标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分类任务指标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57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准确率 (Accuracy)：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预测正确的样本占总样本的比例。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65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精确率 (Precision)：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预测为正的样本中，实际为正的比例。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073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 (Recall)：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实际为正的样本中，被预测为正的比例。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581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F1分数：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精确率和召回率的调和平均数。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397000"/>
            <a:ext cx="5207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生成任务指标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09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2057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BLEU分数：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用于机器翻译等任务，衡量生成文本与参考文本的相似度。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298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2946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ROUGE分数：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用于文本摘要等任务，衡量生成摘要与参考摘要的重叠度。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47625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Evaluate 库加载相应的指标，然后计算模型预测结果与真实标签之间的分数，实现高效、标准化的模型评估。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4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模型评价（2）- 高级方法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095500" y="1905000"/>
            <a:ext cx="635000" cy="635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2500" y="2032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与Trainer集成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在训练过程中，通过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compute_metrics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函数将评估指标集成到Trainer中，实现每轮训练后的自动评估。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78500" y="1905000"/>
            <a:ext cx="635000" cy="635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0320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自定义指标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若现有指标无法满足需求，可通过继承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Metric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类，灵活实现自定义评估指标，满足特定业务场景。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461500" y="1905000"/>
            <a:ext cx="635000" cy="635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20320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模型解释性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SHAP、LIME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等工具分析模型决策逻辑，理解预测依据，提升模型可信度与可解释性。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651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高级评价方法旨在通过自动化、定制化和透明化，全方位提升模型的质量与可靠性。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524000"/>
            <a:ext cx="762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318000" y="2667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4699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回顾与未来发展方向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5257800"/>
            <a:ext cx="7620000" cy="762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本章总结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651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 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14500" y="20320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回顾了HuggingFace的基本概念和发展历程，它是AI领域重要的开源协作平台。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41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1651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Hub 客户端库使用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75500" y="20320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掌握身份验证方法，熟悉模型与数据集的管理操作流程。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9845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02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1115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Datasets 数据处理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14500" y="34925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详细讲解了各种数据处理操作，掌握高效处理数据集的核心技能。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9845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75500" y="31115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Transformers 模型应用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75500" y="34925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深入理解模型编码、Trainer API训练及Pipeline API应用方法。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44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14500" y="4572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Evaluate 模型评估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14500" y="49530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学会使用Evaluate库科学评价数据集质量和模型性能指标。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44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762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75500" y="4572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核心工具链掌握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75500" y="49530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系统掌握从数据处理、模型训练到评估的全流程技能，具备AI模型开发能力。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HuggingFace未来发展展望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145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模型性能的持续提升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14500" y="2095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预训练模型的规模和能力将不断增强，突破现有性能瓶颈。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41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755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多模态模型的融合与发展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75500" y="2095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文本、图像、音频等多种模态的深度融合将成为未来主流趋势。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175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336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工具链的进一步完善和简化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14500" y="3746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提供更易用、强大的工具，降低AI开发门槛，提升开发效率。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175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492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336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行业应用拓展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75500" y="3746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工具和模型将在医疗、金融、教育等更多垂直领域落地应用。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143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14500" y="5016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社区生态的繁荣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14500" y="53975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吸引更多开发者和研究人员参与贡献，构建开放、共享、协作的AI创新生态。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397000"/>
            <a:ext cx="1219200" cy="1219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欢迎提问与交流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4699000"/>
            <a:ext cx="50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508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欢迎大家提出宝贵意见和建议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444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651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55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482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希望本次课程对大家有所帮助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9772</Words>
  <Application>WPS 演示</Application>
  <PresentationFormat/>
  <Paragraphs>729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64" baseType="lpstr">
      <vt:lpstr>Arial</vt:lpstr>
      <vt:lpstr>宋体</vt:lpstr>
      <vt:lpstr>Wingdings</vt:lpstr>
      <vt:lpstr>Arial</vt:lpstr>
      <vt:lpstr>Noto Sans SC</vt:lpstr>
      <vt:lpstr>Thonburi</vt:lpstr>
      <vt:lpstr>Consolas</vt:lpstr>
      <vt:lpstr>Roboto Mono</vt:lpstr>
      <vt:lpstr>宋体</vt:lpstr>
      <vt:lpstr>汉仪书宋二KW</vt:lpstr>
      <vt:lpstr>微软雅黑</vt:lpstr>
      <vt:lpstr>汉仪旗黑</vt:lpstr>
      <vt:lpstr>Arial Unicode MS</vt:lpstr>
      <vt:lpstr>Source Code Pro</vt:lpstr>
      <vt:lpstr>Menlo</vt:lpstr>
      <vt:lpstr>Consolas</vt:lpstr>
      <vt:lpstr>Menlo</vt:lpstr>
      <vt:lpstr>Noto Sans SC</vt:lpstr>
      <vt:lpstr>Roboto Mono</vt:lpstr>
      <vt:lpstr>Source Code Pro</vt:lpstr>
      <vt:lpstr>苹方-简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2026-03-12T14:52:18Z</dcterms:created>
  <dcterms:modified xsi:type="dcterms:W3CDTF">2026-03-12T14:52:18Z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EB207B42BDDC5F7822D3B269DF925047_42</vt:lpwstr>
  </property>
  <property fmtid="{D5CDD505-2E9C-101B-9397-08002B2CF9AE}" pid="3" name="KSOProductBuildVer">
    <vt:lpwstr>2052-7.2.1.8947</vt:lpwstr>
  </property>
</Properties>
</file>