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1.svg" ContentType="image/svg+xml"/>
  <Override PartName="/ppt/media/image104.svg" ContentType="image/svg+xml"/>
  <Override PartName="/ppt/media/image106.svg" ContentType="image/svg+xml"/>
  <Override PartName="/ppt/media/image108.svg" ContentType="image/svg+xml"/>
  <Override PartName="/ppt/media/image11.svg" ContentType="image/svg+xml"/>
  <Override PartName="/ppt/media/image110.svg" ContentType="image/svg+xml"/>
  <Override PartName="/ppt/media/image112.svg" ContentType="image/svg+xml"/>
  <Override PartName="/ppt/media/image114.svg" ContentType="image/svg+xml"/>
  <Override PartName="/ppt/media/image116.svg" ContentType="image/svg+xml"/>
  <Override PartName="/ppt/media/image118.svg" ContentType="image/svg+xml"/>
  <Override PartName="/ppt/media/image120.svg" ContentType="image/svg+xml"/>
  <Override PartName="/ppt/media/image122.svg" ContentType="image/svg+xml"/>
  <Override PartName="/ppt/media/image124.svg" ContentType="image/svg+xml"/>
  <Override PartName="/ppt/media/image126.svg" ContentType="image/svg+xml"/>
  <Override PartName="/ppt/media/image128.svg" ContentType="image/svg+xml"/>
  <Override PartName="/ppt/media/image13.svg" ContentType="image/svg+xml"/>
  <Override PartName="/ppt/media/image130.svg" ContentType="image/svg+xml"/>
  <Override PartName="/ppt/media/image132.svg" ContentType="image/svg+xml"/>
  <Override PartName="/ppt/media/image134.svg" ContentType="image/svg+xml"/>
  <Override PartName="/ppt/media/image137.svg" ContentType="image/svg+xml"/>
  <Override PartName="/ppt/media/image139.svg" ContentType="image/svg+xml"/>
  <Override PartName="/ppt/media/image141.svg" ContentType="image/svg+xml"/>
  <Override PartName="/ppt/media/image143.svg" ContentType="image/svg+xml"/>
  <Override PartName="/ppt/media/image146.svg" ContentType="image/svg+xml"/>
  <Override PartName="/ppt/media/image148.svg" ContentType="image/svg+xml"/>
  <Override PartName="/ppt/media/image15.svg" ContentType="image/svg+xml"/>
  <Override PartName="/ppt/media/image150.svg" ContentType="image/svg+xml"/>
  <Override PartName="/ppt/media/image153.svg" ContentType="image/svg+xml"/>
  <Override PartName="/ppt/media/image155.svg" ContentType="image/svg+xml"/>
  <Override PartName="/ppt/media/image157.svg" ContentType="image/svg+xml"/>
  <Override PartName="/ppt/media/image159.svg" ContentType="image/svg+xml"/>
  <Override PartName="/ppt/media/image161.svg" ContentType="image/svg+xml"/>
  <Override PartName="/ppt/media/image163.svg" ContentType="image/svg+xml"/>
  <Override PartName="/ppt/media/image165.svg" ContentType="image/svg+xml"/>
  <Override PartName="/ppt/media/image167.svg" ContentType="image/svg+xml"/>
  <Override PartName="/ppt/media/image169.svg" ContentType="image/svg+xml"/>
  <Override PartName="/ppt/media/image17.svg" ContentType="image/svg+xml"/>
  <Override PartName="/ppt/media/image171.svg" ContentType="image/svg+xml"/>
  <Override PartName="/ppt/media/image173.svg" ContentType="image/svg+xml"/>
  <Override PartName="/ppt/media/image175.svg" ContentType="image/svg+xml"/>
  <Override PartName="/ppt/media/image177.svg" ContentType="image/svg+xml"/>
  <Override PartName="/ppt/media/image179.svg" ContentType="image/svg+xml"/>
  <Override PartName="/ppt/media/image181.svg" ContentType="image/svg+xml"/>
  <Override PartName="/ppt/media/image183.svg" ContentType="image/svg+xml"/>
  <Override PartName="/ppt/media/image19.svg" ContentType="image/svg+xml"/>
  <Override PartName="/ppt/media/image2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7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64.svg" ContentType="image/svg+xml"/>
  <Override PartName="/ppt/media/image66.svg" ContentType="image/svg+xml"/>
  <Override PartName="/ppt/media/image68.svg" ContentType="image/svg+xml"/>
  <Override PartName="/ppt/media/image70.svg" ContentType="image/svg+xml"/>
  <Override PartName="/ppt/media/image72.svg" ContentType="image/svg+xml"/>
  <Override PartName="/ppt/media/image74.svg" ContentType="image/svg+xml"/>
  <Override PartName="/ppt/media/image76.svg" ContentType="image/svg+xml"/>
  <Override PartName="/ppt/media/image79.svg" ContentType="image/svg+xml"/>
  <Override PartName="/ppt/media/image8.svg" ContentType="image/svg+xml"/>
  <Override PartName="/ppt/media/image81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89.svg" ContentType="image/svg+xml"/>
  <Override PartName="/ppt/media/image92.svg" ContentType="image/svg+xml"/>
  <Override PartName="/ppt/media/image94.svg" ContentType="image/svg+xml"/>
  <Override PartName="/ppt/media/image96.svg" ContentType="image/svg+xml"/>
  <Override PartName="/ppt/media/image9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47" Type="http://schemas.openxmlformats.org/officeDocument/2006/relationships/viewProps" Target="viewProps.xml"/><Relationship Id="rId46" Type="http://schemas.openxmlformats.org/officeDocument/2006/relationships/presProps" Target="presProps.xml"/><Relationship Id="rId45" Type="http://schemas.openxmlformats.org/officeDocument/2006/relationships/slide" Target="slides/slide41.xml"/><Relationship Id="rId44" Type="http://schemas.openxmlformats.org/officeDocument/2006/relationships/slide" Target="slides/slide40.xml"/><Relationship Id="rId43" Type="http://schemas.openxmlformats.org/officeDocument/2006/relationships/slide" Target="slides/slide39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0" Type="http://schemas.openxmlformats.org/officeDocument/2006/relationships/slide" Target="slides/slide36.xml"/><Relationship Id="rId4" Type="http://schemas.openxmlformats.org/officeDocument/2006/relationships/slide" Target="slides/slide1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欢迎来到本次课程。今天我们将学习第二章，大语言模型开发基础。这一章是后续深入学习大语言模型的基石，主要涵盖Python编程、Docker容器技术以及自然语言处理的基础知识。希望通过本章的学习，能为大家打下坚实的技术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章内容主要分为三个部分。首先，我们会学习Python大语言模型开发的基础，包括编程知识、常用库和接口设计。其次，我们将介绍Docker容器技术，掌握环境搭建和项目部署的方法。最后，我们会概述自然语言处理的相关知识，为后续的模型开发储备理论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现在我们进入第一部分，Python大语言模型开发基础。无论你是Python新手还是有一定经验的开发者，这部分内容都将帮助你梳理和巩固必要的编程知识，并学习在大模型开发中非常实用的接口设计技能。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，我们来探讨为什么Python是大语言模型开发的首选语言。Python的优势非常明显，它简单易学，跨平台，拥有极其丰富的库和活跃的社区，这使得我们可以快速构建复杂的应用。当然，它也有一些缺点，比如执行速度相对较慢，但这些问题在实际应用中都有成熟的解决方案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关于Python的版本，曾经有过Python 2和Python 3之争。但现在，这个问题已经有了明确的答案。官方已经停止了对Python 2的支持，所以我们现在的开发工作都应该基于Python 3。在本课程中，所有的代码示例也都将使用Python 3.x版本。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开始编程之前，我们需要准备一个干净的开发环境。虚拟环境可以帮助我们隔离不同项目的依赖，避免版本冲突。这里我们介绍使用Conda来管理虚拟环境，这是数据科学和AI领域非常流行的工具。大家可以看到创建和激活环境的基本命令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创建好环境后，我们需要在环境中安装项目所需的依赖包。这里展示了如何使用conda命令来安装、卸载包，以及如何退出和删除环境。熟练掌握这些命令对于高效开发至关重要。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除了Conda，Python 3.3及以上版本还内置了venv模块来创建虚拟环境。这是一个轻量级的工具，使用起来也非常方便。这对于不想安装Anaconda的开发者来说是一个很好的选择。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编写规范、易读的代码是专业开发者的基本素养。PEP 8是Python官方推荐的代码风格指南，遵循这些规范可以大大提高代码的可读性和可维护性。这里列出了一些核心的规范，特别是命名约定，希望大家在编程时严格遵守。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接下来，我们快速回顾Python的核心语法。首先是变量，Python是动态类型语言，变量无需提前声明类型，直接赋值即可。这里展示了单个变量赋值、多个变量赋值以及变量交换的便捷写法。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Python提供了丰富的数据类型和运算符。这里列出了最常用的基本数据类型和运算符的优先级。理解运算符的优先级对于写出正确的表达式至关重要。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条件语句是控制程序流程的基础。Python的条件语句语法非常直观，通过if, elif, else可以实现多分支的判断。需要注意的是，Python是通过缩进来组织代码块的，这一点与很多其他语言不同。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循环是编程中另一个核心概念，用于重复执行一段代码。Python提供了`for`和`while`两种循环结构。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`for`循环常用于遍历序列，比如列表、字符串或者像例子中展示的`range`序列，它非常适合我们知道具体要循环多少次的场景。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`while`循环则在满足特定条件时持续执行。在这个例子中，我们初始化了一个变量，然后只要它小于100就继续执行，同时每次循环都让它加1，直到不满足条件为止。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大家可以对比这两段代码，它们实现了相同的功能，但写法上体现了不同的逻辑思维。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Python内置了多种强大的数据结构，熟练运用它们可以让你的代码更加高效和简洁。列表、元组、字典和集合是最常用的四种，它们各自有不同的特性和适用场景。理解它们的区别和用法是Python编程的关键。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函数是组织代码、实现代码复用的核心方式。通过定义函数，我们可以将复杂的任务分解为多个小的、可管理的模块。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这里展示了如何定义一个简单的函数，并使用类型注解来明确参数和返回值的类型，这是现代Python开发的良好实践。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面向对象编程是一种重要的编程范式，它将数据和操作数据的方法封装在一起。在Python中，我们使用`class`来定义类，通过构造函数`__init__`来初始化对象的属性。理解面向对象的思想对于构建复杂的软件系统至关重要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在大模型开发中，我们经常需要与外部服务进行交互，`requests`库就是处理HTTP请求的利器。它让发送GET、POST等请求变得非常简单。这里展示了如何安装和使用requests库来获取网页内容和调用一个假设的聊天API。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要将我们的大模型部署为服务供他人调用，就需要开发Web接口。Flask是一个非常流行的轻量级Web框架，非常适合快速搭建API服务。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这个例子展示了如何使用Flask创建一个简单的聊天服务接口，包括健康检查和接收用户消息的端点。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左侧我们列出了Flask的核心特性和安装方法，右侧是一个完整的代码示例，演示了如何定义路由和处理请求。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对于数据科学家和AI开发者来说，快速构建一个交互式的演示界面非常重要。Streamlit就是为此而生的工具。它允许我们只用Python代码，就能快速创建出漂亮的Web应用，非常适合展示模型效果和进行交互式调试。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掌握了Python基础和常用库后，我们来学习一个非常重要的实际应用技能——接口的设计与优化。一个设计良好的接口不仅能提高团队协作效率，也是保障服务稳定、安全运行的关键。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设计接口时，我们首先要考虑几个基础问题。选择合适的通信协议，设计清晰易懂的URL路径，以及合理地定义请求参数。这些是构成一个易用接口的基础。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接下来，我们需要关注接口的返回。统一的返回格式和状态码能让客户端更容易处理响应。同时，提前规划好版本管理策略，可以避免接口升级带来的兼容性问题。JSON作为轻量级的数据格式，是Web接口的首选。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最后，一个健壮的接口还需要考虑性能、安全和稳定性。数据压缩可以提升传输效率，参数校验和安全认证能保障接口安全，而完善的异常处理则能让服务更加稳定可靠。这些都是生产环境中不可或缺的环节。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现在我们进入第二部分，Docker容器基础知识。在现代软件开发和部署中，容器技术已经成为标配。它能帮助我们实现环境的一致性和部署的便捷性，是大模型项目从开发到生产的重要桥梁。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首先，我们来了解Docker的几个核心概念：镜像、容器和仓库。简单来说，镜像就是应用的打包文件，容器是镜像运行起来的实例。接下来，大家需要根据自己的操作系统，从Docker官网下载并安装Docker环境。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安装好Docker后，我们首先学习如何管理镜像。这些命令包括从远程仓库拉取镜像、查看本地镜像列表以及删除不再需要的镜像。掌握这些基本操作是使用Docker的第一步。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接下来是容器的操作。docker run是最核心的命令，用于创建并启动容器。我们还需要学会如何查看、停止、启动和删除容器。这些命令是日常使用Docker时最频繁用到的。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除了基本的启停操作，我们还需要了解一些其他常用命令。比如，如何进入容器内部进行调试，如何查看容器的日志，以及如何在主机和容器之间传输文件。这些命令对于排查问题和管理容器非常有帮助。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要将我们自己的项目打包成镜像，就需要编写Dockerfile。Dockerfile是一个指令集，告诉Docker如何一步步构建我们的应用镜像。这个例子展示了一个典型的Python应用的Dockerfile结构，包括基础镜像选择、依赖安装和启动命令定义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编写好Dockerfile后，我们就可以使用`docker build`命令来构建镜像。构建完成后，再用`docker run`命令基于这个新镜像启动容器。这样，我们的应用就成功部署到Docker容器中了。最后，通过访问服务接口来验证部署是否成功。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最后一部分，我们来概述自然语言处理（NLP）的相关知识。大语言模型是NLP领域的最新成果，因此理解NLP的基础概念和技术对于深入学习大模型至关重要。这部分内容将为我们后续的学习打下理论基础。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，我们明确一下NLP的定义：它是让计算机理解和处理人类语言的技术。回顾其发展历程，我们可以看到从早期的规则方法，到统计方法，再到如今主流的深度学习方法，每一次技术革新都极大地推动了NLP的发展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NLP包含众多任务，我们先从基础任务开始了解。分词、词性标注和命名实体识别是理解文本的基础步骤，它们为后续更复杂的任务提供了结构化的信息。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在基础任务之上，是更高级的NLP任务。句法分析帮助我们理解句子的结构，文本分类和情感分析则让我们能够对文本内容进行判断和归类，这些都是非常实用的功能。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更复杂的NLP任务包括机器翻译、问答系统和文本生成。这些任务更接近人类的语言能力，也是当前大语言模型表现最为出色的领域。文本生成尤其值得关注，它是构建聊天机器人、内容创作助手等应用的基础。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要让计算机处理语言，首先要将文字转化为计算机能理解的数字形式，这就是词向量技术。词向量将每个词表示为一个向量，并且语义相似的词其向量也相似。Word2Vec、GloVe等模型是学习词向量的经典方法，它们为后续的深度学习模型提供了高质量的输入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深度学习是当前NLP领域的核心驱动力。从CNN到RNN，再到革命性的Transformer架构，模型的能力不断提升。特别是Transformer，它的自注意力机制能够更好地处理长文本和复杂的语义关系，是构建大语言模型的基石。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NLP技术已经渗透到我们生活的方方面面。从智能客服、机器翻译，到内容创作和舆情监控，NLP的应用场景非常广泛。大语言模型的出现，更是将这些应用的能力提升到了一个新的高度。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章内容到此就全部结束了。我们一起回顾了三个核心部分：Python开发基础、Docker容器技术和NLP基础知识。这些内容涵盖了从代码编写到服务部署，再到理论理解的完整链条，是大家继续深入学习大语言模型的坚实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接下来是答疑环节，大家对于本章内容有任何疑问，都可以提出来，我们一起讨论。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感谢大家的参与，第二章的内容就到这里。下一章我们将开始学习大语言模型的核心架构和原理。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9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9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9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Relationship Id="rId3" Type="http://schemas.openxmlformats.org/officeDocument/2006/relationships/image" Target="../media/image10.png"/><Relationship Id="rId2" Type="http://schemas.openxmlformats.org/officeDocument/2006/relationships/image" Target="../media/image4.svg"/><Relationship Id="rId1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.png"/><Relationship Id="rId8" Type="http://schemas.openxmlformats.org/officeDocument/2006/relationships/image" Target="../media/image21.svg"/><Relationship Id="rId7" Type="http://schemas.openxmlformats.org/officeDocument/2006/relationships/image" Target="../media/image20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8" Type="http://schemas.openxmlformats.org/officeDocument/2006/relationships/notesSlide" Target="../notesSlides/notesSlide4.xml"/><Relationship Id="rId17" Type="http://schemas.openxmlformats.org/officeDocument/2006/relationships/slideLayout" Target="../slideLayouts/slideLayout12.xml"/><Relationship Id="rId16" Type="http://schemas.openxmlformats.org/officeDocument/2006/relationships/image" Target="../media/image2.svg"/><Relationship Id="rId15" Type="http://schemas.openxmlformats.org/officeDocument/2006/relationships/image" Target="../media/image28.png"/><Relationship Id="rId14" Type="http://schemas.openxmlformats.org/officeDocument/2006/relationships/image" Target="../media/image27.svg"/><Relationship Id="rId13" Type="http://schemas.openxmlformats.org/officeDocument/2006/relationships/image" Target="../media/image26.png"/><Relationship Id="rId12" Type="http://schemas.openxmlformats.org/officeDocument/2006/relationships/image" Target="../media/image25.svg"/><Relationship Id="rId11" Type="http://schemas.openxmlformats.org/officeDocument/2006/relationships/image" Target="../media/image24.png"/><Relationship Id="rId10" Type="http://schemas.openxmlformats.org/officeDocument/2006/relationships/image" Target="../media/image23.svg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35.png"/><Relationship Id="rId8" Type="http://schemas.openxmlformats.org/officeDocument/2006/relationships/image" Target="../media/image34.svg"/><Relationship Id="rId7" Type="http://schemas.openxmlformats.org/officeDocument/2006/relationships/image" Target="../media/image33.png"/><Relationship Id="rId6" Type="http://schemas.openxmlformats.org/officeDocument/2006/relationships/image" Target="../media/image4.svg"/><Relationship Id="rId5" Type="http://schemas.openxmlformats.org/officeDocument/2006/relationships/image" Target="../media/image9.png"/><Relationship Id="rId4" Type="http://schemas.openxmlformats.org/officeDocument/2006/relationships/image" Target="../media/image32.svg"/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6" Type="http://schemas.openxmlformats.org/officeDocument/2006/relationships/notesSlide" Target="../notesSlides/notesSlide5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40.svg"/><Relationship Id="rId13" Type="http://schemas.openxmlformats.org/officeDocument/2006/relationships/image" Target="../media/image39.png"/><Relationship Id="rId12" Type="http://schemas.openxmlformats.org/officeDocument/2006/relationships/image" Target="../media/image38.svg"/><Relationship Id="rId11" Type="http://schemas.openxmlformats.org/officeDocument/2006/relationships/image" Target="../media/image37.png"/><Relationship Id="rId10" Type="http://schemas.openxmlformats.org/officeDocument/2006/relationships/image" Target="../media/image36.svg"/><Relationship Id="rId1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46.svg"/><Relationship Id="rId5" Type="http://schemas.openxmlformats.org/officeDocument/2006/relationships/image" Target="../media/image45.png"/><Relationship Id="rId4" Type="http://schemas.openxmlformats.org/officeDocument/2006/relationships/image" Target="../media/image44.svg"/><Relationship Id="rId3" Type="http://schemas.openxmlformats.org/officeDocument/2006/relationships/image" Target="../media/image43.png"/><Relationship Id="rId2" Type="http://schemas.openxmlformats.org/officeDocument/2006/relationships/image" Target="../media/image42.svg"/><Relationship Id="rId1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54.svg"/><Relationship Id="rId7" Type="http://schemas.openxmlformats.org/officeDocument/2006/relationships/image" Target="../media/image53.png"/><Relationship Id="rId6" Type="http://schemas.openxmlformats.org/officeDocument/2006/relationships/image" Target="../media/image52.svg"/><Relationship Id="rId5" Type="http://schemas.openxmlformats.org/officeDocument/2006/relationships/image" Target="../media/image51.png"/><Relationship Id="rId4" Type="http://schemas.openxmlformats.org/officeDocument/2006/relationships/image" Target="../media/image50.svg"/><Relationship Id="rId3" Type="http://schemas.openxmlformats.org/officeDocument/2006/relationships/image" Target="../media/image49.png"/><Relationship Id="rId2" Type="http://schemas.openxmlformats.org/officeDocument/2006/relationships/image" Target="../media/image48.svg"/><Relationship Id="rId10" Type="http://schemas.openxmlformats.org/officeDocument/2006/relationships/notesSlide" Target="../notesSlides/notesSlide7.xml"/><Relationship Id="rId1" Type="http://schemas.openxmlformats.org/officeDocument/2006/relationships/image" Target="../media/image47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46.svg"/><Relationship Id="rId3" Type="http://schemas.openxmlformats.org/officeDocument/2006/relationships/image" Target="../media/image55.png"/><Relationship Id="rId2" Type="http://schemas.openxmlformats.org/officeDocument/2006/relationships/image" Target="../media/image4.sv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55.png"/><Relationship Id="rId8" Type="http://schemas.openxmlformats.org/officeDocument/2006/relationships/image" Target="../media/image19.svg"/><Relationship Id="rId7" Type="http://schemas.openxmlformats.org/officeDocument/2006/relationships/image" Target="../media/image62.png"/><Relationship Id="rId6" Type="http://schemas.openxmlformats.org/officeDocument/2006/relationships/image" Target="../media/image61.svg"/><Relationship Id="rId5" Type="http://schemas.openxmlformats.org/officeDocument/2006/relationships/image" Target="../media/image60.png"/><Relationship Id="rId4" Type="http://schemas.openxmlformats.org/officeDocument/2006/relationships/image" Target="../media/image59.svg"/><Relationship Id="rId3" Type="http://schemas.openxmlformats.org/officeDocument/2006/relationships/image" Target="../media/image58.png"/><Relationship Id="rId2" Type="http://schemas.openxmlformats.org/officeDocument/2006/relationships/image" Target="../media/image57.svg"/><Relationship Id="rId12" Type="http://schemas.openxmlformats.org/officeDocument/2006/relationships/notesSlide" Target="../notesSlides/notesSlide9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46.svg"/><Relationship Id="rId1" Type="http://schemas.openxmlformats.org/officeDocument/2006/relationships/image" Target="../media/image5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0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46.svg"/><Relationship Id="rId5" Type="http://schemas.openxmlformats.org/officeDocument/2006/relationships/image" Target="../media/image55.png"/><Relationship Id="rId4" Type="http://schemas.openxmlformats.org/officeDocument/2006/relationships/image" Target="../media/image64.svg"/><Relationship Id="rId3" Type="http://schemas.openxmlformats.org/officeDocument/2006/relationships/image" Target="../media/image63.png"/><Relationship Id="rId2" Type="http://schemas.openxmlformats.org/officeDocument/2006/relationships/image" Target="../media/image2.svg"/><Relationship Id="rId1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71.png"/><Relationship Id="rId8" Type="http://schemas.openxmlformats.org/officeDocument/2006/relationships/image" Target="../media/image70.svg"/><Relationship Id="rId7" Type="http://schemas.openxmlformats.org/officeDocument/2006/relationships/image" Target="../media/image69.png"/><Relationship Id="rId6" Type="http://schemas.openxmlformats.org/officeDocument/2006/relationships/image" Target="../media/image68.svg"/><Relationship Id="rId5" Type="http://schemas.openxmlformats.org/officeDocument/2006/relationships/image" Target="../media/image67.png"/><Relationship Id="rId4" Type="http://schemas.openxmlformats.org/officeDocument/2006/relationships/image" Target="../media/image66.svg"/><Relationship Id="rId3" Type="http://schemas.openxmlformats.org/officeDocument/2006/relationships/image" Target="../media/image65.png"/><Relationship Id="rId2" Type="http://schemas.openxmlformats.org/officeDocument/2006/relationships/image" Target="../media/image19.svg"/><Relationship Id="rId16" Type="http://schemas.openxmlformats.org/officeDocument/2006/relationships/notesSlide" Target="../notesSlides/notesSlide11.xml"/><Relationship Id="rId15" Type="http://schemas.openxmlformats.org/officeDocument/2006/relationships/slideLayout" Target="../slideLayouts/slideLayout12.xml"/><Relationship Id="rId14" Type="http://schemas.openxmlformats.org/officeDocument/2006/relationships/image" Target="../media/image76.svg"/><Relationship Id="rId13" Type="http://schemas.openxmlformats.org/officeDocument/2006/relationships/image" Target="../media/image75.png"/><Relationship Id="rId12" Type="http://schemas.openxmlformats.org/officeDocument/2006/relationships/image" Target="../media/image74.svg"/><Relationship Id="rId11" Type="http://schemas.openxmlformats.org/officeDocument/2006/relationships/image" Target="../media/image73.png"/><Relationship Id="rId10" Type="http://schemas.openxmlformats.org/officeDocument/2006/relationships/image" Target="../media/image72.svg"/><Relationship Id="rId1" Type="http://schemas.openxmlformats.org/officeDocument/2006/relationships/image" Target="../media/image6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46.svg"/><Relationship Id="rId5" Type="http://schemas.openxmlformats.org/officeDocument/2006/relationships/image" Target="../media/image55.png"/><Relationship Id="rId4" Type="http://schemas.openxmlformats.org/officeDocument/2006/relationships/image" Target="../media/image57.svg"/><Relationship Id="rId3" Type="http://schemas.openxmlformats.org/officeDocument/2006/relationships/image" Target="../media/image77.png"/><Relationship Id="rId2" Type="http://schemas.openxmlformats.org/officeDocument/2006/relationships/image" Target="../media/image74.svg"/><Relationship Id="rId1" Type="http://schemas.openxmlformats.org/officeDocument/2006/relationships/image" Target="../media/image7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3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46.svg"/><Relationship Id="rId5" Type="http://schemas.openxmlformats.org/officeDocument/2006/relationships/image" Target="../media/image55.png"/><Relationship Id="rId4" Type="http://schemas.openxmlformats.org/officeDocument/2006/relationships/image" Target="../media/image81.svg"/><Relationship Id="rId3" Type="http://schemas.openxmlformats.org/officeDocument/2006/relationships/image" Target="../media/image80.png"/><Relationship Id="rId2" Type="http://schemas.openxmlformats.org/officeDocument/2006/relationships/image" Target="../media/image79.svg"/><Relationship Id="rId1" Type="http://schemas.openxmlformats.org/officeDocument/2006/relationships/image" Target="../media/image78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89.svg"/><Relationship Id="rId7" Type="http://schemas.openxmlformats.org/officeDocument/2006/relationships/image" Target="../media/image88.png"/><Relationship Id="rId6" Type="http://schemas.openxmlformats.org/officeDocument/2006/relationships/image" Target="../media/image87.svg"/><Relationship Id="rId5" Type="http://schemas.openxmlformats.org/officeDocument/2006/relationships/image" Target="../media/image86.png"/><Relationship Id="rId4" Type="http://schemas.openxmlformats.org/officeDocument/2006/relationships/image" Target="../media/image85.svg"/><Relationship Id="rId3" Type="http://schemas.openxmlformats.org/officeDocument/2006/relationships/image" Target="../media/image84.png"/><Relationship Id="rId2" Type="http://schemas.openxmlformats.org/officeDocument/2006/relationships/image" Target="../media/image83.svg"/><Relationship Id="rId10" Type="http://schemas.openxmlformats.org/officeDocument/2006/relationships/notesSlide" Target="../notesSlides/notesSlide14.xml"/><Relationship Id="rId1" Type="http://schemas.openxmlformats.org/officeDocument/2006/relationships/image" Target="../media/image82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55.png"/><Relationship Id="rId8" Type="http://schemas.openxmlformats.org/officeDocument/2006/relationships/image" Target="../media/image94.svg"/><Relationship Id="rId7" Type="http://schemas.openxmlformats.org/officeDocument/2006/relationships/image" Target="../media/image93.png"/><Relationship Id="rId6" Type="http://schemas.openxmlformats.org/officeDocument/2006/relationships/image" Target="../media/image92.svg"/><Relationship Id="rId5" Type="http://schemas.openxmlformats.org/officeDocument/2006/relationships/image" Target="../media/image91.png"/><Relationship Id="rId4" Type="http://schemas.openxmlformats.org/officeDocument/2006/relationships/image" Target="../media/image23.svg"/><Relationship Id="rId3" Type="http://schemas.openxmlformats.org/officeDocument/2006/relationships/image" Target="../media/image90.png"/><Relationship Id="rId2" Type="http://schemas.openxmlformats.org/officeDocument/2006/relationships/image" Target="../media/image19.svg"/><Relationship Id="rId12" Type="http://schemas.openxmlformats.org/officeDocument/2006/relationships/notesSlide" Target="../notesSlides/notesSlide15.xml"/><Relationship Id="rId11" Type="http://schemas.openxmlformats.org/officeDocument/2006/relationships/slideLayout" Target="../slideLayouts/slideLayout12.xml"/><Relationship Id="rId10" Type="http://schemas.openxmlformats.org/officeDocument/2006/relationships/image" Target="../media/image46.svg"/><Relationship Id="rId1" Type="http://schemas.openxmlformats.org/officeDocument/2006/relationships/image" Target="../media/image62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46.svg"/><Relationship Id="rId7" Type="http://schemas.openxmlformats.org/officeDocument/2006/relationships/image" Target="../media/image55.png"/><Relationship Id="rId6" Type="http://schemas.openxmlformats.org/officeDocument/2006/relationships/image" Target="../media/image98.svg"/><Relationship Id="rId5" Type="http://schemas.openxmlformats.org/officeDocument/2006/relationships/image" Target="../media/image97.png"/><Relationship Id="rId4" Type="http://schemas.openxmlformats.org/officeDocument/2006/relationships/image" Target="../media/image96.svg"/><Relationship Id="rId3" Type="http://schemas.openxmlformats.org/officeDocument/2006/relationships/image" Target="../media/image95.png"/><Relationship Id="rId2" Type="http://schemas.openxmlformats.org/officeDocument/2006/relationships/image" Target="../media/image89.svg"/><Relationship Id="rId10" Type="http://schemas.openxmlformats.org/officeDocument/2006/relationships/notesSlide" Target="../notesSlides/notesSlide16.xml"/><Relationship Id="rId1" Type="http://schemas.openxmlformats.org/officeDocument/2006/relationships/image" Target="../media/image88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04.svg"/><Relationship Id="rId7" Type="http://schemas.openxmlformats.org/officeDocument/2006/relationships/image" Target="../media/image103.png"/><Relationship Id="rId6" Type="http://schemas.openxmlformats.org/officeDocument/2006/relationships/image" Target="../media/image6.svg"/><Relationship Id="rId5" Type="http://schemas.openxmlformats.org/officeDocument/2006/relationships/image" Target="../media/image102.png"/><Relationship Id="rId4" Type="http://schemas.openxmlformats.org/officeDocument/2006/relationships/image" Target="../media/image101.svg"/><Relationship Id="rId3" Type="http://schemas.openxmlformats.org/officeDocument/2006/relationships/image" Target="../media/image100.png"/><Relationship Id="rId2" Type="http://schemas.openxmlformats.org/officeDocument/2006/relationships/image" Target="../media/image11.svg"/><Relationship Id="rId10" Type="http://schemas.openxmlformats.org/officeDocument/2006/relationships/notesSlide" Target="../notesSlides/notesSlide17.xml"/><Relationship Id="rId1" Type="http://schemas.openxmlformats.org/officeDocument/2006/relationships/image" Target="../media/image9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8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1.svg"/><Relationship Id="rId5" Type="http://schemas.openxmlformats.org/officeDocument/2006/relationships/image" Target="../media/image99.png"/><Relationship Id="rId4" Type="http://schemas.openxmlformats.org/officeDocument/2006/relationships/image" Target="../media/image106.svg"/><Relationship Id="rId3" Type="http://schemas.openxmlformats.org/officeDocument/2006/relationships/image" Target="../media/image105.png"/><Relationship Id="rId2" Type="http://schemas.openxmlformats.org/officeDocument/2006/relationships/image" Target="../media/image87.svg"/><Relationship Id="rId1" Type="http://schemas.openxmlformats.org/officeDocument/2006/relationships/image" Target="../media/image86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108.svg"/><Relationship Id="rId3" Type="http://schemas.openxmlformats.org/officeDocument/2006/relationships/image" Target="../media/image107.png"/><Relationship Id="rId2" Type="http://schemas.openxmlformats.org/officeDocument/2006/relationships/image" Target="../media/image19.svg"/><Relationship Id="rId1" Type="http://schemas.openxmlformats.org/officeDocument/2006/relationships/image" Target="../media/image6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0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12.svg"/><Relationship Id="rId5" Type="http://schemas.openxmlformats.org/officeDocument/2006/relationships/image" Target="../media/image111.png"/><Relationship Id="rId4" Type="http://schemas.openxmlformats.org/officeDocument/2006/relationships/image" Target="../media/image110.svg"/><Relationship Id="rId3" Type="http://schemas.openxmlformats.org/officeDocument/2006/relationships/image" Target="../media/image109.png"/><Relationship Id="rId2" Type="http://schemas.openxmlformats.org/officeDocument/2006/relationships/image" Target="../media/image19.svg"/><Relationship Id="rId1" Type="http://schemas.openxmlformats.org/officeDocument/2006/relationships/image" Target="../media/image6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1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9.svg"/><Relationship Id="rId5" Type="http://schemas.openxmlformats.org/officeDocument/2006/relationships/image" Target="../media/image62.png"/><Relationship Id="rId4" Type="http://schemas.openxmlformats.org/officeDocument/2006/relationships/image" Target="../media/image114.svg"/><Relationship Id="rId3" Type="http://schemas.openxmlformats.org/officeDocument/2006/relationships/image" Target="../media/image113.png"/><Relationship Id="rId2" Type="http://schemas.openxmlformats.org/officeDocument/2006/relationships/image" Target="../media/image101.svg"/><Relationship Id="rId1" Type="http://schemas.openxmlformats.org/officeDocument/2006/relationships/image" Target="../media/image10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2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16.svg"/><Relationship Id="rId5" Type="http://schemas.openxmlformats.org/officeDocument/2006/relationships/image" Target="../media/image115.png"/><Relationship Id="rId4" Type="http://schemas.openxmlformats.org/officeDocument/2006/relationships/image" Target="../media/image74.svg"/><Relationship Id="rId3" Type="http://schemas.openxmlformats.org/officeDocument/2006/relationships/image" Target="../media/image73.png"/><Relationship Id="rId2" Type="http://schemas.openxmlformats.org/officeDocument/2006/relationships/image" Target="../media/image19.svg"/><Relationship Id="rId1" Type="http://schemas.openxmlformats.org/officeDocument/2006/relationships/image" Target="../media/image62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22.svg"/><Relationship Id="rId7" Type="http://schemas.openxmlformats.org/officeDocument/2006/relationships/image" Target="../media/image121.png"/><Relationship Id="rId6" Type="http://schemas.openxmlformats.org/officeDocument/2006/relationships/image" Target="../media/image112.svg"/><Relationship Id="rId5" Type="http://schemas.openxmlformats.org/officeDocument/2006/relationships/image" Target="../media/image111.png"/><Relationship Id="rId4" Type="http://schemas.openxmlformats.org/officeDocument/2006/relationships/image" Target="../media/image120.svg"/><Relationship Id="rId3" Type="http://schemas.openxmlformats.org/officeDocument/2006/relationships/image" Target="../media/image119.png"/><Relationship Id="rId2" Type="http://schemas.openxmlformats.org/officeDocument/2006/relationships/image" Target="../media/image118.svg"/><Relationship Id="rId10" Type="http://schemas.openxmlformats.org/officeDocument/2006/relationships/notesSlide" Target="../notesSlides/notesSlide23.xml"/><Relationship Id="rId1" Type="http://schemas.openxmlformats.org/officeDocument/2006/relationships/image" Target="../media/image11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4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26.svg"/><Relationship Id="rId5" Type="http://schemas.openxmlformats.org/officeDocument/2006/relationships/image" Target="../media/image125.png"/><Relationship Id="rId4" Type="http://schemas.openxmlformats.org/officeDocument/2006/relationships/image" Target="../media/image124.svg"/><Relationship Id="rId3" Type="http://schemas.openxmlformats.org/officeDocument/2006/relationships/image" Target="../media/image123.png"/><Relationship Id="rId2" Type="http://schemas.openxmlformats.org/officeDocument/2006/relationships/image" Target="../media/image6.svg"/><Relationship Id="rId1" Type="http://schemas.openxmlformats.org/officeDocument/2006/relationships/image" Target="../media/image102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3.png"/><Relationship Id="rId8" Type="http://schemas.openxmlformats.org/officeDocument/2006/relationships/image" Target="../media/image132.svg"/><Relationship Id="rId7" Type="http://schemas.openxmlformats.org/officeDocument/2006/relationships/image" Target="../media/image131.png"/><Relationship Id="rId6" Type="http://schemas.openxmlformats.org/officeDocument/2006/relationships/image" Target="../media/image130.svg"/><Relationship Id="rId5" Type="http://schemas.openxmlformats.org/officeDocument/2006/relationships/image" Target="../media/image129.png"/><Relationship Id="rId4" Type="http://schemas.openxmlformats.org/officeDocument/2006/relationships/image" Target="../media/image6.svg"/><Relationship Id="rId3" Type="http://schemas.openxmlformats.org/officeDocument/2006/relationships/image" Target="../media/image102.png"/><Relationship Id="rId2" Type="http://schemas.openxmlformats.org/officeDocument/2006/relationships/image" Target="../media/image128.svg"/><Relationship Id="rId14" Type="http://schemas.openxmlformats.org/officeDocument/2006/relationships/notesSlide" Target="../notesSlides/notesSlide25.xml"/><Relationship Id="rId13" Type="http://schemas.openxmlformats.org/officeDocument/2006/relationships/slideLayout" Target="../slideLayouts/slideLayout12.xml"/><Relationship Id="rId12" Type="http://schemas.openxmlformats.org/officeDocument/2006/relationships/image" Target="../media/image120.svg"/><Relationship Id="rId11" Type="http://schemas.openxmlformats.org/officeDocument/2006/relationships/image" Target="../media/image119.png"/><Relationship Id="rId10" Type="http://schemas.openxmlformats.org/officeDocument/2006/relationships/image" Target="../media/image134.svg"/><Relationship Id="rId1" Type="http://schemas.openxmlformats.org/officeDocument/2006/relationships/image" Target="../media/image127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37.svg"/><Relationship Id="rId7" Type="http://schemas.openxmlformats.org/officeDocument/2006/relationships/image" Target="../media/image136.png"/><Relationship Id="rId6" Type="http://schemas.openxmlformats.org/officeDocument/2006/relationships/image" Target="../media/image50.svg"/><Relationship Id="rId5" Type="http://schemas.openxmlformats.org/officeDocument/2006/relationships/image" Target="../media/image135.png"/><Relationship Id="rId4" Type="http://schemas.openxmlformats.org/officeDocument/2006/relationships/image" Target="../media/image83.svg"/><Relationship Id="rId3" Type="http://schemas.openxmlformats.org/officeDocument/2006/relationships/image" Target="../media/image82.png"/><Relationship Id="rId2" Type="http://schemas.openxmlformats.org/officeDocument/2006/relationships/image" Target="../media/image132.svg"/><Relationship Id="rId10" Type="http://schemas.openxmlformats.org/officeDocument/2006/relationships/notesSlide" Target="../notesSlides/notesSlide26.xml"/><Relationship Id="rId1" Type="http://schemas.openxmlformats.org/officeDocument/2006/relationships/image" Target="../media/image131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50.svg"/><Relationship Id="rId7" Type="http://schemas.openxmlformats.org/officeDocument/2006/relationships/image" Target="../media/image135.png"/><Relationship Id="rId6" Type="http://schemas.openxmlformats.org/officeDocument/2006/relationships/image" Target="../media/image139.svg"/><Relationship Id="rId5" Type="http://schemas.openxmlformats.org/officeDocument/2006/relationships/image" Target="../media/image138.png"/><Relationship Id="rId4" Type="http://schemas.openxmlformats.org/officeDocument/2006/relationships/image" Target="../media/image83.svg"/><Relationship Id="rId3" Type="http://schemas.openxmlformats.org/officeDocument/2006/relationships/image" Target="../media/image82.png"/><Relationship Id="rId2" Type="http://schemas.openxmlformats.org/officeDocument/2006/relationships/image" Target="../media/image126.svg"/><Relationship Id="rId10" Type="http://schemas.openxmlformats.org/officeDocument/2006/relationships/notesSlide" Target="../notesSlides/notesSlide27.xml"/><Relationship Id="rId1" Type="http://schemas.openxmlformats.org/officeDocument/2006/relationships/image" Target="../media/image125.png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32.svg"/><Relationship Id="rId7" Type="http://schemas.openxmlformats.org/officeDocument/2006/relationships/image" Target="../media/image131.png"/><Relationship Id="rId6" Type="http://schemas.openxmlformats.org/officeDocument/2006/relationships/image" Target="../media/image143.svg"/><Relationship Id="rId5" Type="http://schemas.openxmlformats.org/officeDocument/2006/relationships/image" Target="../media/image142.png"/><Relationship Id="rId4" Type="http://schemas.openxmlformats.org/officeDocument/2006/relationships/image" Target="../media/image141.svg"/><Relationship Id="rId3" Type="http://schemas.openxmlformats.org/officeDocument/2006/relationships/image" Target="../media/image140.png"/><Relationship Id="rId2" Type="http://schemas.openxmlformats.org/officeDocument/2006/relationships/image" Target="../media/image114.svg"/><Relationship Id="rId10" Type="http://schemas.openxmlformats.org/officeDocument/2006/relationships/notesSlide" Target="../notesSlides/notesSlide28.xml"/><Relationship Id="rId1" Type="http://schemas.openxmlformats.org/officeDocument/2006/relationships/image" Target="../media/image113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9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46.svg"/><Relationship Id="rId5" Type="http://schemas.openxmlformats.org/officeDocument/2006/relationships/image" Target="../media/image55.png"/><Relationship Id="rId4" Type="http://schemas.openxmlformats.org/officeDocument/2006/relationships/image" Target="../media/image4.svg"/><Relationship Id="rId3" Type="http://schemas.openxmlformats.org/officeDocument/2006/relationships/image" Target="../media/image9.png"/><Relationship Id="rId2" Type="http://schemas.openxmlformats.org/officeDocument/2006/relationships/image" Target="../media/image19.svg"/><Relationship Id="rId1" Type="http://schemas.openxmlformats.org/officeDocument/2006/relationships/image" Target="../media/image62.png"/></Relationships>
</file>

<file path=ppt/slides/_rels/slide3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0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134.svg"/><Relationship Id="rId3" Type="http://schemas.openxmlformats.org/officeDocument/2006/relationships/image" Target="../media/image133.png"/><Relationship Id="rId2" Type="http://schemas.openxmlformats.org/officeDocument/2006/relationships/image" Target="../media/image6.svg"/><Relationship Id="rId1" Type="http://schemas.openxmlformats.org/officeDocument/2006/relationships/image" Target="../media/image102.png"/></Relationships>
</file>

<file path=ppt/slides/_rels/slide3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48.svg"/><Relationship Id="rId7" Type="http://schemas.openxmlformats.org/officeDocument/2006/relationships/image" Target="../media/image147.png"/><Relationship Id="rId6" Type="http://schemas.openxmlformats.org/officeDocument/2006/relationships/image" Target="../media/image2.svg"/><Relationship Id="rId5" Type="http://schemas.openxmlformats.org/officeDocument/2006/relationships/image" Target="../media/image28.png"/><Relationship Id="rId4" Type="http://schemas.openxmlformats.org/officeDocument/2006/relationships/image" Target="../media/image146.svg"/><Relationship Id="rId3" Type="http://schemas.openxmlformats.org/officeDocument/2006/relationships/image" Target="../media/image145.png"/><Relationship Id="rId2" Type="http://schemas.openxmlformats.org/officeDocument/2006/relationships/image" Target="../media/image15.svg"/><Relationship Id="rId10" Type="http://schemas.openxmlformats.org/officeDocument/2006/relationships/notesSlide" Target="../notesSlides/notesSlide31.xml"/><Relationship Id="rId1" Type="http://schemas.openxmlformats.org/officeDocument/2006/relationships/image" Target="../media/image144.png"/></Relationships>
</file>

<file path=ppt/slides/_rels/slide3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8.svg"/><Relationship Id="rId7" Type="http://schemas.openxmlformats.org/officeDocument/2006/relationships/image" Target="../media/image151.png"/><Relationship Id="rId6" Type="http://schemas.openxmlformats.org/officeDocument/2006/relationships/image" Target="../media/image150.svg"/><Relationship Id="rId5" Type="http://schemas.openxmlformats.org/officeDocument/2006/relationships/image" Target="../media/image149.png"/><Relationship Id="rId4" Type="http://schemas.openxmlformats.org/officeDocument/2006/relationships/image" Target="../media/image19.svg"/><Relationship Id="rId3" Type="http://schemas.openxmlformats.org/officeDocument/2006/relationships/image" Target="../media/image62.png"/><Relationship Id="rId2" Type="http://schemas.openxmlformats.org/officeDocument/2006/relationships/image" Target="../media/image15.svg"/><Relationship Id="rId10" Type="http://schemas.openxmlformats.org/officeDocument/2006/relationships/notesSlide" Target="../notesSlides/notesSlide32.xml"/><Relationship Id="rId1" Type="http://schemas.openxmlformats.org/officeDocument/2006/relationships/image" Target="../media/image144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3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55.svg"/><Relationship Id="rId5" Type="http://schemas.openxmlformats.org/officeDocument/2006/relationships/image" Target="../media/image154.png"/><Relationship Id="rId4" Type="http://schemas.openxmlformats.org/officeDocument/2006/relationships/image" Target="../media/image92.svg"/><Relationship Id="rId3" Type="http://schemas.openxmlformats.org/officeDocument/2006/relationships/image" Target="../media/image91.png"/><Relationship Id="rId2" Type="http://schemas.openxmlformats.org/officeDocument/2006/relationships/image" Target="../media/image153.svg"/><Relationship Id="rId1" Type="http://schemas.openxmlformats.org/officeDocument/2006/relationships/image" Target="../media/image15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4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59.svg"/><Relationship Id="rId5" Type="http://schemas.openxmlformats.org/officeDocument/2006/relationships/image" Target="../media/image158.png"/><Relationship Id="rId4" Type="http://schemas.openxmlformats.org/officeDocument/2006/relationships/image" Target="../media/image89.svg"/><Relationship Id="rId3" Type="http://schemas.openxmlformats.org/officeDocument/2006/relationships/image" Target="../media/image88.png"/><Relationship Id="rId2" Type="http://schemas.openxmlformats.org/officeDocument/2006/relationships/image" Target="../media/image157.svg"/><Relationship Id="rId1" Type="http://schemas.openxmlformats.org/officeDocument/2006/relationships/image" Target="../media/image156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5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165.svg"/><Relationship Id="rId5" Type="http://schemas.openxmlformats.org/officeDocument/2006/relationships/image" Target="../media/image164.png"/><Relationship Id="rId4" Type="http://schemas.openxmlformats.org/officeDocument/2006/relationships/image" Target="../media/image163.svg"/><Relationship Id="rId3" Type="http://schemas.openxmlformats.org/officeDocument/2006/relationships/image" Target="../media/image162.png"/><Relationship Id="rId2" Type="http://schemas.openxmlformats.org/officeDocument/2006/relationships/image" Target="../media/image161.svg"/><Relationship Id="rId1" Type="http://schemas.openxmlformats.org/officeDocument/2006/relationships/image" Target="../media/image16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6.xml"/><Relationship Id="rId7" Type="http://schemas.openxmlformats.org/officeDocument/2006/relationships/slideLayout" Target="../slideLayouts/slideLayout12.xml"/><Relationship Id="rId6" Type="http://schemas.openxmlformats.org/officeDocument/2006/relationships/image" Target="../media/image96.svg"/><Relationship Id="rId5" Type="http://schemas.openxmlformats.org/officeDocument/2006/relationships/image" Target="../media/image95.png"/><Relationship Id="rId4" Type="http://schemas.openxmlformats.org/officeDocument/2006/relationships/image" Target="../media/image167.svg"/><Relationship Id="rId3" Type="http://schemas.openxmlformats.org/officeDocument/2006/relationships/image" Target="../media/image166.png"/><Relationship Id="rId2" Type="http://schemas.openxmlformats.org/officeDocument/2006/relationships/image" Target="../media/image101.svg"/><Relationship Id="rId1" Type="http://schemas.openxmlformats.org/officeDocument/2006/relationships/image" Target="../media/image100.png"/></Relationships>
</file>

<file path=ppt/slides/_rels/slide3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46.svg"/><Relationship Id="rId7" Type="http://schemas.openxmlformats.org/officeDocument/2006/relationships/image" Target="../media/image55.png"/><Relationship Id="rId6" Type="http://schemas.openxmlformats.org/officeDocument/2006/relationships/image" Target="../media/image2.svg"/><Relationship Id="rId5" Type="http://schemas.openxmlformats.org/officeDocument/2006/relationships/image" Target="../media/image28.png"/><Relationship Id="rId4" Type="http://schemas.openxmlformats.org/officeDocument/2006/relationships/image" Target="../media/image23.svg"/><Relationship Id="rId3" Type="http://schemas.openxmlformats.org/officeDocument/2006/relationships/image" Target="../media/image90.png"/><Relationship Id="rId2" Type="http://schemas.openxmlformats.org/officeDocument/2006/relationships/image" Target="../media/image169.svg"/><Relationship Id="rId10" Type="http://schemas.openxmlformats.org/officeDocument/2006/relationships/notesSlide" Target="../notesSlides/notesSlide37.xml"/><Relationship Id="rId1" Type="http://schemas.openxmlformats.org/officeDocument/2006/relationships/image" Target="../media/image168.png"/></Relationships>
</file>

<file path=ppt/slides/_rels/slide3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4.png"/><Relationship Id="rId8" Type="http://schemas.openxmlformats.org/officeDocument/2006/relationships/image" Target="../media/image173.svg"/><Relationship Id="rId7" Type="http://schemas.openxmlformats.org/officeDocument/2006/relationships/image" Target="../media/image172.png"/><Relationship Id="rId6" Type="http://schemas.openxmlformats.org/officeDocument/2006/relationships/image" Target="../media/image137.svg"/><Relationship Id="rId5" Type="http://schemas.openxmlformats.org/officeDocument/2006/relationships/image" Target="../media/image136.png"/><Relationship Id="rId4" Type="http://schemas.openxmlformats.org/officeDocument/2006/relationships/image" Target="../media/image171.svg"/><Relationship Id="rId3" Type="http://schemas.openxmlformats.org/officeDocument/2006/relationships/image" Target="../media/image170.png"/><Relationship Id="rId2" Type="http://schemas.openxmlformats.org/officeDocument/2006/relationships/image" Target="../media/image148.svg"/><Relationship Id="rId14" Type="http://schemas.openxmlformats.org/officeDocument/2006/relationships/notesSlide" Target="../notesSlides/notesSlide38.xml"/><Relationship Id="rId13" Type="http://schemas.openxmlformats.org/officeDocument/2006/relationships/slideLayout" Target="../slideLayouts/slideLayout12.xml"/><Relationship Id="rId12" Type="http://schemas.openxmlformats.org/officeDocument/2006/relationships/image" Target="../media/image177.svg"/><Relationship Id="rId11" Type="http://schemas.openxmlformats.org/officeDocument/2006/relationships/image" Target="../media/image176.png"/><Relationship Id="rId10" Type="http://schemas.openxmlformats.org/officeDocument/2006/relationships/image" Target="../media/image175.svg"/><Relationship Id="rId1" Type="http://schemas.openxmlformats.org/officeDocument/2006/relationships/image" Target="../media/image147.png"/></Relationships>
</file>

<file path=ppt/slides/_rels/slide3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79.svg"/><Relationship Id="rId7" Type="http://schemas.openxmlformats.org/officeDocument/2006/relationships/image" Target="../media/image178.png"/><Relationship Id="rId6" Type="http://schemas.openxmlformats.org/officeDocument/2006/relationships/image" Target="../media/image8.svg"/><Relationship Id="rId5" Type="http://schemas.openxmlformats.org/officeDocument/2006/relationships/image" Target="../media/image151.png"/><Relationship Id="rId4" Type="http://schemas.openxmlformats.org/officeDocument/2006/relationships/image" Target="../media/image6.svg"/><Relationship Id="rId3" Type="http://schemas.openxmlformats.org/officeDocument/2006/relationships/image" Target="../media/image102.png"/><Relationship Id="rId2" Type="http://schemas.openxmlformats.org/officeDocument/2006/relationships/image" Target="../media/image4.svg"/><Relationship Id="rId10" Type="http://schemas.openxmlformats.org/officeDocument/2006/relationships/notesSlide" Target="../notesSlides/notesSlide39.xml"/><Relationship Id="rId1" Type="http://schemas.openxmlformats.org/officeDocument/2006/relationships/image" Target="../media/image9.png"/></Relationships>
</file>

<file path=ppt/slides/_rels/slide4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0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81.svg"/><Relationship Id="rId1" Type="http://schemas.openxmlformats.org/officeDocument/2006/relationships/image" Target="../media/image180.png"/></Relationships>
</file>

<file path=ppt/slides/_rels/slide4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41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183.svg"/><Relationship Id="rId3" Type="http://schemas.openxmlformats.org/officeDocument/2006/relationships/image" Target="../media/image182.png"/><Relationship Id="rId2" Type="http://schemas.openxmlformats.org/officeDocument/2006/relationships/image" Target="../media/image15.svg"/><Relationship Id="rId1" Type="http://schemas.openxmlformats.org/officeDocument/2006/relationships/image" Target="../media/image1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635000" y="-635000"/>
            <a:ext cx="3810000" cy="3810000"/>
          </a:xfrm>
          <a:prstGeom prst="ellipse">
            <a:avLst/>
          </a:prstGeom>
          <a:solidFill>
            <a:srgbClr val="0277BD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160000" y="4445000"/>
            <a:ext cx="2540000" cy="2540000"/>
          </a:xfrm>
          <a:prstGeom prst="ellipse">
            <a:avLst/>
          </a:prstGeom>
          <a:solidFill>
            <a:srgbClr val="0277BD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89600" y="1016000"/>
            <a:ext cx="812800" cy="812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635000" y="2032000"/>
            <a:ext cx="1092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第2章 大语言模型开发基础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35000" y="2730500"/>
            <a:ext cx="1092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教学课件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34376">
            <a:off x="5461032" y="32956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277BD">
                <a:alpha val="3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8" name="AutoShape 8"/>
          <p:cNvSpPr/>
          <p:nvPr/>
        </p:nvSpPr>
        <p:spPr>
          <a:xfrm>
            <a:off x="4191000" y="5588000"/>
            <a:ext cx="3810000" cy="508000"/>
          </a:xfrm>
          <a:prstGeom prst="roundRect">
            <a:avLst>
              <a:gd name="adj" fmla="val 25000"/>
            </a:avLst>
          </a:prstGeom>
          <a:solidFill>
            <a:srgbClr val="FFFFFF">
              <a:alpha val="80000"/>
            </a:srgbClr>
          </a:solidFill>
          <a:ln w="12700" cap="flat" cmpd="sng">
            <a:solidFill>
              <a:srgbClr val="0277BD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4318000" y="5689600"/>
            <a:ext cx="355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大学教授视角 | 严谨治学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033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目录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33500"/>
            <a:ext cx="762000" cy="50800"/>
          </a:xfrm>
          <a:prstGeom prst="roundRect">
            <a:avLst>
              <a:gd name="adj" fmla="val 0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778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1016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2032000" y="2032000"/>
            <a:ext cx="762000" cy="762000"/>
          </a:xfrm>
          <a:prstGeom prst="ellipse">
            <a:avLst/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59000" y="2159000"/>
            <a:ext cx="508000" cy="508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889000" y="2921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Python大语言模型开发基础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016000" y="34290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757575"/>
              </a:buClr>
              <a:buChar char="•"/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Python编程基础知识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大语言模型开发常用库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177800" indent="-1778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接口的设计与优化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4445000" y="1778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1016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5715000" y="2032000"/>
            <a:ext cx="762000" cy="762000"/>
          </a:xfrm>
          <a:prstGeom prst="ellipse">
            <a:avLst/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42000" y="2159000"/>
            <a:ext cx="508000" cy="508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4572000" y="2921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Docker容器基础知识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699000" y="34290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757575"/>
              </a:buClr>
              <a:buChar char="•"/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Docker环境搭建与常用命令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项目打包、部署与运行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8128000" y="1778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1016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9398000" y="2032000"/>
            <a:ext cx="762000" cy="762000"/>
          </a:xfrm>
          <a:prstGeom prst="ellipse">
            <a:avLst/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5000" y="21590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8255000" y="2921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自然语言处理概述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382000" y="3429000"/>
            <a:ext cx="2794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757575"/>
              </a:buClr>
              <a:buChar char="•"/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NLP定义、任务与关键技术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NLP应用场景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0" y="6731000"/>
            <a:ext cx="12192000" cy="127000"/>
          </a:xfrm>
          <a:prstGeom prst="roundRect">
            <a:avLst>
              <a:gd name="adj" fmla="val 0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508000"/>
            <a:ext cx="109728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2.1 Python大语言模型开发基础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651000" y="1524000"/>
            <a:ext cx="8890000" cy="1524000"/>
          </a:xfrm>
          <a:prstGeom prst="roundRect">
            <a:avLst>
              <a:gd name="adj" fmla="val 8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1270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905000" y="1714500"/>
            <a:ext cx="8382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本章将快速建立对Python编程的基础理解，学习接口开发与优化，</a:t>
            </a:r>
            <a:br>
              <a:rPr lang="en-US" sz="18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sz="18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为大语言模型开发打下坚实的工程基础。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651000" y="3429000"/>
            <a:ext cx="2794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63500" dir="54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30500" y="3683000"/>
            <a:ext cx="635000" cy="635000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651000" y="4445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编程基础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1778000" y="4826000"/>
            <a:ext cx="254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E9E9E"/>
                </a:solidFill>
                <a:latin typeface="Noto Sans SC"/>
                <a:ea typeface="Noto Sans SC"/>
                <a:cs typeface="Noto Sans SC"/>
                <a:sym typeface="Noto Sans SC"/>
              </a:rPr>
              <a:t>Python核心语法与数据结构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4699000" y="3429000"/>
            <a:ext cx="2794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63500" dir="54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8500" y="3683000"/>
            <a:ext cx="635000" cy="635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699000" y="4445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接口开发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826000" y="4826000"/>
            <a:ext cx="254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E9E9E"/>
                </a:solidFill>
                <a:latin typeface="Noto Sans SC"/>
                <a:ea typeface="Noto Sans SC"/>
                <a:cs typeface="Noto Sans SC"/>
                <a:sym typeface="Noto Sans SC"/>
              </a:rPr>
              <a:t>RESTful API与服务部署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747000" y="3429000"/>
            <a:ext cx="2794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63500" dir="54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26500" y="3683000"/>
            <a:ext cx="635000" cy="6350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7747000" y="44450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工程优化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7874000" y="4826000"/>
            <a:ext cx="254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E9E9E"/>
                </a:solidFill>
                <a:latin typeface="Noto Sans SC"/>
                <a:ea typeface="Noto Sans SC"/>
                <a:cs typeface="Noto Sans SC"/>
                <a:sym typeface="Noto Sans SC"/>
              </a:rPr>
              <a:t>性能调优与代码规范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0" y="6604000"/>
            <a:ext cx="12192000" cy="254000"/>
          </a:xfrm>
          <a:prstGeom prst="roundRect">
            <a:avLst>
              <a:gd name="adj" fmla="val 0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40259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为什么选择Python？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080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7145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核心优势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2225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460500" y="21844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简单易学：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语法清晰简洁，上手门槛低。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27305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460500" y="26924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跨平台性：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支持Windows、macOS、Linux等系统。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3238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460500" y="32004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丰富的库：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覆盖AI、Web、数据科学等领域。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37465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460500" y="37084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社区支持：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海量资源、文档和活跃社区帮助。</a:t>
            </a:r>
            <a:endParaRPr lang="en-US" sz="1100"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6000" y="42545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460500" y="42164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应用生态：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广泛应用于数据科学、AI等场景。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0" y="1524000"/>
            <a:ext cx="5080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604000" y="17145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主要缺点及应对</a:t>
            </a:r>
            <a:endParaRPr lang="en-US" sz="1100"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04000" y="22225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7048500" y="21844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速度慢：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关键部分结合C/C++编写优化。</a:t>
            </a:r>
            <a:endParaRPr lang="en-US" sz="1100"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604000" y="27305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7048500" y="26924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代码加密困难：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采用服务化部署或商业加密工具。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762000" y="5334000"/>
            <a:ext cx="10668000" cy="1016000"/>
          </a:xfrm>
          <a:prstGeom prst="roundRect">
            <a:avLst>
              <a:gd name="adj" fmla="val 12500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16000" y="5588000"/>
            <a:ext cx="508000" cy="508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1651000" y="5524500"/>
            <a:ext cx="952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总结：</a:t>
            </a:r>
            <a:r>
              <a:rPr lang="en-US" sz="1600" b="0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Python凭借其易用性和强大的生态，是大语言模型开发的首选语言。虽然存在性能等短板，但通过成熟的技术手段均可有效规避。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35179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Python版本之争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080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8415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651000" y="1651000"/>
            <a:ext cx="3937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历史背景：长期共存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651000" y="2032000"/>
            <a:ext cx="3937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Python 2.x与3.x曾长期共存，因设计理念差异存在语法不兼容问题。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048000"/>
            <a:ext cx="5080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365500"/>
            <a:ext cx="508000" cy="508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651000" y="3175000"/>
            <a:ext cx="3937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现状：停止支持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651000" y="3556000"/>
            <a:ext cx="3937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自2020年起，官方停止对Python 2.x的支持，Python 3.x已成为绝对主流。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572000"/>
            <a:ext cx="5080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889500"/>
            <a:ext cx="508000" cy="508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651000" y="4699000"/>
            <a:ext cx="3937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课程选择：基于3.x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651000" y="5080000"/>
            <a:ext cx="3937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本课程及后续所有代码演示将统一基于Python 3.x版本进行讲解。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0" y="1524000"/>
            <a:ext cx="5080000" cy="4318000"/>
          </a:xfrm>
          <a:prstGeom prst="roundRect">
            <a:avLst>
              <a:gd name="adj" fmla="val 2941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604000" y="1778000"/>
            <a:ext cx="4572000" cy="1016000"/>
          </a:xfrm>
          <a:prstGeom prst="roundRect">
            <a:avLst>
              <a:gd name="adj" fmla="val 12500"/>
            </a:avLst>
          </a:prstGeom>
          <a:solidFill>
            <a:srgbClr val="E0E0E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58000" y="2032000"/>
            <a:ext cx="508000" cy="508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7493000" y="1905000"/>
            <a:ext cx="3429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424242"/>
                </a:solidFill>
                <a:latin typeface="Noto Sans SC"/>
                <a:ea typeface="Noto Sans SC"/>
                <a:cs typeface="Noto Sans SC"/>
                <a:sym typeface="Noto Sans SC"/>
              </a:rPr>
              <a:t>Python 2.x (Legacy)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493000" y="2286000"/>
            <a:ext cx="3429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旧版本，已停止维护与更新</a:t>
            </a:r>
            <a:endParaRPr lang="en-US" sz="1100"/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636000" y="2921000"/>
            <a:ext cx="508000" cy="5080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6604000" y="3556000"/>
            <a:ext cx="4572000" cy="1016000"/>
          </a:xfrm>
          <a:prstGeom prst="roundRect">
            <a:avLst>
              <a:gd name="adj" fmla="val 12500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50800" dir="2700000" algn="tl" rotWithShape="0">
              <a:srgbClr val="0277BD">
                <a:alpha val="3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8000" y="3810000"/>
            <a:ext cx="508000" cy="5080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493000" y="3683000"/>
            <a:ext cx="3429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Python 3.x (Current)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493000" y="4064000"/>
            <a:ext cx="3429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E0F7FA"/>
                </a:solidFill>
                <a:latin typeface="Noto Sans SC"/>
                <a:ea typeface="Noto Sans SC"/>
                <a:cs typeface="Noto Sans SC"/>
                <a:sym typeface="Noto Sans SC"/>
              </a:rPr>
              <a:t>现代版本，持续迭代与优化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604000" y="4826000"/>
            <a:ext cx="4572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858000" y="5016500"/>
            <a:ext cx="381000" cy="381000"/>
          </a:xfrm>
          <a:prstGeom prst="rect">
            <a:avLst/>
          </a:prstGeom>
        </p:spPr>
      </p:pic>
      <p:sp>
        <p:nvSpPr>
          <p:cNvPr id="27" name="AutoShape 27"/>
          <p:cNvSpPr/>
          <p:nvPr/>
        </p:nvSpPr>
        <p:spPr>
          <a:xfrm>
            <a:off x="7366000" y="5016500"/>
            <a:ext cx="355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推荐选择：Python 3.x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80518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Python虚拟环境准备 (Conda)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4826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7145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为什么需要虚拟环境？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2860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97000" y="22352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隔离项目依赖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避免不同项目间的库版本冲突，确保运行稳定。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048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29972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保持环境清洁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独立安装所需包，不污染全局Python环境。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5842000" y="1524000"/>
            <a:ext cx="5080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096000" y="17145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使用 Conda 管理环境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096000" y="2222500"/>
            <a:ext cx="4572000" cy="1905000"/>
          </a:xfrm>
          <a:prstGeom prst="roundRect">
            <a:avLst>
              <a:gd name="adj" fmla="val 3333"/>
            </a:avLst>
          </a:prstGeom>
          <a:solidFill>
            <a:srgbClr val="1E1E1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223000" y="2286000"/>
            <a:ext cx="4318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ts val="2200"/>
              </a:lnSpc>
              <a:defRPr/>
            </a:pPr>
            <a:r>
              <a:rPr lang="en-US" sz="1300" b="0" i="0" u="none" strike="noStrike">
                <a:solidFill>
                  <a:srgbClr val="98C379"/>
                </a:solidFill>
                <a:latin typeface="Roboto Mono"/>
                <a:ea typeface="Roboto Mono"/>
                <a:cs typeface="Roboto Mono"/>
                <a:sym typeface="Roboto Mono"/>
              </a:rPr>
              <a:t># 查看现有环境</a:t>
            </a:r>
            <a:endParaRPr lang="en-US" sz="1100"/>
          </a:p>
          <a:p>
            <a:pPr indent="0" algn="l">
              <a:lnSpc>
                <a:spcPts val="2200"/>
              </a:lnSpc>
            </a:pPr>
            <a:r>
              <a:rPr lang="en-US" sz="1300" b="0" i="0" u="none" strike="noStrike">
                <a:solidFill>
                  <a:srgbClr val="DCDCAA"/>
                </a:solidFill>
                <a:latin typeface="Roboto Mono"/>
                <a:ea typeface="Roboto Mono"/>
                <a:cs typeface="Roboto Mono"/>
                <a:sym typeface="Roboto Mono"/>
              </a:rPr>
              <a:t>conda env list</a:t>
            </a:r>
            <a:endParaRPr lang="en-US" sz="1300" b="0" i="0" u="none" strike="noStrike">
              <a:solidFill>
                <a:srgbClr val="DCDCAA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ts val="2200"/>
              </a:lnSpc>
            </a:pPr>
            <a:r>
              <a:rPr lang="en-US" sz="1300" b="0" i="0" u="none" strike="noStrike">
                <a:solidFill>
                  <a:srgbClr val="98C379"/>
                </a:solidFill>
                <a:latin typeface="Roboto Mono"/>
                <a:ea typeface="Roboto Mono"/>
                <a:cs typeface="Roboto Mono"/>
                <a:sym typeface="Roboto Mono"/>
              </a:rPr>
              <a:t># 创建环境 (Python 3.9)</a:t>
            </a:r>
            <a:endParaRPr lang="en-US" sz="1300" b="0" i="0" u="none" strike="noStrike">
              <a:solidFill>
                <a:srgbClr val="98C37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ts val="2200"/>
              </a:lnSpc>
            </a:pPr>
            <a:r>
              <a:rPr lang="en-US" sz="1300" b="0" i="0" u="none" strike="noStrike">
                <a:solidFill>
                  <a:srgbClr val="DCDCAA"/>
                </a:solidFill>
                <a:latin typeface="Roboto Mono"/>
                <a:ea typeface="Roboto Mono"/>
                <a:cs typeface="Roboto Mono"/>
                <a:sym typeface="Roboto Mono"/>
              </a:rPr>
              <a:t>conda create -n my_env_name python=3.9</a:t>
            </a:r>
            <a:endParaRPr lang="en-US" sz="1300" b="0" i="0" u="none" strike="noStrike">
              <a:solidFill>
                <a:srgbClr val="DCDCAA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ts val="2200"/>
              </a:lnSpc>
            </a:pPr>
            <a:r>
              <a:rPr lang="en-US" sz="1300" b="0" i="0" u="none" strike="noStrike">
                <a:solidFill>
                  <a:srgbClr val="98C379"/>
                </a:solidFill>
                <a:latin typeface="Roboto Mono"/>
                <a:ea typeface="Roboto Mono"/>
                <a:cs typeface="Roboto Mono"/>
                <a:sym typeface="Roboto Mono"/>
              </a:rPr>
              <a:t># 激活环境 (Win: activate my_env_name)</a:t>
            </a:r>
            <a:endParaRPr lang="en-US" sz="1300" b="0" i="0" u="none" strike="noStrike">
              <a:solidFill>
                <a:srgbClr val="98C37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ts val="2200"/>
              </a:lnSpc>
            </a:pPr>
            <a:r>
              <a:rPr lang="en-US" sz="1300" b="0" i="0" u="none" strike="noStrike">
                <a:solidFill>
                  <a:srgbClr val="DCDCAA"/>
                </a:solidFill>
                <a:latin typeface="Roboto Mono"/>
                <a:ea typeface="Roboto Mono"/>
                <a:cs typeface="Roboto Mono"/>
                <a:sym typeface="Roboto Mono"/>
              </a:rPr>
              <a:t>source activate my_env_name</a:t>
            </a:r>
            <a:endParaRPr lang="en-US" sz="1300" b="0" i="0" u="none" strike="noStrike">
              <a:solidFill>
                <a:srgbClr val="DCDCAA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4826000"/>
            <a:ext cx="10668000" cy="1016000"/>
          </a:xfrm>
          <a:prstGeom prst="roundRect">
            <a:avLst>
              <a:gd name="adj" fmla="val 12500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080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524000" y="5016500"/>
            <a:ext cx="965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Tips: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建议为每个新项目创建独立的虚拟环境。熟练掌握这些基础命令是高效开发的第一步。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70358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Python虚拟环境准备 (Conda)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080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9050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651000" y="1778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安装依赖包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在指定环境中安装 numpy 和 pandas 等库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2794000"/>
            <a:ext cx="5080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048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651000" y="2921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卸载包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从环境中移除不再需要的包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3937000"/>
            <a:ext cx="5080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1910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651000" y="4064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退出环境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回到系统默认的基础环境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762000" y="5080000"/>
            <a:ext cx="5080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5334000"/>
            <a:ext cx="508000" cy="508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651000" y="52070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删除环境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彻底删除整个虚拟环境及其所有包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6350000" y="1651000"/>
            <a:ext cx="5080000" cy="4445000"/>
          </a:xfrm>
          <a:prstGeom prst="roundRect">
            <a:avLst>
              <a:gd name="adj" fmla="val 2857"/>
            </a:avLst>
          </a:prstGeom>
          <a:solidFill>
            <a:srgbClr val="1E1E1E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101600" dir="2700000" algn="tl" rotWithShape="0">
              <a:srgbClr val="000000">
                <a:alpha val="3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350000" y="1651000"/>
            <a:ext cx="5080000" cy="457200"/>
          </a:xfrm>
          <a:prstGeom prst="roundRect">
            <a:avLst>
              <a:gd name="adj" fmla="val 0"/>
            </a:avLst>
          </a:prstGeom>
          <a:solidFill>
            <a:srgbClr val="2D2D2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6540500" y="1803400"/>
            <a:ext cx="152400" cy="152400"/>
          </a:xfrm>
          <a:prstGeom prst="ellipse">
            <a:avLst/>
          </a:prstGeom>
          <a:solidFill>
            <a:srgbClr val="FF5F5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794500" y="1803400"/>
            <a:ext cx="152400" cy="152400"/>
          </a:xfrm>
          <a:prstGeom prst="ellipse">
            <a:avLst/>
          </a:prstGeom>
          <a:solidFill>
            <a:srgbClr val="FFBD2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7048500" y="1803400"/>
            <a:ext cx="152400" cy="152400"/>
          </a:xfrm>
          <a:prstGeom prst="ellipse">
            <a:avLst/>
          </a:prstGeom>
          <a:solidFill>
            <a:srgbClr val="27C93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7366000" y="1651000"/>
            <a:ext cx="3810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69696"/>
                </a:solidFill>
                <a:latin typeface="Noto Sans SC"/>
                <a:ea typeface="Noto Sans SC"/>
                <a:cs typeface="Noto Sans SC"/>
                <a:sym typeface="Noto Sans SC"/>
              </a:rPr>
              <a:t>Terminal — conda_commands.sh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540500" y="2222500"/>
            <a:ext cx="4699000" cy="368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400" b="0" i="0" u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在指定环境中安装包</a:t>
            </a:r>
            <a:endParaRPr lang="en-US" sz="1100"/>
          </a:p>
          <a:p>
            <a:pPr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F0F0F0"/>
                </a:solidFill>
                <a:latin typeface="Consolas"/>
                <a:ea typeface="Consolas"/>
                <a:cs typeface="Consolas"/>
                <a:sym typeface="Consolas"/>
              </a:rPr>
              <a:t>conda install -n my_env_name numpy pandas</a:t>
            </a:r>
            <a:endParaRPr lang="en-US" sz="1400" b="0" i="0" u="none" strike="noStrike">
              <a:solidFill>
                <a:srgbClr val="F0F0F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17000"/>
              </a:lnSpc>
            </a:pPr>
          </a:p>
          <a:p>
            <a:pPr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卸载包</a:t>
            </a:r>
            <a:endParaRPr lang="en-US" sz="1400" b="0" i="0" u="none" strike="noStrike">
              <a:solidFill>
                <a:srgbClr val="6A995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F0F0F0"/>
                </a:solidFill>
                <a:latin typeface="Consolas"/>
                <a:ea typeface="Consolas"/>
                <a:cs typeface="Consolas"/>
                <a:sym typeface="Consolas"/>
              </a:rPr>
              <a:t>conda remove -n my_env_name numpy</a:t>
            </a:r>
            <a:endParaRPr lang="en-US" sz="1400" b="0" i="0" u="none" strike="noStrike">
              <a:solidFill>
                <a:srgbClr val="F0F0F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17000"/>
              </a:lnSpc>
            </a:pPr>
          </a:p>
          <a:p>
            <a:pPr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退出当前环境</a:t>
            </a:r>
            <a:endParaRPr lang="en-US" sz="1400" b="0" i="0" u="none" strike="noStrike">
              <a:solidFill>
                <a:srgbClr val="6A995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F0F0F0"/>
                </a:solidFill>
                <a:latin typeface="Consolas"/>
                <a:ea typeface="Consolas"/>
                <a:cs typeface="Consolas"/>
                <a:sym typeface="Consolas"/>
              </a:rPr>
              <a:t>conda deactivate</a:t>
            </a:r>
            <a:endParaRPr lang="en-US" sz="1400" b="0" i="0" u="none" strike="noStrike">
              <a:solidFill>
                <a:srgbClr val="F0F0F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17000"/>
              </a:lnSpc>
            </a:pPr>
          </a:p>
          <a:p>
            <a:pPr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删除整个环境</a:t>
            </a:r>
            <a:endParaRPr lang="en-US" sz="1400" b="0" i="0" u="none" strike="noStrike">
              <a:solidFill>
                <a:srgbClr val="6A995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17000"/>
              </a:lnSpc>
            </a:pPr>
            <a:r>
              <a:rPr lang="en-US" sz="1400" b="0" i="0" u="none" strike="noStrike">
                <a:solidFill>
                  <a:srgbClr val="F0F0F0"/>
                </a:solidFill>
                <a:latin typeface="Consolas"/>
                <a:ea typeface="Consolas"/>
                <a:cs typeface="Consolas"/>
                <a:sym typeface="Consolas"/>
              </a:rPr>
              <a:t>conda remove -n my_env_name --all</a:t>
            </a:r>
            <a:endParaRPr lang="en-US" sz="1400" b="0" i="0" u="none" strike="noStrike">
              <a:solidFill>
                <a:srgbClr val="F0F0F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70358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Python虚拟环境准备 (venv)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810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9050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651000" y="1905000"/>
            <a:ext cx="266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轻量级内置工具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540000"/>
            <a:ext cx="3302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核心优势：</a:t>
            </a:r>
            <a:endParaRPr lang="en-US" sz="1100"/>
          </a:p>
          <a:p>
            <a:pPr marL="177800" indent="-177800" algn="l">
              <a:lnSpc>
                <a:spcPct val="117000"/>
              </a:lnSpc>
              <a:buClr>
                <a:srgbClr val="505050"/>
              </a:buClr>
              <a:buChar char="•"/>
            </a:pPr>
            <a:r>
              <a:rPr lang="en-US" sz="14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Python 3.3+ 版本内置，无需额外安装</a:t>
            </a:r>
            <a:endParaRPr lang="en-US" sz="1400" b="0" i="0" u="none" strike="noStrike">
              <a:solidFill>
                <a:srgbClr val="505050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177800" indent="-177800" algn="l">
              <a:lnSpc>
                <a:spcPct val="117000"/>
              </a:lnSpc>
              <a:buClr>
                <a:srgbClr val="505050"/>
              </a:buClr>
              <a:buChar char="•"/>
            </a:pPr>
            <a:r>
              <a:rPr lang="en-US" sz="14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轻量级，专注于环境隔离</a:t>
            </a:r>
            <a:endParaRPr lang="en-US" sz="1400" b="0" i="0" u="none" strike="noStrike">
              <a:solidFill>
                <a:srgbClr val="505050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177800" indent="-177800" algn="l">
              <a:lnSpc>
                <a:spcPct val="117000"/>
              </a:lnSpc>
              <a:buClr>
                <a:srgbClr val="505050"/>
              </a:buClr>
              <a:buChar char="•"/>
            </a:pPr>
            <a:r>
              <a:rPr lang="en-US" sz="14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适合不想安装 Anaconda 的开发者</a:t>
            </a:r>
            <a:endParaRPr lang="en-US" sz="1400" b="0" i="0" u="none" strike="noStrike">
              <a:solidFill>
                <a:srgbClr val="505050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953000" y="1651000"/>
            <a:ext cx="6096000" cy="3556000"/>
          </a:xfrm>
          <a:prstGeom prst="roundRect">
            <a:avLst>
              <a:gd name="adj" fmla="val 3571"/>
            </a:avLst>
          </a:prstGeom>
          <a:solidFill>
            <a:srgbClr val="21252B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52400" dist="76200" dir="2700000" algn="tl" rotWithShape="0">
              <a:srgbClr val="000000">
                <a:alpha val="2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5207000" y="1841500"/>
            <a:ext cx="558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核心命令操作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5207000" y="2286000"/>
            <a:ext cx="55880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98C379"/>
                </a:solidFill>
                <a:latin typeface="Noto Sans SC"/>
                <a:ea typeface="Noto Sans SC"/>
                <a:cs typeface="Noto Sans SC"/>
                <a:sym typeface="Noto Sans SC"/>
              </a:rPr>
              <a:t># 创建名为 my_env_name 的环境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E5C07B"/>
                </a:solidFill>
                <a:latin typeface="Noto Sans SC"/>
                <a:ea typeface="Noto Sans SC"/>
                <a:cs typeface="Noto Sans SC"/>
                <a:sym typeface="Noto Sans SC"/>
              </a:rPr>
              <a:t>python -m venv</a:t>
            </a:r>
            <a:r>
              <a:rPr lang="en-US" sz="1400" b="0" i="0" u="none" strike="noStrike">
                <a:solidFill>
                  <a:srgbClr val="E0E0E0"/>
                </a:solidFill>
                <a:latin typeface="Noto Sans SC"/>
                <a:ea typeface="Noto Sans SC"/>
                <a:cs typeface="Noto Sans SC"/>
                <a:sym typeface="Noto Sans SC"/>
              </a:rPr>
              <a:t>my_env_name</a:t>
            </a:r>
            <a:endParaRPr lang="en-US" sz="1400" b="0" i="0" u="none" strike="noStrike">
              <a:solidFill>
                <a:srgbClr val="E0E0E0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98C379"/>
                </a:solidFill>
                <a:latin typeface="Noto Sans SC"/>
                <a:ea typeface="Noto Sans SC"/>
                <a:cs typeface="Noto Sans SC"/>
                <a:sym typeface="Noto Sans SC"/>
              </a:rPr>
              <a:t># 激活环境 (Linux/macOS)</a:t>
            </a:r>
            <a:endParaRPr lang="en-US" sz="1400" b="0" i="0" u="none" strike="noStrike">
              <a:solidFill>
                <a:srgbClr val="98C379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E5C07B"/>
                </a:solidFill>
                <a:latin typeface="Noto Sans SC"/>
                <a:ea typeface="Noto Sans SC"/>
                <a:cs typeface="Noto Sans SC"/>
                <a:sym typeface="Noto Sans SC"/>
              </a:rPr>
              <a:t>source</a:t>
            </a:r>
            <a:r>
              <a:rPr lang="en-US" sz="1400" b="0" i="0" u="none" strike="noStrike">
                <a:solidFill>
                  <a:srgbClr val="E0E0E0"/>
                </a:solidFill>
                <a:latin typeface="Noto Sans SC"/>
                <a:ea typeface="Noto Sans SC"/>
                <a:cs typeface="Noto Sans SC"/>
                <a:sym typeface="Noto Sans SC"/>
              </a:rPr>
              <a:t>my_env_name/bin/activate</a:t>
            </a:r>
            <a:endParaRPr lang="en-US" sz="1400" b="0" i="0" u="none" strike="noStrike">
              <a:solidFill>
                <a:srgbClr val="E0E0E0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98C379"/>
                </a:solidFill>
                <a:latin typeface="Noto Sans SC"/>
                <a:ea typeface="Noto Sans SC"/>
                <a:cs typeface="Noto Sans SC"/>
                <a:sym typeface="Noto Sans SC"/>
              </a:rPr>
              <a:t># 激活环境 (Windows)</a:t>
            </a:r>
            <a:endParaRPr lang="en-US" sz="1400" b="0" i="0" u="none" strike="noStrike">
              <a:solidFill>
                <a:srgbClr val="98C379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E0E0E0"/>
                </a:solidFill>
                <a:latin typeface="Noto Sans SC"/>
                <a:ea typeface="Noto Sans SC"/>
                <a:cs typeface="Noto Sans SC"/>
                <a:sym typeface="Noto Sans SC"/>
              </a:rPr>
              <a:t>my_env_name\Scripts\activate.bat</a:t>
            </a:r>
            <a:endParaRPr lang="en-US" sz="1400" b="0" i="0" u="none" strike="noStrike">
              <a:solidFill>
                <a:srgbClr val="E0E0E0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98C379"/>
                </a:solidFill>
                <a:latin typeface="Noto Sans SC"/>
                <a:ea typeface="Noto Sans SC"/>
                <a:cs typeface="Noto Sans SC"/>
                <a:sym typeface="Noto Sans SC"/>
              </a:rPr>
              <a:t># 退出环境</a:t>
            </a:r>
            <a:endParaRPr lang="en-US" sz="1400" b="0" i="0" u="none" strike="noStrike">
              <a:solidFill>
                <a:srgbClr val="98C379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E5C07B"/>
                </a:solidFill>
                <a:latin typeface="Noto Sans SC"/>
                <a:ea typeface="Noto Sans SC"/>
                <a:cs typeface="Noto Sans SC"/>
                <a:sym typeface="Noto Sans SC"/>
              </a:rPr>
              <a:t>deactivate</a:t>
            </a:r>
            <a:endParaRPr lang="en-US" sz="1400" b="0" i="0" u="none" strike="noStrike">
              <a:solidFill>
                <a:srgbClr val="E5C07B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546100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56515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460500" y="5588000"/>
            <a:ext cx="965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提示：</a:t>
            </a:r>
            <a:r>
              <a:rPr lang="en-US" sz="15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激活环境后，终端命令行前会显示环境名称，如 (my_env_name)，表示已进入虚拟环境。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654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Python开发风格 (PEP 8)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080000" cy="3683000"/>
          </a:xfrm>
          <a:prstGeom prst="roundRect">
            <a:avLst>
              <a:gd name="adj" fmla="val 344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7145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核心编码规范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2225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97000" y="21844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缩进：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使用4个空格，而非Tab键。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2794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27559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行长度：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每行不超过79个字符，保持整洁。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33655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33274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空行：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顶层函数类前后两空行，类内方法一空行。</a:t>
            </a:r>
            <a:endParaRPr lang="en-US" sz="1100"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3937000"/>
            <a:ext cx="304800" cy="3048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397000" y="3898900"/>
            <a:ext cx="4191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导入：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import语句分行书写，避免使用通配符`*`。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096000" y="1524000"/>
            <a:ext cx="5080000" cy="3683000"/>
          </a:xfrm>
          <a:prstGeom prst="roundRect">
            <a:avLst>
              <a:gd name="adj" fmla="val 344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350000" y="17145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命名约定 (Naming Conventions)</a:t>
            </a:r>
            <a:endParaRPr lang="en-US" sz="1100"/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6350000" y="2222500"/>
          <a:ext cx="4572000" cy="22225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16000"/>
                <a:gridCol w="1778000"/>
                <a:gridCol w="1778000"/>
              </a:tblGrid>
              <a:tr h="5080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0277BD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类型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77BD">
                        <a:alpha val="1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0277BD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规则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77BD">
                        <a:alpha val="1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600" b="1" i="0" u="none" strike="noStrike">
                          <a:solidFill>
                            <a:srgbClr val="0277BD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示例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77BD">
                        <a:alpha val="10000"/>
                      </a:srgbClr>
                    </a:solidFill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75757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常量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75757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全大写，下划线分隔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75757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MAX_LENGTH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75757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变量/函数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75757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小写，下划线分隔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75757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user_name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715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75757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类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75757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驼峰式 (CamelCase)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757575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UserProfile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6" name="AutoShape 16"/>
          <p:cNvSpPr/>
          <p:nvPr/>
        </p:nvSpPr>
        <p:spPr>
          <a:xfrm>
            <a:off x="762000" y="5461000"/>
            <a:ext cx="10414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6000" y="5651500"/>
            <a:ext cx="381000" cy="381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524000" y="5562600"/>
            <a:ext cx="9398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遵循PEP 8规范不仅能提升代码可读性，更是团队协作和项目维护的基石。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5537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Python极简知识 - 变量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4826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8415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核心概念与特性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4130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97000" y="23622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动态类型，无需声明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变量是存储数据的载体，Python解释器会自动识别数据类型。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175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31242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赋值操作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使用等号 `=` 进行赋值，将右侧值绑定到左侧变量名上。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096000" y="1651000"/>
            <a:ext cx="5334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350000" y="1841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代码示例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350000" y="2286000"/>
            <a:ext cx="4826000" cy="2159000"/>
          </a:xfrm>
          <a:prstGeom prst="roundRect">
            <a:avLst>
              <a:gd name="adj" fmla="val 2941"/>
            </a:avLst>
          </a:prstGeom>
          <a:solidFill>
            <a:srgbClr val="1E1E1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477000" y="2413000"/>
            <a:ext cx="4572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C678DD"/>
                </a:solidFill>
                <a:latin typeface="Roboto Mono"/>
                <a:ea typeface="Roboto Mono"/>
                <a:cs typeface="Roboto Mono"/>
                <a:sym typeface="Roboto Mono"/>
              </a:rPr>
              <a:t># 单个变量赋值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E06C75"/>
                </a:solidFill>
                <a:latin typeface="Roboto Mono"/>
                <a:ea typeface="Roboto Mono"/>
                <a:cs typeface="Roboto Mono"/>
                <a:sym typeface="Roboto Mono"/>
              </a:rPr>
              <a:t>name</a:t>
            </a:r>
            <a:r>
              <a:rPr lang="en-US" sz="1400" b="0" i="0" u="none" strike="noStrike">
                <a:solidFill>
                  <a:srgbClr val="ABB2BF"/>
                </a:solidFill>
                <a:latin typeface="Roboto Mono"/>
                <a:ea typeface="Roboto Mono"/>
                <a:cs typeface="Roboto Mono"/>
                <a:sym typeface="Roboto Mono"/>
              </a:rPr>
              <a:t>=</a:t>
            </a:r>
            <a:r>
              <a:rPr lang="en-US" sz="1400" b="0" i="0" u="none" strike="noStrike">
                <a:solidFill>
                  <a:srgbClr val="98C379"/>
                </a:solidFill>
                <a:latin typeface="Roboto Mono"/>
                <a:ea typeface="Roboto Mono"/>
                <a:cs typeface="Roboto Mono"/>
                <a:sym typeface="Roboto Mono"/>
              </a:rPr>
              <a:t>"Alice"</a:t>
            </a:r>
            <a:endParaRPr lang="en-US" sz="1400" b="0" i="0" u="none" strike="noStrike">
              <a:solidFill>
                <a:srgbClr val="98C37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E06C75"/>
                </a:solidFill>
                <a:latin typeface="Roboto Mono"/>
                <a:ea typeface="Roboto Mono"/>
                <a:cs typeface="Roboto Mono"/>
                <a:sym typeface="Roboto Mono"/>
              </a:rPr>
              <a:t>age</a:t>
            </a:r>
            <a:r>
              <a:rPr lang="en-US" sz="1400" b="0" i="0" u="none" strike="noStrike">
                <a:solidFill>
                  <a:srgbClr val="ABB2BF"/>
                </a:solidFill>
                <a:latin typeface="Roboto Mono"/>
                <a:ea typeface="Roboto Mono"/>
                <a:cs typeface="Roboto Mono"/>
                <a:sym typeface="Roboto Mono"/>
              </a:rPr>
              <a:t>=</a:t>
            </a:r>
            <a:r>
              <a:rPr lang="en-US" sz="1400" b="0" i="0" u="none" strike="noStrike">
                <a:solidFill>
                  <a:srgbClr val="D19A66"/>
                </a:solidFill>
                <a:latin typeface="Roboto Mono"/>
                <a:ea typeface="Roboto Mono"/>
                <a:cs typeface="Roboto Mono"/>
                <a:sym typeface="Roboto Mono"/>
              </a:rPr>
              <a:t>25</a:t>
            </a:r>
            <a:endParaRPr lang="en-US" sz="1400" b="0" i="0" u="none" strike="noStrike">
              <a:solidFill>
                <a:srgbClr val="D19A66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C678DD"/>
                </a:solidFill>
                <a:latin typeface="Roboto Mono"/>
                <a:ea typeface="Roboto Mono"/>
                <a:cs typeface="Roboto Mono"/>
                <a:sym typeface="Roboto Mono"/>
              </a:rPr>
              <a:t># 多变量赋值与交换</a:t>
            </a:r>
            <a:endParaRPr lang="en-US" sz="1400" b="0" i="0" u="none" strike="noStrike">
              <a:solidFill>
                <a:srgbClr val="C678DD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E06C75"/>
                </a:solidFill>
                <a:latin typeface="Roboto Mono"/>
                <a:ea typeface="Roboto Mono"/>
                <a:cs typeface="Roboto Mono"/>
                <a:sym typeface="Roboto Mono"/>
              </a:rPr>
              <a:t>x, y, z</a:t>
            </a:r>
            <a:r>
              <a:rPr lang="en-US" sz="1400" b="0" i="0" u="none" strike="noStrike">
                <a:solidFill>
                  <a:srgbClr val="ABB2BF"/>
                </a:solidFill>
                <a:latin typeface="Roboto Mono"/>
                <a:ea typeface="Roboto Mono"/>
                <a:cs typeface="Roboto Mono"/>
                <a:sym typeface="Roboto Mono"/>
              </a:rPr>
              <a:t>=</a:t>
            </a:r>
            <a:r>
              <a:rPr lang="en-US" sz="1400" b="0" i="0" u="none" strike="noStrike">
                <a:solidFill>
                  <a:srgbClr val="D19A66"/>
                </a:solidFill>
                <a:latin typeface="Roboto Mono"/>
                <a:ea typeface="Roboto Mono"/>
                <a:cs typeface="Roboto Mono"/>
                <a:sym typeface="Roboto Mono"/>
              </a:rPr>
              <a:t>1</a:t>
            </a:r>
            <a:r>
              <a:rPr lang="en-US" sz="1400" b="0" i="0" u="none" strike="noStrike">
                <a:solidFill>
                  <a:srgbClr val="ABB2BF"/>
                </a:solidFill>
                <a:latin typeface="Roboto Mono"/>
                <a:ea typeface="Roboto Mono"/>
                <a:cs typeface="Roboto Mono"/>
                <a:sym typeface="Roboto Mono"/>
              </a:rPr>
              <a:t>,</a:t>
            </a:r>
            <a:r>
              <a:rPr lang="en-US" sz="1400" b="0" i="0" u="none" strike="noStrike">
                <a:solidFill>
                  <a:srgbClr val="D19A66"/>
                </a:solidFill>
                <a:latin typeface="Roboto Mono"/>
                <a:ea typeface="Roboto Mono"/>
                <a:cs typeface="Roboto Mono"/>
                <a:sym typeface="Roboto Mono"/>
              </a:rPr>
              <a:t>2.5</a:t>
            </a:r>
            <a:r>
              <a:rPr lang="en-US" sz="1400" b="0" i="0" u="none" strike="noStrike">
                <a:solidFill>
                  <a:srgbClr val="ABB2BF"/>
                </a:solidFill>
                <a:latin typeface="Roboto Mono"/>
                <a:ea typeface="Roboto Mono"/>
                <a:cs typeface="Roboto Mono"/>
                <a:sym typeface="Roboto Mono"/>
              </a:rPr>
              <a:t>,</a:t>
            </a:r>
            <a:r>
              <a:rPr lang="en-US" sz="1400" b="0" i="0" u="none" strike="noStrike">
                <a:solidFill>
                  <a:srgbClr val="98C379"/>
                </a:solidFill>
                <a:latin typeface="Roboto Mono"/>
                <a:ea typeface="Roboto Mono"/>
                <a:cs typeface="Roboto Mono"/>
                <a:sym typeface="Roboto Mono"/>
              </a:rPr>
              <a:t>"hello"</a:t>
            </a:r>
            <a:endParaRPr lang="en-US" sz="1400" b="0" i="0" u="none" strike="noStrike">
              <a:solidFill>
                <a:srgbClr val="98C379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E06C75"/>
                </a:solidFill>
                <a:latin typeface="Roboto Mono"/>
                <a:ea typeface="Roboto Mono"/>
                <a:cs typeface="Roboto Mono"/>
                <a:sym typeface="Roboto Mono"/>
              </a:rPr>
              <a:t>a, b</a:t>
            </a:r>
            <a:r>
              <a:rPr lang="en-US" sz="1400" b="0" i="0" u="none" strike="noStrike">
                <a:solidFill>
                  <a:srgbClr val="ABB2BF"/>
                </a:solidFill>
                <a:latin typeface="Roboto Mono"/>
                <a:ea typeface="Roboto Mono"/>
                <a:cs typeface="Roboto Mono"/>
                <a:sym typeface="Roboto Mono"/>
              </a:rPr>
              <a:t>=</a:t>
            </a:r>
            <a:r>
              <a:rPr lang="en-US" sz="1400" b="0" i="0" u="none" strike="noStrike">
                <a:solidFill>
                  <a:srgbClr val="E06C75"/>
                </a:solidFill>
                <a:latin typeface="Roboto Mono"/>
                <a:ea typeface="Roboto Mono"/>
                <a:cs typeface="Roboto Mono"/>
                <a:sym typeface="Roboto Mono"/>
              </a:rPr>
              <a:t>b, a</a:t>
            </a:r>
            <a:r>
              <a:rPr lang="en-US" sz="1400" b="0" i="0" u="none" strike="noStrike">
                <a:solidFill>
                  <a:srgbClr val="C678DD"/>
                </a:solidFill>
                <a:latin typeface="Roboto Mono"/>
                <a:ea typeface="Roboto Mono"/>
                <a:cs typeface="Roboto Mono"/>
                <a:sym typeface="Roboto Mono"/>
              </a:rPr>
              <a:t># 交换变量值</a:t>
            </a:r>
            <a:endParaRPr lang="en-US" sz="1400" b="0" i="0" u="none" strike="noStrike">
              <a:solidFill>
                <a:srgbClr val="C678DD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2500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334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524000" y="5270500"/>
            <a:ext cx="965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关键点回顾：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424242"/>
                </a:solidFill>
                <a:latin typeface="Noto Sans SC"/>
                <a:ea typeface="Noto Sans SC"/>
                <a:cs typeface="Noto Sans SC"/>
                <a:sym typeface="Noto Sans SC"/>
              </a:rPr>
              <a:t>Python变量无需声明类型，直接赋值即可使用；支持一行代码同时为多个变量赋值，交换变量值也极为简洁。</a:t>
            </a:r>
            <a:endParaRPr lang="en-US" sz="1400" b="0" i="0" u="none" strike="noStrike">
              <a:solidFill>
                <a:srgbClr val="424242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90551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Python极简知识 - 数据类型与运算符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080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7145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97000" y="16764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基本数据类型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222500"/>
            <a:ext cx="4572000" cy="635000"/>
          </a:xfrm>
          <a:prstGeom prst="roundRect">
            <a:avLst>
              <a:gd name="adj" fmla="val 10000"/>
            </a:avLst>
          </a:prstGeom>
          <a:solidFill>
            <a:srgbClr val="E0F7FA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43000" y="23876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524000" y="2311400"/>
            <a:ext cx="3937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数值型：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int (整数), float (浮点数), complex (复数)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16000" y="2921000"/>
            <a:ext cx="4572000" cy="635000"/>
          </a:xfrm>
          <a:prstGeom prst="roundRect">
            <a:avLst>
              <a:gd name="adj" fmla="val 10000"/>
            </a:avLst>
          </a:prstGeom>
          <a:solidFill>
            <a:srgbClr val="E0F7FA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0" y="30861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524000" y="3009900"/>
            <a:ext cx="3937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布尔型：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bool (True, False)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1016000" y="3619500"/>
            <a:ext cx="4572000" cy="635000"/>
          </a:xfrm>
          <a:prstGeom prst="roundRect">
            <a:avLst>
              <a:gd name="adj" fmla="val 10000"/>
            </a:avLst>
          </a:prstGeom>
          <a:solidFill>
            <a:srgbClr val="E0F7FA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43000" y="37846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524000" y="3708400"/>
            <a:ext cx="3937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字符串：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str (使用单引号或双引号包裹)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1016000" y="4318000"/>
            <a:ext cx="4572000" cy="635000"/>
          </a:xfrm>
          <a:prstGeom prst="roundRect">
            <a:avLst>
              <a:gd name="adj" fmla="val 10000"/>
            </a:avLst>
          </a:prstGeom>
          <a:solidFill>
            <a:srgbClr val="E0F7FA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43000" y="44831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4406900"/>
            <a:ext cx="3937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空值：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None (表示不存在)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350000" y="1524000"/>
            <a:ext cx="5080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604000" y="1714500"/>
            <a:ext cx="304800" cy="3048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985000" y="16764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运算符优先级 (从高到低)</a:t>
            </a:r>
            <a:endParaRPr lang="en-US" sz="1100"/>
          </a:p>
        </p:txBody>
      </p:sp>
      <p:graphicFrame>
        <p:nvGraphicFramePr>
          <p:cNvPr id="21" name="Table 21"/>
          <p:cNvGraphicFramePr>
            <a:graphicFrameLocks noGrp="1"/>
          </p:cNvGraphicFramePr>
          <p:nvPr/>
        </p:nvGraphicFramePr>
        <p:xfrm>
          <a:off x="6604000" y="2222500"/>
          <a:ext cx="4572000" cy="2794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524000"/>
                <a:gridCol w="3048000"/>
              </a:tblGrid>
              <a:tr h="5080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运算符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77BD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描述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277BD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F7FA">
                        <a:alpha val="4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3333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指数 (Exponent)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F7FA">
                        <a:alpha val="40000"/>
                      </a:srgbClr>
                    </a:solidFill>
                  </a:tcPr>
                </a:tc>
              </a:tr>
              <a:tr h="4572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3333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, /, %, //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3333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乘、除、取模、整除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3333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+, -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F7FA">
                        <a:alpha val="4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3333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加、减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F7FA">
                        <a:alpha val="40000"/>
                      </a:srgbClr>
                    </a:solidFill>
                  </a:tcPr>
                </a:tc>
              </a:tr>
              <a:tr h="4572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3333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==, !=, &lt;, &gt;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3333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比较运算符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 rtlCol="0"/>
                    <a:lstStyle/>
                    <a:p>
                      <a:pPr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3333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and, or, not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F7FA">
                        <a:alpha val="4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pPr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400" b="0" i="0" u="none" strike="noStrike">
                          <a:solidFill>
                            <a:srgbClr val="333333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逻辑运算符</a:t>
                      </a:r>
                      <a:endParaRPr lang="en-US" sz="1100"/>
                    </a:p>
                  </a:txBody>
                  <a:tcPr marL="101600" marR="101600" marT="101600" marB="101600" anchor="t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0F7FA">
                        <a:alpha val="4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2" name="AutoShape 22"/>
          <p:cNvSpPr/>
          <p:nvPr/>
        </p:nvSpPr>
        <p:spPr>
          <a:xfrm>
            <a:off x="762000" y="546100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16000" y="5651500"/>
            <a:ext cx="381000" cy="381000"/>
          </a:xfrm>
          <a:prstGeom prst="rect">
            <a:avLst/>
          </a:prstGeom>
        </p:spPr>
      </p:pic>
      <p:sp>
        <p:nvSpPr>
          <p:cNvPr id="24" name="AutoShape 24"/>
          <p:cNvSpPr/>
          <p:nvPr/>
        </p:nvSpPr>
        <p:spPr>
          <a:xfrm>
            <a:off x="1524000" y="5588000"/>
            <a:ext cx="965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Tips:</a:t>
            </a:r>
            <a:r>
              <a:rPr lang="en-US" sz="1600" b="0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合理运用括号可以改变运算顺序，让代码逻辑更清晰，避免因优先级错误导致的Bug。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Python极简知识 - 条件语句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4826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7145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核心概念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2225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97000" y="21844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多分支判断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使用 if, elif, else 关键字实现不同条件下的逻辑分支。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048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30099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缩进规则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Python 使用缩进来划分代码块，而非大括号，通常缩进4个空格。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5842000" y="1524000"/>
            <a:ext cx="5080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6096000" y="17145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代码示例：成绩等级判断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096000" y="2222500"/>
            <a:ext cx="4572000" cy="1905000"/>
          </a:xfrm>
          <a:prstGeom prst="roundRect">
            <a:avLst>
              <a:gd name="adj" fmla="val 3333"/>
            </a:avLst>
          </a:prstGeom>
          <a:solidFill>
            <a:srgbClr val="1E1E1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223000" y="2349500"/>
            <a:ext cx="431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FFD700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score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=</a:t>
            </a:r>
            <a:r>
              <a:rPr lang="en-US" sz="1400" b="0" i="0" u="none" strike="noStrike">
                <a:solidFill>
                  <a:srgbClr val="66BB6A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85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FF79C6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if</a:t>
            </a:r>
            <a:r>
              <a:rPr lang="en-US" sz="1400" b="0" i="0" u="none" strike="noStrike">
                <a:solidFill>
                  <a:srgbClr val="FFD700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score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&gt;=</a:t>
            </a:r>
            <a:r>
              <a:rPr lang="en-US" sz="1400" b="0" i="0" u="none" strike="noStrike">
                <a:solidFill>
                  <a:srgbClr val="66BB6A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90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:</a:t>
            </a:r>
            <a:endParaRPr lang="en-US" sz="1400" b="0" i="0" u="none" strike="noStrike">
              <a:solidFill>
                <a:srgbClr val="FFFFFF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61AFE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print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(</a:t>
            </a:r>
            <a:r>
              <a:rPr lang="en-US" sz="1400" b="0" i="0" u="none" strike="noStrike">
                <a:solidFill>
                  <a:srgbClr val="A5D6A7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"优秀！"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)</a:t>
            </a:r>
            <a:endParaRPr lang="en-US" sz="1400" b="0" i="0" u="none" strike="noStrike">
              <a:solidFill>
                <a:srgbClr val="FFFFFF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FF79C6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elif</a:t>
            </a:r>
            <a:r>
              <a:rPr lang="en-US" sz="1400" b="0" i="0" u="none" strike="noStrike">
                <a:solidFill>
                  <a:srgbClr val="FFD700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score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&gt;=</a:t>
            </a:r>
            <a:r>
              <a:rPr lang="en-US" sz="1400" b="0" i="0" u="none" strike="noStrike">
                <a:solidFill>
                  <a:srgbClr val="66BB6A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80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:</a:t>
            </a:r>
            <a:endParaRPr lang="en-US" sz="1400" b="0" i="0" u="none" strike="noStrike">
              <a:solidFill>
                <a:srgbClr val="FFFFFF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61AFE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print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(</a:t>
            </a:r>
            <a:r>
              <a:rPr lang="en-US" sz="1400" b="0" i="0" u="none" strike="noStrike">
                <a:solidFill>
                  <a:srgbClr val="A5D6A7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"良好！"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)</a:t>
            </a:r>
            <a:endParaRPr lang="en-US" sz="1400" b="0" i="0" u="none" strike="noStrike">
              <a:solidFill>
                <a:srgbClr val="FFFFFF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FF79C6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else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:</a:t>
            </a:r>
            <a:endParaRPr lang="en-US" sz="1400" b="0" i="0" u="none" strike="noStrike">
              <a:solidFill>
                <a:srgbClr val="FFFFFF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61AFE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print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(</a:t>
            </a:r>
            <a:r>
              <a:rPr lang="en-US" sz="1400" b="0" i="0" u="none" strike="noStrike">
                <a:solidFill>
                  <a:srgbClr val="A5D6A7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"不及格！"</a:t>
            </a:r>
            <a:r>
              <a:rPr lang="en-US" sz="1400" b="0" i="0" u="none" strike="noStrike">
                <a:solidFill>
                  <a:srgbClr val="FFFFFF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)</a:t>
            </a:r>
            <a:endParaRPr lang="en-US" sz="1400" b="0" i="0" u="none" strike="noStrike">
              <a:solidFill>
                <a:srgbClr val="FFFFFF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508000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270500"/>
            <a:ext cx="355600" cy="3556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524000" y="5232400"/>
            <a:ext cx="9652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关键点：</a:t>
            </a:r>
            <a:r>
              <a:rPr lang="en-US" sz="16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条件语句的判断是自上而下进行的，一旦某个条件满足，后续的判断将不再执行。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Python极简知识 - 循环语句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080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5080000" cy="609600"/>
          </a:xfrm>
          <a:prstGeom prst="roundRect">
            <a:avLst>
              <a:gd name="adj" fmla="val 20833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778000"/>
            <a:ext cx="355600" cy="3556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97000" y="1651000"/>
            <a:ext cx="4191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for 循环：遍历迭代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952500" y="2413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用于遍历可迭代对象（如列表、字符串、range序列）。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952500" y="3048000"/>
            <a:ext cx="4699000" cy="1905000"/>
          </a:xfrm>
          <a:prstGeom prst="roundRect">
            <a:avLst>
              <a:gd name="adj" fmla="val 3333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1079500" y="3175000"/>
            <a:ext cx="4445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55555"/>
                </a:solidFill>
                <a:latin typeface="Roboto Mono"/>
                <a:ea typeface="Roboto Mono"/>
                <a:cs typeface="Roboto Mono"/>
                <a:sym typeface="Roboto Mono"/>
              </a:rPr>
              <a:t># 使用for循环打印0-99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400" b="1" i="0" u="none" strike="noStrike">
                <a:solidFill>
                  <a:srgbClr val="0277BD"/>
                </a:solidFill>
                <a:latin typeface="Roboto Mono"/>
                <a:ea typeface="Roboto Mono"/>
                <a:cs typeface="Roboto Mono"/>
                <a:sym typeface="Roboto Mono"/>
              </a:rPr>
              <a:t>for</a:t>
            </a:r>
            <a:r>
              <a:rPr lang="en-US" sz="1400" b="0" i="0" u="none" strike="noStrike">
                <a:solidFill>
                  <a:srgbClr val="555555"/>
                </a:solidFill>
                <a:latin typeface="Roboto Mono"/>
                <a:ea typeface="Roboto Mono"/>
                <a:cs typeface="Roboto Mono"/>
                <a:sym typeface="Roboto Mono"/>
              </a:rPr>
              <a:t>value</a:t>
            </a:r>
            <a:r>
              <a:rPr lang="en-US" sz="1400" b="1" i="0" u="none" strike="noStrike">
                <a:solidFill>
                  <a:srgbClr val="0277BD"/>
                </a:solidFill>
                <a:latin typeface="Roboto Mono"/>
                <a:ea typeface="Roboto Mono"/>
                <a:cs typeface="Roboto Mono"/>
                <a:sym typeface="Roboto Mono"/>
              </a:rPr>
              <a:t>in</a:t>
            </a:r>
            <a:r>
              <a:rPr lang="en-US" sz="1400" b="0" i="0" u="none" strike="noStrike">
                <a:solidFill>
                  <a:srgbClr val="555555"/>
                </a:solidFill>
                <a:latin typeface="Roboto Mono"/>
                <a:ea typeface="Roboto Mono"/>
                <a:cs typeface="Roboto Mono"/>
                <a:sym typeface="Roboto Mono"/>
              </a:rPr>
              <a:t>range(100):</a:t>
            </a:r>
            <a:endParaRPr lang="en-US" sz="1400" b="0" i="0" u="none" strike="noStrike">
              <a:solidFill>
                <a:srgbClr val="555555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555555"/>
                </a:solidFill>
                <a:latin typeface="Roboto Mono"/>
                <a:ea typeface="Roboto Mono"/>
                <a:cs typeface="Roboto Mono"/>
                <a:sym typeface="Roboto Mono"/>
              </a:rPr>
              <a:t>print(value)</a:t>
            </a:r>
            <a:endParaRPr lang="en-US" sz="1400" b="0" i="0" u="none" strike="noStrike">
              <a:solidFill>
                <a:srgbClr val="555555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350000" y="1651000"/>
            <a:ext cx="5080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6350000" y="1651000"/>
            <a:ext cx="5080000" cy="609600"/>
          </a:xfrm>
          <a:prstGeom prst="roundRect">
            <a:avLst>
              <a:gd name="adj" fmla="val 20833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40500" y="17780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985000" y="1651000"/>
            <a:ext cx="4191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while 循环：条件判断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540500" y="2413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只要条件表达式为真，就会持续重复执行代码块。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540500" y="3048000"/>
            <a:ext cx="4699000" cy="1905000"/>
          </a:xfrm>
          <a:prstGeom prst="roundRect">
            <a:avLst>
              <a:gd name="adj" fmla="val 3333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6667500" y="3175000"/>
            <a:ext cx="4445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555555"/>
                </a:solidFill>
                <a:latin typeface="Roboto Mono"/>
                <a:ea typeface="Roboto Mono"/>
                <a:cs typeface="Roboto Mono"/>
                <a:sym typeface="Roboto Mono"/>
              </a:rPr>
              <a:t># 使用while循环打印0-99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555555"/>
                </a:solidFill>
                <a:latin typeface="Roboto Mono"/>
                <a:ea typeface="Roboto Mono"/>
                <a:cs typeface="Roboto Mono"/>
                <a:sym typeface="Roboto Mono"/>
              </a:rPr>
              <a:t>value = 0</a:t>
            </a:r>
            <a:endParaRPr lang="en-US" sz="1400" b="0" i="0" u="none" strike="noStrike">
              <a:solidFill>
                <a:srgbClr val="555555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1" i="0" u="none" strike="noStrike">
                <a:solidFill>
                  <a:srgbClr val="0277BD"/>
                </a:solidFill>
                <a:latin typeface="Roboto Mono"/>
                <a:ea typeface="Roboto Mono"/>
                <a:cs typeface="Roboto Mono"/>
                <a:sym typeface="Roboto Mono"/>
              </a:rPr>
              <a:t>while</a:t>
            </a:r>
            <a:r>
              <a:rPr lang="en-US" sz="1400" b="0" i="0" u="none" strike="noStrike">
                <a:solidFill>
                  <a:srgbClr val="555555"/>
                </a:solidFill>
                <a:latin typeface="Roboto Mono"/>
                <a:ea typeface="Roboto Mono"/>
                <a:cs typeface="Roboto Mono"/>
                <a:sym typeface="Roboto Mono"/>
              </a:rPr>
              <a:t>value &lt; 100:</a:t>
            </a:r>
            <a:endParaRPr lang="en-US" sz="1400" b="0" i="0" u="none" strike="noStrike">
              <a:solidFill>
                <a:srgbClr val="555555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555555"/>
                </a:solidFill>
                <a:latin typeface="Roboto Mono"/>
                <a:ea typeface="Roboto Mono"/>
                <a:cs typeface="Roboto Mono"/>
                <a:sym typeface="Roboto Mono"/>
              </a:rPr>
              <a:t>print(value)</a:t>
            </a:r>
            <a:endParaRPr lang="en-US" sz="1400" b="0" i="0" u="none" strike="noStrike">
              <a:solidFill>
                <a:srgbClr val="555555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555555"/>
                </a:solidFill>
                <a:latin typeface="Roboto Mono"/>
                <a:ea typeface="Roboto Mono"/>
                <a:cs typeface="Roboto Mono"/>
                <a:sym typeface="Roboto Mono"/>
              </a:rPr>
              <a:t>value += 1</a:t>
            </a:r>
            <a:endParaRPr lang="en-US" sz="1400" b="0" i="0" u="none" strike="noStrike">
              <a:solidFill>
                <a:srgbClr val="555555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762000" y="546100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651500"/>
            <a:ext cx="381000" cy="3810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524000" y="5461000"/>
            <a:ext cx="965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核心区别：</a:t>
            </a:r>
            <a:r>
              <a:rPr lang="en-US" sz="1600" b="0" i="0" u="none" strike="noStrike">
                <a:solidFill>
                  <a:srgbClr val="424242"/>
                </a:solidFill>
                <a:latin typeface="Noto Sans SC"/>
                <a:ea typeface="Noto Sans SC"/>
                <a:cs typeface="Noto Sans SC"/>
                <a:sym typeface="Noto Sans SC"/>
              </a:rPr>
              <a:t>for循环更适合已知次数的遍历；while循环更适合未知次数的条件判断。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2575560" y="508000"/>
            <a:ext cx="704088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Python极简知识 - 数据结构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5080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651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16002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列表 (List)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0955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使用方括号 []，有序、可变、可重复。适用于频繁修改的场景。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16000" y="2857500"/>
            <a:ext cx="4572000" cy="508000"/>
          </a:xfrm>
          <a:prstGeom prst="roundRect">
            <a:avLst>
              <a:gd name="adj" fmla="val 12500"/>
            </a:avLst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1143000" y="2946400"/>
            <a:ext cx="431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0277BD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fruits = ['apple', 'banana', 'cherry']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350000" y="1397000"/>
            <a:ext cx="5080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4000" y="16510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112000" y="16002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元组 (Tuple)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604000" y="20955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使用圆括号 ()，有序、不可变、可重复。适用于数据不可变的场景。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604000" y="2857500"/>
            <a:ext cx="4572000" cy="508000"/>
          </a:xfrm>
          <a:prstGeom prst="roundRect">
            <a:avLst>
              <a:gd name="adj" fmla="val 12500"/>
            </a:avLst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731000" y="2946400"/>
            <a:ext cx="431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0277BD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point = (10, 20)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3937000"/>
            <a:ext cx="5080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191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41402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字典 (Dict)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1016000" y="46355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使用 {key: value}，无序、可变的键值对集合。适用于快速查找。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1016000" y="5397500"/>
            <a:ext cx="4572000" cy="508000"/>
          </a:xfrm>
          <a:prstGeom prst="roundRect">
            <a:avLst>
              <a:gd name="adj" fmla="val 12500"/>
            </a:avLst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20"/>
          <p:cNvSpPr/>
          <p:nvPr/>
        </p:nvSpPr>
        <p:spPr>
          <a:xfrm>
            <a:off x="1143000" y="5486400"/>
            <a:ext cx="431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0277BD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person = {'name': 'Alice', 'age': 25}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350000" y="3937000"/>
            <a:ext cx="5080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2" name="Picture 22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04000" y="4191000"/>
            <a:ext cx="406400" cy="406400"/>
          </a:xfrm>
          <a:prstGeom prst="rect">
            <a:avLst/>
          </a:prstGeom>
        </p:spPr>
      </p:pic>
      <p:sp>
        <p:nvSpPr>
          <p:cNvPr id="23" name="AutoShape 23"/>
          <p:cNvSpPr/>
          <p:nvPr/>
        </p:nvSpPr>
        <p:spPr>
          <a:xfrm>
            <a:off x="7112000" y="41402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集合 (Set)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604000" y="46355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使用 {} 或 set()，无序、可变、无重复元素。适用于去重和集合运算。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6604000" y="5397500"/>
            <a:ext cx="4572000" cy="508000"/>
          </a:xfrm>
          <a:prstGeom prst="roundRect">
            <a:avLst>
              <a:gd name="adj" fmla="val 12500"/>
            </a:avLst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6731000" y="5486400"/>
            <a:ext cx="4318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0277BD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unique_numbers = {1, 2, 3, 3}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Python极简知识 - 函数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4826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7145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核心概念：定义与使用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2860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97000" y="22225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定义函数：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使用</a:t>
            </a:r>
            <a:r>
              <a:rPr lang="en-US" sz="1600" b="1" i="0" u="none" strike="noStrike">
                <a:solidFill>
                  <a:srgbClr val="0277BD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关键字声明函数名称和参数。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29845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29210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参数与返回：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支持传入参数，通过</a:t>
            </a:r>
            <a:r>
              <a:rPr lang="en-US" sz="1600" b="1" i="0" u="none" strike="noStrike">
                <a:solidFill>
                  <a:srgbClr val="0277BD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语句返回结果。</a:t>
            </a:r>
            <a:endParaRPr lang="en-US" sz="1100"/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36830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36195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类型注解：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Python 3.5+ 支持类型提示，增强代码可读性与维护性。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842000" y="1524000"/>
            <a:ext cx="5588000" cy="3556000"/>
          </a:xfrm>
          <a:prstGeom prst="roundRect">
            <a:avLst>
              <a:gd name="adj" fmla="val 3571"/>
            </a:avLst>
          </a:prstGeom>
          <a:solidFill>
            <a:srgbClr val="212121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2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5842000" y="1524000"/>
            <a:ext cx="5588000" cy="457200"/>
          </a:xfrm>
          <a:prstGeom prst="roundRect">
            <a:avLst>
              <a:gd name="adj" fmla="val 0"/>
            </a:avLst>
          </a:prstGeom>
          <a:solidFill>
            <a:srgbClr val="42424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9000" y="1625600"/>
            <a:ext cx="254000" cy="254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350000" y="1574800"/>
            <a:ext cx="381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example.py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032500" y="2095500"/>
            <a:ext cx="5207000" cy="279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9E9E9E"/>
                </a:solidFill>
                <a:latin typeface="Consolas"/>
                <a:ea typeface="Consolas"/>
                <a:cs typeface="Consolas"/>
                <a:sym typeface="Consolas"/>
              </a:rPr>
              <a:t># 定义一个求两个整数和的函数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FFC107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lang="en-US" sz="1400" b="0" i="0" u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sum_two_numbers(x:</a:t>
            </a:r>
            <a:r>
              <a:rPr lang="en-US" sz="1400" b="0" i="0" u="none" strike="noStrike">
                <a:solidFill>
                  <a:srgbClr val="64B5F6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-US" sz="1400" b="0" i="0" u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, y:</a:t>
            </a:r>
            <a:r>
              <a:rPr lang="en-US" sz="1400" b="0" i="0" u="none" strike="noStrike">
                <a:solidFill>
                  <a:srgbClr val="64B5F6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-US" sz="1400" b="0" i="0" u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 -&gt;</a:t>
            </a:r>
            <a:r>
              <a:rPr lang="en-US" sz="1400" b="0" i="0" u="none" strike="noStrike">
                <a:solidFill>
                  <a:srgbClr val="64B5F6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-US" sz="1400" b="0" i="0" u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 lang="en-US" sz="1400" b="0" i="0" u="none" strike="noStrike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A5D6A7"/>
                </a:solidFill>
                <a:latin typeface="Consolas"/>
                <a:ea typeface="Consolas"/>
                <a:cs typeface="Consolas"/>
                <a:sym typeface="Consolas"/>
              </a:rPr>
              <a:t>"""计算两个整数的和"""</a:t>
            </a:r>
            <a:endParaRPr lang="en-US" sz="1400" b="0" i="0" u="none" strike="noStrike">
              <a:solidFill>
                <a:srgbClr val="A5D6A7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FFC107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-US" sz="1400" b="0" i="0" u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x + y</a:t>
            </a:r>
            <a:endParaRPr lang="en-US" sz="1400" b="0" i="0" u="none" strike="noStrike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9E9E9E"/>
                </a:solidFill>
                <a:latin typeface="Consolas"/>
                <a:ea typeface="Consolas"/>
                <a:cs typeface="Consolas"/>
                <a:sym typeface="Consolas"/>
              </a:rPr>
              <a:t># 调用函数</a:t>
            </a:r>
            <a:endParaRPr lang="en-US" sz="1400" b="0" i="0" u="none" strike="noStrike">
              <a:solidFill>
                <a:srgbClr val="9E9E9E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result = sum_two_numbers(</a:t>
            </a:r>
            <a:r>
              <a:rPr lang="en-US" sz="1400" b="0" i="0" u="none" strike="noStrike">
                <a:solidFill>
                  <a:srgbClr val="FFC107"/>
                </a:solidFill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lang="en-US" sz="1400" b="0" i="0" u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-US" sz="1400" b="0" i="0" u="none" strike="noStrike">
                <a:solidFill>
                  <a:srgbClr val="FFC107"/>
                </a:solidFill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-US" sz="1400" b="0" i="0" u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lang="en-US" sz="1400" b="0" i="0" u="none" strike="noStrike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print(result)</a:t>
            </a:r>
            <a:r>
              <a:rPr lang="en-US" sz="1400" b="0" i="0" u="none" strike="noStrike">
                <a:solidFill>
                  <a:srgbClr val="9E9E9E"/>
                </a:solidFill>
                <a:latin typeface="Consolas"/>
                <a:ea typeface="Consolas"/>
                <a:cs typeface="Consolas"/>
                <a:sym typeface="Consolas"/>
              </a:rPr>
              <a:t># 输出: 8</a:t>
            </a:r>
            <a:endParaRPr lang="en-US" sz="1400" b="0" i="0" u="none" strike="noStrike">
              <a:solidFill>
                <a:srgbClr val="9E9E9E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" name="AutoShape 16"/>
          <p:cNvSpPr/>
          <p:nvPr/>
        </p:nvSpPr>
        <p:spPr>
          <a:xfrm>
            <a:off x="762000" y="533400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6000" y="5524500"/>
            <a:ext cx="381000" cy="381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1524000" y="5461000"/>
            <a:ext cx="965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总结：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函数是代码复用的核心，通过封装逻辑提高效率。类型注解是现代Python开发的良好实践，能显著提升代码的可维护性。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654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Python极简知识 - 面向对象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080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7145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面向对象编程 (OOP)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2860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97000" y="2222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万物皆对象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Python是面向对象的语言，一切皆对象。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29845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29210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类与蓝图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使用 class 关键字定义类，类是对象的蓝图。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36830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3619500"/>
            <a:ext cx="4191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三大特性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支持封装、继承、多态，构建复杂系统。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096000" y="1524000"/>
            <a:ext cx="5334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350000" y="1714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代码示例：定义二叉树节点类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350000" y="2222500"/>
            <a:ext cx="4826000" cy="2286000"/>
          </a:xfrm>
          <a:prstGeom prst="roundRect">
            <a:avLst>
              <a:gd name="adj" fmla="val 2777"/>
            </a:avLst>
          </a:prstGeom>
          <a:solidFill>
            <a:srgbClr val="F5F5F5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6477000" y="2349500"/>
            <a:ext cx="4572000" cy="203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21212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class</a:t>
            </a:r>
            <a:r>
              <a:rPr lang="en-US" sz="1200" b="1" i="0" u="none" strike="noStrike">
                <a:solidFill>
                  <a:srgbClr val="0277BD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BinaryTreeNode</a:t>
            </a:r>
            <a:r>
              <a:rPr lang="en-US" sz="1200" b="0" i="0" u="none" strike="noStrike">
                <a:solidFill>
                  <a:srgbClr val="21212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: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61616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"""定义一个二叉树节点类"""</a:t>
            </a:r>
            <a:endParaRPr lang="en-US" sz="1200" b="0" i="0" u="none" strike="noStrike">
              <a:solidFill>
                <a:srgbClr val="61616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1" i="0" u="none" strike="noStrike">
                <a:solidFill>
                  <a:srgbClr val="0277BD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def</a:t>
            </a:r>
            <a:r>
              <a:rPr lang="en-US" sz="1200" b="1" i="0" u="none" strike="noStrike">
                <a:solidFill>
                  <a:srgbClr val="FF8F00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__init__</a:t>
            </a:r>
            <a:r>
              <a:rPr lang="en-US" sz="1200" b="0" i="0" u="none" strike="noStrike">
                <a:solidFill>
                  <a:srgbClr val="21212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(self, value, left=</a:t>
            </a:r>
            <a:r>
              <a:rPr lang="en-US" sz="1200" b="1" i="0" u="none" strike="noStrike">
                <a:solidFill>
                  <a:srgbClr val="0277BD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None</a:t>
            </a:r>
            <a:r>
              <a:rPr lang="en-US" sz="1200" b="0" i="0" u="none" strike="noStrike">
                <a:solidFill>
                  <a:srgbClr val="21212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, right=</a:t>
            </a:r>
            <a:r>
              <a:rPr lang="en-US" sz="1200" b="1" i="0" u="none" strike="noStrike">
                <a:solidFill>
                  <a:srgbClr val="0277BD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None</a:t>
            </a:r>
            <a:r>
              <a:rPr lang="en-US" sz="1200" b="0" i="0" u="none" strike="noStrike">
                <a:solidFill>
                  <a:srgbClr val="21212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):</a:t>
            </a:r>
            <a:endParaRPr lang="en-US" sz="1200" b="0" i="0" u="none" strike="noStrike">
              <a:solidFill>
                <a:srgbClr val="21212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21212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self.value = value</a:t>
            </a:r>
            <a:endParaRPr lang="en-US" sz="1200" b="0" i="0" u="none" strike="noStrike">
              <a:solidFill>
                <a:srgbClr val="21212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21212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self.left = left</a:t>
            </a:r>
            <a:endParaRPr lang="en-US" sz="1200" b="0" i="0" u="none" strike="noStrike">
              <a:solidFill>
                <a:srgbClr val="21212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21212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self.right = right</a:t>
            </a:r>
            <a:endParaRPr lang="en-US" sz="1200" b="0" i="0" u="none" strike="noStrike">
              <a:solidFill>
                <a:srgbClr val="21212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  <a:p>
            <a:pPr indent="0" algn="l">
              <a:lnSpc>
                <a:spcPct val="125000"/>
              </a:lnSpc>
            </a:pPr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21212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root = BinaryTreeNode(</a:t>
            </a:r>
            <a:r>
              <a:rPr lang="en-US" sz="1200" b="0" i="0" u="none" strike="noStrike">
                <a:solidFill>
                  <a:srgbClr val="0277BD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1</a:t>
            </a:r>
            <a:r>
              <a:rPr lang="en-US" sz="1200" b="0" i="0" u="none" strike="noStrike">
                <a:solidFill>
                  <a:srgbClr val="212121"/>
                </a:solidFill>
                <a:latin typeface="Source Code Pro"/>
                <a:ea typeface="Source Code Pro"/>
                <a:cs typeface="Source Code Pro"/>
                <a:sym typeface="Source Code Pro"/>
              </a:rPr>
              <a:t>)</a:t>
            </a:r>
            <a:endParaRPr lang="en-US" sz="1200" b="0" i="0" u="none" strike="noStrike">
              <a:solidFill>
                <a:srgbClr val="212121"/>
              </a:solidFill>
              <a:latin typeface="Source Code Pro"/>
              <a:ea typeface="Source Code Pro"/>
              <a:cs typeface="Source Code Pro"/>
              <a:sym typeface="Source Code Pro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5207000"/>
            <a:ext cx="10668000" cy="1016000"/>
          </a:xfrm>
          <a:prstGeom prst="roundRect">
            <a:avLst>
              <a:gd name="adj" fmla="val 12500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5461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5397500"/>
            <a:ext cx="965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核心要点：</a:t>
            </a:r>
            <a:r>
              <a:rPr lang="en-US" sz="1600" b="0" i="0" u="none" strike="noStrike">
                <a:solidFill>
                  <a:srgbClr val="424242"/>
                </a:solidFill>
                <a:latin typeface="Noto Sans SC"/>
                <a:ea typeface="Noto Sans SC"/>
                <a:cs typeface="Noto Sans SC"/>
                <a:sym typeface="Noto Sans SC"/>
              </a:rPr>
              <a:t>类是抽象的蓝图，对象是具体的实例。通过封装数据和方法，我们可以构建模块化、可复用的代码结构。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9042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大语言模型开发常用库 - requests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4826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71450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核心功能与应用场景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22860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397000" y="22352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简洁强大的HTTP请求库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发送HTTP请求的第三方库，API设计人性化，易于上手。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048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29972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支持多种HTTP方法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全面支持 GET, POST, PUT, DELETE 等主流请求方式。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3810000"/>
            <a:ext cx="304800" cy="304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397000" y="3759200"/>
            <a:ext cx="393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广泛的应用场景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常用于调用外部API接口、网络数据爬取等开发任务。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5842000" y="1524000"/>
            <a:ext cx="5588000" cy="3302000"/>
          </a:xfrm>
          <a:prstGeom prst="roundRect">
            <a:avLst>
              <a:gd name="adj" fmla="val 3846"/>
            </a:avLst>
          </a:prstGeom>
          <a:solidFill>
            <a:srgbClr val="282C34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2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096000" y="17145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ABB2BF"/>
                </a:solidFill>
                <a:latin typeface="Noto Sans SC"/>
                <a:ea typeface="Noto Sans SC"/>
                <a:cs typeface="Noto Sans SC"/>
                <a:sym typeface="Noto Sans SC"/>
              </a:rPr>
              <a:t>安装与使用示例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096000" y="2159000"/>
            <a:ext cx="5080000" cy="241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# 安装 requests 库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ABB2BF"/>
                </a:solidFill>
                <a:latin typeface="Consolas"/>
                <a:ea typeface="Consolas"/>
                <a:cs typeface="Consolas"/>
                <a:sym typeface="Consolas"/>
              </a:rPr>
              <a:t>pip install requests</a:t>
            </a:r>
            <a:endParaRPr lang="en-US" sz="1300" b="0" i="0" u="none" strike="noStrike">
              <a:solidFill>
                <a:srgbClr val="ABB2B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# 发送 GET 请求获取网页内容</a:t>
            </a:r>
            <a:endParaRPr lang="en-US" sz="1300" b="0" i="0" u="none" strike="noStrike">
              <a:solidFill>
                <a:srgbClr val="C678DD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56B6C2"/>
                </a:solidFill>
                <a:latin typeface="Consolas"/>
                <a:ea typeface="Consolas"/>
                <a:cs typeface="Consolas"/>
                <a:sym typeface="Consolas"/>
              </a:rPr>
              <a:t>import</a:t>
            </a:r>
            <a:r>
              <a:rPr lang="en-US" sz="1300" b="0" i="0" u="none" strike="noStrike">
                <a:solidFill>
                  <a:srgbClr val="ABB2BF"/>
                </a:solidFill>
                <a:latin typeface="Consolas"/>
                <a:ea typeface="Consolas"/>
                <a:cs typeface="Consolas"/>
                <a:sym typeface="Consolas"/>
              </a:rPr>
              <a:t>requests</a:t>
            </a:r>
            <a:endParaRPr lang="en-US" sz="1300" b="0" i="0" u="none" strike="noStrike">
              <a:solidFill>
                <a:srgbClr val="ABB2B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ABB2BF"/>
                </a:solidFill>
                <a:latin typeface="Consolas"/>
                <a:ea typeface="Consolas"/>
                <a:cs typeface="Consolas"/>
                <a:sym typeface="Consolas"/>
              </a:rPr>
              <a:t>resp = requests.get(</a:t>
            </a:r>
            <a:r>
              <a:rPr lang="en-US" sz="1300" b="0" i="0" u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'https://www.baidu.com'</a:t>
            </a:r>
            <a:r>
              <a:rPr lang="en-US" sz="1300" b="0" i="0" u="none" strike="noStrike">
                <a:solidFill>
                  <a:srgbClr val="ABB2BF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lang="en-US" sz="1300" b="0" i="0" u="none" strike="noStrike">
              <a:solidFill>
                <a:srgbClr val="ABB2B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ABB2BF"/>
                </a:solidFill>
                <a:latin typeface="Consolas"/>
                <a:ea typeface="Consolas"/>
                <a:cs typeface="Consolas"/>
                <a:sym typeface="Consolas"/>
              </a:rPr>
              <a:t>print(resp.status_code)</a:t>
            </a:r>
            <a:r>
              <a:rPr lang="en-US" sz="1300" b="0" i="0" u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# 200 表示成功</a:t>
            </a:r>
            <a:endParaRPr lang="en-US" sz="1300" b="0" i="0" u="none" strike="noStrike">
              <a:solidFill>
                <a:srgbClr val="C678DD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C678DD"/>
                </a:solidFill>
                <a:latin typeface="Consolas"/>
                <a:ea typeface="Consolas"/>
                <a:cs typeface="Consolas"/>
                <a:sym typeface="Consolas"/>
              </a:rPr>
              <a:t># 发送 POST 请求调用 API</a:t>
            </a:r>
            <a:endParaRPr lang="en-US" sz="1300" b="0" i="0" u="none" strike="noStrike">
              <a:solidFill>
                <a:srgbClr val="C678DD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ABB2BF"/>
                </a:solidFill>
                <a:latin typeface="Consolas"/>
                <a:ea typeface="Consolas"/>
                <a:cs typeface="Consolas"/>
                <a:sym typeface="Consolas"/>
              </a:rPr>
              <a:t>data = {</a:t>
            </a:r>
            <a:r>
              <a:rPr lang="en-US" sz="1300" b="0" i="0" u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'prompt'</a:t>
            </a:r>
            <a:r>
              <a:rPr lang="en-US" sz="1300" b="0" i="0" u="none" strike="noStrike">
                <a:solidFill>
                  <a:srgbClr val="ABB2BF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-US" sz="1300" b="0" i="0" u="none" strike="noStrike">
                <a:solidFill>
                  <a:srgbClr val="98C379"/>
                </a:solidFill>
                <a:latin typeface="Consolas"/>
                <a:ea typeface="Consolas"/>
                <a:cs typeface="Consolas"/>
                <a:sym typeface="Consolas"/>
              </a:rPr>
              <a:t>'Hello, AI!'</a:t>
            </a:r>
            <a:r>
              <a:rPr lang="en-US" sz="1300" b="0" i="0" u="none" strike="noStrike">
                <a:solidFill>
                  <a:srgbClr val="ABB2B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lang="en-US" sz="1300" b="0" i="0" u="none" strike="noStrike">
              <a:solidFill>
                <a:srgbClr val="ABB2B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ABB2BF"/>
                </a:solidFill>
                <a:latin typeface="Consolas"/>
                <a:ea typeface="Consolas"/>
                <a:cs typeface="Consolas"/>
                <a:sym typeface="Consolas"/>
              </a:rPr>
              <a:t>resp = requests.post(url, json=data)</a:t>
            </a:r>
            <a:endParaRPr lang="en-US" sz="1300" b="0" i="0" u="none" strike="noStrike">
              <a:solidFill>
                <a:srgbClr val="ABB2B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8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5384800"/>
            <a:ext cx="406400" cy="4064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1524000" y="5207000"/>
            <a:ext cx="965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开发提示：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在大模型开发中，requests 是连接模型与外部世界的桥梁。无论是获取训练数据，还是将模型部署为服务后进行调用，它都是不可或缺的工具。注意处理异常响应和超时设置，确保程序的健壮性。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大语言模型开发常用库 - Flask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4318000" cy="3302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7780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97000" y="1727200"/>
            <a:ext cx="342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核心特性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1590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77800" indent="-177800" algn="l">
              <a:lnSpc>
                <a:spcPct val="125000"/>
              </a:lnSpc>
              <a:buClr>
                <a:srgbClr val="757575"/>
              </a:buClr>
              <a:buChar char="•"/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轻量级Web框架，快速开发API服务</a:t>
            </a:r>
            <a:endParaRPr lang="en-US" sz="1100"/>
          </a:p>
          <a:p>
            <a:pPr marL="177800" indent="-1778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核心简单，扩展性强，适合原型开发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048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397000" y="2997200"/>
            <a:ext cx="342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安装命令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016000" y="3429000"/>
            <a:ext cx="3810000" cy="508000"/>
          </a:xfrm>
          <a:prstGeom prst="roundRect">
            <a:avLst>
              <a:gd name="adj" fmla="val 12500"/>
            </a:avLst>
          </a:prstGeom>
          <a:solidFill>
            <a:srgbClr val="F5F5F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277BD"/>
                </a:solidFill>
                <a:latin typeface="Consolas"/>
                <a:ea typeface="Consolas"/>
                <a:cs typeface="Consolas"/>
                <a:sym typeface="Consolas"/>
              </a:rPr>
              <a:t>pip install Flask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334000" y="1524000"/>
            <a:ext cx="6096000" cy="3302000"/>
          </a:xfrm>
          <a:prstGeom prst="roundRect">
            <a:avLst>
              <a:gd name="adj" fmla="val 3846"/>
            </a:avLst>
          </a:prstGeom>
          <a:solidFill>
            <a:srgbClr val="1E1E1E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2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5334000" y="1524000"/>
            <a:ext cx="6096000" cy="381000"/>
          </a:xfrm>
          <a:prstGeom prst="roundRect">
            <a:avLst>
              <a:gd name="adj" fmla="val 0"/>
            </a:avLst>
          </a:prstGeom>
          <a:solidFill>
            <a:srgbClr val="323232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5461000" y="1549400"/>
            <a:ext cx="2540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4B4B4"/>
                </a:solidFill>
                <a:latin typeface="Consolas"/>
                <a:ea typeface="Consolas"/>
                <a:cs typeface="Consolas"/>
                <a:sym typeface="Consolas"/>
              </a:rPr>
              <a:t>app.py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10922000" y="1651000"/>
            <a:ext cx="127000" cy="127000"/>
          </a:xfrm>
          <a:prstGeom prst="ellipse">
            <a:avLst/>
          </a:prstGeom>
          <a:solidFill>
            <a:srgbClr val="FF5F5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11112500" y="1651000"/>
            <a:ext cx="127000" cy="127000"/>
          </a:xfrm>
          <a:prstGeom prst="ellipse">
            <a:avLst/>
          </a:prstGeom>
          <a:solidFill>
            <a:srgbClr val="FFBD2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5" name="AutoShape 15"/>
          <p:cNvSpPr/>
          <p:nvPr/>
        </p:nvSpPr>
        <p:spPr>
          <a:xfrm>
            <a:off x="11303000" y="1651000"/>
            <a:ext cx="127000" cy="127000"/>
          </a:xfrm>
          <a:prstGeom prst="ellipse">
            <a:avLst/>
          </a:prstGeom>
          <a:solidFill>
            <a:srgbClr val="27C93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5461000" y="1968500"/>
            <a:ext cx="5842000" cy="2730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ts val="1800"/>
              </a:lnSpc>
              <a:defRPr/>
            </a:pPr>
            <a:r>
              <a:rPr lang="en-US" sz="1200" b="0" i="0" u="none" strike="noStrike">
                <a:solidFill>
                  <a:srgbClr val="C792EA"/>
                </a:solidFill>
                <a:latin typeface="Consolas"/>
                <a:ea typeface="Consolas"/>
                <a:cs typeface="Consolas"/>
                <a:sym typeface="Consolas"/>
              </a:rPr>
              <a:t>from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flask</a:t>
            </a:r>
            <a:r>
              <a:rPr lang="en-US" sz="1200" b="0" i="0" u="none" strike="noStrike">
                <a:solidFill>
                  <a:srgbClr val="C792EA"/>
                </a:solidFill>
                <a:latin typeface="Consolas"/>
                <a:ea typeface="Consolas"/>
                <a:cs typeface="Consolas"/>
                <a:sym typeface="Consolas"/>
              </a:rPr>
              <a:t>import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Flask, request, jsonify</a:t>
            </a:r>
            <a:endParaRPr lang="en-US" sz="1100"/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app = Flask(__name__)</a:t>
            </a:r>
            <a:endParaRPr lang="en-US" sz="1200" b="0" i="0" u="none" strike="noStrike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6272A4"/>
                </a:solidFill>
                <a:latin typeface="Consolas"/>
                <a:ea typeface="Consolas"/>
                <a:cs typeface="Consolas"/>
                <a:sym typeface="Consolas"/>
              </a:rPr>
              <a:t># 健康检查接口</a:t>
            </a:r>
            <a:endParaRPr lang="en-US" sz="1200" b="0" i="0" u="none" strike="noStrike">
              <a:solidFill>
                <a:srgbClr val="6272A4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C792EA"/>
                </a:solidFill>
                <a:latin typeface="Consolas"/>
                <a:ea typeface="Consolas"/>
                <a:cs typeface="Consolas"/>
                <a:sym typeface="Consolas"/>
              </a:rPr>
              <a:t>@app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.route(</a:t>
            </a:r>
            <a:r>
              <a:rPr lang="en-US" sz="1200" b="0" i="0" u="none" strike="noStrike">
                <a:solidFill>
                  <a:srgbClr val="A5D6FF"/>
                </a:solidFill>
                <a:latin typeface="Consolas"/>
                <a:ea typeface="Consolas"/>
                <a:cs typeface="Consolas"/>
                <a:sym typeface="Consolas"/>
              </a:rPr>
              <a:t>'/health'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methods=[</a:t>
            </a:r>
            <a:r>
              <a:rPr lang="en-US" sz="1200" b="0" i="0" u="none" strike="noStrike">
                <a:solidFill>
                  <a:srgbClr val="A5D6FF"/>
                </a:solidFill>
                <a:latin typeface="Consolas"/>
                <a:ea typeface="Consolas"/>
                <a:cs typeface="Consolas"/>
                <a:sym typeface="Consolas"/>
              </a:rPr>
              <a:t>'GET'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])</a:t>
            </a:r>
            <a:endParaRPr lang="en-US" sz="1200" b="0" i="0" u="none" strike="noStrike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C792EA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lang="en-US" sz="1200" b="0" i="0" u="none" strike="noStrike">
                <a:solidFill>
                  <a:srgbClr val="F1FA8C"/>
                </a:solidFill>
                <a:latin typeface="Consolas"/>
                <a:ea typeface="Consolas"/>
                <a:cs typeface="Consolas"/>
                <a:sym typeface="Consolas"/>
              </a:rPr>
              <a:t>health_check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():</a:t>
            </a:r>
            <a:endParaRPr lang="en-US" sz="1200" b="0" i="0" u="none" strike="noStrike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C792EA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-US" sz="1200" b="0" i="0" u="none" strike="noStrike">
                <a:solidFill>
                  <a:srgbClr val="A5D6FF"/>
                </a:solidFill>
                <a:latin typeface="Consolas"/>
                <a:ea typeface="Consolas"/>
                <a:cs typeface="Consolas"/>
                <a:sym typeface="Consolas"/>
              </a:rPr>
              <a:t>'OK'</a:t>
            </a:r>
            <a:endParaRPr lang="en-US" sz="1200" b="0" i="0" u="none" strike="noStrike">
              <a:solidFill>
                <a:srgbClr val="A5D6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6272A4"/>
                </a:solidFill>
                <a:latin typeface="Consolas"/>
                <a:ea typeface="Consolas"/>
                <a:cs typeface="Consolas"/>
                <a:sym typeface="Consolas"/>
              </a:rPr>
              <a:t># 聊天接口</a:t>
            </a:r>
            <a:endParaRPr lang="en-US" sz="1200" b="0" i="0" u="none" strike="noStrike">
              <a:solidFill>
                <a:srgbClr val="6272A4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C792EA"/>
                </a:solidFill>
                <a:latin typeface="Consolas"/>
                <a:ea typeface="Consolas"/>
                <a:cs typeface="Consolas"/>
                <a:sym typeface="Consolas"/>
              </a:rPr>
              <a:t>@app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.route(</a:t>
            </a:r>
            <a:r>
              <a:rPr lang="en-US" sz="1200" b="0" i="0" u="none" strike="noStrike">
                <a:solidFill>
                  <a:srgbClr val="A5D6FF"/>
                </a:solidFill>
                <a:latin typeface="Consolas"/>
                <a:ea typeface="Consolas"/>
                <a:cs typeface="Consolas"/>
                <a:sym typeface="Consolas"/>
              </a:rPr>
              <a:t>'/chat'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 methods=[</a:t>
            </a:r>
            <a:r>
              <a:rPr lang="en-US" sz="1200" b="0" i="0" u="none" strike="noStrike">
                <a:solidFill>
                  <a:srgbClr val="A5D6FF"/>
                </a:solidFill>
                <a:latin typeface="Consolas"/>
                <a:ea typeface="Consolas"/>
                <a:cs typeface="Consolas"/>
                <a:sym typeface="Consolas"/>
              </a:rPr>
              <a:t>'POST'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])</a:t>
            </a:r>
            <a:endParaRPr lang="en-US" sz="1200" b="0" i="0" u="none" strike="noStrike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C792EA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lang="en-US" sz="1200" b="0" i="0" u="none" strike="noStrike">
                <a:solidFill>
                  <a:srgbClr val="F1FA8C"/>
                </a:solidFill>
                <a:latin typeface="Consolas"/>
                <a:ea typeface="Consolas"/>
                <a:cs typeface="Consolas"/>
                <a:sym typeface="Consolas"/>
              </a:rPr>
              <a:t>chat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():</a:t>
            </a:r>
            <a:endParaRPr lang="en-US" sz="1200" b="0" i="0" u="none" strike="noStrike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data = request.get_json()</a:t>
            </a:r>
            <a:endParaRPr lang="en-US" sz="1200" b="0" i="0" u="none" strike="noStrike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prompt = data.get(</a:t>
            </a:r>
            <a:r>
              <a:rPr lang="en-US" sz="1200" b="0" i="0" u="none" strike="noStrike">
                <a:solidFill>
                  <a:srgbClr val="A5D6FF"/>
                </a:solidFill>
                <a:latin typeface="Consolas"/>
                <a:ea typeface="Consolas"/>
                <a:cs typeface="Consolas"/>
                <a:sym typeface="Consolas"/>
              </a:rPr>
              <a:t>'prompt'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-US" sz="1200" b="0" i="0" u="none" strike="noStrike">
                <a:solidFill>
                  <a:srgbClr val="A5D6FF"/>
                </a:solidFill>
                <a:latin typeface="Consolas"/>
                <a:ea typeface="Consolas"/>
                <a:cs typeface="Consolas"/>
                <a:sym typeface="Consolas"/>
              </a:rPr>
              <a:t>''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lang="en-US" sz="1200" b="0" i="0" u="none" strike="noStrike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res = {</a:t>
            </a:r>
            <a:r>
              <a:rPr lang="en-US" sz="1200" b="0" i="0" u="none" strike="noStrike">
                <a:solidFill>
                  <a:srgbClr val="A5D6FF"/>
                </a:solidFill>
                <a:latin typeface="Consolas"/>
                <a:ea typeface="Consolas"/>
                <a:cs typeface="Consolas"/>
                <a:sym typeface="Consolas"/>
              </a:rPr>
              <a:t>"reply"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r>
              <a:rPr lang="en-US" sz="1200" b="0" i="0" u="none" strike="noStrike">
                <a:solidFill>
                  <a:srgbClr val="A5D6FF"/>
                </a:solidFill>
                <a:latin typeface="Consolas"/>
                <a:ea typeface="Consolas"/>
                <a:cs typeface="Consolas"/>
                <a:sym typeface="Consolas"/>
              </a:rPr>
              <a:t>f"收到: {prompt}"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lang="en-US" sz="1200" b="0" i="0" u="none" strike="noStrike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ts val="1800"/>
              </a:lnSpc>
            </a:pPr>
            <a:r>
              <a:rPr lang="en-US" sz="1200" b="0" i="0" u="none" strike="noStrike">
                <a:solidFill>
                  <a:srgbClr val="C792EA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-US" sz="1200" b="0" i="0" u="none" strike="noStrike">
                <a:solidFill>
                  <a:srgbClr val="F8F8F2"/>
                </a:solidFill>
                <a:latin typeface="Consolas"/>
                <a:ea typeface="Consolas"/>
                <a:cs typeface="Consolas"/>
                <a:sym typeface="Consolas"/>
              </a:rPr>
              <a:t>jsonify(res)</a:t>
            </a:r>
            <a:endParaRPr lang="en-US" sz="1200" b="0" i="0" u="none" strike="noStrike">
              <a:solidFill>
                <a:srgbClr val="F8F8F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334000"/>
            <a:ext cx="508000" cy="5080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1651000" y="5270500"/>
            <a:ext cx="952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应用场景：</a:t>
            </a:r>
            <a:r>
              <a:rPr lang="en-US" sz="1600" b="0" i="0" u="none" strike="noStrike">
                <a:solidFill>
                  <a:srgbClr val="424242"/>
                </a:solidFill>
                <a:latin typeface="Noto Sans SC"/>
                <a:ea typeface="Noto Sans SC"/>
                <a:cs typeface="Noto Sans SC"/>
                <a:sym typeface="Noto Sans SC"/>
              </a:rPr>
              <a:t>Flask非常适合将大模型封装为Web服务，通过API接口对外提供调用能力，实现模型的快速部署与测试。</a:t>
            </a:r>
            <a:endParaRPr lang="en-US" sz="11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155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大语言模型开发常用库 - Streamlit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3810000" cy="2540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651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16002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核心优势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159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90500" indent="-190500" algn="l">
              <a:lnSpc>
                <a:spcPct val="125000"/>
              </a:lnSpc>
              <a:buClr>
                <a:srgbClr val="757575"/>
              </a:buClr>
              <a:buChar char="•"/>
              <a:defRPr/>
            </a:pPr>
            <a:r>
              <a:rPr lang="en-US" sz="15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纯Python代码构建交互式Web应用，无需前端知识</a:t>
            </a:r>
            <a:endParaRPr lang="en-US" sz="1100"/>
          </a:p>
          <a:p>
            <a:pPr marL="190500" indent="-1905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5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自动热重载，代码修改即时生效，提升开发效率</a:t>
            </a:r>
            <a:endParaRPr lang="en-US" sz="15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190500" indent="-1905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5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内置丰富组件，轻松展示数据、图表与模型结果</a:t>
            </a:r>
            <a:endParaRPr lang="en-US" sz="15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762000" y="4191000"/>
            <a:ext cx="3810000" cy="1651000"/>
          </a:xfrm>
          <a:prstGeom prst="roundRect">
            <a:avLst>
              <a:gd name="adj" fmla="val 769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4450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4394200"/>
            <a:ext cx="279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安装与运行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4953000"/>
            <a:ext cx="330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安装：</a:t>
            </a:r>
            <a:r>
              <a:rPr lang="en-US" sz="1400" b="0" i="0" u="none" strike="noStrike">
                <a:solidFill>
                  <a:srgbClr val="0277BD"/>
                </a:solidFill>
                <a:latin typeface="Consolas"/>
                <a:ea typeface="Consolas"/>
                <a:cs typeface="Consolas"/>
                <a:sym typeface="Consolas"/>
              </a:rPr>
              <a:t>pip install streamlit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运行：</a:t>
            </a:r>
            <a:r>
              <a:rPr lang="en-US" sz="1400" b="0" i="0" u="none" strike="noStrike">
                <a:solidFill>
                  <a:srgbClr val="0277BD"/>
                </a:solidFill>
                <a:latin typeface="Consolas"/>
                <a:ea typeface="Consolas"/>
                <a:cs typeface="Consolas"/>
                <a:sym typeface="Consolas"/>
              </a:rPr>
              <a:t>streamlit run app.py</a:t>
            </a:r>
            <a:endParaRPr lang="en-US" sz="1400" b="0" i="0" u="none" strike="noStrike">
              <a:solidFill>
                <a:srgbClr val="0277BD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4953000" y="1397000"/>
            <a:ext cx="6477000" cy="4445000"/>
          </a:xfrm>
          <a:prstGeom prst="roundRect">
            <a:avLst>
              <a:gd name="adj" fmla="val 2857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5207000" y="1600200"/>
            <a:ext cx="596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代码示例：快速构建数据应用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5207000" y="2095500"/>
            <a:ext cx="5969000" cy="3365500"/>
          </a:xfrm>
          <a:prstGeom prst="roundRect">
            <a:avLst>
              <a:gd name="adj" fmla="val 1886"/>
            </a:avLst>
          </a:prstGeom>
          <a:solidFill>
            <a:srgbClr val="F5F7FA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4" name="AutoShape 14"/>
          <p:cNvSpPr/>
          <p:nvPr/>
        </p:nvSpPr>
        <p:spPr>
          <a:xfrm>
            <a:off x="5334000" y="2222500"/>
            <a:ext cx="5715000" cy="311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300" b="0" i="0" u="none" strike="noStrike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import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streamlit</a:t>
            </a:r>
            <a:r>
              <a:rPr lang="en-US" sz="1300" b="0" i="0" u="none" strike="noStrike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as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st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import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pandas</a:t>
            </a:r>
            <a:r>
              <a:rPr lang="en-US" sz="1300" b="0" i="0" u="none" strike="noStrike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as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pd</a:t>
            </a:r>
            <a:endParaRPr lang="en-US" sz="1300" b="0" i="0" u="none" strike="noStrike">
              <a:solidFill>
                <a:srgbClr val="3333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设置页面标题</a:t>
            </a:r>
            <a:endParaRPr lang="en-US" sz="1300" b="0" i="0" u="none" strike="noStrike">
              <a:solidFill>
                <a:srgbClr val="6A995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st.title(</a:t>
            </a:r>
            <a:r>
              <a:rPr lang="en-US" sz="1300" b="0" i="0" u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'我的第一个Streamlit应用'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lang="en-US" sz="1300" b="0" i="0" u="none" strike="noStrike">
              <a:solidFill>
                <a:srgbClr val="3333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创建数据并展示</a:t>
            </a:r>
            <a:endParaRPr lang="en-US" sz="1300" b="0" i="0" u="none" strike="noStrike">
              <a:solidFill>
                <a:srgbClr val="6A995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data = pd.DataFrame({</a:t>
            </a:r>
            <a:endParaRPr lang="en-US" sz="1300" b="0" i="0" u="none" strike="noStrike">
              <a:solidFill>
                <a:srgbClr val="3333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'姓名'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: [</a:t>
            </a:r>
            <a:r>
              <a:rPr lang="en-US" sz="1300" b="0" i="0" u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'Alice'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-US" sz="1300" b="0" i="0" u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'Bob'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],</a:t>
            </a:r>
            <a:endParaRPr lang="en-US" sz="1300" b="0" i="0" u="none" strike="noStrike">
              <a:solidFill>
                <a:srgbClr val="3333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'年龄'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: [25, 30]</a:t>
            </a:r>
            <a:endParaRPr lang="en-US" sz="1300" b="0" i="0" u="none" strike="noStrike">
              <a:solidFill>
                <a:srgbClr val="3333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})</a:t>
            </a:r>
            <a:endParaRPr lang="en-US" sz="1300" b="0" i="0" u="none" strike="noStrike">
              <a:solidFill>
                <a:srgbClr val="3333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st.dataframe(data)</a:t>
            </a:r>
            <a:endParaRPr lang="en-US" sz="1300" b="0" i="0" u="none" strike="noStrike">
              <a:solidFill>
                <a:srgbClr val="3333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6A9955"/>
                </a:solidFill>
                <a:latin typeface="Consolas"/>
                <a:ea typeface="Consolas"/>
                <a:cs typeface="Consolas"/>
                <a:sym typeface="Consolas"/>
              </a:rPr>
              <a:t># 添加交互组件</a:t>
            </a:r>
            <a:endParaRPr lang="en-US" sz="1300" b="0" i="0" u="none" strike="noStrike">
              <a:solidFill>
                <a:srgbClr val="6A995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user_input = st.text_input(</a:t>
            </a:r>
            <a:r>
              <a:rPr lang="en-US" sz="1300" b="0" i="0" u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"请输入问题："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lang="en-US" sz="1300" b="0" i="0" u="none" strike="noStrike">
              <a:solidFill>
                <a:srgbClr val="3333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C586C0"/>
                </a:solidFill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st.button(</a:t>
            </a:r>
            <a:r>
              <a:rPr lang="en-US" sz="1300" b="0" i="0" u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"提交"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):</a:t>
            </a:r>
            <a:endParaRPr lang="en-US" sz="1300" b="0" i="0" u="none" strike="noStrike">
              <a:solidFill>
                <a:srgbClr val="333333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algn="l">
              <a:lnSpc>
                <a:spcPct val="108000"/>
              </a:lnSpc>
            </a:pP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st.write(f</a:t>
            </a:r>
            <a:r>
              <a:rPr lang="en-US" sz="1300" b="0" i="0" u="none" strike="noStrike">
                <a:solidFill>
                  <a:srgbClr val="CE9178"/>
                </a:solidFill>
                <a:latin typeface="Consolas"/>
                <a:ea typeface="Consolas"/>
                <a:cs typeface="Consolas"/>
                <a:sym typeface="Consolas"/>
              </a:rPr>
              <a:t>"你输入的是：{user_input}"</a:t>
            </a:r>
            <a:r>
              <a:rPr lang="en-US" sz="1300" b="0" i="0" u="none" strike="noStrike">
                <a:solidFill>
                  <a:srgbClr val="333333"/>
                </a:solidFill>
                <a:latin typeface="Consolas"/>
                <a:ea typeface="Consolas"/>
                <a:cs typeface="Consolas"/>
                <a:sym typeface="Consolas"/>
              </a:rPr>
              <a:t>)</a:t>
            </a:r>
            <a:endParaRPr lang="en-US" sz="1300" b="0" i="0" u="none" strike="noStrike">
              <a:solidFill>
                <a:srgbClr val="333333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6350000"/>
            <a:ext cx="10668000" cy="50800"/>
          </a:xfrm>
          <a:prstGeom prst="roundRect">
            <a:avLst>
              <a:gd name="adj" fmla="val 0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3175000" y="508000"/>
            <a:ext cx="584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2.1.2 接口的设计与优化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651000" y="1270000"/>
            <a:ext cx="889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学习如何设计规范、高效、安全的Web接口，并掌握接口优化的关键策略，为大模型服务化部署奠定基础。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2286000"/>
            <a:ext cx="3048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33600" y="2540000"/>
            <a:ext cx="812800" cy="812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016000" y="3492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设计规范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143000" y="39370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RESTful API标准与统一命名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572000" y="2286000"/>
            <a:ext cx="3048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89600" y="2540000"/>
            <a:ext cx="812800" cy="8128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4572000" y="3492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性能优化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99000" y="39370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响应提速与并发处理策略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8128000" y="2286000"/>
            <a:ext cx="3048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45600" y="2540000"/>
            <a:ext cx="812800" cy="812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8128000" y="34925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安全防护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255000" y="39370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鉴权机制与防攻击措施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651000" y="5080000"/>
            <a:ext cx="8890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1905000" y="5270500"/>
            <a:ext cx="838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目标：构建高可用、易维护的大模型服务接口体系</a:t>
            </a:r>
            <a:endParaRPr lang="en-US" sz="11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5029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接口的设计原则 (一)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95500" y="1905000"/>
            <a:ext cx="635000" cy="635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889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确定通信协议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31750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根据业务场景和数据传输需求，合理选择 HTTP、HTTPS 或 WebSocket 等协议，确保数据传输的安全与高效。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445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8500" y="1905000"/>
            <a:ext cx="635000" cy="635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572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设计清晰URL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35500" y="31750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URL应直观表达资源或服务，推荐采用 RESTful 风格。</a:t>
            </a:r>
            <a:endParaRPr lang="en-US" sz="1100"/>
          </a:p>
          <a:p>
            <a:pPr indent="0" algn="just">
              <a:lnSpc>
                <a:spcPct val="108000"/>
              </a:lnSpc>
            </a:pPr>
            <a:r>
              <a:rPr lang="en-US" sz="1200" b="0" i="1" u="none" strike="noStrike">
                <a:solidFill>
                  <a:srgbClr val="9E9E9E"/>
                </a:solidFill>
                <a:latin typeface="Noto Sans SC"/>
                <a:ea typeface="Noto Sans SC"/>
                <a:cs typeface="Noto Sans SC"/>
                <a:sym typeface="Noto Sans SC"/>
              </a:rPr>
              <a:t>示例：/api/v1/users</a:t>
            </a:r>
            <a:endParaRPr lang="en-US" sz="1200" b="0" i="1" u="none" strike="noStrike">
              <a:solidFill>
                <a:srgbClr val="9E9E9E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61500" y="1905000"/>
            <a:ext cx="635000" cy="635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8255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合理设计参数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318500" y="31750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明确参数命名、类型和必要性，提供清晰文档。复杂参数建议使用 JSON 格式传递，提升可读性。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508000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1016000" y="5207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核心目标：构建高可用、易维护、标准化的接口体系</a:t>
            </a:r>
            <a:endParaRPr lang="en-US"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5029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接口的设计原则 (二)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95500" y="1905000"/>
            <a:ext cx="635000" cy="635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889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统一返回格式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3175000"/>
            <a:ext cx="2921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• 出参建议包含</a:t>
            </a:r>
            <a:r>
              <a:rPr lang="en-US" sz="14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code, message, data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三个关键字段。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• 使用 HTTP 标准状态码（如 200, 400, 401）规范响应状态。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445000" y="1651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8500" y="1905000"/>
            <a:ext cx="635000" cy="635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572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做好版本管理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35500" y="3175000"/>
            <a:ext cx="2921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• 通过 URL 路径（如</a:t>
            </a:r>
            <a:r>
              <a:rPr lang="en-US" sz="14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/v1/, /v2/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）或请求头管理 API 版本。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• 保证新旧版本平滑升级，避免兼容性问题。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3556000"/>
          </a:xfrm>
          <a:prstGeom prst="roundRect">
            <a:avLst>
              <a:gd name="adj" fmla="val 384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61500" y="1905000"/>
            <a:ext cx="635000" cy="635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8255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选择传输格式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318500" y="3175000"/>
            <a:ext cx="2921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• 优先使用</a:t>
            </a:r>
            <a:r>
              <a:rPr lang="en-US" sz="14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JSON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作为数据交换格式。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• 相较于 XML，JSON 更加简洁、轻量且解析高效。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5715000"/>
            <a:ext cx="10668000" cy="50800"/>
          </a:xfrm>
          <a:prstGeom prst="roundRect">
            <a:avLst>
              <a:gd name="adj" fmla="val 0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40259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接口的设计原则 (三)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080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968500"/>
            <a:ext cx="609600" cy="609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778000" y="1905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考虑数据压缩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778000" y="23495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对大体积响应数据进行Gzip等压缩，减少传输时间和带宽消耗，提升接口响应速度。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350000" y="1651000"/>
            <a:ext cx="5080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4000" y="1968500"/>
            <a:ext cx="609600" cy="609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7366000" y="1905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严格的参数校验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366000" y="23495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对输入参数进行合法性校验（类型、长度、范围），过滤非法请求，保障数据安全。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3810000"/>
            <a:ext cx="5080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127500"/>
            <a:ext cx="609600" cy="609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778000" y="4064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实现安全认证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778000" y="45085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通过Token、OAuth2.0等方式验证用户身份和权限，防止未授权访问，确保接口安全。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0" y="3810000"/>
            <a:ext cx="5080000" cy="1778000"/>
          </a:xfrm>
          <a:prstGeom prst="roundRect">
            <a:avLst>
              <a:gd name="adj" fmla="val 7142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04000" y="4127500"/>
            <a:ext cx="609600" cy="609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366000" y="4064000"/>
            <a:ext cx="381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完善的异常处理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366000" y="4508500"/>
            <a:ext cx="381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捕获并处理运行时异常，返回友好的错误信息，避免服务崩溃，提升系统稳定性。</a:t>
            </a:r>
            <a:endParaRPr lang="en-US" sz="11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08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2.2 Docker容器基础知识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651000" y="1270000"/>
            <a:ext cx="889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学习Docker容器技术，掌握环境搭建、镜像与容器管理、以及项目的打包、部署和运行方法。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270000" y="2286000"/>
            <a:ext cx="3048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1270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413000" y="2540000"/>
            <a:ext cx="762000" cy="7620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270000" y="342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环境搭建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397000" y="38735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快速配置开发与生产环境，消除环境差异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572000" y="2286000"/>
            <a:ext cx="3048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1270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15000" y="2540000"/>
            <a:ext cx="762000" cy="762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4572000" y="342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镜像与容器管理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699000" y="38735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高效管理镜像生命周期，灵活控制容器状态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7874000" y="2286000"/>
            <a:ext cx="3048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254000" dist="1270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017000" y="2540000"/>
            <a:ext cx="762000" cy="762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874000" y="3429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打包与部署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001000" y="3873500"/>
            <a:ext cx="279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实现项目一键打包，快速交付与自动化运行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461000" y="5334000"/>
            <a:ext cx="1270000" cy="50800"/>
          </a:xfrm>
          <a:prstGeom prst="roundRect">
            <a:avLst>
              <a:gd name="adj" fmla="val 0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Docker简介与环境搭建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8415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651000" y="1651000"/>
            <a:ext cx="4064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镜像 (Image)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只读的模板，包含运行应用所需的代码、运行时、库、环境变量和配置文件。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762000" y="2857500"/>
            <a:ext cx="5207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175000"/>
            <a:ext cx="508000" cy="508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651000" y="2984500"/>
            <a:ext cx="4064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容器 (Container)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镜像的运行实例，是独立的可执行软件包，包含应用及其依赖。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4191000"/>
            <a:ext cx="5207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508500"/>
            <a:ext cx="508000" cy="508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1651000" y="4318000"/>
            <a:ext cx="4064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仓库 (Repository)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用于存储和分发镜像的地方，常见的如 Docker Hub。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223000" y="1524000"/>
            <a:ext cx="4953000" cy="3810000"/>
          </a:xfrm>
          <a:prstGeom prst="roundRect">
            <a:avLst>
              <a:gd name="adj" fmla="val 333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477000" y="1714500"/>
            <a:ext cx="444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环境搭建步骤</a:t>
            </a:r>
            <a:endParaRPr lang="en-US" sz="1100"/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7000" y="2286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6985000" y="22225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下载安装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访问官网下载对应版本：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</a:pPr>
            <a:r>
              <a:rPr lang="en-US" sz="1400" b="0" i="0" u="sng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https://www.docker.com/</a:t>
            </a:r>
            <a:endParaRPr lang="en-US" sz="1400" b="0" i="0" u="sng" strike="noStrike">
              <a:solidFill>
                <a:srgbClr val="0277BD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477000" y="31750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6985000" y="31115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安装完成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根据操作系统完成安装配置，确保服务启动。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77000" y="4064000"/>
            <a:ext cx="406400" cy="4064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6985000" y="4000500"/>
            <a:ext cx="393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212121"/>
                </a:solidFill>
                <a:latin typeface="Noto Sans SC"/>
                <a:ea typeface="Noto Sans SC"/>
                <a:cs typeface="Noto Sans SC"/>
                <a:sym typeface="Noto Sans SC"/>
              </a:rPr>
              <a:t>验证安装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打开终端，执行命令查看版本：</a:t>
            </a:r>
            <a:endParaRPr lang="en-US" sz="14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25000"/>
              </a:lnSpc>
            </a:pPr>
            <a:r>
              <a:rPr lang="en-US" sz="1400" b="0" i="0" u="none" strike="noStrike">
                <a:solidFill>
                  <a:srgbClr val="212121"/>
                </a:solidFill>
                <a:highlight>
                  <a:srgbClr val="F5F5F5">
                    <a:alpha val="100000"/>
                  </a:srgbClr>
                </a:highlight>
                <a:latin typeface="Noto Sans SC"/>
                <a:ea typeface="Noto Sans SC"/>
                <a:cs typeface="Noto Sans SC"/>
                <a:sym typeface="Noto Sans SC"/>
              </a:rPr>
              <a:t>docker --version</a:t>
            </a:r>
            <a:endParaRPr lang="en-US" sz="1400" b="0" i="0" u="none" strike="noStrike">
              <a:solidFill>
                <a:srgbClr val="212121"/>
              </a:solidFill>
              <a:highlight>
                <a:srgbClr val="F5F5F5">
                  <a:alpha val="100000"/>
                </a:srgbClr>
              </a:highlight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762000" y="5715000"/>
            <a:ext cx="10668000" cy="50800"/>
          </a:xfrm>
          <a:prstGeom prst="roundRect">
            <a:avLst>
              <a:gd name="adj" fmla="val 0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7048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Docker常用命令 - 镜像操作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080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905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1841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从仓库拉取镜像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349500"/>
            <a:ext cx="4572000" cy="762000"/>
          </a:xfrm>
          <a:prstGeom prst="roundRect">
            <a:avLst>
              <a:gd name="adj" fmla="val 8333"/>
            </a:avLst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143000" y="2413000"/>
            <a:ext cx="431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pull ubuntu:20.04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从Docker Hub下载指定版本的镜像</a:t>
            </a:r>
            <a:endParaRPr lang="en-US" sz="12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6350000" y="1651000"/>
            <a:ext cx="5080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4000" y="1905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112000" y="1841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列出本地所有镜像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604000" y="2349500"/>
            <a:ext cx="4572000" cy="762000"/>
          </a:xfrm>
          <a:prstGeom prst="roundRect">
            <a:avLst>
              <a:gd name="adj" fmla="val 8333"/>
            </a:avLst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731000" y="2413000"/>
            <a:ext cx="431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images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查看当前系统中已下载的所有镜像信息</a:t>
            </a:r>
            <a:endParaRPr lang="en-US" sz="12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762000" y="3810000"/>
            <a:ext cx="5080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064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524000" y="4000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删除指定镜像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016000" y="4508500"/>
            <a:ext cx="4572000" cy="762000"/>
          </a:xfrm>
          <a:prstGeom prst="roundRect">
            <a:avLst>
              <a:gd name="adj" fmla="val 8333"/>
            </a:avLst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1143000" y="4572000"/>
            <a:ext cx="431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rmi &lt;image_id&gt;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通过镜像ID或名称删除本地镜像文件</a:t>
            </a:r>
            <a:endParaRPr lang="en-US" sz="12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350000" y="3810000"/>
            <a:ext cx="5080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04000" y="40640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7112000" y="40005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查看镜像详细信息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604000" y="4508500"/>
            <a:ext cx="4572000" cy="762000"/>
          </a:xfrm>
          <a:prstGeom prst="roundRect">
            <a:avLst>
              <a:gd name="adj" fmla="val 8333"/>
            </a:avLst>
          </a:prstGeom>
          <a:solidFill>
            <a:srgbClr val="0277BD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6731000" y="4572000"/>
            <a:ext cx="431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inspect &lt;image_id&gt;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获取镜像的元数据（如创建时间、大小等）</a:t>
            </a:r>
            <a:endParaRPr lang="en-US" sz="12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704088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Docker常用命令 - 容器操作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334000" cy="3810000"/>
          </a:xfrm>
          <a:prstGeom prst="roundRect">
            <a:avLst>
              <a:gd name="adj" fmla="val 3333"/>
            </a:avLst>
          </a:prstGeom>
          <a:solidFill>
            <a:srgbClr val="1E1E1E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63500" dir="2700000" algn="tl" rotWithShape="0">
              <a:srgbClr val="000000">
                <a:alpha val="2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651000"/>
            <a:ext cx="4826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69696"/>
                </a:solidFill>
                <a:latin typeface="Roboto Mono"/>
                <a:ea typeface="Roboto Mono"/>
                <a:cs typeface="Roboto Mono"/>
                <a:sym typeface="Roboto Mono"/>
              </a:rPr>
              <a:t># 核心命令示例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032000"/>
            <a:ext cx="4826000" cy="304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C678DD"/>
                </a:solidFill>
                <a:latin typeface="Roboto Mono"/>
                <a:ea typeface="Roboto Mono"/>
                <a:cs typeface="Roboto Mono"/>
                <a:sym typeface="Roboto Mono"/>
              </a:rPr>
              <a:t>docker run</a:t>
            </a:r>
            <a:r>
              <a:rPr lang="en-US" sz="1400" b="0" i="0" u="none" strike="noStrike">
                <a:solidFill>
                  <a:srgbClr val="DCDFE4"/>
                </a:solidFill>
                <a:latin typeface="Roboto Mono"/>
                <a:ea typeface="Roboto Mono"/>
                <a:cs typeface="Roboto Mono"/>
                <a:sym typeface="Roboto Mono"/>
              </a:rPr>
              <a:t>-d -p 8080:80 --name my-web nginx</a:t>
            </a:r>
            <a:endParaRPr lang="en-US" sz="1100"/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61AFEF"/>
                </a:solidFill>
                <a:latin typeface="Roboto Mono"/>
                <a:ea typeface="Roboto Mono"/>
                <a:cs typeface="Roboto Mono"/>
                <a:sym typeface="Roboto Mono"/>
              </a:rPr>
              <a:t>docker ps</a:t>
            </a:r>
            <a:endParaRPr lang="en-US" sz="1400" b="0" i="0" u="none" strike="noStrike">
              <a:solidFill>
                <a:srgbClr val="61AFE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61AFEF"/>
                </a:solidFill>
                <a:latin typeface="Roboto Mono"/>
                <a:ea typeface="Roboto Mono"/>
                <a:cs typeface="Roboto Mono"/>
                <a:sym typeface="Roboto Mono"/>
              </a:rPr>
              <a:t>docker ps</a:t>
            </a:r>
            <a:r>
              <a:rPr lang="en-US" sz="1400" b="0" i="0" u="none" strike="noStrike">
                <a:solidFill>
                  <a:srgbClr val="DCDFE4"/>
                </a:solidFill>
                <a:latin typeface="Roboto Mono"/>
                <a:ea typeface="Roboto Mono"/>
                <a:cs typeface="Roboto Mono"/>
                <a:sym typeface="Roboto Mono"/>
              </a:rPr>
              <a:t>-a</a:t>
            </a:r>
            <a:endParaRPr lang="en-US" sz="1400" b="0" i="0" u="none" strike="noStrike">
              <a:solidFill>
                <a:srgbClr val="DCDFE4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61AFEF"/>
                </a:solidFill>
                <a:latin typeface="Roboto Mono"/>
                <a:ea typeface="Roboto Mono"/>
                <a:cs typeface="Roboto Mono"/>
                <a:sym typeface="Roboto Mono"/>
              </a:rPr>
              <a:t>docker stop</a:t>
            </a:r>
            <a:r>
              <a:rPr lang="en-US" sz="1400" b="0" i="0" u="none" strike="noStrike">
                <a:solidFill>
                  <a:srgbClr val="DCDFE4"/>
                </a:solidFill>
                <a:latin typeface="Roboto Mono"/>
                <a:ea typeface="Roboto Mono"/>
                <a:cs typeface="Roboto Mono"/>
                <a:sym typeface="Roboto Mono"/>
              </a:rPr>
              <a:t>&lt;container_id&gt;</a:t>
            </a:r>
            <a:endParaRPr lang="en-US" sz="1400" b="0" i="0" u="none" strike="noStrike">
              <a:solidFill>
                <a:srgbClr val="DCDFE4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61AFEF"/>
                </a:solidFill>
                <a:latin typeface="Roboto Mono"/>
                <a:ea typeface="Roboto Mono"/>
                <a:cs typeface="Roboto Mono"/>
                <a:sym typeface="Roboto Mono"/>
              </a:rPr>
              <a:t>docker start</a:t>
            </a:r>
            <a:r>
              <a:rPr lang="en-US" sz="1400" b="0" i="0" u="none" strike="noStrike">
                <a:solidFill>
                  <a:srgbClr val="DCDFE4"/>
                </a:solidFill>
                <a:latin typeface="Roboto Mono"/>
                <a:ea typeface="Roboto Mono"/>
                <a:cs typeface="Roboto Mono"/>
                <a:sym typeface="Roboto Mono"/>
              </a:rPr>
              <a:t>&lt;container_id&gt;</a:t>
            </a:r>
            <a:endParaRPr lang="en-US" sz="1400" b="0" i="0" u="none" strike="noStrike">
              <a:solidFill>
                <a:srgbClr val="DCDFE4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8000"/>
              </a:lnSpc>
            </a:pPr>
            <a:r>
              <a:rPr lang="en-US" sz="1400" b="0" i="0" u="none" strike="noStrike">
                <a:solidFill>
                  <a:srgbClr val="61AFEF"/>
                </a:solidFill>
                <a:latin typeface="Roboto Mono"/>
                <a:ea typeface="Roboto Mono"/>
                <a:cs typeface="Roboto Mono"/>
                <a:sym typeface="Roboto Mono"/>
              </a:rPr>
              <a:t>docker rm</a:t>
            </a:r>
            <a:r>
              <a:rPr lang="en-US" sz="1400" b="0" i="0" u="none" strike="noStrike">
                <a:solidFill>
                  <a:srgbClr val="DCDFE4"/>
                </a:solidFill>
                <a:latin typeface="Roboto Mono"/>
                <a:ea typeface="Roboto Mono"/>
                <a:cs typeface="Roboto Mono"/>
                <a:sym typeface="Roboto Mono"/>
              </a:rPr>
              <a:t>&lt;container_id&gt;</a:t>
            </a:r>
            <a:endParaRPr lang="en-US" sz="1400" b="0" i="0" u="none" strike="noStrike">
              <a:solidFill>
                <a:srgbClr val="DCDFE4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6350000" y="1524000"/>
            <a:ext cx="5080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38100" dir="27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40500" y="1714500"/>
            <a:ext cx="381000" cy="381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7048500" y="15875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创建并运行容器 (run)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-d 后台运行，-p 端口映射，--name 指定名称</a:t>
            </a:r>
            <a:endParaRPr lang="en-US" sz="12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6350000" y="2413000"/>
            <a:ext cx="5080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38100" dir="27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40500" y="2603500"/>
            <a:ext cx="381000" cy="3810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7048500" y="24765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查看容器 (ps)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默认显示运行中容器，-a 参数显示所有容器状态</a:t>
            </a:r>
            <a:endParaRPr lang="en-US" sz="12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6350000" y="3302000"/>
            <a:ext cx="5080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38100" dir="27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40500" y="3492500"/>
            <a:ext cx="381000" cy="381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7048500" y="33655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启停容器 (start/stop)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使用容器ID或名称启动或停止服务</a:t>
            </a:r>
            <a:endParaRPr lang="en-US" sz="12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6350000" y="4191000"/>
            <a:ext cx="5080000" cy="7620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38100" dir="27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40500" y="4381500"/>
            <a:ext cx="381000" cy="381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048500" y="4254500"/>
            <a:ext cx="4191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删除容器 (rm)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彻底删除不再使用的容器，释放资源</a:t>
            </a:r>
            <a:endParaRPr lang="en-US" sz="12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762000" y="5588000"/>
            <a:ext cx="10668000" cy="50800"/>
          </a:xfrm>
          <a:prstGeom prst="roundRect">
            <a:avLst>
              <a:gd name="adj" fmla="val 0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9" name="AutoShape 19"/>
          <p:cNvSpPr/>
          <p:nvPr/>
        </p:nvSpPr>
        <p:spPr>
          <a:xfrm>
            <a:off x="762000" y="5778500"/>
            <a:ext cx="1066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提示：容器ID通常只需输入前几位唯一字符即可识别</a:t>
            </a:r>
            <a:endParaRPr lang="en-US" sz="11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Docker常用命令 - 其他操作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905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18542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进入运行中的容器内部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349500"/>
            <a:ext cx="4699000" cy="825500"/>
          </a:xfrm>
          <a:prstGeom prst="roundRect">
            <a:avLst>
              <a:gd name="adj" fmla="val 7692"/>
            </a:avLst>
          </a:prstGeom>
          <a:solidFill>
            <a:srgbClr val="F5F7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143000" y="2413000"/>
            <a:ext cx="444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exec -it &lt;container_id&gt; /bin/bash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223000" y="1651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77000" y="1905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6985000" y="18542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查看容器的日志输出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477000" y="2349500"/>
            <a:ext cx="4699000" cy="825500"/>
          </a:xfrm>
          <a:prstGeom prst="roundRect">
            <a:avLst>
              <a:gd name="adj" fmla="val 7692"/>
            </a:avLst>
          </a:prstGeom>
          <a:solidFill>
            <a:srgbClr val="F5F7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6604000" y="2413000"/>
            <a:ext cx="444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logs &lt;container_id&gt;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" y="3810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0640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524000" y="40132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将文件从主机复制到容器内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016000" y="4508500"/>
            <a:ext cx="4699000" cy="825500"/>
          </a:xfrm>
          <a:prstGeom prst="roundRect">
            <a:avLst>
              <a:gd name="adj" fmla="val 7692"/>
            </a:avLst>
          </a:prstGeom>
          <a:solidFill>
            <a:srgbClr val="F5F7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1143000" y="4572000"/>
            <a:ext cx="444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cp /host/path/file.txt &lt;container_id&gt;:/container/path/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223000" y="3810000"/>
            <a:ext cx="5207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7000" y="40640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985000" y="40132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将文件从容器复制到主机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477000" y="4508500"/>
            <a:ext cx="4699000" cy="825500"/>
          </a:xfrm>
          <a:prstGeom prst="roundRect">
            <a:avLst>
              <a:gd name="adj" fmla="val 7692"/>
            </a:avLst>
          </a:prstGeom>
          <a:solidFill>
            <a:srgbClr val="F5F7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2" name="AutoShape 22"/>
          <p:cNvSpPr/>
          <p:nvPr/>
        </p:nvSpPr>
        <p:spPr>
          <a:xfrm>
            <a:off x="6604000" y="4572000"/>
            <a:ext cx="4445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cp &lt;container_id&gt;:/container/path/file.txt /host/path/</a:t>
            </a:r>
            <a:endParaRPr lang="en-US" sz="11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805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项目打包与部署 - Dockerfile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3810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7780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97000" y="17272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Dockerfile 简介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286000"/>
            <a:ext cx="3302000" cy="228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203200" indent="-203200" algn="l">
              <a:lnSpc>
                <a:spcPct val="125000"/>
              </a:lnSpc>
              <a:buClr>
                <a:srgbClr val="757575"/>
              </a:buClr>
              <a:buChar char="•"/>
              <a:defRPr/>
            </a:pP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一个包含构建Docker镜像所需指令的文本文件。</a:t>
            </a:r>
            <a:endParaRPr lang="en-US" sz="1100"/>
          </a:p>
          <a:p>
            <a:pPr marL="203200" indent="-2032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通过</a:t>
            </a: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build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命令执行构建流程。</a:t>
            </a:r>
            <a:endParaRPr lang="en-US" sz="16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203200" indent="-2032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定义了从基础镜像到最终应用的完整步骤。</a:t>
            </a:r>
            <a:endParaRPr lang="en-US" sz="16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4953000" y="1524000"/>
            <a:ext cx="6223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07000" y="17780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5588000" y="1727200"/>
            <a:ext cx="533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 应用示例 (Dockerfile)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5207000" y="2286000"/>
            <a:ext cx="5715000" cy="2413000"/>
          </a:xfrm>
          <a:prstGeom prst="roundRect">
            <a:avLst>
              <a:gd name="adj" fmla="val 2631"/>
            </a:avLst>
          </a:prstGeom>
          <a:solidFill>
            <a:srgbClr val="F5F7FA">
              <a:alpha val="100000"/>
            </a:srgbClr>
          </a:solidFill>
          <a:ln w="12700" cap="flat" cmpd="sng">
            <a:solidFill>
              <a:srgbClr val="E0E0E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1" name="AutoShape 11"/>
          <p:cNvSpPr/>
          <p:nvPr/>
        </p:nvSpPr>
        <p:spPr>
          <a:xfrm>
            <a:off x="5334000" y="2413000"/>
            <a:ext cx="5461000" cy="215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300" b="0" i="0" u="none" strike="noStrike">
                <a:solidFill>
                  <a:srgbClr val="757575"/>
                </a:solidFill>
                <a:latin typeface="Roboto Mono"/>
                <a:ea typeface="Roboto Mono"/>
                <a:cs typeface="Roboto Mono"/>
                <a:sym typeface="Roboto Mono"/>
              </a:rPr>
              <a:t># 基于官方Python镜像构建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300" b="1" i="0" u="none" strike="noStrike">
                <a:solidFill>
                  <a:srgbClr val="0277BD"/>
                </a:solidFill>
                <a:latin typeface="Roboto Mono"/>
                <a:ea typeface="Roboto Mono"/>
                <a:cs typeface="Roboto Mono"/>
                <a:sym typeface="Roboto Mono"/>
              </a:rPr>
              <a:t>FROM</a:t>
            </a:r>
            <a:r>
              <a:rPr lang="en-US" sz="1300" b="0" i="0" u="none" strike="noStrike">
                <a:solidFill>
                  <a:srgbClr val="212121"/>
                </a:solidFill>
                <a:latin typeface="Roboto Mono"/>
                <a:ea typeface="Roboto Mono"/>
                <a:cs typeface="Roboto Mono"/>
                <a:sym typeface="Roboto Mono"/>
              </a:rPr>
              <a:t>python:3.9-slim</a:t>
            </a:r>
            <a:endParaRPr lang="en-US" sz="1300" b="0" i="0" u="none" strike="noStrike">
              <a:solidFill>
                <a:srgbClr val="21212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Roboto Mono"/>
                <a:ea typeface="Roboto Mono"/>
                <a:cs typeface="Roboto Mono"/>
                <a:sym typeface="Roboto Mono"/>
              </a:rPr>
              <a:t># 设置工作目录</a:t>
            </a:r>
            <a:endParaRPr lang="en-US" sz="1300" b="0" i="0" u="none" strike="noStrike">
              <a:solidFill>
                <a:srgbClr val="757575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1" i="0" u="none" strike="noStrike">
                <a:solidFill>
                  <a:srgbClr val="0277BD"/>
                </a:solidFill>
                <a:latin typeface="Roboto Mono"/>
                <a:ea typeface="Roboto Mono"/>
                <a:cs typeface="Roboto Mono"/>
                <a:sym typeface="Roboto Mono"/>
              </a:rPr>
              <a:t>WORKDIR</a:t>
            </a:r>
            <a:r>
              <a:rPr lang="en-US" sz="1300" b="0" i="0" u="none" strike="noStrike">
                <a:solidFill>
                  <a:srgbClr val="212121"/>
                </a:solidFill>
                <a:latin typeface="Roboto Mono"/>
                <a:ea typeface="Roboto Mono"/>
                <a:cs typeface="Roboto Mono"/>
                <a:sym typeface="Roboto Mono"/>
              </a:rPr>
              <a:t>/app</a:t>
            </a:r>
            <a:endParaRPr lang="en-US" sz="1300" b="0" i="0" u="none" strike="noStrike">
              <a:solidFill>
                <a:srgbClr val="21212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Roboto Mono"/>
                <a:ea typeface="Roboto Mono"/>
                <a:cs typeface="Roboto Mono"/>
                <a:sym typeface="Roboto Mono"/>
              </a:rPr>
              <a:t># 复制依赖并安装</a:t>
            </a:r>
            <a:endParaRPr lang="en-US" sz="1300" b="0" i="0" u="none" strike="noStrike">
              <a:solidFill>
                <a:srgbClr val="757575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1" i="0" u="none" strike="noStrike">
                <a:solidFill>
                  <a:srgbClr val="0277BD"/>
                </a:solidFill>
                <a:latin typeface="Roboto Mono"/>
                <a:ea typeface="Roboto Mono"/>
                <a:cs typeface="Roboto Mono"/>
                <a:sym typeface="Roboto Mono"/>
              </a:rPr>
              <a:t>COPY</a:t>
            </a:r>
            <a:r>
              <a:rPr lang="en-US" sz="1300" b="0" i="0" u="none" strike="noStrike">
                <a:solidFill>
                  <a:srgbClr val="212121"/>
                </a:solidFill>
                <a:latin typeface="Roboto Mono"/>
                <a:ea typeface="Roboto Mono"/>
                <a:cs typeface="Roboto Mono"/>
                <a:sym typeface="Roboto Mono"/>
              </a:rPr>
              <a:t>requirements.txt .</a:t>
            </a:r>
            <a:r>
              <a:rPr lang="en-US" sz="1300" b="1" i="0" u="none" strike="noStrike">
                <a:solidFill>
                  <a:srgbClr val="0277BD"/>
                </a:solidFill>
                <a:latin typeface="Roboto Mono"/>
                <a:ea typeface="Roboto Mono"/>
                <a:cs typeface="Roboto Mono"/>
                <a:sym typeface="Roboto Mono"/>
              </a:rPr>
              <a:t>RUN</a:t>
            </a:r>
            <a:r>
              <a:rPr lang="en-US" sz="1300" b="0" i="0" u="none" strike="noStrike">
                <a:solidFill>
                  <a:srgbClr val="212121"/>
                </a:solidFill>
                <a:latin typeface="Roboto Mono"/>
                <a:ea typeface="Roboto Mono"/>
                <a:cs typeface="Roboto Mono"/>
                <a:sym typeface="Roboto Mono"/>
              </a:rPr>
              <a:t>pip install -r requirements.txt</a:t>
            </a:r>
            <a:endParaRPr lang="en-US" sz="1300" b="0" i="0" u="none" strike="noStrike">
              <a:solidFill>
                <a:srgbClr val="21212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Roboto Mono"/>
                <a:ea typeface="Roboto Mono"/>
                <a:cs typeface="Roboto Mono"/>
                <a:sym typeface="Roboto Mono"/>
              </a:rPr>
              <a:t># 复制代码并暴露端口</a:t>
            </a:r>
            <a:endParaRPr lang="en-US" sz="1300" b="0" i="0" u="none" strike="noStrike">
              <a:solidFill>
                <a:srgbClr val="757575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1" i="0" u="none" strike="noStrike">
                <a:solidFill>
                  <a:srgbClr val="0277BD"/>
                </a:solidFill>
                <a:latin typeface="Roboto Mono"/>
                <a:ea typeface="Roboto Mono"/>
                <a:cs typeface="Roboto Mono"/>
                <a:sym typeface="Roboto Mono"/>
              </a:rPr>
              <a:t>COPY</a:t>
            </a:r>
            <a:r>
              <a:rPr lang="en-US" sz="1300" b="0" i="0" u="none" strike="noStrike">
                <a:solidFill>
                  <a:srgbClr val="212121"/>
                </a:solidFill>
                <a:latin typeface="Roboto Mono"/>
                <a:ea typeface="Roboto Mono"/>
                <a:cs typeface="Roboto Mono"/>
                <a:sym typeface="Roboto Mono"/>
              </a:rPr>
              <a:t>. .</a:t>
            </a:r>
            <a:r>
              <a:rPr lang="en-US" sz="1300" b="1" i="0" u="none" strike="noStrike">
                <a:solidFill>
                  <a:srgbClr val="0277BD"/>
                </a:solidFill>
                <a:latin typeface="Roboto Mono"/>
                <a:ea typeface="Roboto Mono"/>
                <a:cs typeface="Roboto Mono"/>
                <a:sym typeface="Roboto Mono"/>
              </a:rPr>
              <a:t>EXPOSE</a:t>
            </a:r>
            <a:r>
              <a:rPr lang="en-US" sz="1300" b="0" i="0" u="none" strike="noStrike">
                <a:solidFill>
                  <a:srgbClr val="212121"/>
                </a:solidFill>
                <a:latin typeface="Roboto Mono"/>
                <a:ea typeface="Roboto Mono"/>
                <a:cs typeface="Roboto Mono"/>
                <a:sym typeface="Roboto Mono"/>
              </a:rPr>
              <a:t>8088</a:t>
            </a:r>
            <a:endParaRPr lang="en-US" sz="1300" b="0" i="0" u="none" strike="noStrike">
              <a:solidFill>
                <a:srgbClr val="21212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757575"/>
                </a:solidFill>
                <a:latin typeface="Roboto Mono"/>
                <a:ea typeface="Roboto Mono"/>
                <a:cs typeface="Roboto Mono"/>
                <a:sym typeface="Roboto Mono"/>
              </a:rPr>
              <a:t># 启动命令</a:t>
            </a:r>
            <a:endParaRPr lang="en-US" sz="1300" b="0" i="0" u="none" strike="noStrike">
              <a:solidFill>
                <a:srgbClr val="757575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300" b="1" i="0" u="none" strike="noStrike">
                <a:solidFill>
                  <a:srgbClr val="0277BD"/>
                </a:solidFill>
                <a:latin typeface="Roboto Mono"/>
                <a:ea typeface="Roboto Mono"/>
                <a:cs typeface="Roboto Mono"/>
                <a:sym typeface="Roboto Mono"/>
              </a:rPr>
              <a:t>CMD</a:t>
            </a:r>
            <a:r>
              <a:rPr lang="en-US" sz="1300" b="0" i="0" u="none" strike="noStrike">
                <a:solidFill>
                  <a:srgbClr val="212121"/>
                </a:solidFill>
                <a:latin typeface="Roboto Mono"/>
                <a:ea typeface="Roboto Mono"/>
                <a:cs typeface="Roboto Mono"/>
                <a:sym typeface="Roboto Mono"/>
              </a:rPr>
              <a:t>["python", "app.py"]</a:t>
            </a:r>
            <a:endParaRPr lang="en-US" sz="1300" b="0" i="0" u="none" strike="noStrike">
              <a:solidFill>
                <a:srgbClr val="21212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2" name="AutoShape 12"/>
          <p:cNvSpPr/>
          <p:nvPr/>
        </p:nvSpPr>
        <p:spPr>
          <a:xfrm>
            <a:off x="762000" y="5461000"/>
            <a:ext cx="10414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56515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1460500" y="5588000"/>
            <a:ext cx="952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核心要点：</a:t>
            </a:r>
            <a:r>
              <a:rPr lang="en-US" sz="1600" b="0" i="0" u="none" strike="noStrike">
                <a:solidFill>
                  <a:srgbClr val="424242"/>
                </a:solidFill>
                <a:latin typeface="Noto Sans SC"/>
                <a:ea typeface="Noto Sans SC"/>
                <a:cs typeface="Noto Sans SC"/>
                <a:sym typeface="Noto Sans SC"/>
              </a:rPr>
              <a:t>Dockerfile 是应用容器化的蓝图，标准化的构建过程确保了环境的一致性和可重复性。</a:t>
            </a:r>
            <a:endParaRPr lang="en-US" sz="11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80518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项目打包与部署 - 构建与运行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5080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8415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97000" y="18034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构建镜像与运行容器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286000"/>
            <a:ext cx="4572000" cy="1905000"/>
          </a:xfrm>
          <a:prstGeom prst="roundRect">
            <a:avLst>
              <a:gd name="adj" fmla="val 3333"/>
            </a:avLst>
          </a:prstGeom>
          <a:solidFill>
            <a:srgbClr val="1E1E1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1143000" y="2349500"/>
            <a:ext cx="4318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969696"/>
                </a:solidFill>
                <a:latin typeface="Roboto Mono"/>
                <a:ea typeface="Roboto Mono"/>
                <a:cs typeface="Roboto Mono"/>
                <a:sym typeface="Roboto Mono"/>
              </a:rPr>
              <a:t># 在Dockerfile目录执行构建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docker build -t my-llm-app:v1 .</a:t>
            </a:r>
            <a:endParaRPr lang="en-US" sz="1200" b="0" i="0" u="none" strike="noStrike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69696"/>
                </a:solidFill>
                <a:latin typeface="Roboto Mono"/>
                <a:ea typeface="Roboto Mono"/>
                <a:cs typeface="Roboto Mono"/>
                <a:sym typeface="Roboto Mono"/>
              </a:rPr>
              <a:t># 运行容器，映射端口8088</a:t>
            </a:r>
            <a:endParaRPr lang="en-US" sz="1200" b="0" i="0" u="none" strike="noStrike">
              <a:solidFill>
                <a:srgbClr val="969696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docker run -d -p 8088:8088 \</a:t>
            </a:r>
            <a:endParaRPr lang="en-US" sz="1200" b="0" i="0" u="none" strike="noStrike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--name my-llm-container my-llm-app:v1</a:t>
            </a:r>
            <a:endParaRPr lang="en-US" sz="1200" b="0" i="0" u="none" strike="noStrike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1016000" y="43180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通过</a:t>
            </a:r>
            <a:r>
              <a:rPr lang="en-US" sz="14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build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构建镜像，再使用</a:t>
            </a:r>
            <a:r>
              <a:rPr lang="en-US" sz="14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run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启动容器，实现应用的快速部署与隔离。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350000" y="1651000"/>
            <a:ext cx="5080000" cy="3556000"/>
          </a:xfrm>
          <a:prstGeom prst="roundRect">
            <a:avLst>
              <a:gd name="adj" fmla="val 3571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04000" y="18415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6985000" y="18034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验证部署成功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604000" y="2286000"/>
            <a:ext cx="4572000" cy="1905000"/>
          </a:xfrm>
          <a:prstGeom prst="roundRect">
            <a:avLst>
              <a:gd name="adj" fmla="val 3333"/>
            </a:avLst>
          </a:prstGeom>
          <a:solidFill>
            <a:srgbClr val="1E1E1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6731000" y="2349500"/>
            <a:ext cx="431800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969696"/>
                </a:solidFill>
                <a:latin typeface="Roboto Mono"/>
                <a:ea typeface="Roboto Mono"/>
                <a:cs typeface="Roboto Mono"/>
                <a:sym typeface="Roboto Mono"/>
              </a:rPr>
              <a:t># 查看容器状态</a:t>
            </a:r>
            <a:endParaRPr lang="en-US" sz="1100"/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docker ps</a:t>
            </a:r>
            <a:endParaRPr lang="en-US" sz="1200" b="0" i="0" u="none" strike="noStrike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69696"/>
                </a:solidFill>
                <a:latin typeface="Roboto Mono"/>
                <a:ea typeface="Roboto Mono"/>
                <a:cs typeface="Roboto Mono"/>
                <a:sym typeface="Roboto Mono"/>
              </a:rPr>
              <a:t># 检查服务健康状态</a:t>
            </a:r>
            <a:endParaRPr lang="en-US" sz="1200" b="0" i="0" u="none" strike="noStrike">
              <a:solidFill>
                <a:srgbClr val="969696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FFFFFF"/>
                </a:solidFill>
                <a:latin typeface="Roboto Mono"/>
                <a:ea typeface="Roboto Mono"/>
                <a:cs typeface="Roboto Mono"/>
                <a:sym typeface="Roboto Mono"/>
              </a:rPr>
              <a:t>curl http://localhost:8088/health</a:t>
            </a:r>
            <a:endParaRPr lang="en-US" sz="1200" b="0" i="0" u="none" strike="noStrike">
              <a:solidFill>
                <a:srgbClr val="FFFFF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969696"/>
                </a:solidFill>
                <a:latin typeface="Roboto Mono"/>
                <a:ea typeface="Roboto Mono"/>
                <a:cs typeface="Roboto Mono"/>
                <a:sym typeface="Roboto Mono"/>
              </a:rPr>
              <a:t># 或在浏览器访问上述地址</a:t>
            </a:r>
            <a:endParaRPr lang="en-US" sz="1200" b="0" i="0" u="none" strike="noStrike">
              <a:solidFill>
                <a:srgbClr val="969696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604000" y="43180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部署完成后，通过</a:t>
            </a:r>
            <a:r>
              <a:rPr lang="en-US" sz="14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ps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确认容器运行状态，并通过</a:t>
            </a:r>
            <a:r>
              <a:rPr lang="en-US" sz="14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curl</a:t>
            </a: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或浏览器访问健康检查接口验证服务可用性。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546100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1016000" y="5588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💡 关键提示：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确保Dockerfile文件正确无误，且构建上下文包含了所有必要的依赖文件。</a:t>
            </a:r>
            <a:endParaRPr lang="en-US" sz="11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3860800" y="508000"/>
            <a:ext cx="4470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2.3 自然语言处理概述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651000" y="1143000"/>
            <a:ext cx="889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了解自然语言处理的基本概念、核心任务、关键技术和典型应用，为大语言模型的开发储备必要的理论知识。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2476500" cy="2540000"/>
          </a:xfrm>
          <a:prstGeom prst="roundRect">
            <a:avLst>
              <a:gd name="adj" fmla="val 51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76400" y="2286000"/>
            <a:ext cx="635000" cy="6350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762000" y="30480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基本概念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3492500"/>
            <a:ext cx="2222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让计算机理解和生成人类语言，实现人机自然交互的技术科学。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492500" y="2032000"/>
            <a:ext cx="2476500" cy="2540000"/>
          </a:xfrm>
          <a:prstGeom prst="roundRect">
            <a:avLst>
              <a:gd name="adj" fmla="val 51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06900" y="2286000"/>
            <a:ext cx="635000" cy="6350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3492500" y="30480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核心任务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619500" y="3492500"/>
            <a:ext cx="2222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涵盖词法分析、句法分析、语义理解、机器翻译、文本生成等关键环节。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223000" y="2032000"/>
            <a:ext cx="2476500" cy="2540000"/>
          </a:xfrm>
          <a:prstGeom prst="roundRect">
            <a:avLst>
              <a:gd name="adj" fmla="val 51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37400" y="2286000"/>
            <a:ext cx="635000" cy="6350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6223000" y="30480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关键技术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350000" y="3492500"/>
            <a:ext cx="2222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从传统统计方法到现代深度学习（如Transformer、BERT）的演进。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8953500" y="2032000"/>
            <a:ext cx="2476500" cy="2540000"/>
          </a:xfrm>
          <a:prstGeom prst="roundRect">
            <a:avLst>
              <a:gd name="adj" fmla="val 5128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67900" y="2286000"/>
            <a:ext cx="635000" cy="6350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953500" y="30480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典型应用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9080500" y="3492500"/>
            <a:ext cx="2222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智能客服、语音助手、机器翻译、情感分析、智能写作等广泛场景。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62000" y="508000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1016000" y="5207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NLP 是人工智能的皇冠，而大语言模型（LLM）是当前皇冠上最璀璨的明珠。</a:t>
            </a:r>
            <a:endParaRPr lang="en-US" sz="11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5029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NLP定义与发展历程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10668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90000"/>
            </a:srgbClr>
          </a:solidFill>
          <a:ln cap="flat" cmpd="sng">
            <a:solidFill>
              <a:srgbClr val="E6CFCF">
                <a:alpha val="90000"/>
              </a:srgbClr>
            </a:solidFill>
            <a:prstDash val="solid"/>
            <a:round/>
          </a:ln>
          <a:effectLst>
            <a:outerShdw blurRad="127000" dist="50800" dir="2700000" algn="tl" rotWithShape="0">
              <a:srgbClr val="0277BD">
                <a:alpha val="10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6510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651000" y="1524000"/>
            <a:ext cx="9525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自然语言处理 (NLP)：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人工智能的重要分支，致力于研究如何让计算机理解、处理和生成人类语言。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2794000"/>
            <a:ext cx="3378200" cy="2540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635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70100" y="3048000"/>
            <a:ext cx="762000" cy="762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889000" y="3937000"/>
            <a:ext cx="31242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规则方法阶段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889000" y="4381500"/>
            <a:ext cx="3124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基于人工编写的语法规则和词典，构建早期的机器翻译系统。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394200" y="2794000"/>
            <a:ext cx="3378200" cy="2540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635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02300" y="3048000"/>
            <a:ext cx="762000" cy="7620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4521200" y="3937000"/>
            <a:ext cx="31242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统计方法阶段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521200" y="4381500"/>
            <a:ext cx="3124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基于大规模语料库的统计模型，如隐马尔可夫模型(HMM)和条件随机场(CRF)。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026400" y="2794000"/>
            <a:ext cx="3378200" cy="2540000"/>
          </a:xfrm>
          <a:prstGeom prst="roundRect">
            <a:avLst>
              <a:gd name="adj" fmla="val 500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90500" dist="63500" dir="27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334500" y="3048000"/>
            <a:ext cx="762000" cy="762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153400" y="3937000"/>
            <a:ext cx="31242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深度学习阶段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153400" y="4381500"/>
            <a:ext cx="31242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基于神经网络模型，Transformer架构的出现带来了革命性突破。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62000" y="5715000"/>
            <a:ext cx="10668000" cy="50800"/>
          </a:xfrm>
          <a:prstGeom prst="roundRect">
            <a:avLst>
              <a:gd name="adj" fmla="val 0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4521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NLP核心任务 (一)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95500" y="1905000"/>
            <a:ext cx="635000" cy="635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889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分词 (Word Segmentation)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31750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将连续的文本切分为有意义的词汇单元，这是中文NLP处理中至关重要的基础步骤。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445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8500" y="1905000"/>
            <a:ext cx="635000" cy="635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572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词性标注 (POS Tagging)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35500" y="31750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为每个词汇标注其语法属性，如名词、动词、形容词等，帮助计算机理解句子结构。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61500" y="1905000"/>
            <a:ext cx="635000" cy="635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8255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命名实体识别 (NER)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318500" y="31750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识别文本中具有特定意义的实体，如人名、地名、组织机构名、时间日期等关键信息。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2500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1016000" y="52705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核心价值：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这些基础任务为后续的情感分析、机器翻译、知识图谱构建等高级应用提供了结构化的底层数据支持。</a:t>
            </a:r>
            <a:endParaRPr lang="en-US" sz="11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40259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NLP核心任务 (二)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7780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95500" y="2032000"/>
            <a:ext cx="635000" cy="635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889000" y="2794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句法分析 (Parsing)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3238500"/>
            <a:ext cx="2921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分析句子的语法结构，建立句法树，理解词语之间的依存关系。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445000" y="17780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8500" y="2032000"/>
            <a:ext cx="635000" cy="635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572000" y="2794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文本分类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35500" y="3238500"/>
            <a:ext cx="2921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将文本划分到预定义的类别中，如情感分析、垃圾邮件识别。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0" y="1778000"/>
            <a:ext cx="3302000" cy="2794000"/>
          </a:xfrm>
          <a:prstGeom prst="roundRect">
            <a:avLst>
              <a:gd name="adj" fmla="val 454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61500" y="2032000"/>
            <a:ext cx="635000" cy="635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8255000" y="2794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情感分析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318500" y="3238500"/>
            <a:ext cx="2921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识别文本所表达的情感倾向，如积极、消极、中性。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5080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0277BD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762000" y="5334000"/>
            <a:ext cx="1066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高级任务建立在基础任务之上，旨在赋予机器更深度的理解与判断能力。</a:t>
            </a:r>
            <a:endParaRPr lang="en-US" sz="11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457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NLP核心任务 (三)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95500" y="1905000"/>
            <a:ext cx="635000" cy="635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889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机器翻译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89000" y="3111500"/>
            <a:ext cx="304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将一种语言的文本自动翻译成另一种语言，打破语言障碍。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445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8500" y="1905000"/>
            <a:ext cx="635000" cy="635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572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问答系统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572000" y="3111500"/>
            <a:ext cx="304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让计算机理解用户提出的问题，并从知识库中检索给出准确答案。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61500" y="1905000"/>
            <a:ext cx="635000" cy="635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8255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文本生成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255000" y="3111500"/>
            <a:ext cx="3048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根据给定提示生成符合语法和语义的自然语言文本，是大语言模型的核心能力。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508000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1016000" y="5207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核心价值：</a:t>
            </a: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这些任务更接近人类的语言能力，也是当前大语言模型表现最为出色的领域。</a:t>
            </a:r>
            <a:endParaRPr lang="en-US" sz="11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6032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NLP关键技术 - 词向量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080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1016000" y="17145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词向量 (Word Embedding)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2159000"/>
            <a:ext cx="4572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90500" indent="-190500" algn="l">
              <a:lnSpc>
                <a:spcPct val="125000"/>
              </a:lnSpc>
              <a:buClr>
                <a:srgbClr val="757575"/>
              </a:buClr>
              <a:buChar char="•"/>
              <a:defRPr/>
            </a:pPr>
            <a:r>
              <a:rPr lang="en-US" sz="15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将离散的词汇映射到低维连续的实数向量空间中</a:t>
            </a:r>
            <a:endParaRPr lang="en-US" sz="1100"/>
          </a:p>
          <a:p>
            <a:pPr marL="190500" indent="-1905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5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语义相似的词汇在向量空间中距离更近</a:t>
            </a:r>
            <a:endParaRPr lang="en-US" sz="15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190500" indent="-1905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5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是现代NLP模型的基础，赋予机器理解语义的能力</a:t>
            </a:r>
            <a:endParaRPr lang="en-US" sz="15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6350000" y="1524000"/>
            <a:ext cx="5080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6604000" y="17145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经典词向量模型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604000" y="2159000"/>
            <a:ext cx="4572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90500" indent="-190500" algn="l">
              <a:lnSpc>
                <a:spcPct val="125000"/>
              </a:lnSpc>
              <a:buClr>
                <a:srgbClr val="757575"/>
              </a:buClr>
              <a:buChar char="•"/>
              <a:defRPr/>
            </a:pPr>
            <a:r>
              <a:rPr lang="en-US" sz="15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Word2Vec：</a:t>
            </a:r>
            <a:r>
              <a:rPr lang="en-US" sz="15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通过预测上下文或中心词来学习词向量</a:t>
            </a:r>
            <a:endParaRPr lang="en-US" sz="1100"/>
          </a:p>
          <a:p>
            <a:pPr marL="190500" indent="-1905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5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GloVe：</a:t>
            </a:r>
            <a:r>
              <a:rPr lang="en-US" sz="15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基于全局词频统计的词向量模型</a:t>
            </a:r>
            <a:endParaRPr lang="en-US" sz="15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190500" indent="-190500" algn="l">
              <a:lnSpc>
                <a:spcPct val="125000"/>
              </a:lnSpc>
              <a:buClr>
                <a:srgbClr val="757575"/>
              </a:buClr>
              <a:buChar char="•"/>
            </a:pPr>
            <a:r>
              <a:rPr lang="en-US" sz="1500" b="1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FastText：</a:t>
            </a:r>
            <a:r>
              <a:rPr lang="en-US" sz="15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利用字符n-gram处理生僻词和形态变化</a:t>
            </a:r>
            <a:endParaRPr lang="en-US" sz="15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762000" y="4064000"/>
            <a:ext cx="10668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10" name="AutoShape 10"/>
          <p:cNvSpPr/>
          <p:nvPr/>
        </p:nvSpPr>
        <p:spPr>
          <a:xfrm>
            <a:off x="1016000" y="4191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词向量空间示意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016000" y="4699000"/>
            <a:ext cx="3048000" cy="1016000"/>
          </a:xfrm>
          <a:prstGeom prst="roundRect">
            <a:avLst>
              <a:gd name="adj" fmla="val 12500"/>
            </a:avLst>
          </a:prstGeom>
          <a:solidFill>
            <a:srgbClr val="E1F5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6500" y="4953000"/>
            <a:ext cx="508000" cy="508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841500" y="4826000"/>
            <a:ext cx="203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Word2Vec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上下文预测机制</a:t>
            </a:r>
            <a:endParaRPr lang="en-US" sz="12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4572000" y="4699000"/>
            <a:ext cx="3048000" cy="1016000"/>
          </a:xfrm>
          <a:prstGeom prst="roundRect">
            <a:avLst>
              <a:gd name="adj" fmla="val 12500"/>
            </a:avLst>
          </a:prstGeom>
          <a:solidFill>
            <a:srgbClr val="E1F5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62500" y="4953000"/>
            <a:ext cx="508000" cy="5080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5397500" y="4826000"/>
            <a:ext cx="203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GloVe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全局统计矩阵分解</a:t>
            </a:r>
            <a:endParaRPr lang="en-US" sz="12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8128000" y="4699000"/>
            <a:ext cx="3048000" cy="1016000"/>
          </a:xfrm>
          <a:prstGeom prst="roundRect">
            <a:avLst>
              <a:gd name="adj" fmla="val 12500"/>
            </a:avLst>
          </a:prstGeom>
          <a:solidFill>
            <a:srgbClr val="E1F5FE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18500" y="4953000"/>
            <a:ext cx="508000" cy="508000"/>
          </a:xfrm>
          <a:prstGeom prst="rect">
            <a:avLst/>
          </a:prstGeom>
        </p:spPr>
      </p:pic>
      <p:sp>
        <p:nvSpPr>
          <p:cNvPr id="19" name="AutoShape 19"/>
          <p:cNvSpPr/>
          <p:nvPr/>
        </p:nvSpPr>
        <p:spPr>
          <a:xfrm>
            <a:off x="8953500" y="4826000"/>
            <a:ext cx="203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FastText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字符级n-gram特征</a:t>
            </a:r>
            <a:endParaRPr lang="en-US" sz="1200" b="0" i="0" u="none" strike="noStrike">
              <a:solidFill>
                <a:srgbClr val="757575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75438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NLP关键技术 - 深度学习模型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95500" y="1905000"/>
            <a:ext cx="635000" cy="635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889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卷积神经网络 (CNN)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31750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擅长捕捉局部特征，通过卷积层提取文本的关键信息，常用于文本分类、情感分析等任务。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445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8500" y="1905000"/>
            <a:ext cx="635000" cy="635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572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循环神经网络 (RNN)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35500" y="31750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擅长处理序列数据，能捕捉上下文信息（如LSTM/GRU），常用于机器翻译、文本生成等任务。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3048000"/>
          </a:xfrm>
          <a:prstGeom prst="roundRect">
            <a:avLst>
              <a:gd name="adj" fmla="val 41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61500" y="1905000"/>
            <a:ext cx="635000" cy="635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8255000" y="2667000"/>
            <a:ext cx="304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Transformer架构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318500" y="3175000"/>
            <a:ext cx="2921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just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基于自注意力机制，能并行处理序列并捕捉长距离依赖，是BERT、GPT等大模型的核心架构。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5080000"/>
            <a:ext cx="10668000" cy="762000"/>
          </a:xfrm>
          <a:prstGeom prst="roundRect">
            <a:avLst>
              <a:gd name="adj" fmla="val 16666"/>
            </a:avLst>
          </a:prstGeom>
          <a:solidFill>
            <a:srgbClr val="0277BD">
              <a:alpha val="10000"/>
            </a:srgbClr>
          </a:solidFill>
          <a:ln w="12700" cap="flat" cmpd="sng">
            <a:solidFill>
              <a:srgbClr val="0277B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5270500"/>
            <a:ext cx="381000" cy="381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5181600"/>
            <a:ext cx="9652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核心洞察：</a:t>
            </a:r>
            <a:r>
              <a:rPr lang="en-US" sz="1600" b="0" i="0" u="none" strike="noStrike">
                <a:solidFill>
                  <a:srgbClr val="424242"/>
                </a:solidFill>
                <a:latin typeface="Noto Sans SC"/>
                <a:ea typeface="Noto Sans SC"/>
                <a:cs typeface="Noto Sans SC"/>
                <a:sym typeface="Noto Sans SC"/>
              </a:rPr>
              <a:t>深度学习模型的演进（CNN → RNN → Transformer）极大地推动了NLP技术的发展，Transformer的出现标志着大语言模型时代的到来。</a:t>
            </a:r>
            <a:endParaRPr lang="en-US" sz="11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30226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NLP应用场景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8415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18034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智能客服与聊天机器人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3495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自动回答用户问题，提供24/7全天候服务，提升效率与用户体验。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445000" y="1651000"/>
            <a:ext cx="3302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9000" y="18415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5207000" y="18034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机器翻译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99000" y="23495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打破语言壁垒，实现多语言实时翻译，促进全球信息无障碍交流。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0" y="1651000"/>
            <a:ext cx="3302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0" y="18415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8890000" y="18034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信息检索与推荐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382000" y="23495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深度理解用户查询意图，提供精准的搜索结果和个性化内容推荐。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3810000"/>
            <a:ext cx="3302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4000500"/>
            <a:ext cx="406400" cy="4064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39624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内容创作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1016000" y="45085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自动生成新闻、文案、代码等各类文本，辅助提升内容生产效率。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4445000" y="3810000"/>
            <a:ext cx="3302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699000" y="4000500"/>
            <a:ext cx="406400" cy="4064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5207000" y="39624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情感分析与舆情监控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4699000" y="45085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分析社交媒体情感倾向，实时监控品牌声誉与公众舆论动态。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128000" y="3810000"/>
            <a:ext cx="3302000" cy="1905000"/>
          </a:xfrm>
          <a:prstGeom prst="roundRect">
            <a:avLst>
              <a:gd name="adj" fmla="val 666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82000" y="4000500"/>
            <a:ext cx="406400" cy="4064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8890000" y="39624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智能写作助手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8382000" y="45085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辅助用户进行文本创作，提供语法检查、润色及内容生成建议。</a:t>
            </a:r>
            <a:endParaRPr lang="en-US" sz="11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35179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章节回顾与总结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3302000" cy="2032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778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17272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Python开发基础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286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掌握了Python编程、常用库及接口设计，具备了开发大模型应用的工程能力。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445000" y="1524000"/>
            <a:ext cx="3302000" cy="2032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99000" y="17780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5207000" y="17272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Docker容器技术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4699000" y="2286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学会了环境搭建、镜像与容器管理，掌握了项目打包部署的关键技能。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8128000" y="1524000"/>
            <a:ext cx="3302000" cy="2032000"/>
          </a:xfrm>
          <a:prstGeom prst="roundRect">
            <a:avLst>
              <a:gd name="adj" fmla="val 625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2700000" algn="tl" rotWithShape="0">
              <a:srgbClr val="0277BD">
                <a:alpha val="1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82000" y="17780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8890000" y="1727200"/>
            <a:ext cx="228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NLP基础知识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382000" y="2286000"/>
            <a:ext cx="2794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了解了NLP的定义、任务、关键技术和应用，为理解大语言模型的工作原理奠定了理论基础。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3937000"/>
            <a:ext cx="10668000" cy="1651000"/>
          </a:xfrm>
          <a:prstGeom prst="roundRect">
            <a:avLst>
              <a:gd name="adj" fmla="val 7692"/>
            </a:avLst>
          </a:prstGeom>
          <a:solidFill>
            <a:srgbClr val="0277BD">
              <a:alpha val="8000"/>
            </a:srgbClr>
          </a:solidFill>
          <a:ln w="12700" cap="flat" cmpd="sng">
            <a:solidFill>
              <a:srgbClr val="0277BD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16000" y="4191000"/>
            <a:ext cx="355600" cy="355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524000" y="4140200"/>
            <a:ext cx="965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本章总结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1016000" y="46355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500" b="0" i="0" u="none" strike="noStrike">
                <a:solidFill>
                  <a:srgbClr val="424242"/>
                </a:solidFill>
                <a:latin typeface="Noto Sans SC"/>
                <a:ea typeface="Noto Sans SC"/>
                <a:cs typeface="Noto Sans SC"/>
                <a:sym typeface="Noto Sans SC"/>
              </a:rPr>
              <a:t>本章内容是大语言模型开发的基石，涵盖了从编程实现、工程部署到理论基础的全链路知识。希望大家能够融会贯通，为后续的深入学习做好准备。</a:t>
            </a:r>
            <a:endParaRPr lang="en-US" sz="11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635000" y="-635000"/>
            <a:ext cx="3810000" cy="3810000"/>
          </a:xfrm>
          <a:prstGeom prst="ellipse">
            <a:avLst/>
          </a:prstGeom>
          <a:solidFill>
            <a:srgbClr val="0277BD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287000" y="4953000"/>
            <a:ext cx="2540000" cy="2540000"/>
          </a:xfrm>
          <a:prstGeom prst="ellipse">
            <a:avLst/>
          </a:prstGeom>
          <a:solidFill>
            <a:srgbClr val="0277BD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89600" y="1397000"/>
            <a:ext cx="812800" cy="812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4419600" y="2286000"/>
            <a:ext cx="33528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0" i="0" u="none" strike="noStrike">
                <a:solidFill>
                  <a:srgbClr val="0277BD"/>
                </a:solidFill>
                <a:latin typeface="Arial Black" panose="020B0A04020102020204"/>
                <a:ea typeface="Arial Black" panose="020B0A04020102020204"/>
                <a:cs typeface="Arial Black" panose="020B0A04020102020204"/>
                <a:sym typeface="Arial Black" panose="020B0A04020102020204"/>
              </a:rPr>
              <a:t>Q &amp; A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5207000" y="3492500"/>
            <a:ext cx="177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答疑环节</a:t>
            </a:r>
            <a:endParaRPr lang="en-US" sz="1100"/>
          </a:p>
        </p:txBody>
      </p:sp>
      <p:cxnSp>
        <p:nvCxnSpPr>
          <p:cNvPr id="7" name="Connector 7"/>
          <p:cNvCxnSpPr/>
          <p:nvPr/>
        </p:nvCxnSpPr>
        <p:spPr>
          <a:xfrm rot="-57290">
            <a:off x="5715053" y="4184650"/>
            <a:ext cx="76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277BD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8" name="AutoShape 8"/>
          <p:cNvSpPr/>
          <p:nvPr/>
        </p:nvSpPr>
        <p:spPr>
          <a:xfrm>
            <a:off x="2286000" y="44450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欢迎提出您的问题，我们将共同探讨与解答</a:t>
            </a:r>
            <a:endParaRPr lang="en-US" sz="11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F7F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91200" y="1016000"/>
            <a:ext cx="609600" cy="6096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3492500" y="1905000"/>
            <a:ext cx="5207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200" b="1" i="0" u="none" strike="noStrike">
                <a:solidFill>
                  <a:srgbClr val="0277BD"/>
                </a:solidFill>
                <a:latin typeface="Noto Sans SC"/>
                <a:ea typeface="Noto Sans SC"/>
                <a:cs typeface="Noto Sans SC"/>
                <a:sym typeface="Noto Sans SC"/>
              </a:rPr>
              <a:t>感谢观看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492500" y="2667000"/>
            <a:ext cx="520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4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Thanks for Watching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588000" y="3302000"/>
            <a:ext cx="1016000" cy="50800"/>
          </a:xfrm>
          <a:prstGeom prst="roundRect">
            <a:avLst>
              <a:gd name="adj" fmla="val 0"/>
            </a:avLst>
          </a:prstGeom>
          <a:solidFill>
            <a:srgbClr val="0277BD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3556000" y="3810000"/>
            <a:ext cx="5080000" cy="1016000"/>
          </a:xfrm>
          <a:prstGeom prst="roundRect">
            <a:avLst>
              <a:gd name="adj" fmla="val 12500"/>
            </a:avLst>
          </a:prstGeom>
          <a:solidFill>
            <a:srgbClr val="FFFFFF">
              <a:alpha val="60000"/>
            </a:srgbClr>
          </a:solidFill>
          <a:ln w="12700" cap="flat" cmpd="sng">
            <a:solidFill>
              <a:srgbClr val="0277BD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7" name="AutoShape 7"/>
          <p:cNvSpPr/>
          <p:nvPr/>
        </p:nvSpPr>
        <p:spPr>
          <a:xfrm>
            <a:off x="3683000" y="4000500"/>
            <a:ext cx="482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757575"/>
                </a:solidFill>
                <a:latin typeface="Noto Sans SC"/>
                <a:ea typeface="Noto Sans SC"/>
                <a:cs typeface="Noto Sans SC"/>
                <a:sym typeface="Noto Sans SC"/>
              </a:rPr>
              <a:t>下一章：大语言模型的核心架构与原理</a:t>
            </a:r>
            <a:endParaRPr lang="en-US" sz="110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3600" y="5080000"/>
            <a:ext cx="304800" cy="30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9609</Words>
  <Application>WPS 演示</Application>
  <PresentationFormat/>
  <Paragraphs>871</Paragraphs>
  <Slides>41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41</vt:i4>
      </vt:variant>
    </vt:vector>
  </HeadingPairs>
  <TitlesOfParts>
    <vt:vector size="65" baseType="lpstr">
      <vt:lpstr>Arial</vt:lpstr>
      <vt:lpstr>宋体</vt:lpstr>
      <vt:lpstr>Wingdings</vt:lpstr>
      <vt:lpstr>Arial</vt:lpstr>
      <vt:lpstr>Noto Sans SC</vt:lpstr>
      <vt:lpstr>Thonburi</vt:lpstr>
      <vt:lpstr>Roboto Mono</vt:lpstr>
      <vt:lpstr>Consolas</vt:lpstr>
      <vt:lpstr>宋体</vt:lpstr>
      <vt:lpstr>汉仪书宋二KW</vt:lpstr>
      <vt:lpstr>微软雅黑</vt:lpstr>
      <vt:lpstr>汉仪旗黑</vt:lpstr>
      <vt:lpstr>Arial Unicode MS</vt:lpstr>
      <vt:lpstr>Source Code Pro</vt:lpstr>
      <vt:lpstr>Arial Black</vt:lpstr>
      <vt:lpstr>Arial Black</vt:lpstr>
      <vt:lpstr>Consolas</vt:lpstr>
      <vt:lpstr>Noto Sans SC</vt:lpstr>
      <vt:lpstr>Roboto Mono</vt:lpstr>
      <vt:lpstr>Source Code Pro</vt:lpstr>
      <vt:lpstr>苹方-简</vt:lpstr>
      <vt:lpstr>Apple Color Emoji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Soyoger</cp:lastModifiedBy>
  <cp:revision>1</cp:revision>
  <dcterms:created xsi:type="dcterms:W3CDTF">2026-03-14T06:53:24Z</dcterms:created>
  <dcterms:modified xsi:type="dcterms:W3CDTF">2026-03-14T06:53:24Z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D6187F3AA8410F9BE405B569EC0FD9DA_42</vt:lpwstr>
  </property>
  <property fmtid="{D5CDD505-2E9C-101B-9397-08002B2CF9AE}" pid="3" name="KSOProductBuildVer">
    <vt:lpwstr>2052-7.2.1.8947</vt:lpwstr>
  </property>
</Properties>
</file>