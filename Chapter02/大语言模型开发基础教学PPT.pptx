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0.svg" ContentType="image/svg+xml"/>
  <Override PartName="/ppt/media/image102.svg" ContentType="image/svg+xml"/>
  <Override PartName="/ppt/media/image104.svg" ContentType="image/svg+xml"/>
  <Override PartName="/ppt/media/image106.svg" ContentType="image/svg+xml"/>
  <Override PartName="/ppt/media/image108.svg" ContentType="image/svg+xml"/>
  <Override PartName="/ppt/media/image110.svg" ContentType="image/svg+xml"/>
  <Override PartName="/ppt/media/image112.svg" ContentType="image/svg+xml"/>
  <Override PartName="/ppt/media/image114.svg" ContentType="image/svg+xml"/>
  <Override PartName="/ppt/media/image116.svg" ContentType="image/svg+xml"/>
  <Override PartName="/ppt/media/image118.svg" ContentType="image/svg+xml"/>
  <Override PartName="/ppt/media/image12.svg" ContentType="image/svg+xml"/>
  <Override PartName="/ppt/media/image120.svg" ContentType="image/svg+xml"/>
  <Override PartName="/ppt/media/image122.svg" ContentType="image/svg+xml"/>
  <Override PartName="/ppt/media/image124.svg" ContentType="image/svg+xml"/>
  <Override PartName="/ppt/media/image126.svg" ContentType="image/svg+xml"/>
  <Override PartName="/ppt/media/image128.svg" ContentType="image/svg+xml"/>
  <Override PartName="/ppt/media/image130.svg" ContentType="image/svg+xml"/>
  <Override PartName="/ppt/media/image132.svg" ContentType="image/svg+xml"/>
  <Override PartName="/ppt/media/image134.svg" ContentType="image/svg+xml"/>
  <Override PartName="/ppt/media/image136.svg" ContentType="image/svg+xml"/>
  <Override PartName="/ppt/media/image138.svg" ContentType="image/svg+xml"/>
  <Override PartName="/ppt/media/image14.svg" ContentType="image/svg+xml"/>
  <Override PartName="/ppt/media/image140.svg" ContentType="image/svg+xml"/>
  <Override PartName="/ppt/media/image142.svg" ContentType="image/svg+xml"/>
  <Override PartName="/ppt/media/image144.svg" ContentType="image/svg+xml"/>
  <Override PartName="/ppt/media/image146.svg" ContentType="image/svg+xml"/>
  <Override PartName="/ppt/media/image148.svg" ContentType="image/svg+xml"/>
  <Override PartName="/ppt/media/image150.svg" ContentType="image/svg+xml"/>
  <Override PartName="/ppt/media/image152.svg" ContentType="image/svg+xml"/>
  <Override PartName="/ppt/media/image155.svg" ContentType="image/svg+xml"/>
  <Override PartName="/ppt/media/image157.svg" ContentType="image/svg+xml"/>
  <Override PartName="/ppt/media/image159.svg" ContentType="image/svg+xml"/>
  <Override PartName="/ppt/media/image16.svg" ContentType="image/svg+xml"/>
  <Override PartName="/ppt/media/image161.svg" ContentType="image/svg+xml"/>
  <Override PartName="/ppt/media/image163.svg" ContentType="image/svg+xml"/>
  <Override PartName="/ppt/media/image165.svg" ContentType="image/svg+xml"/>
  <Override PartName="/ppt/media/image167.svg" ContentType="image/svg+xml"/>
  <Override PartName="/ppt/media/image169.svg" ContentType="image/svg+xml"/>
  <Override PartName="/ppt/media/image171.svg" ContentType="image/svg+xml"/>
  <Override PartName="/ppt/media/image173.svg" ContentType="image/svg+xml"/>
  <Override PartName="/ppt/media/image175.svg" ContentType="image/svg+xml"/>
  <Override PartName="/ppt/media/image177.svg" ContentType="image/svg+xml"/>
  <Override PartName="/ppt/media/image179.svg" ContentType="image/svg+xml"/>
  <Override PartName="/ppt/media/image18.svg" ContentType="image/svg+xml"/>
  <Override PartName="/ppt/media/image181.svg" ContentType="image/svg+xml"/>
  <Override PartName="/ppt/media/image183.svg" ContentType="image/svg+xml"/>
  <Override PartName="/ppt/media/image185.svg" ContentType="image/svg+xml"/>
  <Override PartName="/ppt/media/image187.svg" ContentType="image/svg+xml"/>
  <Override PartName="/ppt/media/image189.svg" ContentType="image/svg+xml"/>
  <Override PartName="/ppt/media/image191.svg" ContentType="image/svg+xml"/>
  <Override PartName="/ppt/media/image194.svg" ContentType="image/svg+xml"/>
  <Override PartName="/ppt/media/image196.svg" ContentType="image/svg+xml"/>
  <Override PartName="/ppt/media/image199.svg" ContentType="image/svg+xml"/>
  <Override PartName="/ppt/media/image2.svg" ContentType="image/svg+xml"/>
  <Override PartName="/ppt/media/image20.svg" ContentType="image/svg+xml"/>
  <Override PartName="/ppt/media/image201.svg" ContentType="image/svg+xml"/>
  <Override PartName="/ppt/media/image203.svg" ContentType="image/svg+xml"/>
  <Override PartName="/ppt/media/image209.svg" ContentType="image/svg+xml"/>
  <Override PartName="/ppt/media/image212.svg" ContentType="image/svg+xml"/>
  <Override PartName="/ppt/media/image214.svg" ContentType="image/svg+xml"/>
  <Override PartName="/ppt/media/image216.svg" ContentType="image/svg+xml"/>
  <Override PartName="/ppt/media/image218.svg" ContentType="image/svg+xml"/>
  <Override PartName="/ppt/media/image22.svg" ContentType="image/svg+xml"/>
  <Override PartName="/ppt/media/image221.svg" ContentType="image/svg+xml"/>
  <Override PartName="/ppt/media/image223.svg" ContentType="image/svg+xml"/>
  <Override PartName="/ppt/media/image24.svg" ContentType="image/svg+xml"/>
  <Override PartName="/ppt/media/image26.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svg" ContentType="image/svg+xml"/>
  <Override PartName="/ppt/media/image40.svg" ContentType="image/svg+xml"/>
  <Override PartName="/ppt/media/image42.svg" ContentType="image/svg+xml"/>
  <Override PartName="/ppt/media/image46.svg" ContentType="image/svg+xml"/>
  <Override PartName="/ppt/media/image48.svg" ContentType="image/svg+xml"/>
  <Override PartName="/ppt/media/image50.svg" ContentType="image/svg+xml"/>
  <Override PartName="/ppt/media/image52.svg" ContentType="image/svg+xml"/>
  <Override PartName="/ppt/media/image56.svg" ContentType="image/svg+xml"/>
  <Override PartName="/ppt/media/image58.svg" ContentType="image/svg+xml"/>
  <Override PartName="/ppt/media/image6.svg" ContentType="image/svg+xml"/>
  <Override PartName="/ppt/media/image60.svg" ContentType="image/svg+xml"/>
  <Override PartName="/ppt/media/image63.svg" ContentType="image/svg+xml"/>
  <Override PartName="/ppt/media/image65.svg" ContentType="image/svg+xml"/>
  <Override PartName="/ppt/media/image67.svg" ContentType="image/svg+xml"/>
  <Override PartName="/ppt/media/image69.svg" ContentType="image/svg+xml"/>
  <Override PartName="/ppt/media/image71.svg" ContentType="image/svg+xml"/>
  <Override PartName="/ppt/media/image73.svg" ContentType="image/svg+xml"/>
  <Override PartName="/ppt/media/image75.svg" ContentType="image/svg+xml"/>
  <Override PartName="/ppt/media/image78.svg" ContentType="image/svg+xml"/>
  <Override PartName="/ppt/media/image8.svg" ContentType="image/svg+xml"/>
  <Override PartName="/ppt/media/image80.svg" ContentType="image/svg+xml"/>
  <Override PartName="/ppt/media/image82.svg" ContentType="image/svg+xml"/>
  <Override PartName="/ppt/media/image84.svg" ContentType="image/svg+xml"/>
  <Override PartName="/ppt/media/image86.svg" ContentType="image/svg+xml"/>
  <Override PartName="/ppt/media/image88.svg" ContentType="image/svg+xml"/>
  <Override PartName="/ppt/media/image90.svg" ContentType="image/svg+xml"/>
  <Override PartName="/ppt/media/image92.svg" ContentType="image/svg+xml"/>
  <Override PartName="/ppt/media/image94.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Lst>
  <p:notesMasterIdLst>
    <p:notesMasterId r:id="rId5"/>
  </p:notesMasterIdLst>
  <p:sldIdLst>
    <p:sldId id="256" r:id="rId4"/>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7" Type="http://schemas.openxmlformats.org/officeDocument/2006/relationships/tableStyles" Target="tableStyles.xml"/><Relationship Id="rId56" Type="http://schemas.openxmlformats.org/officeDocument/2006/relationships/viewProps" Target="viewProps.xml"/><Relationship Id="rId55" Type="http://schemas.openxmlformats.org/officeDocument/2006/relationships/presProps" Target="presProps.xml"/><Relationship Id="rId54" Type="http://schemas.openxmlformats.org/officeDocument/2006/relationships/slide" Target="slides/slide50.xml"/><Relationship Id="rId53" Type="http://schemas.openxmlformats.org/officeDocument/2006/relationships/slide" Target="slides/slide49.xml"/><Relationship Id="rId52" Type="http://schemas.openxmlformats.org/officeDocument/2006/relationships/slide" Target="slides/slide48.xml"/><Relationship Id="rId51" Type="http://schemas.openxmlformats.org/officeDocument/2006/relationships/slide" Target="slides/slide47.xml"/><Relationship Id="rId50" Type="http://schemas.openxmlformats.org/officeDocument/2006/relationships/slide" Target="slides/slide46.xml"/><Relationship Id="rId5" Type="http://schemas.openxmlformats.org/officeDocument/2006/relationships/notesMaster" Target="notesMasters/notesMaster1.xml"/><Relationship Id="rId49" Type="http://schemas.openxmlformats.org/officeDocument/2006/relationships/slide" Target="slides/slide45.xml"/><Relationship Id="rId48" Type="http://schemas.openxmlformats.org/officeDocument/2006/relationships/slide" Target="slides/slide44.xml"/><Relationship Id="rId47" Type="http://schemas.openxmlformats.org/officeDocument/2006/relationships/slide" Target="slides/slide43.xml"/><Relationship Id="rId46" Type="http://schemas.openxmlformats.org/officeDocument/2006/relationships/slide" Target="slides/slide42.xml"/><Relationship Id="rId45" Type="http://schemas.openxmlformats.org/officeDocument/2006/relationships/slide" Target="slides/slide41.xml"/><Relationship Id="rId44" Type="http://schemas.openxmlformats.org/officeDocument/2006/relationships/slide" Target="slides/slide40.xml"/><Relationship Id="rId43" Type="http://schemas.openxmlformats.org/officeDocument/2006/relationships/slide" Target="slides/slide39.xml"/><Relationship Id="rId42" Type="http://schemas.openxmlformats.org/officeDocument/2006/relationships/slide" Target="slides/slide38.xml"/><Relationship Id="rId41" Type="http://schemas.openxmlformats.org/officeDocument/2006/relationships/slide" Target="slides/slide37.xml"/><Relationship Id="rId40" Type="http://schemas.openxmlformats.org/officeDocument/2006/relationships/slide" Target="slides/slide36.xml"/><Relationship Id="rId4" Type="http://schemas.openxmlformats.org/officeDocument/2006/relationships/slide" Target="slides/slide1.xml"/><Relationship Id="rId39" Type="http://schemas.openxmlformats.org/officeDocument/2006/relationships/slide" Target="slides/slide35.xml"/><Relationship Id="rId38" Type="http://schemas.openxmlformats.org/officeDocument/2006/relationships/slide" Target="slides/slide34.xml"/><Relationship Id="rId37" Type="http://schemas.openxmlformats.org/officeDocument/2006/relationships/slide" Target="slides/slide33.xml"/><Relationship Id="rId36" Type="http://schemas.openxmlformats.org/officeDocument/2006/relationships/slide" Target="slides/slide32.xml"/><Relationship Id="rId35" Type="http://schemas.openxmlformats.org/officeDocument/2006/relationships/slide" Target="slides/slide31.xml"/><Relationship Id="rId34" Type="http://schemas.openxmlformats.org/officeDocument/2006/relationships/slide" Target="slides/slide30.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大家好，欢迎来到本次课程。今天我们将一起学习第二章的内容——大语言模型开发基础。这一章将为我们后续深入学习大语言模型的开发实践打下坚实的基础。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本次课程主要分为三个部分。首先，我们会学习Python大语言模型开发的基础知识，这是我们后续编程的工具。接着，我们将了解Docker容器的基础知识，为项目的部署和运行做好准备。最后，我们会概述自然语言处理的相关知识，为理解大语言模型的工作原理打下理论基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现在，我们进入第一部分：Python大语言模型开发基础。Python是目前大语言模型开发领域最主流的编程语言，掌握它至关重要。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那么，为什么我们选择Python作为大语言模型开发的主要语言呢？首先，它简单易学，语法清晰，即使是编程新手也能快速入门。其次，它具有优秀的跨平台性，可以在多种操作系统上运行。最重要的是，Python拥有极其丰富的库和框架，特别是在人工智能和数据科学领域，这为我们开发大语言模型提供了极大的便利。此外，活跃的社区和广泛的应用生态也是Python的巨大优势。</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当然，任何语言都不是完美的。Python的主要缺点是执行速度相对较慢，以及代码加密困难。但正如我们所看到的，这些缺点在实际应用中并非不可克服，特别是对于大语言模型开发而言，其带来的便利性远大于这些不足。</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在学习Python之前，我们需要了解一下它的版本问题。历史上，Python 2和Python 3曾长期共存，但由于两者不兼容，给开发者带来了一些麻烦。值得庆幸的是，从2020年开始，官方已经停止了对Python 2的支持，现在Python 3已经成为绝对的主流。因此，我们的课程也将完全基于Python 3来进行讲解。</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在开始编程之前，我们需要准备好Python的虚拟环境。虚拟环境可以帮助我们为不同的项目隔离依赖包，避免版本冲突。这里我们介绍使用conda来管理虚拟环境，这是数据科学和AI领域非常流行的工具。大家可以看到屏幕上列出了常用的conda命令，包括创建、激活、安装包等操作。</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除了conda，Python标准库中也内置了venv模块，可以用来创建虚拟环境。它更加轻量级，适合简单的项目场景。这里列出了使用venv创建和管理虚拟环境的基本命令，操作非常直观。大家可以根据自己的习惯选择合适的工具。</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编写规范的代码是专业开发者的基本素养。PEP8是Python官方推荐的代码风格指南，遵循它可以让我们的代码更易读、更易维护。这里列出了一些核心规则，比如缩进、行长度、空行以及最重要的命名约定。特别是命名约定，清晰的命名可以大大提升代码的可读性，希望大家在编程时严格遵守。</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接下来，我们快速回顾Python的一些核心语法知识。首先是变量与赋值。在Python中，变量不需要提前声明类型，直接赋值即可。我们可以为单个变量赋值，也可以同时为多个变量赋值，这使得代码非常简洁。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条件语句是控制程序流程的关键。通过if-elif-else结构，我们可以根据不同的条件判断，让程序执行不同的代码分支。这个例子展示了如何根据分数判断成绩等级，非常直观。</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循环是编程中另一个非常重要的概念，它可以让我们重复执行一段代码，直到满足特定条件。Python提供了for循环和while循环。for循环通常用于遍历一个序列，而while循环则在满足条件时持续执行。这里的例子用两种循环实现了同样的功能：打印0到99的整数。</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数据结构是组织和存储数据的方式。Python中最常用的两种数据结构是列表和元组。它们都是有序的，可以存储不同类型的数据。主要区别在于，列表是可变的，我们可以随时添加、删除或修改其中的元素；而元组是不可变的，一旦创建就不能被修改。</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另外两种重要的数据结构是字典和集合。字典是键值对的集合，我们可以通过键来快速访问对应的值，这在处理结构化数据时非常有用。集合则是无序且不包含重复元素的，它非常适合用来去重或者进行数学上的集合运算。</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函数是编程的核心概念之一，它允许我们将一段功能代码封装起来，以便在不同地方重复使用，从而提高代码的模块化和可维护性。在Python中，我们使用def关键字来定义函数，可以指定参数和返回值。这个例子展示了一个简单的求和函数。</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Python是一种面向对象的编程语言，这意味着我们可以通过定义类来创建对象，每个对象都有自己的属性和方法。面向对象编程的三大特性是封装、继承和多态，它们能帮助我们更好地组织和管理复杂的代码。这里的例子定义了一个二叉树节点类，并创建了一个节点对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在大语言模型开发中，我们经常需要与外部API进行交互，requests库就是处理这类HTTP请求的利器。它提供了简洁易用的API，可以轻松发送GET、POST等请求，并处理响应。这个例子展示了如何使用requests发送GET和POST请求。</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当我们需要将训练好的大语言模型部署为一个可供他人调用的服务时，Flask是一个非常好的选择。它是一个轻量级的Web框架，可以让我们快速搭建起API接口。这个例子展示了如何使用Flask创建一个简单的Web服务，包含健康检查和对话两个接口。</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除了构建API服务，我们有时也需要为模型创建一个简单的可视化界面，方便用户交互。Streamlit就是这样一个工具，它允许我们用纯Python代码快速创建美观的交互式Web应用，非常适合用于模型的演示和原型验证。这个例子展示了如何创建一个包含文本输入和数据展示的简单应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掌握了Python的基础和常用库后，我们来学习一个非常重要的实践技能——接口的设计与优化。一个设计良好的接口是保证系统可维护性和扩展性的关键。</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为什么接口设计如此重要？因为在团队开发中，清晰、规范的接口是高效协作的基础。它能降低沟通成本，让代码更易于维护和扩展，同时也能让其他开发者更容易理解和使用你的服务。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设计一个接口，首先要确定它的通信协议和访问地址。对于大多数Web服务，我们使用HTTP或HTTPS协议。URL的设计也非常关键，一个好的URL应该清晰、有层次，能够让人一眼就明白它的用途。</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接下来是请求和返回参数的设计。请求参数需要清晰地定义其名称、类型和是否必填。返回参数则应遵循统一的格式，通常包含状态码、数据和消息，这样可以让调用方更容易处理不同的响应情况。</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随着业务的发展，接口不可避免地需要升级。因此，版本管理至关重要。我们可以通过URL路径、请求头或查询参数等方式来管理接口版本，确保新旧版本能够共存。数据传输格式方面，JSON是目前最主流的选择，它简洁高效。</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为了优化接口性能，特别是在传输大量数据时，我们可以对数据进行压缩。同时，对用户输入的参数进行严格的合法性校验是非常重要的，这可以有效防止非法请求和恶意攻击，保障系统的稳定运行。</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最后，接口的安全性和健壮性也至关重要。我们需要通过认证机制来保护接口不被非法访问，并对敏感数据进行处理。同时，完善的异常处理机制可以确保在出现错误时，系统能够优雅地降级，并给用户提供有用的提示信息。</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接下来，我们进入第二部分：Docker容器基础知识。Docker是现代软件开发和部署中不可或缺的工具，它可以帮助我们实现应用的快速打包、分发和运行。</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那么，到底什么是Docker呢？简单来说，Docker是一个容器化平台，它可以把我们的应用程序和它所依赖的所有环境打包在一起，形成一个标准化的容器。这个容器可以在任何安装了Docker的机器上运行，保证了环境的一致性。它的核心优势在于轻量、可移植和隔离性。Docker的三个核心概念是镜像、容器和仓库。</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要使用Docker，首先需要在我们的机器上安装Docker环境。安装过程非常简单，只需访问Docker官网，下载对应系统的安装包并按照指引完成安装即可。安装完成后，我们可以通过命令行验证安装是否成功。</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Docker的使用主要通过命令行进行。首先我们来看关于镜像的操作。我们可以搜索官方仓库中的镜像，将其下载到本地，查看本地已有的镜像列表，以及删除不再需要的镜像。这些是最基础也是最常用的镜像操作命令。</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接下来是容器的操作。我们可以基于镜像创建并启动一个容器，也可以对已有的容器进行启动、停止、重启和删除等操作。这些命令帮助我们管理容器的整个生命周期。</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除了基本的生命周期管理，我们还需要了解如何查看容器的状态、进入容器内部进行操作、查看容器的日志以及复制文件等。这些命令对于调试和管理容器非常有帮助。</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要构建我们自己的应用镜像，就需要用到Dockerfile。Dockerfile是一个包含了一系列指令的文本文件，它告诉Docker如何一步步构建出我们需要的镜像。这里列出了一些常用的Dockerfile指令，并给出了一个构建Python应用镜像的示例。</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编写好Dockerfile后，我们就可以使用docker build命令来构建镜像了。这个命令会根据Dockerfile中的指令，一步步构建出我们的自定义镜像。构建完成后，我们就可以在本地镜像列表中看到它。</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有了镜像，部署应用就变得非常简单。我们只需要使用`docker run`命令，基于我们的镜像启动一个容器，并将容器的端口映射到主机的端口。这样，我们的应用就成功部署并可以通过主机的端口进行访问了。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在实际项目中，我们的应用往往需要多个容器协同工作，比如一个Web应用容器、一个数据库容器等。这时，Docker Compose就派上用场了。它允许我们通过一个YAML文件来定义所有的服务，并通过简单的命令来管理它们的生命周期，极大地简化了多容器应用的部署和管理。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现在，我们进入最后一部分：自然语言处理概述。这部分内容将为我们理解大语言模型的工作原理提供必要的理论基础。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首先，我们来明确什么是自然语言处理。简单来说，NLP就是让计算机能够像人一样理解和使用人类语言的技术。它的目标包括理解文本、生成文本以及实现人机交互。NLP技术是我们构建智能应用的基础，在很多领域都有广泛的应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NLP是一个非常广阔的领域，包含了许多具体的任务。从基础的分词、词性标注，到复杂的机器翻译、问答系统，再到情感分析、信息检索等，这些任务共同构成了NLP的研究版图。大语言模型的出现，极大地推动了这些任务的发展。</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回顾NLP的发展历程，我们可以看到它经历了从基于规则到基于统计，再到现在基于深度学习的演变。早期的方法依赖人工规则，非常繁琐且效果有限。统计方法利用数据进行学习，取得了很大进步。而以Transformer为代表的深度学习方法，则开启了NLP的新时代，使得大语言模型的诞生成为可能。</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NLP技术已经深入到我们生活的方方面面。比如，我们日常使用的智能客服、聊天机器人，能够自动翻译的机器翻译软件，能够理解我们语音指令的语音助手，以及为我们推荐感兴趣内容的推荐系统，这些都是NLP技术的典型应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那么，大语言模型和NLP是什么关系呢？简单来说，大语言模型是NLP领域近年来最重大的技术突破。它基于Transformer架构，通过海量数据训练，具备了强大的语言理解和生成能力。现在，大语言模型已经成为解决各种NLP任务的基础模型，极大地推动了整个领域的发展。</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当然，开发大语言模型并非易事，它面临着许多挑战。比如，巨大的计算资源需求、海量高质量数据的获取、复杂的训练和微调策略、以及模型部署和优化的难题。此外，模型的伦理和安全问题也日益受到关注。这些都是我们在开发和应用大语言模型时需要认真思考和解决的问题。</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现在我们来总结一下本章的内容。首先，在Python基础部分，我们学习了环境配置、核心语法、常用开发库以及接口设计的最佳实践，这些都是我们后续进行大语言模型开发的必备技能。</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在Docker基础部分，我们掌握了容器化技术的核心概念和基本操作，学会了如何构建镜像和部署应用。Docker将帮助我们解决开发、测试和生产环境一致性的问题，是现代软件开发和部署的重要工具。</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最后，在NLP概述部分，我们了解了自然语言处理的基本概念、主要任务和发展历程，明确了大语言模型在NLP领域的核心地位，并认识到了开发大模型所面临的挑战。这为我们后续深入学习大语言模型的原理和实践奠定了理论基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课程的最后，给大家留下几个思考题，希望能帮助大家回顾和巩固本章所学的内容。大家可以思考一下这些问题，加深对知识的理解。</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这里列出了一些相关的参考资料，包括官方文档、经典书籍和在线资源，希望能为大家提供进一步学习的方向。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感谢大家的观看，希望本次课程能对大家有所帮助。我们下一章再见！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9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9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9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9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90204"/>
              <a:buNone/>
              <a:defRPr sz="3300" b="0" i="0" u="none" strike="noStrike" cap="none">
                <a:solidFill>
                  <a:schemeClr val="dk1"/>
                </a:solidFill>
                <a:latin typeface="Arial" panose="020B0604020202090204"/>
                <a:ea typeface="Arial" panose="020B0604020202090204"/>
                <a:cs typeface="Arial" panose="020B0604020202090204"/>
                <a:sym typeface="Arial" panose="020B060402020209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90204"/>
              <a:buChar char="•"/>
              <a:defRPr sz="2100" b="0" i="0" u="none" strike="noStrike" cap="none">
                <a:solidFill>
                  <a:schemeClr val="dk1"/>
                </a:solidFill>
                <a:latin typeface="Arial" panose="020B0604020202090204"/>
                <a:ea typeface="Arial" panose="020B0604020202090204"/>
                <a:cs typeface="Arial" panose="020B0604020202090204"/>
                <a:sym typeface="Arial" panose="020B0604020202090204"/>
              </a:defRPr>
            </a:lvl1pPr>
            <a:lvl2pPr marL="914400" marR="0" lvl="1" indent="-342900" algn="l" rtl="0">
              <a:lnSpc>
                <a:spcPct val="90000"/>
              </a:lnSpc>
              <a:spcBef>
                <a:spcPts val="400"/>
              </a:spcBef>
              <a:spcAft>
                <a:spcPts val="0"/>
              </a:spcAft>
              <a:buClr>
                <a:schemeClr val="dk1"/>
              </a:buClr>
              <a:buSzPts val="1800"/>
              <a:buFont typeface="Arial" panose="020B0604020202090204"/>
              <a:buChar char="•"/>
              <a:defRPr sz="18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L="1371600" marR="0" lvl="2" indent="-323850" algn="l" rtl="0">
              <a:lnSpc>
                <a:spcPct val="90000"/>
              </a:lnSpc>
              <a:spcBef>
                <a:spcPts val="400"/>
              </a:spcBef>
              <a:spcAft>
                <a:spcPts val="0"/>
              </a:spcAft>
              <a:buClr>
                <a:schemeClr val="dk1"/>
              </a:buClr>
              <a:buSzPts val="1500"/>
              <a:buFont typeface="Arial" panose="020B0604020202090204"/>
              <a:buChar char="•"/>
              <a:defRPr sz="15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L="1828800" marR="0" lvl="3"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L="2286000" marR="0" lvl="4"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L="2743200" marR="0" lvl="5"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L="3200400" marR="0" lvl="6"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L="3657600" marR="0" lvl="7"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L="4114800" marR="0" lvl="8"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R="0" lvl="1"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R="0" lvl="2"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R="0" lvl="3"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R="0" lvl="4"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R="0" lvl="5"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R="0" lvl="6"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R="0" lvl="7"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R="0" lvl="8"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R="0" lvl="1"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R="0" lvl="2"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R="0" lvl="3"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R="0" lvl="4"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R="0" lvl="5"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R="0" lvl="6"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R="0" lvl="7"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R="0" lvl="8"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L="0" marR="0" lvl="1"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2pPr>
            <a:lvl3pPr marL="0" marR="0" lvl="2"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3pPr>
            <a:lvl4pPr marL="0" marR="0" lvl="3"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4pPr>
            <a:lvl5pPr marL="0" marR="0" lvl="4"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5pPr>
            <a:lvl6pPr marL="0" marR="0" lvl="5"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6pPr>
            <a:lvl7pPr marL="0" marR="0" lvl="6"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7pPr>
            <a:lvl8pPr marL="0" marR="0" lvl="7"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8pPr>
            <a:lvl9pPr marL="0" marR="0" lvl="8"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2.xml"/><Relationship Id="rId2" Type="http://schemas.openxmlformats.org/officeDocument/2006/relationships/image" Target="../media/image2.sv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notesSlide" Target="../notesSlides/notesSlide2.xml"/><Relationship Id="rId7" Type="http://schemas.openxmlformats.org/officeDocument/2006/relationships/slideLayout" Target="../slideLayouts/slideLayout1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1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6.svg"/><Relationship Id="rId3" Type="http://schemas.openxmlformats.org/officeDocument/2006/relationships/image" Target="../media/image10.png"/><Relationship Id="rId2" Type="http://schemas.openxmlformats.org/officeDocument/2006/relationships/image" Target="../media/image4.svg"/><Relationship Id="rId1" Type="http://schemas.openxmlformats.org/officeDocument/2006/relationships/image" Target="../media/image9.png"/></Relationships>
</file>

<file path=ppt/slides/_rels/slide4.xml.rels><?xml version="1.0" encoding="UTF-8" standalone="yes"?>
<Relationships xmlns="http://schemas.openxmlformats.org/package/2006/relationships"><Relationship Id="rId9" Type="http://schemas.openxmlformats.org/officeDocument/2006/relationships/image" Target="../media/image21.png"/><Relationship Id="rId8" Type="http://schemas.openxmlformats.org/officeDocument/2006/relationships/image" Target="../media/image20.svg"/><Relationship Id="rId7" Type="http://schemas.openxmlformats.org/officeDocument/2006/relationships/image" Target="../media/image19.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 Id="rId3" Type="http://schemas.openxmlformats.org/officeDocument/2006/relationships/image" Target="../media/image15.png"/><Relationship Id="rId2" Type="http://schemas.openxmlformats.org/officeDocument/2006/relationships/image" Target="../media/image14.svg"/><Relationship Id="rId14" Type="http://schemas.openxmlformats.org/officeDocument/2006/relationships/notesSlide" Target="../notesSlides/notesSlide4.xml"/><Relationship Id="rId13" Type="http://schemas.openxmlformats.org/officeDocument/2006/relationships/slideLayout" Target="../slideLayouts/slideLayout12.xml"/><Relationship Id="rId12" Type="http://schemas.openxmlformats.org/officeDocument/2006/relationships/image" Target="../media/image24.svg"/><Relationship Id="rId11" Type="http://schemas.openxmlformats.org/officeDocument/2006/relationships/image" Target="../media/image23.png"/><Relationship Id="rId10" Type="http://schemas.openxmlformats.org/officeDocument/2006/relationships/image" Target="../media/image22.svg"/><Relationship Id="rId1" Type="http://schemas.openxmlformats.org/officeDocument/2006/relationships/image" Target="../media/image13.png"/></Relationships>
</file>

<file path=ppt/slides/_rels/slide5.xml.rels><?xml version="1.0" encoding="UTF-8" standalone="yes"?>
<Relationships xmlns="http://schemas.openxmlformats.org/package/2006/relationships"><Relationship Id="rId9" Type="http://schemas.openxmlformats.org/officeDocument/2006/relationships/image" Target="../media/image30.png"/><Relationship Id="rId8" Type="http://schemas.openxmlformats.org/officeDocument/2006/relationships/image" Target="../media/image18.svg"/><Relationship Id="rId7" Type="http://schemas.openxmlformats.org/officeDocument/2006/relationships/image" Target="../media/image29.png"/><Relationship Id="rId6" Type="http://schemas.openxmlformats.org/officeDocument/2006/relationships/image" Target="../media/image16.svg"/><Relationship Id="rId5" Type="http://schemas.openxmlformats.org/officeDocument/2006/relationships/image" Target="../media/image28.png"/><Relationship Id="rId4" Type="http://schemas.openxmlformats.org/officeDocument/2006/relationships/image" Target="../media/image14.svg"/><Relationship Id="rId3" Type="http://schemas.openxmlformats.org/officeDocument/2006/relationships/image" Target="../media/image27.png"/><Relationship Id="rId2" Type="http://schemas.openxmlformats.org/officeDocument/2006/relationships/image" Target="../media/image26.svg"/><Relationship Id="rId18" Type="http://schemas.openxmlformats.org/officeDocument/2006/relationships/notesSlide" Target="../notesSlides/notesSlide5.xml"/><Relationship Id="rId17" Type="http://schemas.openxmlformats.org/officeDocument/2006/relationships/slideLayout" Target="../slideLayouts/slideLayout12.xml"/><Relationship Id="rId16" Type="http://schemas.openxmlformats.org/officeDocument/2006/relationships/image" Target="../media/image36.svg"/><Relationship Id="rId15" Type="http://schemas.openxmlformats.org/officeDocument/2006/relationships/image" Target="../media/image35.png"/><Relationship Id="rId14" Type="http://schemas.openxmlformats.org/officeDocument/2006/relationships/image" Target="../media/image34.svg"/><Relationship Id="rId13" Type="http://schemas.openxmlformats.org/officeDocument/2006/relationships/image" Target="../media/image33.png"/><Relationship Id="rId12" Type="http://schemas.openxmlformats.org/officeDocument/2006/relationships/image" Target="../media/image32.svg"/><Relationship Id="rId11" Type="http://schemas.openxmlformats.org/officeDocument/2006/relationships/image" Target="../media/image31.png"/><Relationship Id="rId10" Type="http://schemas.openxmlformats.org/officeDocument/2006/relationships/image" Target="../media/image20.svg"/><Relationship Id="rId1" Type="http://schemas.openxmlformats.org/officeDocument/2006/relationships/image" Target="../media/image25.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12.xml"/><Relationship Id="rId6" Type="http://schemas.openxmlformats.org/officeDocument/2006/relationships/image" Target="../media/image4.svg"/><Relationship Id="rId5" Type="http://schemas.openxmlformats.org/officeDocument/2006/relationships/image" Target="../media/image9.png"/><Relationship Id="rId4" Type="http://schemas.openxmlformats.org/officeDocument/2006/relationships/image" Target="../media/image40.svg"/><Relationship Id="rId3" Type="http://schemas.openxmlformats.org/officeDocument/2006/relationships/image" Target="../media/image39.png"/><Relationship Id="rId2" Type="http://schemas.openxmlformats.org/officeDocument/2006/relationships/image" Target="../media/image38.svg"/><Relationship Id="rId1" Type="http://schemas.openxmlformats.org/officeDocument/2006/relationships/image" Target="../media/image37.png"/></Relationships>
</file>

<file path=ppt/slides/_rels/slide7.xml.rels><?xml version="1.0" encoding="UTF-8" standalone="yes"?>
<Relationships xmlns="http://schemas.openxmlformats.org/package/2006/relationships"><Relationship Id="rId6" Type="http://schemas.openxmlformats.org/officeDocument/2006/relationships/notesSlide" Target="../notesSlides/notesSlide7.xml"/><Relationship Id="rId5" Type="http://schemas.openxmlformats.org/officeDocument/2006/relationships/slideLayout" Target="../slideLayouts/slideLayout12.xml"/><Relationship Id="rId4" Type="http://schemas.openxmlformats.org/officeDocument/2006/relationships/image" Target="../media/image12.svg"/><Relationship Id="rId3" Type="http://schemas.openxmlformats.org/officeDocument/2006/relationships/image" Target="../media/image43.png"/><Relationship Id="rId2" Type="http://schemas.openxmlformats.org/officeDocument/2006/relationships/image" Target="../media/image42.svg"/><Relationship Id="rId1" Type="http://schemas.openxmlformats.org/officeDocument/2006/relationships/image" Target="../media/image41.png"/></Relationships>
</file>

<file path=ppt/slides/_rels/slide8.xml.rels><?xml version="1.0" encoding="UTF-8" standalone="yes"?>
<Relationships xmlns="http://schemas.openxmlformats.org/package/2006/relationships"><Relationship Id="rId6" Type="http://schemas.openxmlformats.org/officeDocument/2006/relationships/notesSlide" Target="../notesSlides/notesSlide8.xml"/><Relationship Id="rId5" Type="http://schemas.openxmlformats.org/officeDocument/2006/relationships/slideLayout" Target="../slideLayouts/slideLayout12.xml"/><Relationship Id="rId4" Type="http://schemas.openxmlformats.org/officeDocument/2006/relationships/image" Target="../media/image12.svg"/><Relationship Id="rId3" Type="http://schemas.openxmlformats.org/officeDocument/2006/relationships/image" Target="../media/image43.png"/><Relationship Id="rId2" Type="http://schemas.openxmlformats.org/officeDocument/2006/relationships/image" Target="../media/image42.svg"/><Relationship Id="rId1" Type="http://schemas.openxmlformats.org/officeDocument/2006/relationships/image" Target="../media/image44.png"/></Relationships>
</file>

<file path=ppt/slides/_rels/slide9.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2.svg"/><Relationship Id="rId7" Type="http://schemas.openxmlformats.org/officeDocument/2006/relationships/image" Target="../media/image43.png"/><Relationship Id="rId6" Type="http://schemas.openxmlformats.org/officeDocument/2006/relationships/image" Target="../media/image50.svg"/><Relationship Id="rId5" Type="http://schemas.openxmlformats.org/officeDocument/2006/relationships/image" Target="../media/image49.png"/><Relationship Id="rId4" Type="http://schemas.openxmlformats.org/officeDocument/2006/relationships/image" Target="../media/image48.svg"/><Relationship Id="rId3" Type="http://schemas.openxmlformats.org/officeDocument/2006/relationships/image" Target="../media/image47.png"/><Relationship Id="rId2" Type="http://schemas.openxmlformats.org/officeDocument/2006/relationships/image" Target="../media/image46.svg"/><Relationship Id="rId10" Type="http://schemas.openxmlformats.org/officeDocument/2006/relationships/notesSlide" Target="../notesSlides/notesSlide9.xml"/><Relationship Id="rId1" Type="http://schemas.openxmlformats.org/officeDocument/2006/relationships/image" Target="../media/image45.png"/></Relationships>
</file>

<file path=ppt/slides/_rels/slide10.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2.xml"/><Relationship Id="rId4" Type="http://schemas.openxmlformats.org/officeDocument/2006/relationships/image" Target="../media/image4.svg"/><Relationship Id="rId3" Type="http://schemas.openxmlformats.org/officeDocument/2006/relationships/image" Target="../media/image9.png"/><Relationship Id="rId2" Type="http://schemas.openxmlformats.org/officeDocument/2006/relationships/image" Target="../media/image12.svg"/><Relationship Id="rId1" Type="http://schemas.openxmlformats.org/officeDocument/2006/relationships/image" Target="../media/image43.png"/></Relationships>
</file>

<file path=ppt/slides/_rels/slide11.xml.rels><?xml version="1.0" encoding="UTF-8" standalone="yes"?>
<Relationships xmlns="http://schemas.openxmlformats.org/package/2006/relationships"><Relationship Id="rId9" Type="http://schemas.openxmlformats.org/officeDocument/2006/relationships/image" Target="../media/image57.png"/><Relationship Id="rId8" Type="http://schemas.openxmlformats.org/officeDocument/2006/relationships/image" Target="../media/image56.svg"/><Relationship Id="rId7" Type="http://schemas.openxmlformats.org/officeDocument/2006/relationships/image" Target="../media/image55.png"/><Relationship Id="rId6" Type="http://schemas.openxmlformats.org/officeDocument/2006/relationships/image" Target="../media/image40.svg"/><Relationship Id="rId5" Type="http://schemas.openxmlformats.org/officeDocument/2006/relationships/image" Target="../media/image54.png"/><Relationship Id="rId4" Type="http://schemas.openxmlformats.org/officeDocument/2006/relationships/image" Target="../media/image50.svg"/><Relationship Id="rId3" Type="http://schemas.openxmlformats.org/officeDocument/2006/relationships/image" Target="../media/image53.png"/><Relationship Id="rId2" Type="http://schemas.openxmlformats.org/officeDocument/2006/relationships/image" Target="../media/image52.svg"/><Relationship Id="rId15" Type="http://schemas.openxmlformats.org/officeDocument/2006/relationships/notesSlide" Target="../notesSlides/notesSlide11.xml"/><Relationship Id="rId14" Type="http://schemas.openxmlformats.org/officeDocument/2006/relationships/slideLayout" Target="../slideLayouts/slideLayout12.xml"/><Relationship Id="rId13" Type="http://schemas.openxmlformats.org/officeDocument/2006/relationships/image" Target="../media/image61.png"/><Relationship Id="rId12" Type="http://schemas.openxmlformats.org/officeDocument/2006/relationships/image" Target="../media/image60.svg"/><Relationship Id="rId11" Type="http://schemas.openxmlformats.org/officeDocument/2006/relationships/image" Target="../media/image59.png"/><Relationship Id="rId10" Type="http://schemas.openxmlformats.org/officeDocument/2006/relationships/image" Target="../media/image58.svg"/><Relationship Id="rId1" Type="http://schemas.openxmlformats.org/officeDocument/2006/relationships/image" Target="../media/image51.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2.xml"/><Relationship Id="rId4" Type="http://schemas.openxmlformats.org/officeDocument/2006/relationships/image" Target="../media/image4.svg"/><Relationship Id="rId3" Type="http://schemas.openxmlformats.org/officeDocument/2006/relationships/image" Target="../media/image9.png"/><Relationship Id="rId2" Type="http://schemas.openxmlformats.org/officeDocument/2006/relationships/image" Target="../media/image63.svg"/><Relationship Id="rId1" Type="http://schemas.openxmlformats.org/officeDocument/2006/relationships/image" Target="../media/image62.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2.xml"/><Relationship Id="rId4" Type="http://schemas.openxmlformats.org/officeDocument/2006/relationships/image" Target="../media/image67.svg"/><Relationship Id="rId3" Type="http://schemas.openxmlformats.org/officeDocument/2006/relationships/image" Target="../media/image66.png"/><Relationship Id="rId2" Type="http://schemas.openxmlformats.org/officeDocument/2006/relationships/image" Target="../media/image65.svg"/><Relationship Id="rId1" Type="http://schemas.openxmlformats.org/officeDocument/2006/relationships/image" Target="../media/image64.png"/></Relationships>
</file>

<file path=ppt/slides/_rels/slide14.xml.rels><?xml version="1.0" encoding="UTF-8" standalone="yes"?>
<Relationships xmlns="http://schemas.openxmlformats.org/package/2006/relationships"><Relationship Id="rId9" Type="http://schemas.openxmlformats.org/officeDocument/2006/relationships/image" Target="../media/image74.png"/><Relationship Id="rId8" Type="http://schemas.openxmlformats.org/officeDocument/2006/relationships/image" Target="../media/image73.svg"/><Relationship Id="rId7" Type="http://schemas.openxmlformats.org/officeDocument/2006/relationships/image" Target="../media/image72.png"/><Relationship Id="rId6" Type="http://schemas.openxmlformats.org/officeDocument/2006/relationships/image" Target="../media/image71.svg"/><Relationship Id="rId5" Type="http://schemas.openxmlformats.org/officeDocument/2006/relationships/image" Target="../media/image70.png"/><Relationship Id="rId4" Type="http://schemas.openxmlformats.org/officeDocument/2006/relationships/image" Target="../media/image12.svg"/><Relationship Id="rId3" Type="http://schemas.openxmlformats.org/officeDocument/2006/relationships/image" Target="../media/image43.png"/><Relationship Id="rId2" Type="http://schemas.openxmlformats.org/officeDocument/2006/relationships/image" Target="../media/image69.svg"/><Relationship Id="rId16" Type="http://schemas.openxmlformats.org/officeDocument/2006/relationships/notesSlide" Target="../notesSlides/notesSlide14.xml"/><Relationship Id="rId15" Type="http://schemas.openxmlformats.org/officeDocument/2006/relationships/slideLayout" Target="../slideLayouts/slideLayout12.xml"/><Relationship Id="rId14" Type="http://schemas.openxmlformats.org/officeDocument/2006/relationships/image" Target="../media/image78.svg"/><Relationship Id="rId13" Type="http://schemas.openxmlformats.org/officeDocument/2006/relationships/image" Target="../media/image77.png"/><Relationship Id="rId12" Type="http://schemas.openxmlformats.org/officeDocument/2006/relationships/image" Target="../media/image36.svg"/><Relationship Id="rId11" Type="http://schemas.openxmlformats.org/officeDocument/2006/relationships/image" Target="../media/image76.png"/><Relationship Id="rId10" Type="http://schemas.openxmlformats.org/officeDocument/2006/relationships/image" Target="../media/image75.svg"/><Relationship Id="rId1" Type="http://schemas.openxmlformats.org/officeDocument/2006/relationships/image" Target="../media/image68.png"/></Relationships>
</file>

<file path=ppt/slides/_rels/slide15.xml.rels><?xml version="1.0" encoding="UTF-8" standalone="yes"?>
<Relationships xmlns="http://schemas.openxmlformats.org/package/2006/relationships"><Relationship Id="rId9" Type="http://schemas.openxmlformats.org/officeDocument/2006/relationships/image" Target="../media/image85.png"/><Relationship Id="rId8" Type="http://schemas.openxmlformats.org/officeDocument/2006/relationships/image" Target="../media/image84.svg"/><Relationship Id="rId7" Type="http://schemas.openxmlformats.org/officeDocument/2006/relationships/image" Target="../media/image83.png"/><Relationship Id="rId6" Type="http://schemas.openxmlformats.org/officeDocument/2006/relationships/image" Target="../media/image82.svg"/><Relationship Id="rId5" Type="http://schemas.openxmlformats.org/officeDocument/2006/relationships/image" Target="../media/image81.png"/><Relationship Id="rId4" Type="http://schemas.openxmlformats.org/officeDocument/2006/relationships/image" Target="../media/image12.svg"/><Relationship Id="rId3" Type="http://schemas.openxmlformats.org/officeDocument/2006/relationships/image" Target="../media/image43.png"/><Relationship Id="rId2" Type="http://schemas.openxmlformats.org/officeDocument/2006/relationships/image" Target="../media/image80.svg"/><Relationship Id="rId12" Type="http://schemas.openxmlformats.org/officeDocument/2006/relationships/notesSlide" Target="../notesSlides/notesSlide15.xml"/><Relationship Id="rId11" Type="http://schemas.openxmlformats.org/officeDocument/2006/relationships/slideLayout" Target="../slideLayouts/slideLayout12.xml"/><Relationship Id="rId10" Type="http://schemas.openxmlformats.org/officeDocument/2006/relationships/image" Target="../media/image86.svg"/><Relationship Id="rId1" Type="http://schemas.openxmlformats.org/officeDocument/2006/relationships/image" Target="../media/image79.png"/></Relationships>
</file>

<file path=ppt/slides/_rels/slide16.xml.rels><?xml version="1.0" encoding="UTF-8" standalone="yes"?>
<Relationships xmlns="http://schemas.openxmlformats.org/package/2006/relationships"><Relationship Id="rId6" Type="http://schemas.openxmlformats.org/officeDocument/2006/relationships/notesSlide" Target="../notesSlides/notesSlide16.xml"/><Relationship Id="rId5" Type="http://schemas.openxmlformats.org/officeDocument/2006/relationships/slideLayout" Target="../slideLayouts/slideLayout12.xml"/><Relationship Id="rId4" Type="http://schemas.openxmlformats.org/officeDocument/2006/relationships/image" Target="../media/image4.svg"/><Relationship Id="rId3" Type="http://schemas.openxmlformats.org/officeDocument/2006/relationships/image" Target="../media/image9.png"/><Relationship Id="rId2" Type="http://schemas.openxmlformats.org/officeDocument/2006/relationships/image" Target="../media/image12.svg"/><Relationship Id="rId1" Type="http://schemas.openxmlformats.org/officeDocument/2006/relationships/image" Target="../media/image43.png"/></Relationships>
</file>

<file path=ppt/slides/_rels/slide17.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92.svg"/><Relationship Id="rId7" Type="http://schemas.openxmlformats.org/officeDocument/2006/relationships/image" Target="../media/image91.png"/><Relationship Id="rId6" Type="http://schemas.openxmlformats.org/officeDocument/2006/relationships/image" Target="../media/image63.svg"/><Relationship Id="rId5" Type="http://schemas.openxmlformats.org/officeDocument/2006/relationships/image" Target="../media/image62.png"/><Relationship Id="rId4" Type="http://schemas.openxmlformats.org/officeDocument/2006/relationships/image" Target="../media/image90.svg"/><Relationship Id="rId3" Type="http://schemas.openxmlformats.org/officeDocument/2006/relationships/image" Target="../media/image89.png"/><Relationship Id="rId2" Type="http://schemas.openxmlformats.org/officeDocument/2006/relationships/image" Target="../media/image88.svg"/><Relationship Id="rId12" Type="http://schemas.openxmlformats.org/officeDocument/2006/relationships/notesSlide" Target="../notesSlides/notesSlide17.xml"/><Relationship Id="rId11" Type="http://schemas.openxmlformats.org/officeDocument/2006/relationships/slideLayout" Target="../slideLayouts/slideLayout12.xml"/><Relationship Id="rId10" Type="http://schemas.openxmlformats.org/officeDocument/2006/relationships/image" Target="../media/image4.svg"/><Relationship Id="rId1" Type="http://schemas.openxmlformats.org/officeDocument/2006/relationships/image" Target="../media/image87.png"/></Relationships>
</file>

<file path=ppt/slides/_rels/slide18.xml.rels><?xml version="1.0" encoding="UTF-8" standalone="yes"?>
<Relationships xmlns="http://schemas.openxmlformats.org/package/2006/relationships"><Relationship Id="rId6" Type="http://schemas.openxmlformats.org/officeDocument/2006/relationships/notesSlide" Target="../notesSlides/notesSlide18.xml"/><Relationship Id="rId5" Type="http://schemas.openxmlformats.org/officeDocument/2006/relationships/slideLayout" Target="../slideLayouts/slideLayout12.xml"/><Relationship Id="rId4" Type="http://schemas.openxmlformats.org/officeDocument/2006/relationships/image" Target="../media/image12.svg"/><Relationship Id="rId3" Type="http://schemas.openxmlformats.org/officeDocument/2006/relationships/image" Target="../media/image43.png"/><Relationship Id="rId2" Type="http://schemas.openxmlformats.org/officeDocument/2006/relationships/image" Target="../media/image94.svg"/><Relationship Id="rId1" Type="http://schemas.openxmlformats.org/officeDocument/2006/relationships/image" Target="../media/image93.png"/></Relationships>
</file>

<file path=ppt/slides/_rels/slide19.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2.svg"/><Relationship Id="rId7" Type="http://schemas.openxmlformats.org/officeDocument/2006/relationships/image" Target="../media/image43.png"/><Relationship Id="rId6" Type="http://schemas.openxmlformats.org/officeDocument/2006/relationships/image" Target="../media/image6.svg"/><Relationship Id="rId5" Type="http://schemas.openxmlformats.org/officeDocument/2006/relationships/image" Target="../media/image10.png"/><Relationship Id="rId4" Type="http://schemas.openxmlformats.org/officeDocument/2006/relationships/image" Target="../media/image94.svg"/><Relationship Id="rId3" Type="http://schemas.openxmlformats.org/officeDocument/2006/relationships/image" Target="../media/image93.png"/><Relationship Id="rId2" Type="http://schemas.openxmlformats.org/officeDocument/2006/relationships/image" Target="../media/image88.svg"/><Relationship Id="rId10" Type="http://schemas.openxmlformats.org/officeDocument/2006/relationships/notesSlide" Target="../notesSlides/notesSlide19.xml"/><Relationship Id="rId1" Type="http://schemas.openxmlformats.org/officeDocument/2006/relationships/image" Target="../media/image87.png"/></Relationships>
</file>

<file path=ppt/slides/_rels/slide20.xml.rels><?xml version="1.0" encoding="UTF-8" standalone="yes"?>
<Relationships xmlns="http://schemas.openxmlformats.org/package/2006/relationships"><Relationship Id="rId8" Type="http://schemas.openxmlformats.org/officeDocument/2006/relationships/notesSlide" Target="../notesSlides/notesSlide20.xml"/><Relationship Id="rId7" Type="http://schemas.openxmlformats.org/officeDocument/2006/relationships/slideLayout" Target="../slideLayouts/slideLayout12.xml"/><Relationship Id="rId6" Type="http://schemas.openxmlformats.org/officeDocument/2006/relationships/image" Target="../media/image12.svg"/><Relationship Id="rId5" Type="http://schemas.openxmlformats.org/officeDocument/2006/relationships/image" Target="../media/image43.png"/><Relationship Id="rId4" Type="http://schemas.openxmlformats.org/officeDocument/2006/relationships/image" Target="../media/image26.svg"/><Relationship Id="rId3" Type="http://schemas.openxmlformats.org/officeDocument/2006/relationships/image" Target="../media/image95.png"/><Relationship Id="rId2" Type="http://schemas.openxmlformats.org/officeDocument/2006/relationships/image" Target="../media/image42.svg"/><Relationship Id="rId1" Type="http://schemas.openxmlformats.org/officeDocument/2006/relationships/image" Target="../media/image44.png"/></Relationships>
</file>

<file path=ppt/slides/_rels/slide21.xml.rels><?xml version="1.0" encoding="UTF-8" standalone="yes"?>
<Relationships xmlns="http://schemas.openxmlformats.org/package/2006/relationships"><Relationship Id="rId8" Type="http://schemas.openxmlformats.org/officeDocument/2006/relationships/notesSlide" Target="../notesSlides/notesSlide21.xml"/><Relationship Id="rId7" Type="http://schemas.openxmlformats.org/officeDocument/2006/relationships/slideLayout" Target="../slideLayouts/slideLayout12.xml"/><Relationship Id="rId6" Type="http://schemas.openxmlformats.org/officeDocument/2006/relationships/image" Target="../media/image98.svg"/><Relationship Id="rId5" Type="http://schemas.openxmlformats.org/officeDocument/2006/relationships/image" Target="../media/image97.png"/><Relationship Id="rId4" Type="http://schemas.openxmlformats.org/officeDocument/2006/relationships/image" Target="../media/image34.svg"/><Relationship Id="rId3" Type="http://schemas.openxmlformats.org/officeDocument/2006/relationships/image" Target="../media/image96.png"/><Relationship Id="rId2" Type="http://schemas.openxmlformats.org/officeDocument/2006/relationships/image" Target="../media/image94.svg"/><Relationship Id="rId1" Type="http://schemas.openxmlformats.org/officeDocument/2006/relationships/image" Target="../media/image93.png"/></Relationships>
</file>

<file path=ppt/slides/_rels/slide22.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04.svg"/><Relationship Id="rId7" Type="http://schemas.openxmlformats.org/officeDocument/2006/relationships/image" Target="../media/image103.png"/><Relationship Id="rId6" Type="http://schemas.openxmlformats.org/officeDocument/2006/relationships/image" Target="../media/image102.svg"/><Relationship Id="rId5" Type="http://schemas.openxmlformats.org/officeDocument/2006/relationships/image" Target="../media/image101.png"/><Relationship Id="rId4" Type="http://schemas.openxmlformats.org/officeDocument/2006/relationships/image" Target="../media/image73.svg"/><Relationship Id="rId3" Type="http://schemas.openxmlformats.org/officeDocument/2006/relationships/image" Target="../media/image72.png"/><Relationship Id="rId2" Type="http://schemas.openxmlformats.org/officeDocument/2006/relationships/image" Target="../media/image100.svg"/><Relationship Id="rId10" Type="http://schemas.openxmlformats.org/officeDocument/2006/relationships/notesSlide" Target="../notesSlides/notesSlide22.xml"/><Relationship Id="rId1" Type="http://schemas.openxmlformats.org/officeDocument/2006/relationships/image" Target="../media/image99.png"/></Relationships>
</file>

<file path=ppt/slides/_rels/slide23.xml.rels><?xml version="1.0" encoding="UTF-8" standalone="yes"?>
<Relationships xmlns="http://schemas.openxmlformats.org/package/2006/relationships"><Relationship Id="rId9" Type="http://schemas.openxmlformats.org/officeDocument/2006/relationships/image" Target="../media/image111.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image" Target="../media/image110.svg"/><Relationship Id="rId5" Type="http://schemas.openxmlformats.org/officeDocument/2006/relationships/image" Target="../media/image109.png"/><Relationship Id="rId4" Type="http://schemas.openxmlformats.org/officeDocument/2006/relationships/image" Target="../media/image108.svg"/><Relationship Id="rId3" Type="http://schemas.openxmlformats.org/officeDocument/2006/relationships/image" Target="../media/image107.png"/><Relationship Id="rId2" Type="http://schemas.openxmlformats.org/officeDocument/2006/relationships/image" Target="../media/image106.svg"/><Relationship Id="rId16" Type="http://schemas.openxmlformats.org/officeDocument/2006/relationships/notesSlide" Target="../notesSlides/notesSlide23.xml"/><Relationship Id="rId15" Type="http://schemas.openxmlformats.org/officeDocument/2006/relationships/slideLayout" Target="../slideLayouts/slideLayout12.xml"/><Relationship Id="rId14" Type="http://schemas.openxmlformats.org/officeDocument/2006/relationships/image" Target="../media/image116.svg"/><Relationship Id="rId13" Type="http://schemas.openxmlformats.org/officeDocument/2006/relationships/image" Target="../media/image115.png"/><Relationship Id="rId12" Type="http://schemas.openxmlformats.org/officeDocument/2006/relationships/image" Target="../media/image114.svg"/><Relationship Id="rId11" Type="http://schemas.openxmlformats.org/officeDocument/2006/relationships/image" Target="../media/image113.png"/><Relationship Id="rId10" Type="http://schemas.openxmlformats.org/officeDocument/2006/relationships/image" Target="../media/image112.svg"/><Relationship Id="rId1" Type="http://schemas.openxmlformats.org/officeDocument/2006/relationships/image" Target="../media/image105.png"/></Relationships>
</file>

<file path=ppt/slides/_rels/slide24.xml.rels><?xml version="1.0" encoding="UTF-8" standalone="yes"?>
<Relationships xmlns="http://schemas.openxmlformats.org/package/2006/relationships"><Relationship Id="rId9" Type="http://schemas.openxmlformats.org/officeDocument/2006/relationships/image" Target="../media/image123.png"/><Relationship Id="rId8" Type="http://schemas.openxmlformats.org/officeDocument/2006/relationships/image" Target="../media/image26.svg"/><Relationship Id="rId7" Type="http://schemas.openxmlformats.org/officeDocument/2006/relationships/image" Target="../media/image95.png"/><Relationship Id="rId6" Type="http://schemas.openxmlformats.org/officeDocument/2006/relationships/image" Target="../media/image122.svg"/><Relationship Id="rId5" Type="http://schemas.openxmlformats.org/officeDocument/2006/relationships/image" Target="../media/image121.png"/><Relationship Id="rId4" Type="http://schemas.openxmlformats.org/officeDocument/2006/relationships/image" Target="../media/image120.svg"/><Relationship Id="rId3" Type="http://schemas.openxmlformats.org/officeDocument/2006/relationships/image" Target="../media/image119.png"/><Relationship Id="rId2" Type="http://schemas.openxmlformats.org/officeDocument/2006/relationships/image" Target="../media/image118.svg"/><Relationship Id="rId18" Type="http://schemas.openxmlformats.org/officeDocument/2006/relationships/notesSlide" Target="../notesSlides/notesSlide24.xml"/><Relationship Id="rId17" Type="http://schemas.openxmlformats.org/officeDocument/2006/relationships/slideLayout" Target="../slideLayouts/slideLayout12.xml"/><Relationship Id="rId16" Type="http://schemas.openxmlformats.org/officeDocument/2006/relationships/image" Target="../media/image128.svg"/><Relationship Id="rId15" Type="http://schemas.openxmlformats.org/officeDocument/2006/relationships/image" Target="../media/image127.png"/><Relationship Id="rId14" Type="http://schemas.openxmlformats.org/officeDocument/2006/relationships/image" Target="../media/image92.svg"/><Relationship Id="rId13" Type="http://schemas.openxmlformats.org/officeDocument/2006/relationships/image" Target="../media/image91.png"/><Relationship Id="rId12" Type="http://schemas.openxmlformats.org/officeDocument/2006/relationships/image" Target="../media/image126.svg"/><Relationship Id="rId11" Type="http://schemas.openxmlformats.org/officeDocument/2006/relationships/image" Target="../media/image125.png"/><Relationship Id="rId10" Type="http://schemas.openxmlformats.org/officeDocument/2006/relationships/image" Target="../media/image124.svg"/><Relationship Id="rId1" Type="http://schemas.openxmlformats.org/officeDocument/2006/relationships/image" Target="../media/image117.png"/></Relationships>
</file>

<file path=ppt/slides/_rels/slide25.xml.rels><?xml version="1.0" encoding="UTF-8" standalone="yes"?>
<Relationships xmlns="http://schemas.openxmlformats.org/package/2006/relationships"><Relationship Id="rId9" Type="http://schemas.openxmlformats.org/officeDocument/2006/relationships/image" Target="../media/image43.png"/><Relationship Id="rId8" Type="http://schemas.openxmlformats.org/officeDocument/2006/relationships/image" Target="../media/image84.svg"/><Relationship Id="rId7" Type="http://schemas.openxmlformats.org/officeDocument/2006/relationships/image" Target="../media/image83.png"/><Relationship Id="rId6" Type="http://schemas.openxmlformats.org/officeDocument/2006/relationships/image" Target="../media/image128.svg"/><Relationship Id="rId5" Type="http://schemas.openxmlformats.org/officeDocument/2006/relationships/image" Target="../media/image127.png"/><Relationship Id="rId4" Type="http://schemas.openxmlformats.org/officeDocument/2006/relationships/image" Target="../media/image130.svg"/><Relationship Id="rId3" Type="http://schemas.openxmlformats.org/officeDocument/2006/relationships/image" Target="../media/image129.png"/><Relationship Id="rId2" Type="http://schemas.openxmlformats.org/officeDocument/2006/relationships/image" Target="../media/image63.svg"/><Relationship Id="rId16" Type="http://schemas.openxmlformats.org/officeDocument/2006/relationships/notesSlide" Target="../notesSlides/notesSlide25.xml"/><Relationship Id="rId15" Type="http://schemas.openxmlformats.org/officeDocument/2006/relationships/slideLayout" Target="../slideLayouts/slideLayout12.xml"/><Relationship Id="rId14" Type="http://schemas.openxmlformats.org/officeDocument/2006/relationships/image" Target="../media/image56.svg"/><Relationship Id="rId13" Type="http://schemas.openxmlformats.org/officeDocument/2006/relationships/image" Target="../media/image55.png"/><Relationship Id="rId12" Type="http://schemas.openxmlformats.org/officeDocument/2006/relationships/image" Target="../media/image126.svg"/><Relationship Id="rId11" Type="http://schemas.openxmlformats.org/officeDocument/2006/relationships/image" Target="../media/image125.png"/><Relationship Id="rId10" Type="http://schemas.openxmlformats.org/officeDocument/2006/relationships/image" Target="../media/image12.svg"/><Relationship Id="rId1" Type="http://schemas.openxmlformats.org/officeDocument/2006/relationships/image" Target="../media/image62.png"/></Relationships>
</file>

<file path=ppt/slides/_rels/slide26.xml.rels><?xml version="1.0" encoding="UTF-8" standalone="yes"?>
<Relationships xmlns="http://schemas.openxmlformats.org/package/2006/relationships"><Relationship Id="rId9" Type="http://schemas.openxmlformats.org/officeDocument/2006/relationships/image" Target="../media/image76.png"/><Relationship Id="rId8" Type="http://schemas.openxmlformats.org/officeDocument/2006/relationships/image" Target="../media/image134.svg"/><Relationship Id="rId7" Type="http://schemas.openxmlformats.org/officeDocument/2006/relationships/image" Target="../media/image133.png"/><Relationship Id="rId6" Type="http://schemas.openxmlformats.org/officeDocument/2006/relationships/image" Target="../media/image106.svg"/><Relationship Id="rId5" Type="http://schemas.openxmlformats.org/officeDocument/2006/relationships/image" Target="../media/image105.png"/><Relationship Id="rId4" Type="http://schemas.openxmlformats.org/officeDocument/2006/relationships/image" Target="../media/image34.svg"/><Relationship Id="rId3" Type="http://schemas.openxmlformats.org/officeDocument/2006/relationships/image" Target="../media/image96.png"/><Relationship Id="rId2" Type="http://schemas.openxmlformats.org/officeDocument/2006/relationships/image" Target="../media/image132.svg"/><Relationship Id="rId16" Type="http://schemas.openxmlformats.org/officeDocument/2006/relationships/notesSlide" Target="../notesSlides/notesSlide26.xml"/><Relationship Id="rId15" Type="http://schemas.openxmlformats.org/officeDocument/2006/relationships/slideLayout" Target="../slideLayouts/slideLayout12.xml"/><Relationship Id="rId14" Type="http://schemas.openxmlformats.org/officeDocument/2006/relationships/image" Target="../media/image73.svg"/><Relationship Id="rId13" Type="http://schemas.openxmlformats.org/officeDocument/2006/relationships/image" Target="../media/image72.png"/><Relationship Id="rId12" Type="http://schemas.openxmlformats.org/officeDocument/2006/relationships/image" Target="../media/image136.svg"/><Relationship Id="rId11" Type="http://schemas.openxmlformats.org/officeDocument/2006/relationships/image" Target="../media/image135.png"/><Relationship Id="rId10" Type="http://schemas.openxmlformats.org/officeDocument/2006/relationships/image" Target="../media/image36.svg"/><Relationship Id="rId1" Type="http://schemas.openxmlformats.org/officeDocument/2006/relationships/image" Target="../media/image131.png"/></Relationships>
</file>

<file path=ppt/slides/_rels/slide27.xml.rels><?xml version="1.0" encoding="UTF-8" standalone="yes"?>
<Relationships xmlns="http://schemas.openxmlformats.org/package/2006/relationships"><Relationship Id="rId9" Type="http://schemas.openxmlformats.org/officeDocument/2006/relationships/image" Target="../media/image143.png"/><Relationship Id="rId8" Type="http://schemas.openxmlformats.org/officeDocument/2006/relationships/image" Target="../media/image142.svg"/><Relationship Id="rId7" Type="http://schemas.openxmlformats.org/officeDocument/2006/relationships/image" Target="../media/image141.png"/><Relationship Id="rId6" Type="http://schemas.openxmlformats.org/officeDocument/2006/relationships/image" Target="../media/image36.svg"/><Relationship Id="rId5" Type="http://schemas.openxmlformats.org/officeDocument/2006/relationships/image" Target="../media/image76.png"/><Relationship Id="rId4" Type="http://schemas.openxmlformats.org/officeDocument/2006/relationships/image" Target="../media/image140.svg"/><Relationship Id="rId3" Type="http://schemas.openxmlformats.org/officeDocument/2006/relationships/image" Target="../media/image139.png"/><Relationship Id="rId2" Type="http://schemas.openxmlformats.org/officeDocument/2006/relationships/image" Target="../media/image138.svg"/><Relationship Id="rId18" Type="http://schemas.openxmlformats.org/officeDocument/2006/relationships/notesSlide" Target="../notesSlides/notesSlide27.xml"/><Relationship Id="rId17" Type="http://schemas.openxmlformats.org/officeDocument/2006/relationships/slideLayout" Target="../slideLayouts/slideLayout12.xml"/><Relationship Id="rId16" Type="http://schemas.openxmlformats.org/officeDocument/2006/relationships/image" Target="../media/image150.svg"/><Relationship Id="rId15" Type="http://schemas.openxmlformats.org/officeDocument/2006/relationships/image" Target="../media/image149.png"/><Relationship Id="rId14" Type="http://schemas.openxmlformats.org/officeDocument/2006/relationships/image" Target="../media/image148.svg"/><Relationship Id="rId13" Type="http://schemas.openxmlformats.org/officeDocument/2006/relationships/image" Target="../media/image147.png"/><Relationship Id="rId12" Type="http://schemas.openxmlformats.org/officeDocument/2006/relationships/image" Target="../media/image146.svg"/><Relationship Id="rId11" Type="http://schemas.openxmlformats.org/officeDocument/2006/relationships/image" Target="../media/image145.png"/><Relationship Id="rId10" Type="http://schemas.openxmlformats.org/officeDocument/2006/relationships/image" Target="../media/image144.svg"/><Relationship Id="rId1" Type="http://schemas.openxmlformats.org/officeDocument/2006/relationships/image" Target="../media/image137.png"/></Relationships>
</file>

<file path=ppt/slides/_rels/slide28.xml.rels><?xml version="1.0" encoding="UTF-8" standalone="yes"?>
<Relationships xmlns="http://schemas.openxmlformats.org/package/2006/relationships"><Relationship Id="rId8" Type="http://schemas.openxmlformats.org/officeDocument/2006/relationships/notesSlide" Target="../notesSlides/notesSlide28.xml"/><Relationship Id="rId7" Type="http://schemas.openxmlformats.org/officeDocument/2006/relationships/slideLayout" Target="../slideLayouts/slideLayout12.xml"/><Relationship Id="rId6" Type="http://schemas.openxmlformats.org/officeDocument/2006/relationships/image" Target="../media/image152.svg"/><Relationship Id="rId5" Type="http://schemas.openxmlformats.org/officeDocument/2006/relationships/image" Target="../media/image151.png"/><Relationship Id="rId4" Type="http://schemas.openxmlformats.org/officeDocument/2006/relationships/image" Target="../media/image6.svg"/><Relationship Id="rId3" Type="http://schemas.openxmlformats.org/officeDocument/2006/relationships/image" Target="../media/image10.png"/><Relationship Id="rId2" Type="http://schemas.openxmlformats.org/officeDocument/2006/relationships/image" Target="../media/image90.svg"/><Relationship Id="rId1" Type="http://schemas.openxmlformats.org/officeDocument/2006/relationships/image" Target="../media/image89.png"/></Relationships>
</file>

<file path=ppt/slides/_rels/slide29.xml.rels><?xml version="1.0" encoding="UTF-8" standalone="yes"?>
<Relationships xmlns="http://schemas.openxmlformats.org/package/2006/relationships"><Relationship Id="rId9" Type="http://schemas.openxmlformats.org/officeDocument/2006/relationships/image" Target="../media/image159.svg"/><Relationship Id="rId8" Type="http://schemas.openxmlformats.org/officeDocument/2006/relationships/image" Target="../media/image158.png"/><Relationship Id="rId7" Type="http://schemas.openxmlformats.org/officeDocument/2006/relationships/image" Target="../media/image157.svg"/><Relationship Id="rId6" Type="http://schemas.openxmlformats.org/officeDocument/2006/relationships/image" Target="../media/image156.png"/><Relationship Id="rId5" Type="http://schemas.openxmlformats.org/officeDocument/2006/relationships/image" Target="../media/image155.svg"/><Relationship Id="rId4" Type="http://schemas.openxmlformats.org/officeDocument/2006/relationships/image" Target="../media/image154.png"/><Relationship Id="rId3" Type="http://schemas.openxmlformats.org/officeDocument/2006/relationships/image" Target="../media/image98.svg"/><Relationship Id="rId23" Type="http://schemas.openxmlformats.org/officeDocument/2006/relationships/notesSlide" Target="../notesSlides/notesSlide29.xml"/><Relationship Id="rId22" Type="http://schemas.openxmlformats.org/officeDocument/2006/relationships/slideLayout" Target="../slideLayouts/slideLayout12.xml"/><Relationship Id="rId21" Type="http://schemas.openxmlformats.org/officeDocument/2006/relationships/image" Target="../media/image6.svg"/><Relationship Id="rId20" Type="http://schemas.openxmlformats.org/officeDocument/2006/relationships/image" Target="../media/image10.png"/><Relationship Id="rId2" Type="http://schemas.openxmlformats.org/officeDocument/2006/relationships/image" Target="../media/image97.png"/><Relationship Id="rId19" Type="http://schemas.openxmlformats.org/officeDocument/2006/relationships/image" Target="../media/image90.svg"/><Relationship Id="rId18" Type="http://schemas.openxmlformats.org/officeDocument/2006/relationships/image" Target="../media/image89.png"/><Relationship Id="rId17" Type="http://schemas.openxmlformats.org/officeDocument/2006/relationships/image" Target="../media/image161.svg"/><Relationship Id="rId16" Type="http://schemas.openxmlformats.org/officeDocument/2006/relationships/image" Target="../media/image160.png"/><Relationship Id="rId15" Type="http://schemas.openxmlformats.org/officeDocument/2006/relationships/image" Target="../media/image92.svg"/><Relationship Id="rId14" Type="http://schemas.openxmlformats.org/officeDocument/2006/relationships/image" Target="../media/image91.png"/><Relationship Id="rId13" Type="http://schemas.openxmlformats.org/officeDocument/2006/relationships/image" Target="../media/image26.svg"/><Relationship Id="rId12" Type="http://schemas.openxmlformats.org/officeDocument/2006/relationships/image" Target="../media/image95.png"/><Relationship Id="rId11" Type="http://schemas.openxmlformats.org/officeDocument/2006/relationships/image" Target="../media/image152.svg"/><Relationship Id="rId10" Type="http://schemas.openxmlformats.org/officeDocument/2006/relationships/image" Target="../media/image151.png"/><Relationship Id="rId1" Type="http://schemas.openxmlformats.org/officeDocument/2006/relationships/image" Target="../media/image153.jpeg"/></Relationships>
</file>

<file path=ppt/slides/_rels/slide30.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26.svg"/><Relationship Id="rId7" Type="http://schemas.openxmlformats.org/officeDocument/2006/relationships/image" Target="../media/image95.png"/><Relationship Id="rId6" Type="http://schemas.openxmlformats.org/officeDocument/2006/relationships/image" Target="../media/image167.svg"/><Relationship Id="rId5" Type="http://schemas.openxmlformats.org/officeDocument/2006/relationships/image" Target="../media/image166.png"/><Relationship Id="rId4" Type="http://schemas.openxmlformats.org/officeDocument/2006/relationships/image" Target="../media/image165.svg"/><Relationship Id="rId3" Type="http://schemas.openxmlformats.org/officeDocument/2006/relationships/image" Target="../media/image164.png"/><Relationship Id="rId2" Type="http://schemas.openxmlformats.org/officeDocument/2006/relationships/image" Target="../media/image163.svg"/><Relationship Id="rId10" Type="http://schemas.openxmlformats.org/officeDocument/2006/relationships/notesSlide" Target="../notesSlides/notesSlide30.xml"/><Relationship Id="rId1" Type="http://schemas.openxmlformats.org/officeDocument/2006/relationships/image" Target="../media/image162.png"/></Relationships>
</file>

<file path=ppt/slides/_rels/slide31.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75.svg"/><Relationship Id="rId7" Type="http://schemas.openxmlformats.org/officeDocument/2006/relationships/image" Target="../media/image174.png"/><Relationship Id="rId6" Type="http://schemas.openxmlformats.org/officeDocument/2006/relationships/image" Target="../media/image173.svg"/><Relationship Id="rId5" Type="http://schemas.openxmlformats.org/officeDocument/2006/relationships/image" Target="../media/image172.png"/><Relationship Id="rId4" Type="http://schemas.openxmlformats.org/officeDocument/2006/relationships/image" Target="../media/image171.svg"/><Relationship Id="rId3" Type="http://schemas.openxmlformats.org/officeDocument/2006/relationships/image" Target="../media/image170.png"/><Relationship Id="rId2" Type="http://schemas.openxmlformats.org/officeDocument/2006/relationships/image" Target="../media/image169.svg"/><Relationship Id="rId10" Type="http://schemas.openxmlformats.org/officeDocument/2006/relationships/notesSlide" Target="../notesSlides/notesSlide31.xml"/><Relationship Id="rId1" Type="http://schemas.openxmlformats.org/officeDocument/2006/relationships/image" Target="../media/image168.png"/></Relationships>
</file>

<file path=ppt/slides/_rels/slide32.xml.rels><?xml version="1.0" encoding="UTF-8" standalone="yes"?>
<Relationships xmlns="http://schemas.openxmlformats.org/package/2006/relationships"><Relationship Id="rId6" Type="http://schemas.openxmlformats.org/officeDocument/2006/relationships/notesSlide" Target="../notesSlides/notesSlide32.xml"/><Relationship Id="rId5" Type="http://schemas.openxmlformats.org/officeDocument/2006/relationships/slideLayout" Target="../slideLayouts/slideLayout12.xml"/><Relationship Id="rId4" Type="http://schemas.openxmlformats.org/officeDocument/2006/relationships/image" Target="../media/image12.svg"/><Relationship Id="rId3" Type="http://schemas.openxmlformats.org/officeDocument/2006/relationships/image" Target="../media/image43.png"/><Relationship Id="rId2" Type="http://schemas.openxmlformats.org/officeDocument/2006/relationships/image" Target="../media/image6.svg"/><Relationship Id="rId1" Type="http://schemas.openxmlformats.org/officeDocument/2006/relationships/image" Target="../media/image10.png"/></Relationships>
</file>

<file path=ppt/slides/_rels/slide33.xml.rels><?xml version="1.0" encoding="UTF-8" standalone="yes"?>
<Relationships xmlns="http://schemas.openxmlformats.org/package/2006/relationships"><Relationship Id="rId9" Type="http://schemas.openxmlformats.org/officeDocument/2006/relationships/image" Target="../media/image43.png"/><Relationship Id="rId8" Type="http://schemas.openxmlformats.org/officeDocument/2006/relationships/image" Target="../media/image181.svg"/><Relationship Id="rId7" Type="http://schemas.openxmlformats.org/officeDocument/2006/relationships/image" Target="../media/image180.png"/><Relationship Id="rId6" Type="http://schemas.openxmlformats.org/officeDocument/2006/relationships/image" Target="../media/image50.svg"/><Relationship Id="rId5" Type="http://schemas.openxmlformats.org/officeDocument/2006/relationships/image" Target="../media/image53.png"/><Relationship Id="rId4" Type="http://schemas.openxmlformats.org/officeDocument/2006/relationships/image" Target="../media/image179.svg"/><Relationship Id="rId3" Type="http://schemas.openxmlformats.org/officeDocument/2006/relationships/image" Target="../media/image178.png"/><Relationship Id="rId2" Type="http://schemas.openxmlformats.org/officeDocument/2006/relationships/image" Target="../media/image177.svg"/><Relationship Id="rId12" Type="http://schemas.openxmlformats.org/officeDocument/2006/relationships/notesSlide" Target="../notesSlides/notesSlide33.xml"/><Relationship Id="rId11" Type="http://schemas.openxmlformats.org/officeDocument/2006/relationships/slideLayout" Target="../slideLayouts/slideLayout12.xml"/><Relationship Id="rId10" Type="http://schemas.openxmlformats.org/officeDocument/2006/relationships/image" Target="../media/image12.svg"/><Relationship Id="rId1" Type="http://schemas.openxmlformats.org/officeDocument/2006/relationships/image" Target="../media/image176.png"/></Relationships>
</file>

<file path=ppt/slides/_rels/slide34.xml.rels><?xml version="1.0" encoding="UTF-8" standalone="yes"?>
<Relationships xmlns="http://schemas.openxmlformats.org/package/2006/relationships"><Relationship Id="rId9" Type="http://schemas.openxmlformats.org/officeDocument/2006/relationships/image" Target="../media/image184.png"/><Relationship Id="rId8" Type="http://schemas.openxmlformats.org/officeDocument/2006/relationships/image" Target="../media/image183.svg"/><Relationship Id="rId7" Type="http://schemas.openxmlformats.org/officeDocument/2006/relationships/image" Target="../media/image182.png"/><Relationship Id="rId6" Type="http://schemas.openxmlformats.org/officeDocument/2006/relationships/image" Target="../media/image6.svg"/><Relationship Id="rId5" Type="http://schemas.openxmlformats.org/officeDocument/2006/relationships/image" Target="../media/image10.png"/><Relationship Id="rId4" Type="http://schemas.openxmlformats.org/officeDocument/2006/relationships/image" Target="../media/image167.svg"/><Relationship Id="rId3" Type="http://schemas.openxmlformats.org/officeDocument/2006/relationships/image" Target="../media/image166.png"/><Relationship Id="rId20" Type="http://schemas.openxmlformats.org/officeDocument/2006/relationships/notesSlide" Target="../notesSlides/notesSlide34.xml"/><Relationship Id="rId2" Type="http://schemas.openxmlformats.org/officeDocument/2006/relationships/image" Target="../media/image12.svg"/><Relationship Id="rId19" Type="http://schemas.openxmlformats.org/officeDocument/2006/relationships/slideLayout" Target="../slideLayouts/slideLayout12.xml"/><Relationship Id="rId18" Type="http://schemas.openxmlformats.org/officeDocument/2006/relationships/image" Target="../media/image118.svg"/><Relationship Id="rId17" Type="http://schemas.openxmlformats.org/officeDocument/2006/relationships/image" Target="../media/image117.png"/><Relationship Id="rId16" Type="http://schemas.openxmlformats.org/officeDocument/2006/relationships/image" Target="../media/image191.svg"/><Relationship Id="rId15" Type="http://schemas.openxmlformats.org/officeDocument/2006/relationships/image" Target="../media/image190.png"/><Relationship Id="rId14" Type="http://schemas.openxmlformats.org/officeDocument/2006/relationships/image" Target="../media/image189.svg"/><Relationship Id="rId13" Type="http://schemas.openxmlformats.org/officeDocument/2006/relationships/image" Target="../media/image188.png"/><Relationship Id="rId12" Type="http://schemas.openxmlformats.org/officeDocument/2006/relationships/image" Target="../media/image187.svg"/><Relationship Id="rId11" Type="http://schemas.openxmlformats.org/officeDocument/2006/relationships/image" Target="../media/image186.png"/><Relationship Id="rId10" Type="http://schemas.openxmlformats.org/officeDocument/2006/relationships/image" Target="../media/image185.svg"/><Relationship Id="rId1" Type="http://schemas.openxmlformats.org/officeDocument/2006/relationships/image" Target="../media/image43.png"/></Relationships>
</file>

<file path=ppt/slides/_rels/slide35.xml.rels><?xml version="1.0" encoding="UTF-8" standalone="yes"?>
<Relationships xmlns="http://schemas.openxmlformats.org/package/2006/relationships"><Relationship Id="rId6" Type="http://schemas.openxmlformats.org/officeDocument/2006/relationships/notesSlide" Target="../notesSlides/notesSlide35.xml"/><Relationship Id="rId5" Type="http://schemas.openxmlformats.org/officeDocument/2006/relationships/slideLayout" Target="../slideLayouts/slideLayout12.xml"/><Relationship Id="rId4" Type="http://schemas.openxmlformats.org/officeDocument/2006/relationships/image" Target="../media/image12.svg"/><Relationship Id="rId3" Type="http://schemas.openxmlformats.org/officeDocument/2006/relationships/image" Target="../media/image43.png"/><Relationship Id="rId2" Type="http://schemas.openxmlformats.org/officeDocument/2006/relationships/image" Target="../media/image6.svg"/><Relationship Id="rId1" Type="http://schemas.openxmlformats.org/officeDocument/2006/relationships/image" Target="../media/image10.png"/></Relationships>
</file>

<file path=ppt/slides/_rels/slide36.xml.rels><?xml version="1.0" encoding="UTF-8" standalone="yes"?>
<Relationships xmlns="http://schemas.openxmlformats.org/package/2006/relationships"><Relationship Id="rId6" Type="http://schemas.openxmlformats.org/officeDocument/2006/relationships/notesSlide" Target="../notesSlides/notesSlide36.xml"/><Relationship Id="rId5" Type="http://schemas.openxmlformats.org/officeDocument/2006/relationships/slideLayout" Target="../slideLayouts/slideLayout12.xml"/><Relationship Id="rId4" Type="http://schemas.openxmlformats.org/officeDocument/2006/relationships/image" Target="../media/image12.svg"/><Relationship Id="rId3" Type="http://schemas.openxmlformats.org/officeDocument/2006/relationships/image" Target="../media/image43.png"/><Relationship Id="rId2" Type="http://schemas.openxmlformats.org/officeDocument/2006/relationships/image" Target="../media/image191.svg"/><Relationship Id="rId1" Type="http://schemas.openxmlformats.org/officeDocument/2006/relationships/image" Target="../media/image190.png"/></Relationships>
</file>

<file path=ppt/slides/_rels/slide37.xml.rels><?xml version="1.0" encoding="UTF-8" standalone="yes"?>
<Relationships xmlns="http://schemas.openxmlformats.org/package/2006/relationships"><Relationship Id="rId9" Type="http://schemas.openxmlformats.org/officeDocument/2006/relationships/notesSlide" Target="../notesSlides/notesSlide37.xml"/><Relationship Id="rId8" Type="http://schemas.openxmlformats.org/officeDocument/2006/relationships/slideLayout" Target="../slideLayouts/slideLayout12.xml"/><Relationship Id="rId7" Type="http://schemas.openxmlformats.org/officeDocument/2006/relationships/image" Target="../media/image183.svg"/><Relationship Id="rId6" Type="http://schemas.openxmlformats.org/officeDocument/2006/relationships/image" Target="../media/image182.png"/><Relationship Id="rId5" Type="http://schemas.openxmlformats.org/officeDocument/2006/relationships/image" Target="../media/image155.svg"/><Relationship Id="rId4" Type="http://schemas.openxmlformats.org/officeDocument/2006/relationships/image" Target="../media/image154.png"/><Relationship Id="rId3" Type="http://schemas.openxmlformats.org/officeDocument/2006/relationships/image" Target="../media/image98.svg"/><Relationship Id="rId2" Type="http://schemas.openxmlformats.org/officeDocument/2006/relationships/image" Target="../media/image97.png"/><Relationship Id="rId1" Type="http://schemas.openxmlformats.org/officeDocument/2006/relationships/image" Target="../media/image192.jpeg"/></Relationships>
</file>

<file path=ppt/slides/_rels/slide38.xml.rels><?xml version="1.0" encoding="UTF-8" standalone="yes"?>
<Relationships xmlns="http://schemas.openxmlformats.org/package/2006/relationships"><Relationship Id="rId8" Type="http://schemas.openxmlformats.org/officeDocument/2006/relationships/notesSlide" Target="../notesSlides/notesSlide38.xml"/><Relationship Id="rId7" Type="http://schemas.openxmlformats.org/officeDocument/2006/relationships/slideLayout" Target="../slideLayouts/slideLayout12.xml"/><Relationship Id="rId6" Type="http://schemas.openxmlformats.org/officeDocument/2006/relationships/image" Target="../media/image196.svg"/><Relationship Id="rId5" Type="http://schemas.openxmlformats.org/officeDocument/2006/relationships/image" Target="../media/image195.png"/><Relationship Id="rId4" Type="http://schemas.openxmlformats.org/officeDocument/2006/relationships/image" Target="../media/image194.svg"/><Relationship Id="rId3" Type="http://schemas.openxmlformats.org/officeDocument/2006/relationships/image" Target="../media/image193.png"/><Relationship Id="rId2" Type="http://schemas.openxmlformats.org/officeDocument/2006/relationships/image" Target="../media/image56.svg"/><Relationship Id="rId1" Type="http://schemas.openxmlformats.org/officeDocument/2006/relationships/image" Target="../media/image55.png"/></Relationships>
</file>

<file path=ppt/slides/_rels/slide39.xml.rels><?xml version="1.0" encoding="UTF-8" standalone="yes"?>
<Relationships xmlns="http://schemas.openxmlformats.org/package/2006/relationships"><Relationship Id="rId9" Type="http://schemas.openxmlformats.org/officeDocument/2006/relationships/image" Target="../media/image40.svg"/><Relationship Id="rId8" Type="http://schemas.openxmlformats.org/officeDocument/2006/relationships/image" Target="../media/image54.png"/><Relationship Id="rId7" Type="http://schemas.openxmlformats.org/officeDocument/2006/relationships/image" Target="../media/image26.svg"/><Relationship Id="rId6" Type="http://schemas.openxmlformats.org/officeDocument/2006/relationships/image" Target="../media/image95.png"/><Relationship Id="rId5" Type="http://schemas.openxmlformats.org/officeDocument/2006/relationships/image" Target="../media/image199.svg"/><Relationship Id="rId4" Type="http://schemas.openxmlformats.org/officeDocument/2006/relationships/image" Target="../media/image198.png"/><Relationship Id="rId3" Type="http://schemas.openxmlformats.org/officeDocument/2006/relationships/image" Target="../media/image14.svg"/><Relationship Id="rId2" Type="http://schemas.openxmlformats.org/officeDocument/2006/relationships/image" Target="../media/image27.png"/><Relationship Id="rId11" Type="http://schemas.openxmlformats.org/officeDocument/2006/relationships/notesSlide" Target="../notesSlides/notesSlide39.xml"/><Relationship Id="rId10" Type="http://schemas.openxmlformats.org/officeDocument/2006/relationships/slideLayout" Target="../slideLayouts/slideLayout12.xml"/><Relationship Id="rId1" Type="http://schemas.openxmlformats.org/officeDocument/2006/relationships/image" Target="../media/image197.jpeg"/></Relationships>
</file>

<file path=ppt/slides/_rels/slide40.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84.svg"/><Relationship Id="rId7" Type="http://schemas.openxmlformats.org/officeDocument/2006/relationships/image" Target="../media/image83.png"/><Relationship Id="rId6" Type="http://schemas.openxmlformats.org/officeDocument/2006/relationships/image" Target="../media/image201.svg"/><Relationship Id="rId5" Type="http://schemas.openxmlformats.org/officeDocument/2006/relationships/image" Target="../media/image200.png"/><Relationship Id="rId4" Type="http://schemas.openxmlformats.org/officeDocument/2006/relationships/image" Target="../media/image148.svg"/><Relationship Id="rId3" Type="http://schemas.openxmlformats.org/officeDocument/2006/relationships/image" Target="../media/image147.png"/><Relationship Id="rId2" Type="http://schemas.openxmlformats.org/officeDocument/2006/relationships/image" Target="../media/image56.svg"/><Relationship Id="rId10" Type="http://schemas.openxmlformats.org/officeDocument/2006/relationships/notesSlide" Target="../notesSlides/notesSlide40.xml"/><Relationship Id="rId1" Type="http://schemas.openxmlformats.org/officeDocument/2006/relationships/image" Target="../media/image55.png"/></Relationships>
</file>

<file path=ppt/slides/_rels/slide41.xml.rels><?xml version="1.0" encoding="UTF-8" standalone="yes"?>
<Relationships xmlns="http://schemas.openxmlformats.org/package/2006/relationships"><Relationship Id="rId8" Type="http://schemas.openxmlformats.org/officeDocument/2006/relationships/notesSlide" Target="../notesSlides/notesSlide41.xml"/><Relationship Id="rId7" Type="http://schemas.openxmlformats.org/officeDocument/2006/relationships/slideLayout" Target="../slideLayouts/slideLayout12.xml"/><Relationship Id="rId6" Type="http://schemas.openxmlformats.org/officeDocument/2006/relationships/image" Target="../media/image2.svg"/><Relationship Id="rId5" Type="http://schemas.openxmlformats.org/officeDocument/2006/relationships/image" Target="../media/image204.png"/><Relationship Id="rId4" Type="http://schemas.openxmlformats.org/officeDocument/2006/relationships/image" Target="../media/image203.svg"/><Relationship Id="rId3" Type="http://schemas.openxmlformats.org/officeDocument/2006/relationships/image" Target="../media/image202.png"/><Relationship Id="rId2" Type="http://schemas.openxmlformats.org/officeDocument/2006/relationships/image" Target="../media/image88.svg"/><Relationship Id="rId1" Type="http://schemas.openxmlformats.org/officeDocument/2006/relationships/image" Target="../media/image87.png"/></Relationships>
</file>

<file path=ppt/slides/_rels/slide42.xml.rels><?xml version="1.0" encoding="UTF-8" standalone="yes"?>
<Relationships xmlns="http://schemas.openxmlformats.org/package/2006/relationships"><Relationship Id="rId9" Type="http://schemas.openxmlformats.org/officeDocument/2006/relationships/notesSlide" Target="../notesSlides/notesSlide42.xml"/><Relationship Id="rId8" Type="http://schemas.openxmlformats.org/officeDocument/2006/relationships/slideLayout" Target="../slideLayouts/slideLayout12.xml"/><Relationship Id="rId7" Type="http://schemas.openxmlformats.org/officeDocument/2006/relationships/image" Target="../media/image104.svg"/><Relationship Id="rId6" Type="http://schemas.openxmlformats.org/officeDocument/2006/relationships/image" Target="../media/image103.png"/><Relationship Id="rId5" Type="http://schemas.openxmlformats.org/officeDocument/2006/relationships/image" Target="../media/image209.svg"/><Relationship Id="rId4" Type="http://schemas.openxmlformats.org/officeDocument/2006/relationships/image" Target="../media/image208.png"/><Relationship Id="rId3" Type="http://schemas.openxmlformats.org/officeDocument/2006/relationships/image" Target="../media/image207.jpeg"/><Relationship Id="rId2" Type="http://schemas.openxmlformats.org/officeDocument/2006/relationships/image" Target="../media/image206.jpeg"/><Relationship Id="rId1" Type="http://schemas.openxmlformats.org/officeDocument/2006/relationships/image" Target="../media/image205.jpeg"/></Relationships>
</file>

<file path=ppt/slides/_rels/slide43.xml.rels><?xml version="1.0" encoding="UTF-8" standalone="yes"?>
<Relationships xmlns="http://schemas.openxmlformats.org/package/2006/relationships"><Relationship Id="rId9" Type="http://schemas.openxmlformats.org/officeDocument/2006/relationships/notesSlide" Target="../notesSlides/notesSlide43.xml"/><Relationship Id="rId8" Type="http://schemas.openxmlformats.org/officeDocument/2006/relationships/slideLayout" Target="../slideLayouts/slideLayout12.xml"/><Relationship Id="rId7" Type="http://schemas.openxmlformats.org/officeDocument/2006/relationships/image" Target="../media/image196.svg"/><Relationship Id="rId6" Type="http://schemas.openxmlformats.org/officeDocument/2006/relationships/image" Target="../media/image195.png"/><Relationship Id="rId5" Type="http://schemas.openxmlformats.org/officeDocument/2006/relationships/image" Target="../media/image63.svg"/><Relationship Id="rId4" Type="http://schemas.openxmlformats.org/officeDocument/2006/relationships/image" Target="../media/image62.png"/><Relationship Id="rId3" Type="http://schemas.openxmlformats.org/officeDocument/2006/relationships/image" Target="../media/image2.svg"/><Relationship Id="rId2" Type="http://schemas.openxmlformats.org/officeDocument/2006/relationships/image" Target="../media/image204.png"/><Relationship Id="rId1" Type="http://schemas.openxmlformats.org/officeDocument/2006/relationships/image" Target="../media/image210.jpeg"/></Relationships>
</file>

<file path=ppt/slides/_rels/slide44.xml.rels><?xml version="1.0" encoding="UTF-8" standalone="yes"?>
<Relationships xmlns="http://schemas.openxmlformats.org/package/2006/relationships"><Relationship Id="rId9" Type="http://schemas.openxmlformats.org/officeDocument/2006/relationships/image" Target="../media/image151.png"/><Relationship Id="rId8" Type="http://schemas.openxmlformats.org/officeDocument/2006/relationships/image" Target="../media/image6.svg"/><Relationship Id="rId7" Type="http://schemas.openxmlformats.org/officeDocument/2006/relationships/image" Target="../media/image10.png"/><Relationship Id="rId6" Type="http://schemas.openxmlformats.org/officeDocument/2006/relationships/image" Target="../media/image212.svg"/><Relationship Id="rId5" Type="http://schemas.openxmlformats.org/officeDocument/2006/relationships/image" Target="../media/image211.png"/><Relationship Id="rId4" Type="http://schemas.openxmlformats.org/officeDocument/2006/relationships/image" Target="../media/image52.svg"/><Relationship Id="rId3" Type="http://schemas.openxmlformats.org/officeDocument/2006/relationships/image" Target="../media/image51.png"/><Relationship Id="rId2" Type="http://schemas.openxmlformats.org/officeDocument/2006/relationships/image" Target="../media/image2.svg"/><Relationship Id="rId12" Type="http://schemas.openxmlformats.org/officeDocument/2006/relationships/notesSlide" Target="../notesSlides/notesSlide44.xml"/><Relationship Id="rId11" Type="http://schemas.openxmlformats.org/officeDocument/2006/relationships/slideLayout" Target="../slideLayouts/slideLayout12.xml"/><Relationship Id="rId10" Type="http://schemas.openxmlformats.org/officeDocument/2006/relationships/image" Target="../media/image152.svg"/><Relationship Id="rId1" Type="http://schemas.openxmlformats.org/officeDocument/2006/relationships/image" Target="../media/image204.png"/></Relationships>
</file>

<file path=ppt/slides/_rels/slide45.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94.svg"/><Relationship Id="rId7" Type="http://schemas.openxmlformats.org/officeDocument/2006/relationships/image" Target="../media/image93.png"/><Relationship Id="rId6" Type="http://schemas.openxmlformats.org/officeDocument/2006/relationships/image" Target="../media/image88.svg"/><Relationship Id="rId5" Type="http://schemas.openxmlformats.org/officeDocument/2006/relationships/image" Target="../media/image87.png"/><Relationship Id="rId4" Type="http://schemas.openxmlformats.org/officeDocument/2006/relationships/image" Target="../media/image12.svg"/><Relationship Id="rId3" Type="http://schemas.openxmlformats.org/officeDocument/2006/relationships/image" Target="../media/image43.png"/><Relationship Id="rId2" Type="http://schemas.openxmlformats.org/officeDocument/2006/relationships/image" Target="../media/image42.svg"/><Relationship Id="rId10" Type="http://schemas.openxmlformats.org/officeDocument/2006/relationships/notesSlide" Target="../notesSlides/notesSlide45.xml"/><Relationship Id="rId1" Type="http://schemas.openxmlformats.org/officeDocument/2006/relationships/image" Target="../media/image44.png"/></Relationships>
</file>

<file path=ppt/slides/_rels/slide46.xml.rels><?xml version="1.0" encoding="UTF-8" standalone="yes"?>
<Relationships xmlns="http://schemas.openxmlformats.org/package/2006/relationships"><Relationship Id="rId9" Type="http://schemas.openxmlformats.org/officeDocument/2006/relationships/image" Target="../media/image215.png"/><Relationship Id="rId8" Type="http://schemas.openxmlformats.org/officeDocument/2006/relationships/image" Target="../media/image191.svg"/><Relationship Id="rId7" Type="http://schemas.openxmlformats.org/officeDocument/2006/relationships/image" Target="../media/image190.png"/><Relationship Id="rId6" Type="http://schemas.openxmlformats.org/officeDocument/2006/relationships/image" Target="../media/image214.svg"/><Relationship Id="rId5" Type="http://schemas.openxmlformats.org/officeDocument/2006/relationships/image" Target="../media/image213.png"/><Relationship Id="rId4" Type="http://schemas.openxmlformats.org/officeDocument/2006/relationships/image" Target="../media/image50.svg"/><Relationship Id="rId3" Type="http://schemas.openxmlformats.org/officeDocument/2006/relationships/image" Target="../media/image53.png"/><Relationship Id="rId2" Type="http://schemas.openxmlformats.org/officeDocument/2006/relationships/image" Target="../media/image92.svg"/><Relationship Id="rId14" Type="http://schemas.openxmlformats.org/officeDocument/2006/relationships/notesSlide" Target="../notesSlides/notesSlide46.xml"/><Relationship Id="rId13" Type="http://schemas.openxmlformats.org/officeDocument/2006/relationships/slideLayout" Target="../slideLayouts/slideLayout12.xml"/><Relationship Id="rId12" Type="http://schemas.openxmlformats.org/officeDocument/2006/relationships/image" Target="../media/image155.svg"/><Relationship Id="rId11" Type="http://schemas.openxmlformats.org/officeDocument/2006/relationships/image" Target="../media/image154.png"/><Relationship Id="rId10" Type="http://schemas.openxmlformats.org/officeDocument/2006/relationships/image" Target="../media/image216.svg"/><Relationship Id="rId1" Type="http://schemas.openxmlformats.org/officeDocument/2006/relationships/image" Target="../media/image91.png"/></Relationships>
</file>

<file path=ppt/slides/_rels/slide47.xml.rels><?xml version="1.0" encoding="UTF-8" standalone="yes"?>
<Relationships xmlns="http://schemas.openxmlformats.org/package/2006/relationships"><Relationship Id="rId9" Type="http://schemas.openxmlformats.org/officeDocument/2006/relationships/image" Target="../media/image76.png"/><Relationship Id="rId8" Type="http://schemas.openxmlformats.org/officeDocument/2006/relationships/image" Target="../media/image2.svg"/><Relationship Id="rId7" Type="http://schemas.openxmlformats.org/officeDocument/2006/relationships/image" Target="../media/image204.png"/><Relationship Id="rId6" Type="http://schemas.openxmlformats.org/officeDocument/2006/relationships/image" Target="../media/image218.svg"/><Relationship Id="rId5" Type="http://schemas.openxmlformats.org/officeDocument/2006/relationships/image" Target="../media/image217.png"/><Relationship Id="rId4" Type="http://schemas.openxmlformats.org/officeDocument/2006/relationships/image" Target="../media/image177.svg"/><Relationship Id="rId3" Type="http://schemas.openxmlformats.org/officeDocument/2006/relationships/image" Target="../media/image176.png"/><Relationship Id="rId2" Type="http://schemas.openxmlformats.org/officeDocument/2006/relationships/image" Target="../media/image88.svg"/><Relationship Id="rId12" Type="http://schemas.openxmlformats.org/officeDocument/2006/relationships/notesSlide" Target="../notesSlides/notesSlide47.xml"/><Relationship Id="rId11" Type="http://schemas.openxmlformats.org/officeDocument/2006/relationships/slideLayout" Target="../slideLayouts/slideLayout12.xml"/><Relationship Id="rId10" Type="http://schemas.openxmlformats.org/officeDocument/2006/relationships/image" Target="../media/image36.svg"/><Relationship Id="rId1" Type="http://schemas.openxmlformats.org/officeDocument/2006/relationships/image" Target="../media/image87.png"/></Relationships>
</file>

<file path=ppt/slides/_rels/slide48.xml.rels><?xml version="1.0" encoding="UTF-8" standalone="yes"?>
<Relationships xmlns="http://schemas.openxmlformats.org/package/2006/relationships"><Relationship Id="rId8" Type="http://schemas.openxmlformats.org/officeDocument/2006/relationships/notesSlide" Target="../notesSlides/notesSlide48.xml"/><Relationship Id="rId7" Type="http://schemas.openxmlformats.org/officeDocument/2006/relationships/slideLayout" Target="../slideLayouts/slideLayout12.xml"/><Relationship Id="rId6" Type="http://schemas.openxmlformats.org/officeDocument/2006/relationships/image" Target="../media/image8.svg"/><Relationship Id="rId5" Type="http://schemas.openxmlformats.org/officeDocument/2006/relationships/image" Target="../media/image219.png"/><Relationship Id="rId4" Type="http://schemas.openxmlformats.org/officeDocument/2006/relationships/image" Target="../media/image6.svg"/><Relationship Id="rId3" Type="http://schemas.openxmlformats.org/officeDocument/2006/relationships/image" Target="../media/image10.png"/><Relationship Id="rId2" Type="http://schemas.openxmlformats.org/officeDocument/2006/relationships/image" Target="../media/image4.svg"/><Relationship Id="rId1" Type="http://schemas.openxmlformats.org/officeDocument/2006/relationships/image" Target="../media/image9.png"/></Relationships>
</file>

<file path=ppt/slides/_rels/slide49.xml.rels><?xml version="1.0" encoding="UTF-8" standalone="yes"?>
<Relationships xmlns="http://schemas.openxmlformats.org/package/2006/relationships"><Relationship Id="rId9" Type="http://schemas.openxmlformats.org/officeDocument/2006/relationships/image" Target="../media/image222.png"/><Relationship Id="rId8" Type="http://schemas.openxmlformats.org/officeDocument/2006/relationships/image" Target="../media/image221.svg"/><Relationship Id="rId7" Type="http://schemas.openxmlformats.org/officeDocument/2006/relationships/image" Target="../media/image220.png"/><Relationship Id="rId6" Type="http://schemas.openxmlformats.org/officeDocument/2006/relationships/image" Target="../media/image88.svg"/><Relationship Id="rId5" Type="http://schemas.openxmlformats.org/officeDocument/2006/relationships/image" Target="../media/image87.png"/><Relationship Id="rId4" Type="http://schemas.openxmlformats.org/officeDocument/2006/relationships/image" Target="../media/image6.svg"/><Relationship Id="rId3" Type="http://schemas.openxmlformats.org/officeDocument/2006/relationships/image" Target="../media/image10.png"/><Relationship Id="rId2" Type="http://schemas.openxmlformats.org/officeDocument/2006/relationships/image" Target="../media/image12.svg"/><Relationship Id="rId12" Type="http://schemas.openxmlformats.org/officeDocument/2006/relationships/notesSlide" Target="../notesSlides/notesSlide49.xml"/><Relationship Id="rId11" Type="http://schemas.openxmlformats.org/officeDocument/2006/relationships/slideLayout" Target="../slideLayouts/slideLayout12.xml"/><Relationship Id="rId10" Type="http://schemas.openxmlformats.org/officeDocument/2006/relationships/image" Target="../media/image223.svg"/><Relationship Id="rId1" Type="http://schemas.openxmlformats.org/officeDocument/2006/relationships/image" Target="../media/image43.png"/></Relationships>
</file>

<file path=ppt/slides/_rels/slide50.xml.rels><?xml version="1.0" encoding="UTF-8" standalone="yes"?>
<Relationships xmlns="http://schemas.openxmlformats.org/package/2006/relationships"><Relationship Id="rId4" Type="http://schemas.openxmlformats.org/officeDocument/2006/relationships/notesSlide" Target="../notesSlides/notesSlide50.xml"/><Relationship Id="rId3" Type="http://schemas.openxmlformats.org/officeDocument/2006/relationships/slideLayout" Target="../slideLayouts/slideLayout12.xml"/><Relationship Id="rId2" Type="http://schemas.openxmlformats.org/officeDocument/2006/relationships/image" Target="../media/image14.svg"/><Relationship Id="rId1"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635000" y="-635000"/>
            <a:ext cx="2540000" cy="2540000"/>
          </a:xfrm>
          <a:prstGeom prst="ellipse">
            <a:avLst/>
          </a:prstGeom>
          <a:solidFill>
            <a:srgbClr val="003366">
              <a:alpha val="5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9525000" y="4445000"/>
            <a:ext cx="3810000" cy="3810000"/>
          </a:xfrm>
          <a:prstGeom prst="ellipse">
            <a:avLst/>
          </a:prstGeom>
          <a:solidFill>
            <a:srgbClr val="003366">
              <a:alpha val="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1270000" y="1270000"/>
            <a:ext cx="9652000" cy="4318000"/>
          </a:xfrm>
          <a:prstGeom prst="roundRect">
            <a:avLst>
              <a:gd name="adj" fmla="val 2941"/>
            </a:avLst>
          </a:prstGeom>
          <a:solidFill>
            <a:srgbClr val="FFFFFF">
              <a:alpha val="100000"/>
            </a:srgbClr>
          </a:solidFill>
          <a:ln w="25400" cap="flat" cmpd="sng">
            <a:noFill/>
            <a:prstDash val="solid"/>
            <a:round/>
          </a:ln>
          <a:effectLst>
            <a:outerShdw blurRad="254000" dist="127000" dir="5400000" algn="tl" rotWithShape="0">
              <a:srgbClr val="003366">
                <a:alpha val="15000"/>
              </a:srgbClr>
            </a:outerShdw>
          </a:effectLst>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91200" y="1651000"/>
            <a:ext cx="609600" cy="609600"/>
          </a:xfrm>
          <a:prstGeom prst="rect">
            <a:avLst/>
          </a:prstGeom>
        </p:spPr>
      </p:pic>
      <p:sp>
        <p:nvSpPr>
          <p:cNvPr id="6" name="AutoShape 6"/>
          <p:cNvSpPr/>
          <p:nvPr/>
        </p:nvSpPr>
        <p:spPr>
          <a:xfrm>
            <a:off x="1651000" y="2413000"/>
            <a:ext cx="8890000" cy="762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3600" b="1" i="0" u="none" strike="noStrike">
                <a:solidFill>
                  <a:srgbClr val="003366"/>
                </a:solidFill>
                <a:latin typeface="Noto Sans SC"/>
                <a:ea typeface="Noto Sans SC"/>
                <a:cs typeface="Noto Sans SC"/>
                <a:sym typeface="Noto Sans SC"/>
              </a:rPr>
              <a:t>大语言模型开发基础</a:t>
            </a:r>
            <a:endParaRPr lang="en-US" sz="1100"/>
          </a:p>
        </p:txBody>
      </p:sp>
      <p:cxnSp>
        <p:nvCxnSpPr>
          <p:cNvPr id="7" name="Connector 7"/>
          <p:cNvCxnSpPr/>
          <p:nvPr/>
        </p:nvCxnSpPr>
        <p:spPr>
          <a:xfrm rot="-17188">
            <a:off x="4826016" y="3295650"/>
            <a:ext cx="2540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8" name="AutoShape 8"/>
          <p:cNvSpPr/>
          <p:nvPr/>
        </p:nvSpPr>
        <p:spPr>
          <a:xfrm>
            <a:off x="1651000" y="3556000"/>
            <a:ext cx="8890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0" i="0" u="none" strike="noStrike">
                <a:solidFill>
                  <a:srgbClr val="333333"/>
                </a:solidFill>
                <a:latin typeface="Noto Sans SC"/>
                <a:ea typeface="Noto Sans SC"/>
                <a:cs typeface="Noto Sans SC"/>
                <a:sym typeface="Noto Sans SC"/>
              </a:rPr>
              <a:t>第二章 教学课件</a:t>
            </a:r>
            <a:endParaRPr lang="en-US" sz="1100"/>
          </a:p>
        </p:txBody>
      </p:sp>
      <p:sp>
        <p:nvSpPr>
          <p:cNvPr id="9" name="AutoShape 9"/>
          <p:cNvSpPr/>
          <p:nvPr/>
        </p:nvSpPr>
        <p:spPr>
          <a:xfrm>
            <a:off x="1651000" y="4191000"/>
            <a:ext cx="8890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666666"/>
                </a:solidFill>
                <a:latin typeface="Noto Sans SC"/>
                <a:ea typeface="Noto Sans SC"/>
                <a:cs typeface="Noto Sans SC"/>
                <a:sym typeface="Noto Sans SC"/>
              </a:rPr>
              <a:t>主讲人：[讲师姓名]</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目录</a:t>
            </a:r>
            <a:endParaRPr lang="en-US" sz="1100"/>
          </a:p>
        </p:txBody>
      </p:sp>
      <p:sp>
        <p:nvSpPr>
          <p:cNvPr id="3" name="AutoShape 3"/>
          <p:cNvSpPr/>
          <p:nvPr/>
        </p:nvSpPr>
        <p:spPr>
          <a:xfrm>
            <a:off x="762000" y="1778000"/>
            <a:ext cx="3302000" cy="3810000"/>
          </a:xfrm>
          <a:prstGeom prst="roundRect">
            <a:avLst>
              <a:gd name="adj" fmla="val 384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4" name="AutoShape 4"/>
          <p:cNvSpPr/>
          <p:nvPr/>
        </p:nvSpPr>
        <p:spPr>
          <a:xfrm>
            <a:off x="1905000" y="2159000"/>
            <a:ext cx="1016000" cy="1016000"/>
          </a:xfrm>
          <a:prstGeom prst="ellipse">
            <a:avLst/>
          </a:prstGeom>
          <a:solidFill>
            <a:srgbClr val="003366">
              <a:alpha val="1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095500" y="2349500"/>
            <a:ext cx="635000" cy="635000"/>
          </a:xfrm>
          <a:prstGeom prst="rect">
            <a:avLst/>
          </a:prstGeom>
        </p:spPr>
      </p:pic>
      <p:sp>
        <p:nvSpPr>
          <p:cNvPr id="6" name="AutoShape 6"/>
          <p:cNvSpPr/>
          <p:nvPr/>
        </p:nvSpPr>
        <p:spPr>
          <a:xfrm>
            <a:off x="1016000" y="3302000"/>
            <a:ext cx="279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400" b="1" i="0" u="none" strike="noStrike">
                <a:solidFill>
                  <a:srgbClr val="003366"/>
                </a:solidFill>
                <a:latin typeface="Noto Sans SC"/>
                <a:ea typeface="Noto Sans SC"/>
                <a:cs typeface="Noto Sans SC"/>
                <a:sym typeface="Noto Sans SC"/>
              </a:rPr>
              <a:t>01</a:t>
            </a:r>
            <a:endParaRPr lang="en-US" sz="1100"/>
          </a:p>
        </p:txBody>
      </p:sp>
      <p:sp>
        <p:nvSpPr>
          <p:cNvPr id="7" name="AutoShape 7"/>
          <p:cNvSpPr/>
          <p:nvPr/>
        </p:nvSpPr>
        <p:spPr>
          <a:xfrm>
            <a:off x="1016000" y="3746500"/>
            <a:ext cx="2794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333333"/>
                </a:solidFill>
                <a:latin typeface="Noto Sans SC"/>
                <a:ea typeface="Noto Sans SC"/>
                <a:cs typeface="Noto Sans SC"/>
                <a:sym typeface="Noto Sans SC"/>
              </a:rPr>
              <a:t>Python大语言模型开发基础</a:t>
            </a:r>
            <a:endParaRPr lang="en-US" sz="1100"/>
          </a:p>
        </p:txBody>
      </p:sp>
      <p:sp>
        <p:nvSpPr>
          <p:cNvPr id="8" name="AutoShape 8"/>
          <p:cNvSpPr/>
          <p:nvPr/>
        </p:nvSpPr>
        <p:spPr>
          <a:xfrm>
            <a:off x="1016000" y="4445000"/>
            <a:ext cx="2794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掌握核心编程工具，构建坚实的代码基础</a:t>
            </a:r>
            <a:endParaRPr lang="en-US" sz="1100"/>
          </a:p>
        </p:txBody>
      </p:sp>
      <p:sp>
        <p:nvSpPr>
          <p:cNvPr id="9" name="AutoShape 9"/>
          <p:cNvSpPr/>
          <p:nvPr/>
        </p:nvSpPr>
        <p:spPr>
          <a:xfrm>
            <a:off x="4445000" y="1778000"/>
            <a:ext cx="3302000" cy="3810000"/>
          </a:xfrm>
          <a:prstGeom prst="roundRect">
            <a:avLst>
              <a:gd name="adj" fmla="val 384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10" name="AutoShape 10"/>
          <p:cNvSpPr/>
          <p:nvPr/>
        </p:nvSpPr>
        <p:spPr>
          <a:xfrm>
            <a:off x="5588000" y="2159000"/>
            <a:ext cx="1016000" cy="1016000"/>
          </a:xfrm>
          <a:prstGeom prst="ellipse">
            <a:avLst/>
          </a:prstGeom>
          <a:solidFill>
            <a:srgbClr val="003366">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78500" y="2349500"/>
            <a:ext cx="635000" cy="635000"/>
          </a:xfrm>
          <a:prstGeom prst="rect">
            <a:avLst/>
          </a:prstGeom>
        </p:spPr>
      </p:pic>
      <p:sp>
        <p:nvSpPr>
          <p:cNvPr id="12" name="AutoShape 12"/>
          <p:cNvSpPr/>
          <p:nvPr/>
        </p:nvSpPr>
        <p:spPr>
          <a:xfrm>
            <a:off x="4699000" y="3302000"/>
            <a:ext cx="279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400" b="1" i="0" u="none" strike="noStrike">
                <a:solidFill>
                  <a:srgbClr val="003366"/>
                </a:solidFill>
                <a:latin typeface="Noto Sans SC"/>
                <a:ea typeface="Noto Sans SC"/>
                <a:cs typeface="Noto Sans SC"/>
                <a:sym typeface="Noto Sans SC"/>
              </a:rPr>
              <a:t>02</a:t>
            </a:r>
            <a:endParaRPr lang="en-US" sz="1100"/>
          </a:p>
        </p:txBody>
      </p:sp>
      <p:sp>
        <p:nvSpPr>
          <p:cNvPr id="13" name="AutoShape 13"/>
          <p:cNvSpPr/>
          <p:nvPr/>
        </p:nvSpPr>
        <p:spPr>
          <a:xfrm>
            <a:off x="4699000" y="3746500"/>
            <a:ext cx="2794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333333"/>
                </a:solidFill>
                <a:latin typeface="Noto Sans SC"/>
                <a:ea typeface="Noto Sans SC"/>
                <a:cs typeface="Noto Sans SC"/>
                <a:sym typeface="Noto Sans SC"/>
              </a:rPr>
              <a:t>Docker容器基础知识</a:t>
            </a:r>
            <a:endParaRPr lang="en-US" sz="1100"/>
          </a:p>
        </p:txBody>
      </p:sp>
      <p:sp>
        <p:nvSpPr>
          <p:cNvPr id="14" name="AutoShape 14"/>
          <p:cNvSpPr/>
          <p:nvPr/>
        </p:nvSpPr>
        <p:spPr>
          <a:xfrm>
            <a:off x="4699000" y="4445000"/>
            <a:ext cx="2794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学习容器化技术，确保项目部署与运行环境一致</a:t>
            </a:r>
            <a:endParaRPr lang="en-US" sz="1100"/>
          </a:p>
        </p:txBody>
      </p:sp>
      <p:sp>
        <p:nvSpPr>
          <p:cNvPr id="15" name="AutoShape 15"/>
          <p:cNvSpPr/>
          <p:nvPr/>
        </p:nvSpPr>
        <p:spPr>
          <a:xfrm>
            <a:off x="8128000" y="1778000"/>
            <a:ext cx="3302000" cy="3810000"/>
          </a:xfrm>
          <a:prstGeom prst="roundRect">
            <a:avLst>
              <a:gd name="adj" fmla="val 384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16" name="AutoShape 16"/>
          <p:cNvSpPr/>
          <p:nvPr/>
        </p:nvSpPr>
        <p:spPr>
          <a:xfrm>
            <a:off x="9271000" y="2159000"/>
            <a:ext cx="1016000" cy="1016000"/>
          </a:xfrm>
          <a:prstGeom prst="ellipse">
            <a:avLst/>
          </a:prstGeom>
          <a:solidFill>
            <a:srgbClr val="003366">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461500" y="2349500"/>
            <a:ext cx="635000" cy="635000"/>
          </a:xfrm>
          <a:prstGeom prst="rect">
            <a:avLst/>
          </a:prstGeom>
        </p:spPr>
      </p:pic>
      <p:sp>
        <p:nvSpPr>
          <p:cNvPr id="18" name="AutoShape 18"/>
          <p:cNvSpPr/>
          <p:nvPr/>
        </p:nvSpPr>
        <p:spPr>
          <a:xfrm>
            <a:off x="8382000" y="3302000"/>
            <a:ext cx="279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400" b="1" i="0" u="none" strike="noStrike">
                <a:solidFill>
                  <a:srgbClr val="003366"/>
                </a:solidFill>
                <a:latin typeface="Noto Sans SC"/>
                <a:ea typeface="Noto Sans SC"/>
                <a:cs typeface="Noto Sans SC"/>
                <a:sym typeface="Noto Sans SC"/>
              </a:rPr>
              <a:t>03</a:t>
            </a:r>
            <a:endParaRPr lang="en-US" sz="1100"/>
          </a:p>
        </p:txBody>
      </p:sp>
      <p:sp>
        <p:nvSpPr>
          <p:cNvPr id="19" name="AutoShape 19"/>
          <p:cNvSpPr/>
          <p:nvPr/>
        </p:nvSpPr>
        <p:spPr>
          <a:xfrm>
            <a:off x="8382000" y="3746500"/>
            <a:ext cx="2794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333333"/>
                </a:solidFill>
                <a:latin typeface="Noto Sans SC"/>
                <a:ea typeface="Noto Sans SC"/>
                <a:cs typeface="Noto Sans SC"/>
                <a:sym typeface="Noto Sans SC"/>
              </a:rPr>
              <a:t>自然语言处理概述</a:t>
            </a:r>
            <a:endParaRPr lang="en-US" sz="1100"/>
          </a:p>
        </p:txBody>
      </p:sp>
      <p:sp>
        <p:nvSpPr>
          <p:cNvPr id="20" name="AutoShape 20"/>
          <p:cNvSpPr/>
          <p:nvPr/>
        </p:nvSpPr>
        <p:spPr>
          <a:xfrm>
            <a:off x="8382000" y="4445000"/>
            <a:ext cx="2794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理解大语言模型背后的理论基石与工作原理</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609600" y="609600"/>
            <a:ext cx="109728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003366"/>
                </a:solidFill>
                <a:latin typeface="Noto Sans SC"/>
                <a:ea typeface="Noto Sans SC"/>
                <a:cs typeface="Noto Sans SC"/>
                <a:sym typeface="Noto Sans SC"/>
              </a:rPr>
              <a:t>2.1 Python大语言模型开发基础</a:t>
            </a:r>
            <a:endParaRPr lang="en-US" sz="1100"/>
          </a:p>
        </p:txBody>
      </p:sp>
      <p:sp>
        <p:nvSpPr>
          <p:cNvPr id="3" name="AutoShape 3"/>
          <p:cNvSpPr/>
          <p:nvPr/>
        </p:nvSpPr>
        <p:spPr>
          <a:xfrm>
            <a:off x="609600" y="1778000"/>
            <a:ext cx="3454400" cy="3556000"/>
          </a:xfrm>
          <a:prstGeom prst="roundRect">
            <a:avLst>
              <a:gd name="adj" fmla="val 367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28800" y="2159000"/>
            <a:ext cx="1016000" cy="1016000"/>
          </a:xfrm>
          <a:prstGeom prst="rect">
            <a:avLst/>
          </a:prstGeom>
        </p:spPr>
      </p:pic>
      <p:sp>
        <p:nvSpPr>
          <p:cNvPr id="5" name="AutoShape 5"/>
          <p:cNvSpPr/>
          <p:nvPr/>
        </p:nvSpPr>
        <p:spPr>
          <a:xfrm>
            <a:off x="863600" y="3302000"/>
            <a:ext cx="29464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333333"/>
                </a:solidFill>
                <a:latin typeface="Noto Sans SC"/>
                <a:ea typeface="Noto Sans SC"/>
                <a:cs typeface="Noto Sans SC"/>
                <a:sym typeface="Noto Sans SC"/>
              </a:rPr>
              <a:t>核心编程语言</a:t>
            </a:r>
            <a:endParaRPr lang="en-US" sz="1100"/>
          </a:p>
        </p:txBody>
      </p:sp>
      <p:sp>
        <p:nvSpPr>
          <p:cNvPr id="6" name="AutoShape 6"/>
          <p:cNvSpPr/>
          <p:nvPr/>
        </p:nvSpPr>
        <p:spPr>
          <a:xfrm>
            <a:off x="863600" y="3746500"/>
            <a:ext cx="2946400" cy="1270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666666"/>
                </a:solidFill>
                <a:latin typeface="Noto Sans SC"/>
                <a:ea typeface="Noto Sans SC"/>
                <a:cs typeface="Noto Sans SC"/>
                <a:sym typeface="Noto Sans SC"/>
              </a:rPr>
              <a:t>Python是AI领域的通用语言，拥有丰富的库生态和简洁的语法，是构建大模型应用的首选工具。</a:t>
            </a:r>
            <a:endParaRPr lang="en-US" sz="1100"/>
          </a:p>
        </p:txBody>
      </p:sp>
      <p:sp>
        <p:nvSpPr>
          <p:cNvPr id="7" name="AutoShape 7"/>
          <p:cNvSpPr/>
          <p:nvPr/>
        </p:nvSpPr>
        <p:spPr>
          <a:xfrm>
            <a:off x="4368800" y="1778000"/>
            <a:ext cx="3454400" cy="3556000"/>
          </a:xfrm>
          <a:prstGeom prst="roundRect">
            <a:avLst>
              <a:gd name="adj" fmla="val 367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88000" y="2159000"/>
            <a:ext cx="1016000" cy="1016000"/>
          </a:xfrm>
          <a:prstGeom prst="rect">
            <a:avLst/>
          </a:prstGeom>
        </p:spPr>
      </p:pic>
      <p:sp>
        <p:nvSpPr>
          <p:cNvPr id="9" name="AutoShape 9"/>
          <p:cNvSpPr/>
          <p:nvPr/>
        </p:nvSpPr>
        <p:spPr>
          <a:xfrm>
            <a:off x="4622800" y="3302000"/>
            <a:ext cx="29464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333333"/>
                </a:solidFill>
                <a:latin typeface="Noto Sans SC"/>
                <a:ea typeface="Noto Sans SC"/>
                <a:cs typeface="Noto Sans SC"/>
                <a:sym typeface="Noto Sans SC"/>
              </a:rPr>
              <a:t>开发环境配置</a:t>
            </a:r>
            <a:endParaRPr lang="en-US" sz="1100"/>
          </a:p>
        </p:txBody>
      </p:sp>
      <p:sp>
        <p:nvSpPr>
          <p:cNvPr id="10" name="AutoShape 10"/>
          <p:cNvSpPr/>
          <p:nvPr/>
        </p:nvSpPr>
        <p:spPr>
          <a:xfrm>
            <a:off x="4622800" y="3746500"/>
            <a:ext cx="2946400" cy="1270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666666"/>
                </a:solidFill>
                <a:latin typeface="Noto Sans SC"/>
                <a:ea typeface="Noto Sans SC"/>
                <a:cs typeface="Noto Sans SC"/>
                <a:sym typeface="Noto Sans SC"/>
              </a:rPr>
              <a:t>掌握Anaconda环境管理、虚拟环境配置及常用开发工具（如PyCharm）的安装与使用。</a:t>
            </a:r>
            <a:endParaRPr lang="en-US" sz="1100"/>
          </a:p>
        </p:txBody>
      </p:sp>
      <p:sp>
        <p:nvSpPr>
          <p:cNvPr id="11" name="AutoShape 11"/>
          <p:cNvSpPr/>
          <p:nvPr/>
        </p:nvSpPr>
        <p:spPr>
          <a:xfrm>
            <a:off x="8128000" y="1778000"/>
            <a:ext cx="3454400" cy="3556000"/>
          </a:xfrm>
          <a:prstGeom prst="roundRect">
            <a:avLst>
              <a:gd name="adj" fmla="val 367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347200" y="2159000"/>
            <a:ext cx="1016000" cy="1016000"/>
          </a:xfrm>
          <a:prstGeom prst="rect">
            <a:avLst/>
          </a:prstGeom>
        </p:spPr>
      </p:pic>
      <p:sp>
        <p:nvSpPr>
          <p:cNvPr id="13" name="AutoShape 13"/>
          <p:cNvSpPr/>
          <p:nvPr/>
        </p:nvSpPr>
        <p:spPr>
          <a:xfrm>
            <a:off x="8382000" y="3302000"/>
            <a:ext cx="29464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333333"/>
                </a:solidFill>
                <a:latin typeface="Noto Sans SC"/>
                <a:ea typeface="Noto Sans SC"/>
                <a:cs typeface="Noto Sans SC"/>
                <a:sym typeface="Noto Sans SC"/>
              </a:rPr>
              <a:t>关键库与框架</a:t>
            </a:r>
            <a:endParaRPr lang="en-US" sz="1100"/>
          </a:p>
        </p:txBody>
      </p:sp>
      <p:sp>
        <p:nvSpPr>
          <p:cNvPr id="14" name="AutoShape 14"/>
          <p:cNvSpPr/>
          <p:nvPr/>
        </p:nvSpPr>
        <p:spPr>
          <a:xfrm>
            <a:off x="8382000" y="3746500"/>
            <a:ext cx="2946400" cy="1270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666666"/>
                </a:solidFill>
                <a:latin typeface="Noto Sans SC"/>
                <a:ea typeface="Noto Sans SC"/>
                <a:cs typeface="Noto Sans SC"/>
                <a:sym typeface="Noto Sans SC"/>
              </a:rPr>
              <a:t>熟悉NumPy、Pandas进行数据处理，掌握PyTorch/TensorFlow等深度学习框架的基础应用。</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为什么选择Python？</a:t>
            </a:r>
            <a:endParaRPr lang="en-US" sz="1100"/>
          </a:p>
        </p:txBody>
      </p:sp>
      <p:sp>
        <p:nvSpPr>
          <p:cNvPr id="3" name="AutoShape 3"/>
          <p:cNvSpPr/>
          <p:nvPr/>
        </p:nvSpPr>
        <p:spPr>
          <a:xfrm>
            <a:off x="762000" y="152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78000"/>
            <a:ext cx="406400" cy="406400"/>
          </a:xfrm>
          <a:prstGeom prst="rect">
            <a:avLst/>
          </a:prstGeom>
        </p:spPr>
      </p:pic>
      <p:sp>
        <p:nvSpPr>
          <p:cNvPr id="5" name="AutoShape 5"/>
          <p:cNvSpPr/>
          <p:nvPr/>
        </p:nvSpPr>
        <p:spPr>
          <a:xfrm>
            <a:off x="1524000" y="177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简单易学</a:t>
            </a:r>
            <a:endParaRPr lang="en-US" sz="1100"/>
          </a:p>
        </p:txBody>
      </p:sp>
      <p:cxnSp>
        <p:nvCxnSpPr>
          <p:cNvPr id="6" name="Connector 6"/>
          <p:cNvCxnSpPr/>
          <p:nvPr/>
        </p:nvCxnSpPr>
        <p:spPr>
          <a:xfrm rot="-15626">
            <a:off x="1016014" y="2216150"/>
            <a:ext cx="2794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7" name="AutoShape 7"/>
          <p:cNvSpPr/>
          <p:nvPr/>
        </p:nvSpPr>
        <p:spPr>
          <a:xfrm>
            <a:off x="1016000" y="234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语法清晰简洁，容易上手，是编程入门的理想选择，降低了学习门槛。</a:t>
            </a:r>
            <a:endParaRPr lang="en-US" sz="1100"/>
          </a:p>
        </p:txBody>
      </p:sp>
      <p:sp>
        <p:nvSpPr>
          <p:cNvPr id="8" name="AutoShape 8"/>
          <p:cNvSpPr/>
          <p:nvPr/>
        </p:nvSpPr>
        <p:spPr>
          <a:xfrm>
            <a:off x="4445000" y="152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99000" y="1778000"/>
            <a:ext cx="406400" cy="406400"/>
          </a:xfrm>
          <a:prstGeom prst="rect">
            <a:avLst/>
          </a:prstGeom>
        </p:spPr>
      </p:pic>
      <p:sp>
        <p:nvSpPr>
          <p:cNvPr id="10" name="AutoShape 10"/>
          <p:cNvSpPr/>
          <p:nvPr/>
        </p:nvSpPr>
        <p:spPr>
          <a:xfrm>
            <a:off x="5207000" y="177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跨平台性</a:t>
            </a:r>
            <a:endParaRPr lang="en-US" sz="1100"/>
          </a:p>
        </p:txBody>
      </p:sp>
      <p:cxnSp>
        <p:nvCxnSpPr>
          <p:cNvPr id="11" name="Connector 11"/>
          <p:cNvCxnSpPr/>
          <p:nvPr/>
        </p:nvCxnSpPr>
        <p:spPr>
          <a:xfrm rot="-15626">
            <a:off x="4699014" y="2216150"/>
            <a:ext cx="2794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12" name="AutoShape 12"/>
          <p:cNvSpPr/>
          <p:nvPr/>
        </p:nvSpPr>
        <p:spPr>
          <a:xfrm>
            <a:off x="4699000" y="234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可无缝运行于Windows、macOS、Linux等多种操作系统，兼容性极强。</a:t>
            </a:r>
            <a:endParaRPr lang="en-US" sz="1100"/>
          </a:p>
        </p:txBody>
      </p:sp>
      <p:sp>
        <p:nvSpPr>
          <p:cNvPr id="13" name="AutoShape 13"/>
          <p:cNvSpPr/>
          <p:nvPr/>
        </p:nvSpPr>
        <p:spPr>
          <a:xfrm>
            <a:off x="8128000" y="152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82000" y="1778000"/>
            <a:ext cx="406400" cy="406400"/>
          </a:xfrm>
          <a:prstGeom prst="rect">
            <a:avLst/>
          </a:prstGeom>
        </p:spPr>
      </p:pic>
      <p:sp>
        <p:nvSpPr>
          <p:cNvPr id="15" name="AutoShape 15"/>
          <p:cNvSpPr/>
          <p:nvPr/>
        </p:nvSpPr>
        <p:spPr>
          <a:xfrm>
            <a:off x="8890000" y="177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丰富的库和框架</a:t>
            </a:r>
            <a:endParaRPr lang="en-US" sz="1100"/>
          </a:p>
        </p:txBody>
      </p:sp>
      <p:cxnSp>
        <p:nvCxnSpPr>
          <p:cNvPr id="16" name="Connector 16"/>
          <p:cNvCxnSpPr/>
          <p:nvPr/>
        </p:nvCxnSpPr>
        <p:spPr>
          <a:xfrm rot="-15626">
            <a:off x="8382014" y="2216150"/>
            <a:ext cx="2794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17" name="AutoShape 17"/>
          <p:cNvSpPr/>
          <p:nvPr/>
        </p:nvSpPr>
        <p:spPr>
          <a:xfrm>
            <a:off x="8382000" y="234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拥有庞大的标准库和第三方库，几乎涵盖所有开发需求，能快速构建强大应用。</a:t>
            </a:r>
            <a:endParaRPr lang="en-US" sz="1100"/>
          </a:p>
        </p:txBody>
      </p:sp>
      <p:sp>
        <p:nvSpPr>
          <p:cNvPr id="18" name="AutoShape 18"/>
          <p:cNvSpPr/>
          <p:nvPr/>
        </p:nvSpPr>
        <p:spPr>
          <a:xfrm>
            <a:off x="762000" y="406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4318000"/>
            <a:ext cx="406400" cy="406400"/>
          </a:xfrm>
          <a:prstGeom prst="rect">
            <a:avLst/>
          </a:prstGeom>
        </p:spPr>
      </p:pic>
      <p:sp>
        <p:nvSpPr>
          <p:cNvPr id="20" name="AutoShape 20"/>
          <p:cNvSpPr/>
          <p:nvPr/>
        </p:nvSpPr>
        <p:spPr>
          <a:xfrm>
            <a:off x="1524000" y="431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活跃的社区支持</a:t>
            </a:r>
            <a:endParaRPr lang="en-US" sz="1100"/>
          </a:p>
        </p:txBody>
      </p:sp>
      <p:cxnSp>
        <p:nvCxnSpPr>
          <p:cNvPr id="21" name="Connector 21"/>
          <p:cNvCxnSpPr/>
          <p:nvPr/>
        </p:nvCxnSpPr>
        <p:spPr>
          <a:xfrm rot="-15626">
            <a:off x="1016014" y="4756150"/>
            <a:ext cx="2794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22" name="AutoShape 22"/>
          <p:cNvSpPr/>
          <p:nvPr/>
        </p:nvSpPr>
        <p:spPr>
          <a:xfrm>
            <a:off x="1016000" y="488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拥有非常活跃的开发社区，可以轻松获得丰富的资源、文档和技术支持。</a:t>
            </a:r>
            <a:endParaRPr lang="en-US" sz="1100"/>
          </a:p>
        </p:txBody>
      </p:sp>
      <p:sp>
        <p:nvSpPr>
          <p:cNvPr id="23" name="AutoShape 23"/>
          <p:cNvSpPr/>
          <p:nvPr/>
        </p:nvSpPr>
        <p:spPr>
          <a:xfrm>
            <a:off x="4445000" y="406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24" name="Picture 24"/>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699000" y="4318000"/>
            <a:ext cx="406400" cy="406400"/>
          </a:xfrm>
          <a:prstGeom prst="rect">
            <a:avLst/>
          </a:prstGeom>
        </p:spPr>
      </p:pic>
      <p:sp>
        <p:nvSpPr>
          <p:cNvPr id="25" name="AutoShape 25"/>
          <p:cNvSpPr/>
          <p:nvPr/>
        </p:nvSpPr>
        <p:spPr>
          <a:xfrm>
            <a:off x="5207000" y="431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丰富的应用生态</a:t>
            </a:r>
            <a:endParaRPr lang="en-US" sz="1100"/>
          </a:p>
        </p:txBody>
      </p:sp>
      <p:cxnSp>
        <p:nvCxnSpPr>
          <p:cNvPr id="26" name="Connector 26"/>
          <p:cNvCxnSpPr/>
          <p:nvPr/>
        </p:nvCxnSpPr>
        <p:spPr>
          <a:xfrm rot="-15626">
            <a:off x="4699014" y="4756150"/>
            <a:ext cx="2794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27" name="AutoShape 27"/>
          <p:cNvSpPr/>
          <p:nvPr/>
        </p:nvSpPr>
        <p:spPr>
          <a:xfrm>
            <a:off x="4699000" y="488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广泛应用于数据科学、人工智能、Web开发等领域，应用场景极其丰富。</a:t>
            </a:r>
            <a:endParaRPr lang="en-US" sz="1100"/>
          </a:p>
        </p:txBody>
      </p:sp>
      <p:sp>
        <p:nvSpPr>
          <p:cNvPr id="28" name="AutoShape 28"/>
          <p:cNvSpPr/>
          <p:nvPr/>
        </p:nvSpPr>
        <p:spPr>
          <a:xfrm>
            <a:off x="8128000" y="4064000"/>
            <a:ext cx="3302000" cy="2286000"/>
          </a:xfrm>
          <a:prstGeom prst="roundRect">
            <a:avLst>
              <a:gd name="adj" fmla="val 5555"/>
            </a:avLst>
          </a:prstGeom>
          <a:solidFill>
            <a:srgbClr val="003366">
              <a:alpha val="100000"/>
            </a:srgbClr>
          </a:solidFill>
          <a:ln w="25400" cap="flat" cmpd="sng">
            <a:noFill/>
            <a:prstDash val="solid"/>
            <a:round/>
          </a:ln>
          <a:effectLst>
            <a:outerShdw blurRad="127000" dist="50800" dir="2700000" algn="tl" rotWithShape="0">
              <a:srgbClr val="003366">
                <a:alpha val="20000"/>
              </a:srgbClr>
            </a:outerShdw>
          </a:effectLst>
        </p:spPr>
        <p:txBody>
          <a:bodyPr vert="horz" wrap="square" lIns="63500" tIns="63500" rIns="63500" bIns="63500" rtlCol="0" anchor="ctr"/>
          <a:lstStyle/>
          <a:p>
            <a:pPr algn="ctr">
              <a:defRPr/>
            </a:pPr>
          </a:p>
        </p:txBody>
      </p:sp>
      <p:pic>
        <p:nvPicPr>
          <p:cNvPr id="29" name="Picture 29"/>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8382000" y="4318000"/>
            <a:ext cx="406400" cy="406400"/>
          </a:xfrm>
          <a:prstGeom prst="rect">
            <a:avLst/>
          </a:prstGeom>
        </p:spPr>
      </p:pic>
      <p:sp>
        <p:nvSpPr>
          <p:cNvPr id="30" name="AutoShape 30"/>
          <p:cNvSpPr/>
          <p:nvPr/>
        </p:nvSpPr>
        <p:spPr>
          <a:xfrm>
            <a:off x="8890000" y="431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FFFFFF"/>
                </a:solidFill>
                <a:latin typeface="Noto Sans SC"/>
                <a:ea typeface="Noto Sans SC"/>
                <a:cs typeface="Noto Sans SC"/>
                <a:sym typeface="Noto Sans SC"/>
              </a:rPr>
              <a:t>首选语言</a:t>
            </a:r>
            <a:endParaRPr lang="en-US" sz="1100"/>
          </a:p>
        </p:txBody>
      </p:sp>
      <p:cxnSp>
        <p:nvCxnSpPr>
          <p:cNvPr id="31" name="Connector 31"/>
          <p:cNvCxnSpPr/>
          <p:nvPr/>
        </p:nvCxnSpPr>
        <p:spPr>
          <a:xfrm rot="-15626">
            <a:off x="8382014" y="4756150"/>
            <a:ext cx="2794000" cy="12700"/>
          </a:xfrm>
          <a:prstGeom prst="straightConnector1">
            <a:avLst/>
          </a:prstGeom>
          <a:solidFill>
            <a:srgbClr val="DEE0E3">
              <a:alpha val="100000"/>
            </a:srgbClr>
          </a:solidFill>
          <a:ln w="12700" cap="flat" cmpd="sng">
            <a:solidFill>
              <a:srgbClr val="FFFFFF">
                <a:alpha val="30000"/>
              </a:srgbClr>
            </a:solidFill>
            <a:prstDash val="solid"/>
            <a:round/>
            <a:headEnd type="none" w="med" len="med"/>
            <a:tailEnd type="none" w="med" len="med"/>
          </a:ln>
        </p:spPr>
      </p:cxnSp>
      <p:sp>
        <p:nvSpPr>
          <p:cNvPr id="32" name="AutoShape 32"/>
          <p:cNvSpPr/>
          <p:nvPr/>
        </p:nvSpPr>
        <p:spPr>
          <a:xfrm>
            <a:off x="8382000" y="488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FFFFFF">
                    <a:alpha val="90196"/>
                  </a:srgbClr>
                </a:solidFill>
                <a:latin typeface="Noto Sans SC"/>
                <a:ea typeface="Noto Sans SC"/>
                <a:cs typeface="Noto Sans SC"/>
                <a:sym typeface="Noto Sans SC"/>
              </a:rPr>
              <a:t>综合以上优势，Python已成为人工智能与大数据领域的绝对主流语言。</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Python的优缺点</a:t>
            </a:r>
            <a:endParaRPr lang="en-US" sz="1100"/>
          </a:p>
        </p:txBody>
      </p:sp>
      <p:sp>
        <p:nvSpPr>
          <p:cNvPr id="3" name="AutoShape 3"/>
          <p:cNvSpPr/>
          <p:nvPr/>
        </p:nvSpPr>
        <p:spPr>
          <a:xfrm>
            <a:off x="762000" y="1524000"/>
            <a:ext cx="51435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4" name="AutoShape 4"/>
          <p:cNvSpPr/>
          <p:nvPr/>
        </p:nvSpPr>
        <p:spPr>
          <a:xfrm>
            <a:off x="762000" y="1524000"/>
            <a:ext cx="5143500" cy="762000"/>
          </a:xfrm>
          <a:prstGeom prst="roundRect">
            <a:avLst>
              <a:gd name="adj" fmla="val 16666"/>
            </a:avLst>
          </a:prstGeom>
          <a:solidFill>
            <a:srgbClr val="003366">
              <a:alpha val="5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676400"/>
            <a:ext cx="406400" cy="406400"/>
          </a:xfrm>
          <a:prstGeom prst="rect">
            <a:avLst/>
          </a:prstGeom>
        </p:spPr>
      </p:pic>
      <p:sp>
        <p:nvSpPr>
          <p:cNvPr id="6" name="AutoShape 6"/>
          <p:cNvSpPr/>
          <p:nvPr/>
        </p:nvSpPr>
        <p:spPr>
          <a:xfrm>
            <a:off x="1524000" y="1651000"/>
            <a:ext cx="3810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核心优势 (Pros)</a:t>
            </a:r>
            <a:endParaRPr lang="en-US" sz="1100"/>
          </a:p>
        </p:txBody>
      </p:sp>
      <p:pic>
        <p:nvPicPr>
          <p:cNvPr id="7" name="Picture 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2540000"/>
            <a:ext cx="304800" cy="304800"/>
          </a:xfrm>
          <a:prstGeom prst="rect">
            <a:avLst/>
          </a:prstGeom>
        </p:spPr>
      </p:pic>
      <p:sp>
        <p:nvSpPr>
          <p:cNvPr id="8" name="AutoShape 8"/>
          <p:cNvSpPr/>
          <p:nvPr/>
        </p:nvSpPr>
        <p:spPr>
          <a:xfrm>
            <a:off x="1460500" y="25146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简单易学</a:t>
            </a:r>
            <a:endParaRPr lang="en-US" sz="1100"/>
          </a:p>
          <a:p>
            <a:pPr indent="0" algn="l">
              <a:lnSpc>
                <a:spcPct val="125000"/>
              </a:lnSpc>
            </a:pPr>
            <a:r>
              <a:rPr lang="en-US" sz="1400" b="0" i="0" u="none" strike="noStrike">
                <a:solidFill>
                  <a:srgbClr val="666666"/>
                </a:solidFill>
                <a:latin typeface="Noto Sans SC"/>
                <a:ea typeface="Noto Sans SC"/>
                <a:cs typeface="Noto Sans SC"/>
                <a:sym typeface="Noto Sans SC"/>
              </a:rPr>
              <a:t>语法简洁直观，代码可读性高，入门门槛低。</a:t>
            </a:r>
            <a:endParaRPr lang="en-US" sz="1400" b="0" i="0" u="none" strike="noStrike">
              <a:solidFill>
                <a:srgbClr val="666666"/>
              </a:solidFill>
              <a:latin typeface="Noto Sans SC"/>
              <a:ea typeface="Noto Sans SC"/>
              <a:cs typeface="Noto Sans SC"/>
              <a:sym typeface="Noto Sans SC"/>
            </a:endParaRPr>
          </a:p>
        </p:txBody>
      </p:sp>
      <p:pic>
        <p:nvPicPr>
          <p:cNvPr id="9" name="Picture 9"/>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3175000"/>
            <a:ext cx="304800" cy="304800"/>
          </a:xfrm>
          <a:prstGeom prst="rect">
            <a:avLst/>
          </a:prstGeom>
        </p:spPr>
      </p:pic>
      <p:sp>
        <p:nvSpPr>
          <p:cNvPr id="10" name="AutoShape 10"/>
          <p:cNvSpPr/>
          <p:nvPr/>
        </p:nvSpPr>
        <p:spPr>
          <a:xfrm>
            <a:off x="1460500" y="31496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跨平台兼容性</a:t>
            </a:r>
            <a:endParaRPr lang="en-US" sz="1100"/>
          </a:p>
          <a:p>
            <a:pPr indent="0" algn="l">
              <a:lnSpc>
                <a:spcPct val="125000"/>
              </a:lnSpc>
            </a:pPr>
            <a:r>
              <a:rPr lang="en-US" sz="1400" b="0" i="0" u="none" strike="noStrike">
                <a:solidFill>
                  <a:srgbClr val="666666"/>
                </a:solidFill>
                <a:latin typeface="Noto Sans SC"/>
                <a:ea typeface="Noto Sans SC"/>
                <a:cs typeface="Noto Sans SC"/>
                <a:sym typeface="Noto Sans SC"/>
              </a:rPr>
              <a:t>支持Windows、macOS、Linux等主流操作系统。</a:t>
            </a:r>
            <a:endParaRPr lang="en-US" sz="1400" b="0" i="0" u="none" strike="noStrike">
              <a:solidFill>
                <a:srgbClr val="666666"/>
              </a:solidFill>
              <a:latin typeface="Noto Sans SC"/>
              <a:ea typeface="Noto Sans SC"/>
              <a:cs typeface="Noto Sans SC"/>
              <a:sym typeface="Noto Sans SC"/>
            </a:endParaRPr>
          </a:p>
        </p:txBody>
      </p:sp>
      <p:pic>
        <p:nvPicPr>
          <p:cNvPr id="11" name="Picture 11"/>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3810000"/>
            <a:ext cx="304800" cy="304800"/>
          </a:xfrm>
          <a:prstGeom prst="rect">
            <a:avLst/>
          </a:prstGeom>
        </p:spPr>
      </p:pic>
      <p:sp>
        <p:nvSpPr>
          <p:cNvPr id="12" name="AutoShape 12"/>
          <p:cNvSpPr/>
          <p:nvPr/>
        </p:nvSpPr>
        <p:spPr>
          <a:xfrm>
            <a:off x="1460500" y="37846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丰富的标准库</a:t>
            </a:r>
            <a:endParaRPr lang="en-US" sz="1100"/>
          </a:p>
          <a:p>
            <a:pPr indent="0" algn="l">
              <a:lnSpc>
                <a:spcPct val="125000"/>
              </a:lnSpc>
            </a:pPr>
            <a:r>
              <a:rPr lang="en-US" sz="1400" b="0" i="0" u="none" strike="noStrike">
                <a:solidFill>
                  <a:srgbClr val="666666"/>
                </a:solidFill>
                <a:latin typeface="Noto Sans SC"/>
                <a:ea typeface="Noto Sans SC"/>
                <a:cs typeface="Noto Sans SC"/>
                <a:sym typeface="Noto Sans SC"/>
              </a:rPr>
              <a:t>内置大量模块，覆盖网络、文件、数据处理等领域。</a:t>
            </a:r>
            <a:endParaRPr lang="en-US" sz="1400" b="0" i="0" u="none" strike="noStrike">
              <a:solidFill>
                <a:srgbClr val="666666"/>
              </a:solidFill>
              <a:latin typeface="Noto Sans SC"/>
              <a:ea typeface="Noto Sans SC"/>
              <a:cs typeface="Noto Sans SC"/>
              <a:sym typeface="Noto Sans SC"/>
            </a:endParaRPr>
          </a:p>
        </p:txBody>
      </p:sp>
      <p:pic>
        <p:nvPicPr>
          <p:cNvPr id="13" name="Picture 13"/>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16000" y="4445000"/>
            <a:ext cx="304800" cy="304800"/>
          </a:xfrm>
          <a:prstGeom prst="rect">
            <a:avLst/>
          </a:prstGeom>
        </p:spPr>
      </p:pic>
      <p:sp>
        <p:nvSpPr>
          <p:cNvPr id="14" name="AutoShape 14"/>
          <p:cNvSpPr/>
          <p:nvPr/>
        </p:nvSpPr>
        <p:spPr>
          <a:xfrm>
            <a:off x="1460500" y="44196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活跃的社区生态</a:t>
            </a:r>
            <a:endParaRPr lang="en-US" sz="1100"/>
          </a:p>
          <a:p>
            <a:pPr indent="0" algn="l">
              <a:lnSpc>
                <a:spcPct val="125000"/>
              </a:lnSpc>
            </a:pPr>
            <a:r>
              <a:rPr lang="en-US" sz="1400" b="0" i="0" u="none" strike="noStrike">
                <a:solidFill>
                  <a:srgbClr val="666666"/>
                </a:solidFill>
                <a:latin typeface="Noto Sans SC"/>
                <a:ea typeface="Noto Sans SC"/>
                <a:cs typeface="Noto Sans SC"/>
                <a:sym typeface="Noto Sans SC"/>
              </a:rPr>
              <a:t>拥有庞大的开发者社区，资源丰富，问题容易解决。</a:t>
            </a:r>
            <a:endParaRPr lang="en-US" sz="1400" b="0" i="0" u="none" strike="noStrike">
              <a:solidFill>
                <a:srgbClr val="666666"/>
              </a:solidFill>
              <a:latin typeface="Noto Sans SC"/>
              <a:ea typeface="Noto Sans SC"/>
              <a:cs typeface="Noto Sans SC"/>
              <a:sym typeface="Noto Sans SC"/>
            </a:endParaRPr>
          </a:p>
        </p:txBody>
      </p:sp>
      <p:sp>
        <p:nvSpPr>
          <p:cNvPr id="15" name="AutoShape 15"/>
          <p:cNvSpPr/>
          <p:nvPr/>
        </p:nvSpPr>
        <p:spPr>
          <a:xfrm>
            <a:off x="6286500" y="1524000"/>
            <a:ext cx="51435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16" name="AutoShape 16"/>
          <p:cNvSpPr/>
          <p:nvPr/>
        </p:nvSpPr>
        <p:spPr>
          <a:xfrm>
            <a:off x="6286500" y="1524000"/>
            <a:ext cx="5143500" cy="762000"/>
          </a:xfrm>
          <a:prstGeom prst="roundRect">
            <a:avLst>
              <a:gd name="adj" fmla="val 16666"/>
            </a:avLst>
          </a:prstGeom>
          <a:solidFill>
            <a:srgbClr val="003366">
              <a:alpha val="5000"/>
            </a:srgbClr>
          </a:solidFill>
          <a:ln w="25400" cap="flat" cmpd="sng">
            <a:no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540500" y="1676400"/>
            <a:ext cx="406400" cy="406400"/>
          </a:xfrm>
          <a:prstGeom prst="rect">
            <a:avLst/>
          </a:prstGeom>
        </p:spPr>
      </p:pic>
      <p:sp>
        <p:nvSpPr>
          <p:cNvPr id="18" name="AutoShape 18"/>
          <p:cNvSpPr/>
          <p:nvPr/>
        </p:nvSpPr>
        <p:spPr>
          <a:xfrm>
            <a:off x="7048500" y="1651000"/>
            <a:ext cx="3810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潜在挑战 (Cons)</a:t>
            </a:r>
            <a:endParaRPr lang="en-US" sz="1100"/>
          </a:p>
        </p:txBody>
      </p:sp>
      <p:pic>
        <p:nvPicPr>
          <p:cNvPr id="19" name="Picture 19"/>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6540500" y="2540000"/>
            <a:ext cx="304800" cy="304800"/>
          </a:xfrm>
          <a:prstGeom prst="rect">
            <a:avLst/>
          </a:prstGeom>
        </p:spPr>
      </p:pic>
      <p:sp>
        <p:nvSpPr>
          <p:cNvPr id="20" name="AutoShape 20"/>
          <p:cNvSpPr/>
          <p:nvPr/>
        </p:nvSpPr>
        <p:spPr>
          <a:xfrm>
            <a:off x="6985000" y="2514600"/>
            <a:ext cx="4191000" cy="889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执行速度相对较慢</a:t>
            </a:r>
            <a:endParaRPr lang="en-US" sz="1100"/>
          </a:p>
          <a:p>
            <a:pPr indent="0" algn="l">
              <a:lnSpc>
                <a:spcPct val="125000"/>
              </a:lnSpc>
            </a:pPr>
            <a:r>
              <a:rPr lang="en-US" sz="1400" b="0" i="0" u="none" strike="noStrike">
                <a:solidFill>
                  <a:srgbClr val="666666"/>
                </a:solidFill>
                <a:latin typeface="Noto Sans SC"/>
                <a:ea typeface="Noto Sans SC"/>
                <a:cs typeface="Noto Sans SC"/>
                <a:sym typeface="Noto Sans SC"/>
              </a:rPr>
              <a:t>作为解释型语言，效率略低于C/C++。但AI开发中多通过调用底层模块优化，通常不是瓶颈。</a:t>
            </a:r>
            <a:endParaRPr lang="en-US" sz="1400" b="0" i="0" u="none" strike="noStrike">
              <a:solidFill>
                <a:srgbClr val="666666"/>
              </a:solidFill>
              <a:latin typeface="Noto Sans SC"/>
              <a:ea typeface="Noto Sans SC"/>
              <a:cs typeface="Noto Sans SC"/>
              <a:sym typeface="Noto Sans SC"/>
            </a:endParaRPr>
          </a:p>
        </p:txBody>
      </p:sp>
      <p:pic>
        <p:nvPicPr>
          <p:cNvPr id="21" name="Picture 21"/>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6540500" y="3556000"/>
            <a:ext cx="304800" cy="304800"/>
          </a:xfrm>
          <a:prstGeom prst="rect">
            <a:avLst/>
          </a:prstGeom>
        </p:spPr>
      </p:pic>
      <p:sp>
        <p:nvSpPr>
          <p:cNvPr id="22" name="AutoShape 22"/>
          <p:cNvSpPr/>
          <p:nvPr/>
        </p:nvSpPr>
        <p:spPr>
          <a:xfrm>
            <a:off x="6985000" y="3530600"/>
            <a:ext cx="4191000" cy="889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源代码加密困难</a:t>
            </a:r>
            <a:endParaRPr lang="en-US" sz="1100"/>
          </a:p>
          <a:p>
            <a:pPr indent="0" algn="l">
              <a:lnSpc>
                <a:spcPct val="125000"/>
              </a:lnSpc>
            </a:pPr>
            <a:r>
              <a:rPr lang="en-US" sz="1400" b="0" i="0" u="none" strike="noStrike">
                <a:solidFill>
                  <a:srgbClr val="666666"/>
                </a:solidFill>
                <a:latin typeface="Noto Sans SC"/>
                <a:ea typeface="Noto Sans SC"/>
                <a:cs typeface="Noto Sans SC"/>
                <a:sym typeface="Noto Sans SC"/>
              </a:rPr>
              <a:t>运行源代码而非二进制文件，商业软件保护难度较大。但开源趋势下影响正在减弱。</a:t>
            </a:r>
            <a:endParaRPr lang="en-US" sz="1400" b="0" i="0" u="none" strike="noStrike">
              <a:solidFill>
                <a:srgbClr val="666666"/>
              </a:solidFill>
              <a:latin typeface="Noto Sans SC"/>
              <a:ea typeface="Noto Sans SC"/>
              <a:cs typeface="Noto Sans SC"/>
              <a:sym typeface="Noto Sans S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Python版本之争</a:t>
            </a:r>
            <a:endParaRPr lang="en-US" sz="1100"/>
          </a:p>
        </p:txBody>
      </p:sp>
      <p:sp>
        <p:nvSpPr>
          <p:cNvPr id="3" name="AutoShape 3"/>
          <p:cNvSpPr/>
          <p:nvPr/>
        </p:nvSpPr>
        <p:spPr>
          <a:xfrm>
            <a:off x="762000" y="1651000"/>
            <a:ext cx="3302000" cy="4318000"/>
          </a:xfrm>
          <a:prstGeom prst="roundRect">
            <a:avLst>
              <a:gd name="adj" fmla="val 384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143000" y="2032000"/>
            <a:ext cx="609600" cy="609600"/>
          </a:xfrm>
          <a:prstGeom prst="rect">
            <a:avLst/>
          </a:prstGeom>
        </p:spPr>
      </p:pic>
      <p:sp>
        <p:nvSpPr>
          <p:cNvPr id="5" name="AutoShape 5"/>
          <p:cNvSpPr/>
          <p:nvPr/>
        </p:nvSpPr>
        <p:spPr>
          <a:xfrm>
            <a:off x="1143000" y="27940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历史背景</a:t>
            </a:r>
            <a:endParaRPr lang="en-US" sz="1100"/>
          </a:p>
        </p:txBody>
      </p:sp>
      <p:cxnSp>
        <p:nvCxnSpPr>
          <p:cNvPr id="6" name="Connector 6"/>
          <p:cNvCxnSpPr/>
          <p:nvPr/>
        </p:nvCxnSpPr>
        <p:spPr>
          <a:xfrm rot="-17188">
            <a:off x="1143016" y="3232150"/>
            <a:ext cx="2540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7" name="AutoShape 7"/>
          <p:cNvSpPr/>
          <p:nvPr/>
        </p:nvSpPr>
        <p:spPr>
          <a:xfrm>
            <a:off x="1143000" y="3429000"/>
            <a:ext cx="2540000" cy="190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Python 2.x与3.x存在语法不兼容，曾长期并行维护，导致开发者面临版本选择的困扰。</a:t>
            </a:r>
            <a:endParaRPr lang="en-US" sz="1100"/>
          </a:p>
        </p:txBody>
      </p:sp>
      <p:sp>
        <p:nvSpPr>
          <p:cNvPr id="8" name="AutoShape 8"/>
          <p:cNvSpPr/>
          <p:nvPr/>
        </p:nvSpPr>
        <p:spPr>
          <a:xfrm>
            <a:off x="4445000" y="1651000"/>
            <a:ext cx="3302000" cy="4318000"/>
          </a:xfrm>
          <a:prstGeom prst="roundRect">
            <a:avLst>
              <a:gd name="adj" fmla="val 384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826000" y="2032000"/>
            <a:ext cx="609600" cy="609600"/>
          </a:xfrm>
          <a:prstGeom prst="rect">
            <a:avLst/>
          </a:prstGeom>
        </p:spPr>
      </p:pic>
      <p:sp>
        <p:nvSpPr>
          <p:cNvPr id="10" name="AutoShape 10"/>
          <p:cNvSpPr/>
          <p:nvPr/>
        </p:nvSpPr>
        <p:spPr>
          <a:xfrm>
            <a:off x="4826000" y="27940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当前现状</a:t>
            </a:r>
            <a:endParaRPr lang="en-US" sz="1100"/>
          </a:p>
        </p:txBody>
      </p:sp>
      <p:cxnSp>
        <p:nvCxnSpPr>
          <p:cNvPr id="11" name="Connector 11"/>
          <p:cNvCxnSpPr/>
          <p:nvPr/>
        </p:nvCxnSpPr>
        <p:spPr>
          <a:xfrm rot="-17188">
            <a:off x="4826016" y="3232150"/>
            <a:ext cx="2540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2" name="AutoShape 12"/>
          <p:cNvSpPr/>
          <p:nvPr/>
        </p:nvSpPr>
        <p:spPr>
          <a:xfrm>
            <a:off x="4826000" y="3429000"/>
            <a:ext cx="2540000" cy="190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自2020年起，官方已停止对Python 2.x的支持。Python 3.x凭借更优性能和生态，已成为绝对主流。</a:t>
            </a:r>
            <a:endParaRPr lang="en-US" sz="1100"/>
          </a:p>
        </p:txBody>
      </p:sp>
      <p:sp>
        <p:nvSpPr>
          <p:cNvPr id="13" name="AutoShape 13"/>
          <p:cNvSpPr/>
          <p:nvPr/>
        </p:nvSpPr>
        <p:spPr>
          <a:xfrm>
            <a:off x="8128000" y="1651000"/>
            <a:ext cx="3302000" cy="4318000"/>
          </a:xfrm>
          <a:prstGeom prst="roundRect">
            <a:avLst>
              <a:gd name="adj" fmla="val 384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509000" y="2032000"/>
            <a:ext cx="609600" cy="609600"/>
          </a:xfrm>
          <a:prstGeom prst="rect">
            <a:avLst/>
          </a:prstGeom>
        </p:spPr>
      </p:pic>
      <p:sp>
        <p:nvSpPr>
          <p:cNvPr id="15" name="AutoShape 15"/>
          <p:cNvSpPr/>
          <p:nvPr/>
        </p:nvSpPr>
        <p:spPr>
          <a:xfrm>
            <a:off x="8509000" y="27940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课程选择</a:t>
            </a:r>
            <a:endParaRPr lang="en-US" sz="1100"/>
          </a:p>
        </p:txBody>
      </p:sp>
      <p:cxnSp>
        <p:nvCxnSpPr>
          <p:cNvPr id="16" name="Connector 16"/>
          <p:cNvCxnSpPr/>
          <p:nvPr/>
        </p:nvCxnSpPr>
        <p:spPr>
          <a:xfrm rot="-17188">
            <a:off x="8509016" y="3232150"/>
            <a:ext cx="2540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7" name="AutoShape 17"/>
          <p:cNvSpPr/>
          <p:nvPr/>
        </p:nvSpPr>
        <p:spPr>
          <a:xfrm>
            <a:off x="8509000" y="3429000"/>
            <a:ext cx="2540000" cy="190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为顺应行业发展趋势，本课程将统一使用Python 3.x作为代码演示载体，确保学习内容的时效性。</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Python虚拟环境准备 - conda</a:t>
            </a:r>
            <a:endParaRPr lang="en-US" sz="1100"/>
          </a:p>
        </p:txBody>
      </p:sp>
      <p:sp>
        <p:nvSpPr>
          <p:cNvPr id="3" name="AutoShape 3"/>
          <p:cNvSpPr/>
          <p:nvPr/>
        </p:nvSpPr>
        <p:spPr>
          <a:xfrm>
            <a:off x="762000" y="1524000"/>
            <a:ext cx="3556000" cy="4572000"/>
          </a:xfrm>
          <a:prstGeom prst="roundRect">
            <a:avLst>
              <a:gd name="adj" fmla="val 357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66800" y="1828800"/>
            <a:ext cx="609600" cy="609600"/>
          </a:xfrm>
          <a:prstGeom prst="rect">
            <a:avLst/>
          </a:prstGeom>
        </p:spPr>
      </p:pic>
      <p:sp>
        <p:nvSpPr>
          <p:cNvPr id="5" name="AutoShape 5"/>
          <p:cNvSpPr/>
          <p:nvPr/>
        </p:nvSpPr>
        <p:spPr>
          <a:xfrm>
            <a:off x="1066800" y="2540000"/>
            <a:ext cx="29464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为什么需要虚拟环境？</a:t>
            </a:r>
            <a:endParaRPr lang="en-US" sz="1100"/>
          </a:p>
        </p:txBody>
      </p:sp>
      <p:sp>
        <p:nvSpPr>
          <p:cNvPr id="6" name="AutoShape 6"/>
          <p:cNvSpPr/>
          <p:nvPr/>
        </p:nvSpPr>
        <p:spPr>
          <a:xfrm>
            <a:off x="1066800" y="3048000"/>
            <a:ext cx="2946400" cy="2540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333333"/>
              </a:buClr>
              <a:buChar char="•"/>
              <a:defRPr/>
            </a:pPr>
            <a:r>
              <a:rPr lang="en-US" sz="1400" b="0" i="0" u="none" strike="noStrike">
                <a:solidFill>
                  <a:srgbClr val="333333"/>
                </a:solidFill>
                <a:latin typeface="Noto Sans SC"/>
                <a:ea typeface="Noto Sans SC"/>
                <a:cs typeface="Noto Sans SC"/>
                <a:sym typeface="Noto Sans SC"/>
              </a:rPr>
              <a:t>隔离项目依赖，避免不同项目间的版本冲突</a:t>
            </a:r>
            <a:endParaRPr lang="en-US" sz="1100"/>
          </a:p>
          <a:p>
            <a:pPr marL="177800" indent="-177800" algn="l">
              <a:lnSpc>
                <a:spcPct val="125000"/>
              </a:lnSpc>
              <a:buClr>
                <a:srgbClr val="333333"/>
              </a:buClr>
              <a:buChar char="•"/>
            </a:pPr>
            <a:r>
              <a:rPr lang="en-US" sz="1400" b="0" i="0" u="none" strike="noStrike">
                <a:solidFill>
                  <a:srgbClr val="333333"/>
                </a:solidFill>
                <a:latin typeface="Noto Sans SC"/>
                <a:ea typeface="Noto Sans SC"/>
                <a:cs typeface="Noto Sans SC"/>
                <a:sym typeface="Noto Sans SC"/>
              </a:rPr>
              <a:t>保持全局环境清洁，便于项目移植和分享</a:t>
            </a:r>
            <a:endParaRPr lang="en-US" sz="1400" b="0" i="0" u="none" strike="noStrike">
              <a:solidFill>
                <a:srgbClr val="333333"/>
              </a:solidFill>
              <a:latin typeface="Noto Sans SC"/>
              <a:ea typeface="Noto Sans SC"/>
              <a:cs typeface="Noto Sans SC"/>
              <a:sym typeface="Noto Sans SC"/>
            </a:endParaRPr>
          </a:p>
          <a:p>
            <a:pPr marL="177800" indent="-177800" algn="l">
              <a:lnSpc>
                <a:spcPct val="125000"/>
              </a:lnSpc>
              <a:buClr>
                <a:srgbClr val="333333"/>
              </a:buClr>
              <a:buChar char="•"/>
            </a:pPr>
            <a:r>
              <a:rPr lang="en-US" sz="1400" b="0" i="0" u="none" strike="noStrike">
                <a:solidFill>
                  <a:srgbClr val="333333"/>
                </a:solidFill>
                <a:latin typeface="Noto Sans SC"/>
                <a:ea typeface="Noto Sans SC"/>
                <a:cs typeface="Noto Sans SC"/>
                <a:sym typeface="Noto Sans SC"/>
              </a:rPr>
              <a:t>Conda是数据科学领域管理环境的首选工具</a:t>
            </a:r>
            <a:endParaRPr lang="en-US" sz="1400" b="0" i="0" u="none" strike="noStrike">
              <a:solidFill>
                <a:srgbClr val="333333"/>
              </a:solidFill>
              <a:latin typeface="Noto Sans SC"/>
              <a:ea typeface="Noto Sans SC"/>
              <a:cs typeface="Noto Sans SC"/>
              <a:sym typeface="Noto Sans SC"/>
            </a:endParaRPr>
          </a:p>
        </p:txBody>
      </p:sp>
      <p:sp>
        <p:nvSpPr>
          <p:cNvPr id="7" name="AutoShape 7"/>
          <p:cNvSpPr/>
          <p:nvPr/>
        </p:nvSpPr>
        <p:spPr>
          <a:xfrm>
            <a:off x="4572000" y="1524000"/>
            <a:ext cx="6858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876800" y="1828800"/>
            <a:ext cx="609600" cy="609600"/>
          </a:xfrm>
          <a:prstGeom prst="rect">
            <a:avLst/>
          </a:prstGeom>
        </p:spPr>
      </p:pic>
      <p:sp>
        <p:nvSpPr>
          <p:cNvPr id="9" name="AutoShape 9"/>
          <p:cNvSpPr/>
          <p:nvPr/>
        </p:nvSpPr>
        <p:spPr>
          <a:xfrm>
            <a:off x="5588000" y="1905000"/>
            <a:ext cx="55372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常用 Conda 命令速查</a:t>
            </a:r>
            <a:endParaRPr lang="en-US" sz="1100"/>
          </a:p>
        </p:txBody>
      </p:sp>
      <p:sp>
        <p:nvSpPr>
          <p:cNvPr id="10" name="AutoShape 10"/>
          <p:cNvSpPr/>
          <p:nvPr/>
        </p:nvSpPr>
        <p:spPr>
          <a:xfrm>
            <a:off x="4876800" y="2413000"/>
            <a:ext cx="6248400" cy="3429000"/>
          </a:xfrm>
          <a:prstGeom prst="roundRect">
            <a:avLst>
              <a:gd name="adj" fmla="val 1851"/>
            </a:avLst>
          </a:prstGeom>
          <a:solidFill>
            <a:srgbClr val="F8F9FA">
              <a:alpha val="100000"/>
            </a:srgbClr>
          </a:solidFill>
          <a:ln w="12700" cap="flat" cmpd="sng">
            <a:solidFill>
              <a:srgbClr val="DCDCDC">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5003800" y="2540000"/>
            <a:ext cx="5994400" cy="317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808080"/>
                </a:solidFill>
                <a:latin typeface="Noto Sans SC"/>
                <a:ea typeface="Noto Sans SC"/>
                <a:cs typeface="Noto Sans SC"/>
                <a:sym typeface="Noto Sans SC"/>
              </a:rPr>
              <a:t># 1. 查看现有环境</a:t>
            </a:r>
            <a:endParaRPr lang="en-US" sz="1100"/>
          </a:p>
          <a:p>
            <a:pPr indent="0" algn="l">
              <a:lnSpc>
                <a:spcPct val="125000"/>
              </a:lnSpc>
            </a:pPr>
            <a:r>
              <a:rPr lang="en-US" sz="1300" b="0" i="0" u="none" strike="noStrike">
                <a:solidFill>
                  <a:srgbClr val="003366"/>
                </a:solidFill>
                <a:latin typeface="Noto Sans SC"/>
                <a:ea typeface="Noto Sans SC"/>
                <a:cs typeface="Noto Sans SC"/>
                <a:sym typeface="Noto Sans SC"/>
              </a:rPr>
              <a:t>conda env list</a:t>
            </a:r>
            <a:endParaRPr lang="en-US" sz="1300" b="0" i="0" u="none" strike="noStrike">
              <a:solidFill>
                <a:srgbClr val="003366"/>
              </a:solidFill>
              <a:latin typeface="Noto Sans SC"/>
              <a:ea typeface="Noto Sans SC"/>
              <a:cs typeface="Noto Sans SC"/>
              <a:sym typeface="Noto Sans SC"/>
            </a:endParaRPr>
          </a:p>
          <a:p>
            <a:pPr indent="0" algn="l">
              <a:lnSpc>
                <a:spcPct val="125000"/>
              </a:lnSpc>
            </a:pPr>
            <a:br>
              <a:rPr lang="en-US" sz="1300" b="0" i="0" u="none" strike="noStrike">
                <a:solidFill>
                  <a:srgbClr val="1F2329"/>
                </a:solidFill>
                <a:latin typeface="Noto Sans SC"/>
                <a:ea typeface="Noto Sans SC"/>
                <a:cs typeface="Noto Sans SC"/>
                <a:sym typeface="Noto Sans SC"/>
              </a:rPr>
            </a:br>
            <a:endParaRPr lang="en-US" sz="1300" b="0" i="0" u="none" strike="noStrike">
              <a:solidFill>
                <a:srgbClr val="1F2329"/>
              </a:solidFill>
              <a:latin typeface="Noto Sans SC"/>
              <a:ea typeface="Noto Sans SC"/>
              <a:cs typeface="Noto Sans SC"/>
              <a:sym typeface="Noto Sans SC"/>
            </a:endParaRPr>
          </a:p>
          <a:p>
            <a:pPr indent="0" algn="l">
              <a:lnSpc>
                <a:spcPct val="125000"/>
              </a:lnSpc>
            </a:pPr>
            <a:r>
              <a:rPr lang="en-US" sz="1300" b="0" i="0" u="none" strike="noStrike">
                <a:solidFill>
                  <a:srgbClr val="808080"/>
                </a:solidFill>
                <a:latin typeface="Noto Sans SC"/>
                <a:ea typeface="Noto Sans SC"/>
                <a:cs typeface="Noto Sans SC"/>
                <a:sym typeface="Noto Sans SC"/>
              </a:rPr>
              <a:t># 2. 创建环境 (指定Python版本)</a:t>
            </a:r>
            <a:endParaRPr lang="en-US" sz="1300" b="0" i="0" u="none" strike="noStrike">
              <a:solidFill>
                <a:srgbClr val="808080"/>
              </a:solidFill>
              <a:latin typeface="Noto Sans SC"/>
              <a:ea typeface="Noto Sans SC"/>
              <a:cs typeface="Noto Sans SC"/>
              <a:sym typeface="Noto Sans SC"/>
            </a:endParaRPr>
          </a:p>
          <a:p>
            <a:pPr indent="0" algn="l">
              <a:lnSpc>
                <a:spcPct val="125000"/>
              </a:lnSpc>
            </a:pPr>
            <a:r>
              <a:rPr lang="en-US" sz="1300" b="0" i="0" u="none" strike="noStrike">
                <a:solidFill>
                  <a:srgbClr val="003366"/>
                </a:solidFill>
                <a:latin typeface="Noto Sans SC"/>
                <a:ea typeface="Noto Sans SC"/>
                <a:cs typeface="Noto Sans SC"/>
                <a:sym typeface="Noto Sans SC"/>
              </a:rPr>
              <a:t>conda create -n my_env_name python=3.x</a:t>
            </a:r>
            <a:endParaRPr lang="en-US" sz="1300" b="0" i="0" u="none" strike="noStrike">
              <a:solidFill>
                <a:srgbClr val="003366"/>
              </a:solidFill>
              <a:latin typeface="Noto Sans SC"/>
              <a:ea typeface="Noto Sans SC"/>
              <a:cs typeface="Noto Sans SC"/>
              <a:sym typeface="Noto Sans SC"/>
            </a:endParaRPr>
          </a:p>
          <a:p>
            <a:pPr indent="0" algn="l">
              <a:lnSpc>
                <a:spcPct val="125000"/>
              </a:lnSpc>
            </a:pPr>
            <a:br>
              <a:rPr lang="en-US" sz="1300" b="0" i="0" u="none" strike="noStrike">
                <a:solidFill>
                  <a:srgbClr val="1F2329"/>
                </a:solidFill>
                <a:latin typeface="Noto Sans SC"/>
                <a:ea typeface="Noto Sans SC"/>
                <a:cs typeface="Noto Sans SC"/>
                <a:sym typeface="Noto Sans SC"/>
              </a:rPr>
            </a:br>
            <a:endParaRPr lang="en-US" sz="1300" b="0" i="0" u="none" strike="noStrike">
              <a:solidFill>
                <a:srgbClr val="1F2329"/>
              </a:solidFill>
              <a:latin typeface="Noto Sans SC"/>
              <a:ea typeface="Noto Sans SC"/>
              <a:cs typeface="Noto Sans SC"/>
              <a:sym typeface="Noto Sans SC"/>
            </a:endParaRPr>
          </a:p>
          <a:p>
            <a:pPr indent="0" algn="l">
              <a:lnSpc>
                <a:spcPct val="125000"/>
              </a:lnSpc>
            </a:pPr>
            <a:r>
              <a:rPr lang="en-US" sz="1300" b="0" i="0" u="none" strike="noStrike">
                <a:solidFill>
                  <a:srgbClr val="808080"/>
                </a:solidFill>
                <a:latin typeface="Noto Sans SC"/>
                <a:ea typeface="Noto Sans SC"/>
                <a:cs typeface="Noto Sans SC"/>
                <a:sym typeface="Noto Sans SC"/>
              </a:rPr>
              <a:t># 3. 激活环境 (Windows: activate my_env_name)</a:t>
            </a:r>
            <a:endParaRPr lang="en-US" sz="1300" b="0" i="0" u="none" strike="noStrike">
              <a:solidFill>
                <a:srgbClr val="808080"/>
              </a:solidFill>
              <a:latin typeface="Noto Sans SC"/>
              <a:ea typeface="Noto Sans SC"/>
              <a:cs typeface="Noto Sans SC"/>
              <a:sym typeface="Noto Sans SC"/>
            </a:endParaRPr>
          </a:p>
          <a:p>
            <a:pPr indent="0" algn="l">
              <a:lnSpc>
                <a:spcPct val="125000"/>
              </a:lnSpc>
            </a:pPr>
            <a:r>
              <a:rPr lang="en-US" sz="1300" b="0" i="0" u="none" strike="noStrike">
                <a:solidFill>
                  <a:srgbClr val="003366"/>
                </a:solidFill>
                <a:latin typeface="Noto Sans SC"/>
                <a:ea typeface="Noto Sans SC"/>
                <a:cs typeface="Noto Sans SC"/>
                <a:sym typeface="Noto Sans SC"/>
              </a:rPr>
              <a:t>source activate my_env_name</a:t>
            </a:r>
            <a:endParaRPr lang="en-US" sz="1300" b="0" i="0" u="none" strike="noStrike">
              <a:solidFill>
                <a:srgbClr val="003366"/>
              </a:solidFill>
              <a:latin typeface="Noto Sans SC"/>
              <a:ea typeface="Noto Sans SC"/>
              <a:cs typeface="Noto Sans SC"/>
              <a:sym typeface="Noto Sans SC"/>
            </a:endParaRPr>
          </a:p>
          <a:p>
            <a:pPr indent="0" algn="l">
              <a:lnSpc>
                <a:spcPct val="125000"/>
              </a:lnSpc>
            </a:pPr>
            <a:br>
              <a:rPr lang="en-US" sz="1300" b="0" i="0" u="none" strike="noStrike">
                <a:solidFill>
                  <a:srgbClr val="1F2329"/>
                </a:solidFill>
                <a:latin typeface="Noto Sans SC"/>
                <a:ea typeface="Noto Sans SC"/>
                <a:cs typeface="Noto Sans SC"/>
                <a:sym typeface="Noto Sans SC"/>
              </a:rPr>
            </a:br>
            <a:endParaRPr lang="en-US" sz="1300" b="0" i="0" u="none" strike="noStrike">
              <a:solidFill>
                <a:srgbClr val="1F2329"/>
              </a:solidFill>
              <a:latin typeface="Noto Sans SC"/>
              <a:ea typeface="Noto Sans SC"/>
              <a:cs typeface="Noto Sans SC"/>
              <a:sym typeface="Noto Sans SC"/>
            </a:endParaRPr>
          </a:p>
          <a:p>
            <a:pPr indent="0" algn="l">
              <a:lnSpc>
                <a:spcPct val="125000"/>
              </a:lnSpc>
            </a:pPr>
            <a:r>
              <a:rPr lang="en-US" sz="1300" b="0" i="0" u="none" strike="noStrike">
                <a:solidFill>
                  <a:srgbClr val="808080"/>
                </a:solidFill>
                <a:latin typeface="Noto Sans SC"/>
                <a:ea typeface="Noto Sans SC"/>
                <a:cs typeface="Noto Sans SC"/>
                <a:sym typeface="Noto Sans SC"/>
              </a:rPr>
              <a:t># 4. 安装包 &amp; 退出</a:t>
            </a:r>
            <a:endParaRPr lang="en-US" sz="1300" b="0" i="0" u="none" strike="noStrike">
              <a:solidFill>
                <a:srgbClr val="808080"/>
              </a:solidFill>
              <a:latin typeface="Noto Sans SC"/>
              <a:ea typeface="Noto Sans SC"/>
              <a:cs typeface="Noto Sans SC"/>
              <a:sym typeface="Noto Sans SC"/>
            </a:endParaRPr>
          </a:p>
          <a:p>
            <a:pPr indent="0" algn="l">
              <a:lnSpc>
                <a:spcPct val="125000"/>
              </a:lnSpc>
            </a:pPr>
            <a:r>
              <a:rPr lang="en-US" sz="1300" b="0" i="0" u="none" strike="noStrike">
                <a:solidFill>
                  <a:srgbClr val="003366"/>
                </a:solidFill>
                <a:latin typeface="Noto Sans SC"/>
                <a:ea typeface="Noto Sans SC"/>
                <a:cs typeface="Noto Sans SC"/>
                <a:sym typeface="Noto Sans SC"/>
              </a:rPr>
              <a:t>conda install -n my_env_name [pkg] | conda deactivate</a:t>
            </a:r>
            <a:endParaRPr lang="en-US" sz="1300" b="0" i="0" u="none" strike="noStrike">
              <a:solidFill>
                <a:srgbClr val="003366"/>
              </a:solidFill>
              <a:latin typeface="Noto Sans SC"/>
              <a:ea typeface="Noto Sans SC"/>
              <a:cs typeface="Noto Sans SC"/>
              <a:sym typeface="Noto Sans SC"/>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Python虚拟环境准备 - venv</a:t>
            </a:r>
            <a:endParaRPr lang="en-US" sz="1100"/>
          </a:p>
        </p:txBody>
      </p:sp>
      <p:sp>
        <p:nvSpPr>
          <p:cNvPr id="3" name="AutoShape 3"/>
          <p:cNvSpPr/>
          <p:nvPr/>
        </p:nvSpPr>
        <p:spPr>
          <a:xfrm>
            <a:off x="762000" y="1524000"/>
            <a:ext cx="4826000" cy="4318000"/>
          </a:xfrm>
          <a:prstGeom prst="roundRect">
            <a:avLst>
              <a:gd name="adj" fmla="val 294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66800" y="1828800"/>
            <a:ext cx="406400" cy="406400"/>
          </a:xfrm>
          <a:prstGeom prst="rect">
            <a:avLst/>
          </a:prstGeom>
        </p:spPr>
      </p:pic>
      <p:sp>
        <p:nvSpPr>
          <p:cNvPr id="5" name="AutoShape 5"/>
          <p:cNvSpPr/>
          <p:nvPr/>
        </p:nvSpPr>
        <p:spPr>
          <a:xfrm>
            <a:off x="1574800" y="1803400"/>
            <a:ext cx="3683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轻量级虚拟环境工具</a:t>
            </a:r>
            <a:endParaRPr lang="en-US" sz="1100"/>
          </a:p>
        </p:txBody>
      </p:sp>
      <p:cxnSp>
        <p:nvCxnSpPr>
          <p:cNvPr id="6" name="Connector 6"/>
          <p:cNvCxnSpPr/>
          <p:nvPr/>
        </p:nvCxnSpPr>
        <p:spPr>
          <a:xfrm rot="-10354">
            <a:off x="1066810" y="2330450"/>
            <a:ext cx="42164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7" name="AutoShape 7"/>
          <p:cNvSpPr/>
          <p:nvPr/>
        </p:nvSpPr>
        <p:spPr>
          <a:xfrm>
            <a:off x="1066800" y="2540000"/>
            <a:ext cx="4216400" cy="2921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333333"/>
              </a:buClr>
              <a:buChar char="•"/>
              <a:defRPr/>
            </a:pPr>
            <a:r>
              <a:rPr lang="en-US" sz="1400" b="1" i="0" u="none" strike="noStrike">
                <a:solidFill>
                  <a:srgbClr val="333333"/>
                </a:solidFill>
                <a:latin typeface="Noto Sans SC"/>
                <a:ea typeface="Noto Sans SC"/>
                <a:cs typeface="Noto Sans SC"/>
                <a:sym typeface="Noto Sans SC"/>
              </a:rPr>
              <a:t>原生支持：</a:t>
            </a:r>
            <a:r>
              <a:rPr lang="en-US" sz="1400" b="0" i="0" u="none" strike="noStrike">
                <a:solidFill>
                  <a:srgbClr val="666666"/>
                </a:solidFill>
                <a:latin typeface="Noto Sans SC"/>
                <a:ea typeface="Noto Sans SC"/>
                <a:cs typeface="Noto Sans SC"/>
                <a:sym typeface="Noto Sans SC"/>
              </a:rPr>
              <a:t>Python 3.3及以上版本自带模块，无需额外安装。</a:t>
            </a:r>
            <a:endParaRPr lang="en-US" sz="1100"/>
          </a:p>
          <a:p>
            <a:pPr marL="177800" indent="-177800" algn="l">
              <a:lnSpc>
                <a:spcPct val="125000"/>
              </a:lnSpc>
              <a:buClr>
                <a:srgbClr val="333333"/>
              </a:buClr>
              <a:buChar char="•"/>
            </a:pPr>
            <a:r>
              <a:rPr lang="en-US" sz="1400" b="1" i="0" u="none" strike="noStrike">
                <a:solidFill>
                  <a:srgbClr val="333333"/>
                </a:solidFill>
                <a:latin typeface="Noto Sans SC"/>
                <a:ea typeface="Noto Sans SC"/>
                <a:cs typeface="Noto Sans SC"/>
                <a:sym typeface="Noto Sans SC"/>
              </a:rPr>
              <a:t>轻量级：</a:t>
            </a:r>
            <a:r>
              <a:rPr lang="en-US" sz="1400" b="0" i="0" u="none" strike="noStrike">
                <a:solidFill>
                  <a:srgbClr val="666666"/>
                </a:solidFill>
                <a:latin typeface="Noto Sans SC"/>
                <a:ea typeface="Noto Sans SC"/>
                <a:cs typeface="Noto Sans SC"/>
                <a:sym typeface="Noto Sans SC"/>
              </a:rPr>
              <a:t>相比 conda，体积更小，启动更快，适合简单项目。</a:t>
            </a:r>
            <a:endParaRPr lang="en-US" sz="1400" b="0" i="0" u="none" strike="noStrike">
              <a:solidFill>
                <a:srgbClr val="666666"/>
              </a:solidFill>
              <a:latin typeface="Noto Sans SC"/>
              <a:ea typeface="Noto Sans SC"/>
              <a:cs typeface="Noto Sans SC"/>
              <a:sym typeface="Noto Sans SC"/>
            </a:endParaRPr>
          </a:p>
          <a:p>
            <a:pPr marL="177800" indent="-177800" algn="l">
              <a:lnSpc>
                <a:spcPct val="125000"/>
              </a:lnSpc>
              <a:buClr>
                <a:srgbClr val="333333"/>
              </a:buClr>
              <a:buChar char="•"/>
            </a:pPr>
            <a:r>
              <a:rPr lang="en-US" sz="1400" b="1" i="0" u="none" strike="noStrike">
                <a:solidFill>
                  <a:srgbClr val="333333"/>
                </a:solidFill>
                <a:latin typeface="Noto Sans SC"/>
                <a:ea typeface="Noto Sans SC"/>
                <a:cs typeface="Noto Sans SC"/>
                <a:sym typeface="Noto Sans SC"/>
              </a:rPr>
              <a:t>隔离性：</a:t>
            </a:r>
            <a:r>
              <a:rPr lang="en-US" sz="1400" b="0" i="0" u="none" strike="noStrike">
                <a:solidFill>
                  <a:srgbClr val="666666"/>
                </a:solidFill>
                <a:latin typeface="Noto Sans SC"/>
                <a:ea typeface="Noto Sans SC"/>
                <a:cs typeface="Noto Sans SC"/>
                <a:sym typeface="Noto Sans SC"/>
              </a:rPr>
              <a:t>独立的 Python 解释器和包目录，避免版本冲突。</a:t>
            </a:r>
            <a:endParaRPr lang="en-US" sz="1400" b="0" i="0" u="none" strike="noStrike">
              <a:solidFill>
                <a:srgbClr val="666666"/>
              </a:solidFill>
              <a:latin typeface="Noto Sans SC"/>
              <a:ea typeface="Noto Sans SC"/>
              <a:cs typeface="Noto Sans SC"/>
              <a:sym typeface="Noto Sans SC"/>
            </a:endParaRPr>
          </a:p>
        </p:txBody>
      </p:sp>
      <p:sp>
        <p:nvSpPr>
          <p:cNvPr id="8" name="AutoShape 8"/>
          <p:cNvSpPr/>
          <p:nvPr/>
        </p:nvSpPr>
        <p:spPr>
          <a:xfrm>
            <a:off x="5842000" y="1524000"/>
            <a:ext cx="5588000" cy="4318000"/>
          </a:xfrm>
          <a:prstGeom prst="roundRect">
            <a:avLst>
              <a:gd name="adj" fmla="val 294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146800" y="1828800"/>
            <a:ext cx="406400" cy="406400"/>
          </a:xfrm>
          <a:prstGeom prst="rect">
            <a:avLst/>
          </a:prstGeom>
        </p:spPr>
      </p:pic>
      <p:sp>
        <p:nvSpPr>
          <p:cNvPr id="10" name="AutoShape 10"/>
          <p:cNvSpPr/>
          <p:nvPr/>
        </p:nvSpPr>
        <p:spPr>
          <a:xfrm>
            <a:off x="6654800" y="1803400"/>
            <a:ext cx="4445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核心命令速查</a:t>
            </a:r>
            <a:endParaRPr lang="en-US" sz="1100"/>
          </a:p>
        </p:txBody>
      </p:sp>
      <p:cxnSp>
        <p:nvCxnSpPr>
          <p:cNvPr id="11" name="Connector 11"/>
          <p:cNvCxnSpPr/>
          <p:nvPr/>
        </p:nvCxnSpPr>
        <p:spPr>
          <a:xfrm rot="-8769">
            <a:off x="6146808" y="2330450"/>
            <a:ext cx="49784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2" name="AutoShape 12"/>
          <p:cNvSpPr/>
          <p:nvPr/>
        </p:nvSpPr>
        <p:spPr>
          <a:xfrm>
            <a:off x="6146800" y="2540000"/>
            <a:ext cx="4978400" cy="2921000"/>
          </a:xfrm>
          <a:prstGeom prst="roundRect">
            <a:avLst>
              <a:gd name="adj" fmla="val 2173"/>
            </a:avLst>
          </a:prstGeom>
          <a:solidFill>
            <a:srgbClr val="F5F7FA">
              <a:alpha val="100000"/>
            </a:srgbClr>
          </a:solidFill>
          <a:ln w="12700" cap="flat" cmpd="sng">
            <a:solidFill>
              <a:srgbClr val="DCE1E6">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6273800" y="2667000"/>
            <a:ext cx="4724400" cy="2667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808080"/>
                </a:solidFill>
                <a:latin typeface="Noto Sans SC"/>
                <a:ea typeface="Noto Sans SC"/>
                <a:cs typeface="Noto Sans SC"/>
                <a:sym typeface="Noto Sans SC"/>
              </a:rPr>
              <a:t># 创建虚拟环境</a:t>
            </a:r>
            <a:br>
              <a:rPr lang="en-US" sz="1300" b="0" i="0" u="none" strike="noStrike">
                <a:solidFill>
                  <a:srgbClr val="1F2329"/>
                </a:solidFill>
                <a:latin typeface="Noto Sans SC"/>
                <a:ea typeface="Noto Sans SC"/>
                <a:cs typeface="Noto Sans SC"/>
                <a:sym typeface="Noto Sans SC"/>
              </a:rPr>
            </a:br>
            <a:r>
              <a:rPr lang="en-US" sz="1300" b="0" i="0" u="none" strike="noStrike">
                <a:solidFill>
                  <a:srgbClr val="003366"/>
                </a:solidFill>
                <a:latin typeface="Noto Sans SC"/>
                <a:ea typeface="Noto Sans SC"/>
                <a:cs typeface="Noto Sans SC"/>
                <a:sym typeface="Noto Sans SC"/>
              </a:rPr>
              <a:t>python -m venv my_env_name</a:t>
            </a:r>
            <a:endParaRPr lang="en-US" sz="1100"/>
          </a:p>
          <a:p>
            <a:pPr indent="0" algn="l">
              <a:lnSpc>
                <a:spcPct val="125000"/>
              </a:lnSpc>
            </a:pPr>
            <a:br>
              <a:rPr lang="en-US" sz="1300" b="0" i="0" u="none" strike="noStrike">
                <a:solidFill>
                  <a:srgbClr val="1F2329"/>
                </a:solidFill>
                <a:latin typeface="Noto Sans SC"/>
                <a:ea typeface="Noto Sans SC"/>
                <a:cs typeface="Noto Sans SC"/>
                <a:sym typeface="Noto Sans SC"/>
              </a:rPr>
            </a:br>
            <a:endParaRPr lang="en-US" sz="1300" b="0" i="0" u="none" strike="noStrike">
              <a:solidFill>
                <a:srgbClr val="1F2329"/>
              </a:solidFill>
              <a:latin typeface="Noto Sans SC"/>
              <a:ea typeface="Noto Sans SC"/>
              <a:cs typeface="Noto Sans SC"/>
              <a:sym typeface="Noto Sans SC"/>
            </a:endParaRPr>
          </a:p>
          <a:p>
            <a:pPr indent="0" algn="l">
              <a:lnSpc>
                <a:spcPct val="125000"/>
              </a:lnSpc>
            </a:pPr>
            <a:r>
              <a:rPr lang="en-US" sz="1300" b="0" i="0" u="none" strike="noStrike">
                <a:solidFill>
                  <a:srgbClr val="808080"/>
                </a:solidFill>
                <a:latin typeface="Noto Sans SC"/>
                <a:ea typeface="Noto Sans SC"/>
                <a:cs typeface="Noto Sans SC"/>
                <a:sym typeface="Noto Sans SC"/>
              </a:rPr>
              <a:t># 激活 (Linux/Mac)</a:t>
            </a:r>
            <a:br>
              <a:rPr lang="en-US" sz="1300" b="0" i="0" u="none" strike="noStrike">
                <a:solidFill>
                  <a:srgbClr val="1F2329"/>
                </a:solidFill>
                <a:latin typeface="Noto Sans SC"/>
                <a:ea typeface="Noto Sans SC"/>
                <a:cs typeface="Noto Sans SC"/>
                <a:sym typeface="Noto Sans SC"/>
              </a:rPr>
            </a:br>
            <a:r>
              <a:rPr lang="en-US" sz="1300" b="0" i="0" u="none" strike="noStrike">
                <a:solidFill>
                  <a:srgbClr val="003366"/>
                </a:solidFill>
                <a:latin typeface="Noto Sans SC"/>
                <a:ea typeface="Noto Sans SC"/>
                <a:cs typeface="Noto Sans SC"/>
                <a:sym typeface="Noto Sans SC"/>
              </a:rPr>
              <a:t>source my_env_name/bin/activate</a:t>
            </a:r>
            <a:endParaRPr lang="en-US" sz="1300" b="0" i="0" u="none" strike="noStrike">
              <a:solidFill>
                <a:srgbClr val="003366"/>
              </a:solidFill>
              <a:latin typeface="Noto Sans SC"/>
              <a:ea typeface="Noto Sans SC"/>
              <a:cs typeface="Noto Sans SC"/>
              <a:sym typeface="Noto Sans SC"/>
            </a:endParaRPr>
          </a:p>
          <a:p>
            <a:pPr indent="0" algn="l">
              <a:lnSpc>
                <a:spcPct val="125000"/>
              </a:lnSpc>
            </a:pPr>
            <a:br>
              <a:rPr lang="en-US" sz="1300" b="0" i="0" u="none" strike="noStrike">
                <a:solidFill>
                  <a:srgbClr val="1F2329"/>
                </a:solidFill>
                <a:latin typeface="Noto Sans SC"/>
                <a:ea typeface="Noto Sans SC"/>
                <a:cs typeface="Noto Sans SC"/>
                <a:sym typeface="Noto Sans SC"/>
              </a:rPr>
            </a:br>
            <a:endParaRPr lang="en-US" sz="1300" b="0" i="0" u="none" strike="noStrike">
              <a:solidFill>
                <a:srgbClr val="1F2329"/>
              </a:solidFill>
              <a:latin typeface="Noto Sans SC"/>
              <a:ea typeface="Noto Sans SC"/>
              <a:cs typeface="Noto Sans SC"/>
              <a:sym typeface="Noto Sans SC"/>
            </a:endParaRPr>
          </a:p>
          <a:p>
            <a:pPr indent="0" algn="l">
              <a:lnSpc>
                <a:spcPct val="125000"/>
              </a:lnSpc>
            </a:pPr>
            <a:r>
              <a:rPr lang="en-US" sz="1300" b="0" i="0" u="none" strike="noStrike">
                <a:solidFill>
                  <a:srgbClr val="808080"/>
                </a:solidFill>
                <a:latin typeface="Noto Sans SC"/>
                <a:ea typeface="Noto Sans SC"/>
                <a:cs typeface="Noto Sans SC"/>
                <a:sym typeface="Noto Sans SC"/>
              </a:rPr>
              <a:t># 激活 (Windows)</a:t>
            </a:r>
            <a:br>
              <a:rPr lang="en-US" sz="1300" b="0" i="0" u="none" strike="noStrike">
                <a:solidFill>
                  <a:srgbClr val="1F2329"/>
                </a:solidFill>
                <a:latin typeface="Noto Sans SC"/>
                <a:ea typeface="Noto Sans SC"/>
                <a:cs typeface="Noto Sans SC"/>
                <a:sym typeface="Noto Sans SC"/>
              </a:rPr>
            </a:br>
            <a:r>
              <a:rPr lang="en-US" sz="1300" b="0" i="0" u="none" strike="noStrike">
                <a:solidFill>
                  <a:srgbClr val="003366"/>
                </a:solidFill>
                <a:latin typeface="Noto Sans SC"/>
                <a:ea typeface="Noto Sans SC"/>
                <a:cs typeface="Noto Sans SC"/>
                <a:sym typeface="Noto Sans SC"/>
              </a:rPr>
              <a:t>my_env_name\Scripts\activate.bat</a:t>
            </a:r>
            <a:endParaRPr lang="en-US" sz="1300" b="0" i="0" u="none" strike="noStrike">
              <a:solidFill>
                <a:srgbClr val="003366"/>
              </a:solidFill>
              <a:latin typeface="Noto Sans SC"/>
              <a:ea typeface="Noto Sans SC"/>
              <a:cs typeface="Noto Sans SC"/>
              <a:sym typeface="Noto Sans SC"/>
            </a:endParaRPr>
          </a:p>
          <a:p>
            <a:pPr indent="0" algn="l">
              <a:lnSpc>
                <a:spcPct val="125000"/>
              </a:lnSpc>
            </a:pPr>
            <a:br>
              <a:rPr lang="en-US" sz="1300" b="0" i="0" u="none" strike="noStrike">
                <a:solidFill>
                  <a:srgbClr val="1F2329"/>
                </a:solidFill>
                <a:latin typeface="Noto Sans SC"/>
                <a:ea typeface="Noto Sans SC"/>
                <a:cs typeface="Noto Sans SC"/>
                <a:sym typeface="Noto Sans SC"/>
              </a:rPr>
            </a:br>
            <a:endParaRPr lang="en-US" sz="1300" b="0" i="0" u="none" strike="noStrike">
              <a:solidFill>
                <a:srgbClr val="1F2329"/>
              </a:solidFill>
              <a:latin typeface="Noto Sans SC"/>
              <a:ea typeface="Noto Sans SC"/>
              <a:cs typeface="Noto Sans SC"/>
              <a:sym typeface="Noto Sans SC"/>
            </a:endParaRPr>
          </a:p>
          <a:p>
            <a:pPr indent="0" algn="l">
              <a:lnSpc>
                <a:spcPct val="125000"/>
              </a:lnSpc>
            </a:pPr>
            <a:r>
              <a:rPr lang="en-US" sz="1300" b="0" i="0" u="none" strike="noStrike">
                <a:solidFill>
                  <a:srgbClr val="808080"/>
                </a:solidFill>
                <a:latin typeface="Noto Sans SC"/>
                <a:ea typeface="Noto Sans SC"/>
                <a:cs typeface="Noto Sans SC"/>
                <a:sym typeface="Noto Sans SC"/>
              </a:rPr>
              <a:t># 退出环境</a:t>
            </a:r>
            <a:br>
              <a:rPr lang="en-US" sz="1300" b="0" i="0" u="none" strike="noStrike">
                <a:solidFill>
                  <a:srgbClr val="1F2329"/>
                </a:solidFill>
                <a:latin typeface="Noto Sans SC"/>
                <a:ea typeface="Noto Sans SC"/>
                <a:cs typeface="Noto Sans SC"/>
                <a:sym typeface="Noto Sans SC"/>
              </a:rPr>
            </a:br>
            <a:r>
              <a:rPr lang="en-US" sz="1300" b="0" i="0" u="none" strike="noStrike">
                <a:solidFill>
                  <a:srgbClr val="003366"/>
                </a:solidFill>
                <a:latin typeface="Noto Sans SC"/>
                <a:ea typeface="Noto Sans SC"/>
                <a:cs typeface="Noto Sans SC"/>
                <a:sym typeface="Noto Sans SC"/>
              </a:rPr>
              <a:t>deactivate</a:t>
            </a:r>
            <a:endParaRPr lang="en-US" sz="1300" b="0" i="0" u="none" strike="noStrike">
              <a:solidFill>
                <a:srgbClr val="003366"/>
              </a:solidFill>
              <a:latin typeface="Noto Sans SC"/>
              <a:ea typeface="Noto Sans SC"/>
              <a:cs typeface="Noto Sans SC"/>
              <a:sym typeface="Noto Sans SC"/>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Python开发风格 - PEP8规范</a:t>
            </a:r>
            <a:endParaRPr lang="en-US" sz="1100"/>
          </a:p>
        </p:txBody>
      </p:sp>
      <p:sp>
        <p:nvSpPr>
          <p:cNvPr id="3" name="AutoShape 3"/>
          <p:cNvSpPr/>
          <p:nvPr/>
        </p:nvSpPr>
        <p:spPr>
          <a:xfrm>
            <a:off x="762000" y="1397000"/>
            <a:ext cx="5207000" cy="4826000"/>
          </a:xfrm>
          <a:prstGeom prst="roundRect">
            <a:avLst>
              <a:gd name="adj" fmla="val 263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4" name="AutoShape 4"/>
          <p:cNvSpPr/>
          <p:nvPr/>
        </p:nvSpPr>
        <p:spPr>
          <a:xfrm>
            <a:off x="1016000" y="1651000"/>
            <a:ext cx="4699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核心编码规则</a:t>
            </a:r>
            <a:endParaRPr lang="en-US" sz="1100"/>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2222500"/>
            <a:ext cx="304800" cy="304800"/>
          </a:xfrm>
          <a:prstGeom prst="rect">
            <a:avLst/>
          </a:prstGeom>
        </p:spPr>
      </p:pic>
      <p:sp>
        <p:nvSpPr>
          <p:cNvPr id="6" name="AutoShape 6"/>
          <p:cNvSpPr/>
          <p:nvPr/>
        </p:nvSpPr>
        <p:spPr>
          <a:xfrm>
            <a:off x="1397000" y="2184400"/>
            <a:ext cx="431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缩进规范</a:t>
            </a:r>
            <a:endParaRPr lang="en-US" sz="1100"/>
          </a:p>
        </p:txBody>
      </p:sp>
      <p:sp>
        <p:nvSpPr>
          <p:cNvPr id="7" name="AutoShape 7"/>
          <p:cNvSpPr/>
          <p:nvPr/>
        </p:nvSpPr>
        <p:spPr>
          <a:xfrm>
            <a:off x="1397000" y="24892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使用4个空格进行缩进，严禁使用Tab键，确保跨编辑器一致性。</a:t>
            </a:r>
            <a:endParaRPr lang="en-US" sz="1100"/>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3048000"/>
            <a:ext cx="304800" cy="304800"/>
          </a:xfrm>
          <a:prstGeom prst="rect">
            <a:avLst/>
          </a:prstGeom>
        </p:spPr>
      </p:pic>
      <p:sp>
        <p:nvSpPr>
          <p:cNvPr id="9" name="AutoShape 9"/>
          <p:cNvSpPr/>
          <p:nvPr/>
        </p:nvSpPr>
        <p:spPr>
          <a:xfrm>
            <a:off x="1397000" y="3009900"/>
            <a:ext cx="431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行长度限制</a:t>
            </a:r>
            <a:endParaRPr lang="en-US" sz="1100"/>
          </a:p>
        </p:txBody>
      </p:sp>
      <p:sp>
        <p:nvSpPr>
          <p:cNvPr id="10" name="AutoShape 10"/>
          <p:cNvSpPr/>
          <p:nvPr/>
        </p:nvSpPr>
        <p:spPr>
          <a:xfrm>
            <a:off x="1397000" y="33147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每行代码字符数尽量不超过79个，长表达式应适当换行以提高可读性。</a:t>
            </a:r>
            <a:endParaRPr lang="en-US" sz="1100"/>
          </a:p>
        </p:txBody>
      </p:sp>
      <p:pic>
        <p:nvPicPr>
          <p:cNvPr id="11" name="Picture 11"/>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3873500"/>
            <a:ext cx="304800" cy="304800"/>
          </a:xfrm>
          <a:prstGeom prst="rect">
            <a:avLst/>
          </a:prstGeom>
        </p:spPr>
      </p:pic>
      <p:sp>
        <p:nvSpPr>
          <p:cNvPr id="12" name="AutoShape 12"/>
          <p:cNvSpPr/>
          <p:nvPr/>
        </p:nvSpPr>
        <p:spPr>
          <a:xfrm>
            <a:off x="1397000" y="3835400"/>
            <a:ext cx="431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空行分隔</a:t>
            </a:r>
            <a:endParaRPr lang="en-US" sz="1100"/>
          </a:p>
        </p:txBody>
      </p:sp>
      <p:sp>
        <p:nvSpPr>
          <p:cNvPr id="13" name="AutoShape 13"/>
          <p:cNvSpPr/>
          <p:nvPr/>
        </p:nvSpPr>
        <p:spPr>
          <a:xfrm>
            <a:off x="1397000" y="41402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顶层函数/类定义前后空两行；类内方法之间空一行，逻辑更清晰。</a:t>
            </a:r>
            <a:endParaRPr lang="en-US" sz="1100"/>
          </a:p>
        </p:txBody>
      </p:sp>
      <p:pic>
        <p:nvPicPr>
          <p:cNvPr id="14" name="Picture 14"/>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4699000"/>
            <a:ext cx="304800" cy="304800"/>
          </a:xfrm>
          <a:prstGeom prst="rect">
            <a:avLst/>
          </a:prstGeom>
        </p:spPr>
      </p:pic>
      <p:sp>
        <p:nvSpPr>
          <p:cNvPr id="15" name="AutoShape 15"/>
          <p:cNvSpPr/>
          <p:nvPr/>
        </p:nvSpPr>
        <p:spPr>
          <a:xfrm>
            <a:off x="1397000" y="4660900"/>
            <a:ext cx="431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导入规范</a:t>
            </a:r>
            <a:endParaRPr lang="en-US" sz="1100"/>
          </a:p>
        </p:txBody>
      </p:sp>
      <p:sp>
        <p:nvSpPr>
          <p:cNvPr id="16" name="AutoShape 16"/>
          <p:cNvSpPr/>
          <p:nvPr/>
        </p:nvSpPr>
        <p:spPr>
          <a:xfrm>
            <a:off x="1397000" y="49657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import语句应分行书写，避免使用通配符 `from module import *`。</a:t>
            </a:r>
            <a:endParaRPr lang="en-US" sz="1100"/>
          </a:p>
        </p:txBody>
      </p:sp>
      <p:sp>
        <p:nvSpPr>
          <p:cNvPr id="17" name="AutoShape 17"/>
          <p:cNvSpPr/>
          <p:nvPr/>
        </p:nvSpPr>
        <p:spPr>
          <a:xfrm>
            <a:off x="6223000" y="1397000"/>
            <a:ext cx="5207000" cy="4826000"/>
          </a:xfrm>
          <a:prstGeom prst="roundRect">
            <a:avLst>
              <a:gd name="adj" fmla="val 263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18" name="AutoShape 18"/>
          <p:cNvSpPr/>
          <p:nvPr/>
        </p:nvSpPr>
        <p:spPr>
          <a:xfrm>
            <a:off x="6477000" y="1651000"/>
            <a:ext cx="4699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命名约定示例</a:t>
            </a:r>
            <a:endParaRPr lang="en-US" sz="1100"/>
          </a:p>
        </p:txBody>
      </p:sp>
      <p:graphicFrame>
        <p:nvGraphicFramePr>
          <p:cNvPr id="19" name="Table 19"/>
          <p:cNvGraphicFramePr>
            <a:graphicFrameLocks noGrp="1"/>
          </p:cNvGraphicFramePr>
          <p:nvPr/>
        </p:nvGraphicFramePr>
        <p:xfrm>
          <a:off x="6477000" y="2159000"/>
          <a:ext cx="4699000" cy="3365500"/>
        </p:xfrm>
        <a:graphic>
          <a:graphicData uri="http://schemas.openxmlformats.org/drawingml/2006/table">
            <a:tbl>
              <a:tblPr>
                <a:effectLst/>
              </a:tblPr>
              <a:tblGrid>
                <a:gridCol w="1016000"/>
                <a:gridCol w="1778000"/>
                <a:gridCol w="1905000"/>
              </a:tblGrid>
              <a:tr h="508000">
                <a:tc>
                  <a:txBody>
                    <a:bodyPr rtlCol="0"/>
                    <a:lstStyle/>
                    <a:p>
                      <a:pPr indent="0" algn="ctr">
                        <a:lnSpc>
                          <a:spcPct val="100000"/>
                        </a:lnSpc>
                        <a:defRPr/>
                      </a:pPr>
                      <a:r>
                        <a:rPr lang="en-US" sz="1400" b="1" i="0" u="none" strike="noStrike">
                          <a:solidFill>
                            <a:srgbClr val="FFFFFF"/>
                          </a:solidFill>
                          <a:latin typeface="Noto Sans SC"/>
                          <a:ea typeface="Noto Sans SC"/>
                          <a:cs typeface="Noto Sans SC"/>
                          <a:sym typeface="Noto Sans SC"/>
                        </a:rPr>
                        <a:t>类型</a:t>
                      </a:r>
                      <a:endParaRPr lang="en-US" sz="1100"/>
                    </a:p>
                  </a:txBody>
                  <a:tcPr marL="101600" marR="101600" marT="101600" marB="101600" anchor="t" anchorCtr="0">
                    <a:lnL>
                      <a:noFill/>
                    </a:lnL>
                    <a:lnR>
                      <a:noFill/>
                    </a:lnR>
                    <a:lnT>
                      <a:noFill/>
                    </a:lnT>
                    <a:lnB>
                      <a:noFill/>
                    </a:lnB>
                    <a:solidFill>
                      <a:srgbClr val="003366">
                        <a:alpha val="100000"/>
                      </a:srgbClr>
                    </a:solidFill>
                  </a:tcPr>
                </a:tc>
                <a:tc>
                  <a:txBody>
                    <a:bodyPr rtlCol="0"/>
                    <a:lstStyle/>
                    <a:p>
                      <a:pPr indent="0" algn="ctr">
                        <a:lnSpc>
                          <a:spcPct val="100000"/>
                        </a:lnSpc>
                        <a:defRPr/>
                      </a:pPr>
                      <a:r>
                        <a:rPr lang="en-US" sz="1400" b="1" i="0" u="none" strike="noStrike">
                          <a:solidFill>
                            <a:srgbClr val="FFFFFF"/>
                          </a:solidFill>
                          <a:latin typeface="Noto Sans SC"/>
                          <a:ea typeface="Noto Sans SC"/>
                          <a:cs typeface="Noto Sans SC"/>
                          <a:sym typeface="Noto Sans SC"/>
                        </a:rPr>
                        <a:t>命名约定</a:t>
                      </a:r>
                      <a:endParaRPr lang="en-US" sz="1100"/>
                    </a:p>
                  </a:txBody>
                  <a:tcPr marL="101600" marR="101600" marT="101600" marB="101600" anchor="t" anchorCtr="0">
                    <a:lnL>
                      <a:noFill/>
                    </a:lnL>
                    <a:lnR>
                      <a:noFill/>
                    </a:lnR>
                    <a:lnT>
                      <a:noFill/>
                    </a:lnT>
                    <a:lnB>
                      <a:noFill/>
                    </a:lnB>
                    <a:solidFill>
                      <a:srgbClr val="003366">
                        <a:alpha val="100000"/>
                      </a:srgbClr>
                    </a:solidFill>
                  </a:tcPr>
                </a:tc>
                <a:tc>
                  <a:txBody>
                    <a:bodyPr rtlCol="0"/>
                    <a:lstStyle/>
                    <a:p>
                      <a:pPr indent="0" algn="ctr">
                        <a:lnSpc>
                          <a:spcPct val="100000"/>
                        </a:lnSpc>
                        <a:defRPr/>
                      </a:pPr>
                      <a:r>
                        <a:rPr lang="en-US" sz="1400" b="1" i="0" u="none" strike="noStrike">
                          <a:solidFill>
                            <a:srgbClr val="FFFFFF"/>
                          </a:solidFill>
                          <a:latin typeface="Noto Sans SC"/>
                          <a:ea typeface="Noto Sans SC"/>
                          <a:cs typeface="Noto Sans SC"/>
                          <a:sym typeface="Noto Sans SC"/>
                        </a:rPr>
                        <a:t>举例</a:t>
                      </a:r>
                      <a:endParaRPr lang="en-US" sz="1100"/>
                    </a:p>
                  </a:txBody>
                  <a:tcPr marL="101600" marR="101600" marT="101600" marB="101600" anchor="t" anchorCtr="0">
                    <a:lnL>
                      <a:noFill/>
                    </a:lnL>
                    <a:lnR>
                      <a:noFill/>
                    </a:lnR>
                    <a:lnT>
                      <a:noFill/>
                    </a:lnT>
                    <a:lnB>
                      <a:noFill/>
                    </a:lnB>
                    <a:solidFill>
                      <a:srgbClr val="003366">
                        <a:alpha val="100000"/>
                      </a:srgbClr>
                    </a:solidFill>
                  </a:tcPr>
                </a:tc>
              </a:tr>
              <a:tr h="571500">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常量</a:t>
                      </a:r>
                      <a:endParaRPr lang="en-US" sz="1100"/>
                    </a:p>
                  </a:txBody>
                  <a:tcPr marL="101600" marR="101600" marT="101600" marB="101600" anchor="t" anchorCtr="0">
                    <a:lnL>
                      <a:noFill/>
                    </a:lnL>
                    <a:lnR>
                      <a:noFill/>
                    </a:lnR>
                    <a:lnT>
                      <a:noFill/>
                    </a:lnT>
                    <a:lnB>
                      <a:noFill/>
                    </a:lnB>
                    <a:solidFill>
                      <a:srgbClr val="F0F8FF">
                        <a:alpha val="100000"/>
                      </a:srgbClr>
                    </a:solidFill>
                  </a:tcPr>
                </a:tc>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大写字母，下划线分隔</a:t>
                      </a:r>
                      <a:endParaRPr lang="en-US" sz="1100"/>
                    </a:p>
                  </a:txBody>
                  <a:tcPr marL="101600" marR="101600" marT="101600" marB="101600" anchor="t" anchorCtr="0">
                    <a:lnL>
                      <a:noFill/>
                    </a:lnL>
                    <a:lnR>
                      <a:noFill/>
                    </a:lnR>
                    <a:lnT>
                      <a:noFill/>
                    </a:lnT>
                    <a:lnB>
                      <a:noFill/>
                    </a:lnB>
                    <a:solidFill>
                      <a:srgbClr val="F0F8FF">
                        <a:alpha val="100000"/>
                      </a:srgbClr>
                    </a:solidFill>
                  </a:tcPr>
                </a:tc>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MAX_LENGTH</a:t>
                      </a:r>
                      <a:endParaRPr lang="en-US" sz="1100"/>
                    </a:p>
                  </a:txBody>
                  <a:tcPr marL="101600" marR="101600" marT="101600" marB="101600" anchor="t" anchorCtr="0">
                    <a:lnL>
                      <a:noFill/>
                    </a:lnL>
                    <a:lnR>
                      <a:noFill/>
                    </a:lnR>
                    <a:lnT>
                      <a:noFill/>
                    </a:lnT>
                    <a:lnB>
                      <a:noFill/>
                    </a:lnB>
                    <a:solidFill>
                      <a:srgbClr val="F0F8FF">
                        <a:alpha val="100000"/>
                      </a:srgbClr>
                    </a:solidFill>
                  </a:tcPr>
                </a:tc>
              </a:tr>
              <a:tr h="571500">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变量</a:t>
                      </a:r>
                      <a:endParaRPr lang="en-US" sz="1100"/>
                    </a:p>
                  </a:txBody>
                  <a:tcPr marL="101600" marR="101600" marT="101600" marB="101600" anchor="t" anchorCtr="0">
                    <a:lnL>
                      <a:noFill/>
                    </a:lnL>
                    <a:lnR>
                      <a:noFill/>
                    </a:lnR>
                    <a:lnT>
                      <a:noFill/>
                    </a:lnT>
                    <a:lnB>
                      <a:noFill/>
                    </a:lnB>
                    <a:solidFill>
                      <a:srgbClr val="FFFFFF">
                        <a:alpha val="100000"/>
                      </a:srgbClr>
                    </a:solidFill>
                  </a:tcPr>
                </a:tc>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小写字母，下划线分隔</a:t>
                      </a:r>
                      <a:endParaRPr lang="en-US" sz="1100"/>
                    </a:p>
                  </a:txBody>
                  <a:tcPr marL="101600" marR="101600" marT="101600" marB="101600" anchor="t" anchorCtr="0">
                    <a:lnL>
                      <a:noFill/>
                    </a:lnL>
                    <a:lnR>
                      <a:noFill/>
                    </a:lnR>
                    <a:lnT>
                      <a:noFill/>
                    </a:lnT>
                    <a:lnB>
                      <a:noFill/>
                    </a:lnB>
                    <a:solidFill>
                      <a:srgbClr val="FFFFFF">
                        <a:alpha val="100000"/>
                      </a:srgbClr>
                    </a:solidFill>
                  </a:tcPr>
                </a:tc>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user_name, age</a:t>
                      </a:r>
                      <a:endParaRPr lang="en-US" sz="1100"/>
                    </a:p>
                  </a:txBody>
                  <a:tcPr marL="101600" marR="101600" marT="101600" marB="101600" anchor="t" anchorCtr="0">
                    <a:lnL>
                      <a:noFill/>
                    </a:lnL>
                    <a:lnR>
                      <a:noFill/>
                    </a:lnR>
                    <a:lnT>
                      <a:noFill/>
                    </a:lnT>
                    <a:lnB>
                      <a:noFill/>
                    </a:lnB>
                    <a:solidFill>
                      <a:srgbClr val="FFFFFF">
                        <a:alpha val="100000"/>
                      </a:srgbClr>
                    </a:solidFill>
                  </a:tcPr>
                </a:tc>
              </a:tr>
              <a:tr h="571500">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函数</a:t>
                      </a:r>
                      <a:endParaRPr lang="en-US" sz="1100"/>
                    </a:p>
                  </a:txBody>
                  <a:tcPr marL="101600" marR="101600" marT="101600" marB="101600" anchor="t" anchorCtr="0">
                    <a:lnL>
                      <a:noFill/>
                    </a:lnL>
                    <a:lnR>
                      <a:noFill/>
                    </a:lnR>
                    <a:lnT>
                      <a:noFill/>
                    </a:lnT>
                    <a:lnB>
                      <a:noFill/>
                    </a:lnB>
                    <a:solidFill>
                      <a:srgbClr val="F0F8FF">
                        <a:alpha val="100000"/>
                      </a:srgbClr>
                    </a:solidFill>
                  </a:tcPr>
                </a:tc>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小写字母，下划线分隔</a:t>
                      </a:r>
                      <a:endParaRPr lang="en-US" sz="1100"/>
                    </a:p>
                  </a:txBody>
                  <a:tcPr marL="101600" marR="101600" marT="101600" marB="101600" anchor="t" anchorCtr="0">
                    <a:lnL>
                      <a:noFill/>
                    </a:lnL>
                    <a:lnR>
                      <a:noFill/>
                    </a:lnR>
                    <a:lnT>
                      <a:noFill/>
                    </a:lnT>
                    <a:lnB>
                      <a:noFill/>
                    </a:lnB>
                    <a:solidFill>
                      <a:srgbClr val="F0F8FF">
                        <a:alpha val="100000"/>
                      </a:srgbClr>
                    </a:solidFill>
                  </a:tcPr>
                </a:tc>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calculate_sum()</a:t>
                      </a:r>
                      <a:endParaRPr lang="en-US" sz="1100"/>
                    </a:p>
                  </a:txBody>
                  <a:tcPr marL="101600" marR="101600" marT="101600" marB="101600" anchor="t" anchorCtr="0">
                    <a:lnL>
                      <a:noFill/>
                    </a:lnL>
                    <a:lnR>
                      <a:noFill/>
                    </a:lnR>
                    <a:lnT>
                      <a:noFill/>
                    </a:lnT>
                    <a:lnB>
                      <a:noFill/>
                    </a:lnB>
                    <a:solidFill>
                      <a:srgbClr val="F0F8FF">
                        <a:alpha val="100000"/>
                      </a:srgbClr>
                    </a:solidFill>
                  </a:tcPr>
                </a:tc>
              </a:tr>
              <a:tr h="571500">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类</a:t>
                      </a:r>
                      <a:endParaRPr lang="en-US" sz="1100"/>
                    </a:p>
                  </a:txBody>
                  <a:tcPr marL="101600" marR="101600" marT="101600" marB="101600" anchor="t" anchorCtr="0">
                    <a:lnL>
                      <a:noFill/>
                    </a:lnL>
                    <a:lnR>
                      <a:noFill/>
                    </a:lnR>
                    <a:lnT>
                      <a:noFill/>
                    </a:lnT>
                    <a:lnB>
                      <a:noFill/>
                    </a:lnB>
                    <a:solidFill>
                      <a:srgbClr val="FFFFFF">
                        <a:alpha val="100000"/>
                      </a:srgbClr>
                    </a:solidFill>
                  </a:tcPr>
                </a:tc>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驼峰命名法(首字母大写)</a:t>
                      </a:r>
                      <a:endParaRPr lang="en-US" sz="1100"/>
                    </a:p>
                  </a:txBody>
                  <a:tcPr marL="101600" marR="101600" marT="101600" marB="101600" anchor="t" anchorCtr="0">
                    <a:lnL>
                      <a:noFill/>
                    </a:lnL>
                    <a:lnR>
                      <a:noFill/>
                    </a:lnR>
                    <a:lnT>
                      <a:noFill/>
                    </a:lnT>
                    <a:lnB>
                      <a:noFill/>
                    </a:lnB>
                    <a:solidFill>
                      <a:srgbClr val="FFFFFF">
                        <a:alpha val="100000"/>
                      </a:srgbClr>
                    </a:solidFill>
                  </a:tcPr>
                </a:tc>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UserProfile</a:t>
                      </a:r>
                      <a:endParaRPr lang="en-US" sz="1100"/>
                    </a:p>
                  </a:txBody>
                  <a:tcPr marL="101600" marR="101600" marT="101600" marB="101600" anchor="t" anchorCtr="0">
                    <a:lnL>
                      <a:noFill/>
                    </a:lnL>
                    <a:lnR>
                      <a:noFill/>
                    </a:lnR>
                    <a:lnT>
                      <a:noFill/>
                    </a:lnT>
                    <a:lnB>
                      <a:noFill/>
                    </a:lnB>
                    <a:solidFill>
                      <a:srgbClr val="FFFFFF">
                        <a:alpha val="100000"/>
                      </a:srgbClr>
                    </a:solidFill>
                  </a:tcPr>
                </a:tc>
              </a:tr>
              <a:tr h="571500">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模块</a:t>
                      </a:r>
                      <a:endParaRPr lang="en-US" sz="1100"/>
                    </a:p>
                  </a:txBody>
                  <a:tcPr marL="101600" marR="101600" marT="101600" marB="101600" anchor="t" anchorCtr="0">
                    <a:lnL>
                      <a:noFill/>
                    </a:lnL>
                    <a:lnR>
                      <a:noFill/>
                    </a:lnR>
                    <a:lnT>
                      <a:noFill/>
                    </a:lnT>
                    <a:lnB>
                      <a:noFill/>
                    </a:lnB>
                    <a:solidFill>
                      <a:srgbClr val="F0F8FF">
                        <a:alpha val="100000"/>
                      </a:srgbClr>
                    </a:solidFill>
                  </a:tcPr>
                </a:tc>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小写字母，简洁明了</a:t>
                      </a:r>
                      <a:endParaRPr lang="en-US" sz="1100"/>
                    </a:p>
                  </a:txBody>
                  <a:tcPr marL="101600" marR="101600" marT="101600" marB="101600" anchor="t" anchorCtr="0">
                    <a:lnL>
                      <a:noFill/>
                    </a:lnL>
                    <a:lnR>
                      <a:noFill/>
                    </a:lnR>
                    <a:lnT>
                      <a:noFill/>
                    </a:lnT>
                    <a:lnB>
                      <a:noFill/>
                    </a:lnB>
                    <a:solidFill>
                      <a:srgbClr val="F0F8FF">
                        <a:alpha val="100000"/>
                      </a:srgbClr>
                    </a:solidFill>
                  </a:tcPr>
                </a:tc>
                <a:tc>
                  <a:txBody>
                    <a:bodyPr rtlCol="0"/>
                    <a:lstStyle/>
                    <a:p>
                      <a:pPr indent="0" algn="ctr">
                        <a:lnSpc>
                          <a:spcPct val="100000"/>
                        </a:lnSpc>
                        <a:defRPr/>
                      </a:pPr>
                      <a:r>
                        <a:rPr lang="en-US" sz="1300" b="0" i="0" u="none" strike="noStrike">
                          <a:solidFill>
                            <a:srgbClr val="333333"/>
                          </a:solidFill>
                          <a:latin typeface="Noto Sans SC"/>
                          <a:ea typeface="Noto Sans SC"/>
                          <a:cs typeface="Noto Sans SC"/>
                          <a:sym typeface="Noto Sans SC"/>
                        </a:rPr>
                        <a:t>utils, data_io</a:t>
                      </a:r>
                      <a:endParaRPr lang="en-US" sz="1100"/>
                    </a:p>
                  </a:txBody>
                  <a:tcPr marL="101600" marR="101600" marT="101600" marB="101600" anchor="t" anchorCtr="0">
                    <a:lnL>
                      <a:noFill/>
                    </a:lnL>
                    <a:lnR>
                      <a:noFill/>
                    </a:lnR>
                    <a:lnT>
                      <a:noFill/>
                    </a:lnT>
                    <a:lnB>
                      <a:noFill/>
                    </a:lnB>
                    <a:solidFill>
                      <a:srgbClr val="F0F8FF">
                        <a:alpha val="100000"/>
                      </a:srgbClr>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Python极简知识 - 变量与赋值</a:t>
            </a:r>
            <a:endParaRPr lang="en-US" sz="1100"/>
          </a:p>
        </p:txBody>
      </p:sp>
      <p:sp>
        <p:nvSpPr>
          <p:cNvPr id="3" name="AutoShape 3"/>
          <p:cNvSpPr/>
          <p:nvPr/>
        </p:nvSpPr>
        <p:spPr>
          <a:xfrm>
            <a:off x="762000" y="1524000"/>
            <a:ext cx="4826000" cy="4318000"/>
          </a:xfrm>
          <a:prstGeom prst="roundRect">
            <a:avLst>
              <a:gd name="adj" fmla="val 294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143000" y="1905000"/>
            <a:ext cx="406400" cy="406400"/>
          </a:xfrm>
          <a:prstGeom prst="rect">
            <a:avLst/>
          </a:prstGeom>
        </p:spPr>
      </p:pic>
      <p:sp>
        <p:nvSpPr>
          <p:cNvPr id="5" name="AutoShape 5"/>
          <p:cNvSpPr/>
          <p:nvPr/>
        </p:nvSpPr>
        <p:spPr>
          <a:xfrm>
            <a:off x="1651000" y="1879600"/>
            <a:ext cx="3556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核心概念</a:t>
            </a:r>
            <a:endParaRPr lang="en-US" sz="1100"/>
          </a:p>
        </p:txBody>
      </p:sp>
      <p:cxnSp>
        <p:nvCxnSpPr>
          <p:cNvPr id="6" name="Connector 6"/>
          <p:cNvCxnSpPr/>
          <p:nvPr/>
        </p:nvCxnSpPr>
        <p:spPr>
          <a:xfrm rot="-10742">
            <a:off x="1143010" y="2406650"/>
            <a:ext cx="4064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7" name="AutoShape 7"/>
          <p:cNvSpPr/>
          <p:nvPr/>
        </p:nvSpPr>
        <p:spPr>
          <a:xfrm>
            <a:off x="1143000" y="2667000"/>
            <a:ext cx="4064000" cy="2540000"/>
          </a:xfrm>
          <a:prstGeom prst="rect">
            <a:avLst/>
          </a:prstGeom>
          <a:noFill/>
          <a:ln w="12700" cap="flat" cmpd="sng">
            <a:noFill/>
            <a:prstDash val="solid"/>
            <a:round/>
          </a:ln>
        </p:spPr>
        <p:txBody>
          <a:bodyPr vert="horz" wrap="square" lIns="0" tIns="0" rIns="0" bIns="0" rtlCol="0" anchor="ctr" anchorCtr="0"/>
          <a:lstStyle/>
          <a:p>
            <a:pPr marL="203200" indent="-203200" algn="l">
              <a:lnSpc>
                <a:spcPct val="125000"/>
              </a:lnSpc>
              <a:buClr>
                <a:srgbClr val="333333"/>
              </a:buClr>
              <a:buChar char="•"/>
              <a:defRPr/>
            </a:pPr>
            <a:r>
              <a:rPr lang="en-US" sz="1600" b="1" i="0" u="none" strike="noStrike">
                <a:solidFill>
                  <a:srgbClr val="333333"/>
                </a:solidFill>
                <a:latin typeface="Noto Sans SC"/>
                <a:ea typeface="Noto Sans SC"/>
                <a:cs typeface="Noto Sans SC"/>
                <a:sym typeface="Noto Sans SC"/>
              </a:rPr>
              <a:t>变量定义</a:t>
            </a:r>
            <a:br>
              <a:rPr lang="en-US" sz="1600" b="0" i="0" u="none" strike="noStrike">
                <a:solidFill>
                  <a:srgbClr val="1F2329"/>
                </a:solidFill>
                <a:latin typeface="Noto Sans SC"/>
                <a:ea typeface="Noto Sans SC"/>
                <a:cs typeface="Noto Sans SC"/>
                <a:sym typeface="Noto Sans SC"/>
              </a:rPr>
            </a:br>
            <a:r>
              <a:rPr lang="en-US" sz="1400" b="0" i="0" u="none" strike="noStrike">
                <a:solidFill>
                  <a:srgbClr val="666666"/>
                </a:solidFill>
                <a:latin typeface="Noto Sans SC"/>
                <a:ea typeface="Noto Sans SC"/>
                <a:cs typeface="Noto Sans SC"/>
                <a:sym typeface="Noto Sans SC"/>
              </a:rPr>
              <a:t>变量是存储数据的载体，Python 是动态类型语言，无需提前声明类型。</a:t>
            </a:r>
            <a:endParaRPr lang="en-US" sz="1100"/>
          </a:p>
          <a:p>
            <a:pPr marL="203200" indent="-203200" algn="l">
              <a:lnSpc>
                <a:spcPct val="125000"/>
              </a:lnSpc>
              <a:buClr>
                <a:srgbClr val="333333"/>
              </a:buClr>
              <a:buChar char="•"/>
            </a:pPr>
            <a:r>
              <a:rPr lang="en-US" sz="1600" b="1" i="0" u="none" strike="noStrike">
                <a:solidFill>
                  <a:srgbClr val="333333"/>
                </a:solidFill>
                <a:latin typeface="Noto Sans SC"/>
                <a:ea typeface="Noto Sans SC"/>
                <a:cs typeface="Noto Sans SC"/>
                <a:sym typeface="Noto Sans SC"/>
              </a:rPr>
              <a:t>赋值操作</a:t>
            </a:r>
            <a:br>
              <a:rPr lang="en-US" sz="1600" b="0" i="0" u="none" strike="noStrike">
                <a:solidFill>
                  <a:srgbClr val="1F2329"/>
                </a:solidFill>
                <a:latin typeface="Noto Sans SC"/>
                <a:ea typeface="Noto Sans SC"/>
                <a:cs typeface="Noto Sans SC"/>
                <a:sym typeface="Noto Sans SC"/>
              </a:rPr>
            </a:br>
            <a:r>
              <a:rPr lang="en-US" sz="1400" b="0" i="0" u="none" strike="noStrike">
                <a:solidFill>
                  <a:srgbClr val="666666"/>
                </a:solidFill>
                <a:latin typeface="Noto Sans SC"/>
                <a:ea typeface="Noto Sans SC"/>
                <a:cs typeface="Noto Sans SC"/>
                <a:sym typeface="Noto Sans SC"/>
              </a:rPr>
              <a:t>使用等号 `=` 进行赋值，左侧是变量名，右侧是具体数值。</a:t>
            </a:r>
            <a:endParaRPr lang="en-US" sz="1400" b="0" i="0" u="none" strike="noStrike">
              <a:solidFill>
                <a:srgbClr val="666666"/>
              </a:solidFill>
              <a:latin typeface="Noto Sans SC"/>
              <a:ea typeface="Noto Sans SC"/>
              <a:cs typeface="Noto Sans SC"/>
              <a:sym typeface="Noto Sans SC"/>
            </a:endParaRPr>
          </a:p>
          <a:p>
            <a:pPr marL="203200" indent="-203200" algn="l">
              <a:lnSpc>
                <a:spcPct val="125000"/>
              </a:lnSpc>
              <a:buClr>
                <a:srgbClr val="333333"/>
              </a:buClr>
              <a:buChar char="•"/>
            </a:pPr>
            <a:r>
              <a:rPr lang="en-US" sz="1600" b="1" i="0" u="none" strike="noStrike">
                <a:solidFill>
                  <a:srgbClr val="333333"/>
                </a:solidFill>
                <a:latin typeface="Noto Sans SC"/>
                <a:ea typeface="Noto Sans SC"/>
                <a:cs typeface="Noto Sans SC"/>
                <a:sym typeface="Noto Sans SC"/>
              </a:rPr>
              <a:t>多元赋值</a:t>
            </a:r>
            <a:br>
              <a:rPr lang="en-US" sz="1600" b="0" i="0" u="none" strike="noStrike">
                <a:solidFill>
                  <a:srgbClr val="1F2329"/>
                </a:solidFill>
                <a:latin typeface="Noto Sans SC"/>
                <a:ea typeface="Noto Sans SC"/>
                <a:cs typeface="Noto Sans SC"/>
                <a:sym typeface="Noto Sans SC"/>
              </a:rPr>
            </a:br>
            <a:r>
              <a:rPr lang="en-US" sz="1400" b="0" i="0" u="none" strike="noStrike">
                <a:solidFill>
                  <a:srgbClr val="666666"/>
                </a:solidFill>
                <a:latin typeface="Noto Sans SC"/>
                <a:ea typeface="Noto Sans SC"/>
                <a:cs typeface="Noto Sans SC"/>
                <a:sym typeface="Noto Sans SC"/>
              </a:rPr>
              <a:t>支持一行代码同时为多个变量赋值，语法简洁高效。</a:t>
            </a:r>
            <a:endParaRPr lang="en-US" sz="1400" b="0" i="0" u="none" strike="noStrike">
              <a:solidFill>
                <a:srgbClr val="666666"/>
              </a:solidFill>
              <a:latin typeface="Noto Sans SC"/>
              <a:ea typeface="Noto Sans SC"/>
              <a:cs typeface="Noto Sans SC"/>
              <a:sym typeface="Noto Sans SC"/>
            </a:endParaRPr>
          </a:p>
        </p:txBody>
      </p:sp>
      <p:sp>
        <p:nvSpPr>
          <p:cNvPr id="8" name="AutoShape 8"/>
          <p:cNvSpPr/>
          <p:nvPr/>
        </p:nvSpPr>
        <p:spPr>
          <a:xfrm>
            <a:off x="5842000" y="1524000"/>
            <a:ext cx="5588000" cy="4318000"/>
          </a:xfrm>
          <a:prstGeom prst="roundRect">
            <a:avLst>
              <a:gd name="adj" fmla="val 294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23000" y="1905000"/>
            <a:ext cx="406400" cy="406400"/>
          </a:xfrm>
          <a:prstGeom prst="rect">
            <a:avLst/>
          </a:prstGeom>
        </p:spPr>
      </p:pic>
      <p:sp>
        <p:nvSpPr>
          <p:cNvPr id="10" name="AutoShape 10"/>
          <p:cNvSpPr/>
          <p:nvPr/>
        </p:nvSpPr>
        <p:spPr>
          <a:xfrm>
            <a:off x="6731000" y="1879600"/>
            <a:ext cx="4318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代码示例</a:t>
            </a:r>
            <a:endParaRPr lang="en-US" sz="1100"/>
          </a:p>
        </p:txBody>
      </p:sp>
      <p:cxnSp>
        <p:nvCxnSpPr>
          <p:cNvPr id="11" name="Connector 11"/>
          <p:cNvCxnSpPr/>
          <p:nvPr/>
        </p:nvCxnSpPr>
        <p:spPr>
          <a:xfrm rot="-9046">
            <a:off x="6223008" y="2406650"/>
            <a:ext cx="4826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2" name="AutoShape 12"/>
          <p:cNvSpPr/>
          <p:nvPr/>
        </p:nvSpPr>
        <p:spPr>
          <a:xfrm>
            <a:off x="6223000" y="2667000"/>
            <a:ext cx="4826000" cy="2794000"/>
          </a:xfrm>
          <a:prstGeom prst="roundRect">
            <a:avLst>
              <a:gd name="adj" fmla="val 2272"/>
            </a:avLst>
          </a:prstGeom>
          <a:solidFill>
            <a:srgbClr val="F5F7FA">
              <a:alpha val="100000"/>
            </a:srgbClr>
          </a:solidFill>
          <a:ln w="12700" cap="flat" cmpd="sng">
            <a:solidFill>
              <a:srgbClr val="DCE1E6">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6413500" y="2794000"/>
            <a:ext cx="4445000" cy="254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808080"/>
                </a:solidFill>
                <a:latin typeface="Roboto Mono"/>
                <a:ea typeface="Roboto Mono"/>
                <a:cs typeface="Roboto Mono"/>
                <a:sym typeface="Roboto Mono"/>
              </a:rPr>
              <a:t># 1. 单个变量赋值</a:t>
            </a:r>
            <a:endParaRPr lang="en-US" sz="1100"/>
          </a:p>
          <a:p>
            <a:pPr indent="0" algn="l">
              <a:lnSpc>
                <a:spcPct val="125000"/>
              </a:lnSpc>
            </a:pPr>
            <a:r>
              <a:rPr lang="en-US" sz="1400" b="0" i="0" u="none" strike="noStrike">
                <a:solidFill>
                  <a:srgbClr val="333333"/>
                </a:solidFill>
                <a:latin typeface="Roboto Mono"/>
                <a:ea typeface="Roboto Mono"/>
                <a:cs typeface="Roboto Mono"/>
                <a:sym typeface="Roboto Mono"/>
              </a:rPr>
              <a:t>name =</a:t>
            </a:r>
            <a:r>
              <a:rPr lang="en-US" sz="1400" b="0" i="0" u="none" strike="noStrike">
                <a:solidFill>
                  <a:srgbClr val="008000"/>
                </a:solidFill>
                <a:latin typeface="Roboto Mono"/>
                <a:ea typeface="Roboto Mono"/>
                <a:cs typeface="Roboto Mono"/>
                <a:sym typeface="Roboto Mono"/>
              </a:rPr>
              <a:t>"Alice"</a:t>
            </a:r>
            <a:endParaRPr lang="en-US" sz="1400" b="0" i="0" u="none" strike="noStrike">
              <a:solidFill>
                <a:srgbClr val="008000"/>
              </a:solidFill>
              <a:latin typeface="Roboto Mono"/>
              <a:ea typeface="Roboto Mono"/>
              <a:cs typeface="Roboto Mono"/>
              <a:sym typeface="Roboto Mono"/>
            </a:endParaRPr>
          </a:p>
          <a:p>
            <a:pPr indent="0" algn="l">
              <a:lnSpc>
                <a:spcPct val="125000"/>
              </a:lnSpc>
            </a:pPr>
            <a:r>
              <a:rPr lang="en-US" sz="1400" b="0" i="0" u="none" strike="noStrike">
                <a:solidFill>
                  <a:srgbClr val="333333"/>
                </a:solidFill>
                <a:latin typeface="Roboto Mono"/>
                <a:ea typeface="Roboto Mono"/>
                <a:cs typeface="Roboto Mono"/>
                <a:sym typeface="Roboto Mono"/>
              </a:rPr>
              <a:t>age =</a:t>
            </a:r>
            <a:r>
              <a:rPr lang="en-US" sz="1400" b="0" i="0" u="none" strike="noStrike">
                <a:solidFill>
                  <a:srgbClr val="FF8000"/>
                </a:solidFill>
                <a:latin typeface="Roboto Mono"/>
                <a:ea typeface="Roboto Mono"/>
                <a:cs typeface="Roboto Mono"/>
                <a:sym typeface="Roboto Mono"/>
              </a:rPr>
              <a:t>25</a:t>
            </a:r>
            <a:endParaRPr lang="en-US" sz="1400" b="0" i="0" u="none" strike="noStrike">
              <a:solidFill>
                <a:srgbClr val="FF8000"/>
              </a:solidFill>
              <a:latin typeface="Roboto Mono"/>
              <a:ea typeface="Roboto Mono"/>
              <a:cs typeface="Roboto Mono"/>
              <a:sym typeface="Roboto Mono"/>
            </a:endParaRPr>
          </a:p>
          <a:p>
            <a:pPr indent="0" algn="l">
              <a:lnSpc>
                <a:spcPct val="125000"/>
              </a:lnSpc>
            </a:pPr>
            <a:r>
              <a:rPr lang="en-US" sz="1400" b="0" i="0" u="none" strike="noStrike">
                <a:solidFill>
                  <a:srgbClr val="333333"/>
                </a:solidFill>
                <a:latin typeface="Roboto Mono"/>
                <a:ea typeface="Roboto Mono"/>
                <a:cs typeface="Roboto Mono"/>
                <a:sym typeface="Roboto Mono"/>
              </a:rPr>
              <a:t>is_student =</a:t>
            </a:r>
            <a:r>
              <a:rPr lang="en-US" sz="1400" b="0" i="0" u="none" strike="noStrike">
                <a:solidFill>
                  <a:srgbClr val="008080"/>
                </a:solidFill>
                <a:latin typeface="Roboto Mono"/>
                <a:ea typeface="Roboto Mono"/>
                <a:cs typeface="Roboto Mono"/>
                <a:sym typeface="Roboto Mono"/>
              </a:rPr>
              <a:t>True</a:t>
            </a:r>
            <a:endParaRPr lang="en-US" sz="1400" b="0" i="0" u="none" strike="noStrike">
              <a:solidFill>
                <a:srgbClr val="008080"/>
              </a:solidFill>
              <a:latin typeface="Roboto Mono"/>
              <a:ea typeface="Roboto Mono"/>
              <a:cs typeface="Roboto Mono"/>
              <a:sym typeface="Roboto Mono"/>
            </a:endParaRPr>
          </a:p>
          <a:p>
            <a:pPr indent="0" algn="l">
              <a:lnSpc>
                <a:spcPct val="125000"/>
              </a:lnSpc>
            </a:pPr>
            <a:r>
              <a:rPr lang="en-US" sz="1400" b="0" i="0" u="none" strike="noStrike">
                <a:solidFill>
                  <a:srgbClr val="808080"/>
                </a:solidFill>
                <a:latin typeface="Roboto Mono"/>
                <a:ea typeface="Roboto Mono"/>
                <a:cs typeface="Roboto Mono"/>
                <a:sym typeface="Roboto Mono"/>
              </a:rPr>
              <a:t># 2. 多个变量同时赋值</a:t>
            </a:r>
            <a:endParaRPr lang="en-US" sz="1400" b="0" i="0" u="none" strike="noStrike">
              <a:solidFill>
                <a:srgbClr val="808080"/>
              </a:solidFill>
              <a:latin typeface="Roboto Mono"/>
              <a:ea typeface="Roboto Mono"/>
              <a:cs typeface="Roboto Mono"/>
              <a:sym typeface="Roboto Mono"/>
            </a:endParaRPr>
          </a:p>
          <a:p>
            <a:pPr indent="0" algn="l">
              <a:lnSpc>
                <a:spcPct val="125000"/>
              </a:lnSpc>
            </a:pPr>
            <a:r>
              <a:rPr lang="en-US" sz="1400" b="0" i="0" u="none" strike="noStrike">
                <a:solidFill>
                  <a:srgbClr val="333333"/>
                </a:solidFill>
                <a:latin typeface="Roboto Mono"/>
                <a:ea typeface="Roboto Mono"/>
                <a:cs typeface="Roboto Mono"/>
                <a:sym typeface="Roboto Mono"/>
              </a:rPr>
              <a:t>name, age =</a:t>
            </a:r>
            <a:r>
              <a:rPr lang="en-US" sz="1400" b="0" i="0" u="none" strike="noStrike">
                <a:solidFill>
                  <a:srgbClr val="008000"/>
                </a:solidFill>
                <a:latin typeface="Roboto Mono"/>
                <a:ea typeface="Roboto Mono"/>
                <a:cs typeface="Roboto Mono"/>
                <a:sym typeface="Roboto Mono"/>
              </a:rPr>
              <a:t>"Bob"</a:t>
            </a:r>
            <a:r>
              <a:rPr lang="en-US" sz="1400" b="0" i="0" u="none" strike="noStrike">
                <a:solidFill>
                  <a:srgbClr val="333333"/>
                </a:solidFill>
                <a:latin typeface="Roboto Mono"/>
                <a:ea typeface="Roboto Mono"/>
                <a:cs typeface="Roboto Mono"/>
                <a:sym typeface="Roboto Mono"/>
              </a:rPr>
              <a:t>,</a:t>
            </a:r>
            <a:r>
              <a:rPr lang="en-US" sz="1400" b="0" i="0" u="none" strike="noStrike">
                <a:solidFill>
                  <a:srgbClr val="FF8000"/>
                </a:solidFill>
                <a:latin typeface="Roboto Mono"/>
                <a:ea typeface="Roboto Mono"/>
                <a:cs typeface="Roboto Mono"/>
                <a:sym typeface="Roboto Mono"/>
              </a:rPr>
              <a:t>30</a:t>
            </a:r>
            <a:endParaRPr lang="en-US" sz="1400" b="0" i="0" u="none" strike="noStrike">
              <a:solidFill>
                <a:srgbClr val="FF8000"/>
              </a:solidFill>
              <a:latin typeface="Roboto Mono"/>
              <a:ea typeface="Roboto Mono"/>
              <a:cs typeface="Roboto Mono"/>
              <a:sym typeface="Roboto Mono"/>
            </a:endParaRPr>
          </a:p>
          <a:p>
            <a:pPr indent="0" algn="l">
              <a:lnSpc>
                <a:spcPct val="125000"/>
              </a:lnSpc>
            </a:pPr>
            <a:r>
              <a:rPr lang="en-US" sz="1400" b="0" i="0" u="none" strike="noStrike">
                <a:solidFill>
                  <a:srgbClr val="333333"/>
                </a:solidFill>
                <a:latin typeface="Roboto Mono"/>
                <a:ea typeface="Roboto Mono"/>
                <a:cs typeface="Roboto Mono"/>
                <a:sym typeface="Roboto Mono"/>
              </a:rPr>
              <a:t>x, y, z =</a:t>
            </a:r>
            <a:r>
              <a:rPr lang="en-US" sz="1400" b="0" i="0" u="none" strike="noStrike">
                <a:solidFill>
                  <a:srgbClr val="FF8000"/>
                </a:solidFill>
                <a:latin typeface="Roboto Mono"/>
                <a:ea typeface="Roboto Mono"/>
                <a:cs typeface="Roboto Mono"/>
                <a:sym typeface="Roboto Mono"/>
              </a:rPr>
              <a:t>1</a:t>
            </a:r>
            <a:r>
              <a:rPr lang="en-US" sz="1400" b="0" i="0" u="none" strike="noStrike">
                <a:solidFill>
                  <a:srgbClr val="333333"/>
                </a:solidFill>
                <a:latin typeface="Roboto Mono"/>
                <a:ea typeface="Roboto Mono"/>
                <a:cs typeface="Roboto Mono"/>
                <a:sym typeface="Roboto Mono"/>
              </a:rPr>
              <a:t>,</a:t>
            </a:r>
            <a:r>
              <a:rPr lang="en-US" sz="1400" b="0" i="0" u="none" strike="noStrike">
                <a:solidFill>
                  <a:srgbClr val="FF8000"/>
                </a:solidFill>
                <a:latin typeface="Roboto Mono"/>
                <a:ea typeface="Roboto Mono"/>
                <a:cs typeface="Roboto Mono"/>
                <a:sym typeface="Roboto Mono"/>
              </a:rPr>
              <a:t>2.5</a:t>
            </a:r>
            <a:r>
              <a:rPr lang="en-US" sz="1400" b="0" i="0" u="none" strike="noStrike">
                <a:solidFill>
                  <a:srgbClr val="333333"/>
                </a:solidFill>
                <a:latin typeface="Roboto Mono"/>
                <a:ea typeface="Roboto Mono"/>
                <a:cs typeface="Roboto Mono"/>
                <a:sym typeface="Roboto Mono"/>
              </a:rPr>
              <a:t>,</a:t>
            </a:r>
            <a:r>
              <a:rPr lang="en-US" sz="1400" b="0" i="0" u="none" strike="noStrike">
                <a:solidFill>
                  <a:srgbClr val="008000"/>
                </a:solidFill>
                <a:latin typeface="Roboto Mono"/>
                <a:ea typeface="Roboto Mono"/>
                <a:cs typeface="Roboto Mono"/>
                <a:sym typeface="Roboto Mono"/>
              </a:rPr>
              <a:t>"hello"</a:t>
            </a:r>
            <a:endParaRPr lang="en-US" sz="1400" b="0" i="0" u="none" strike="noStrike">
              <a:solidFill>
                <a:srgbClr val="008000"/>
              </a:solidFill>
              <a:latin typeface="Roboto Mono"/>
              <a:ea typeface="Roboto Mono"/>
              <a:cs typeface="Roboto Mono"/>
              <a:sym typeface="Roboto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Python极简知识 - 数据类型与运算符</a:t>
            </a:r>
            <a:endParaRPr lang="en-US" sz="1100"/>
          </a:p>
        </p:txBody>
      </p:sp>
      <p:sp>
        <p:nvSpPr>
          <p:cNvPr id="3" name="AutoShape 3"/>
          <p:cNvSpPr/>
          <p:nvPr/>
        </p:nvSpPr>
        <p:spPr>
          <a:xfrm>
            <a:off x="762000" y="1397000"/>
            <a:ext cx="5207000" cy="4826000"/>
          </a:xfrm>
          <a:prstGeom prst="roundRect">
            <a:avLst>
              <a:gd name="adj" fmla="val 263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651000"/>
            <a:ext cx="304800" cy="304800"/>
          </a:xfrm>
          <a:prstGeom prst="rect">
            <a:avLst/>
          </a:prstGeom>
        </p:spPr>
      </p:pic>
      <p:sp>
        <p:nvSpPr>
          <p:cNvPr id="5" name="AutoShape 5"/>
          <p:cNvSpPr/>
          <p:nvPr/>
        </p:nvSpPr>
        <p:spPr>
          <a:xfrm>
            <a:off x="1397000" y="16256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基本数据类型</a:t>
            </a:r>
            <a:endParaRPr lang="en-US" sz="1100"/>
          </a:p>
        </p:txBody>
      </p:sp>
      <p:cxnSp>
        <p:nvCxnSpPr>
          <p:cNvPr id="6" name="Connector 6"/>
          <p:cNvCxnSpPr/>
          <p:nvPr/>
        </p:nvCxnSpPr>
        <p:spPr>
          <a:xfrm rot="-9291">
            <a:off x="1016009" y="2025650"/>
            <a:ext cx="4699000" cy="12700"/>
          </a:xfrm>
          <a:prstGeom prst="line">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pic>
        <p:nvPicPr>
          <p:cNvPr id="7" name="Picture 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2286000"/>
            <a:ext cx="304800" cy="304800"/>
          </a:xfrm>
          <a:prstGeom prst="rect">
            <a:avLst/>
          </a:prstGeom>
        </p:spPr>
      </p:pic>
      <p:sp>
        <p:nvSpPr>
          <p:cNvPr id="8" name="AutoShape 8"/>
          <p:cNvSpPr/>
          <p:nvPr/>
        </p:nvSpPr>
        <p:spPr>
          <a:xfrm>
            <a:off x="1397000" y="2260600"/>
            <a:ext cx="431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整型 (int)</a:t>
            </a:r>
            <a:endParaRPr lang="en-US" sz="1100"/>
          </a:p>
        </p:txBody>
      </p:sp>
      <p:sp>
        <p:nvSpPr>
          <p:cNvPr id="9" name="AutoShape 9"/>
          <p:cNvSpPr/>
          <p:nvPr/>
        </p:nvSpPr>
        <p:spPr>
          <a:xfrm>
            <a:off x="1397000" y="25654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表示整数，如 10, -5, 0</a:t>
            </a:r>
            <a:endParaRPr lang="en-US" sz="1100"/>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3111500"/>
            <a:ext cx="304800" cy="304800"/>
          </a:xfrm>
          <a:prstGeom prst="rect">
            <a:avLst/>
          </a:prstGeom>
        </p:spPr>
      </p:pic>
      <p:sp>
        <p:nvSpPr>
          <p:cNvPr id="11" name="AutoShape 11"/>
          <p:cNvSpPr/>
          <p:nvPr/>
        </p:nvSpPr>
        <p:spPr>
          <a:xfrm>
            <a:off x="1397000" y="3086100"/>
            <a:ext cx="431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浮点型 (float)</a:t>
            </a:r>
            <a:endParaRPr lang="en-US" sz="1100"/>
          </a:p>
        </p:txBody>
      </p:sp>
      <p:sp>
        <p:nvSpPr>
          <p:cNvPr id="12" name="AutoShape 12"/>
          <p:cNvSpPr/>
          <p:nvPr/>
        </p:nvSpPr>
        <p:spPr>
          <a:xfrm>
            <a:off x="1397000" y="33909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表示小数，如 3.14, -2.5, 0.0</a:t>
            </a:r>
            <a:endParaRPr lang="en-US" sz="1100"/>
          </a:p>
        </p:txBody>
      </p:sp>
      <p:pic>
        <p:nvPicPr>
          <p:cNvPr id="13" name="Picture 13"/>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3937000"/>
            <a:ext cx="304800" cy="304800"/>
          </a:xfrm>
          <a:prstGeom prst="rect">
            <a:avLst/>
          </a:prstGeom>
        </p:spPr>
      </p:pic>
      <p:sp>
        <p:nvSpPr>
          <p:cNvPr id="14" name="AutoShape 14"/>
          <p:cNvSpPr/>
          <p:nvPr/>
        </p:nvSpPr>
        <p:spPr>
          <a:xfrm>
            <a:off x="1397000" y="3911600"/>
            <a:ext cx="431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字符串 (str)</a:t>
            </a:r>
            <a:endParaRPr lang="en-US" sz="1100"/>
          </a:p>
        </p:txBody>
      </p:sp>
      <p:sp>
        <p:nvSpPr>
          <p:cNvPr id="15" name="AutoShape 15"/>
          <p:cNvSpPr/>
          <p:nvPr/>
        </p:nvSpPr>
        <p:spPr>
          <a:xfrm>
            <a:off x="1397000" y="42164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表示文本，用引号包裹，如 'hello', "Python"</a:t>
            </a:r>
            <a:endParaRPr lang="en-US" sz="1100"/>
          </a:p>
        </p:txBody>
      </p:sp>
      <p:pic>
        <p:nvPicPr>
          <p:cNvPr id="16" name="Picture 16"/>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16000" y="4762500"/>
            <a:ext cx="304800" cy="304800"/>
          </a:xfrm>
          <a:prstGeom prst="rect">
            <a:avLst/>
          </a:prstGeom>
        </p:spPr>
      </p:pic>
      <p:sp>
        <p:nvSpPr>
          <p:cNvPr id="17" name="AutoShape 17"/>
          <p:cNvSpPr/>
          <p:nvPr/>
        </p:nvSpPr>
        <p:spPr>
          <a:xfrm>
            <a:off x="1397000" y="4737100"/>
            <a:ext cx="431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布尔型 (bool)</a:t>
            </a:r>
            <a:endParaRPr lang="en-US" sz="1100"/>
          </a:p>
        </p:txBody>
      </p:sp>
      <p:sp>
        <p:nvSpPr>
          <p:cNvPr id="18" name="AutoShape 18"/>
          <p:cNvSpPr/>
          <p:nvPr/>
        </p:nvSpPr>
        <p:spPr>
          <a:xfrm>
            <a:off x="1397000" y="50419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表示真或假，只有 True 和 False 两个值</a:t>
            </a:r>
            <a:endParaRPr lang="en-US" sz="1100"/>
          </a:p>
        </p:txBody>
      </p:sp>
      <p:sp>
        <p:nvSpPr>
          <p:cNvPr id="19" name="AutoShape 19"/>
          <p:cNvSpPr/>
          <p:nvPr/>
        </p:nvSpPr>
        <p:spPr>
          <a:xfrm>
            <a:off x="6223000" y="1397000"/>
            <a:ext cx="5207000" cy="4826000"/>
          </a:xfrm>
          <a:prstGeom prst="roundRect">
            <a:avLst>
              <a:gd name="adj" fmla="val 263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477000" y="1651000"/>
            <a:ext cx="304800" cy="304800"/>
          </a:xfrm>
          <a:prstGeom prst="rect">
            <a:avLst/>
          </a:prstGeom>
        </p:spPr>
      </p:pic>
      <p:sp>
        <p:nvSpPr>
          <p:cNvPr id="21" name="AutoShape 21"/>
          <p:cNvSpPr/>
          <p:nvPr/>
        </p:nvSpPr>
        <p:spPr>
          <a:xfrm>
            <a:off x="6858000" y="16256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运算符与优先级</a:t>
            </a:r>
            <a:endParaRPr lang="en-US" sz="1100"/>
          </a:p>
        </p:txBody>
      </p:sp>
      <p:cxnSp>
        <p:nvCxnSpPr>
          <p:cNvPr id="22" name="Connector 22"/>
          <p:cNvCxnSpPr/>
          <p:nvPr/>
        </p:nvCxnSpPr>
        <p:spPr>
          <a:xfrm rot="-9291">
            <a:off x="6477009" y="2025650"/>
            <a:ext cx="4699000" cy="12700"/>
          </a:xfrm>
          <a:prstGeom prst="line">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pic>
        <p:nvPicPr>
          <p:cNvPr id="24" name="图片 23"/>
          <p:cNvPicPr>
            <a:picLocks noChangeAspect="1"/>
          </p:cNvPicPr>
          <p:nvPr/>
        </p:nvPicPr>
        <p:blipFill>
          <a:blip r:embed="rId13"/>
          <a:stretch>
            <a:fillRect/>
          </a:stretch>
        </p:blipFill>
        <p:spPr>
          <a:xfrm>
            <a:off x="7089140" y="2108200"/>
            <a:ext cx="3347085" cy="374523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Python极简知识 - 条件语句</a:t>
            </a:r>
            <a:endParaRPr lang="en-US" sz="1100"/>
          </a:p>
        </p:txBody>
      </p:sp>
      <p:sp>
        <p:nvSpPr>
          <p:cNvPr id="3" name="AutoShape 3"/>
          <p:cNvSpPr/>
          <p:nvPr/>
        </p:nvSpPr>
        <p:spPr>
          <a:xfrm>
            <a:off x="762000" y="1524000"/>
            <a:ext cx="4826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66800" y="1828800"/>
            <a:ext cx="406400" cy="406400"/>
          </a:xfrm>
          <a:prstGeom prst="rect">
            <a:avLst/>
          </a:prstGeom>
        </p:spPr>
      </p:pic>
      <p:sp>
        <p:nvSpPr>
          <p:cNvPr id="5" name="AutoShape 5"/>
          <p:cNvSpPr/>
          <p:nvPr/>
        </p:nvSpPr>
        <p:spPr>
          <a:xfrm>
            <a:off x="1574800" y="1803400"/>
            <a:ext cx="3556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核心逻辑：分支控制</a:t>
            </a:r>
            <a:endParaRPr lang="en-US" sz="1100"/>
          </a:p>
        </p:txBody>
      </p:sp>
      <p:cxnSp>
        <p:nvCxnSpPr>
          <p:cNvPr id="6" name="Connector 6"/>
          <p:cNvCxnSpPr/>
          <p:nvPr/>
        </p:nvCxnSpPr>
        <p:spPr>
          <a:xfrm rot="-10354">
            <a:off x="1066810" y="2330450"/>
            <a:ext cx="42164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7" name="AutoShape 7"/>
          <p:cNvSpPr/>
          <p:nvPr/>
        </p:nvSpPr>
        <p:spPr>
          <a:xfrm>
            <a:off x="1066800" y="2540000"/>
            <a:ext cx="4216400" cy="330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条件语句是控制程序流程的核心，它允许程序根据不同的条件判断执行不同的代码块。</a:t>
            </a:r>
            <a:endParaRPr lang="en-US" sz="1100"/>
          </a:p>
          <a:p>
            <a:pPr indent="0" algn="l">
              <a:lnSpc>
                <a:spcPct val="125000"/>
              </a:lnSpc>
            </a:pPr>
            <a:br>
              <a:rPr lang="en-US" sz="1600" b="0" i="0" u="none" strike="noStrike">
                <a:solidFill>
                  <a:srgbClr val="1F2329"/>
                </a:solidFill>
                <a:latin typeface="Noto Sans SC"/>
                <a:ea typeface="Noto Sans SC"/>
                <a:cs typeface="Noto Sans SC"/>
                <a:sym typeface="Noto Sans SC"/>
              </a:rPr>
            </a:br>
            <a:endParaRPr lang="en-US" sz="1600" b="0" i="0" u="none" strike="noStrike">
              <a:solidFill>
                <a:srgbClr val="1F2329"/>
              </a:solidFill>
              <a:latin typeface="Noto Sans SC"/>
              <a:ea typeface="Noto Sans SC"/>
              <a:cs typeface="Noto Sans SC"/>
              <a:sym typeface="Noto Sans SC"/>
            </a:endParaRPr>
          </a:p>
          <a:p>
            <a:pPr indent="0" algn="l">
              <a:lnSpc>
                <a:spcPct val="125000"/>
              </a:lnSpc>
            </a:pPr>
            <a:r>
              <a:rPr lang="en-US" sz="1500" b="1" i="0" u="none" strike="noStrike">
                <a:solidFill>
                  <a:srgbClr val="003366"/>
                </a:solidFill>
                <a:latin typeface="Noto Sans SC"/>
                <a:ea typeface="Noto Sans SC"/>
                <a:cs typeface="Noto Sans SC"/>
                <a:sym typeface="Noto Sans SC"/>
              </a:rPr>
              <a:t>结构解析：</a:t>
            </a:r>
            <a:endParaRPr lang="en-US" sz="1500" b="1" i="0" u="none" strike="noStrike">
              <a:solidFill>
                <a:srgbClr val="003366"/>
              </a:solidFill>
              <a:latin typeface="Noto Sans SC"/>
              <a:ea typeface="Noto Sans SC"/>
              <a:cs typeface="Noto Sans SC"/>
              <a:sym typeface="Noto Sans SC"/>
            </a:endParaRPr>
          </a:p>
          <a:p>
            <a:pPr marL="177800" indent="-177800" algn="l">
              <a:lnSpc>
                <a:spcPct val="125000"/>
              </a:lnSpc>
              <a:buClr>
                <a:srgbClr val="333333"/>
              </a:buClr>
              <a:buChar char="•"/>
            </a:pPr>
            <a:r>
              <a:rPr lang="en-US" sz="1400" b="1" i="0" u="none" strike="noStrike">
                <a:solidFill>
                  <a:srgbClr val="333333"/>
                </a:solidFill>
                <a:latin typeface="Noto Sans SC"/>
                <a:ea typeface="Noto Sans SC"/>
                <a:cs typeface="Noto Sans SC"/>
                <a:sym typeface="Noto Sans SC"/>
              </a:rPr>
              <a:t>if：</a:t>
            </a:r>
            <a:r>
              <a:rPr lang="en-US" sz="1400" b="0" i="0" u="none" strike="noStrike">
                <a:solidFill>
                  <a:srgbClr val="333333"/>
                </a:solidFill>
                <a:latin typeface="Noto Sans SC"/>
                <a:ea typeface="Noto Sans SC"/>
                <a:cs typeface="Noto Sans SC"/>
                <a:sym typeface="Noto Sans SC"/>
              </a:rPr>
              <a:t>检查第一个条件，若为真则执行。</a:t>
            </a:r>
            <a:endParaRPr lang="en-US" sz="1400" b="0" i="0" u="none" strike="noStrike">
              <a:solidFill>
                <a:srgbClr val="333333"/>
              </a:solidFill>
              <a:latin typeface="Noto Sans SC"/>
              <a:ea typeface="Noto Sans SC"/>
              <a:cs typeface="Noto Sans SC"/>
              <a:sym typeface="Noto Sans SC"/>
            </a:endParaRPr>
          </a:p>
          <a:p>
            <a:pPr marL="177800" indent="-177800" algn="l">
              <a:lnSpc>
                <a:spcPct val="125000"/>
              </a:lnSpc>
              <a:buClr>
                <a:srgbClr val="333333"/>
              </a:buClr>
              <a:buChar char="•"/>
            </a:pPr>
            <a:r>
              <a:rPr lang="en-US" sz="1400" b="1" i="0" u="none" strike="noStrike">
                <a:solidFill>
                  <a:srgbClr val="333333"/>
                </a:solidFill>
                <a:latin typeface="Noto Sans SC"/>
                <a:ea typeface="Noto Sans SC"/>
                <a:cs typeface="Noto Sans SC"/>
                <a:sym typeface="Noto Sans SC"/>
              </a:rPr>
              <a:t>elif：</a:t>
            </a:r>
            <a:r>
              <a:rPr lang="en-US" sz="1400" b="0" i="0" u="none" strike="noStrike">
                <a:solidFill>
                  <a:srgbClr val="333333"/>
                </a:solidFill>
                <a:latin typeface="Noto Sans SC"/>
                <a:ea typeface="Noto Sans SC"/>
                <a:cs typeface="Noto Sans SC"/>
                <a:sym typeface="Noto Sans SC"/>
              </a:rPr>
              <a:t>若if条件不满足，依次检查后续条件。</a:t>
            </a:r>
            <a:endParaRPr lang="en-US" sz="1400" b="0" i="0" u="none" strike="noStrike">
              <a:solidFill>
                <a:srgbClr val="333333"/>
              </a:solidFill>
              <a:latin typeface="Noto Sans SC"/>
              <a:ea typeface="Noto Sans SC"/>
              <a:cs typeface="Noto Sans SC"/>
              <a:sym typeface="Noto Sans SC"/>
            </a:endParaRPr>
          </a:p>
          <a:p>
            <a:pPr marL="177800" indent="-177800" algn="l">
              <a:lnSpc>
                <a:spcPct val="125000"/>
              </a:lnSpc>
              <a:buClr>
                <a:srgbClr val="333333"/>
              </a:buClr>
              <a:buChar char="•"/>
            </a:pPr>
            <a:r>
              <a:rPr lang="en-US" sz="1400" b="1" i="0" u="none" strike="noStrike">
                <a:solidFill>
                  <a:srgbClr val="333333"/>
                </a:solidFill>
                <a:latin typeface="Noto Sans SC"/>
                <a:ea typeface="Noto Sans SC"/>
                <a:cs typeface="Noto Sans SC"/>
                <a:sym typeface="Noto Sans SC"/>
              </a:rPr>
              <a:t>else：</a:t>
            </a:r>
            <a:r>
              <a:rPr lang="en-US" sz="1400" b="0" i="0" u="none" strike="noStrike">
                <a:solidFill>
                  <a:srgbClr val="333333"/>
                </a:solidFill>
                <a:latin typeface="Noto Sans SC"/>
                <a:ea typeface="Noto Sans SC"/>
                <a:cs typeface="Noto Sans SC"/>
                <a:sym typeface="Noto Sans SC"/>
              </a:rPr>
              <a:t>若以上所有条件均不满足，则执行此块。</a:t>
            </a:r>
            <a:endParaRPr lang="en-US" sz="1400" b="0" i="0" u="none" strike="noStrike">
              <a:solidFill>
                <a:srgbClr val="333333"/>
              </a:solidFill>
              <a:latin typeface="Noto Sans SC"/>
              <a:ea typeface="Noto Sans SC"/>
              <a:cs typeface="Noto Sans SC"/>
              <a:sym typeface="Noto Sans SC"/>
            </a:endParaRPr>
          </a:p>
        </p:txBody>
      </p:sp>
      <p:sp>
        <p:nvSpPr>
          <p:cNvPr id="8" name="AutoShape 8"/>
          <p:cNvSpPr/>
          <p:nvPr/>
        </p:nvSpPr>
        <p:spPr>
          <a:xfrm>
            <a:off x="5842000" y="1524000"/>
            <a:ext cx="5588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146800" y="1828800"/>
            <a:ext cx="406400" cy="406400"/>
          </a:xfrm>
          <a:prstGeom prst="rect">
            <a:avLst/>
          </a:prstGeom>
        </p:spPr>
      </p:pic>
      <p:sp>
        <p:nvSpPr>
          <p:cNvPr id="10" name="AutoShape 10"/>
          <p:cNvSpPr/>
          <p:nvPr/>
        </p:nvSpPr>
        <p:spPr>
          <a:xfrm>
            <a:off x="6654800" y="1803400"/>
            <a:ext cx="4445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实战示例：成绩判断</a:t>
            </a:r>
            <a:endParaRPr lang="en-US" sz="1100"/>
          </a:p>
        </p:txBody>
      </p:sp>
      <p:cxnSp>
        <p:nvCxnSpPr>
          <p:cNvPr id="11" name="Connector 11"/>
          <p:cNvCxnSpPr/>
          <p:nvPr/>
        </p:nvCxnSpPr>
        <p:spPr>
          <a:xfrm rot="-8769">
            <a:off x="6146808" y="2330450"/>
            <a:ext cx="49784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2" name="AutoShape 12"/>
          <p:cNvSpPr/>
          <p:nvPr/>
        </p:nvSpPr>
        <p:spPr>
          <a:xfrm>
            <a:off x="6146800" y="2540000"/>
            <a:ext cx="4978400" cy="3302000"/>
          </a:xfrm>
          <a:prstGeom prst="roundRect">
            <a:avLst>
              <a:gd name="adj" fmla="val 1923"/>
            </a:avLst>
          </a:prstGeom>
          <a:solidFill>
            <a:srgbClr val="F5F7FA">
              <a:alpha val="100000"/>
            </a:srgbClr>
          </a:solidFill>
          <a:ln w="12700" cap="flat" cmpd="sng">
            <a:solidFill>
              <a:srgbClr val="DCE1EB">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6273800" y="2667000"/>
            <a:ext cx="4724400" cy="304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46464"/>
                </a:solidFill>
                <a:latin typeface="Roboto Mono"/>
                <a:ea typeface="Roboto Mono"/>
                <a:cs typeface="Roboto Mono"/>
                <a:sym typeface="Roboto Mono"/>
              </a:rPr>
              <a:t># 定义分数变量</a:t>
            </a:r>
            <a:endParaRPr lang="en-US" sz="1100"/>
          </a:p>
          <a:p>
            <a:pPr indent="0" algn="l">
              <a:lnSpc>
                <a:spcPct val="125000"/>
              </a:lnSpc>
            </a:pPr>
            <a:r>
              <a:rPr lang="en-US" sz="1300" b="0" i="0" u="none" strike="noStrike">
                <a:solidFill>
                  <a:srgbClr val="333333"/>
                </a:solidFill>
                <a:latin typeface="Roboto Mono"/>
                <a:ea typeface="Roboto Mono"/>
                <a:cs typeface="Roboto Mono"/>
                <a:sym typeface="Roboto Mono"/>
              </a:rPr>
              <a:t>score = 85</a:t>
            </a:r>
            <a:endParaRPr lang="en-US" sz="1300" b="0" i="0" u="none" strike="noStrike">
              <a:solidFill>
                <a:srgbClr val="333333"/>
              </a:solidFill>
              <a:latin typeface="Roboto Mono"/>
              <a:ea typeface="Roboto Mono"/>
              <a:cs typeface="Roboto Mono"/>
              <a:sym typeface="Roboto Mono"/>
            </a:endParaRPr>
          </a:p>
          <a:p>
            <a:pPr indent="0" algn="l">
              <a:lnSpc>
                <a:spcPct val="125000"/>
              </a:lnSpc>
            </a:pPr>
            <a:br>
              <a:rPr lang="en-US" sz="1300" b="0" i="0" u="none" strike="noStrike">
                <a:solidFill>
                  <a:srgbClr val="1F2329"/>
                </a:solidFill>
                <a:latin typeface="Roboto Mono"/>
                <a:ea typeface="Roboto Mono"/>
                <a:cs typeface="Roboto Mono"/>
                <a:sym typeface="Roboto Mono"/>
              </a:rPr>
            </a:br>
            <a:endParaRPr lang="en-US" sz="1300" b="0" i="0" u="none" strike="noStrike">
              <a:solidFill>
                <a:srgbClr val="1F2329"/>
              </a:solidFill>
              <a:latin typeface="Roboto Mono"/>
              <a:ea typeface="Roboto Mono"/>
              <a:cs typeface="Roboto Mono"/>
              <a:sym typeface="Roboto Mono"/>
            </a:endParaRPr>
          </a:p>
          <a:p>
            <a:pPr indent="0" algn="l">
              <a:lnSpc>
                <a:spcPct val="125000"/>
              </a:lnSpc>
            </a:pPr>
            <a:r>
              <a:rPr lang="en-US" sz="1300" b="0" i="0" u="none" strike="noStrike">
                <a:solidFill>
                  <a:srgbClr val="003366"/>
                </a:solidFill>
                <a:latin typeface="Roboto Mono"/>
                <a:ea typeface="Roboto Mono"/>
                <a:cs typeface="Roboto Mono"/>
                <a:sym typeface="Roboto Mono"/>
              </a:rPr>
              <a:t>if</a:t>
            </a:r>
            <a:r>
              <a:rPr lang="en-US" sz="1300" b="0" i="0" u="none" strike="noStrike">
                <a:solidFill>
                  <a:srgbClr val="333333"/>
                </a:solidFill>
                <a:latin typeface="Roboto Mono"/>
                <a:ea typeface="Roboto Mono"/>
                <a:cs typeface="Roboto Mono"/>
                <a:sym typeface="Roboto Mono"/>
              </a:rPr>
              <a:t>score &gt;= 90:</a:t>
            </a:r>
            <a:endParaRPr lang="en-US" sz="1300" b="0" i="0" u="none" strike="noStrike">
              <a:solidFill>
                <a:srgbClr val="333333"/>
              </a:solidFill>
              <a:latin typeface="Roboto Mono"/>
              <a:ea typeface="Roboto Mono"/>
              <a:cs typeface="Roboto Mono"/>
              <a:sym typeface="Roboto Mono"/>
            </a:endParaRPr>
          </a:p>
          <a:p>
            <a:pPr indent="0" algn="l">
              <a:lnSpc>
                <a:spcPct val="125000"/>
              </a:lnSpc>
            </a:pPr>
            <a:r>
              <a:rPr lang="en-US" sz="1300" b="0" i="0" u="none" strike="noStrike">
                <a:solidFill>
                  <a:srgbClr val="333333"/>
                </a:solidFill>
                <a:latin typeface="Roboto Mono"/>
                <a:ea typeface="Roboto Mono"/>
                <a:cs typeface="Roboto Mono"/>
                <a:sym typeface="Roboto Mono"/>
              </a:rPr>
              <a:t>print(</a:t>
            </a:r>
            <a:r>
              <a:rPr lang="en-US" sz="1300" b="0" i="0" u="none" strike="noStrike">
                <a:solidFill>
                  <a:srgbClr val="C83232"/>
                </a:solidFill>
                <a:latin typeface="Roboto Mono"/>
                <a:ea typeface="Roboto Mono"/>
                <a:cs typeface="Roboto Mono"/>
                <a:sym typeface="Roboto Mono"/>
              </a:rPr>
              <a:t>"优秀！"</a:t>
            </a:r>
            <a:r>
              <a:rPr lang="en-US" sz="1300" b="0" i="0" u="none" strike="noStrike">
                <a:solidFill>
                  <a:srgbClr val="333333"/>
                </a:solidFill>
                <a:latin typeface="Roboto Mono"/>
                <a:ea typeface="Roboto Mono"/>
                <a:cs typeface="Roboto Mono"/>
                <a:sym typeface="Roboto Mono"/>
              </a:rPr>
              <a:t>)</a:t>
            </a:r>
            <a:endParaRPr lang="en-US" sz="1300" b="0" i="0" u="none" strike="noStrike">
              <a:solidFill>
                <a:srgbClr val="333333"/>
              </a:solidFill>
              <a:latin typeface="Roboto Mono"/>
              <a:ea typeface="Roboto Mono"/>
              <a:cs typeface="Roboto Mono"/>
              <a:sym typeface="Roboto Mono"/>
            </a:endParaRPr>
          </a:p>
          <a:p>
            <a:pPr indent="0" algn="l">
              <a:lnSpc>
                <a:spcPct val="125000"/>
              </a:lnSpc>
            </a:pPr>
            <a:r>
              <a:rPr lang="en-US" sz="1300" b="0" i="0" u="none" strike="noStrike">
                <a:solidFill>
                  <a:srgbClr val="003366"/>
                </a:solidFill>
                <a:latin typeface="Roboto Mono"/>
                <a:ea typeface="Roboto Mono"/>
                <a:cs typeface="Roboto Mono"/>
                <a:sym typeface="Roboto Mono"/>
              </a:rPr>
              <a:t>elif</a:t>
            </a:r>
            <a:r>
              <a:rPr lang="en-US" sz="1300" b="0" i="0" u="none" strike="noStrike">
                <a:solidFill>
                  <a:srgbClr val="333333"/>
                </a:solidFill>
                <a:latin typeface="Roboto Mono"/>
                <a:ea typeface="Roboto Mono"/>
                <a:cs typeface="Roboto Mono"/>
                <a:sym typeface="Roboto Mono"/>
              </a:rPr>
              <a:t>score &gt;= 80:</a:t>
            </a:r>
            <a:endParaRPr lang="en-US" sz="1300" b="0" i="0" u="none" strike="noStrike">
              <a:solidFill>
                <a:srgbClr val="333333"/>
              </a:solidFill>
              <a:latin typeface="Roboto Mono"/>
              <a:ea typeface="Roboto Mono"/>
              <a:cs typeface="Roboto Mono"/>
              <a:sym typeface="Roboto Mono"/>
            </a:endParaRPr>
          </a:p>
          <a:p>
            <a:pPr indent="0" algn="l">
              <a:lnSpc>
                <a:spcPct val="125000"/>
              </a:lnSpc>
            </a:pPr>
            <a:r>
              <a:rPr lang="en-US" sz="1300" b="0" i="0" u="none" strike="noStrike">
                <a:solidFill>
                  <a:srgbClr val="333333"/>
                </a:solidFill>
                <a:latin typeface="Roboto Mono"/>
                <a:ea typeface="Roboto Mono"/>
                <a:cs typeface="Roboto Mono"/>
                <a:sym typeface="Roboto Mono"/>
              </a:rPr>
              <a:t>print(</a:t>
            </a:r>
            <a:r>
              <a:rPr lang="en-US" sz="1300" b="0" i="0" u="none" strike="noStrike">
                <a:solidFill>
                  <a:srgbClr val="C83232"/>
                </a:solidFill>
                <a:latin typeface="Roboto Mono"/>
                <a:ea typeface="Roboto Mono"/>
                <a:cs typeface="Roboto Mono"/>
                <a:sym typeface="Roboto Mono"/>
              </a:rPr>
              <a:t>"良好！"</a:t>
            </a:r>
            <a:r>
              <a:rPr lang="en-US" sz="1300" b="0" i="0" u="none" strike="noStrike">
                <a:solidFill>
                  <a:srgbClr val="333333"/>
                </a:solidFill>
                <a:latin typeface="Roboto Mono"/>
                <a:ea typeface="Roboto Mono"/>
                <a:cs typeface="Roboto Mono"/>
                <a:sym typeface="Roboto Mono"/>
              </a:rPr>
              <a:t>)</a:t>
            </a:r>
            <a:endParaRPr lang="en-US" sz="1300" b="0" i="0" u="none" strike="noStrike">
              <a:solidFill>
                <a:srgbClr val="333333"/>
              </a:solidFill>
              <a:latin typeface="Roboto Mono"/>
              <a:ea typeface="Roboto Mono"/>
              <a:cs typeface="Roboto Mono"/>
              <a:sym typeface="Roboto Mono"/>
            </a:endParaRPr>
          </a:p>
          <a:p>
            <a:pPr indent="0" algn="l">
              <a:lnSpc>
                <a:spcPct val="125000"/>
              </a:lnSpc>
            </a:pPr>
            <a:r>
              <a:rPr lang="en-US" sz="1300" b="0" i="0" u="none" strike="noStrike">
                <a:solidFill>
                  <a:srgbClr val="003366"/>
                </a:solidFill>
                <a:latin typeface="Roboto Mono"/>
                <a:ea typeface="Roboto Mono"/>
                <a:cs typeface="Roboto Mono"/>
                <a:sym typeface="Roboto Mono"/>
              </a:rPr>
              <a:t>elif</a:t>
            </a:r>
            <a:r>
              <a:rPr lang="en-US" sz="1300" b="0" i="0" u="none" strike="noStrike">
                <a:solidFill>
                  <a:srgbClr val="333333"/>
                </a:solidFill>
                <a:latin typeface="Roboto Mono"/>
                <a:ea typeface="Roboto Mono"/>
                <a:cs typeface="Roboto Mono"/>
                <a:sym typeface="Roboto Mono"/>
              </a:rPr>
              <a:t>score &gt;= 60:</a:t>
            </a:r>
            <a:endParaRPr lang="en-US" sz="1300" b="0" i="0" u="none" strike="noStrike">
              <a:solidFill>
                <a:srgbClr val="333333"/>
              </a:solidFill>
              <a:latin typeface="Roboto Mono"/>
              <a:ea typeface="Roboto Mono"/>
              <a:cs typeface="Roboto Mono"/>
              <a:sym typeface="Roboto Mono"/>
            </a:endParaRPr>
          </a:p>
          <a:p>
            <a:pPr indent="0" algn="l">
              <a:lnSpc>
                <a:spcPct val="125000"/>
              </a:lnSpc>
            </a:pPr>
            <a:r>
              <a:rPr lang="en-US" sz="1300" b="0" i="0" u="none" strike="noStrike">
                <a:solidFill>
                  <a:srgbClr val="333333"/>
                </a:solidFill>
                <a:latin typeface="Roboto Mono"/>
                <a:ea typeface="Roboto Mono"/>
                <a:cs typeface="Roboto Mono"/>
                <a:sym typeface="Roboto Mono"/>
              </a:rPr>
              <a:t>print(</a:t>
            </a:r>
            <a:r>
              <a:rPr lang="en-US" sz="1300" b="0" i="0" u="none" strike="noStrike">
                <a:solidFill>
                  <a:srgbClr val="C83232"/>
                </a:solidFill>
                <a:latin typeface="Roboto Mono"/>
                <a:ea typeface="Roboto Mono"/>
                <a:cs typeface="Roboto Mono"/>
                <a:sym typeface="Roboto Mono"/>
              </a:rPr>
              <a:t>"一般！"</a:t>
            </a:r>
            <a:r>
              <a:rPr lang="en-US" sz="1300" b="0" i="0" u="none" strike="noStrike">
                <a:solidFill>
                  <a:srgbClr val="333333"/>
                </a:solidFill>
                <a:latin typeface="Roboto Mono"/>
                <a:ea typeface="Roboto Mono"/>
                <a:cs typeface="Roboto Mono"/>
                <a:sym typeface="Roboto Mono"/>
              </a:rPr>
              <a:t>)</a:t>
            </a:r>
            <a:endParaRPr lang="en-US" sz="1300" b="0" i="0" u="none" strike="noStrike">
              <a:solidFill>
                <a:srgbClr val="333333"/>
              </a:solidFill>
              <a:latin typeface="Roboto Mono"/>
              <a:ea typeface="Roboto Mono"/>
              <a:cs typeface="Roboto Mono"/>
              <a:sym typeface="Roboto Mono"/>
            </a:endParaRPr>
          </a:p>
          <a:p>
            <a:pPr indent="0" algn="l">
              <a:lnSpc>
                <a:spcPct val="125000"/>
              </a:lnSpc>
            </a:pPr>
            <a:r>
              <a:rPr lang="en-US" sz="1300" b="0" i="0" u="none" strike="noStrike">
                <a:solidFill>
                  <a:srgbClr val="003366"/>
                </a:solidFill>
                <a:latin typeface="Roboto Mono"/>
                <a:ea typeface="Roboto Mono"/>
                <a:cs typeface="Roboto Mono"/>
                <a:sym typeface="Roboto Mono"/>
              </a:rPr>
              <a:t>else</a:t>
            </a:r>
            <a:r>
              <a:rPr lang="en-US" sz="1300" b="0" i="0" u="none" strike="noStrike">
                <a:solidFill>
                  <a:srgbClr val="333333"/>
                </a:solidFill>
                <a:latin typeface="Roboto Mono"/>
                <a:ea typeface="Roboto Mono"/>
                <a:cs typeface="Roboto Mono"/>
                <a:sym typeface="Roboto Mono"/>
              </a:rPr>
              <a:t>:</a:t>
            </a:r>
            <a:endParaRPr lang="en-US" sz="1300" b="0" i="0" u="none" strike="noStrike">
              <a:solidFill>
                <a:srgbClr val="333333"/>
              </a:solidFill>
              <a:latin typeface="Roboto Mono"/>
              <a:ea typeface="Roboto Mono"/>
              <a:cs typeface="Roboto Mono"/>
              <a:sym typeface="Roboto Mono"/>
            </a:endParaRPr>
          </a:p>
          <a:p>
            <a:pPr indent="0" algn="l">
              <a:lnSpc>
                <a:spcPct val="125000"/>
              </a:lnSpc>
            </a:pPr>
            <a:r>
              <a:rPr lang="en-US" sz="1300" b="0" i="0" u="none" strike="noStrike">
                <a:solidFill>
                  <a:srgbClr val="333333"/>
                </a:solidFill>
                <a:latin typeface="Roboto Mono"/>
                <a:ea typeface="Roboto Mono"/>
                <a:cs typeface="Roboto Mono"/>
                <a:sym typeface="Roboto Mono"/>
              </a:rPr>
              <a:t>print(</a:t>
            </a:r>
            <a:r>
              <a:rPr lang="en-US" sz="1300" b="0" i="0" u="none" strike="noStrike">
                <a:solidFill>
                  <a:srgbClr val="C83232"/>
                </a:solidFill>
                <a:latin typeface="Roboto Mono"/>
                <a:ea typeface="Roboto Mono"/>
                <a:cs typeface="Roboto Mono"/>
                <a:sym typeface="Roboto Mono"/>
              </a:rPr>
              <a:t>"不及格！"</a:t>
            </a:r>
            <a:r>
              <a:rPr lang="en-US" sz="1300" b="0" i="0" u="none" strike="noStrike">
                <a:solidFill>
                  <a:srgbClr val="333333"/>
                </a:solidFill>
                <a:latin typeface="Roboto Mono"/>
                <a:ea typeface="Roboto Mono"/>
                <a:cs typeface="Roboto Mono"/>
                <a:sym typeface="Roboto Mono"/>
              </a:rPr>
              <a:t>)</a:t>
            </a:r>
            <a:endParaRPr lang="en-US" sz="1300" b="0" i="0" u="none" strike="noStrike">
              <a:solidFill>
                <a:srgbClr val="333333"/>
              </a:solidFill>
              <a:latin typeface="Roboto Mono"/>
              <a:ea typeface="Roboto Mono"/>
              <a:cs typeface="Roboto Mono"/>
              <a:sym typeface="Roboto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Python极简知识 - 循环语句</a:t>
            </a:r>
            <a:endParaRPr lang="en-US" sz="1100"/>
          </a:p>
        </p:txBody>
      </p:sp>
      <p:sp>
        <p:nvSpPr>
          <p:cNvPr id="3" name="AutoShape 3"/>
          <p:cNvSpPr/>
          <p:nvPr/>
        </p:nvSpPr>
        <p:spPr>
          <a:xfrm>
            <a:off x="762000" y="1524000"/>
            <a:ext cx="5080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4" name="AutoShape 4"/>
          <p:cNvSpPr/>
          <p:nvPr/>
        </p:nvSpPr>
        <p:spPr>
          <a:xfrm>
            <a:off x="762000" y="1524000"/>
            <a:ext cx="5080000" cy="635000"/>
          </a:xfrm>
          <a:prstGeom prst="roundRect">
            <a:avLst>
              <a:gd name="adj" fmla="val 20000"/>
            </a:avLst>
          </a:prstGeom>
          <a:solidFill>
            <a:srgbClr val="00336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663700"/>
            <a:ext cx="355600" cy="355600"/>
          </a:xfrm>
          <a:prstGeom prst="rect">
            <a:avLst/>
          </a:prstGeom>
        </p:spPr>
      </p:pic>
      <p:sp>
        <p:nvSpPr>
          <p:cNvPr id="6" name="AutoShape 6"/>
          <p:cNvSpPr/>
          <p:nvPr/>
        </p:nvSpPr>
        <p:spPr>
          <a:xfrm>
            <a:off x="1397000" y="1625600"/>
            <a:ext cx="3810000" cy="431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FFFFFF"/>
                </a:solidFill>
                <a:latin typeface="Noto Sans SC"/>
                <a:ea typeface="Noto Sans SC"/>
                <a:cs typeface="Noto Sans SC"/>
                <a:sym typeface="Noto Sans SC"/>
              </a:rPr>
              <a:t>for 循环：遍历序列</a:t>
            </a:r>
            <a:endParaRPr lang="en-US" sz="1100"/>
          </a:p>
        </p:txBody>
      </p:sp>
      <p:sp>
        <p:nvSpPr>
          <p:cNvPr id="7" name="AutoShape 7"/>
          <p:cNvSpPr/>
          <p:nvPr/>
        </p:nvSpPr>
        <p:spPr>
          <a:xfrm>
            <a:off x="952500" y="2349500"/>
            <a:ext cx="4699000" cy="3429000"/>
          </a:xfrm>
          <a:prstGeom prst="roundRect">
            <a:avLst>
              <a:gd name="adj" fmla="val 0"/>
            </a:avLst>
          </a:prstGeom>
          <a:solidFill>
            <a:srgbClr val="F5F7FA">
              <a:alpha val="100000"/>
            </a:srgbClr>
          </a:solidFill>
          <a:ln w="12700" cap="flat" cmpd="sng">
            <a:solidFill>
              <a:srgbClr val="DCE0E5">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1079500" y="2476500"/>
            <a:ext cx="4445000" cy="317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 使用for循环打印0-99的整数</a:t>
            </a:r>
            <a:endParaRPr lang="en-US" sz="1100"/>
          </a:p>
          <a:p>
            <a:pPr indent="0" algn="l">
              <a:lnSpc>
                <a:spcPct val="125000"/>
              </a:lnSpc>
            </a:pPr>
            <a:r>
              <a:rPr lang="en-US" sz="1400" b="0" i="0" u="none" strike="noStrike">
                <a:solidFill>
                  <a:srgbClr val="003366"/>
                </a:solidFill>
                <a:latin typeface="Noto Sans SC"/>
                <a:ea typeface="Noto Sans SC"/>
                <a:cs typeface="Noto Sans SC"/>
                <a:sym typeface="Noto Sans SC"/>
              </a:rPr>
              <a:t>for</a:t>
            </a:r>
            <a:r>
              <a:rPr lang="en-US" sz="1400" b="0" i="0" u="none" strike="noStrike">
                <a:solidFill>
                  <a:srgbClr val="333333"/>
                </a:solidFill>
                <a:latin typeface="Noto Sans SC"/>
                <a:ea typeface="Noto Sans SC"/>
                <a:cs typeface="Noto Sans SC"/>
                <a:sym typeface="Noto Sans SC"/>
              </a:rPr>
              <a:t>value</a:t>
            </a:r>
            <a:r>
              <a:rPr lang="en-US" sz="1400" b="0" i="0" u="none" strike="noStrike">
                <a:solidFill>
                  <a:srgbClr val="003366"/>
                </a:solidFill>
                <a:latin typeface="Noto Sans SC"/>
                <a:ea typeface="Noto Sans SC"/>
                <a:cs typeface="Noto Sans SC"/>
                <a:sym typeface="Noto Sans SC"/>
              </a:rPr>
              <a:t>in</a:t>
            </a:r>
            <a:r>
              <a:rPr lang="en-US" sz="1400" b="0" i="0" u="none" strike="noStrike">
                <a:solidFill>
                  <a:srgbClr val="333333"/>
                </a:solidFill>
                <a:latin typeface="Noto Sans SC"/>
                <a:ea typeface="Noto Sans SC"/>
                <a:cs typeface="Noto Sans SC"/>
                <a:sym typeface="Noto Sans SC"/>
              </a:rPr>
              <a:t>range(100):</a:t>
            </a:r>
            <a:endParaRPr lang="en-US" sz="1400" b="0" i="0" u="none" strike="noStrike">
              <a:solidFill>
                <a:srgbClr val="333333"/>
              </a:solidFill>
              <a:latin typeface="Noto Sans SC"/>
              <a:ea typeface="Noto Sans SC"/>
              <a:cs typeface="Noto Sans SC"/>
              <a:sym typeface="Noto Sans SC"/>
            </a:endParaRPr>
          </a:p>
          <a:p>
            <a:pPr indent="0" algn="l">
              <a:lnSpc>
                <a:spcPct val="125000"/>
              </a:lnSpc>
            </a:pPr>
            <a:r>
              <a:rPr lang="en-US" sz="1400" b="0" i="0" u="none" strike="noStrike">
                <a:solidFill>
                  <a:srgbClr val="333333"/>
                </a:solidFill>
                <a:latin typeface="Noto Sans SC"/>
                <a:ea typeface="Noto Sans SC"/>
                <a:cs typeface="Noto Sans SC"/>
                <a:sym typeface="Noto Sans SC"/>
              </a:rPr>
              <a:t>print(value)</a:t>
            </a:r>
            <a:endParaRPr lang="en-US" sz="1400" b="0" i="0" u="none" strike="noStrike">
              <a:solidFill>
                <a:srgbClr val="333333"/>
              </a:solidFill>
              <a:latin typeface="Noto Sans SC"/>
              <a:ea typeface="Noto Sans SC"/>
              <a:cs typeface="Noto Sans SC"/>
              <a:sym typeface="Noto Sans SC"/>
            </a:endParaRPr>
          </a:p>
        </p:txBody>
      </p:sp>
      <p:sp>
        <p:nvSpPr>
          <p:cNvPr id="9" name="AutoShape 9"/>
          <p:cNvSpPr/>
          <p:nvPr/>
        </p:nvSpPr>
        <p:spPr>
          <a:xfrm>
            <a:off x="6350000" y="1524000"/>
            <a:ext cx="5080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10" name="AutoShape 10"/>
          <p:cNvSpPr/>
          <p:nvPr/>
        </p:nvSpPr>
        <p:spPr>
          <a:xfrm>
            <a:off x="6350000" y="1524000"/>
            <a:ext cx="5080000" cy="635000"/>
          </a:xfrm>
          <a:prstGeom prst="roundRect">
            <a:avLst>
              <a:gd name="adj" fmla="val 20000"/>
            </a:avLst>
          </a:prstGeom>
          <a:solidFill>
            <a:srgbClr val="00336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540500" y="1663700"/>
            <a:ext cx="355600" cy="355600"/>
          </a:xfrm>
          <a:prstGeom prst="rect">
            <a:avLst/>
          </a:prstGeom>
        </p:spPr>
      </p:pic>
      <p:sp>
        <p:nvSpPr>
          <p:cNvPr id="12" name="AutoShape 12"/>
          <p:cNvSpPr/>
          <p:nvPr/>
        </p:nvSpPr>
        <p:spPr>
          <a:xfrm>
            <a:off x="6985000" y="1625600"/>
            <a:ext cx="3810000" cy="431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FFFFFF"/>
                </a:solidFill>
                <a:latin typeface="Noto Sans SC"/>
                <a:ea typeface="Noto Sans SC"/>
                <a:cs typeface="Noto Sans SC"/>
                <a:sym typeface="Noto Sans SC"/>
              </a:rPr>
              <a:t>while 循环：条件控制</a:t>
            </a:r>
            <a:endParaRPr lang="en-US" sz="1100"/>
          </a:p>
        </p:txBody>
      </p:sp>
      <p:sp>
        <p:nvSpPr>
          <p:cNvPr id="13" name="AutoShape 13"/>
          <p:cNvSpPr/>
          <p:nvPr/>
        </p:nvSpPr>
        <p:spPr>
          <a:xfrm>
            <a:off x="6540500" y="2349500"/>
            <a:ext cx="4699000" cy="3429000"/>
          </a:xfrm>
          <a:prstGeom prst="roundRect">
            <a:avLst>
              <a:gd name="adj" fmla="val 0"/>
            </a:avLst>
          </a:prstGeom>
          <a:solidFill>
            <a:srgbClr val="F5F7FA">
              <a:alpha val="100000"/>
            </a:srgbClr>
          </a:solidFill>
          <a:ln w="12700" cap="flat" cmpd="sng">
            <a:solidFill>
              <a:srgbClr val="DCE0E5">
                <a:alpha val="10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6667500" y="2476500"/>
            <a:ext cx="4445000" cy="317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 使用while循环打印0-99的整数</a:t>
            </a:r>
            <a:endParaRPr lang="en-US" sz="1100"/>
          </a:p>
          <a:p>
            <a:pPr indent="0" algn="l">
              <a:lnSpc>
                <a:spcPct val="125000"/>
              </a:lnSpc>
            </a:pPr>
            <a:r>
              <a:rPr lang="en-US" sz="1400" b="0" i="0" u="none" strike="noStrike">
                <a:solidFill>
                  <a:srgbClr val="333333"/>
                </a:solidFill>
                <a:latin typeface="Noto Sans SC"/>
                <a:ea typeface="Noto Sans SC"/>
                <a:cs typeface="Noto Sans SC"/>
                <a:sym typeface="Noto Sans SC"/>
              </a:rPr>
              <a:t>value = 0</a:t>
            </a:r>
            <a:endParaRPr lang="en-US" sz="1400" b="0" i="0" u="none" strike="noStrike">
              <a:solidFill>
                <a:srgbClr val="333333"/>
              </a:solidFill>
              <a:latin typeface="Noto Sans SC"/>
              <a:ea typeface="Noto Sans SC"/>
              <a:cs typeface="Noto Sans SC"/>
              <a:sym typeface="Noto Sans SC"/>
            </a:endParaRPr>
          </a:p>
          <a:p>
            <a:pPr indent="0" algn="l">
              <a:lnSpc>
                <a:spcPct val="125000"/>
              </a:lnSpc>
            </a:pPr>
            <a:r>
              <a:rPr lang="en-US" sz="1400" b="0" i="0" u="none" strike="noStrike">
                <a:solidFill>
                  <a:srgbClr val="003366"/>
                </a:solidFill>
                <a:latin typeface="Noto Sans SC"/>
                <a:ea typeface="Noto Sans SC"/>
                <a:cs typeface="Noto Sans SC"/>
                <a:sym typeface="Noto Sans SC"/>
              </a:rPr>
              <a:t>while</a:t>
            </a:r>
            <a:r>
              <a:rPr lang="en-US" sz="1400" b="0" i="0" u="none" strike="noStrike">
                <a:solidFill>
                  <a:srgbClr val="333333"/>
                </a:solidFill>
                <a:latin typeface="Noto Sans SC"/>
                <a:ea typeface="Noto Sans SC"/>
                <a:cs typeface="Noto Sans SC"/>
                <a:sym typeface="Noto Sans SC"/>
              </a:rPr>
              <a:t>value &lt; 100:</a:t>
            </a:r>
            <a:endParaRPr lang="en-US" sz="1400" b="0" i="0" u="none" strike="noStrike">
              <a:solidFill>
                <a:srgbClr val="333333"/>
              </a:solidFill>
              <a:latin typeface="Noto Sans SC"/>
              <a:ea typeface="Noto Sans SC"/>
              <a:cs typeface="Noto Sans SC"/>
              <a:sym typeface="Noto Sans SC"/>
            </a:endParaRPr>
          </a:p>
          <a:p>
            <a:pPr indent="0" algn="l">
              <a:lnSpc>
                <a:spcPct val="125000"/>
              </a:lnSpc>
            </a:pPr>
            <a:r>
              <a:rPr lang="en-US" sz="1400" b="0" i="0" u="none" strike="noStrike">
                <a:solidFill>
                  <a:srgbClr val="333333"/>
                </a:solidFill>
                <a:latin typeface="Noto Sans SC"/>
                <a:ea typeface="Noto Sans SC"/>
                <a:cs typeface="Noto Sans SC"/>
                <a:sym typeface="Noto Sans SC"/>
              </a:rPr>
              <a:t>print(value)</a:t>
            </a:r>
            <a:endParaRPr lang="en-US" sz="1400" b="0" i="0" u="none" strike="noStrike">
              <a:solidFill>
                <a:srgbClr val="333333"/>
              </a:solidFill>
              <a:latin typeface="Noto Sans SC"/>
              <a:ea typeface="Noto Sans SC"/>
              <a:cs typeface="Noto Sans SC"/>
              <a:sym typeface="Noto Sans SC"/>
            </a:endParaRPr>
          </a:p>
          <a:p>
            <a:pPr indent="0" algn="l">
              <a:lnSpc>
                <a:spcPct val="125000"/>
              </a:lnSpc>
            </a:pPr>
            <a:r>
              <a:rPr lang="en-US" sz="1400" b="0" i="0" u="none" strike="noStrike">
                <a:solidFill>
                  <a:srgbClr val="333333"/>
                </a:solidFill>
                <a:latin typeface="Noto Sans SC"/>
                <a:ea typeface="Noto Sans SC"/>
                <a:cs typeface="Noto Sans SC"/>
                <a:sym typeface="Noto Sans SC"/>
              </a:rPr>
              <a:t>value += 1</a:t>
            </a:r>
            <a:endParaRPr lang="en-US" sz="1400" b="0" i="0" u="none" strike="noStrike">
              <a:solidFill>
                <a:srgbClr val="333333"/>
              </a:solidFill>
              <a:latin typeface="Noto Sans SC"/>
              <a:ea typeface="Noto Sans SC"/>
              <a:cs typeface="Noto Sans SC"/>
              <a:sym typeface="Noto Sans SC"/>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Python极简知识 - 数据结构（列表与元组）</a:t>
            </a:r>
            <a:endParaRPr lang="en-US" sz="1100"/>
          </a:p>
        </p:txBody>
      </p:sp>
      <p:sp>
        <p:nvSpPr>
          <p:cNvPr id="3" name="AutoShape 3"/>
          <p:cNvSpPr/>
          <p:nvPr/>
        </p:nvSpPr>
        <p:spPr>
          <a:xfrm>
            <a:off x="762000" y="1524000"/>
            <a:ext cx="51435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4" name="AutoShape 4"/>
          <p:cNvSpPr/>
          <p:nvPr/>
        </p:nvSpPr>
        <p:spPr>
          <a:xfrm>
            <a:off x="762000" y="1524000"/>
            <a:ext cx="5143500" cy="762000"/>
          </a:xfrm>
          <a:prstGeom prst="roundRect">
            <a:avLst>
              <a:gd name="adj" fmla="val 16666"/>
            </a:avLst>
          </a:prstGeom>
          <a:solidFill>
            <a:srgbClr val="00336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676400"/>
            <a:ext cx="406400" cy="406400"/>
          </a:xfrm>
          <a:prstGeom prst="rect">
            <a:avLst/>
          </a:prstGeom>
        </p:spPr>
      </p:pic>
      <p:sp>
        <p:nvSpPr>
          <p:cNvPr id="6" name="AutoShape 6"/>
          <p:cNvSpPr/>
          <p:nvPr/>
        </p:nvSpPr>
        <p:spPr>
          <a:xfrm>
            <a:off x="1524000" y="1625600"/>
            <a:ext cx="4064000" cy="558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FFFFFF"/>
                </a:solidFill>
                <a:latin typeface="Noto Sans SC"/>
                <a:ea typeface="Noto Sans SC"/>
                <a:cs typeface="Noto Sans SC"/>
                <a:sym typeface="Noto Sans SC"/>
              </a:rPr>
              <a:t>列表 (List)</a:t>
            </a:r>
            <a:endParaRPr lang="en-US" sz="1100"/>
          </a:p>
        </p:txBody>
      </p:sp>
      <p:pic>
        <p:nvPicPr>
          <p:cNvPr id="7" name="Picture 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2540000"/>
            <a:ext cx="304800" cy="304800"/>
          </a:xfrm>
          <a:prstGeom prst="rect">
            <a:avLst/>
          </a:prstGeom>
        </p:spPr>
      </p:pic>
      <p:sp>
        <p:nvSpPr>
          <p:cNvPr id="8" name="AutoShape 8"/>
          <p:cNvSpPr/>
          <p:nvPr/>
        </p:nvSpPr>
        <p:spPr>
          <a:xfrm>
            <a:off x="1397000" y="25146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定义语法</a:t>
            </a:r>
            <a:endParaRPr lang="en-US" sz="1100"/>
          </a:p>
        </p:txBody>
      </p:sp>
      <p:sp>
        <p:nvSpPr>
          <p:cNvPr id="9" name="AutoShape 9"/>
          <p:cNvSpPr/>
          <p:nvPr/>
        </p:nvSpPr>
        <p:spPr>
          <a:xfrm>
            <a:off x="1397000" y="28448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使用方括号 [] 定义，如：my_list = [1, 2, "hello"]</a:t>
            </a:r>
            <a:endParaRPr lang="en-US" sz="1100"/>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3429000"/>
            <a:ext cx="304800" cy="304800"/>
          </a:xfrm>
          <a:prstGeom prst="rect">
            <a:avLst/>
          </a:prstGeom>
        </p:spPr>
      </p:pic>
      <p:sp>
        <p:nvSpPr>
          <p:cNvPr id="11" name="AutoShape 11"/>
          <p:cNvSpPr/>
          <p:nvPr/>
        </p:nvSpPr>
        <p:spPr>
          <a:xfrm>
            <a:off x="1397000" y="34036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核心特性</a:t>
            </a:r>
            <a:endParaRPr lang="en-US" sz="1100"/>
          </a:p>
        </p:txBody>
      </p:sp>
      <p:sp>
        <p:nvSpPr>
          <p:cNvPr id="12" name="AutoShape 12"/>
          <p:cNvSpPr/>
          <p:nvPr/>
        </p:nvSpPr>
        <p:spPr>
          <a:xfrm>
            <a:off x="1397000" y="37338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可变 (Mutable)、有序、可包含重复元素</a:t>
            </a:r>
            <a:endParaRPr lang="en-US" sz="1100"/>
          </a:p>
        </p:txBody>
      </p:sp>
      <p:pic>
        <p:nvPicPr>
          <p:cNvPr id="13" name="Picture 13"/>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4318000"/>
            <a:ext cx="304800" cy="304800"/>
          </a:xfrm>
          <a:prstGeom prst="rect">
            <a:avLst/>
          </a:prstGeom>
        </p:spPr>
      </p:pic>
      <p:sp>
        <p:nvSpPr>
          <p:cNvPr id="14" name="AutoShape 14"/>
          <p:cNvSpPr/>
          <p:nvPr/>
        </p:nvSpPr>
        <p:spPr>
          <a:xfrm>
            <a:off x="1397000" y="42926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典型用途</a:t>
            </a:r>
            <a:endParaRPr lang="en-US" sz="1100"/>
          </a:p>
        </p:txBody>
      </p:sp>
      <p:sp>
        <p:nvSpPr>
          <p:cNvPr id="15" name="AutoShape 15"/>
          <p:cNvSpPr/>
          <p:nvPr/>
        </p:nvSpPr>
        <p:spPr>
          <a:xfrm>
            <a:off x="1397000" y="46228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适用于需要频繁添加、删除或修改元素的场景</a:t>
            </a:r>
            <a:endParaRPr lang="en-US" sz="1100"/>
          </a:p>
        </p:txBody>
      </p:sp>
      <p:sp>
        <p:nvSpPr>
          <p:cNvPr id="16" name="AutoShape 16"/>
          <p:cNvSpPr/>
          <p:nvPr/>
        </p:nvSpPr>
        <p:spPr>
          <a:xfrm>
            <a:off x="6286500" y="1524000"/>
            <a:ext cx="51435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17" name="AutoShape 17"/>
          <p:cNvSpPr/>
          <p:nvPr/>
        </p:nvSpPr>
        <p:spPr>
          <a:xfrm>
            <a:off x="6286500" y="1524000"/>
            <a:ext cx="5143500" cy="762000"/>
          </a:xfrm>
          <a:prstGeom prst="roundRect">
            <a:avLst>
              <a:gd name="adj" fmla="val 16666"/>
            </a:avLst>
          </a:prstGeom>
          <a:solidFill>
            <a:srgbClr val="00336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540500" y="1676400"/>
            <a:ext cx="406400" cy="406400"/>
          </a:xfrm>
          <a:prstGeom prst="rect">
            <a:avLst/>
          </a:prstGeom>
        </p:spPr>
      </p:pic>
      <p:sp>
        <p:nvSpPr>
          <p:cNvPr id="19" name="AutoShape 19"/>
          <p:cNvSpPr/>
          <p:nvPr/>
        </p:nvSpPr>
        <p:spPr>
          <a:xfrm>
            <a:off x="7048500" y="1625600"/>
            <a:ext cx="4064000" cy="558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FFFFFF"/>
                </a:solidFill>
                <a:latin typeface="Noto Sans SC"/>
                <a:ea typeface="Noto Sans SC"/>
                <a:cs typeface="Noto Sans SC"/>
                <a:sym typeface="Noto Sans SC"/>
              </a:rPr>
              <a:t>元组 (Tuple)</a:t>
            </a:r>
            <a:endParaRPr lang="en-US" sz="1100"/>
          </a:p>
        </p:txBody>
      </p:sp>
      <p:pic>
        <p:nvPicPr>
          <p:cNvPr id="20" name="Picture 2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540500" y="2540000"/>
            <a:ext cx="304800" cy="304800"/>
          </a:xfrm>
          <a:prstGeom prst="rect">
            <a:avLst/>
          </a:prstGeom>
        </p:spPr>
      </p:pic>
      <p:sp>
        <p:nvSpPr>
          <p:cNvPr id="21" name="AutoShape 21"/>
          <p:cNvSpPr/>
          <p:nvPr/>
        </p:nvSpPr>
        <p:spPr>
          <a:xfrm>
            <a:off x="6921500" y="25146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定义语法</a:t>
            </a:r>
            <a:endParaRPr lang="en-US" sz="1100"/>
          </a:p>
        </p:txBody>
      </p:sp>
      <p:sp>
        <p:nvSpPr>
          <p:cNvPr id="22" name="AutoShape 22"/>
          <p:cNvSpPr/>
          <p:nvPr/>
        </p:nvSpPr>
        <p:spPr>
          <a:xfrm>
            <a:off x="6921500" y="28448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使用圆括号 () 定义，如：my_tuple = (1, 2, "hello")</a:t>
            </a:r>
            <a:endParaRPr lang="en-US" sz="1100"/>
          </a:p>
        </p:txBody>
      </p:sp>
      <p:pic>
        <p:nvPicPr>
          <p:cNvPr id="23" name="Picture 23"/>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540500" y="3429000"/>
            <a:ext cx="304800" cy="304800"/>
          </a:xfrm>
          <a:prstGeom prst="rect">
            <a:avLst/>
          </a:prstGeom>
        </p:spPr>
      </p:pic>
      <p:sp>
        <p:nvSpPr>
          <p:cNvPr id="24" name="AutoShape 24"/>
          <p:cNvSpPr/>
          <p:nvPr/>
        </p:nvSpPr>
        <p:spPr>
          <a:xfrm>
            <a:off x="6921500" y="34036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核心特性</a:t>
            </a:r>
            <a:endParaRPr lang="en-US" sz="1100"/>
          </a:p>
        </p:txBody>
      </p:sp>
      <p:sp>
        <p:nvSpPr>
          <p:cNvPr id="25" name="AutoShape 25"/>
          <p:cNvSpPr/>
          <p:nvPr/>
        </p:nvSpPr>
        <p:spPr>
          <a:xfrm>
            <a:off x="6921500" y="37338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不可变 (Immutable)、有序、可包含重复元素</a:t>
            </a:r>
            <a:endParaRPr lang="en-US" sz="1100"/>
          </a:p>
        </p:txBody>
      </p:sp>
      <p:pic>
        <p:nvPicPr>
          <p:cNvPr id="26" name="Picture 26"/>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6540500" y="4318000"/>
            <a:ext cx="304800" cy="304800"/>
          </a:xfrm>
          <a:prstGeom prst="rect">
            <a:avLst/>
          </a:prstGeom>
        </p:spPr>
      </p:pic>
      <p:sp>
        <p:nvSpPr>
          <p:cNvPr id="27" name="AutoShape 27"/>
          <p:cNvSpPr/>
          <p:nvPr/>
        </p:nvSpPr>
        <p:spPr>
          <a:xfrm>
            <a:off x="6921500" y="42926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典型用途</a:t>
            </a:r>
            <a:endParaRPr lang="en-US" sz="1100"/>
          </a:p>
        </p:txBody>
      </p:sp>
      <p:sp>
        <p:nvSpPr>
          <p:cNvPr id="28" name="AutoShape 28"/>
          <p:cNvSpPr/>
          <p:nvPr/>
        </p:nvSpPr>
        <p:spPr>
          <a:xfrm>
            <a:off x="6921500" y="46228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适用于数据不可被修改的场景，如函数的返回值</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Python极简知识 - 数据结构（字典与集合）</a:t>
            </a:r>
            <a:endParaRPr lang="en-US" sz="1100"/>
          </a:p>
        </p:txBody>
      </p:sp>
      <p:sp>
        <p:nvSpPr>
          <p:cNvPr id="3" name="AutoShape 3"/>
          <p:cNvSpPr/>
          <p:nvPr/>
        </p:nvSpPr>
        <p:spPr>
          <a:xfrm>
            <a:off x="762000" y="1524000"/>
            <a:ext cx="5080000" cy="4572000"/>
          </a:xfrm>
          <a:prstGeom prst="roundRect">
            <a:avLst>
              <a:gd name="adj" fmla="val 2777"/>
            </a:avLst>
          </a:prstGeom>
          <a:solidFill>
            <a:srgbClr val="FFFFFF">
              <a:alpha val="100000"/>
            </a:srgbClr>
          </a:solidFill>
          <a:ln w="25400" cap="flat" cmpd="sng">
            <a:noFill/>
            <a:prstDash val="solid"/>
            <a:round/>
          </a:ln>
          <a:effectLst>
            <a:outerShdw blurRad="127000" dist="63500" dir="2700000" algn="tl" rotWithShape="0">
              <a:srgbClr val="003366">
                <a:alpha val="1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66800" y="1828800"/>
            <a:ext cx="406400" cy="406400"/>
          </a:xfrm>
          <a:prstGeom prst="rect">
            <a:avLst/>
          </a:prstGeom>
        </p:spPr>
      </p:pic>
      <p:sp>
        <p:nvSpPr>
          <p:cNvPr id="5" name="AutoShape 5"/>
          <p:cNvSpPr/>
          <p:nvPr/>
        </p:nvSpPr>
        <p:spPr>
          <a:xfrm>
            <a:off x="1574800" y="1803400"/>
            <a:ext cx="3810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a:solidFill>
                  <a:srgbClr val="003366"/>
                </a:solidFill>
                <a:latin typeface="Noto Sans SC"/>
                <a:ea typeface="Noto Sans SC"/>
                <a:cs typeface="Noto Sans SC"/>
                <a:sym typeface="Noto Sans SC"/>
              </a:rPr>
              <a:t>字典 (Dictionary)</a:t>
            </a:r>
            <a:endParaRPr lang="en-US" sz="1100"/>
          </a:p>
        </p:txBody>
      </p:sp>
      <p:cxnSp>
        <p:nvCxnSpPr>
          <p:cNvPr id="6" name="Connector 6"/>
          <p:cNvCxnSpPr/>
          <p:nvPr/>
        </p:nvCxnSpPr>
        <p:spPr>
          <a:xfrm rot="-9766">
            <a:off x="1066809" y="2330450"/>
            <a:ext cx="4470400" cy="12700"/>
          </a:xfrm>
          <a:prstGeom prst="line">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pic>
        <p:nvPicPr>
          <p:cNvPr id="7" name="Picture 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2540000"/>
            <a:ext cx="254000" cy="254000"/>
          </a:xfrm>
          <a:prstGeom prst="rect">
            <a:avLst/>
          </a:prstGeom>
        </p:spPr>
      </p:pic>
      <p:sp>
        <p:nvSpPr>
          <p:cNvPr id="8" name="AutoShape 8"/>
          <p:cNvSpPr/>
          <p:nvPr/>
        </p:nvSpPr>
        <p:spPr>
          <a:xfrm>
            <a:off x="1397000" y="25146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核心定义</a:t>
            </a:r>
            <a:endParaRPr lang="en-US" sz="1100"/>
          </a:p>
        </p:txBody>
      </p:sp>
      <p:sp>
        <p:nvSpPr>
          <p:cNvPr id="9" name="AutoShape 9"/>
          <p:cNvSpPr/>
          <p:nvPr/>
        </p:nvSpPr>
        <p:spPr>
          <a:xfrm>
            <a:off x="1397000" y="28448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使用花括号 {} 定义，由键值对 (Key-Value) 组成。</a:t>
            </a:r>
            <a:endParaRPr lang="en-US" sz="1100"/>
          </a:p>
          <a:p>
            <a:pPr indent="0" algn="l">
              <a:lnSpc>
                <a:spcPct val="125000"/>
              </a:lnSpc>
            </a:pPr>
            <a:r>
              <a:rPr lang="en-US" sz="1300" b="0" i="0" u="none" strike="noStrike">
                <a:solidFill>
                  <a:srgbClr val="999999"/>
                </a:solidFill>
                <a:latin typeface="Noto Sans SC"/>
                <a:ea typeface="Noto Sans SC"/>
                <a:cs typeface="Noto Sans SC"/>
                <a:sym typeface="Noto Sans SC"/>
              </a:rPr>
              <a:t>示例: my_dict = {"name": "Alice", "age": 25}</a:t>
            </a:r>
            <a:endParaRPr lang="en-US" sz="1300" b="0" i="0" u="none" strike="noStrike">
              <a:solidFill>
                <a:srgbClr val="999999"/>
              </a:solidFill>
              <a:latin typeface="Noto Sans SC"/>
              <a:ea typeface="Noto Sans SC"/>
              <a:cs typeface="Noto Sans SC"/>
              <a:sym typeface="Noto Sans SC"/>
            </a:endParaRPr>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66800" y="3479800"/>
            <a:ext cx="254000" cy="254000"/>
          </a:xfrm>
          <a:prstGeom prst="rect">
            <a:avLst/>
          </a:prstGeom>
        </p:spPr>
      </p:pic>
      <p:sp>
        <p:nvSpPr>
          <p:cNvPr id="11" name="AutoShape 11"/>
          <p:cNvSpPr/>
          <p:nvPr/>
        </p:nvSpPr>
        <p:spPr>
          <a:xfrm>
            <a:off x="1397000" y="34544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主要特性</a:t>
            </a:r>
            <a:endParaRPr lang="en-US" sz="1100"/>
          </a:p>
        </p:txBody>
      </p:sp>
      <p:sp>
        <p:nvSpPr>
          <p:cNvPr id="12" name="AutoShape 12"/>
          <p:cNvSpPr/>
          <p:nvPr/>
        </p:nvSpPr>
        <p:spPr>
          <a:xfrm>
            <a:off x="1397000" y="37846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 可变 (Mutable)，支持增删改查</a:t>
            </a:r>
            <a:endParaRPr lang="en-US" sz="1100"/>
          </a:p>
          <a:p>
            <a:pPr indent="0" algn="l">
              <a:lnSpc>
                <a:spcPct val="125000"/>
              </a:lnSpc>
            </a:pPr>
            <a:r>
              <a:rPr lang="en-US" sz="1400" b="0" i="0" u="none" strike="noStrike">
                <a:solidFill>
                  <a:srgbClr val="666666"/>
                </a:solidFill>
                <a:latin typeface="Noto Sans SC"/>
                <a:ea typeface="Noto Sans SC"/>
                <a:cs typeface="Noto Sans SC"/>
                <a:sym typeface="Noto Sans SC"/>
              </a:rPr>
              <a:t>• 键 (Key) 具有唯一性，且不可变</a:t>
            </a:r>
            <a:endParaRPr lang="en-US" sz="1400" b="0" i="0" u="none" strike="noStrike">
              <a:solidFill>
                <a:srgbClr val="666666"/>
              </a:solidFill>
              <a:latin typeface="Noto Sans SC"/>
              <a:ea typeface="Noto Sans SC"/>
              <a:cs typeface="Noto Sans SC"/>
              <a:sym typeface="Noto Sans SC"/>
            </a:endParaRPr>
          </a:p>
        </p:txBody>
      </p:sp>
      <p:pic>
        <p:nvPicPr>
          <p:cNvPr id="13" name="Picture 13"/>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66800" y="4419600"/>
            <a:ext cx="254000" cy="254000"/>
          </a:xfrm>
          <a:prstGeom prst="rect">
            <a:avLst/>
          </a:prstGeom>
        </p:spPr>
      </p:pic>
      <p:sp>
        <p:nvSpPr>
          <p:cNvPr id="14" name="AutoShape 14"/>
          <p:cNvSpPr/>
          <p:nvPr/>
        </p:nvSpPr>
        <p:spPr>
          <a:xfrm>
            <a:off x="1397000" y="43942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典型用途</a:t>
            </a:r>
            <a:endParaRPr lang="en-US" sz="1100"/>
          </a:p>
        </p:txBody>
      </p:sp>
      <p:sp>
        <p:nvSpPr>
          <p:cNvPr id="15" name="AutoShape 15"/>
          <p:cNvSpPr/>
          <p:nvPr/>
        </p:nvSpPr>
        <p:spPr>
          <a:xfrm>
            <a:off x="1397000" y="47244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通过键快速查找对应的值，适合存储结构化数据。</a:t>
            </a:r>
            <a:endParaRPr lang="en-US" sz="1100"/>
          </a:p>
        </p:txBody>
      </p:sp>
      <p:sp>
        <p:nvSpPr>
          <p:cNvPr id="16" name="AutoShape 16"/>
          <p:cNvSpPr/>
          <p:nvPr/>
        </p:nvSpPr>
        <p:spPr>
          <a:xfrm>
            <a:off x="6350000" y="1524000"/>
            <a:ext cx="5080000" cy="4572000"/>
          </a:xfrm>
          <a:prstGeom prst="roundRect">
            <a:avLst>
              <a:gd name="adj" fmla="val 2777"/>
            </a:avLst>
          </a:prstGeom>
          <a:solidFill>
            <a:srgbClr val="FFFFFF">
              <a:alpha val="100000"/>
            </a:srgbClr>
          </a:solidFill>
          <a:ln w="25400" cap="flat" cmpd="sng">
            <a:noFill/>
            <a:prstDash val="solid"/>
            <a:round/>
          </a:ln>
          <a:effectLst>
            <a:outerShdw blurRad="127000" dist="63500" dir="2700000" algn="tl" rotWithShape="0">
              <a:srgbClr val="003366">
                <a:alpha val="15000"/>
              </a:srgbClr>
            </a:outerShdw>
          </a:effectLst>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654800" y="1828800"/>
            <a:ext cx="406400" cy="406400"/>
          </a:xfrm>
          <a:prstGeom prst="rect">
            <a:avLst/>
          </a:prstGeom>
        </p:spPr>
      </p:pic>
      <p:sp>
        <p:nvSpPr>
          <p:cNvPr id="18" name="AutoShape 18"/>
          <p:cNvSpPr/>
          <p:nvPr/>
        </p:nvSpPr>
        <p:spPr>
          <a:xfrm>
            <a:off x="7162800" y="1803400"/>
            <a:ext cx="3810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a:solidFill>
                  <a:srgbClr val="003366"/>
                </a:solidFill>
                <a:latin typeface="Noto Sans SC"/>
                <a:ea typeface="Noto Sans SC"/>
                <a:cs typeface="Noto Sans SC"/>
                <a:sym typeface="Noto Sans SC"/>
              </a:rPr>
              <a:t>集合 (Set)</a:t>
            </a:r>
            <a:endParaRPr lang="en-US" sz="1100"/>
          </a:p>
        </p:txBody>
      </p:sp>
      <p:cxnSp>
        <p:nvCxnSpPr>
          <p:cNvPr id="19" name="Connector 19"/>
          <p:cNvCxnSpPr/>
          <p:nvPr/>
        </p:nvCxnSpPr>
        <p:spPr>
          <a:xfrm rot="-9766">
            <a:off x="6654809" y="2330450"/>
            <a:ext cx="4470400" cy="12700"/>
          </a:xfrm>
          <a:prstGeom prst="line">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pic>
        <p:nvPicPr>
          <p:cNvPr id="20" name="Picture 2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654800" y="2540000"/>
            <a:ext cx="254000" cy="254000"/>
          </a:xfrm>
          <a:prstGeom prst="rect">
            <a:avLst/>
          </a:prstGeom>
        </p:spPr>
      </p:pic>
      <p:sp>
        <p:nvSpPr>
          <p:cNvPr id="21" name="AutoShape 21"/>
          <p:cNvSpPr/>
          <p:nvPr/>
        </p:nvSpPr>
        <p:spPr>
          <a:xfrm>
            <a:off x="6985000" y="25146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核心定义</a:t>
            </a:r>
            <a:endParaRPr lang="en-US" sz="1100"/>
          </a:p>
        </p:txBody>
      </p:sp>
      <p:sp>
        <p:nvSpPr>
          <p:cNvPr id="22" name="AutoShape 22"/>
          <p:cNvSpPr/>
          <p:nvPr/>
        </p:nvSpPr>
        <p:spPr>
          <a:xfrm>
            <a:off x="6985000" y="28448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使用花括号 {} 或 set() 函数定义，元素无序。</a:t>
            </a:r>
            <a:endParaRPr lang="en-US" sz="1100"/>
          </a:p>
          <a:p>
            <a:pPr indent="0" algn="l">
              <a:lnSpc>
                <a:spcPct val="125000"/>
              </a:lnSpc>
            </a:pPr>
            <a:r>
              <a:rPr lang="en-US" sz="1300" b="0" i="0" u="none" strike="noStrike">
                <a:solidFill>
                  <a:srgbClr val="999999"/>
                </a:solidFill>
                <a:latin typeface="Noto Sans SC"/>
                <a:ea typeface="Noto Sans SC"/>
                <a:cs typeface="Noto Sans SC"/>
                <a:sym typeface="Noto Sans SC"/>
              </a:rPr>
              <a:t>示例: my_set = {1, 2, 3} 或 set([1, 2, 3])</a:t>
            </a:r>
            <a:endParaRPr lang="en-US" sz="1300" b="0" i="0" u="none" strike="noStrike">
              <a:solidFill>
                <a:srgbClr val="999999"/>
              </a:solidFill>
              <a:latin typeface="Noto Sans SC"/>
              <a:ea typeface="Noto Sans SC"/>
              <a:cs typeface="Noto Sans SC"/>
              <a:sym typeface="Noto Sans SC"/>
            </a:endParaRPr>
          </a:p>
        </p:txBody>
      </p:sp>
      <p:pic>
        <p:nvPicPr>
          <p:cNvPr id="23" name="Picture 23"/>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654800" y="3479800"/>
            <a:ext cx="254000" cy="254000"/>
          </a:xfrm>
          <a:prstGeom prst="rect">
            <a:avLst/>
          </a:prstGeom>
        </p:spPr>
      </p:pic>
      <p:sp>
        <p:nvSpPr>
          <p:cNvPr id="24" name="AutoShape 24"/>
          <p:cNvSpPr/>
          <p:nvPr/>
        </p:nvSpPr>
        <p:spPr>
          <a:xfrm>
            <a:off x="6985000" y="34544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主要特性</a:t>
            </a:r>
            <a:endParaRPr lang="en-US" sz="1100"/>
          </a:p>
        </p:txBody>
      </p:sp>
      <p:sp>
        <p:nvSpPr>
          <p:cNvPr id="25" name="AutoShape 25"/>
          <p:cNvSpPr/>
          <p:nvPr/>
        </p:nvSpPr>
        <p:spPr>
          <a:xfrm>
            <a:off x="6985000" y="37846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 可变 (Mutable)，元素唯一（自动去重）</a:t>
            </a:r>
            <a:endParaRPr lang="en-US" sz="1100"/>
          </a:p>
          <a:p>
            <a:pPr indent="0" algn="l">
              <a:lnSpc>
                <a:spcPct val="125000"/>
              </a:lnSpc>
            </a:pPr>
            <a:r>
              <a:rPr lang="en-US" sz="1400" b="0" i="0" u="none" strike="noStrike">
                <a:solidFill>
                  <a:srgbClr val="666666"/>
                </a:solidFill>
                <a:latin typeface="Noto Sans SC"/>
                <a:ea typeface="Noto Sans SC"/>
                <a:cs typeface="Noto Sans SC"/>
                <a:sym typeface="Noto Sans SC"/>
              </a:rPr>
              <a:t>• 不支持索引访问，只能通过成员运算符判断</a:t>
            </a:r>
            <a:endParaRPr lang="en-US" sz="1400" b="0" i="0" u="none" strike="noStrike">
              <a:solidFill>
                <a:srgbClr val="666666"/>
              </a:solidFill>
              <a:latin typeface="Noto Sans SC"/>
              <a:ea typeface="Noto Sans SC"/>
              <a:cs typeface="Noto Sans SC"/>
              <a:sym typeface="Noto Sans SC"/>
            </a:endParaRPr>
          </a:p>
        </p:txBody>
      </p:sp>
      <p:pic>
        <p:nvPicPr>
          <p:cNvPr id="26" name="Picture 2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654800" y="4419600"/>
            <a:ext cx="254000" cy="254000"/>
          </a:xfrm>
          <a:prstGeom prst="rect">
            <a:avLst/>
          </a:prstGeom>
        </p:spPr>
      </p:pic>
      <p:sp>
        <p:nvSpPr>
          <p:cNvPr id="27" name="AutoShape 27"/>
          <p:cNvSpPr/>
          <p:nvPr/>
        </p:nvSpPr>
        <p:spPr>
          <a:xfrm>
            <a:off x="6985000" y="43942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典型用途</a:t>
            </a:r>
            <a:endParaRPr lang="en-US" sz="1100"/>
          </a:p>
        </p:txBody>
      </p:sp>
      <p:sp>
        <p:nvSpPr>
          <p:cNvPr id="28" name="AutoShape 28"/>
          <p:cNvSpPr/>
          <p:nvPr/>
        </p:nvSpPr>
        <p:spPr>
          <a:xfrm>
            <a:off x="6985000" y="47244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高效去重，以及进行数学上的集合运算（并集、交集等）。</a:t>
            </a:r>
            <a:endParaRPr lang="en-US" sz="11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Python极简知识 - 函数</a:t>
            </a:r>
            <a:endParaRPr lang="en-US" sz="1100"/>
          </a:p>
        </p:txBody>
      </p:sp>
      <p:sp>
        <p:nvSpPr>
          <p:cNvPr id="3" name="AutoShape 3"/>
          <p:cNvSpPr/>
          <p:nvPr/>
        </p:nvSpPr>
        <p:spPr>
          <a:xfrm>
            <a:off x="762000" y="1397000"/>
            <a:ext cx="4826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66800" y="1701800"/>
            <a:ext cx="406400" cy="406400"/>
          </a:xfrm>
          <a:prstGeom prst="rect">
            <a:avLst/>
          </a:prstGeom>
        </p:spPr>
      </p:pic>
      <p:sp>
        <p:nvSpPr>
          <p:cNvPr id="5" name="AutoShape 5"/>
          <p:cNvSpPr/>
          <p:nvPr/>
        </p:nvSpPr>
        <p:spPr>
          <a:xfrm>
            <a:off x="1574800" y="1676400"/>
            <a:ext cx="3556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核心概念定义</a:t>
            </a:r>
            <a:endParaRPr lang="en-US" sz="1100"/>
          </a:p>
        </p:txBody>
      </p:sp>
      <p:cxnSp>
        <p:nvCxnSpPr>
          <p:cNvPr id="6" name="Connector 6"/>
          <p:cNvCxnSpPr/>
          <p:nvPr/>
        </p:nvCxnSpPr>
        <p:spPr>
          <a:xfrm rot="-10354">
            <a:off x="1066810" y="2203450"/>
            <a:ext cx="42164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7" name="AutoShape 7"/>
          <p:cNvSpPr/>
          <p:nvPr/>
        </p:nvSpPr>
        <p:spPr>
          <a:xfrm>
            <a:off x="1066800" y="2413000"/>
            <a:ext cx="4216400" cy="2540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333333"/>
              </a:buClr>
              <a:buChar char="•"/>
              <a:defRPr/>
            </a:pPr>
            <a:r>
              <a:rPr lang="en-US" sz="1400" b="1" i="0" u="none" strike="noStrike">
                <a:solidFill>
                  <a:srgbClr val="333333"/>
                </a:solidFill>
                <a:latin typeface="Noto Sans SC"/>
                <a:ea typeface="Noto Sans SC"/>
                <a:cs typeface="Noto Sans SC"/>
                <a:sym typeface="Noto Sans SC"/>
              </a:rPr>
              <a:t>基本单元：</a:t>
            </a:r>
            <a:r>
              <a:rPr lang="en-US" sz="1400" b="0" i="0" u="none" strike="noStrike">
                <a:solidFill>
                  <a:srgbClr val="646464"/>
                </a:solidFill>
                <a:latin typeface="Noto Sans SC"/>
                <a:ea typeface="Noto Sans SC"/>
                <a:cs typeface="Noto Sans SC"/>
                <a:sym typeface="Noto Sans SC"/>
              </a:rPr>
              <a:t>函数是组织代码的基本单元，用于封装可重复使用的代码块。</a:t>
            </a:r>
            <a:endParaRPr lang="en-US" sz="1100"/>
          </a:p>
          <a:p>
            <a:pPr marL="177800" indent="-177800" algn="l">
              <a:lnSpc>
                <a:spcPct val="125000"/>
              </a:lnSpc>
              <a:buClr>
                <a:srgbClr val="333333"/>
              </a:buClr>
              <a:buChar char="•"/>
            </a:pPr>
            <a:r>
              <a:rPr lang="en-US" sz="1400" b="1" i="0" u="none" strike="noStrike">
                <a:solidFill>
                  <a:srgbClr val="333333"/>
                </a:solidFill>
                <a:latin typeface="Noto Sans SC"/>
                <a:ea typeface="Noto Sans SC"/>
                <a:cs typeface="Noto Sans SC"/>
                <a:sym typeface="Noto Sans SC"/>
              </a:rPr>
              <a:t>定义方式：</a:t>
            </a:r>
            <a:r>
              <a:rPr lang="en-US" sz="1400" b="0" i="0" u="none" strike="noStrike">
                <a:solidFill>
                  <a:srgbClr val="646464"/>
                </a:solidFill>
                <a:latin typeface="Noto Sans SC"/>
                <a:ea typeface="Noto Sans SC"/>
                <a:cs typeface="Noto Sans SC"/>
                <a:sym typeface="Noto Sans SC"/>
              </a:rPr>
              <a:t>使用 Python 关键字</a:t>
            </a:r>
            <a:r>
              <a:rPr lang="en-US" sz="1400" b="1" i="0" u="none" strike="noStrike">
                <a:solidFill>
                  <a:srgbClr val="003366"/>
                </a:solidFill>
                <a:latin typeface="Noto Sans SC"/>
                <a:ea typeface="Noto Sans SC"/>
                <a:cs typeface="Noto Sans SC"/>
                <a:sym typeface="Noto Sans SC"/>
              </a:rPr>
              <a:t>def</a:t>
            </a:r>
            <a:r>
              <a:rPr lang="en-US" sz="1400" b="0" i="0" u="none" strike="noStrike">
                <a:solidFill>
                  <a:srgbClr val="646464"/>
                </a:solidFill>
                <a:latin typeface="Noto Sans SC"/>
                <a:ea typeface="Noto Sans SC"/>
                <a:cs typeface="Noto Sans SC"/>
                <a:sym typeface="Noto Sans SC"/>
              </a:rPr>
              <a:t>来声明函数。</a:t>
            </a:r>
            <a:endParaRPr lang="en-US" sz="1400" b="0" i="0" u="none" strike="noStrike">
              <a:solidFill>
                <a:srgbClr val="646464"/>
              </a:solidFill>
              <a:latin typeface="Noto Sans SC"/>
              <a:ea typeface="Noto Sans SC"/>
              <a:cs typeface="Noto Sans SC"/>
              <a:sym typeface="Noto Sans SC"/>
            </a:endParaRPr>
          </a:p>
          <a:p>
            <a:pPr marL="177800" indent="-177800" algn="l">
              <a:lnSpc>
                <a:spcPct val="125000"/>
              </a:lnSpc>
              <a:buClr>
                <a:srgbClr val="333333"/>
              </a:buClr>
              <a:buChar char="•"/>
            </a:pPr>
            <a:r>
              <a:rPr lang="en-US" sz="1400" b="1" i="0" u="none" strike="noStrike">
                <a:solidFill>
                  <a:srgbClr val="333333"/>
                </a:solidFill>
                <a:latin typeface="Noto Sans SC"/>
                <a:ea typeface="Noto Sans SC"/>
                <a:cs typeface="Noto Sans SC"/>
                <a:sym typeface="Noto Sans SC"/>
              </a:rPr>
              <a:t>核心价值：</a:t>
            </a:r>
            <a:r>
              <a:rPr lang="en-US" sz="1400" b="0" i="0" u="none" strike="noStrike">
                <a:solidFill>
                  <a:srgbClr val="646464"/>
                </a:solidFill>
                <a:latin typeface="Noto Sans SC"/>
                <a:ea typeface="Noto Sans SC"/>
                <a:cs typeface="Noto Sans SC"/>
                <a:sym typeface="Noto Sans SC"/>
              </a:rPr>
              <a:t>提高代码的模块化程度，减少重复代码，提升可维护性。</a:t>
            </a:r>
            <a:endParaRPr lang="en-US" sz="1400" b="0" i="0" u="none" strike="noStrike">
              <a:solidFill>
                <a:srgbClr val="646464"/>
              </a:solidFill>
              <a:latin typeface="Noto Sans SC"/>
              <a:ea typeface="Noto Sans SC"/>
              <a:cs typeface="Noto Sans SC"/>
              <a:sym typeface="Noto Sans SC"/>
            </a:endParaRPr>
          </a:p>
        </p:txBody>
      </p:sp>
      <p:sp>
        <p:nvSpPr>
          <p:cNvPr id="8" name="AutoShape 8"/>
          <p:cNvSpPr/>
          <p:nvPr/>
        </p:nvSpPr>
        <p:spPr>
          <a:xfrm>
            <a:off x="5842000" y="1397000"/>
            <a:ext cx="5588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146800" y="1701800"/>
            <a:ext cx="406400" cy="406400"/>
          </a:xfrm>
          <a:prstGeom prst="rect">
            <a:avLst/>
          </a:prstGeom>
        </p:spPr>
      </p:pic>
      <p:sp>
        <p:nvSpPr>
          <p:cNvPr id="10" name="AutoShape 10"/>
          <p:cNvSpPr/>
          <p:nvPr/>
        </p:nvSpPr>
        <p:spPr>
          <a:xfrm>
            <a:off x="6654800" y="1676400"/>
            <a:ext cx="4445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代码实战：求和函数</a:t>
            </a:r>
            <a:endParaRPr lang="en-US" sz="1100"/>
          </a:p>
        </p:txBody>
      </p:sp>
      <p:cxnSp>
        <p:nvCxnSpPr>
          <p:cNvPr id="11" name="Connector 11"/>
          <p:cNvCxnSpPr/>
          <p:nvPr/>
        </p:nvCxnSpPr>
        <p:spPr>
          <a:xfrm rot="-8769">
            <a:off x="6146808" y="2203450"/>
            <a:ext cx="49784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2" name="AutoShape 12"/>
          <p:cNvSpPr/>
          <p:nvPr/>
        </p:nvSpPr>
        <p:spPr>
          <a:xfrm>
            <a:off x="6146800" y="2413000"/>
            <a:ext cx="4978400" cy="3175000"/>
          </a:xfrm>
          <a:prstGeom prst="roundRect">
            <a:avLst>
              <a:gd name="adj" fmla="val 2000"/>
            </a:avLst>
          </a:prstGeom>
          <a:solidFill>
            <a:srgbClr val="F5F7FA">
              <a:alpha val="100000"/>
            </a:srgbClr>
          </a:solidFill>
          <a:ln w="12700" cap="flat" cmpd="sng">
            <a:solidFill>
              <a:srgbClr val="DCE1E6">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6273800" y="2540000"/>
            <a:ext cx="4724400" cy="292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808080"/>
                </a:solidFill>
                <a:latin typeface="Noto Sans SC"/>
                <a:ea typeface="Noto Sans SC"/>
                <a:cs typeface="Noto Sans SC"/>
                <a:sym typeface="Noto Sans SC"/>
              </a:rPr>
              <a:t># 定义一个求两个整数之和的函数</a:t>
            </a:r>
            <a:endParaRPr lang="en-US" sz="1100"/>
          </a:p>
          <a:p>
            <a:pPr indent="0" algn="l">
              <a:lnSpc>
                <a:spcPct val="125000"/>
              </a:lnSpc>
            </a:pPr>
            <a:r>
              <a:rPr lang="en-US" sz="1300" b="0" i="0" u="none" strike="noStrike">
                <a:solidFill>
                  <a:srgbClr val="003366"/>
                </a:solidFill>
                <a:latin typeface="Noto Sans SC"/>
                <a:ea typeface="Noto Sans SC"/>
                <a:cs typeface="Noto Sans SC"/>
                <a:sym typeface="Noto Sans SC"/>
              </a:rPr>
              <a:t>def</a:t>
            </a:r>
            <a:r>
              <a:rPr lang="en-US" sz="1300" b="0" i="0" u="none" strike="noStrike">
                <a:solidFill>
                  <a:srgbClr val="333333"/>
                </a:solidFill>
                <a:latin typeface="Noto Sans SC"/>
                <a:ea typeface="Noto Sans SC"/>
                <a:cs typeface="Noto Sans SC"/>
                <a:sym typeface="Noto Sans SC"/>
              </a:rPr>
              <a:t>sum_numbers(x: int, y: int) -&gt; int:</a:t>
            </a:r>
            <a:endParaRPr lang="en-US" sz="1300" b="0" i="0" u="none" strike="noStrike">
              <a:solidFill>
                <a:srgbClr val="333333"/>
              </a:solidFill>
              <a:latin typeface="Noto Sans SC"/>
              <a:ea typeface="Noto Sans SC"/>
              <a:cs typeface="Noto Sans SC"/>
              <a:sym typeface="Noto Sans SC"/>
            </a:endParaRPr>
          </a:p>
          <a:p>
            <a:pPr indent="0" algn="l">
              <a:lnSpc>
                <a:spcPct val="125000"/>
              </a:lnSpc>
            </a:pPr>
            <a:r>
              <a:rPr lang="en-US" sz="1300" b="0" i="0" u="none" strike="noStrike">
                <a:solidFill>
                  <a:srgbClr val="333333"/>
                </a:solidFill>
                <a:latin typeface="Noto Sans SC"/>
                <a:ea typeface="Noto Sans SC"/>
                <a:cs typeface="Noto Sans SC"/>
                <a:sym typeface="Noto Sans SC"/>
              </a:rPr>
              <a:t>"""计算两个整数的和"""</a:t>
            </a:r>
            <a:endParaRPr lang="en-US" sz="1300" b="0" i="0" u="none" strike="noStrike">
              <a:solidFill>
                <a:srgbClr val="333333"/>
              </a:solidFill>
              <a:latin typeface="Noto Sans SC"/>
              <a:ea typeface="Noto Sans SC"/>
              <a:cs typeface="Noto Sans SC"/>
              <a:sym typeface="Noto Sans SC"/>
            </a:endParaRPr>
          </a:p>
          <a:p>
            <a:pPr indent="0" algn="l">
              <a:lnSpc>
                <a:spcPct val="125000"/>
              </a:lnSpc>
            </a:pPr>
            <a:r>
              <a:rPr lang="en-US" sz="1300" b="0" i="0" u="none" strike="noStrike">
                <a:solidFill>
                  <a:srgbClr val="003366"/>
                </a:solidFill>
                <a:latin typeface="Noto Sans SC"/>
                <a:ea typeface="Noto Sans SC"/>
                <a:cs typeface="Noto Sans SC"/>
                <a:sym typeface="Noto Sans SC"/>
              </a:rPr>
              <a:t>return</a:t>
            </a:r>
            <a:r>
              <a:rPr lang="en-US" sz="1300" b="0" i="0" u="none" strike="noStrike">
                <a:solidFill>
                  <a:srgbClr val="333333"/>
                </a:solidFill>
                <a:latin typeface="Noto Sans SC"/>
                <a:ea typeface="Noto Sans SC"/>
                <a:cs typeface="Noto Sans SC"/>
                <a:sym typeface="Noto Sans SC"/>
              </a:rPr>
              <a:t>x + y</a:t>
            </a:r>
            <a:endParaRPr lang="en-US" sz="1300" b="0" i="0" u="none" strike="noStrike">
              <a:solidFill>
                <a:srgbClr val="333333"/>
              </a:solidFill>
              <a:latin typeface="Noto Sans SC"/>
              <a:ea typeface="Noto Sans SC"/>
              <a:cs typeface="Noto Sans SC"/>
              <a:sym typeface="Noto Sans SC"/>
            </a:endParaRPr>
          </a:p>
          <a:p>
            <a:pPr indent="0" algn="l">
              <a:lnSpc>
                <a:spcPct val="125000"/>
              </a:lnSpc>
            </a:pPr>
          </a:p>
          <a:p>
            <a:pPr indent="0" algn="l">
              <a:lnSpc>
                <a:spcPct val="125000"/>
              </a:lnSpc>
            </a:pPr>
            <a:r>
              <a:rPr lang="en-US" sz="1300" b="0" i="0" u="none" strike="noStrike">
                <a:solidFill>
                  <a:srgbClr val="808080"/>
                </a:solidFill>
                <a:latin typeface="Noto Sans SC"/>
                <a:ea typeface="Noto Sans SC"/>
                <a:cs typeface="Noto Sans SC"/>
                <a:sym typeface="Noto Sans SC"/>
              </a:rPr>
              <a:t># 调用函数</a:t>
            </a:r>
            <a:endParaRPr lang="en-US" sz="1300" b="0" i="0" u="none" strike="noStrike">
              <a:solidFill>
                <a:srgbClr val="808080"/>
              </a:solidFill>
              <a:latin typeface="Noto Sans SC"/>
              <a:ea typeface="Noto Sans SC"/>
              <a:cs typeface="Noto Sans SC"/>
              <a:sym typeface="Noto Sans SC"/>
            </a:endParaRPr>
          </a:p>
          <a:p>
            <a:pPr indent="0" algn="l">
              <a:lnSpc>
                <a:spcPct val="125000"/>
              </a:lnSpc>
            </a:pPr>
            <a:r>
              <a:rPr lang="en-US" sz="1300" b="0" i="0" u="none" strike="noStrike">
                <a:solidFill>
                  <a:srgbClr val="333333"/>
                </a:solidFill>
                <a:latin typeface="Noto Sans SC"/>
                <a:ea typeface="Noto Sans SC"/>
                <a:cs typeface="Noto Sans SC"/>
                <a:sym typeface="Noto Sans SC"/>
              </a:rPr>
              <a:t>result = sum_numbers(10, 20)</a:t>
            </a:r>
            <a:endParaRPr lang="en-US" sz="1300" b="0" i="0" u="none" strike="noStrike">
              <a:solidFill>
                <a:srgbClr val="333333"/>
              </a:solidFill>
              <a:latin typeface="Noto Sans SC"/>
              <a:ea typeface="Noto Sans SC"/>
              <a:cs typeface="Noto Sans SC"/>
              <a:sym typeface="Noto Sans SC"/>
            </a:endParaRPr>
          </a:p>
          <a:p>
            <a:pPr indent="0" algn="l">
              <a:lnSpc>
                <a:spcPct val="125000"/>
              </a:lnSpc>
            </a:pPr>
            <a:r>
              <a:rPr lang="en-US" sz="1300" b="0" i="0" u="none" strike="noStrike">
                <a:solidFill>
                  <a:srgbClr val="333333"/>
                </a:solidFill>
                <a:latin typeface="Noto Sans SC"/>
                <a:ea typeface="Noto Sans SC"/>
                <a:cs typeface="Noto Sans SC"/>
                <a:sym typeface="Noto Sans SC"/>
              </a:rPr>
              <a:t>print(result)</a:t>
            </a:r>
            <a:r>
              <a:rPr lang="en-US" sz="1300" b="0" i="0" u="none" strike="noStrike">
                <a:solidFill>
                  <a:srgbClr val="808080"/>
                </a:solidFill>
                <a:latin typeface="Noto Sans SC"/>
                <a:ea typeface="Noto Sans SC"/>
                <a:cs typeface="Noto Sans SC"/>
                <a:sym typeface="Noto Sans SC"/>
              </a:rPr>
              <a:t># 输出: 30</a:t>
            </a:r>
            <a:endParaRPr lang="en-US" sz="1300" b="0" i="0" u="none" strike="noStrike">
              <a:solidFill>
                <a:srgbClr val="808080"/>
              </a:solidFill>
              <a:latin typeface="Noto Sans SC"/>
              <a:ea typeface="Noto Sans SC"/>
              <a:cs typeface="Noto Sans SC"/>
              <a:sym typeface="Noto Sans SC"/>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Python极简知识 - 面向对象</a:t>
            </a:r>
            <a:endParaRPr lang="en-US" sz="1100"/>
          </a:p>
        </p:txBody>
      </p:sp>
      <p:sp>
        <p:nvSpPr>
          <p:cNvPr id="3" name="AutoShape 3"/>
          <p:cNvSpPr/>
          <p:nvPr/>
        </p:nvSpPr>
        <p:spPr>
          <a:xfrm>
            <a:off x="762000" y="1397000"/>
            <a:ext cx="4826000" cy="4699000"/>
          </a:xfrm>
          <a:prstGeom prst="roundRect">
            <a:avLst>
              <a:gd name="adj" fmla="val 2702"/>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651000"/>
            <a:ext cx="304800" cy="304800"/>
          </a:xfrm>
          <a:prstGeom prst="rect">
            <a:avLst/>
          </a:prstGeom>
        </p:spPr>
      </p:pic>
      <p:sp>
        <p:nvSpPr>
          <p:cNvPr id="5" name="AutoShape 5"/>
          <p:cNvSpPr/>
          <p:nvPr/>
        </p:nvSpPr>
        <p:spPr>
          <a:xfrm>
            <a:off x="1397000" y="16256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核心概念与特性</a:t>
            </a:r>
            <a:endParaRPr lang="en-US" sz="1100"/>
          </a:p>
        </p:txBody>
      </p:sp>
      <p:cxnSp>
        <p:nvCxnSpPr>
          <p:cNvPr id="6" name="Connector 6"/>
          <p:cNvCxnSpPr/>
          <p:nvPr/>
        </p:nvCxnSpPr>
        <p:spPr>
          <a:xfrm rot="-10110">
            <a:off x="1016009" y="2025650"/>
            <a:ext cx="4318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pic>
        <p:nvPicPr>
          <p:cNvPr id="7" name="Picture 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2286000"/>
            <a:ext cx="406400" cy="406400"/>
          </a:xfrm>
          <a:prstGeom prst="rect">
            <a:avLst/>
          </a:prstGeom>
        </p:spPr>
      </p:pic>
      <p:sp>
        <p:nvSpPr>
          <p:cNvPr id="8" name="AutoShape 8"/>
          <p:cNvSpPr/>
          <p:nvPr/>
        </p:nvSpPr>
        <p:spPr>
          <a:xfrm>
            <a:off x="1524000" y="2286000"/>
            <a:ext cx="3810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封装 (Encapsulation)</a:t>
            </a:r>
            <a:endParaRPr lang="en-US" sz="1100"/>
          </a:p>
        </p:txBody>
      </p:sp>
      <p:sp>
        <p:nvSpPr>
          <p:cNvPr id="9" name="AutoShape 9"/>
          <p:cNvSpPr/>
          <p:nvPr/>
        </p:nvSpPr>
        <p:spPr>
          <a:xfrm>
            <a:off x="1524000" y="2603500"/>
            <a:ext cx="3810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66666"/>
                </a:solidFill>
                <a:latin typeface="Noto Sans SC"/>
                <a:ea typeface="Noto Sans SC"/>
                <a:cs typeface="Noto Sans SC"/>
                <a:sym typeface="Noto Sans SC"/>
              </a:rPr>
              <a:t>将数据（属性）和操作数据的方法绑定在一起，隐藏内部实现细节。</a:t>
            </a:r>
            <a:endParaRPr lang="en-US" sz="1100"/>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3238500"/>
            <a:ext cx="406400" cy="406400"/>
          </a:xfrm>
          <a:prstGeom prst="rect">
            <a:avLst/>
          </a:prstGeom>
        </p:spPr>
      </p:pic>
      <p:sp>
        <p:nvSpPr>
          <p:cNvPr id="11" name="AutoShape 11"/>
          <p:cNvSpPr/>
          <p:nvPr/>
        </p:nvSpPr>
        <p:spPr>
          <a:xfrm>
            <a:off x="1524000" y="3238500"/>
            <a:ext cx="3810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继承 (Inheritance)</a:t>
            </a:r>
            <a:endParaRPr lang="en-US" sz="1100"/>
          </a:p>
        </p:txBody>
      </p:sp>
      <p:sp>
        <p:nvSpPr>
          <p:cNvPr id="12" name="AutoShape 12"/>
          <p:cNvSpPr/>
          <p:nvPr/>
        </p:nvSpPr>
        <p:spPr>
          <a:xfrm>
            <a:off x="1524000" y="3556000"/>
            <a:ext cx="3810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66666"/>
                </a:solidFill>
                <a:latin typeface="Noto Sans SC"/>
                <a:ea typeface="Noto Sans SC"/>
                <a:cs typeface="Noto Sans SC"/>
                <a:sym typeface="Noto Sans SC"/>
              </a:rPr>
              <a:t>一个类可以继承另一个类的属性和方法，实现代码的复用与扩展。</a:t>
            </a:r>
            <a:endParaRPr lang="en-US" sz="1100"/>
          </a:p>
        </p:txBody>
      </p:sp>
      <p:pic>
        <p:nvPicPr>
          <p:cNvPr id="13" name="Picture 13"/>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4191000"/>
            <a:ext cx="406400" cy="406400"/>
          </a:xfrm>
          <a:prstGeom prst="rect">
            <a:avLst/>
          </a:prstGeom>
        </p:spPr>
      </p:pic>
      <p:sp>
        <p:nvSpPr>
          <p:cNvPr id="14" name="AutoShape 14"/>
          <p:cNvSpPr/>
          <p:nvPr/>
        </p:nvSpPr>
        <p:spPr>
          <a:xfrm>
            <a:off x="1524000" y="4191000"/>
            <a:ext cx="3810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多态 (Polymorphism)</a:t>
            </a:r>
            <a:endParaRPr lang="en-US" sz="1100"/>
          </a:p>
        </p:txBody>
      </p:sp>
      <p:sp>
        <p:nvSpPr>
          <p:cNvPr id="15" name="AutoShape 15"/>
          <p:cNvSpPr/>
          <p:nvPr/>
        </p:nvSpPr>
        <p:spPr>
          <a:xfrm>
            <a:off x="1524000" y="4508500"/>
            <a:ext cx="3810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66666"/>
                </a:solidFill>
                <a:latin typeface="Noto Sans SC"/>
                <a:ea typeface="Noto Sans SC"/>
                <a:cs typeface="Noto Sans SC"/>
                <a:sym typeface="Noto Sans SC"/>
              </a:rPr>
              <a:t>不同对象对同一消息做出不同响应，增加了程序的灵活性和扩展性。</a:t>
            </a:r>
            <a:endParaRPr lang="en-US" sz="1100"/>
          </a:p>
        </p:txBody>
      </p:sp>
      <p:sp>
        <p:nvSpPr>
          <p:cNvPr id="16" name="AutoShape 16"/>
          <p:cNvSpPr/>
          <p:nvPr/>
        </p:nvSpPr>
        <p:spPr>
          <a:xfrm>
            <a:off x="5842000" y="1397000"/>
            <a:ext cx="5588000" cy="4699000"/>
          </a:xfrm>
          <a:prstGeom prst="roundRect">
            <a:avLst>
              <a:gd name="adj" fmla="val 2702"/>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096000" y="1651000"/>
            <a:ext cx="304800" cy="304800"/>
          </a:xfrm>
          <a:prstGeom prst="rect">
            <a:avLst/>
          </a:prstGeom>
        </p:spPr>
      </p:pic>
      <p:sp>
        <p:nvSpPr>
          <p:cNvPr id="18" name="AutoShape 18"/>
          <p:cNvSpPr/>
          <p:nvPr/>
        </p:nvSpPr>
        <p:spPr>
          <a:xfrm>
            <a:off x="6477000" y="1625600"/>
            <a:ext cx="4572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实战示例：二叉树节点类</a:t>
            </a:r>
            <a:endParaRPr lang="en-US" sz="1100"/>
          </a:p>
        </p:txBody>
      </p:sp>
      <p:cxnSp>
        <p:nvCxnSpPr>
          <p:cNvPr id="19" name="Connector 19"/>
          <p:cNvCxnSpPr/>
          <p:nvPr/>
        </p:nvCxnSpPr>
        <p:spPr>
          <a:xfrm rot="-8594">
            <a:off x="6096008" y="2025650"/>
            <a:ext cx="5080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20" name="AutoShape 20"/>
          <p:cNvSpPr/>
          <p:nvPr/>
        </p:nvSpPr>
        <p:spPr>
          <a:xfrm>
            <a:off x="6096000" y="2222500"/>
            <a:ext cx="5080000" cy="3619500"/>
          </a:xfrm>
          <a:prstGeom prst="roundRect">
            <a:avLst>
              <a:gd name="adj" fmla="val 1754"/>
            </a:avLst>
          </a:prstGeom>
          <a:solidFill>
            <a:srgbClr val="F5F7FA">
              <a:alpha val="100000"/>
            </a:srgbClr>
          </a:solidFill>
          <a:ln w="12700" cap="flat" cmpd="sng">
            <a:solidFill>
              <a:srgbClr val="DCE1E6">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6223000" y="2349500"/>
            <a:ext cx="4826000" cy="3365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969696"/>
                </a:solidFill>
                <a:latin typeface="Noto Sans SC"/>
                <a:ea typeface="Noto Sans SC"/>
                <a:cs typeface="Noto Sans SC"/>
                <a:sym typeface="Noto Sans SC"/>
              </a:rPr>
              <a:t># 定义一个二叉树节点类</a:t>
            </a:r>
            <a:endParaRPr lang="en-US" sz="1100"/>
          </a:p>
          <a:p>
            <a:pPr indent="0" algn="l">
              <a:lnSpc>
                <a:spcPct val="125000"/>
              </a:lnSpc>
            </a:pPr>
            <a:r>
              <a:rPr lang="en-US" sz="1200" b="0" i="0" u="none" strike="noStrike">
                <a:solidFill>
                  <a:srgbClr val="003366"/>
                </a:solidFill>
                <a:latin typeface="Noto Sans SC"/>
                <a:ea typeface="Noto Sans SC"/>
                <a:cs typeface="Noto Sans SC"/>
                <a:sym typeface="Noto Sans SC"/>
              </a:rPr>
              <a:t>class</a:t>
            </a:r>
            <a:r>
              <a:rPr lang="en-US" sz="1200" b="0" i="0" u="none" strike="noStrike">
                <a:solidFill>
                  <a:srgbClr val="C83232"/>
                </a:solidFill>
                <a:latin typeface="Noto Sans SC"/>
                <a:ea typeface="Noto Sans SC"/>
                <a:cs typeface="Noto Sans SC"/>
                <a:sym typeface="Noto Sans SC"/>
              </a:rPr>
              <a:t>BinaryTreeNode</a:t>
            </a:r>
            <a:r>
              <a:rPr lang="en-US" sz="1200" b="0" i="0" u="none" strike="noStrike">
                <a:solidFill>
                  <a:srgbClr val="333333"/>
                </a:solidFill>
                <a:latin typeface="Noto Sans SC"/>
                <a:ea typeface="Noto Sans SC"/>
                <a:cs typeface="Noto Sans SC"/>
                <a:sym typeface="Noto Sans SC"/>
              </a:rPr>
              <a:t>:</a:t>
            </a:r>
            <a:endParaRPr lang="en-US" sz="1200" b="0" i="0" u="none" strike="noStrike">
              <a:solidFill>
                <a:srgbClr val="333333"/>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def</a:t>
            </a:r>
            <a:r>
              <a:rPr lang="en-US" sz="1200" b="0" i="0" u="none" strike="noStrike">
                <a:solidFill>
                  <a:srgbClr val="C83232"/>
                </a:solidFill>
                <a:latin typeface="Noto Sans SC"/>
                <a:ea typeface="Noto Sans SC"/>
                <a:cs typeface="Noto Sans SC"/>
                <a:sym typeface="Noto Sans SC"/>
              </a:rPr>
              <a:t>__init__</a:t>
            </a:r>
            <a:r>
              <a:rPr lang="en-US" sz="1200" b="0" i="0" u="none" strike="noStrike">
                <a:solidFill>
                  <a:srgbClr val="333333"/>
                </a:solidFill>
                <a:latin typeface="Noto Sans SC"/>
                <a:ea typeface="Noto Sans SC"/>
                <a:cs typeface="Noto Sans SC"/>
                <a:sym typeface="Noto Sans SC"/>
              </a:rPr>
              <a:t>(self, value, left=None, right=None):</a:t>
            </a:r>
            <a:endParaRPr lang="en-US" sz="1200" b="0" i="0" u="none" strike="noStrike">
              <a:solidFill>
                <a:srgbClr val="333333"/>
              </a:solidFill>
              <a:latin typeface="Noto Sans SC"/>
              <a:ea typeface="Noto Sans SC"/>
              <a:cs typeface="Noto Sans SC"/>
              <a:sym typeface="Noto Sans SC"/>
            </a:endParaRPr>
          </a:p>
          <a:p>
            <a:pPr indent="0" algn="l">
              <a:lnSpc>
                <a:spcPct val="125000"/>
              </a:lnSpc>
            </a:pPr>
            <a:r>
              <a:rPr lang="en-US" sz="1200" b="0" i="0" u="none" strike="noStrike">
                <a:solidFill>
                  <a:srgbClr val="333333"/>
                </a:solidFill>
                <a:latin typeface="Noto Sans SC"/>
                <a:ea typeface="Noto Sans SC"/>
                <a:cs typeface="Noto Sans SC"/>
                <a:sym typeface="Noto Sans SC"/>
              </a:rPr>
              <a:t>self.value = value</a:t>
            </a:r>
            <a:endParaRPr lang="en-US" sz="1200" b="0" i="0" u="none" strike="noStrike">
              <a:solidFill>
                <a:srgbClr val="333333"/>
              </a:solidFill>
              <a:latin typeface="Noto Sans SC"/>
              <a:ea typeface="Noto Sans SC"/>
              <a:cs typeface="Noto Sans SC"/>
              <a:sym typeface="Noto Sans SC"/>
            </a:endParaRPr>
          </a:p>
          <a:p>
            <a:pPr indent="0" algn="l">
              <a:lnSpc>
                <a:spcPct val="125000"/>
              </a:lnSpc>
            </a:pPr>
            <a:r>
              <a:rPr lang="en-US" sz="1200" b="0" i="0" u="none" strike="noStrike">
                <a:solidFill>
                  <a:srgbClr val="333333"/>
                </a:solidFill>
                <a:latin typeface="Noto Sans SC"/>
                <a:ea typeface="Noto Sans SC"/>
                <a:cs typeface="Noto Sans SC"/>
                <a:sym typeface="Noto Sans SC"/>
              </a:rPr>
              <a:t>self.left = left</a:t>
            </a:r>
            <a:endParaRPr lang="en-US" sz="1200" b="0" i="0" u="none" strike="noStrike">
              <a:solidFill>
                <a:srgbClr val="333333"/>
              </a:solidFill>
              <a:latin typeface="Noto Sans SC"/>
              <a:ea typeface="Noto Sans SC"/>
              <a:cs typeface="Noto Sans SC"/>
              <a:sym typeface="Noto Sans SC"/>
            </a:endParaRPr>
          </a:p>
          <a:p>
            <a:pPr indent="0" algn="l">
              <a:lnSpc>
                <a:spcPct val="125000"/>
              </a:lnSpc>
            </a:pPr>
            <a:r>
              <a:rPr lang="en-US" sz="1200" b="0" i="0" u="none" strike="noStrike">
                <a:solidFill>
                  <a:srgbClr val="333333"/>
                </a:solidFill>
                <a:latin typeface="Noto Sans SC"/>
                <a:ea typeface="Noto Sans SC"/>
                <a:cs typeface="Noto Sans SC"/>
                <a:sym typeface="Noto Sans SC"/>
              </a:rPr>
              <a:t>self.right = right</a:t>
            </a:r>
            <a:endParaRPr lang="en-US" sz="1200" b="0" i="0" u="none" strike="noStrike">
              <a:solidFill>
                <a:srgbClr val="333333"/>
              </a:solidFill>
              <a:latin typeface="Noto Sans SC"/>
              <a:ea typeface="Noto Sans SC"/>
              <a:cs typeface="Noto Sans SC"/>
              <a:sym typeface="Noto Sans SC"/>
            </a:endParaRPr>
          </a:p>
          <a:p>
            <a:pPr indent="0" algn="l">
              <a:lnSpc>
                <a:spcPct val="125000"/>
              </a:lnSpc>
            </a:pPr>
          </a:p>
          <a:p>
            <a:pPr indent="0" algn="l">
              <a:lnSpc>
                <a:spcPct val="125000"/>
              </a:lnSpc>
            </a:pPr>
            <a:r>
              <a:rPr lang="en-US" sz="1200" b="0" i="0" u="none" strike="noStrike">
                <a:solidFill>
                  <a:srgbClr val="969696"/>
                </a:solidFill>
                <a:latin typeface="Noto Sans SC"/>
                <a:ea typeface="Noto Sans SC"/>
                <a:cs typeface="Noto Sans SC"/>
                <a:sym typeface="Noto Sans SC"/>
              </a:rPr>
              <a:t># 创建节点对象</a:t>
            </a:r>
            <a:endParaRPr lang="en-US" sz="1200" b="0" i="0" u="none" strike="noStrike">
              <a:solidFill>
                <a:srgbClr val="969696"/>
              </a:solidFill>
              <a:latin typeface="Noto Sans SC"/>
              <a:ea typeface="Noto Sans SC"/>
              <a:cs typeface="Noto Sans SC"/>
              <a:sym typeface="Noto Sans SC"/>
            </a:endParaRPr>
          </a:p>
          <a:p>
            <a:pPr indent="0" algn="l">
              <a:lnSpc>
                <a:spcPct val="125000"/>
              </a:lnSpc>
            </a:pPr>
            <a:r>
              <a:rPr lang="en-US" sz="1200" b="0" i="0" u="none" strike="noStrike">
                <a:solidFill>
                  <a:srgbClr val="333333"/>
                </a:solidFill>
                <a:latin typeface="Noto Sans SC"/>
                <a:ea typeface="Noto Sans SC"/>
                <a:cs typeface="Noto Sans SC"/>
                <a:sym typeface="Noto Sans SC"/>
              </a:rPr>
              <a:t>root = BinaryTreeNode(1)</a:t>
            </a:r>
            <a:endParaRPr lang="en-US" sz="1200" b="0" i="0" u="none" strike="noStrike">
              <a:solidFill>
                <a:srgbClr val="333333"/>
              </a:solidFill>
              <a:latin typeface="Noto Sans SC"/>
              <a:ea typeface="Noto Sans SC"/>
              <a:cs typeface="Noto Sans SC"/>
              <a:sym typeface="Noto Sans SC"/>
            </a:endParaRPr>
          </a:p>
          <a:p>
            <a:pPr indent="0" algn="l">
              <a:lnSpc>
                <a:spcPct val="125000"/>
              </a:lnSpc>
            </a:pPr>
            <a:r>
              <a:rPr lang="en-US" sz="1200" b="0" i="0" u="none" strike="noStrike">
                <a:solidFill>
                  <a:srgbClr val="333333"/>
                </a:solidFill>
                <a:latin typeface="Noto Sans SC"/>
                <a:ea typeface="Noto Sans SC"/>
                <a:cs typeface="Noto Sans SC"/>
                <a:sym typeface="Noto Sans SC"/>
              </a:rPr>
              <a:t>root.left = BinaryTreeNode(2)</a:t>
            </a:r>
            <a:endParaRPr lang="en-US" sz="1200" b="0" i="0" u="none" strike="noStrike">
              <a:solidFill>
                <a:srgbClr val="333333"/>
              </a:solidFill>
              <a:latin typeface="Noto Sans SC"/>
              <a:ea typeface="Noto Sans SC"/>
              <a:cs typeface="Noto Sans SC"/>
              <a:sym typeface="Noto Sans SC"/>
            </a:endParaRPr>
          </a:p>
          <a:p>
            <a:pPr indent="0" algn="l">
              <a:lnSpc>
                <a:spcPct val="125000"/>
              </a:lnSpc>
            </a:pPr>
            <a:r>
              <a:rPr lang="en-US" sz="1200" b="0" i="0" u="none" strike="noStrike">
                <a:solidFill>
                  <a:srgbClr val="333333"/>
                </a:solidFill>
                <a:latin typeface="Noto Sans SC"/>
                <a:ea typeface="Noto Sans SC"/>
                <a:cs typeface="Noto Sans SC"/>
                <a:sym typeface="Noto Sans SC"/>
              </a:rPr>
              <a:t>root.right = BinaryTreeNode(3)</a:t>
            </a:r>
            <a:endParaRPr lang="en-US" sz="1200" b="0" i="0" u="none" strike="noStrike">
              <a:solidFill>
                <a:srgbClr val="333333"/>
              </a:solidFill>
              <a:latin typeface="Noto Sans SC"/>
              <a:ea typeface="Noto Sans SC"/>
              <a:cs typeface="Noto Sans SC"/>
              <a:sym typeface="Noto Sans SC"/>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大语言模型开发常用库 - requests</a:t>
            </a:r>
            <a:endParaRPr lang="en-US" sz="1100"/>
          </a:p>
        </p:txBody>
      </p:sp>
      <p:sp>
        <p:nvSpPr>
          <p:cNvPr id="3" name="AutoShape 3"/>
          <p:cNvSpPr/>
          <p:nvPr/>
        </p:nvSpPr>
        <p:spPr>
          <a:xfrm>
            <a:off x="762000" y="1524000"/>
            <a:ext cx="3810000" cy="4572000"/>
          </a:xfrm>
          <a:prstGeom prst="roundRect">
            <a:avLst>
              <a:gd name="adj" fmla="val 3333"/>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78000"/>
            <a:ext cx="406400" cy="406400"/>
          </a:xfrm>
          <a:prstGeom prst="rect">
            <a:avLst/>
          </a:prstGeom>
        </p:spPr>
      </p:pic>
      <p:sp>
        <p:nvSpPr>
          <p:cNvPr id="5" name="AutoShape 5"/>
          <p:cNvSpPr/>
          <p:nvPr/>
        </p:nvSpPr>
        <p:spPr>
          <a:xfrm>
            <a:off x="1524000" y="1778000"/>
            <a:ext cx="2794000" cy="4064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核心功能概述</a:t>
            </a:r>
            <a:endParaRPr lang="en-US" sz="1100"/>
          </a:p>
        </p:txBody>
      </p:sp>
      <p:cxnSp>
        <p:nvCxnSpPr>
          <p:cNvPr id="6" name="Connector 6"/>
          <p:cNvCxnSpPr/>
          <p:nvPr/>
        </p:nvCxnSpPr>
        <p:spPr>
          <a:xfrm rot="-13222">
            <a:off x="1016012" y="2279650"/>
            <a:ext cx="3302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7" name="AutoShape 7"/>
          <p:cNvSpPr/>
          <p:nvPr/>
        </p:nvSpPr>
        <p:spPr>
          <a:xfrm>
            <a:off x="1016000" y="2413000"/>
            <a:ext cx="3302000" cy="3302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333333"/>
              </a:buClr>
              <a:buChar char="•"/>
              <a:defRPr/>
            </a:pPr>
            <a:r>
              <a:rPr lang="en-US" sz="1400" b="1" i="0" u="none" strike="noStrike">
                <a:solidFill>
                  <a:srgbClr val="333333"/>
                </a:solidFill>
                <a:latin typeface="Noto Sans SC"/>
                <a:ea typeface="Noto Sans SC"/>
                <a:cs typeface="Noto Sans SC"/>
                <a:sym typeface="Noto Sans SC"/>
              </a:rPr>
              <a:t>HTTP 请求利器</a:t>
            </a:r>
            <a:br>
              <a:rPr lang="en-US" sz="1600" b="0" i="0" u="none" strike="noStrike">
                <a:solidFill>
                  <a:srgbClr val="1F2329"/>
                </a:solidFill>
                <a:latin typeface="Noto Sans SC"/>
                <a:ea typeface="Noto Sans SC"/>
                <a:cs typeface="Noto Sans SC"/>
                <a:sym typeface="Noto Sans SC"/>
              </a:rPr>
            </a:br>
            <a:r>
              <a:rPr lang="en-US" sz="1200" b="0" i="0" u="none" strike="noStrike">
                <a:solidFill>
                  <a:srgbClr val="666666"/>
                </a:solidFill>
                <a:latin typeface="Noto Sans SC"/>
                <a:ea typeface="Noto Sans SC"/>
                <a:cs typeface="Noto Sans SC"/>
                <a:sym typeface="Noto Sans SC"/>
              </a:rPr>
              <a:t>发送各种HTTP请求（GET/POST），是与Web服务交互的必备工具。</a:t>
            </a:r>
            <a:endParaRPr lang="en-US" sz="1100"/>
          </a:p>
          <a:p>
            <a:pPr marL="177800" indent="-177800" algn="l">
              <a:lnSpc>
                <a:spcPct val="125000"/>
              </a:lnSpc>
              <a:buClr>
                <a:srgbClr val="333333"/>
              </a:buClr>
              <a:buChar char="•"/>
            </a:pPr>
            <a:r>
              <a:rPr lang="en-US" sz="1400" b="1" i="0" u="none" strike="noStrike">
                <a:solidFill>
                  <a:srgbClr val="333333"/>
                </a:solidFill>
                <a:latin typeface="Noto Sans SC"/>
                <a:ea typeface="Noto Sans SC"/>
                <a:cs typeface="Noto Sans SC"/>
                <a:sym typeface="Noto Sans SC"/>
              </a:rPr>
              <a:t>简洁易用的API</a:t>
            </a:r>
            <a:br>
              <a:rPr lang="en-US" sz="1600" b="0" i="0" u="none" strike="noStrike">
                <a:solidFill>
                  <a:srgbClr val="1F2329"/>
                </a:solidFill>
                <a:latin typeface="Noto Sans SC"/>
                <a:ea typeface="Noto Sans SC"/>
                <a:cs typeface="Noto Sans SC"/>
                <a:sym typeface="Noto Sans SC"/>
              </a:rPr>
            </a:br>
            <a:r>
              <a:rPr lang="en-US" sz="1200" b="0" i="0" u="none" strike="noStrike">
                <a:solidFill>
                  <a:srgbClr val="666666"/>
                </a:solidFill>
                <a:latin typeface="Noto Sans SC"/>
                <a:ea typeface="Noto Sans SC"/>
                <a:cs typeface="Noto Sans SC"/>
                <a:sym typeface="Noto Sans SC"/>
              </a:rPr>
              <a:t>相比标准库urllib，语法更直观，处理响应更方便。</a:t>
            </a:r>
            <a:endParaRPr lang="en-US" sz="1200" b="0" i="0" u="none" strike="noStrike">
              <a:solidFill>
                <a:srgbClr val="666666"/>
              </a:solidFill>
              <a:latin typeface="Noto Sans SC"/>
              <a:ea typeface="Noto Sans SC"/>
              <a:cs typeface="Noto Sans SC"/>
              <a:sym typeface="Noto Sans SC"/>
            </a:endParaRPr>
          </a:p>
          <a:p>
            <a:pPr marL="177800" indent="-177800" algn="l">
              <a:lnSpc>
                <a:spcPct val="125000"/>
              </a:lnSpc>
              <a:buClr>
                <a:srgbClr val="333333"/>
              </a:buClr>
              <a:buChar char="•"/>
            </a:pPr>
            <a:r>
              <a:rPr lang="en-US" sz="1400" b="1" i="0" u="none" strike="noStrike">
                <a:solidFill>
                  <a:srgbClr val="333333"/>
                </a:solidFill>
                <a:latin typeface="Noto Sans SC"/>
                <a:ea typeface="Noto Sans SC"/>
                <a:cs typeface="Noto Sans SC"/>
                <a:sym typeface="Noto Sans SC"/>
              </a:rPr>
              <a:t>LLM开发场景</a:t>
            </a:r>
            <a:br>
              <a:rPr lang="en-US" sz="1600" b="0" i="0" u="none" strike="noStrike">
                <a:solidFill>
                  <a:srgbClr val="1F2329"/>
                </a:solidFill>
                <a:latin typeface="Noto Sans SC"/>
                <a:ea typeface="Noto Sans SC"/>
                <a:cs typeface="Noto Sans SC"/>
                <a:sym typeface="Noto Sans SC"/>
              </a:rPr>
            </a:br>
            <a:r>
              <a:rPr lang="en-US" sz="1200" b="0" i="0" u="none" strike="noStrike">
                <a:solidFill>
                  <a:srgbClr val="666666"/>
                </a:solidFill>
                <a:latin typeface="Noto Sans SC"/>
                <a:ea typeface="Noto Sans SC"/>
                <a:cs typeface="Noto Sans SC"/>
                <a:sym typeface="Noto Sans SC"/>
              </a:rPr>
              <a:t>常用于调用外部API接口、获取模型推理结果等。</a:t>
            </a:r>
            <a:endParaRPr lang="en-US" sz="1200" b="0" i="0" u="none" strike="noStrike">
              <a:solidFill>
                <a:srgbClr val="666666"/>
              </a:solidFill>
              <a:latin typeface="Noto Sans SC"/>
              <a:ea typeface="Noto Sans SC"/>
              <a:cs typeface="Noto Sans SC"/>
              <a:sym typeface="Noto Sans SC"/>
            </a:endParaRPr>
          </a:p>
        </p:txBody>
      </p:sp>
      <p:sp>
        <p:nvSpPr>
          <p:cNvPr id="8" name="AutoShape 8"/>
          <p:cNvSpPr/>
          <p:nvPr/>
        </p:nvSpPr>
        <p:spPr>
          <a:xfrm>
            <a:off x="4826000" y="1524000"/>
            <a:ext cx="6604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080000" y="1778000"/>
            <a:ext cx="406400" cy="406400"/>
          </a:xfrm>
          <a:prstGeom prst="rect">
            <a:avLst/>
          </a:prstGeom>
        </p:spPr>
      </p:pic>
      <p:sp>
        <p:nvSpPr>
          <p:cNvPr id="10" name="AutoShape 10"/>
          <p:cNvSpPr/>
          <p:nvPr/>
        </p:nvSpPr>
        <p:spPr>
          <a:xfrm>
            <a:off x="5588000" y="1778000"/>
            <a:ext cx="5588000" cy="4064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代码示例：发送请求与处理响应</a:t>
            </a:r>
            <a:endParaRPr lang="en-US" sz="1100"/>
          </a:p>
        </p:txBody>
      </p:sp>
      <p:cxnSp>
        <p:nvCxnSpPr>
          <p:cNvPr id="11" name="Connector 11"/>
          <p:cNvCxnSpPr/>
          <p:nvPr/>
        </p:nvCxnSpPr>
        <p:spPr>
          <a:xfrm rot="-7161">
            <a:off x="5080007" y="2279650"/>
            <a:ext cx="6096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2" name="AutoShape 12"/>
          <p:cNvSpPr/>
          <p:nvPr/>
        </p:nvSpPr>
        <p:spPr>
          <a:xfrm>
            <a:off x="5080000" y="2476500"/>
            <a:ext cx="6096000" cy="3429000"/>
          </a:xfrm>
          <a:prstGeom prst="roundRect">
            <a:avLst>
              <a:gd name="adj" fmla="val 1851"/>
            </a:avLst>
          </a:prstGeom>
          <a:solidFill>
            <a:srgbClr val="F8F9FA">
              <a:alpha val="100000"/>
            </a:srgbClr>
          </a:solidFill>
          <a:ln w="12700" cap="flat" cmpd="sng">
            <a:solidFill>
              <a:srgbClr val="DCDCDC">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5207000" y="2603500"/>
            <a:ext cx="5842000" cy="317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C678DD"/>
                </a:solidFill>
                <a:latin typeface="Noto Sans SC"/>
                <a:ea typeface="Noto Sans SC"/>
                <a:cs typeface="Noto Sans SC"/>
                <a:sym typeface="Noto Sans SC"/>
              </a:rPr>
              <a:t>import</a:t>
            </a:r>
            <a:r>
              <a:rPr lang="en-US" sz="1300" b="0" i="0" u="none" strike="noStrike">
                <a:solidFill>
                  <a:srgbClr val="333333"/>
                </a:solidFill>
                <a:latin typeface="Noto Sans SC"/>
                <a:ea typeface="Noto Sans SC"/>
                <a:cs typeface="Noto Sans SC"/>
                <a:sym typeface="Noto Sans SC"/>
              </a:rPr>
              <a:t>requests</a:t>
            </a:r>
            <a:endParaRPr lang="en-US" sz="1100"/>
          </a:p>
          <a:p>
            <a:pPr indent="0" algn="l">
              <a:lnSpc>
                <a:spcPct val="125000"/>
              </a:lnSpc>
            </a:pPr>
            <a:r>
              <a:rPr lang="en-US" sz="1300" b="0" i="0" u="none" strike="noStrike">
                <a:solidFill>
                  <a:srgbClr val="98C379"/>
                </a:solidFill>
                <a:latin typeface="Noto Sans SC"/>
                <a:ea typeface="Noto Sans SC"/>
                <a:cs typeface="Noto Sans SC"/>
                <a:sym typeface="Noto Sans SC"/>
              </a:rPr>
              <a:t># 发送GET请求</a:t>
            </a:r>
            <a:endParaRPr lang="en-US" sz="1300" b="0" i="0" u="none" strike="noStrike">
              <a:solidFill>
                <a:srgbClr val="98C379"/>
              </a:solidFill>
              <a:latin typeface="Noto Sans SC"/>
              <a:ea typeface="Noto Sans SC"/>
              <a:cs typeface="Noto Sans SC"/>
              <a:sym typeface="Noto Sans SC"/>
            </a:endParaRPr>
          </a:p>
          <a:p>
            <a:pPr indent="0" algn="l">
              <a:lnSpc>
                <a:spcPct val="125000"/>
              </a:lnSpc>
            </a:pPr>
            <a:r>
              <a:rPr lang="en-US" sz="1300" b="0" i="0" u="none" strike="noStrike">
                <a:solidFill>
                  <a:srgbClr val="333333"/>
                </a:solidFill>
                <a:latin typeface="Noto Sans SC"/>
                <a:ea typeface="Noto Sans SC"/>
                <a:cs typeface="Noto Sans SC"/>
                <a:sym typeface="Noto Sans SC"/>
              </a:rPr>
              <a:t>response = requests.get(</a:t>
            </a:r>
            <a:r>
              <a:rPr lang="en-US" sz="1300" b="0" i="0" u="none" strike="noStrike">
                <a:solidFill>
                  <a:srgbClr val="98C379"/>
                </a:solidFill>
                <a:latin typeface="Noto Sans SC"/>
                <a:ea typeface="Noto Sans SC"/>
                <a:cs typeface="Noto Sans SC"/>
                <a:sym typeface="Noto Sans SC"/>
              </a:rPr>
              <a:t>'https://www.baidu.com/'</a:t>
            </a:r>
            <a:r>
              <a:rPr lang="en-US" sz="1300" b="0" i="0" u="none" strike="noStrike">
                <a:solidFill>
                  <a:srgbClr val="333333"/>
                </a:solidFill>
                <a:latin typeface="Noto Sans SC"/>
                <a:ea typeface="Noto Sans SC"/>
                <a:cs typeface="Noto Sans SC"/>
                <a:sym typeface="Noto Sans SC"/>
              </a:rPr>
              <a:t>, timeout=3)</a:t>
            </a:r>
            <a:endParaRPr lang="en-US" sz="1300" b="0" i="0" u="none" strike="noStrike">
              <a:solidFill>
                <a:srgbClr val="333333"/>
              </a:solidFill>
              <a:latin typeface="Noto Sans SC"/>
              <a:ea typeface="Noto Sans SC"/>
              <a:cs typeface="Noto Sans SC"/>
              <a:sym typeface="Noto Sans SC"/>
            </a:endParaRPr>
          </a:p>
          <a:p>
            <a:pPr indent="0" algn="l">
              <a:lnSpc>
                <a:spcPct val="125000"/>
              </a:lnSpc>
            </a:pPr>
            <a:r>
              <a:rPr lang="en-US" sz="1300" b="0" i="0" u="none" strike="noStrike">
                <a:solidFill>
                  <a:srgbClr val="333333"/>
                </a:solidFill>
                <a:latin typeface="Noto Sans SC"/>
                <a:ea typeface="Noto Sans SC"/>
                <a:cs typeface="Noto Sans SC"/>
                <a:sym typeface="Noto Sans SC"/>
              </a:rPr>
              <a:t>print(</a:t>
            </a:r>
            <a:r>
              <a:rPr lang="en-US" sz="1300" b="0" i="0" u="none" strike="noStrike">
                <a:solidFill>
                  <a:srgbClr val="98C379"/>
                </a:solidFill>
                <a:latin typeface="Noto Sans SC"/>
                <a:ea typeface="Noto Sans SC"/>
                <a:cs typeface="Noto Sans SC"/>
                <a:sym typeface="Noto Sans SC"/>
              </a:rPr>
              <a:t>"状态码:"</a:t>
            </a:r>
            <a:r>
              <a:rPr lang="en-US" sz="1300" b="0" i="0" u="none" strike="noStrike">
                <a:solidFill>
                  <a:srgbClr val="333333"/>
                </a:solidFill>
                <a:latin typeface="Noto Sans SC"/>
                <a:ea typeface="Noto Sans SC"/>
                <a:cs typeface="Noto Sans SC"/>
                <a:sym typeface="Noto Sans SC"/>
              </a:rPr>
              <a:t>, response.status_code)</a:t>
            </a:r>
            <a:endParaRPr lang="en-US" sz="1300" b="0" i="0" u="none" strike="noStrike">
              <a:solidFill>
                <a:srgbClr val="333333"/>
              </a:solidFill>
              <a:latin typeface="Noto Sans SC"/>
              <a:ea typeface="Noto Sans SC"/>
              <a:cs typeface="Noto Sans SC"/>
              <a:sym typeface="Noto Sans SC"/>
            </a:endParaRPr>
          </a:p>
          <a:p>
            <a:pPr indent="0" algn="l">
              <a:lnSpc>
                <a:spcPct val="125000"/>
              </a:lnSpc>
            </a:pPr>
          </a:p>
          <a:p>
            <a:pPr indent="0" algn="l">
              <a:lnSpc>
                <a:spcPct val="125000"/>
              </a:lnSpc>
            </a:pPr>
            <a:r>
              <a:rPr lang="en-US" sz="1300" b="0" i="0" u="none" strike="noStrike">
                <a:solidFill>
                  <a:srgbClr val="98C379"/>
                </a:solidFill>
                <a:latin typeface="Noto Sans SC"/>
                <a:ea typeface="Noto Sans SC"/>
                <a:cs typeface="Noto Sans SC"/>
                <a:sym typeface="Noto Sans SC"/>
              </a:rPr>
              <a:t># 发送POST请求 (模拟LLM交互)</a:t>
            </a:r>
            <a:endParaRPr lang="en-US" sz="1300" b="0" i="0" u="none" strike="noStrike">
              <a:solidFill>
                <a:srgbClr val="98C379"/>
              </a:solidFill>
              <a:latin typeface="Noto Sans SC"/>
              <a:ea typeface="Noto Sans SC"/>
              <a:cs typeface="Noto Sans SC"/>
              <a:sym typeface="Noto Sans SC"/>
            </a:endParaRPr>
          </a:p>
          <a:p>
            <a:pPr indent="0" algn="l">
              <a:lnSpc>
                <a:spcPct val="125000"/>
              </a:lnSpc>
            </a:pPr>
            <a:r>
              <a:rPr lang="en-US" sz="1300" b="0" i="0" u="none" strike="noStrike">
                <a:solidFill>
                  <a:srgbClr val="333333"/>
                </a:solidFill>
                <a:latin typeface="Noto Sans SC"/>
                <a:ea typeface="Noto Sans SC"/>
                <a:cs typeface="Noto Sans SC"/>
                <a:sym typeface="Noto Sans SC"/>
              </a:rPr>
              <a:t>data = {</a:t>
            </a:r>
            <a:r>
              <a:rPr lang="en-US" sz="1300" b="0" i="0" u="none" strike="noStrike">
                <a:solidFill>
                  <a:srgbClr val="98C379"/>
                </a:solidFill>
                <a:latin typeface="Noto Sans SC"/>
                <a:ea typeface="Noto Sans SC"/>
                <a:cs typeface="Noto Sans SC"/>
                <a:sym typeface="Noto Sans SC"/>
              </a:rPr>
              <a:t>'prompt'</a:t>
            </a:r>
            <a:r>
              <a:rPr lang="en-US" sz="1300" b="0" i="0" u="none" strike="noStrike">
                <a:solidFill>
                  <a:srgbClr val="333333"/>
                </a:solidFill>
                <a:latin typeface="Noto Sans SC"/>
                <a:ea typeface="Noto Sans SC"/>
                <a:cs typeface="Noto Sans SC"/>
                <a:sym typeface="Noto Sans SC"/>
              </a:rPr>
              <a:t>:</a:t>
            </a:r>
            <a:r>
              <a:rPr lang="en-US" sz="1300" b="0" i="0" u="none" strike="noStrike">
                <a:solidFill>
                  <a:srgbClr val="98C379"/>
                </a:solidFill>
                <a:latin typeface="Noto Sans SC"/>
                <a:ea typeface="Noto Sans SC"/>
                <a:cs typeface="Noto Sans SC"/>
                <a:sym typeface="Noto Sans SC"/>
              </a:rPr>
              <a:t>'请告诉我中国的首都在哪儿？'</a:t>
            </a:r>
            <a:r>
              <a:rPr lang="en-US" sz="1300" b="0" i="0" u="none" strike="noStrike">
                <a:solidFill>
                  <a:srgbClr val="333333"/>
                </a:solidFill>
                <a:latin typeface="Noto Sans SC"/>
                <a:ea typeface="Noto Sans SC"/>
                <a:cs typeface="Noto Sans SC"/>
                <a:sym typeface="Noto Sans SC"/>
              </a:rPr>
              <a:t>}</a:t>
            </a:r>
            <a:endParaRPr lang="en-US" sz="1300" b="0" i="0" u="none" strike="noStrike">
              <a:solidFill>
                <a:srgbClr val="333333"/>
              </a:solidFill>
              <a:latin typeface="Noto Sans SC"/>
              <a:ea typeface="Noto Sans SC"/>
              <a:cs typeface="Noto Sans SC"/>
              <a:sym typeface="Noto Sans SC"/>
            </a:endParaRPr>
          </a:p>
          <a:p>
            <a:pPr indent="0" algn="l">
              <a:lnSpc>
                <a:spcPct val="125000"/>
              </a:lnSpc>
            </a:pPr>
            <a:r>
              <a:rPr lang="en-US" sz="1300" b="0" i="0" u="none" strike="noStrike">
                <a:solidFill>
                  <a:srgbClr val="333333"/>
                </a:solidFill>
                <a:latin typeface="Noto Sans SC"/>
                <a:ea typeface="Noto Sans SC"/>
                <a:cs typeface="Noto Sans SC"/>
                <a:sym typeface="Noto Sans SC"/>
              </a:rPr>
              <a:t>response = requests.post(</a:t>
            </a:r>
            <a:r>
              <a:rPr lang="en-US" sz="1300" b="0" i="0" u="none" strike="noStrike">
                <a:solidFill>
                  <a:srgbClr val="98C379"/>
                </a:solidFill>
                <a:latin typeface="Noto Sans SC"/>
                <a:ea typeface="Noto Sans SC"/>
                <a:cs typeface="Noto Sans SC"/>
                <a:sym typeface="Noto Sans SC"/>
              </a:rPr>
              <a:t>'http://localhost:8088/chat'</a:t>
            </a:r>
            <a:r>
              <a:rPr lang="en-US" sz="1300" b="0" i="0" u="none" strike="noStrike">
                <a:solidFill>
                  <a:srgbClr val="333333"/>
                </a:solidFill>
                <a:latin typeface="Noto Sans SC"/>
                <a:ea typeface="Noto Sans SC"/>
                <a:cs typeface="Noto Sans SC"/>
                <a:sym typeface="Noto Sans SC"/>
              </a:rPr>
              <a:t>, json=data)</a:t>
            </a:r>
            <a:endParaRPr lang="en-US" sz="1300" b="0" i="0" u="none" strike="noStrike">
              <a:solidFill>
                <a:srgbClr val="333333"/>
              </a:solidFill>
              <a:latin typeface="Noto Sans SC"/>
              <a:ea typeface="Noto Sans SC"/>
              <a:cs typeface="Noto Sans SC"/>
              <a:sym typeface="Noto Sans SC"/>
            </a:endParaRPr>
          </a:p>
          <a:p>
            <a:pPr indent="0" algn="l">
              <a:lnSpc>
                <a:spcPct val="125000"/>
              </a:lnSpc>
            </a:pPr>
            <a:r>
              <a:rPr lang="en-US" sz="1300" b="0" i="0" u="none" strike="noStrike">
                <a:solidFill>
                  <a:srgbClr val="333333"/>
                </a:solidFill>
                <a:latin typeface="Noto Sans SC"/>
                <a:ea typeface="Noto Sans SC"/>
                <a:cs typeface="Noto Sans SC"/>
                <a:sym typeface="Noto Sans SC"/>
              </a:rPr>
              <a:t>print(</a:t>
            </a:r>
            <a:r>
              <a:rPr lang="en-US" sz="1300" b="0" i="0" u="none" strike="noStrike">
                <a:solidFill>
                  <a:srgbClr val="98C379"/>
                </a:solidFill>
                <a:latin typeface="Noto Sans SC"/>
                <a:ea typeface="Noto Sans SC"/>
                <a:cs typeface="Noto Sans SC"/>
                <a:sym typeface="Noto Sans SC"/>
              </a:rPr>
              <a:t>"响应内容:"</a:t>
            </a:r>
            <a:r>
              <a:rPr lang="en-US" sz="1300" b="0" i="0" u="none" strike="noStrike">
                <a:solidFill>
                  <a:srgbClr val="333333"/>
                </a:solidFill>
                <a:latin typeface="Noto Sans SC"/>
                <a:ea typeface="Noto Sans SC"/>
                <a:cs typeface="Noto Sans SC"/>
                <a:sym typeface="Noto Sans SC"/>
              </a:rPr>
              <a:t>, response.text)</a:t>
            </a:r>
            <a:endParaRPr lang="en-US" sz="1300" b="0" i="0" u="none" strike="noStrike">
              <a:solidFill>
                <a:srgbClr val="333333"/>
              </a:solidFill>
              <a:latin typeface="Noto Sans SC"/>
              <a:ea typeface="Noto Sans SC"/>
              <a:cs typeface="Noto Sans SC"/>
              <a:sym typeface="Noto Sans SC"/>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大语言模型开发常用库 - Flask</a:t>
            </a:r>
            <a:endParaRPr lang="en-US" sz="1100"/>
          </a:p>
        </p:txBody>
      </p:sp>
      <p:sp>
        <p:nvSpPr>
          <p:cNvPr id="3" name="AutoShape 3"/>
          <p:cNvSpPr/>
          <p:nvPr/>
        </p:nvSpPr>
        <p:spPr>
          <a:xfrm>
            <a:off x="762000" y="1524000"/>
            <a:ext cx="4318000" cy="4572000"/>
          </a:xfrm>
          <a:prstGeom prst="roundRect">
            <a:avLst>
              <a:gd name="adj" fmla="val 294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78000"/>
            <a:ext cx="304800" cy="304800"/>
          </a:xfrm>
          <a:prstGeom prst="rect">
            <a:avLst/>
          </a:prstGeom>
        </p:spPr>
      </p:pic>
      <p:sp>
        <p:nvSpPr>
          <p:cNvPr id="5" name="AutoShape 5"/>
          <p:cNvSpPr/>
          <p:nvPr/>
        </p:nvSpPr>
        <p:spPr>
          <a:xfrm>
            <a:off x="1397000" y="1752600"/>
            <a:ext cx="3429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核心特性与应用</a:t>
            </a:r>
            <a:endParaRPr lang="en-US" sz="1100"/>
          </a:p>
        </p:txBody>
      </p:sp>
      <p:cxnSp>
        <p:nvCxnSpPr>
          <p:cNvPr id="6" name="Connector 6"/>
          <p:cNvCxnSpPr/>
          <p:nvPr/>
        </p:nvCxnSpPr>
        <p:spPr>
          <a:xfrm rot="-11459">
            <a:off x="1016011" y="2152650"/>
            <a:ext cx="3810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7" name="AutoShape 7"/>
          <p:cNvSpPr/>
          <p:nvPr/>
        </p:nvSpPr>
        <p:spPr>
          <a:xfrm>
            <a:off x="1016000" y="2286000"/>
            <a:ext cx="3810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Flask 是一个轻量级的 Web 应用框架，因其简洁灵活的特性，成为将大语言模型（LLM）快速部署为 API 服务的首选工具。</a:t>
            </a:r>
            <a:endParaRPr lang="en-US" sz="1100"/>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3683000"/>
            <a:ext cx="254000" cy="254000"/>
          </a:xfrm>
          <a:prstGeom prst="rect">
            <a:avLst/>
          </a:prstGeom>
        </p:spPr>
      </p:pic>
      <p:sp>
        <p:nvSpPr>
          <p:cNvPr id="9" name="AutoShape 9"/>
          <p:cNvSpPr/>
          <p:nvPr/>
        </p:nvSpPr>
        <p:spPr>
          <a:xfrm>
            <a:off x="1397000" y="3657600"/>
            <a:ext cx="3429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003366"/>
                </a:solidFill>
                <a:latin typeface="Noto Sans SC"/>
                <a:ea typeface="Noto Sans SC"/>
                <a:cs typeface="Noto Sans SC"/>
                <a:sym typeface="Noto Sans SC"/>
              </a:rPr>
              <a:t>快速构建 API</a:t>
            </a:r>
            <a:endParaRPr lang="en-US" sz="1100"/>
          </a:p>
          <a:p>
            <a:pPr indent="0" algn="l">
              <a:lnSpc>
                <a:spcPct val="125000"/>
              </a:lnSpc>
            </a:pPr>
            <a:r>
              <a:rPr lang="en-US" sz="1200" b="0" i="0" u="none" strike="noStrike">
                <a:solidFill>
                  <a:srgbClr val="666666"/>
                </a:solidFill>
                <a:latin typeface="Noto Sans SC"/>
                <a:ea typeface="Noto Sans SC"/>
                <a:cs typeface="Noto Sans SC"/>
                <a:sym typeface="Noto Sans SC"/>
              </a:rPr>
              <a:t>几行代码即可创建 HTTP 接口，适配模型推理需求。</a:t>
            </a:r>
            <a:endParaRPr lang="en-US" sz="1200" b="0" i="0" u="none" strike="noStrike">
              <a:solidFill>
                <a:srgbClr val="666666"/>
              </a:solidFill>
              <a:latin typeface="Noto Sans SC"/>
              <a:ea typeface="Noto Sans SC"/>
              <a:cs typeface="Noto Sans SC"/>
              <a:sym typeface="Noto Sans SC"/>
            </a:endParaRPr>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4318000"/>
            <a:ext cx="254000" cy="254000"/>
          </a:xfrm>
          <a:prstGeom prst="rect">
            <a:avLst/>
          </a:prstGeom>
        </p:spPr>
      </p:pic>
      <p:sp>
        <p:nvSpPr>
          <p:cNvPr id="11" name="AutoShape 11"/>
          <p:cNvSpPr/>
          <p:nvPr/>
        </p:nvSpPr>
        <p:spPr>
          <a:xfrm>
            <a:off x="1397000" y="4292600"/>
            <a:ext cx="3429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003366"/>
                </a:solidFill>
                <a:latin typeface="Noto Sans SC"/>
                <a:ea typeface="Noto Sans SC"/>
                <a:cs typeface="Noto Sans SC"/>
                <a:sym typeface="Noto Sans SC"/>
              </a:rPr>
              <a:t>灵活部署</a:t>
            </a:r>
            <a:endParaRPr lang="en-US" sz="1100"/>
          </a:p>
          <a:p>
            <a:pPr indent="0" algn="l">
              <a:lnSpc>
                <a:spcPct val="125000"/>
              </a:lnSpc>
            </a:pPr>
            <a:r>
              <a:rPr lang="en-US" sz="1200" b="0" i="0" u="none" strike="noStrike">
                <a:solidFill>
                  <a:srgbClr val="666666"/>
                </a:solidFill>
                <a:latin typeface="Noto Sans SC"/>
                <a:ea typeface="Noto Sans SC"/>
                <a:cs typeface="Noto Sans SC"/>
                <a:sym typeface="Noto Sans SC"/>
              </a:rPr>
              <a:t>支持多线程与异步处理，易于集成到现有系统。</a:t>
            </a:r>
            <a:endParaRPr lang="en-US" sz="1200" b="0" i="0" u="none" strike="noStrike">
              <a:solidFill>
                <a:srgbClr val="666666"/>
              </a:solidFill>
              <a:latin typeface="Noto Sans SC"/>
              <a:ea typeface="Noto Sans SC"/>
              <a:cs typeface="Noto Sans SC"/>
              <a:sym typeface="Noto Sans SC"/>
            </a:endParaRPr>
          </a:p>
        </p:txBody>
      </p:sp>
      <p:pic>
        <p:nvPicPr>
          <p:cNvPr id="12" name="Picture 12"/>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4953000"/>
            <a:ext cx="254000" cy="254000"/>
          </a:xfrm>
          <a:prstGeom prst="rect">
            <a:avLst/>
          </a:prstGeom>
        </p:spPr>
      </p:pic>
      <p:sp>
        <p:nvSpPr>
          <p:cNvPr id="13" name="AutoShape 13"/>
          <p:cNvSpPr/>
          <p:nvPr/>
        </p:nvSpPr>
        <p:spPr>
          <a:xfrm>
            <a:off x="1397000" y="4927600"/>
            <a:ext cx="3429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003366"/>
                </a:solidFill>
                <a:latin typeface="Noto Sans SC"/>
                <a:ea typeface="Noto Sans SC"/>
                <a:cs typeface="Noto Sans SC"/>
                <a:sym typeface="Noto Sans SC"/>
              </a:rPr>
              <a:t>易于扩展</a:t>
            </a:r>
            <a:endParaRPr lang="en-US" sz="1100"/>
          </a:p>
          <a:p>
            <a:pPr indent="0" algn="l">
              <a:lnSpc>
                <a:spcPct val="125000"/>
              </a:lnSpc>
            </a:pPr>
            <a:r>
              <a:rPr lang="en-US" sz="1200" b="0" i="0" u="none" strike="noStrike">
                <a:solidFill>
                  <a:srgbClr val="666666"/>
                </a:solidFill>
                <a:latin typeface="Noto Sans SC"/>
                <a:ea typeface="Noto Sans SC"/>
                <a:cs typeface="Noto Sans SC"/>
                <a:sym typeface="Noto Sans SC"/>
              </a:rPr>
              <a:t>丰富的插件生态，支持身份验证、数据解析等功能。</a:t>
            </a:r>
            <a:endParaRPr lang="en-US" sz="1200" b="0" i="0" u="none" strike="noStrike">
              <a:solidFill>
                <a:srgbClr val="666666"/>
              </a:solidFill>
              <a:latin typeface="Noto Sans SC"/>
              <a:ea typeface="Noto Sans SC"/>
              <a:cs typeface="Noto Sans SC"/>
              <a:sym typeface="Noto Sans SC"/>
            </a:endParaRPr>
          </a:p>
        </p:txBody>
      </p:sp>
      <p:sp>
        <p:nvSpPr>
          <p:cNvPr id="14" name="AutoShape 14"/>
          <p:cNvSpPr/>
          <p:nvPr/>
        </p:nvSpPr>
        <p:spPr>
          <a:xfrm>
            <a:off x="5334000" y="1524000"/>
            <a:ext cx="6096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588000" y="1778000"/>
            <a:ext cx="304800" cy="304800"/>
          </a:xfrm>
          <a:prstGeom prst="rect">
            <a:avLst/>
          </a:prstGeom>
        </p:spPr>
      </p:pic>
      <p:sp>
        <p:nvSpPr>
          <p:cNvPr id="16" name="AutoShape 16"/>
          <p:cNvSpPr/>
          <p:nvPr/>
        </p:nvSpPr>
        <p:spPr>
          <a:xfrm>
            <a:off x="5969000" y="1752600"/>
            <a:ext cx="520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代码示例：LLM 服务部署</a:t>
            </a:r>
            <a:endParaRPr lang="en-US" sz="1100"/>
          </a:p>
        </p:txBody>
      </p:sp>
      <p:cxnSp>
        <p:nvCxnSpPr>
          <p:cNvPr id="17" name="Connector 17"/>
          <p:cNvCxnSpPr/>
          <p:nvPr/>
        </p:nvCxnSpPr>
        <p:spPr>
          <a:xfrm rot="-7813">
            <a:off x="5588007" y="2152650"/>
            <a:ext cx="5588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18" name="AutoShape 18"/>
          <p:cNvSpPr/>
          <p:nvPr/>
        </p:nvSpPr>
        <p:spPr>
          <a:xfrm>
            <a:off x="5588000" y="2349500"/>
            <a:ext cx="5588000" cy="3556000"/>
          </a:xfrm>
          <a:prstGeom prst="roundRect">
            <a:avLst>
              <a:gd name="adj" fmla="val 1785"/>
            </a:avLst>
          </a:prstGeom>
          <a:solidFill>
            <a:srgbClr val="F8F9FA">
              <a:alpha val="100000"/>
            </a:srgbClr>
          </a:solidFill>
          <a:ln w="12700" cap="flat" cmpd="sng">
            <a:solidFill>
              <a:srgbClr val="DCDCDC">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5715000" y="2476500"/>
            <a:ext cx="5334000" cy="330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666666"/>
                </a:solidFill>
                <a:latin typeface="Noto Sans SC"/>
                <a:ea typeface="Noto Sans SC"/>
                <a:cs typeface="Noto Sans SC"/>
                <a:sym typeface="Noto Sans SC"/>
              </a:rPr>
              <a:t># 导入必要的库</a:t>
            </a:r>
            <a:endParaRPr lang="en-US" sz="1100"/>
          </a:p>
          <a:p>
            <a:pPr indent="0" algn="l">
              <a:lnSpc>
                <a:spcPct val="125000"/>
              </a:lnSpc>
            </a:pPr>
            <a:r>
              <a:rPr lang="en-US" sz="1200" b="0" i="0" u="none" strike="noStrike">
                <a:solidFill>
                  <a:srgbClr val="003366"/>
                </a:solidFill>
                <a:latin typeface="Noto Sans SC"/>
                <a:ea typeface="Noto Sans SC"/>
                <a:cs typeface="Noto Sans SC"/>
                <a:sym typeface="Noto Sans SC"/>
              </a:rPr>
              <a:t>from flask import Flask, request, jsonify</a:t>
            </a:r>
            <a:endParaRPr lang="en-US" sz="1200" b="0" i="0" u="none" strike="noStrike">
              <a:solidFill>
                <a:srgbClr val="003366"/>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app = Flask(__name__)</a:t>
            </a:r>
            <a:endParaRPr lang="en-US" sz="1200" b="0" i="0" u="none" strike="noStrike">
              <a:solidFill>
                <a:srgbClr val="003366"/>
              </a:solidFill>
              <a:latin typeface="Noto Sans SC"/>
              <a:ea typeface="Noto Sans SC"/>
              <a:cs typeface="Noto Sans SC"/>
              <a:sym typeface="Noto Sans SC"/>
            </a:endParaRPr>
          </a:p>
          <a:p>
            <a:pPr indent="0" algn="l">
              <a:lnSpc>
                <a:spcPct val="125000"/>
              </a:lnSpc>
            </a:pPr>
            <a:r>
              <a:rPr lang="en-US" sz="1200" b="0" i="0" u="none" strike="noStrike">
                <a:solidFill>
                  <a:srgbClr val="666666"/>
                </a:solidFill>
                <a:latin typeface="Noto Sans SC"/>
                <a:ea typeface="Noto Sans SC"/>
                <a:cs typeface="Noto Sans SC"/>
                <a:sym typeface="Noto Sans SC"/>
              </a:rPr>
              <a:t># 健康检查接口</a:t>
            </a:r>
            <a:endParaRPr lang="en-US" sz="1200" b="0" i="0" u="none" strike="noStrike">
              <a:solidFill>
                <a:srgbClr val="666666"/>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@app.route('/health', methods=["GET"])</a:t>
            </a:r>
            <a:endParaRPr lang="en-US" sz="1200" b="0" i="0" u="none" strike="noStrike">
              <a:solidFill>
                <a:srgbClr val="003366"/>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def health(): return 'OK'</a:t>
            </a:r>
            <a:endParaRPr lang="en-US" sz="1200" b="0" i="0" u="none" strike="noStrike">
              <a:solidFill>
                <a:srgbClr val="003366"/>
              </a:solidFill>
              <a:latin typeface="Noto Sans SC"/>
              <a:ea typeface="Noto Sans SC"/>
              <a:cs typeface="Noto Sans SC"/>
              <a:sym typeface="Noto Sans SC"/>
            </a:endParaRPr>
          </a:p>
          <a:p>
            <a:pPr indent="0" algn="l">
              <a:lnSpc>
                <a:spcPct val="125000"/>
              </a:lnSpc>
            </a:pPr>
            <a:r>
              <a:rPr lang="en-US" sz="1200" b="0" i="0" u="none" strike="noStrike">
                <a:solidFill>
                  <a:srgbClr val="666666"/>
                </a:solidFill>
                <a:latin typeface="Noto Sans SC"/>
                <a:ea typeface="Noto Sans SC"/>
                <a:cs typeface="Noto Sans SC"/>
                <a:sym typeface="Noto Sans SC"/>
              </a:rPr>
              <a:t># 对话接口：接收 prompt 并返回响应</a:t>
            </a:r>
            <a:endParaRPr lang="en-US" sz="1200" b="0" i="0" u="none" strike="noStrike">
              <a:solidFill>
                <a:srgbClr val="666666"/>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@app.route('/chat', methods=["POST"])</a:t>
            </a:r>
            <a:endParaRPr lang="en-US" sz="1200" b="0" i="0" u="none" strike="noStrike">
              <a:solidFill>
                <a:srgbClr val="003366"/>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def chat():</a:t>
            </a:r>
            <a:endParaRPr lang="en-US" sz="1200" b="0" i="0" u="none" strike="noStrike">
              <a:solidFill>
                <a:srgbClr val="003366"/>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data = request.get_json()</a:t>
            </a:r>
            <a:endParaRPr lang="en-US" sz="1200" b="0" i="0" u="none" strike="noStrike">
              <a:solidFill>
                <a:srgbClr val="003366"/>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prompt = data.get('prompt', '')</a:t>
            </a:r>
            <a:endParaRPr lang="en-US" sz="1200" b="0" i="0" u="none" strike="noStrike">
              <a:solidFill>
                <a:srgbClr val="003366"/>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response = f"你输入的是: {prompt}"</a:t>
            </a:r>
            <a:endParaRPr lang="en-US" sz="1200" b="0" i="0" u="none" strike="noStrike">
              <a:solidFill>
                <a:srgbClr val="003366"/>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return jsonify({"response": response})</a:t>
            </a:r>
            <a:endParaRPr lang="en-US" sz="1200" b="0" i="0" u="none" strike="noStrike">
              <a:solidFill>
                <a:srgbClr val="003366"/>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if __name__ == '__main__':</a:t>
            </a:r>
            <a:endParaRPr lang="en-US" sz="1200" b="0" i="0" u="none" strike="noStrike">
              <a:solidFill>
                <a:srgbClr val="003366"/>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app.run(host="0.0.0.0", port=8088)</a:t>
            </a:r>
            <a:endParaRPr lang="en-US" sz="1200" b="0" i="0" u="none" strike="noStrike">
              <a:solidFill>
                <a:srgbClr val="003366"/>
              </a:solidFill>
              <a:latin typeface="Noto Sans SC"/>
              <a:ea typeface="Noto Sans SC"/>
              <a:cs typeface="Noto Sans SC"/>
              <a:sym typeface="Noto Sans SC"/>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大语言模型开发常用库 - Streamlit</a:t>
            </a:r>
            <a:endParaRPr lang="en-US" sz="1100"/>
          </a:p>
        </p:txBody>
      </p:sp>
      <p:sp>
        <p:nvSpPr>
          <p:cNvPr id="3" name="AutoShape 3"/>
          <p:cNvSpPr/>
          <p:nvPr/>
        </p:nvSpPr>
        <p:spPr>
          <a:xfrm>
            <a:off x="762000" y="1524000"/>
            <a:ext cx="4826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78000"/>
            <a:ext cx="355600" cy="355600"/>
          </a:xfrm>
          <a:prstGeom prst="rect">
            <a:avLst/>
          </a:prstGeom>
        </p:spPr>
      </p:pic>
      <p:sp>
        <p:nvSpPr>
          <p:cNvPr id="5" name="AutoShape 5"/>
          <p:cNvSpPr/>
          <p:nvPr/>
        </p:nvSpPr>
        <p:spPr>
          <a:xfrm>
            <a:off x="1460500" y="17526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快速构建交互式应用</a:t>
            </a:r>
            <a:endParaRPr lang="en-US" sz="1100"/>
          </a:p>
        </p:txBody>
      </p:sp>
      <p:cxnSp>
        <p:nvCxnSpPr>
          <p:cNvPr id="6" name="Connector 6"/>
          <p:cNvCxnSpPr/>
          <p:nvPr/>
        </p:nvCxnSpPr>
        <p:spPr>
          <a:xfrm rot="-10110">
            <a:off x="1016009" y="2216150"/>
            <a:ext cx="4318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7" name="AutoShape 7"/>
          <p:cNvSpPr/>
          <p:nvPr/>
        </p:nvSpPr>
        <p:spPr>
          <a:xfrm>
            <a:off x="1016000" y="2413000"/>
            <a:ext cx="4318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Streamlit 是专为数据科学和机器学习设计的库，无需编写前端代码，即可快速将数据脚本转换为美观的 Web 应用。</a:t>
            </a:r>
            <a:endParaRPr lang="en-US" sz="1100"/>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3556000"/>
            <a:ext cx="254000" cy="254000"/>
          </a:xfrm>
          <a:prstGeom prst="rect">
            <a:avLst/>
          </a:prstGeom>
        </p:spPr>
      </p:pic>
      <p:sp>
        <p:nvSpPr>
          <p:cNvPr id="9" name="AutoShape 9"/>
          <p:cNvSpPr/>
          <p:nvPr/>
        </p:nvSpPr>
        <p:spPr>
          <a:xfrm>
            <a:off x="1333500" y="3530600"/>
            <a:ext cx="40005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333333"/>
                </a:solidFill>
                <a:latin typeface="Noto Sans SC"/>
                <a:ea typeface="Noto Sans SC"/>
                <a:cs typeface="Noto Sans SC"/>
                <a:sym typeface="Noto Sans SC"/>
              </a:rPr>
              <a:t>纯 Python 代码：</a:t>
            </a:r>
            <a:r>
              <a:rPr lang="en-US" sz="1400" b="0" i="0" u="none" strike="noStrike">
                <a:solidFill>
                  <a:srgbClr val="666666"/>
                </a:solidFill>
                <a:latin typeface="Noto Sans SC"/>
                <a:ea typeface="Noto Sans SC"/>
                <a:cs typeface="Noto Sans SC"/>
                <a:sym typeface="Noto Sans SC"/>
              </a:rPr>
              <a:t>无需 HTML/CSS/JS 知识</a:t>
            </a:r>
            <a:endParaRPr lang="en-US" sz="1100"/>
          </a:p>
        </p:txBody>
      </p:sp>
      <p:pic>
        <p:nvPicPr>
          <p:cNvPr id="10" name="Picture 1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4000500"/>
            <a:ext cx="254000" cy="254000"/>
          </a:xfrm>
          <a:prstGeom prst="rect">
            <a:avLst/>
          </a:prstGeom>
        </p:spPr>
      </p:pic>
      <p:sp>
        <p:nvSpPr>
          <p:cNvPr id="11" name="AutoShape 11"/>
          <p:cNvSpPr/>
          <p:nvPr/>
        </p:nvSpPr>
        <p:spPr>
          <a:xfrm>
            <a:off x="1333500" y="3975100"/>
            <a:ext cx="40005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333333"/>
                </a:solidFill>
                <a:latin typeface="Noto Sans SC"/>
                <a:ea typeface="Noto Sans SC"/>
                <a:cs typeface="Noto Sans SC"/>
                <a:sym typeface="Noto Sans SC"/>
              </a:rPr>
              <a:t>热重载机制：</a:t>
            </a:r>
            <a:r>
              <a:rPr lang="en-US" sz="1400" b="0" i="0" u="none" strike="noStrike">
                <a:solidFill>
                  <a:srgbClr val="666666"/>
                </a:solidFill>
                <a:latin typeface="Noto Sans SC"/>
                <a:ea typeface="Noto Sans SC"/>
                <a:cs typeface="Noto Sans SC"/>
                <a:sym typeface="Noto Sans SC"/>
              </a:rPr>
              <a:t>代码修改即时生效，提升开发效率</a:t>
            </a:r>
            <a:endParaRPr lang="en-US" sz="1100"/>
          </a:p>
        </p:txBody>
      </p:sp>
      <p:pic>
        <p:nvPicPr>
          <p:cNvPr id="12" name="Picture 12"/>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4445000"/>
            <a:ext cx="254000" cy="254000"/>
          </a:xfrm>
          <a:prstGeom prst="rect">
            <a:avLst/>
          </a:prstGeom>
        </p:spPr>
      </p:pic>
      <p:sp>
        <p:nvSpPr>
          <p:cNvPr id="13" name="AutoShape 13"/>
          <p:cNvSpPr/>
          <p:nvPr/>
        </p:nvSpPr>
        <p:spPr>
          <a:xfrm>
            <a:off x="1333500" y="4419600"/>
            <a:ext cx="40005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333333"/>
                </a:solidFill>
                <a:latin typeface="Noto Sans SC"/>
                <a:ea typeface="Noto Sans SC"/>
                <a:cs typeface="Noto Sans SC"/>
                <a:sym typeface="Noto Sans SC"/>
              </a:rPr>
              <a:t>丰富组件：</a:t>
            </a:r>
            <a:r>
              <a:rPr lang="en-US" sz="1400" b="0" i="0" u="none" strike="noStrike">
                <a:solidFill>
                  <a:srgbClr val="666666"/>
                </a:solidFill>
                <a:latin typeface="Noto Sans SC"/>
                <a:ea typeface="Noto Sans SC"/>
                <a:cs typeface="Noto Sans SC"/>
                <a:sym typeface="Noto Sans SC"/>
              </a:rPr>
              <a:t>内置文本、图表、数据框等交互组件</a:t>
            </a:r>
            <a:endParaRPr lang="en-US" sz="1100"/>
          </a:p>
        </p:txBody>
      </p:sp>
      <p:sp>
        <p:nvSpPr>
          <p:cNvPr id="14" name="AutoShape 14"/>
          <p:cNvSpPr/>
          <p:nvPr/>
        </p:nvSpPr>
        <p:spPr>
          <a:xfrm>
            <a:off x="5842000" y="1524000"/>
            <a:ext cx="5588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096000" y="1778000"/>
            <a:ext cx="355600" cy="355600"/>
          </a:xfrm>
          <a:prstGeom prst="rect">
            <a:avLst/>
          </a:prstGeom>
        </p:spPr>
      </p:pic>
      <p:sp>
        <p:nvSpPr>
          <p:cNvPr id="16" name="AutoShape 16"/>
          <p:cNvSpPr/>
          <p:nvPr/>
        </p:nvSpPr>
        <p:spPr>
          <a:xfrm>
            <a:off x="6540500" y="1752600"/>
            <a:ext cx="4572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代码示例：交互式问答应用</a:t>
            </a:r>
            <a:endParaRPr lang="en-US" sz="1100"/>
          </a:p>
        </p:txBody>
      </p:sp>
      <p:cxnSp>
        <p:nvCxnSpPr>
          <p:cNvPr id="17" name="Connector 17"/>
          <p:cNvCxnSpPr/>
          <p:nvPr/>
        </p:nvCxnSpPr>
        <p:spPr>
          <a:xfrm rot="-8594">
            <a:off x="6096008" y="2216150"/>
            <a:ext cx="5080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8" name="AutoShape 18"/>
          <p:cNvSpPr/>
          <p:nvPr/>
        </p:nvSpPr>
        <p:spPr>
          <a:xfrm>
            <a:off x="6096000" y="2413000"/>
            <a:ext cx="5080000" cy="3429000"/>
          </a:xfrm>
          <a:prstGeom prst="roundRect">
            <a:avLst>
              <a:gd name="adj" fmla="val 1851"/>
            </a:avLst>
          </a:prstGeom>
          <a:solidFill>
            <a:srgbClr val="F5F7FA">
              <a:alpha val="100000"/>
            </a:srgbClr>
          </a:solidFill>
          <a:ln w="12700" cap="flat" cmpd="sng">
            <a:solidFill>
              <a:srgbClr val="DCE1E6">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6223000" y="2540000"/>
            <a:ext cx="4826000" cy="317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666666"/>
                </a:solidFill>
                <a:latin typeface="Noto Sans SC"/>
                <a:ea typeface="Noto Sans SC"/>
                <a:cs typeface="Noto Sans SC"/>
                <a:sym typeface="Noto Sans SC"/>
              </a:rPr>
              <a:t>import streamlit as st</a:t>
            </a:r>
            <a:endParaRPr lang="en-US" sz="1100"/>
          </a:p>
          <a:p>
            <a:pPr indent="0" algn="l">
              <a:lnSpc>
                <a:spcPct val="125000"/>
              </a:lnSpc>
            </a:pPr>
            <a:r>
              <a:rPr lang="en-US" sz="1200" b="0" i="0" u="none" strike="noStrike">
                <a:solidFill>
                  <a:srgbClr val="666666"/>
                </a:solidFill>
                <a:latin typeface="Noto Sans SC"/>
                <a:ea typeface="Noto Sans SC"/>
                <a:cs typeface="Noto Sans SC"/>
                <a:sym typeface="Noto Sans SC"/>
              </a:rPr>
              <a:t>import pandas as pd</a:t>
            </a:r>
            <a:endParaRPr lang="en-US" sz="1200" b="0" i="0" u="none" strike="noStrike">
              <a:solidFill>
                <a:srgbClr val="666666"/>
              </a:solidFill>
              <a:latin typeface="Noto Sans SC"/>
              <a:ea typeface="Noto Sans SC"/>
              <a:cs typeface="Noto Sans SC"/>
              <a:sym typeface="Noto Sans SC"/>
            </a:endParaRPr>
          </a:p>
          <a:p>
            <a:pPr indent="0" algn="l">
              <a:lnSpc>
                <a:spcPct val="125000"/>
              </a:lnSpc>
            </a:pPr>
            <a:r>
              <a:rPr lang="en-US" sz="1200" b="0" i="0" u="none" strike="noStrike">
                <a:solidFill>
                  <a:srgbClr val="969696"/>
                </a:solidFill>
                <a:latin typeface="Noto Sans SC"/>
                <a:ea typeface="Noto Sans SC"/>
                <a:cs typeface="Noto Sans SC"/>
                <a:sym typeface="Noto Sans SC"/>
              </a:rPr>
              <a:t># 设置页面标题</a:t>
            </a:r>
            <a:endParaRPr lang="en-US" sz="1200" b="0" i="0" u="none" strike="noStrike">
              <a:solidFill>
                <a:srgbClr val="969696"/>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st.title</a:t>
            </a:r>
            <a:r>
              <a:rPr lang="en-US" sz="1200" b="0" i="0" u="none" strike="noStrike">
                <a:solidFill>
                  <a:srgbClr val="333333"/>
                </a:solidFill>
                <a:latin typeface="Noto Sans SC"/>
                <a:ea typeface="Noto Sans SC"/>
                <a:cs typeface="Noto Sans SC"/>
                <a:sym typeface="Noto Sans SC"/>
              </a:rPr>
              <a:t>('大语言模型演示')</a:t>
            </a:r>
            <a:endParaRPr lang="en-US" sz="1200" b="0" i="0" u="none" strike="noStrike">
              <a:solidFill>
                <a:srgbClr val="333333"/>
              </a:solidFill>
              <a:latin typeface="Noto Sans SC"/>
              <a:ea typeface="Noto Sans SC"/>
              <a:cs typeface="Noto Sans SC"/>
              <a:sym typeface="Noto Sans SC"/>
            </a:endParaRPr>
          </a:p>
          <a:p>
            <a:pPr indent="0" algn="l">
              <a:lnSpc>
                <a:spcPct val="125000"/>
              </a:lnSpc>
            </a:pPr>
            <a:r>
              <a:rPr lang="en-US" sz="1200" b="0" i="0" u="none" strike="noStrike">
                <a:solidFill>
                  <a:srgbClr val="969696"/>
                </a:solidFill>
                <a:latin typeface="Noto Sans SC"/>
                <a:ea typeface="Noto Sans SC"/>
                <a:cs typeface="Noto Sans SC"/>
                <a:sym typeface="Noto Sans SC"/>
              </a:rPr>
              <a:t># 创建文本输入框</a:t>
            </a:r>
            <a:endParaRPr lang="en-US" sz="1200" b="0" i="0" u="none" strike="noStrike">
              <a:solidFill>
                <a:srgbClr val="969696"/>
              </a:solidFill>
              <a:latin typeface="Noto Sans SC"/>
              <a:ea typeface="Noto Sans SC"/>
              <a:cs typeface="Noto Sans SC"/>
              <a:sym typeface="Noto Sans SC"/>
            </a:endParaRPr>
          </a:p>
          <a:p>
            <a:pPr indent="0" algn="l">
              <a:lnSpc>
                <a:spcPct val="125000"/>
              </a:lnSpc>
            </a:pPr>
            <a:r>
              <a:rPr lang="en-US" sz="1200" b="0" i="0" u="none" strike="noStrike">
                <a:solidFill>
                  <a:srgbClr val="333333"/>
                </a:solidFill>
                <a:latin typeface="Noto Sans SC"/>
                <a:ea typeface="Noto Sans SC"/>
                <a:cs typeface="Noto Sans SC"/>
                <a:sym typeface="Noto Sans SC"/>
              </a:rPr>
              <a:t>user_input =</a:t>
            </a:r>
            <a:r>
              <a:rPr lang="en-US" sz="1200" b="0" i="0" u="none" strike="noStrike">
                <a:solidFill>
                  <a:srgbClr val="003366"/>
                </a:solidFill>
                <a:latin typeface="Noto Sans SC"/>
                <a:ea typeface="Noto Sans SC"/>
                <a:cs typeface="Noto Sans SC"/>
                <a:sym typeface="Noto Sans SC"/>
              </a:rPr>
              <a:t>st.text_input</a:t>
            </a:r>
            <a:r>
              <a:rPr lang="en-US" sz="1200" b="0" i="0" u="none" strike="noStrike">
                <a:solidFill>
                  <a:srgbClr val="333333"/>
                </a:solidFill>
                <a:latin typeface="Noto Sans SC"/>
                <a:ea typeface="Noto Sans SC"/>
                <a:cs typeface="Noto Sans SC"/>
                <a:sym typeface="Noto Sans SC"/>
              </a:rPr>
              <a:t>("请输入您的问题：")</a:t>
            </a:r>
            <a:endParaRPr lang="en-US" sz="1200" b="0" i="0" u="none" strike="noStrike">
              <a:solidFill>
                <a:srgbClr val="333333"/>
              </a:solidFill>
              <a:latin typeface="Noto Sans SC"/>
              <a:ea typeface="Noto Sans SC"/>
              <a:cs typeface="Noto Sans SC"/>
              <a:sym typeface="Noto Sans SC"/>
            </a:endParaRPr>
          </a:p>
          <a:p>
            <a:pPr indent="0" algn="l">
              <a:lnSpc>
                <a:spcPct val="125000"/>
              </a:lnSpc>
            </a:pPr>
            <a:r>
              <a:rPr lang="en-US" sz="1200" b="0" i="0" u="none" strike="noStrike">
                <a:solidFill>
                  <a:srgbClr val="969696"/>
                </a:solidFill>
                <a:latin typeface="Noto Sans SC"/>
                <a:ea typeface="Noto Sans SC"/>
                <a:cs typeface="Noto Sans SC"/>
                <a:sym typeface="Noto Sans SC"/>
              </a:rPr>
              <a:t># 按钮点击逻辑</a:t>
            </a:r>
            <a:endParaRPr lang="en-US" sz="1200" b="0" i="0" u="none" strike="noStrike">
              <a:solidFill>
                <a:srgbClr val="969696"/>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ifst.button</a:t>
            </a:r>
            <a:r>
              <a:rPr lang="en-US" sz="1200" b="0" i="0" u="none" strike="noStrike">
                <a:solidFill>
                  <a:srgbClr val="333333"/>
                </a:solidFill>
                <a:latin typeface="Noto Sans SC"/>
                <a:ea typeface="Noto Sans SC"/>
                <a:cs typeface="Noto Sans SC"/>
                <a:sym typeface="Noto Sans SC"/>
              </a:rPr>
              <a:t>("发送"):</a:t>
            </a:r>
            <a:endParaRPr lang="en-US" sz="1200" b="0" i="0" u="none" strike="noStrike">
              <a:solidFill>
                <a:srgbClr val="333333"/>
              </a:solidFill>
              <a:latin typeface="Noto Sans SC"/>
              <a:ea typeface="Noto Sans SC"/>
              <a:cs typeface="Noto Sans SC"/>
              <a:sym typeface="Noto Sans SC"/>
            </a:endParaRPr>
          </a:p>
          <a:p>
            <a:pPr indent="0" algn="l">
              <a:lnSpc>
                <a:spcPct val="125000"/>
              </a:lnSpc>
            </a:pPr>
            <a:r>
              <a:rPr lang="en-US" sz="1200" b="0" i="0" u="none" strike="noStrike">
                <a:solidFill>
                  <a:srgbClr val="333333"/>
                </a:solidFill>
                <a:latin typeface="Noto Sans SC"/>
                <a:ea typeface="Noto Sans SC"/>
                <a:cs typeface="Noto Sans SC"/>
                <a:sym typeface="Noto Sans SC"/>
              </a:rPr>
              <a:t>response = f"模型回复：{user_input}"</a:t>
            </a:r>
            <a:endParaRPr lang="en-US" sz="1200" b="0" i="0" u="none" strike="noStrike">
              <a:solidFill>
                <a:srgbClr val="333333"/>
              </a:solidFill>
              <a:latin typeface="Noto Sans SC"/>
              <a:ea typeface="Noto Sans SC"/>
              <a:cs typeface="Noto Sans SC"/>
              <a:sym typeface="Noto Sans SC"/>
            </a:endParaRPr>
          </a:p>
          <a:p>
            <a:pPr indent="0" algn="l">
              <a:lnSpc>
                <a:spcPct val="125000"/>
              </a:lnSpc>
            </a:pPr>
            <a:r>
              <a:rPr lang="en-US" sz="1200" b="0" i="0" u="none" strike="noStrike">
                <a:solidFill>
                  <a:srgbClr val="003366"/>
                </a:solidFill>
                <a:latin typeface="Noto Sans SC"/>
                <a:ea typeface="Noto Sans SC"/>
                <a:cs typeface="Noto Sans SC"/>
                <a:sym typeface="Noto Sans SC"/>
              </a:rPr>
              <a:t>st.write</a:t>
            </a:r>
            <a:r>
              <a:rPr lang="en-US" sz="1200" b="0" i="0" u="none" strike="noStrike">
                <a:solidFill>
                  <a:srgbClr val="333333"/>
                </a:solidFill>
                <a:latin typeface="Noto Sans SC"/>
                <a:ea typeface="Noto Sans SC"/>
                <a:cs typeface="Noto Sans SC"/>
                <a:sym typeface="Noto Sans SC"/>
              </a:rPr>
              <a:t>(response)</a:t>
            </a:r>
            <a:endParaRPr lang="en-US" sz="1200" b="0" i="0" u="none" strike="noStrike">
              <a:solidFill>
                <a:srgbClr val="333333"/>
              </a:solidFill>
              <a:latin typeface="Noto Sans SC"/>
              <a:ea typeface="Noto Sans SC"/>
              <a:cs typeface="Noto Sans SC"/>
              <a:sym typeface="Noto Sans SC"/>
            </a:endParaRPr>
          </a:p>
          <a:p>
            <a:pPr indent="0" algn="l">
              <a:lnSpc>
                <a:spcPct val="125000"/>
              </a:lnSpc>
            </a:pPr>
            <a:r>
              <a:rPr lang="en-US" sz="1200" b="0" i="0" u="none" strike="noStrike">
                <a:solidFill>
                  <a:srgbClr val="969696"/>
                </a:solidFill>
                <a:latin typeface="Noto Sans SC"/>
                <a:ea typeface="Noto Sans SC"/>
                <a:cs typeface="Noto Sans SC"/>
                <a:sym typeface="Noto Sans SC"/>
              </a:rPr>
              <a:t># 显示数据表格</a:t>
            </a:r>
            <a:endParaRPr lang="en-US" sz="1200" b="0" i="0" u="none" strike="noStrike">
              <a:solidFill>
                <a:srgbClr val="969696"/>
              </a:solidFill>
              <a:latin typeface="Noto Sans SC"/>
              <a:ea typeface="Noto Sans SC"/>
              <a:cs typeface="Noto Sans SC"/>
              <a:sym typeface="Noto Sans SC"/>
            </a:endParaRPr>
          </a:p>
          <a:p>
            <a:pPr indent="0" algn="l">
              <a:lnSpc>
                <a:spcPct val="125000"/>
              </a:lnSpc>
            </a:pPr>
            <a:r>
              <a:rPr lang="en-US" sz="1200" b="0" i="0" u="none" strike="noStrike">
                <a:solidFill>
                  <a:srgbClr val="333333"/>
                </a:solidFill>
                <a:latin typeface="Noto Sans SC"/>
                <a:ea typeface="Noto Sans SC"/>
                <a:cs typeface="Noto Sans SC"/>
                <a:sym typeface="Noto Sans SC"/>
              </a:rPr>
              <a:t>data = pd.DataFrame({...})</a:t>
            </a:r>
            <a:endParaRPr lang="en-US" sz="1200" b="0" i="0" u="none" strike="noStrike">
              <a:solidFill>
                <a:srgbClr val="333333"/>
              </a:solidFill>
              <a:latin typeface="Noto Sans SC"/>
              <a:ea typeface="Noto Sans SC"/>
              <a:cs typeface="Noto Sans SC"/>
              <a:sym typeface="Noto Sans SC"/>
            </a:endParaRPr>
          </a:p>
          <a:p>
            <a:pPr indent="0" algn="l">
              <a:lnSpc>
                <a:spcPct val="125000"/>
              </a:lnSpc>
            </a:pPr>
            <a:r>
              <a:rPr lang="en-US" sz="1200" b="0" i="0" u="none" strike="noStrike">
                <a:solidFill>
                  <a:srgbClr val="333333"/>
                </a:solidFill>
                <a:latin typeface="Noto Sans SC"/>
                <a:ea typeface="Noto Sans SC"/>
                <a:cs typeface="Noto Sans SC"/>
                <a:sym typeface="Noto Sans SC"/>
              </a:rPr>
              <a:t>st.dataframe(data)</a:t>
            </a:r>
            <a:endParaRPr lang="en-US" sz="1200" b="0" i="0" u="none" strike="noStrike">
              <a:solidFill>
                <a:srgbClr val="333333"/>
              </a:solidFill>
              <a:latin typeface="Noto Sans SC"/>
              <a:ea typeface="Noto Sans SC"/>
              <a:cs typeface="Noto Sans SC"/>
              <a:sym typeface="Noto Sans SC"/>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609600" y="609600"/>
            <a:ext cx="109728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2.1.2 接口的设计与优化</a:t>
            </a:r>
            <a:endParaRPr lang="en-US" sz="1100"/>
          </a:p>
        </p:txBody>
      </p:sp>
      <p:sp>
        <p:nvSpPr>
          <p:cNvPr id="3" name="AutoShape 3"/>
          <p:cNvSpPr/>
          <p:nvPr/>
        </p:nvSpPr>
        <p:spPr>
          <a:xfrm>
            <a:off x="609600" y="1778000"/>
            <a:ext cx="3454400" cy="3810000"/>
          </a:xfrm>
          <a:prstGeom prst="roundRect">
            <a:avLst>
              <a:gd name="adj" fmla="val 367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28800" y="2082800"/>
            <a:ext cx="1016000" cy="1016000"/>
          </a:xfrm>
          <a:prstGeom prst="rect">
            <a:avLst/>
          </a:prstGeom>
        </p:spPr>
      </p:pic>
      <p:sp>
        <p:nvSpPr>
          <p:cNvPr id="5" name="AutoShape 5"/>
          <p:cNvSpPr/>
          <p:nvPr/>
        </p:nvSpPr>
        <p:spPr>
          <a:xfrm>
            <a:off x="812800" y="3225800"/>
            <a:ext cx="3048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03366"/>
                </a:solidFill>
                <a:latin typeface="Noto Sans SC"/>
                <a:ea typeface="Noto Sans SC"/>
                <a:cs typeface="Noto Sans SC"/>
                <a:sym typeface="Noto Sans SC"/>
              </a:rPr>
              <a:t>系统架构基石</a:t>
            </a:r>
            <a:endParaRPr lang="en-US" sz="1100"/>
          </a:p>
        </p:txBody>
      </p:sp>
      <p:sp>
        <p:nvSpPr>
          <p:cNvPr id="6" name="AutoShape 6"/>
          <p:cNvSpPr/>
          <p:nvPr/>
        </p:nvSpPr>
        <p:spPr>
          <a:xfrm>
            <a:off x="812800" y="3683000"/>
            <a:ext cx="3048000" cy="1524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333333"/>
                </a:solidFill>
                <a:latin typeface="Noto Sans SC"/>
                <a:ea typeface="Noto Sans SC"/>
                <a:cs typeface="Noto Sans SC"/>
                <a:sym typeface="Noto Sans SC"/>
              </a:rPr>
              <a:t>接口是系统间交互的桥梁。良好的设计不仅能降低耦合度，更是构建高可用、可扩展系统的核心基础。</a:t>
            </a:r>
            <a:endParaRPr lang="en-US" sz="1100"/>
          </a:p>
        </p:txBody>
      </p:sp>
      <p:sp>
        <p:nvSpPr>
          <p:cNvPr id="7" name="AutoShape 7"/>
          <p:cNvSpPr/>
          <p:nvPr/>
        </p:nvSpPr>
        <p:spPr>
          <a:xfrm>
            <a:off x="4368800" y="1778000"/>
            <a:ext cx="3454400" cy="3810000"/>
          </a:xfrm>
          <a:prstGeom prst="roundRect">
            <a:avLst>
              <a:gd name="adj" fmla="val 367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88000" y="2082800"/>
            <a:ext cx="1016000" cy="1016000"/>
          </a:xfrm>
          <a:prstGeom prst="rect">
            <a:avLst/>
          </a:prstGeom>
        </p:spPr>
      </p:pic>
      <p:sp>
        <p:nvSpPr>
          <p:cNvPr id="9" name="AutoShape 9"/>
          <p:cNvSpPr/>
          <p:nvPr/>
        </p:nvSpPr>
        <p:spPr>
          <a:xfrm>
            <a:off x="4572000" y="3225800"/>
            <a:ext cx="3048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03366"/>
                </a:solidFill>
                <a:latin typeface="Noto Sans SC"/>
                <a:ea typeface="Noto Sans SC"/>
                <a:cs typeface="Noto Sans SC"/>
                <a:sym typeface="Noto Sans SC"/>
              </a:rPr>
              <a:t>性能优化策略</a:t>
            </a:r>
            <a:endParaRPr lang="en-US" sz="1100"/>
          </a:p>
        </p:txBody>
      </p:sp>
      <p:sp>
        <p:nvSpPr>
          <p:cNvPr id="10" name="AutoShape 10"/>
          <p:cNvSpPr/>
          <p:nvPr/>
        </p:nvSpPr>
        <p:spPr>
          <a:xfrm>
            <a:off x="4572000" y="3683000"/>
            <a:ext cx="3048000" cy="1524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333333"/>
                </a:solidFill>
                <a:latin typeface="Noto Sans SC"/>
                <a:ea typeface="Noto Sans SC"/>
                <a:cs typeface="Noto Sans SC"/>
                <a:sym typeface="Noto Sans SC"/>
              </a:rPr>
              <a:t>从响应时间到吞吐量，我们将探讨缓存机制、异步处理等关键技术，确保接口在高并发场景下依然流畅。</a:t>
            </a:r>
            <a:endParaRPr lang="en-US" sz="1100"/>
          </a:p>
        </p:txBody>
      </p:sp>
      <p:sp>
        <p:nvSpPr>
          <p:cNvPr id="11" name="AutoShape 11"/>
          <p:cNvSpPr/>
          <p:nvPr/>
        </p:nvSpPr>
        <p:spPr>
          <a:xfrm>
            <a:off x="8128000" y="1778000"/>
            <a:ext cx="3454400" cy="3810000"/>
          </a:xfrm>
          <a:prstGeom prst="roundRect">
            <a:avLst>
              <a:gd name="adj" fmla="val 367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347200" y="2082800"/>
            <a:ext cx="1016000" cy="1016000"/>
          </a:xfrm>
          <a:prstGeom prst="rect">
            <a:avLst/>
          </a:prstGeom>
        </p:spPr>
      </p:pic>
      <p:sp>
        <p:nvSpPr>
          <p:cNvPr id="13" name="AutoShape 13"/>
          <p:cNvSpPr/>
          <p:nvPr/>
        </p:nvSpPr>
        <p:spPr>
          <a:xfrm>
            <a:off x="8331200" y="3225800"/>
            <a:ext cx="3048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03366"/>
                </a:solidFill>
                <a:latin typeface="Noto Sans SC"/>
                <a:ea typeface="Noto Sans SC"/>
                <a:cs typeface="Noto Sans SC"/>
                <a:sym typeface="Noto Sans SC"/>
              </a:rPr>
              <a:t>规范与文档</a:t>
            </a:r>
            <a:endParaRPr lang="en-US" sz="1100"/>
          </a:p>
        </p:txBody>
      </p:sp>
      <p:sp>
        <p:nvSpPr>
          <p:cNvPr id="14" name="AutoShape 14"/>
          <p:cNvSpPr/>
          <p:nvPr/>
        </p:nvSpPr>
        <p:spPr>
          <a:xfrm>
            <a:off x="8331200" y="3683000"/>
            <a:ext cx="3048000" cy="1524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333333"/>
                </a:solidFill>
                <a:latin typeface="Noto Sans SC"/>
                <a:ea typeface="Noto Sans SC"/>
                <a:cs typeface="Noto Sans SC"/>
                <a:sym typeface="Noto Sans SC"/>
              </a:rPr>
              <a:t>遵循RESTful风格，完善API文档与错误处理机制，提升开发协作效率与系统的可维护性。</a:t>
            </a:r>
            <a:endParaRPr lang="en-US" sz="11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接口设计的重要性</a:t>
            </a:r>
            <a:endParaRPr lang="en-US" sz="1100"/>
          </a:p>
        </p:txBody>
      </p:sp>
      <p:sp>
        <p:nvSpPr>
          <p:cNvPr id="3" name="AutoShape 3"/>
          <p:cNvSpPr/>
          <p:nvPr/>
        </p:nvSpPr>
        <p:spPr>
          <a:xfrm>
            <a:off x="762000" y="1651000"/>
            <a:ext cx="5207000" cy="2159000"/>
          </a:xfrm>
          <a:prstGeom prst="roundRect">
            <a:avLst>
              <a:gd name="adj" fmla="val 5882"/>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79500" y="1968500"/>
            <a:ext cx="457200" cy="457200"/>
          </a:xfrm>
          <a:prstGeom prst="rect">
            <a:avLst/>
          </a:prstGeom>
        </p:spPr>
      </p:pic>
      <p:sp>
        <p:nvSpPr>
          <p:cNvPr id="5" name="AutoShape 5"/>
          <p:cNvSpPr/>
          <p:nvPr/>
        </p:nvSpPr>
        <p:spPr>
          <a:xfrm>
            <a:off x="1714500" y="1930400"/>
            <a:ext cx="4000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提高团队协作效率</a:t>
            </a:r>
            <a:endParaRPr lang="en-US" sz="1100"/>
          </a:p>
        </p:txBody>
      </p:sp>
      <p:cxnSp>
        <p:nvCxnSpPr>
          <p:cNvPr id="6" name="Connector 6"/>
          <p:cNvCxnSpPr/>
          <p:nvPr/>
        </p:nvCxnSpPr>
        <p:spPr>
          <a:xfrm rot="-9549">
            <a:off x="1079509" y="2470150"/>
            <a:ext cx="4572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7" name="AutoShape 7"/>
          <p:cNvSpPr/>
          <p:nvPr/>
        </p:nvSpPr>
        <p:spPr>
          <a:xfrm>
            <a:off x="1079500" y="2603500"/>
            <a:ext cx="4572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清晰的接口定义可以减少团队成员之间的沟通成本，确保前后端、跨团队开发的一致性。</a:t>
            </a:r>
            <a:endParaRPr lang="en-US" sz="1100"/>
          </a:p>
        </p:txBody>
      </p:sp>
      <p:sp>
        <p:nvSpPr>
          <p:cNvPr id="8" name="AutoShape 8"/>
          <p:cNvSpPr/>
          <p:nvPr/>
        </p:nvSpPr>
        <p:spPr>
          <a:xfrm>
            <a:off x="6223000" y="1651000"/>
            <a:ext cx="5207000" cy="2159000"/>
          </a:xfrm>
          <a:prstGeom prst="roundRect">
            <a:avLst>
              <a:gd name="adj" fmla="val 5882"/>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540500" y="1968500"/>
            <a:ext cx="457200" cy="457200"/>
          </a:xfrm>
          <a:prstGeom prst="rect">
            <a:avLst/>
          </a:prstGeom>
        </p:spPr>
      </p:pic>
      <p:sp>
        <p:nvSpPr>
          <p:cNvPr id="10" name="AutoShape 10"/>
          <p:cNvSpPr/>
          <p:nvPr/>
        </p:nvSpPr>
        <p:spPr>
          <a:xfrm>
            <a:off x="7175500" y="1930400"/>
            <a:ext cx="4000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降低维护成本</a:t>
            </a:r>
            <a:endParaRPr lang="en-US" sz="1100"/>
          </a:p>
        </p:txBody>
      </p:sp>
      <p:cxnSp>
        <p:nvCxnSpPr>
          <p:cNvPr id="11" name="Connector 11"/>
          <p:cNvCxnSpPr/>
          <p:nvPr/>
        </p:nvCxnSpPr>
        <p:spPr>
          <a:xfrm rot="-9549">
            <a:off x="6540509" y="2470150"/>
            <a:ext cx="4572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12" name="AutoShape 12"/>
          <p:cNvSpPr/>
          <p:nvPr/>
        </p:nvSpPr>
        <p:spPr>
          <a:xfrm>
            <a:off x="6540500" y="2603500"/>
            <a:ext cx="4572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规范的接口更容易理解和修改，便于后续的功能迭代和问题排查，降低长期的维护成本。</a:t>
            </a:r>
            <a:endParaRPr lang="en-US" sz="1100"/>
          </a:p>
        </p:txBody>
      </p:sp>
      <p:sp>
        <p:nvSpPr>
          <p:cNvPr id="13" name="AutoShape 13"/>
          <p:cNvSpPr/>
          <p:nvPr/>
        </p:nvSpPr>
        <p:spPr>
          <a:xfrm>
            <a:off x="762000" y="4064000"/>
            <a:ext cx="5207000" cy="2159000"/>
          </a:xfrm>
          <a:prstGeom prst="roundRect">
            <a:avLst>
              <a:gd name="adj" fmla="val 5882"/>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79500" y="4381500"/>
            <a:ext cx="457200" cy="457200"/>
          </a:xfrm>
          <a:prstGeom prst="rect">
            <a:avLst/>
          </a:prstGeom>
        </p:spPr>
      </p:pic>
      <p:sp>
        <p:nvSpPr>
          <p:cNvPr id="15" name="AutoShape 15"/>
          <p:cNvSpPr/>
          <p:nvPr/>
        </p:nvSpPr>
        <p:spPr>
          <a:xfrm>
            <a:off x="1714500" y="4343400"/>
            <a:ext cx="4000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提升可扩展性</a:t>
            </a:r>
            <a:endParaRPr lang="en-US" sz="1100"/>
          </a:p>
        </p:txBody>
      </p:sp>
      <p:cxnSp>
        <p:nvCxnSpPr>
          <p:cNvPr id="16" name="Connector 16"/>
          <p:cNvCxnSpPr/>
          <p:nvPr/>
        </p:nvCxnSpPr>
        <p:spPr>
          <a:xfrm rot="-9549">
            <a:off x="1079509" y="4883150"/>
            <a:ext cx="4572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17" name="AutoShape 17"/>
          <p:cNvSpPr/>
          <p:nvPr/>
        </p:nvSpPr>
        <p:spPr>
          <a:xfrm>
            <a:off x="1079500" y="5016500"/>
            <a:ext cx="4572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良好的接口设计能够支持未来的功能扩展和版本迭代，确保系统架构的灵活性和健壮性。</a:t>
            </a:r>
            <a:endParaRPr lang="en-US" sz="1100"/>
          </a:p>
        </p:txBody>
      </p:sp>
      <p:sp>
        <p:nvSpPr>
          <p:cNvPr id="18" name="AutoShape 18"/>
          <p:cNvSpPr/>
          <p:nvPr/>
        </p:nvSpPr>
        <p:spPr>
          <a:xfrm>
            <a:off x="6223000" y="4064000"/>
            <a:ext cx="5207000" cy="2159000"/>
          </a:xfrm>
          <a:prstGeom prst="roundRect">
            <a:avLst>
              <a:gd name="adj" fmla="val 5882"/>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540500" y="4381500"/>
            <a:ext cx="457200" cy="457200"/>
          </a:xfrm>
          <a:prstGeom prst="rect">
            <a:avLst/>
          </a:prstGeom>
        </p:spPr>
      </p:pic>
      <p:sp>
        <p:nvSpPr>
          <p:cNvPr id="20" name="AutoShape 20"/>
          <p:cNvSpPr/>
          <p:nvPr/>
        </p:nvSpPr>
        <p:spPr>
          <a:xfrm>
            <a:off x="7175500" y="4343400"/>
            <a:ext cx="4000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增强易用性</a:t>
            </a:r>
            <a:endParaRPr lang="en-US" sz="1100"/>
          </a:p>
        </p:txBody>
      </p:sp>
      <p:cxnSp>
        <p:nvCxnSpPr>
          <p:cNvPr id="21" name="Connector 21"/>
          <p:cNvCxnSpPr/>
          <p:nvPr/>
        </p:nvCxnSpPr>
        <p:spPr>
          <a:xfrm rot="-9549">
            <a:off x="6540509" y="4883150"/>
            <a:ext cx="4572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22" name="AutoShape 22"/>
          <p:cNvSpPr/>
          <p:nvPr/>
        </p:nvSpPr>
        <p:spPr>
          <a:xfrm>
            <a:off x="6540500" y="5016500"/>
            <a:ext cx="4572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标准化的接口文档和设计风格，能让其他开发者快速、轻松地理解和集成你的服务。</a:t>
            </a:r>
            <a:endParaRPr lang="en-US" sz="11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接口设计要素（一）：通信协议与URL</a:t>
            </a:r>
            <a:endParaRPr lang="en-US" sz="1100"/>
          </a:p>
        </p:txBody>
      </p:sp>
      <p:sp>
        <p:nvSpPr>
          <p:cNvPr id="3" name="AutoShape 3"/>
          <p:cNvSpPr/>
          <p:nvPr/>
        </p:nvSpPr>
        <p:spPr>
          <a:xfrm>
            <a:off x="762000" y="1524000"/>
            <a:ext cx="5080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78000"/>
            <a:ext cx="355600" cy="355600"/>
          </a:xfrm>
          <a:prstGeom prst="rect">
            <a:avLst/>
          </a:prstGeom>
        </p:spPr>
      </p:pic>
      <p:sp>
        <p:nvSpPr>
          <p:cNvPr id="5" name="AutoShape 5"/>
          <p:cNvSpPr/>
          <p:nvPr/>
        </p:nvSpPr>
        <p:spPr>
          <a:xfrm>
            <a:off x="1460500" y="1752600"/>
            <a:ext cx="3810000" cy="4064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通信协议选择</a:t>
            </a:r>
            <a:endParaRPr lang="en-US" sz="1100"/>
          </a:p>
        </p:txBody>
      </p:sp>
      <p:cxnSp>
        <p:nvCxnSpPr>
          <p:cNvPr id="6" name="Connector 6"/>
          <p:cNvCxnSpPr/>
          <p:nvPr/>
        </p:nvCxnSpPr>
        <p:spPr>
          <a:xfrm rot="-9549">
            <a:off x="1016009" y="2216150"/>
            <a:ext cx="4572000" cy="12700"/>
          </a:xfrm>
          <a:prstGeom prst="line">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pic>
        <p:nvPicPr>
          <p:cNvPr id="7" name="Picture 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2476500"/>
            <a:ext cx="304800" cy="304800"/>
          </a:xfrm>
          <a:prstGeom prst="rect">
            <a:avLst/>
          </a:prstGeom>
        </p:spPr>
      </p:pic>
      <p:sp>
        <p:nvSpPr>
          <p:cNvPr id="8" name="AutoShape 8"/>
          <p:cNvSpPr/>
          <p:nvPr/>
        </p:nvSpPr>
        <p:spPr>
          <a:xfrm>
            <a:off x="1397000" y="2438400"/>
            <a:ext cx="4191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HTTP / HTTPS (常规服务)</a:t>
            </a:r>
            <a:endParaRPr lang="en-US" sz="1100"/>
          </a:p>
        </p:txBody>
      </p:sp>
      <p:sp>
        <p:nvSpPr>
          <p:cNvPr id="9" name="AutoShape 9"/>
          <p:cNvSpPr/>
          <p:nvPr/>
        </p:nvSpPr>
        <p:spPr>
          <a:xfrm>
            <a:off x="1397000" y="2794000"/>
            <a:ext cx="4191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适用于大多数Web服务，提供标准的请求响应模型，确保数据传输的安全性与规范性。</a:t>
            </a:r>
            <a:endParaRPr lang="en-US" sz="1100"/>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3683000"/>
            <a:ext cx="304800" cy="304800"/>
          </a:xfrm>
          <a:prstGeom prst="rect">
            <a:avLst/>
          </a:prstGeom>
        </p:spPr>
      </p:pic>
      <p:sp>
        <p:nvSpPr>
          <p:cNvPr id="11" name="AutoShape 11"/>
          <p:cNvSpPr/>
          <p:nvPr/>
        </p:nvSpPr>
        <p:spPr>
          <a:xfrm>
            <a:off x="1397000" y="3644900"/>
            <a:ext cx="4191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WebSocket (实时通信)</a:t>
            </a:r>
            <a:endParaRPr lang="en-US" sz="1100"/>
          </a:p>
        </p:txBody>
      </p:sp>
      <p:sp>
        <p:nvSpPr>
          <p:cNvPr id="12" name="AutoShape 12"/>
          <p:cNvSpPr/>
          <p:nvPr/>
        </p:nvSpPr>
        <p:spPr>
          <a:xfrm>
            <a:off x="1397000" y="4000500"/>
            <a:ext cx="4191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适用于需要双向实时数据交互的场景，如即时通讯、实时监控等，能显著降低延迟。</a:t>
            </a:r>
            <a:endParaRPr lang="en-US" sz="1100"/>
          </a:p>
        </p:txBody>
      </p:sp>
      <p:sp>
        <p:nvSpPr>
          <p:cNvPr id="13" name="AutoShape 13"/>
          <p:cNvSpPr/>
          <p:nvPr/>
        </p:nvSpPr>
        <p:spPr>
          <a:xfrm>
            <a:off x="6096000" y="1524000"/>
            <a:ext cx="5080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350000" y="1778000"/>
            <a:ext cx="355600" cy="355600"/>
          </a:xfrm>
          <a:prstGeom prst="rect">
            <a:avLst/>
          </a:prstGeom>
        </p:spPr>
      </p:pic>
      <p:sp>
        <p:nvSpPr>
          <p:cNvPr id="15" name="AutoShape 15"/>
          <p:cNvSpPr/>
          <p:nvPr/>
        </p:nvSpPr>
        <p:spPr>
          <a:xfrm>
            <a:off x="6794500" y="1752600"/>
            <a:ext cx="3810000" cy="4064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URL 设计规范</a:t>
            </a:r>
            <a:endParaRPr lang="en-US" sz="1100"/>
          </a:p>
        </p:txBody>
      </p:sp>
      <p:cxnSp>
        <p:nvCxnSpPr>
          <p:cNvPr id="16" name="Connector 16"/>
          <p:cNvCxnSpPr/>
          <p:nvPr/>
        </p:nvCxnSpPr>
        <p:spPr>
          <a:xfrm rot="-9549">
            <a:off x="6350009" y="2216150"/>
            <a:ext cx="4572000" cy="12700"/>
          </a:xfrm>
          <a:prstGeom prst="line">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pic>
        <p:nvPicPr>
          <p:cNvPr id="17" name="Picture 17"/>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350000" y="2476500"/>
            <a:ext cx="304800" cy="304800"/>
          </a:xfrm>
          <a:prstGeom prst="rect">
            <a:avLst/>
          </a:prstGeom>
        </p:spPr>
      </p:pic>
      <p:sp>
        <p:nvSpPr>
          <p:cNvPr id="18" name="AutoShape 18"/>
          <p:cNvSpPr/>
          <p:nvPr/>
        </p:nvSpPr>
        <p:spPr>
          <a:xfrm>
            <a:off x="6731000" y="2438400"/>
            <a:ext cx="4191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清晰命名</a:t>
            </a:r>
            <a:endParaRPr lang="en-US" sz="1100"/>
          </a:p>
        </p:txBody>
      </p:sp>
      <p:sp>
        <p:nvSpPr>
          <p:cNvPr id="19" name="AutoShape 19"/>
          <p:cNvSpPr/>
          <p:nvPr/>
        </p:nvSpPr>
        <p:spPr>
          <a:xfrm>
            <a:off x="6731000" y="27940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使用名词复数形式表示资源集合，如 `/users`，直观表达服务用途。</a:t>
            </a:r>
            <a:endParaRPr lang="en-US" sz="1100"/>
          </a:p>
        </p:txBody>
      </p:sp>
      <p:pic>
        <p:nvPicPr>
          <p:cNvPr id="20" name="Picture 20"/>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350000" y="3429000"/>
            <a:ext cx="304800" cy="304800"/>
          </a:xfrm>
          <a:prstGeom prst="rect">
            <a:avLst/>
          </a:prstGeom>
        </p:spPr>
      </p:pic>
      <p:sp>
        <p:nvSpPr>
          <p:cNvPr id="21" name="AutoShape 21"/>
          <p:cNvSpPr/>
          <p:nvPr/>
        </p:nvSpPr>
        <p:spPr>
          <a:xfrm>
            <a:off x="6731000" y="3390900"/>
            <a:ext cx="4191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层次结构</a:t>
            </a:r>
            <a:endParaRPr lang="en-US" sz="1100"/>
          </a:p>
        </p:txBody>
      </p:sp>
      <p:sp>
        <p:nvSpPr>
          <p:cNvPr id="22" name="AutoShape 22"/>
          <p:cNvSpPr/>
          <p:nvPr/>
        </p:nvSpPr>
        <p:spPr>
          <a:xfrm>
            <a:off x="6731000" y="37465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通过路径体现资源从属关系，如 `/users/123/orders` 明确用户与订单的关联。</a:t>
            </a:r>
            <a:endParaRPr lang="en-US" sz="1100"/>
          </a:p>
        </p:txBody>
      </p:sp>
      <p:pic>
        <p:nvPicPr>
          <p:cNvPr id="23" name="Picture 23"/>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6350000" y="4381500"/>
            <a:ext cx="304800" cy="304800"/>
          </a:xfrm>
          <a:prstGeom prst="rect">
            <a:avLst/>
          </a:prstGeom>
        </p:spPr>
      </p:pic>
      <p:sp>
        <p:nvSpPr>
          <p:cNvPr id="24" name="AutoShape 24"/>
          <p:cNvSpPr/>
          <p:nvPr/>
        </p:nvSpPr>
        <p:spPr>
          <a:xfrm>
            <a:off x="6731000" y="4343400"/>
            <a:ext cx="4191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避免歧义</a:t>
            </a:r>
            <a:endParaRPr lang="en-US" sz="1100"/>
          </a:p>
        </p:txBody>
      </p:sp>
      <p:sp>
        <p:nvSpPr>
          <p:cNvPr id="25" name="AutoShape 25"/>
          <p:cNvSpPr/>
          <p:nvPr/>
        </p:nvSpPr>
        <p:spPr>
          <a:xfrm>
            <a:off x="6731000" y="46990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避免使用模糊或易产生误解的词汇，确保语义唯一，提升接口的可读性。</a:t>
            </a:r>
            <a:endParaRPr lang="en-US" sz="11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接口设计要素（二）：请求与返回参数</a:t>
            </a:r>
            <a:endParaRPr lang="en-US" sz="1100"/>
          </a:p>
        </p:txBody>
      </p:sp>
      <p:sp>
        <p:nvSpPr>
          <p:cNvPr id="3" name="AutoShape 3"/>
          <p:cNvSpPr/>
          <p:nvPr/>
        </p:nvSpPr>
        <p:spPr>
          <a:xfrm>
            <a:off x="762000" y="1524000"/>
            <a:ext cx="51435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4" name="AutoShape 4"/>
          <p:cNvSpPr/>
          <p:nvPr/>
        </p:nvSpPr>
        <p:spPr>
          <a:xfrm>
            <a:off x="762000" y="1524000"/>
            <a:ext cx="5143500" cy="762000"/>
          </a:xfrm>
          <a:prstGeom prst="roundRect">
            <a:avLst>
              <a:gd name="adj" fmla="val 16666"/>
            </a:avLst>
          </a:prstGeom>
          <a:solidFill>
            <a:srgbClr val="00336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01800"/>
            <a:ext cx="406400" cy="406400"/>
          </a:xfrm>
          <a:prstGeom prst="rect">
            <a:avLst/>
          </a:prstGeom>
        </p:spPr>
      </p:pic>
      <p:sp>
        <p:nvSpPr>
          <p:cNvPr id="6" name="AutoShape 6"/>
          <p:cNvSpPr/>
          <p:nvPr/>
        </p:nvSpPr>
        <p:spPr>
          <a:xfrm>
            <a:off x="1524000" y="1651000"/>
            <a:ext cx="3810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FFFFFF"/>
                </a:solidFill>
                <a:latin typeface="Noto Sans SC"/>
                <a:ea typeface="Noto Sans SC"/>
                <a:cs typeface="Noto Sans SC"/>
                <a:sym typeface="Noto Sans SC"/>
              </a:rPr>
              <a:t>请求参数设计 (Request)</a:t>
            </a:r>
            <a:endParaRPr lang="en-US" sz="1100"/>
          </a:p>
        </p:txBody>
      </p:sp>
      <p:pic>
        <p:nvPicPr>
          <p:cNvPr id="7" name="Picture 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2540000"/>
            <a:ext cx="304800" cy="304800"/>
          </a:xfrm>
          <a:prstGeom prst="rect">
            <a:avLst/>
          </a:prstGeom>
        </p:spPr>
      </p:pic>
      <p:sp>
        <p:nvSpPr>
          <p:cNvPr id="8" name="AutoShape 8"/>
          <p:cNvSpPr/>
          <p:nvPr/>
        </p:nvSpPr>
        <p:spPr>
          <a:xfrm>
            <a:off x="1397000" y="2514600"/>
            <a:ext cx="4191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命名规范</a:t>
            </a:r>
            <a:endParaRPr lang="en-US" sz="1100"/>
          </a:p>
        </p:txBody>
      </p:sp>
      <p:sp>
        <p:nvSpPr>
          <p:cNvPr id="9" name="AutoShape 9"/>
          <p:cNvSpPr/>
          <p:nvPr/>
        </p:nvSpPr>
        <p:spPr>
          <a:xfrm>
            <a:off x="1397000" y="28702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参数名应清晰、简洁，符合业务语义，避免使用无意义的缩写。</a:t>
            </a:r>
            <a:endParaRPr lang="en-US" sz="1100"/>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3429000"/>
            <a:ext cx="304800" cy="304800"/>
          </a:xfrm>
          <a:prstGeom prst="rect">
            <a:avLst/>
          </a:prstGeom>
        </p:spPr>
      </p:pic>
      <p:sp>
        <p:nvSpPr>
          <p:cNvPr id="11" name="AutoShape 11"/>
          <p:cNvSpPr/>
          <p:nvPr/>
        </p:nvSpPr>
        <p:spPr>
          <a:xfrm>
            <a:off x="1397000" y="3403600"/>
            <a:ext cx="4191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类型与格式</a:t>
            </a:r>
            <a:endParaRPr lang="en-US" sz="1100"/>
          </a:p>
        </p:txBody>
      </p:sp>
      <p:sp>
        <p:nvSpPr>
          <p:cNvPr id="12" name="AutoShape 12"/>
          <p:cNvSpPr/>
          <p:nvPr/>
        </p:nvSpPr>
        <p:spPr>
          <a:xfrm>
            <a:off x="1397000" y="37592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明确数据类型（如字符串、整数）及格式要求（如日期格式YYYY-MM-DD）。</a:t>
            </a:r>
            <a:endParaRPr lang="en-US" sz="1100"/>
          </a:p>
        </p:txBody>
      </p:sp>
      <p:pic>
        <p:nvPicPr>
          <p:cNvPr id="13" name="Picture 13"/>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4318000"/>
            <a:ext cx="304800" cy="304800"/>
          </a:xfrm>
          <a:prstGeom prst="rect">
            <a:avLst/>
          </a:prstGeom>
        </p:spPr>
      </p:pic>
      <p:sp>
        <p:nvSpPr>
          <p:cNvPr id="14" name="AutoShape 14"/>
          <p:cNvSpPr/>
          <p:nvPr/>
        </p:nvSpPr>
        <p:spPr>
          <a:xfrm>
            <a:off x="1397000" y="4292600"/>
            <a:ext cx="4191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必要性与默认值</a:t>
            </a:r>
            <a:endParaRPr lang="en-US" sz="1100"/>
          </a:p>
        </p:txBody>
      </p:sp>
      <p:sp>
        <p:nvSpPr>
          <p:cNvPr id="15" name="AutoShape 15"/>
          <p:cNvSpPr/>
          <p:nvPr/>
        </p:nvSpPr>
        <p:spPr>
          <a:xfrm>
            <a:off x="1397000" y="46482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严格区分必填与可选参数，为可选参数提供合理的默认值。</a:t>
            </a:r>
            <a:endParaRPr lang="en-US" sz="1100"/>
          </a:p>
        </p:txBody>
      </p:sp>
      <p:sp>
        <p:nvSpPr>
          <p:cNvPr id="16" name="AutoShape 16"/>
          <p:cNvSpPr/>
          <p:nvPr/>
        </p:nvSpPr>
        <p:spPr>
          <a:xfrm>
            <a:off x="6286500" y="1524000"/>
            <a:ext cx="51435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17" name="AutoShape 17"/>
          <p:cNvSpPr/>
          <p:nvPr/>
        </p:nvSpPr>
        <p:spPr>
          <a:xfrm>
            <a:off x="6286500" y="1524000"/>
            <a:ext cx="5143500" cy="762000"/>
          </a:xfrm>
          <a:prstGeom prst="roundRect">
            <a:avLst>
              <a:gd name="adj" fmla="val 16666"/>
            </a:avLst>
          </a:prstGeom>
          <a:solidFill>
            <a:srgbClr val="00336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540500" y="1701800"/>
            <a:ext cx="406400" cy="406400"/>
          </a:xfrm>
          <a:prstGeom prst="rect">
            <a:avLst/>
          </a:prstGeom>
        </p:spPr>
      </p:pic>
      <p:sp>
        <p:nvSpPr>
          <p:cNvPr id="19" name="AutoShape 19"/>
          <p:cNvSpPr/>
          <p:nvPr/>
        </p:nvSpPr>
        <p:spPr>
          <a:xfrm>
            <a:off x="7048500" y="1651000"/>
            <a:ext cx="3810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FFFFFF"/>
                </a:solidFill>
                <a:latin typeface="Noto Sans SC"/>
                <a:ea typeface="Noto Sans SC"/>
                <a:cs typeface="Noto Sans SC"/>
                <a:sym typeface="Noto Sans SC"/>
              </a:rPr>
              <a:t>返回参数设计 (Response)</a:t>
            </a:r>
            <a:endParaRPr lang="en-US" sz="1100"/>
          </a:p>
        </p:txBody>
      </p:sp>
      <p:pic>
        <p:nvPicPr>
          <p:cNvPr id="20" name="Picture 20"/>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540500" y="2540000"/>
            <a:ext cx="304800" cy="304800"/>
          </a:xfrm>
          <a:prstGeom prst="rect">
            <a:avLst/>
          </a:prstGeom>
        </p:spPr>
      </p:pic>
      <p:sp>
        <p:nvSpPr>
          <p:cNvPr id="21" name="AutoShape 21"/>
          <p:cNvSpPr/>
          <p:nvPr/>
        </p:nvSpPr>
        <p:spPr>
          <a:xfrm>
            <a:off x="6921500" y="2514600"/>
            <a:ext cx="4191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统一数据格式</a:t>
            </a:r>
            <a:endParaRPr lang="en-US" sz="1100"/>
          </a:p>
        </p:txBody>
      </p:sp>
      <p:sp>
        <p:nvSpPr>
          <p:cNvPr id="22" name="AutoShape 22"/>
          <p:cNvSpPr/>
          <p:nvPr/>
        </p:nvSpPr>
        <p:spPr>
          <a:xfrm>
            <a:off x="6921500" y="28702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推荐使用JSON格式，结构清晰，易于解析，避免使用复杂的自定义格式。</a:t>
            </a:r>
            <a:endParaRPr lang="en-US" sz="1100"/>
          </a:p>
        </p:txBody>
      </p:sp>
      <p:pic>
        <p:nvPicPr>
          <p:cNvPr id="23" name="Picture 23"/>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6540500" y="3429000"/>
            <a:ext cx="304800" cy="304800"/>
          </a:xfrm>
          <a:prstGeom prst="rect">
            <a:avLst/>
          </a:prstGeom>
        </p:spPr>
      </p:pic>
      <p:sp>
        <p:nvSpPr>
          <p:cNvPr id="24" name="AutoShape 24"/>
          <p:cNvSpPr/>
          <p:nvPr/>
        </p:nvSpPr>
        <p:spPr>
          <a:xfrm>
            <a:off x="6921500" y="3403600"/>
            <a:ext cx="4191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标准响应结构</a:t>
            </a:r>
            <a:endParaRPr lang="en-US" sz="1100"/>
          </a:p>
        </p:txBody>
      </p:sp>
      <p:sp>
        <p:nvSpPr>
          <p:cNvPr id="25" name="AutoShape 25"/>
          <p:cNvSpPr/>
          <p:nvPr/>
        </p:nvSpPr>
        <p:spPr>
          <a:xfrm>
            <a:off x="6921500" y="37592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通常包含状态码(code)、响应数据(data)和消息描述(message)三个核心字段。</a:t>
            </a:r>
            <a:endParaRPr lang="en-US" sz="1100"/>
          </a:p>
        </p:txBody>
      </p:sp>
      <p:pic>
        <p:nvPicPr>
          <p:cNvPr id="26" name="Picture 26"/>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6540500" y="4318000"/>
            <a:ext cx="304800" cy="304800"/>
          </a:xfrm>
          <a:prstGeom prst="rect">
            <a:avLst/>
          </a:prstGeom>
        </p:spPr>
      </p:pic>
      <p:sp>
        <p:nvSpPr>
          <p:cNvPr id="27" name="AutoShape 27"/>
          <p:cNvSpPr/>
          <p:nvPr/>
        </p:nvSpPr>
        <p:spPr>
          <a:xfrm>
            <a:off x="6921500" y="4292600"/>
            <a:ext cx="4191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状态码体系</a:t>
            </a:r>
            <a:endParaRPr lang="en-US" sz="1100"/>
          </a:p>
        </p:txBody>
      </p:sp>
      <p:sp>
        <p:nvSpPr>
          <p:cNvPr id="28" name="AutoShape 28"/>
          <p:cNvSpPr/>
          <p:nvPr/>
        </p:nvSpPr>
        <p:spPr>
          <a:xfrm>
            <a:off x="6921500" y="46482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设计合理的状态码体系，明确每个状态码的含义和触发条件，便于调用方处理。</a:t>
            </a:r>
            <a:endParaRPr lang="en-US" sz="11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接口设计要素（三）：版本管理与数据格式</a:t>
            </a:r>
            <a:endParaRPr lang="en-US" sz="1100"/>
          </a:p>
        </p:txBody>
      </p:sp>
      <p:sp>
        <p:nvSpPr>
          <p:cNvPr id="3" name="AutoShape 3"/>
          <p:cNvSpPr/>
          <p:nvPr/>
        </p:nvSpPr>
        <p:spPr>
          <a:xfrm>
            <a:off x="762000" y="1524000"/>
            <a:ext cx="5080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78000"/>
            <a:ext cx="406400" cy="406400"/>
          </a:xfrm>
          <a:prstGeom prst="rect">
            <a:avLst/>
          </a:prstGeom>
        </p:spPr>
      </p:pic>
      <p:sp>
        <p:nvSpPr>
          <p:cNvPr id="5" name="AutoShape 5"/>
          <p:cNvSpPr/>
          <p:nvPr/>
        </p:nvSpPr>
        <p:spPr>
          <a:xfrm>
            <a:off x="1524000" y="1752600"/>
            <a:ext cx="4064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版本管理策略</a:t>
            </a:r>
            <a:endParaRPr lang="en-US" sz="1100"/>
          </a:p>
        </p:txBody>
      </p:sp>
      <p:cxnSp>
        <p:nvCxnSpPr>
          <p:cNvPr id="6" name="Connector 6"/>
          <p:cNvCxnSpPr/>
          <p:nvPr/>
        </p:nvCxnSpPr>
        <p:spPr>
          <a:xfrm rot="-9549">
            <a:off x="1016009" y="2279650"/>
            <a:ext cx="4572000" cy="12700"/>
          </a:xfrm>
          <a:prstGeom prst="line">
            <a:avLst/>
          </a:prstGeom>
          <a:solidFill>
            <a:srgbClr val="DEE0E3">
              <a:alpha val="100000"/>
            </a:srgbClr>
          </a:solidFill>
          <a:ln w="25400" cap="flat" cmpd="sng">
            <a:solidFill>
              <a:srgbClr val="E6F3FF">
                <a:alpha val="100000"/>
              </a:srgbClr>
            </a:solidFill>
            <a:prstDash val="solid"/>
            <a:round/>
            <a:headEnd type="none" w="lg" len="lg"/>
            <a:tailEnd type="none" w="lg" len="lg"/>
          </a:ln>
        </p:spPr>
      </p:cxnSp>
      <p:pic>
        <p:nvPicPr>
          <p:cNvPr id="7" name="Picture 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2540000"/>
            <a:ext cx="304800" cy="304800"/>
          </a:xfrm>
          <a:prstGeom prst="rect">
            <a:avLst/>
          </a:prstGeom>
        </p:spPr>
      </p:pic>
      <p:sp>
        <p:nvSpPr>
          <p:cNvPr id="8" name="AutoShape 8"/>
          <p:cNvSpPr/>
          <p:nvPr/>
        </p:nvSpPr>
        <p:spPr>
          <a:xfrm>
            <a:off x="1397000" y="25400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URL 路径版本</a:t>
            </a:r>
            <a:endParaRPr lang="en-US" sz="1100"/>
          </a:p>
        </p:txBody>
      </p:sp>
      <p:sp>
        <p:nvSpPr>
          <p:cNvPr id="9" name="AutoShape 9"/>
          <p:cNvSpPr/>
          <p:nvPr/>
        </p:nvSpPr>
        <p:spPr>
          <a:xfrm>
            <a:off x="1397000" y="28702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66666"/>
                </a:solidFill>
                <a:latin typeface="Noto Sans SC"/>
                <a:ea typeface="Noto Sans SC"/>
                <a:cs typeface="Noto Sans SC"/>
                <a:sym typeface="Noto Sans SC"/>
              </a:rPr>
              <a:t>直接在URL中包含版本号，直观清晰。</a:t>
            </a:r>
            <a:br>
              <a:rPr lang="en-US" sz="1300" b="0" i="0" u="none" strike="noStrike">
                <a:solidFill>
                  <a:srgbClr val="1F2329"/>
                </a:solidFill>
                <a:latin typeface="Noto Sans SC"/>
                <a:ea typeface="Noto Sans SC"/>
                <a:cs typeface="Noto Sans SC"/>
                <a:sym typeface="Noto Sans SC"/>
              </a:rPr>
            </a:br>
            <a:r>
              <a:rPr lang="en-US" sz="1300" b="0" i="0" u="none" strike="noStrike">
                <a:solidFill>
                  <a:srgbClr val="999999"/>
                </a:solidFill>
                <a:latin typeface="Noto Sans SC"/>
                <a:ea typeface="Noto Sans SC"/>
                <a:cs typeface="Noto Sans SC"/>
                <a:sym typeface="Noto Sans SC"/>
              </a:rPr>
              <a:t>示例：/v1/users</a:t>
            </a:r>
            <a:endParaRPr lang="en-US" sz="1100"/>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3492500"/>
            <a:ext cx="304800" cy="304800"/>
          </a:xfrm>
          <a:prstGeom prst="rect">
            <a:avLst/>
          </a:prstGeom>
        </p:spPr>
      </p:pic>
      <p:sp>
        <p:nvSpPr>
          <p:cNvPr id="11" name="AutoShape 11"/>
          <p:cNvSpPr/>
          <p:nvPr/>
        </p:nvSpPr>
        <p:spPr>
          <a:xfrm>
            <a:off x="1397000" y="34925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请求头 (Header)</a:t>
            </a:r>
            <a:endParaRPr lang="en-US" sz="1100"/>
          </a:p>
        </p:txBody>
      </p:sp>
      <p:sp>
        <p:nvSpPr>
          <p:cNvPr id="12" name="AutoShape 12"/>
          <p:cNvSpPr/>
          <p:nvPr/>
        </p:nvSpPr>
        <p:spPr>
          <a:xfrm>
            <a:off x="1397000" y="38227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66666"/>
                </a:solidFill>
                <a:latin typeface="Noto Sans SC"/>
                <a:ea typeface="Noto Sans SC"/>
                <a:cs typeface="Noto Sans SC"/>
                <a:sym typeface="Noto Sans SC"/>
              </a:rPr>
              <a:t>保持URL整洁，将版本信息放入Header中。</a:t>
            </a:r>
            <a:br>
              <a:rPr lang="en-US" sz="1300" b="0" i="0" u="none" strike="noStrike">
                <a:solidFill>
                  <a:srgbClr val="1F2329"/>
                </a:solidFill>
                <a:latin typeface="Noto Sans SC"/>
                <a:ea typeface="Noto Sans SC"/>
                <a:cs typeface="Noto Sans SC"/>
                <a:sym typeface="Noto Sans SC"/>
              </a:rPr>
            </a:br>
            <a:r>
              <a:rPr lang="en-US" sz="1300" b="0" i="0" u="none" strike="noStrike">
                <a:solidFill>
                  <a:srgbClr val="999999"/>
                </a:solidFill>
                <a:latin typeface="Noto Sans SC"/>
                <a:ea typeface="Noto Sans SC"/>
                <a:cs typeface="Noto Sans SC"/>
                <a:sym typeface="Noto Sans SC"/>
              </a:rPr>
              <a:t>示例：API-Version: 1</a:t>
            </a:r>
            <a:endParaRPr lang="en-US" sz="1100"/>
          </a:p>
        </p:txBody>
      </p:sp>
      <p:pic>
        <p:nvPicPr>
          <p:cNvPr id="13" name="Picture 13"/>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4445000"/>
            <a:ext cx="304800" cy="304800"/>
          </a:xfrm>
          <a:prstGeom prst="rect">
            <a:avLst/>
          </a:prstGeom>
        </p:spPr>
      </p:pic>
      <p:sp>
        <p:nvSpPr>
          <p:cNvPr id="14" name="AutoShape 14"/>
          <p:cNvSpPr/>
          <p:nvPr/>
        </p:nvSpPr>
        <p:spPr>
          <a:xfrm>
            <a:off x="1397000" y="44450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查询参数 (Params)</a:t>
            </a:r>
            <a:endParaRPr lang="en-US" sz="1100"/>
          </a:p>
        </p:txBody>
      </p:sp>
      <p:sp>
        <p:nvSpPr>
          <p:cNvPr id="15" name="AutoShape 15"/>
          <p:cNvSpPr/>
          <p:nvPr/>
        </p:nvSpPr>
        <p:spPr>
          <a:xfrm>
            <a:off x="1397000" y="47752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66666"/>
                </a:solidFill>
                <a:latin typeface="Noto Sans SC"/>
                <a:ea typeface="Noto Sans SC"/>
                <a:cs typeface="Noto Sans SC"/>
                <a:sym typeface="Noto Sans SC"/>
              </a:rPr>
              <a:t>灵活度高，适合临时性的版本切换。</a:t>
            </a:r>
            <a:br>
              <a:rPr lang="en-US" sz="1300" b="0" i="0" u="none" strike="noStrike">
                <a:solidFill>
                  <a:srgbClr val="1F2329"/>
                </a:solidFill>
                <a:latin typeface="Noto Sans SC"/>
                <a:ea typeface="Noto Sans SC"/>
                <a:cs typeface="Noto Sans SC"/>
                <a:sym typeface="Noto Sans SC"/>
              </a:rPr>
            </a:br>
            <a:r>
              <a:rPr lang="en-US" sz="1300" b="0" i="0" u="none" strike="noStrike">
                <a:solidFill>
                  <a:srgbClr val="999999"/>
                </a:solidFill>
                <a:latin typeface="Noto Sans SC"/>
                <a:ea typeface="Noto Sans SC"/>
                <a:cs typeface="Noto Sans SC"/>
                <a:sym typeface="Noto Sans SC"/>
              </a:rPr>
              <a:t>示例：/users?version=1</a:t>
            </a:r>
            <a:endParaRPr lang="en-US" sz="1100"/>
          </a:p>
        </p:txBody>
      </p:sp>
      <p:sp>
        <p:nvSpPr>
          <p:cNvPr id="16" name="AutoShape 16"/>
          <p:cNvSpPr/>
          <p:nvPr/>
        </p:nvSpPr>
        <p:spPr>
          <a:xfrm>
            <a:off x="6350000" y="1524000"/>
            <a:ext cx="5080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604000" y="1778000"/>
            <a:ext cx="406400" cy="406400"/>
          </a:xfrm>
          <a:prstGeom prst="rect">
            <a:avLst/>
          </a:prstGeom>
        </p:spPr>
      </p:pic>
      <p:sp>
        <p:nvSpPr>
          <p:cNvPr id="18" name="AutoShape 18"/>
          <p:cNvSpPr/>
          <p:nvPr/>
        </p:nvSpPr>
        <p:spPr>
          <a:xfrm>
            <a:off x="7112000" y="1752600"/>
            <a:ext cx="4064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传输数据格式</a:t>
            </a:r>
            <a:endParaRPr lang="en-US" sz="1100"/>
          </a:p>
        </p:txBody>
      </p:sp>
      <p:cxnSp>
        <p:nvCxnSpPr>
          <p:cNvPr id="19" name="Connector 19"/>
          <p:cNvCxnSpPr/>
          <p:nvPr/>
        </p:nvCxnSpPr>
        <p:spPr>
          <a:xfrm rot="-9549">
            <a:off x="6604009" y="2279650"/>
            <a:ext cx="4572000" cy="12700"/>
          </a:xfrm>
          <a:prstGeom prst="line">
            <a:avLst/>
          </a:prstGeom>
          <a:solidFill>
            <a:srgbClr val="DEE0E3">
              <a:alpha val="100000"/>
            </a:srgbClr>
          </a:solidFill>
          <a:ln w="25400" cap="flat" cmpd="sng">
            <a:solidFill>
              <a:srgbClr val="E6F3FF">
                <a:alpha val="100000"/>
              </a:srgbClr>
            </a:solidFill>
            <a:prstDash val="solid"/>
            <a:round/>
            <a:headEnd type="none" w="lg" len="lg"/>
            <a:tailEnd type="none" w="lg" len="lg"/>
          </a:ln>
        </p:spPr>
      </p:cxnSp>
      <p:pic>
        <p:nvPicPr>
          <p:cNvPr id="20" name="Picture 20"/>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604000" y="2540000"/>
            <a:ext cx="304800" cy="304800"/>
          </a:xfrm>
          <a:prstGeom prst="rect">
            <a:avLst/>
          </a:prstGeom>
        </p:spPr>
      </p:pic>
      <p:sp>
        <p:nvSpPr>
          <p:cNvPr id="21" name="AutoShape 21"/>
          <p:cNvSpPr/>
          <p:nvPr/>
        </p:nvSpPr>
        <p:spPr>
          <a:xfrm>
            <a:off x="6985000" y="25400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JSON (主流推荐)</a:t>
            </a:r>
            <a:endParaRPr lang="en-US" sz="1100"/>
          </a:p>
        </p:txBody>
      </p:sp>
      <p:sp>
        <p:nvSpPr>
          <p:cNvPr id="22" name="AutoShape 22"/>
          <p:cNvSpPr/>
          <p:nvPr/>
        </p:nvSpPr>
        <p:spPr>
          <a:xfrm>
            <a:off x="6985000" y="2870200"/>
            <a:ext cx="4191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66666"/>
                </a:solidFill>
                <a:latin typeface="Noto Sans SC"/>
                <a:ea typeface="Noto Sans SC"/>
                <a:cs typeface="Noto Sans SC"/>
                <a:sym typeface="Noto Sans SC"/>
              </a:rPr>
              <a:t>轻量级、易于阅读和编写，解析速度快，是目前Web API的事实标准。</a:t>
            </a:r>
            <a:endParaRPr lang="en-US" sz="1100"/>
          </a:p>
        </p:txBody>
      </p:sp>
      <p:pic>
        <p:nvPicPr>
          <p:cNvPr id="23" name="Picture 23"/>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6604000" y="3746500"/>
            <a:ext cx="304800" cy="304800"/>
          </a:xfrm>
          <a:prstGeom prst="rect">
            <a:avLst/>
          </a:prstGeom>
        </p:spPr>
      </p:pic>
      <p:sp>
        <p:nvSpPr>
          <p:cNvPr id="24" name="AutoShape 24"/>
          <p:cNvSpPr/>
          <p:nvPr/>
        </p:nvSpPr>
        <p:spPr>
          <a:xfrm>
            <a:off x="6985000" y="37465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XML (传统兼容)</a:t>
            </a:r>
            <a:endParaRPr lang="en-US" sz="1100"/>
          </a:p>
        </p:txBody>
      </p:sp>
      <p:sp>
        <p:nvSpPr>
          <p:cNvPr id="25" name="AutoShape 25"/>
          <p:cNvSpPr/>
          <p:nvPr/>
        </p:nvSpPr>
        <p:spPr>
          <a:xfrm>
            <a:off x="6985000" y="4076700"/>
            <a:ext cx="4191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66666"/>
                </a:solidFill>
                <a:latin typeface="Noto Sans SC"/>
                <a:ea typeface="Noto Sans SC"/>
                <a:cs typeface="Noto Sans SC"/>
                <a:sym typeface="Noto Sans SC"/>
              </a:rPr>
              <a:t>结构化程度高，自描述性强，在企业级应用和传统系统集成中仍有广泛使用。</a:t>
            </a:r>
            <a:endParaRPr lang="en-US" sz="11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接口设计要素（四）：数据压缩与参数校验</a:t>
            </a:r>
            <a:endParaRPr lang="en-US" sz="1100"/>
          </a:p>
        </p:txBody>
      </p:sp>
      <p:sp>
        <p:nvSpPr>
          <p:cNvPr id="3" name="AutoShape 3"/>
          <p:cNvSpPr/>
          <p:nvPr/>
        </p:nvSpPr>
        <p:spPr>
          <a:xfrm>
            <a:off x="762000" y="1524000"/>
            <a:ext cx="51435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4" name="AutoShape 4"/>
          <p:cNvSpPr/>
          <p:nvPr/>
        </p:nvSpPr>
        <p:spPr>
          <a:xfrm>
            <a:off x="762000" y="1524000"/>
            <a:ext cx="5143500" cy="762000"/>
          </a:xfrm>
          <a:prstGeom prst="roundRect">
            <a:avLst>
              <a:gd name="adj" fmla="val 16666"/>
            </a:avLst>
          </a:prstGeom>
          <a:solidFill>
            <a:srgbClr val="003366">
              <a:alpha val="5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676400"/>
            <a:ext cx="457200" cy="457200"/>
          </a:xfrm>
          <a:prstGeom prst="rect">
            <a:avLst/>
          </a:prstGeom>
        </p:spPr>
      </p:pic>
      <p:sp>
        <p:nvSpPr>
          <p:cNvPr id="6" name="AutoShape 6"/>
          <p:cNvSpPr/>
          <p:nvPr/>
        </p:nvSpPr>
        <p:spPr>
          <a:xfrm>
            <a:off x="1574800" y="1651000"/>
            <a:ext cx="4064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数据压缩策略</a:t>
            </a:r>
            <a:endParaRPr lang="en-US" sz="1100"/>
          </a:p>
        </p:txBody>
      </p:sp>
      <p:pic>
        <p:nvPicPr>
          <p:cNvPr id="7" name="Picture 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2540000"/>
            <a:ext cx="304800" cy="304800"/>
          </a:xfrm>
          <a:prstGeom prst="rect">
            <a:avLst/>
          </a:prstGeom>
        </p:spPr>
      </p:pic>
      <p:sp>
        <p:nvSpPr>
          <p:cNvPr id="8" name="AutoShape 8"/>
          <p:cNvSpPr/>
          <p:nvPr/>
        </p:nvSpPr>
        <p:spPr>
          <a:xfrm>
            <a:off x="1397000" y="2514600"/>
            <a:ext cx="4254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提升传输性能</a:t>
            </a:r>
            <a:endParaRPr lang="en-US" sz="1100"/>
          </a:p>
        </p:txBody>
      </p:sp>
      <p:sp>
        <p:nvSpPr>
          <p:cNvPr id="9" name="AutoShape 9"/>
          <p:cNvSpPr/>
          <p:nvPr/>
        </p:nvSpPr>
        <p:spPr>
          <a:xfrm>
            <a:off x="1397000" y="2895600"/>
            <a:ext cx="42545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针对大量数据传输场景，使用 Gzip 等算法压缩数据，可显著减少网络带宽占用，提升接口响应速度。</a:t>
            </a:r>
            <a:endParaRPr lang="en-US" sz="1100"/>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3810000"/>
            <a:ext cx="304800" cy="304800"/>
          </a:xfrm>
          <a:prstGeom prst="rect">
            <a:avLst/>
          </a:prstGeom>
        </p:spPr>
      </p:pic>
      <p:sp>
        <p:nvSpPr>
          <p:cNvPr id="11" name="AutoShape 11"/>
          <p:cNvSpPr/>
          <p:nvPr/>
        </p:nvSpPr>
        <p:spPr>
          <a:xfrm>
            <a:off x="1397000" y="3784600"/>
            <a:ext cx="4254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算法协商机制</a:t>
            </a:r>
            <a:endParaRPr lang="en-US" sz="1100"/>
          </a:p>
        </p:txBody>
      </p:sp>
      <p:sp>
        <p:nvSpPr>
          <p:cNvPr id="12" name="AutoShape 12"/>
          <p:cNvSpPr/>
          <p:nvPr/>
        </p:nvSpPr>
        <p:spPr>
          <a:xfrm>
            <a:off x="1397000" y="4165600"/>
            <a:ext cx="42545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服务端与客户端需提前协商支持的压缩算法，确保双方能正确进行数据的压缩与解压缩操作。</a:t>
            </a:r>
            <a:endParaRPr lang="en-US" sz="1100"/>
          </a:p>
        </p:txBody>
      </p:sp>
      <p:sp>
        <p:nvSpPr>
          <p:cNvPr id="13" name="AutoShape 13"/>
          <p:cNvSpPr/>
          <p:nvPr/>
        </p:nvSpPr>
        <p:spPr>
          <a:xfrm>
            <a:off x="6286500" y="1524000"/>
            <a:ext cx="51435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14" name="AutoShape 14"/>
          <p:cNvSpPr/>
          <p:nvPr/>
        </p:nvSpPr>
        <p:spPr>
          <a:xfrm>
            <a:off x="6286500" y="1524000"/>
            <a:ext cx="5143500" cy="762000"/>
          </a:xfrm>
          <a:prstGeom prst="roundRect">
            <a:avLst>
              <a:gd name="adj" fmla="val 16666"/>
            </a:avLst>
          </a:prstGeom>
          <a:solidFill>
            <a:srgbClr val="003366">
              <a:alpha val="5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540500" y="1676400"/>
            <a:ext cx="457200" cy="457200"/>
          </a:xfrm>
          <a:prstGeom prst="rect">
            <a:avLst/>
          </a:prstGeom>
        </p:spPr>
      </p:pic>
      <p:sp>
        <p:nvSpPr>
          <p:cNvPr id="16" name="AutoShape 16"/>
          <p:cNvSpPr/>
          <p:nvPr/>
        </p:nvSpPr>
        <p:spPr>
          <a:xfrm>
            <a:off x="7099300" y="1651000"/>
            <a:ext cx="4064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参数合法性校验</a:t>
            </a:r>
            <a:endParaRPr lang="en-US" sz="1100"/>
          </a:p>
        </p:txBody>
      </p:sp>
      <p:pic>
        <p:nvPicPr>
          <p:cNvPr id="17" name="Picture 17"/>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540500" y="2540000"/>
            <a:ext cx="304800" cy="304800"/>
          </a:xfrm>
          <a:prstGeom prst="rect">
            <a:avLst/>
          </a:prstGeom>
        </p:spPr>
      </p:pic>
      <p:sp>
        <p:nvSpPr>
          <p:cNvPr id="18" name="AutoShape 18"/>
          <p:cNvSpPr/>
          <p:nvPr/>
        </p:nvSpPr>
        <p:spPr>
          <a:xfrm>
            <a:off x="6921500" y="2514600"/>
            <a:ext cx="4254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系统安全防线</a:t>
            </a:r>
            <a:endParaRPr lang="en-US" sz="1100"/>
          </a:p>
        </p:txBody>
      </p:sp>
      <p:sp>
        <p:nvSpPr>
          <p:cNvPr id="19" name="AutoShape 19"/>
          <p:cNvSpPr/>
          <p:nvPr/>
        </p:nvSpPr>
        <p:spPr>
          <a:xfrm>
            <a:off x="6921500" y="2895600"/>
            <a:ext cx="42545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严格校验输入参数是防止非法请求和恶意攻击的第一道防线，保障系统稳定性。</a:t>
            </a:r>
            <a:endParaRPr lang="en-US" sz="1100"/>
          </a:p>
        </p:txBody>
      </p:sp>
      <p:pic>
        <p:nvPicPr>
          <p:cNvPr id="20" name="Picture 20"/>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540500" y="3556000"/>
            <a:ext cx="304800" cy="304800"/>
          </a:xfrm>
          <a:prstGeom prst="rect">
            <a:avLst/>
          </a:prstGeom>
        </p:spPr>
      </p:pic>
      <p:sp>
        <p:nvSpPr>
          <p:cNvPr id="21" name="AutoShape 21"/>
          <p:cNvSpPr/>
          <p:nvPr/>
        </p:nvSpPr>
        <p:spPr>
          <a:xfrm>
            <a:off x="6921500" y="3530600"/>
            <a:ext cx="4254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全面校验维度</a:t>
            </a:r>
            <a:endParaRPr lang="en-US" sz="1100"/>
          </a:p>
        </p:txBody>
      </p:sp>
      <p:sp>
        <p:nvSpPr>
          <p:cNvPr id="22" name="AutoShape 22"/>
          <p:cNvSpPr/>
          <p:nvPr/>
        </p:nvSpPr>
        <p:spPr>
          <a:xfrm>
            <a:off x="6921500" y="3911600"/>
            <a:ext cx="42545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覆盖参数类型、长度限制、取值范围及特殊格式（如邮箱、手机号）等。</a:t>
            </a:r>
            <a:endParaRPr lang="en-US" sz="1100"/>
          </a:p>
        </p:txBody>
      </p:sp>
      <p:pic>
        <p:nvPicPr>
          <p:cNvPr id="23" name="Picture 23"/>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6540500" y="4572000"/>
            <a:ext cx="304800" cy="304800"/>
          </a:xfrm>
          <a:prstGeom prst="rect">
            <a:avLst/>
          </a:prstGeom>
        </p:spPr>
      </p:pic>
      <p:sp>
        <p:nvSpPr>
          <p:cNvPr id="24" name="AutoShape 24"/>
          <p:cNvSpPr/>
          <p:nvPr/>
        </p:nvSpPr>
        <p:spPr>
          <a:xfrm>
            <a:off x="6921500" y="4546600"/>
            <a:ext cx="4254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高效工具支持</a:t>
            </a:r>
            <a:endParaRPr lang="en-US" sz="1100"/>
          </a:p>
        </p:txBody>
      </p:sp>
      <p:sp>
        <p:nvSpPr>
          <p:cNvPr id="25" name="AutoShape 25"/>
          <p:cNvSpPr/>
          <p:nvPr/>
        </p:nvSpPr>
        <p:spPr>
          <a:xfrm>
            <a:off x="6921500" y="4927600"/>
            <a:ext cx="42545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推荐使用 Pydantic 等成熟库，简化校验逻辑，提升开发效率。</a:t>
            </a:r>
            <a:endParaRPr lang="en-US" sz="11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接口设计要素（五）：安全认证与异常处理</a:t>
            </a:r>
            <a:endParaRPr lang="en-US" sz="1100"/>
          </a:p>
        </p:txBody>
      </p:sp>
      <p:sp>
        <p:nvSpPr>
          <p:cNvPr id="3" name="AutoShape 3"/>
          <p:cNvSpPr/>
          <p:nvPr/>
        </p:nvSpPr>
        <p:spPr>
          <a:xfrm>
            <a:off x="762000" y="1524000"/>
            <a:ext cx="5207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4" name="AutoShape 4"/>
          <p:cNvSpPr/>
          <p:nvPr/>
        </p:nvSpPr>
        <p:spPr>
          <a:xfrm>
            <a:off x="762000" y="1524000"/>
            <a:ext cx="5207000" cy="762000"/>
          </a:xfrm>
          <a:prstGeom prst="roundRect">
            <a:avLst>
              <a:gd name="adj" fmla="val 16666"/>
            </a:avLst>
          </a:prstGeom>
          <a:solidFill>
            <a:srgbClr val="00336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676400"/>
            <a:ext cx="355600" cy="355600"/>
          </a:xfrm>
          <a:prstGeom prst="rect">
            <a:avLst/>
          </a:prstGeom>
        </p:spPr>
      </p:pic>
      <p:sp>
        <p:nvSpPr>
          <p:cNvPr id="6" name="AutoShape 6"/>
          <p:cNvSpPr/>
          <p:nvPr/>
        </p:nvSpPr>
        <p:spPr>
          <a:xfrm>
            <a:off x="1460500" y="16510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FFFFFF"/>
                </a:solidFill>
                <a:latin typeface="Noto Sans SC"/>
                <a:ea typeface="Noto Sans SC"/>
                <a:cs typeface="Noto Sans SC"/>
                <a:sym typeface="Noto Sans SC"/>
              </a:rPr>
              <a:t>安全认证机制</a:t>
            </a:r>
            <a:endParaRPr lang="en-US" sz="1100"/>
          </a:p>
        </p:txBody>
      </p:sp>
      <p:pic>
        <p:nvPicPr>
          <p:cNvPr id="7" name="Picture 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2540000"/>
            <a:ext cx="304800" cy="304800"/>
          </a:xfrm>
          <a:prstGeom prst="rect">
            <a:avLst/>
          </a:prstGeom>
        </p:spPr>
      </p:pic>
      <p:sp>
        <p:nvSpPr>
          <p:cNvPr id="8" name="AutoShape 8"/>
          <p:cNvSpPr/>
          <p:nvPr/>
        </p:nvSpPr>
        <p:spPr>
          <a:xfrm>
            <a:off x="1460500" y="25146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Token 认证</a:t>
            </a:r>
            <a:endParaRPr lang="en-US" sz="1100"/>
          </a:p>
        </p:txBody>
      </p:sp>
      <p:sp>
        <p:nvSpPr>
          <p:cNvPr id="9" name="AutoShape 9"/>
          <p:cNvSpPr/>
          <p:nvPr/>
        </p:nvSpPr>
        <p:spPr>
          <a:xfrm>
            <a:off x="1460500" y="28448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66666"/>
                </a:solidFill>
                <a:latin typeface="Noto Sans SC"/>
                <a:ea typeface="Noto Sans SC"/>
                <a:cs typeface="Noto Sans SC"/>
                <a:sym typeface="Noto Sans SC"/>
              </a:rPr>
              <a:t>通过令牌（如JWT）验证用户身份和权限，确保接口访问的合法性。</a:t>
            </a:r>
            <a:endParaRPr lang="en-US" sz="1100"/>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3429000"/>
            <a:ext cx="304800" cy="304800"/>
          </a:xfrm>
          <a:prstGeom prst="rect">
            <a:avLst/>
          </a:prstGeom>
        </p:spPr>
      </p:pic>
      <p:sp>
        <p:nvSpPr>
          <p:cNvPr id="11" name="AutoShape 11"/>
          <p:cNvSpPr/>
          <p:nvPr/>
        </p:nvSpPr>
        <p:spPr>
          <a:xfrm>
            <a:off x="1460500" y="34036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敏感数据脱敏</a:t>
            </a:r>
            <a:endParaRPr lang="en-US" sz="1100"/>
          </a:p>
        </p:txBody>
      </p:sp>
      <p:sp>
        <p:nvSpPr>
          <p:cNvPr id="12" name="AutoShape 12"/>
          <p:cNvSpPr/>
          <p:nvPr/>
        </p:nvSpPr>
        <p:spPr>
          <a:xfrm>
            <a:off x="1460500" y="37338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66666"/>
                </a:solidFill>
                <a:latin typeface="Noto Sans SC"/>
                <a:ea typeface="Noto Sans SC"/>
                <a:cs typeface="Noto Sans SC"/>
                <a:sym typeface="Noto Sans SC"/>
              </a:rPr>
              <a:t>对返回结果中的敏感信息（如手机号、身份证号）进行脱敏处理，保护隐私。</a:t>
            </a:r>
            <a:endParaRPr lang="en-US" sz="1100"/>
          </a:p>
        </p:txBody>
      </p:sp>
      <p:pic>
        <p:nvPicPr>
          <p:cNvPr id="13" name="Picture 13"/>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4318000"/>
            <a:ext cx="304800" cy="304800"/>
          </a:xfrm>
          <a:prstGeom prst="rect">
            <a:avLst/>
          </a:prstGeom>
        </p:spPr>
      </p:pic>
      <p:sp>
        <p:nvSpPr>
          <p:cNvPr id="14" name="AutoShape 14"/>
          <p:cNvSpPr/>
          <p:nvPr/>
        </p:nvSpPr>
        <p:spPr>
          <a:xfrm>
            <a:off x="1460500" y="42926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IP 黑白名单</a:t>
            </a:r>
            <a:endParaRPr lang="en-US" sz="1100"/>
          </a:p>
        </p:txBody>
      </p:sp>
      <p:sp>
        <p:nvSpPr>
          <p:cNvPr id="15" name="AutoShape 15"/>
          <p:cNvSpPr/>
          <p:nvPr/>
        </p:nvSpPr>
        <p:spPr>
          <a:xfrm>
            <a:off x="1460500" y="46228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66666"/>
                </a:solidFill>
                <a:latin typeface="Noto Sans SC"/>
                <a:ea typeface="Noto Sans SC"/>
                <a:cs typeface="Noto Sans SC"/>
                <a:sym typeface="Noto Sans SC"/>
              </a:rPr>
              <a:t>限制或允许特定IP地址的访问，有效防止恶意攻击和非法请求。</a:t>
            </a:r>
            <a:endParaRPr lang="en-US" sz="1100"/>
          </a:p>
        </p:txBody>
      </p:sp>
      <p:sp>
        <p:nvSpPr>
          <p:cNvPr id="16" name="AutoShape 16"/>
          <p:cNvSpPr/>
          <p:nvPr/>
        </p:nvSpPr>
        <p:spPr>
          <a:xfrm>
            <a:off x="6223000" y="1524000"/>
            <a:ext cx="5207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17" name="AutoShape 17"/>
          <p:cNvSpPr/>
          <p:nvPr/>
        </p:nvSpPr>
        <p:spPr>
          <a:xfrm>
            <a:off x="6223000" y="1524000"/>
            <a:ext cx="5207000" cy="762000"/>
          </a:xfrm>
          <a:prstGeom prst="roundRect">
            <a:avLst>
              <a:gd name="adj" fmla="val 16666"/>
            </a:avLst>
          </a:prstGeom>
          <a:solidFill>
            <a:srgbClr val="00336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477000" y="1676400"/>
            <a:ext cx="355600" cy="355600"/>
          </a:xfrm>
          <a:prstGeom prst="rect">
            <a:avLst/>
          </a:prstGeom>
        </p:spPr>
      </p:pic>
      <p:sp>
        <p:nvSpPr>
          <p:cNvPr id="19" name="AutoShape 19"/>
          <p:cNvSpPr/>
          <p:nvPr/>
        </p:nvSpPr>
        <p:spPr>
          <a:xfrm>
            <a:off x="6921500" y="16510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FFFFFF"/>
                </a:solidFill>
                <a:latin typeface="Noto Sans SC"/>
                <a:ea typeface="Noto Sans SC"/>
                <a:cs typeface="Noto Sans SC"/>
                <a:sym typeface="Noto Sans SC"/>
              </a:rPr>
              <a:t>异常处理与兜底</a:t>
            </a:r>
            <a:endParaRPr lang="en-US" sz="1100"/>
          </a:p>
        </p:txBody>
      </p:sp>
      <p:pic>
        <p:nvPicPr>
          <p:cNvPr id="20" name="Picture 20"/>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477000" y="2540000"/>
            <a:ext cx="304800" cy="304800"/>
          </a:xfrm>
          <a:prstGeom prst="rect">
            <a:avLst/>
          </a:prstGeom>
        </p:spPr>
      </p:pic>
      <p:sp>
        <p:nvSpPr>
          <p:cNvPr id="21" name="AutoShape 21"/>
          <p:cNvSpPr/>
          <p:nvPr/>
        </p:nvSpPr>
        <p:spPr>
          <a:xfrm>
            <a:off x="6921500" y="25146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全局异常捕获</a:t>
            </a:r>
            <a:endParaRPr lang="en-US" sz="1100"/>
          </a:p>
        </p:txBody>
      </p:sp>
      <p:sp>
        <p:nvSpPr>
          <p:cNvPr id="22" name="AutoShape 22"/>
          <p:cNvSpPr/>
          <p:nvPr/>
        </p:nvSpPr>
        <p:spPr>
          <a:xfrm>
            <a:off x="6921500" y="28448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66666"/>
                </a:solidFill>
                <a:latin typeface="Noto Sans SC"/>
                <a:ea typeface="Noto Sans SC"/>
                <a:cs typeface="Noto Sans SC"/>
                <a:sym typeface="Noto Sans SC"/>
              </a:rPr>
              <a:t>统一捕获并处理代码中可能出现的各种异常，避免系统崩溃。</a:t>
            </a:r>
            <a:endParaRPr lang="en-US" sz="1100"/>
          </a:p>
        </p:txBody>
      </p:sp>
      <p:pic>
        <p:nvPicPr>
          <p:cNvPr id="23" name="Picture 23"/>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6477000" y="3429000"/>
            <a:ext cx="304800" cy="304800"/>
          </a:xfrm>
          <a:prstGeom prst="rect">
            <a:avLst/>
          </a:prstGeom>
        </p:spPr>
      </p:pic>
      <p:sp>
        <p:nvSpPr>
          <p:cNvPr id="24" name="AutoShape 24"/>
          <p:cNvSpPr/>
          <p:nvPr/>
        </p:nvSpPr>
        <p:spPr>
          <a:xfrm>
            <a:off x="6921500" y="34036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友好错误提示</a:t>
            </a:r>
            <a:endParaRPr lang="en-US" sz="1100"/>
          </a:p>
        </p:txBody>
      </p:sp>
      <p:sp>
        <p:nvSpPr>
          <p:cNvPr id="25" name="AutoShape 25"/>
          <p:cNvSpPr/>
          <p:nvPr/>
        </p:nvSpPr>
        <p:spPr>
          <a:xfrm>
            <a:off x="6921500" y="37338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66666"/>
                </a:solidFill>
                <a:latin typeface="Noto Sans SC"/>
                <a:ea typeface="Noto Sans SC"/>
                <a:cs typeface="Noto Sans SC"/>
                <a:sym typeface="Noto Sans SC"/>
              </a:rPr>
              <a:t>返回清晰、友好的错误信息和错误码，帮助调用方快速定位问题。</a:t>
            </a:r>
            <a:endParaRPr lang="en-US" sz="1100"/>
          </a:p>
        </p:txBody>
      </p:sp>
      <p:pic>
        <p:nvPicPr>
          <p:cNvPr id="26" name="Picture 26"/>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6477000" y="4318000"/>
            <a:ext cx="304800" cy="304800"/>
          </a:xfrm>
          <a:prstGeom prst="rect">
            <a:avLst/>
          </a:prstGeom>
        </p:spPr>
      </p:pic>
      <p:sp>
        <p:nvSpPr>
          <p:cNvPr id="27" name="AutoShape 27"/>
          <p:cNvSpPr/>
          <p:nvPr/>
        </p:nvSpPr>
        <p:spPr>
          <a:xfrm>
            <a:off x="6921500" y="4292600"/>
            <a:ext cx="4191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服务降级策略</a:t>
            </a:r>
            <a:endParaRPr lang="en-US" sz="1100"/>
          </a:p>
        </p:txBody>
      </p:sp>
      <p:sp>
        <p:nvSpPr>
          <p:cNvPr id="28" name="AutoShape 28"/>
          <p:cNvSpPr/>
          <p:nvPr/>
        </p:nvSpPr>
        <p:spPr>
          <a:xfrm>
            <a:off x="6921500" y="4622800"/>
            <a:ext cx="419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66666"/>
                </a:solidFill>
                <a:latin typeface="Noto Sans SC"/>
                <a:ea typeface="Noto Sans SC"/>
                <a:cs typeface="Noto Sans SC"/>
                <a:sym typeface="Noto Sans SC"/>
              </a:rPr>
              <a:t>在服务不可用或高负载时，提供降级方案，保证系统的基本可用性。</a:t>
            </a:r>
            <a:endParaRPr lang="en-US" sz="11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609600" y="609600"/>
            <a:ext cx="10972800" cy="609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003366"/>
                </a:solidFill>
                <a:latin typeface="Noto Sans SC"/>
                <a:ea typeface="Noto Sans SC"/>
                <a:cs typeface="Noto Sans SC"/>
                <a:sym typeface="Noto Sans SC"/>
              </a:rPr>
              <a:t>2.2 Docker容器基础知识</a:t>
            </a:r>
            <a:endParaRPr lang="en-US" sz="1100"/>
          </a:p>
        </p:txBody>
      </p:sp>
      <p:sp>
        <p:nvSpPr>
          <p:cNvPr id="3" name="AutoShape 3"/>
          <p:cNvSpPr/>
          <p:nvPr/>
        </p:nvSpPr>
        <p:spPr>
          <a:xfrm>
            <a:off x="609600" y="1778000"/>
            <a:ext cx="3429000" cy="3810000"/>
          </a:xfrm>
          <a:prstGeom prst="roundRect">
            <a:avLst>
              <a:gd name="adj" fmla="val 3703"/>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16100" y="2159000"/>
            <a:ext cx="1016000" cy="1016000"/>
          </a:xfrm>
          <a:prstGeom prst="rect">
            <a:avLst/>
          </a:prstGeom>
        </p:spPr>
      </p:pic>
      <p:sp>
        <p:nvSpPr>
          <p:cNvPr id="5" name="AutoShape 5"/>
          <p:cNvSpPr/>
          <p:nvPr/>
        </p:nvSpPr>
        <p:spPr>
          <a:xfrm>
            <a:off x="863600" y="3302000"/>
            <a:ext cx="2921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003366"/>
                </a:solidFill>
                <a:latin typeface="Noto Sans SC"/>
                <a:ea typeface="Noto Sans SC"/>
                <a:cs typeface="Noto Sans SC"/>
                <a:sym typeface="Noto Sans SC"/>
              </a:rPr>
              <a:t>应用打包与分发</a:t>
            </a:r>
            <a:endParaRPr lang="en-US" sz="1100"/>
          </a:p>
        </p:txBody>
      </p:sp>
      <p:sp>
        <p:nvSpPr>
          <p:cNvPr id="6" name="AutoShape 6"/>
          <p:cNvSpPr/>
          <p:nvPr/>
        </p:nvSpPr>
        <p:spPr>
          <a:xfrm>
            <a:off x="863600" y="3746500"/>
            <a:ext cx="2921000" cy="1524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333333"/>
                </a:solidFill>
                <a:latin typeface="Noto Sans SC"/>
                <a:ea typeface="Noto Sans SC"/>
                <a:cs typeface="Noto Sans SC"/>
                <a:sym typeface="Noto Sans SC"/>
              </a:rPr>
              <a:t>将应用及其依赖环境打包成标准化的镜像，实现一次构建，随处运行，确保环境一致性。</a:t>
            </a:r>
            <a:endParaRPr lang="en-US" sz="1100"/>
          </a:p>
        </p:txBody>
      </p:sp>
      <p:sp>
        <p:nvSpPr>
          <p:cNvPr id="7" name="AutoShape 7"/>
          <p:cNvSpPr/>
          <p:nvPr/>
        </p:nvSpPr>
        <p:spPr>
          <a:xfrm>
            <a:off x="4381500" y="1778000"/>
            <a:ext cx="3429000" cy="3810000"/>
          </a:xfrm>
          <a:prstGeom prst="roundRect">
            <a:avLst>
              <a:gd name="adj" fmla="val 3703"/>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88000" y="2159000"/>
            <a:ext cx="1016000" cy="1016000"/>
          </a:xfrm>
          <a:prstGeom prst="rect">
            <a:avLst/>
          </a:prstGeom>
        </p:spPr>
      </p:pic>
      <p:sp>
        <p:nvSpPr>
          <p:cNvPr id="9" name="AutoShape 9"/>
          <p:cNvSpPr/>
          <p:nvPr/>
        </p:nvSpPr>
        <p:spPr>
          <a:xfrm>
            <a:off x="4635500" y="3302000"/>
            <a:ext cx="2921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003366"/>
                </a:solidFill>
                <a:latin typeface="Noto Sans SC"/>
                <a:ea typeface="Noto Sans SC"/>
                <a:cs typeface="Noto Sans SC"/>
                <a:sym typeface="Noto Sans SC"/>
              </a:rPr>
              <a:t>快速部署与扩展</a:t>
            </a:r>
            <a:endParaRPr lang="en-US" sz="1100"/>
          </a:p>
        </p:txBody>
      </p:sp>
      <p:sp>
        <p:nvSpPr>
          <p:cNvPr id="10" name="AutoShape 10"/>
          <p:cNvSpPr/>
          <p:nvPr/>
        </p:nvSpPr>
        <p:spPr>
          <a:xfrm>
            <a:off x="4635500" y="3746500"/>
            <a:ext cx="2921000" cy="1524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333333"/>
                </a:solidFill>
                <a:latin typeface="Noto Sans SC"/>
                <a:ea typeface="Noto Sans SC"/>
                <a:cs typeface="Noto Sans SC"/>
                <a:sym typeface="Noto Sans SC"/>
              </a:rPr>
              <a:t>利用容器化技术实现秒级启动，支持快速的水平扩展，极大提升了开发和运维效率。</a:t>
            </a:r>
            <a:endParaRPr lang="en-US" sz="1100"/>
          </a:p>
        </p:txBody>
      </p:sp>
      <p:sp>
        <p:nvSpPr>
          <p:cNvPr id="11" name="AutoShape 11"/>
          <p:cNvSpPr/>
          <p:nvPr/>
        </p:nvSpPr>
        <p:spPr>
          <a:xfrm>
            <a:off x="8153400" y="1778000"/>
            <a:ext cx="3429000" cy="3810000"/>
          </a:xfrm>
          <a:prstGeom prst="roundRect">
            <a:avLst>
              <a:gd name="adj" fmla="val 3703"/>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359900" y="2159000"/>
            <a:ext cx="1016000" cy="1016000"/>
          </a:xfrm>
          <a:prstGeom prst="rect">
            <a:avLst/>
          </a:prstGeom>
        </p:spPr>
      </p:pic>
      <p:sp>
        <p:nvSpPr>
          <p:cNvPr id="13" name="AutoShape 13"/>
          <p:cNvSpPr/>
          <p:nvPr/>
        </p:nvSpPr>
        <p:spPr>
          <a:xfrm>
            <a:off x="8407400" y="3302000"/>
            <a:ext cx="2921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003366"/>
                </a:solidFill>
                <a:latin typeface="Noto Sans SC"/>
                <a:ea typeface="Noto Sans SC"/>
                <a:cs typeface="Noto Sans SC"/>
                <a:sym typeface="Noto Sans SC"/>
              </a:rPr>
              <a:t>环境隔离与安全</a:t>
            </a:r>
            <a:endParaRPr lang="en-US" sz="1100"/>
          </a:p>
        </p:txBody>
      </p:sp>
      <p:sp>
        <p:nvSpPr>
          <p:cNvPr id="14" name="AutoShape 14"/>
          <p:cNvSpPr/>
          <p:nvPr/>
        </p:nvSpPr>
        <p:spPr>
          <a:xfrm>
            <a:off x="8407400" y="3746500"/>
            <a:ext cx="2921000" cy="1524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333333"/>
                </a:solidFill>
                <a:latin typeface="Noto Sans SC"/>
                <a:ea typeface="Noto Sans SC"/>
                <a:cs typeface="Noto Sans SC"/>
                <a:sym typeface="Noto Sans SC"/>
              </a:rPr>
              <a:t>容器之间相互隔离，避免应用间的依赖冲突，同时提供了更精细的资源管理和安全控制。</a:t>
            </a:r>
            <a:endParaRPr lang="en-US" sz="11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什么是Docker？</a:t>
            </a:r>
            <a:endParaRPr lang="en-US" sz="1100"/>
          </a:p>
        </p:txBody>
      </p:sp>
      <p:sp>
        <p:nvSpPr>
          <p:cNvPr id="3" name="AutoShape 3"/>
          <p:cNvSpPr/>
          <p:nvPr/>
        </p:nvSpPr>
        <p:spPr>
          <a:xfrm>
            <a:off x="762000" y="1397000"/>
            <a:ext cx="4318000" cy="4699000"/>
          </a:xfrm>
          <a:prstGeom prst="roundRect">
            <a:avLst>
              <a:gd name="adj" fmla="val 294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srcRect/>
          <a:stretch>
            <a:fillRect/>
          </a:stretch>
        </p:blipFill>
        <p:spPr>
          <a:xfrm>
            <a:off x="1016000" y="1651000"/>
            <a:ext cx="3810000" cy="3810000"/>
          </a:xfrm>
          <a:prstGeom prst="rect">
            <a:avLst/>
          </a:prstGeom>
          <a:noFill/>
          <a:ln w="25400" cap="flat" cmpd="sng">
            <a:noFill/>
            <a:prstDash val="solid"/>
            <a:round/>
          </a:ln>
        </p:spPr>
      </p:pic>
      <p:sp>
        <p:nvSpPr>
          <p:cNvPr id="5" name="AutoShape 5"/>
          <p:cNvSpPr/>
          <p:nvPr/>
        </p:nvSpPr>
        <p:spPr>
          <a:xfrm>
            <a:off x="5334000" y="1397000"/>
            <a:ext cx="6096000" cy="1270000"/>
          </a:xfrm>
          <a:prstGeom prst="roundRect">
            <a:avLst>
              <a:gd name="adj" fmla="val 1000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588000" y="1587500"/>
            <a:ext cx="304800" cy="304800"/>
          </a:xfrm>
          <a:prstGeom prst="rect">
            <a:avLst/>
          </a:prstGeom>
        </p:spPr>
      </p:pic>
      <p:sp>
        <p:nvSpPr>
          <p:cNvPr id="7" name="AutoShape 7"/>
          <p:cNvSpPr/>
          <p:nvPr/>
        </p:nvSpPr>
        <p:spPr>
          <a:xfrm>
            <a:off x="5969000" y="1549400"/>
            <a:ext cx="520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核心定义</a:t>
            </a:r>
            <a:endParaRPr lang="en-US" sz="1100"/>
          </a:p>
        </p:txBody>
      </p:sp>
      <p:sp>
        <p:nvSpPr>
          <p:cNvPr id="8" name="AutoShape 8"/>
          <p:cNvSpPr/>
          <p:nvPr/>
        </p:nvSpPr>
        <p:spPr>
          <a:xfrm>
            <a:off x="5588000" y="1968500"/>
            <a:ext cx="55880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a:ea typeface="Noto Sans SC"/>
                <a:cs typeface="Noto Sans SC"/>
                <a:sym typeface="Noto Sans SC"/>
              </a:rPr>
              <a:t>Docker是一个开源的应用容器引擎，将应用及其依赖打包到标准化容器中，实现快速部署和运行。</a:t>
            </a:r>
            <a:endParaRPr lang="en-US" sz="1100"/>
          </a:p>
        </p:txBody>
      </p:sp>
      <p:sp>
        <p:nvSpPr>
          <p:cNvPr id="9" name="AutoShape 9"/>
          <p:cNvSpPr/>
          <p:nvPr/>
        </p:nvSpPr>
        <p:spPr>
          <a:xfrm>
            <a:off x="5334000" y="2857500"/>
            <a:ext cx="6096000" cy="1587500"/>
          </a:xfrm>
          <a:prstGeom prst="roundRect">
            <a:avLst>
              <a:gd name="adj" fmla="val 800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588000" y="3048000"/>
            <a:ext cx="304800" cy="304800"/>
          </a:xfrm>
          <a:prstGeom prst="rect">
            <a:avLst/>
          </a:prstGeom>
        </p:spPr>
      </p:pic>
      <p:sp>
        <p:nvSpPr>
          <p:cNvPr id="11" name="AutoShape 11"/>
          <p:cNvSpPr/>
          <p:nvPr/>
        </p:nvSpPr>
        <p:spPr>
          <a:xfrm>
            <a:off x="5969000" y="3009900"/>
            <a:ext cx="520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核心优势</a:t>
            </a:r>
            <a:endParaRPr lang="en-US" sz="1100"/>
          </a:p>
        </p:txBody>
      </p:sp>
      <p:pic>
        <p:nvPicPr>
          <p:cNvPr id="12" name="Picture 12"/>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588000" y="3429000"/>
            <a:ext cx="203200" cy="203200"/>
          </a:xfrm>
          <a:prstGeom prst="rect">
            <a:avLst/>
          </a:prstGeom>
        </p:spPr>
      </p:pic>
      <p:sp>
        <p:nvSpPr>
          <p:cNvPr id="13" name="AutoShape 13"/>
          <p:cNvSpPr/>
          <p:nvPr/>
        </p:nvSpPr>
        <p:spPr>
          <a:xfrm>
            <a:off x="5842000" y="3403600"/>
            <a:ext cx="2540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a:ea typeface="Noto Sans SC"/>
                <a:cs typeface="Noto Sans SC"/>
                <a:sym typeface="Noto Sans SC"/>
              </a:rPr>
              <a:t>轻量级：共享内核，启动迅速</a:t>
            </a:r>
            <a:endParaRPr lang="en-US" sz="1100"/>
          </a:p>
        </p:txBody>
      </p:sp>
      <p:pic>
        <p:nvPicPr>
          <p:cNvPr id="14" name="Picture 14"/>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8509000" y="3429000"/>
            <a:ext cx="203200" cy="203200"/>
          </a:xfrm>
          <a:prstGeom prst="rect">
            <a:avLst/>
          </a:prstGeom>
        </p:spPr>
      </p:pic>
      <p:sp>
        <p:nvSpPr>
          <p:cNvPr id="15" name="AutoShape 15"/>
          <p:cNvSpPr/>
          <p:nvPr/>
        </p:nvSpPr>
        <p:spPr>
          <a:xfrm>
            <a:off x="8763000" y="3403600"/>
            <a:ext cx="2540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a:ea typeface="Noto Sans SC"/>
                <a:cs typeface="Noto Sans SC"/>
                <a:sym typeface="Noto Sans SC"/>
              </a:rPr>
              <a:t>可移植性：一次打包，随处运行</a:t>
            </a:r>
            <a:endParaRPr lang="en-US" sz="1100"/>
          </a:p>
        </p:txBody>
      </p:sp>
      <p:pic>
        <p:nvPicPr>
          <p:cNvPr id="16" name="Picture 16"/>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5588000" y="3746500"/>
            <a:ext cx="203200" cy="203200"/>
          </a:xfrm>
          <a:prstGeom prst="rect">
            <a:avLst/>
          </a:prstGeom>
        </p:spPr>
      </p:pic>
      <p:sp>
        <p:nvSpPr>
          <p:cNvPr id="17" name="AutoShape 17"/>
          <p:cNvSpPr/>
          <p:nvPr/>
        </p:nvSpPr>
        <p:spPr>
          <a:xfrm>
            <a:off x="5842000" y="3721100"/>
            <a:ext cx="2540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a:ea typeface="Noto Sans SC"/>
                <a:cs typeface="Noto Sans SC"/>
                <a:sym typeface="Noto Sans SC"/>
              </a:rPr>
              <a:t>隔离性：容器间互不干扰</a:t>
            </a:r>
            <a:endParaRPr lang="en-US" sz="1100"/>
          </a:p>
        </p:txBody>
      </p:sp>
      <p:pic>
        <p:nvPicPr>
          <p:cNvPr id="18" name="Picture 18"/>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8509000" y="3746500"/>
            <a:ext cx="203200" cy="203200"/>
          </a:xfrm>
          <a:prstGeom prst="rect">
            <a:avLst/>
          </a:prstGeom>
        </p:spPr>
      </p:pic>
      <p:sp>
        <p:nvSpPr>
          <p:cNvPr id="19" name="AutoShape 19"/>
          <p:cNvSpPr/>
          <p:nvPr/>
        </p:nvSpPr>
        <p:spPr>
          <a:xfrm>
            <a:off x="8763000" y="3721100"/>
            <a:ext cx="2540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a:ea typeface="Noto Sans SC"/>
                <a:cs typeface="Noto Sans SC"/>
                <a:sym typeface="Noto Sans SC"/>
              </a:rPr>
              <a:t>一致性：环境统一，避免差异</a:t>
            </a:r>
            <a:endParaRPr lang="en-US" sz="1100"/>
          </a:p>
        </p:txBody>
      </p:sp>
      <p:sp>
        <p:nvSpPr>
          <p:cNvPr id="20" name="AutoShape 20"/>
          <p:cNvSpPr/>
          <p:nvPr/>
        </p:nvSpPr>
        <p:spPr>
          <a:xfrm>
            <a:off x="5334000" y="4635500"/>
            <a:ext cx="6096000" cy="1460500"/>
          </a:xfrm>
          <a:prstGeom prst="roundRect">
            <a:avLst>
              <a:gd name="adj" fmla="val 869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21" name="Picture 21"/>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5588000" y="4826000"/>
            <a:ext cx="304800" cy="304800"/>
          </a:xfrm>
          <a:prstGeom prst="rect">
            <a:avLst/>
          </a:prstGeom>
        </p:spPr>
      </p:pic>
      <p:sp>
        <p:nvSpPr>
          <p:cNvPr id="22" name="AutoShape 22"/>
          <p:cNvSpPr/>
          <p:nvPr/>
        </p:nvSpPr>
        <p:spPr>
          <a:xfrm>
            <a:off x="5969000" y="4787900"/>
            <a:ext cx="520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核心概念</a:t>
            </a:r>
            <a:endParaRPr lang="en-US" sz="1100"/>
          </a:p>
        </p:txBody>
      </p:sp>
      <p:pic>
        <p:nvPicPr>
          <p:cNvPr id="23" name="Picture 23"/>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5588000" y="5207000"/>
            <a:ext cx="203200" cy="203200"/>
          </a:xfrm>
          <a:prstGeom prst="rect">
            <a:avLst/>
          </a:prstGeom>
        </p:spPr>
      </p:pic>
      <p:sp>
        <p:nvSpPr>
          <p:cNvPr id="24" name="AutoShape 24"/>
          <p:cNvSpPr/>
          <p:nvPr/>
        </p:nvSpPr>
        <p:spPr>
          <a:xfrm>
            <a:off x="5842000" y="5181600"/>
            <a:ext cx="177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333333"/>
                </a:solidFill>
                <a:latin typeface="Noto Sans SC"/>
                <a:ea typeface="Noto Sans SC"/>
                <a:cs typeface="Noto Sans SC"/>
                <a:sym typeface="Noto Sans SC"/>
              </a:rPr>
              <a:t>镜像 (Image)</a:t>
            </a:r>
            <a:endParaRPr lang="en-US" sz="1100"/>
          </a:p>
          <a:p>
            <a:pPr indent="0" algn="l">
              <a:lnSpc>
                <a:spcPct val="125000"/>
              </a:lnSpc>
            </a:pPr>
            <a:r>
              <a:rPr lang="en-US" sz="1200" b="0" i="0" u="none" strike="noStrike">
                <a:solidFill>
                  <a:srgbClr val="666666"/>
                </a:solidFill>
                <a:latin typeface="Noto Sans SC"/>
                <a:ea typeface="Noto Sans SC"/>
                <a:cs typeface="Noto Sans SC"/>
                <a:sym typeface="Noto Sans SC"/>
              </a:rPr>
              <a:t>只读模板，创建容器</a:t>
            </a:r>
            <a:endParaRPr lang="en-US" sz="1200" b="0" i="0" u="none" strike="noStrike">
              <a:solidFill>
                <a:srgbClr val="666666"/>
              </a:solidFill>
              <a:latin typeface="Noto Sans SC"/>
              <a:ea typeface="Noto Sans SC"/>
              <a:cs typeface="Noto Sans SC"/>
              <a:sym typeface="Noto Sans SC"/>
            </a:endParaRPr>
          </a:p>
        </p:txBody>
      </p:sp>
      <p:pic>
        <p:nvPicPr>
          <p:cNvPr id="25" name="Picture 25"/>
          <p:cNvPicPr>
            <a:picLocks noChangeAspect="1"/>
          </p:cNvPicPr>
          <p:nvPr/>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7493000" y="5207000"/>
            <a:ext cx="203200" cy="203200"/>
          </a:xfrm>
          <a:prstGeom prst="rect">
            <a:avLst/>
          </a:prstGeom>
        </p:spPr>
      </p:pic>
      <p:sp>
        <p:nvSpPr>
          <p:cNvPr id="26" name="AutoShape 26"/>
          <p:cNvSpPr/>
          <p:nvPr/>
        </p:nvSpPr>
        <p:spPr>
          <a:xfrm>
            <a:off x="7747000" y="5181600"/>
            <a:ext cx="177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333333"/>
                </a:solidFill>
                <a:latin typeface="Noto Sans SC"/>
                <a:ea typeface="Noto Sans SC"/>
                <a:cs typeface="Noto Sans SC"/>
                <a:sym typeface="Noto Sans SC"/>
              </a:rPr>
              <a:t>容器 (Container)</a:t>
            </a:r>
            <a:endParaRPr lang="en-US" sz="1100"/>
          </a:p>
          <a:p>
            <a:pPr indent="0" algn="l">
              <a:lnSpc>
                <a:spcPct val="125000"/>
              </a:lnSpc>
            </a:pPr>
            <a:r>
              <a:rPr lang="en-US" sz="1200" b="0" i="0" u="none" strike="noStrike">
                <a:solidFill>
                  <a:srgbClr val="666666"/>
                </a:solidFill>
                <a:latin typeface="Noto Sans SC"/>
                <a:ea typeface="Noto Sans SC"/>
                <a:cs typeface="Noto Sans SC"/>
                <a:sym typeface="Noto Sans SC"/>
              </a:rPr>
              <a:t>镜像的运行实例</a:t>
            </a:r>
            <a:endParaRPr lang="en-US" sz="1200" b="0" i="0" u="none" strike="noStrike">
              <a:solidFill>
                <a:srgbClr val="666666"/>
              </a:solidFill>
              <a:latin typeface="Noto Sans SC"/>
              <a:ea typeface="Noto Sans SC"/>
              <a:cs typeface="Noto Sans SC"/>
              <a:sym typeface="Noto Sans SC"/>
            </a:endParaRPr>
          </a:p>
        </p:txBody>
      </p:sp>
      <p:pic>
        <p:nvPicPr>
          <p:cNvPr id="27" name="Picture 27"/>
          <p:cNvPicPr>
            <a:picLocks noChangeAspect="1"/>
          </p:cNvPicPr>
          <p:nvPr/>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9398000" y="5207000"/>
            <a:ext cx="203200" cy="203200"/>
          </a:xfrm>
          <a:prstGeom prst="rect">
            <a:avLst/>
          </a:prstGeom>
        </p:spPr>
      </p:pic>
      <p:sp>
        <p:nvSpPr>
          <p:cNvPr id="28" name="AutoShape 28"/>
          <p:cNvSpPr/>
          <p:nvPr/>
        </p:nvSpPr>
        <p:spPr>
          <a:xfrm>
            <a:off x="9652000" y="5181600"/>
            <a:ext cx="1651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333333"/>
                </a:solidFill>
                <a:latin typeface="Noto Sans SC"/>
                <a:ea typeface="Noto Sans SC"/>
                <a:cs typeface="Noto Sans SC"/>
                <a:sym typeface="Noto Sans SC"/>
              </a:rPr>
              <a:t>仓库 (Repository)</a:t>
            </a:r>
            <a:endParaRPr lang="en-US" sz="1100"/>
          </a:p>
          <a:p>
            <a:pPr indent="0" algn="l">
              <a:lnSpc>
                <a:spcPct val="125000"/>
              </a:lnSpc>
            </a:pPr>
            <a:r>
              <a:rPr lang="en-US" sz="1200" b="0" i="0" u="none" strike="noStrike">
                <a:solidFill>
                  <a:srgbClr val="666666"/>
                </a:solidFill>
                <a:latin typeface="Noto Sans SC"/>
                <a:ea typeface="Noto Sans SC"/>
                <a:cs typeface="Noto Sans SC"/>
                <a:sym typeface="Noto Sans SC"/>
              </a:rPr>
              <a:t>存储和分发镜像</a:t>
            </a:r>
            <a:endParaRPr lang="en-US" sz="1200" b="0" i="0" u="none" strike="noStrike">
              <a:solidFill>
                <a:srgbClr val="666666"/>
              </a:solidFill>
              <a:latin typeface="Noto Sans SC"/>
              <a:ea typeface="Noto Sans SC"/>
              <a:cs typeface="Noto Sans SC"/>
              <a:sym typeface="Noto Sans SC"/>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Docker环境搭建</a:t>
            </a:r>
            <a:endParaRPr lang="en-US" sz="1100"/>
          </a:p>
        </p:txBody>
      </p:sp>
      <p:sp>
        <p:nvSpPr>
          <p:cNvPr id="3" name="AutoShape 3"/>
          <p:cNvSpPr/>
          <p:nvPr/>
        </p:nvSpPr>
        <p:spPr>
          <a:xfrm>
            <a:off x="762000" y="1524000"/>
            <a:ext cx="5207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66800" y="1828800"/>
            <a:ext cx="406400" cy="406400"/>
          </a:xfrm>
          <a:prstGeom prst="rect">
            <a:avLst/>
          </a:prstGeom>
        </p:spPr>
      </p:pic>
      <p:sp>
        <p:nvSpPr>
          <p:cNvPr id="5" name="AutoShape 5"/>
          <p:cNvSpPr/>
          <p:nvPr/>
        </p:nvSpPr>
        <p:spPr>
          <a:xfrm>
            <a:off x="1574800" y="18034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01. 访问官网</a:t>
            </a:r>
            <a:endParaRPr lang="en-US" sz="1100"/>
          </a:p>
        </p:txBody>
      </p:sp>
      <p:cxnSp>
        <p:nvCxnSpPr>
          <p:cNvPr id="6" name="Connector 6"/>
          <p:cNvCxnSpPr/>
          <p:nvPr/>
        </p:nvCxnSpPr>
        <p:spPr>
          <a:xfrm rot="-9496">
            <a:off x="1066809" y="2279650"/>
            <a:ext cx="4597400" cy="12700"/>
          </a:xfrm>
          <a:prstGeom prst="line">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7" name="AutoShape 7"/>
          <p:cNvSpPr/>
          <p:nvPr/>
        </p:nvSpPr>
        <p:spPr>
          <a:xfrm>
            <a:off x="1066800" y="2413000"/>
            <a:ext cx="4597400" cy="1143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访问Docker官方网站获取最新版本：</a:t>
            </a:r>
            <a:endParaRPr lang="en-US" sz="1100"/>
          </a:p>
          <a:p>
            <a:pPr indent="0" algn="l">
              <a:lnSpc>
                <a:spcPct val="125000"/>
              </a:lnSpc>
            </a:pPr>
            <a:r>
              <a:rPr lang="en-US" sz="1400" b="0" i="0" u="none" strike="noStrike">
                <a:solidFill>
                  <a:srgbClr val="003366"/>
                </a:solidFill>
                <a:latin typeface="Noto Sans SC"/>
                <a:ea typeface="Noto Sans SC"/>
                <a:cs typeface="Noto Sans SC"/>
                <a:sym typeface="Noto Sans SC"/>
              </a:rPr>
              <a:t>https://www.docker.com/</a:t>
            </a:r>
            <a:endParaRPr lang="en-US" sz="1400" b="0" i="0" u="none" strike="noStrike">
              <a:solidFill>
                <a:srgbClr val="003366"/>
              </a:solidFill>
              <a:latin typeface="Noto Sans SC"/>
              <a:ea typeface="Noto Sans SC"/>
              <a:cs typeface="Noto Sans SC"/>
              <a:sym typeface="Noto Sans SC"/>
            </a:endParaRPr>
          </a:p>
        </p:txBody>
      </p:sp>
      <p:sp>
        <p:nvSpPr>
          <p:cNvPr id="8" name="AutoShape 8"/>
          <p:cNvSpPr/>
          <p:nvPr/>
        </p:nvSpPr>
        <p:spPr>
          <a:xfrm>
            <a:off x="6223000" y="1524000"/>
            <a:ext cx="5207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527800" y="1828800"/>
            <a:ext cx="406400" cy="406400"/>
          </a:xfrm>
          <a:prstGeom prst="rect">
            <a:avLst/>
          </a:prstGeom>
        </p:spPr>
      </p:pic>
      <p:sp>
        <p:nvSpPr>
          <p:cNvPr id="10" name="AutoShape 10"/>
          <p:cNvSpPr/>
          <p:nvPr/>
        </p:nvSpPr>
        <p:spPr>
          <a:xfrm>
            <a:off x="7035800" y="18034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02. 下载安装包</a:t>
            </a:r>
            <a:endParaRPr lang="en-US" sz="1100"/>
          </a:p>
        </p:txBody>
      </p:sp>
      <p:cxnSp>
        <p:nvCxnSpPr>
          <p:cNvPr id="11" name="Connector 11"/>
          <p:cNvCxnSpPr/>
          <p:nvPr/>
        </p:nvCxnSpPr>
        <p:spPr>
          <a:xfrm rot="-9496">
            <a:off x="6527809" y="2279650"/>
            <a:ext cx="4597400" cy="12700"/>
          </a:xfrm>
          <a:prstGeom prst="line">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12" name="AutoShape 12"/>
          <p:cNvSpPr/>
          <p:nvPr/>
        </p:nvSpPr>
        <p:spPr>
          <a:xfrm>
            <a:off x="6527800" y="2413000"/>
            <a:ext cx="4597400" cy="1143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根据你的操作系统（Windows、macOS、Linux）下载对应的 Docker Desktop 安装包。</a:t>
            </a:r>
            <a:endParaRPr lang="en-US" sz="1100"/>
          </a:p>
        </p:txBody>
      </p:sp>
      <p:sp>
        <p:nvSpPr>
          <p:cNvPr id="13" name="AutoShape 13"/>
          <p:cNvSpPr/>
          <p:nvPr/>
        </p:nvSpPr>
        <p:spPr>
          <a:xfrm>
            <a:off x="762000" y="4064000"/>
            <a:ext cx="5207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66800" y="4368800"/>
            <a:ext cx="406400" cy="406400"/>
          </a:xfrm>
          <a:prstGeom prst="rect">
            <a:avLst/>
          </a:prstGeom>
        </p:spPr>
      </p:pic>
      <p:sp>
        <p:nvSpPr>
          <p:cNvPr id="15" name="AutoShape 15"/>
          <p:cNvSpPr/>
          <p:nvPr/>
        </p:nvSpPr>
        <p:spPr>
          <a:xfrm>
            <a:off x="1574800" y="43434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03. 安装与配置</a:t>
            </a:r>
            <a:endParaRPr lang="en-US" sz="1100"/>
          </a:p>
        </p:txBody>
      </p:sp>
      <p:cxnSp>
        <p:nvCxnSpPr>
          <p:cNvPr id="16" name="Connector 16"/>
          <p:cNvCxnSpPr/>
          <p:nvPr/>
        </p:nvCxnSpPr>
        <p:spPr>
          <a:xfrm rot="-9496">
            <a:off x="1066809" y="4819650"/>
            <a:ext cx="4597400" cy="12700"/>
          </a:xfrm>
          <a:prstGeom prst="line">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17" name="AutoShape 17"/>
          <p:cNvSpPr/>
          <p:nvPr/>
        </p:nvSpPr>
        <p:spPr>
          <a:xfrm>
            <a:off x="1066800" y="4953000"/>
            <a:ext cx="4597400" cy="1143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按照官方指引完成安装。注意：Windows需启用Hyper-V，建议配置镜像加速以提升体验。</a:t>
            </a:r>
            <a:endParaRPr lang="en-US" sz="1100"/>
          </a:p>
        </p:txBody>
      </p:sp>
      <p:sp>
        <p:nvSpPr>
          <p:cNvPr id="18" name="AutoShape 18"/>
          <p:cNvSpPr/>
          <p:nvPr/>
        </p:nvSpPr>
        <p:spPr>
          <a:xfrm>
            <a:off x="6223000" y="4064000"/>
            <a:ext cx="5207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527800" y="4368800"/>
            <a:ext cx="406400" cy="406400"/>
          </a:xfrm>
          <a:prstGeom prst="rect">
            <a:avLst/>
          </a:prstGeom>
        </p:spPr>
      </p:pic>
      <p:sp>
        <p:nvSpPr>
          <p:cNvPr id="20" name="AutoShape 20"/>
          <p:cNvSpPr/>
          <p:nvPr/>
        </p:nvSpPr>
        <p:spPr>
          <a:xfrm>
            <a:off x="7035800" y="43434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04. 验证安装</a:t>
            </a:r>
            <a:endParaRPr lang="en-US" sz="1100"/>
          </a:p>
        </p:txBody>
      </p:sp>
      <p:cxnSp>
        <p:nvCxnSpPr>
          <p:cNvPr id="21" name="Connector 21"/>
          <p:cNvCxnSpPr/>
          <p:nvPr/>
        </p:nvCxnSpPr>
        <p:spPr>
          <a:xfrm rot="-9496">
            <a:off x="6527809" y="4819650"/>
            <a:ext cx="4597400" cy="12700"/>
          </a:xfrm>
          <a:prstGeom prst="line">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22" name="AutoShape 22"/>
          <p:cNvSpPr/>
          <p:nvPr/>
        </p:nvSpPr>
        <p:spPr>
          <a:xfrm>
            <a:off x="6527800" y="4953000"/>
            <a:ext cx="4597400" cy="1143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打开终端，输入命令验证版本：</a:t>
            </a:r>
            <a:endParaRPr lang="en-US" sz="1100"/>
          </a:p>
          <a:p>
            <a:pPr indent="0" algn="l">
              <a:lnSpc>
                <a:spcPct val="125000"/>
              </a:lnSpc>
            </a:pPr>
            <a:r>
              <a:rPr lang="en-US" sz="1400" b="0" i="0" u="none" strike="noStrike">
                <a:solidFill>
                  <a:srgbClr val="003366"/>
                </a:solidFill>
                <a:highlight>
                  <a:srgbClr val="E6F3FF">
                    <a:alpha val="100000"/>
                  </a:srgbClr>
                </a:highlight>
                <a:latin typeface="Noto Sans SC"/>
                <a:ea typeface="Noto Sans SC"/>
                <a:cs typeface="Noto Sans SC"/>
                <a:sym typeface="Noto Sans SC"/>
              </a:rPr>
              <a:t>docker --version</a:t>
            </a:r>
            <a:endParaRPr lang="en-US" sz="1400" b="0" i="0" u="none" strike="noStrike">
              <a:solidFill>
                <a:srgbClr val="003366"/>
              </a:solidFill>
              <a:highlight>
                <a:srgbClr val="E6F3FF">
                  <a:alpha val="100000"/>
                </a:srgbClr>
              </a:highlight>
              <a:latin typeface="Noto Sans SC"/>
              <a:ea typeface="Noto Sans SC"/>
              <a:cs typeface="Noto Sans SC"/>
              <a:sym typeface="Noto Sans SC"/>
            </a:endParaRPr>
          </a:p>
          <a:p>
            <a:pPr indent="0" algn="l">
              <a:lnSpc>
                <a:spcPct val="125000"/>
              </a:lnSpc>
            </a:pPr>
            <a:r>
              <a:rPr lang="en-US" sz="1400" b="0" i="0" u="none" strike="noStrike">
                <a:solidFill>
                  <a:srgbClr val="333333"/>
                </a:solidFill>
                <a:latin typeface="Noto Sans SC"/>
                <a:ea typeface="Noto Sans SC"/>
                <a:cs typeface="Noto Sans SC"/>
                <a:sym typeface="Noto Sans SC"/>
              </a:rPr>
              <a:t>显示版本信息即表示安装成功。</a:t>
            </a:r>
            <a:endParaRPr lang="en-US" sz="1400" b="0" i="0" u="none" strike="noStrike">
              <a:solidFill>
                <a:srgbClr val="333333"/>
              </a:solidFill>
              <a:latin typeface="Noto Sans SC"/>
              <a:ea typeface="Noto Sans SC"/>
              <a:cs typeface="Noto Sans SC"/>
              <a:sym typeface="Noto Sans SC"/>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Docker常用命令 - 镜像操作</a:t>
            </a:r>
            <a:endParaRPr lang="en-US" sz="1100"/>
          </a:p>
        </p:txBody>
      </p:sp>
      <p:sp>
        <p:nvSpPr>
          <p:cNvPr id="3" name="AutoShape 3"/>
          <p:cNvSpPr/>
          <p:nvPr/>
        </p:nvSpPr>
        <p:spPr>
          <a:xfrm>
            <a:off x="762000" y="1524000"/>
            <a:ext cx="3556000" cy="4572000"/>
          </a:xfrm>
          <a:prstGeom prst="roundRect">
            <a:avLst>
              <a:gd name="adj" fmla="val 357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78000"/>
            <a:ext cx="304800" cy="304800"/>
          </a:xfrm>
          <a:prstGeom prst="rect">
            <a:avLst/>
          </a:prstGeom>
        </p:spPr>
      </p:pic>
      <p:sp>
        <p:nvSpPr>
          <p:cNvPr id="5" name="AutoShape 5"/>
          <p:cNvSpPr/>
          <p:nvPr/>
        </p:nvSpPr>
        <p:spPr>
          <a:xfrm>
            <a:off x="1397000" y="1752600"/>
            <a:ext cx="266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核心概念</a:t>
            </a:r>
            <a:endParaRPr lang="en-US" sz="1100"/>
          </a:p>
        </p:txBody>
      </p:sp>
      <p:cxnSp>
        <p:nvCxnSpPr>
          <p:cNvPr id="6" name="Connector 6"/>
          <p:cNvCxnSpPr/>
          <p:nvPr/>
        </p:nvCxnSpPr>
        <p:spPr>
          <a:xfrm rot="-14323">
            <a:off x="1016013" y="2216150"/>
            <a:ext cx="3048000" cy="12700"/>
          </a:xfrm>
          <a:prstGeom prst="line">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7" name="AutoShape 7"/>
          <p:cNvSpPr/>
          <p:nvPr/>
        </p:nvSpPr>
        <p:spPr>
          <a:xfrm>
            <a:off x="1016000" y="2413000"/>
            <a:ext cx="3048000" cy="330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镜像是创建容器的基石，包含了运行应用所需的完整环境。</a:t>
            </a:r>
            <a:endParaRPr lang="en-US" sz="1100"/>
          </a:p>
          <a:p>
            <a:pPr indent="0" algn="l">
              <a:lnSpc>
                <a:spcPct val="125000"/>
              </a:lnSpc>
            </a:pPr>
            <a:br>
              <a:rPr lang="en-US" sz="1600" b="0" i="0" u="none" strike="noStrike">
                <a:solidFill>
                  <a:srgbClr val="1F2329"/>
                </a:solidFill>
                <a:latin typeface="Noto Sans SC"/>
                <a:ea typeface="Noto Sans SC"/>
                <a:cs typeface="Noto Sans SC"/>
                <a:sym typeface="Noto Sans SC"/>
              </a:rPr>
            </a:br>
            <a:endParaRPr lang="en-US" sz="1600" b="0" i="0" u="none" strike="noStrike">
              <a:solidFill>
                <a:srgbClr val="1F2329"/>
              </a:solidFill>
              <a:latin typeface="Noto Sans SC"/>
              <a:ea typeface="Noto Sans SC"/>
              <a:cs typeface="Noto Sans SC"/>
              <a:sym typeface="Noto Sans SC"/>
            </a:endParaRPr>
          </a:p>
          <a:p>
            <a:pPr indent="0" algn="l">
              <a:lnSpc>
                <a:spcPct val="125000"/>
              </a:lnSpc>
            </a:pPr>
            <a:r>
              <a:rPr lang="en-US" sz="1400" b="1" i="0" u="none" strike="noStrike">
                <a:solidFill>
                  <a:srgbClr val="003366"/>
                </a:solidFill>
                <a:latin typeface="Noto Sans SC"/>
                <a:ea typeface="Noto Sans SC"/>
                <a:cs typeface="Noto Sans SC"/>
                <a:sym typeface="Noto Sans SC"/>
              </a:rPr>
              <a:t>常用操作流程：</a:t>
            </a:r>
            <a:endParaRPr lang="en-US" sz="1400" b="1" i="0" u="none" strike="noStrike">
              <a:solidFill>
                <a:srgbClr val="003366"/>
              </a:solidFill>
              <a:latin typeface="Noto Sans SC"/>
              <a:ea typeface="Noto Sans SC"/>
              <a:cs typeface="Noto Sans SC"/>
              <a:sym typeface="Noto Sans SC"/>
            </a:endParaRPr>
          </a:p>
          <a:p>
            <a:pPr marL="165100" indent="-165100" algn="l">
              <a:lnSpc>
                <a:spcPct val="125000"/>
              </a:lnSpc>
              <a:buClr>
                <a:srgbClr val="505050"/>
              </a:buClr>
              <a:buChar char="•"/>
            </a:pPr>
            <a:r>
              <a:rPr lang="en-US" sz="1300" b="0" i="0" u="none" strike="noStrike">
                <a:solidFill>
                  <a:srgbClr val="505050"/>
                </a:solidFill>
                <a:latin typeface="Noto Sans SC"/>
                <a:ea typeface="Noto Sans SC"/>
                <a:cs typeface="Noto Sans SC"/>
                <a:sym typeface="Noto Sans SC"/>
              </a:rPr>
              <a:t>搜索镜像 (Search)</a:t>
            </a:r>
            <a:endParaRPr lang="en-US" sz="1300" b="0" i="0" u="none" strike="noStrike">
              <a:solidFill>
                <a:srgbClr val="505050"/>
              </a:solidFill>
              <a:latin typeface="Noto Sans SC"/>
              <a:ea typeface="Noto Sans SC"/>
              <a:cs typeface="Noto Sans SC"/>
              <a:sym typeface="Noto Sans SC"/>
            </a:endParaRPr>
          </a:p>
          <a:p>
            <a:pPr marL="165100" indent="-165100" algn="l">
              <a:lnSpc>
                <a:spcPct val="125000"/>
              </a:lnSpc>
              <a:buClr>
                <a:srgbClr val="505050"/>
              </a:buClr>
              <a:buChar char="•"/>
            </a:pPr>
            <a:r>
              <a:rPr lang="en-US" sz="1300" b="0" i="0" u="none" strike="noStrike">
                <a:solidFill>
                  <a:srgbClr val="505050"/>
                </a:solidFill>
                <a:latin typeface="Noto Sans SC"/>
                <a:ea typeface="Noto Sans SC"/>
                <a:cs typeface="Noto Sans SC"/>
                <a:sym typeface="Noto Sans SC"/>
              </a:rPr>
              <a:t>拉取镜像 (Pull)</a:t>
            </a:r>
            <a:endParaRPr lang="en-US" sz="1300" b="0" i="0" u="none" strike="noStrike">
              <a:solidFill>
                <a:srgbClr val="505050"/>
              </a:solidFill>
              <a:latin typeface="Noto Sans SC"/>
              <a:ea typeface="Noto Sans SC"/>
              <a:cs typeface="Noto Sans SC"/>
              <a:sym typeface="Noto Sans SC"/>
            </a:endParaRPr>
          </a:p>
          <a:p>
            <a:pPr marL="165100" indent="-165100" algn="l">
              <a:lnSpc>
                <a:spcPct val="125000"/>
              </a:lnSpc>
              <a:buClr>
                <a:srgbClr val="505050"/>
              </a:buClr>
              <a:buChar char="•"/>
            </a:pPr>
            <a:r>
              <a:rPr lang="en-US" sz="1300" b="0" i="0" u="none" strike="noStrike">
                <a:solidFill>
                  <a:srgbClr val="505050"/>
                </a:solidFill>
                <a:latin typeface="Noto Sans SC"/>
                <a:ea typeface="Noto Sans SC"/>
                <a:cs typeface="Noto Sans SC"/>
                <a:sym typeface="Noto Sans SC"/>
              </a:rPr>
              <a:t>查看列表 (Images)</a:t>
            </a:r>
            <a:endParaRPr lang="en-US" sz="1300" b="0" i="0" u="none" strike="noStrike">
              <a:solidFill>
                <a:srgbClr val="505050"/>
              </a:solidFill>
              <a:latin typeface="Noto Sans SC"/>
              <a:ea typeface="Noto Sans SC"/>
              <a:cs typeface="Noto Sans SC"/>
              <a:sym typeface="Noto Sans SC"/>
            </a:endParaRPr>
          </a:p>
          <a:p>
            <a:pPr marL="165100" indent="-165100" algn="l">
              <a:lnSpc>
                <a:spcPct val="125000"/>
              </a:lnSpc>
              <a:buClr>
                <a:srgbClr val="505050"/>
              </a:buClr>
              <a:buChar char="•"/>
            </a:pPr>
            <a:r>
              <a:rPr lang="en-US" sz="1300" b="0" i="0" u="none" strike="noStrike">
                <a:solidFill>
                  <a:srgbClr val="505050"/>
                </a:solidFill>
                <a:latin typeface="Noto Sans SC"/>
                <a:ea typeface="Noto Sans SC"/>
                <a:cs typeface="Noto Sans SC"/>
                <a:sym typeface="Noto Sans SC"/>
              </a:rPr>
              <a:t>删除镜像 (Rmi)</a:t>
            </a:r>
            <a:endParaRPr lang="en-US" sz="1300" b="0" i="0" u="none" strike="noStrike">
              <a:solidFill>
                <a:srgbClr val="505050"/>
              </a:solidFill>
              <a:latin typeface="Noto Sans SC"/>
              <a:ea typeface="Noto Sans SC"/>
              <a:cs typeface="Noto Sans SC"/>
              <a:sym typeface="Noto Sans SC"/>
            </a:endParaRPr>
          </a:p>
          <a:p>
            <a:pPr marL="165100" indent="-165100" algn="l">
              <a:lnSpc>
                <a:spcPct val="125000"/>
              </a:lnSpc>
              <a:buClr>
                <a:srgbClr val="505050"/>
              </a:buClr>
              <a:buChar char="•"/>
            </a:pPr>
            <a:r>
              <a:rPr lang="en-US" sz="1300" b="0" i="0" u="none" strike="noStrike">
                <a:solidFill>
                  <a:srgbClr val="505050"/>
                </a:solidFill>
                <a:latin typeface="Noto Sans SC"/>
                <a:ea typeface="Noto Sans SC"/>
                <a:cs typeface="Noto Sans SC"/>
                <a:sym typeface="Noto Sans SC"/>
              </a:rPr>
              <a:t>查看详情 (Inspect)</a:t>
            </a:r>
            <a:endParaRPr lang="en-US" sz="1300" b="0" i="0" u="none" strike="noStrike">
              <a:solidFill>
                <a:srgbClr val="505050"/>
              </a:solidFill>
              <a:latin typeface="Noto Sans SC"/>
              <a:ea typeface="Noto Sans SC"/>
              <a:cs typeface="Noto Sans SC"/>
              <a:sym typeface="Noto Sans SC"/>
            </a:endParaRPr>
          </a:p>
        </p:txBody>
      </p:sp>
      <p:sp>
        <p:nvSpPr>
          <p:cNvPr id="8" name="AutoShape 8"/>
          <p:cNvSpPr/>
          <p:nvPr/>
        </p:nvSpPr>
        <p:spPr>
          <a:xfrm>
            <a:off x="4572000" y="1524000"/>
            <a:ext cx="6858000" cy="4572000"/>
          </a:xfrm>
          <a:prstGeom prst="roundRect">
            <a:avLst>
              <a:gd name="adj" fmla="val 2777"/>
            </a:avLst>
          </a:prstGeom>
          <a:solidFill>
            <a:srgbClr val="003366">
              <a:alpha val="100000"/>
            </a:srgbClr>
          </a:solidFill>
          <a:ln w="25400" cap="flat" cmpd="sng">
            <a:noFill/>
            <a:prstDash val="solid"/>
            <a:round/>
          </a:ln>
          <a:effectLst>
            <a:outerShdw blurRad="190500" dist="76200" dir="2700000" algn="tl" rotWithShape="0">
              <a:srgbClr val="003366">
                <a:alpha val="20000"/>
              </a:srgbClr>
            </a:outerShdw>
          </a:effectLst>
        </p:spPr>
        <p:txBody>
          <a:bodyPr vert="horz" wrap="square" lIns="63500" tIns="63500" rIns="63500" bIns="63500" rtlCol="0" anchor="ctr"/>
          <a:lstStyle/>
          <a:p>
            <a:pPr algn="ctr">
              <a:defRPr/>
            </a:pPr>
          </a:p>
        </p:txBody>
      </p:sp>
      <p:sp>
        <p:nvSpPr>
          <p:cNvPr id="9" name="AutoShape 9"/>
          <p:cNvSpPr/>
          <p:nvPr/>
        </p:nvSpPr>
        <p:spPr>
          <a:xfrm>
            <a:off x="4572000" y="1524000"/>
            <a:ext cx="6858000" cy="457200"/>
          </a:xfrm>
          <a:prstGeom prst="roundRect">
            <a:avLst>
              <a:gd name="adj" fmla="val 0"/>
            </a:avLst>
          </a:prstGeom>
          <a:solidFill>
            <a:srgbClr val="FFFFFF">
              <a:alpha val="1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4762500" y="1651000"/>
            <a:ext cx="152400" cy="152400"/>
          </a:xfrm>
          <a:prstGeom prst="ellipse">
            <a:avLst/>
          </a:prstGeom>
          <a:solidFill>
            <a:srgbClr val="FF5F5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5016500" y="1651000"/>
            <a:ext cx="152400" cy="152400"/>
          </a:xfrm>
          <a:prstGeom prst="ellipse">
            <a:avLst/>
          </a:prstGeom>
          <a:solidFill>
            <a:srgbClr val="FFBD2E">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5270500" y="1651000"/>
            <a:ext cx="152400" cy="152400"/>
          </a:xfrm>
          <a:prstGeom prst="ellipse">
            <a:avLst/>
          </a:prstGeom>
          <a:solidFill>
            <a:srgbClr val="27C93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826000" y="2222500"/>
            <a:ext cx="254000" cy="254000"/>
          </a:xfrm>
          <a:prstGeom prst="rect">
            <a:avLst/>
          </a:prstGeom>
        </p:spPr>
      </p:pic>
      <p:sp>
        <p:nvSpPr>
          <p:cNvPr id="14" name="AutoShape 14"/>
          <p:cNvSpPr/>
          <p:nvPr/>
        </p:nvSpPr>
        <p:spPr>
          <a:xfrm>
            <a:off x="5207000" y="2197100"/>
            <a:ext cx="5969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64C8FF"/>
                </a:solidFill>
                <a:latin typeface="Noto Sans SC"/>
                <a:ea typeface="Noto Sans SC"/>
                <a:cs typeface="Noto Sans SC"/>
                <a:sym typeface="Noto Sans SC"/>
              </a:rPr>
              <a:t>搜索与拉取镜像</a:t>
            </a:r>
            <a:endParaRPr lang="en-US" sz="1100"/>
          </a:p>
        </p:txBody>
      </p:sp>
      <p:sp>
        <p:nvSpPr>
          <p:cNvPr id="15" name="AutoShape 15"/>
          <p:cNvSpPr/>
          <p:nvPr/>
        </p:nvSpPr>
        <p:spPr>
          <a:xfrm>
            <a:off x="4826000" y="2540000"/>
            <a:ext cx="6350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C8C8C8"/>
                </a:solidFill>
                <a:latin typeface="Roboto Mono"/>
                <a:ea typeface="Roboto Mono"/>
                <a:cs typeface="Roboto Mono"/>
                <a:sym typeface="Roboto Mono"/>
              </a:rPr>
              <a:t># 搜索官方仓库中的 Ubuntu 镜像</a:t>
            </a:r>
            <a:endParaRPr lang="en-US" sz="1100"/>
          </a:p>
          <a:p>
            <a:pPr indent="0" algn="l">
              <a:lnSpc>
                <a:spcPct val="125000"/>
              </a:lnSpc>
            </a:pPr>
            <a:r>
              <a:rPr lang="en-US" sz="1300" b="0" i="0" u="none" strike="noStrike">
                <a:solidFill>
                  <a:srgbClr val="FFFFFF"/>
                </a:solidFill>
                <a:latin typeface="Roboto Mono"/>
                <a:ea typeface="Roboto Mono"/>
                <a:cs typeface="Roboto Mono"/>
                <a:sym typeface="Roboto Mono"/>
              </a:rPr>
              <a:t>$ docker search ubuntu</a:t>
            </a:r>
            <a:endParaRPr lang="en-US" sz="1300" b="0" i="0" u="none" strike="noStrike">
              <a:solidFill>
                <a:srgbClr val="FFFFFF"/>
              </a:solidFill>
              <a:latin typeface="Roboto Mono"/>
              <a:ea typeface="Roboto Mono"/>
              <a:cs typeface="Roboto Mono"/>
              <a:sym typeface="Roboto Mono"/>
            </a:endParaRPr>
          </a:p>
          <a:p>
            <a:pPr indent="0" algn="l">
              <a:lnSpc>
                <a:spcPct val="125000"/>
              </a:lnSpc>
            </a:pPr>
            <a:r>
              <a:rPr lang="en-US" sz="1300" b="0" i="0" u="none" strike="noStrike">
                <a:solidFill>
                  <a:srgbClr val="C8C8C8"/>
                </a:solidFill>
                <a:latin typeface="Roboto Mono"/>
                <a:ea typeface="Roboto Mono"/>
                <a:cs typeface="Roboto Mono"/>
                <a:sym typeface="Roboto Mono"/>
              </a:rPr>
              <a:t># 拉取最新版本的 Ubuntu 镜像</a:t>
            </a:r>
            <a:endParaRPr lang="en-US" sz="1300" b="0" i="0" u="none" strike="noStrike">
              <a:solidFill>
                <a:srgbClr val="C8C8C8"/>
              </a:solidFill>
              <a:latin typeface="Roboto Mono"/>
              <a:ea typeface="Roboto Mono"/>
              <a:cs typeface="Roboto Mono"/>
              <a:sym typeface="Roboto Mono"/>
            </a:endParaRPr>
          </a:p>
          <a:p>
            <a:pPr indent="0" algn="l">
              <a:lnSpc>
                <a:spcPct val="125000"/>
              </a:lnSpc>
            </a:pPr>
            <a:r>
              <a:rPr lang="en-US" sz="1300" b="0" i="0" u="none" strike="noStrike">
                <a:solidFill>
                  <a:srgbClr val="FFFFFF"/>
                </a:solidFill>
                <a:latin typeface="Roboto Mono"/>
                <a:ea typeface="Roboto Mono"/>
                <a:cs typeface="Roboto Mono"/>
                <a:sym typeface="Roboto Mono"/>
              </a:rPr>
              <a:t>$ docker pull ubuntu:latest</a:t>
            </a:r>
            <a:endParaRPr lang="en-US" sz="1300" b="0" i="0" u="none" strike="noStrike">
              <a:solidFill>
                <a:srgbClr val="FFFFFF"/>
              </a:solidFill>
              <a:latin typeface="Roboto Mono"/>
              <a:ea typeface="Roboto Mono"/>
              <a:cs typeface="Roboto Mono"/>
              <a:sym typeface="Roboto Mono"/>
            </a:endParaRPr>
          </a:p>
        </p:txBody>
      </p:sp>
      <p:pic>
        <p:nvPicPr>
          <p:cNvPr id="16" name="Picture 16"/>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826000" y="3492500"/>
            <a:ext cx="254000" cy="254000"/>
          </a:xfrm>
          <a:prstGeom prst="rect">
            <a:avLst/>
          </a:prstGeom>
        </p:spPr>
      </p:pic>
      <p:sp>
        <p:nvSpPr>
          <p:cNvPr id="17" name="AutoShape 17"/>
          <p:cNvSpPr/>
          <p:nvPr/>
        </p:nvSpPr>
        <p:spPr>
          <a:xfrm>
            <a:off x="5207000" y="3467100"/>
            <a:ext cx="5969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64C8FF"/>
                </a:solidFill>
                <a:latin typeface="Noto Sans SC"/>
                <a:ea typeface="Noto Sans SC"/>
                <a:cs typeface="Noto Sans SC"/>
                <a:sym typeface="Noto Sans SC"/>
              </a:rPr>
              <a:t>查看与管理镜像</a:t>
            </a:r>
            <a:endParaRPr lang="en-US" sz="1100"/>
          </a:p>
        </p:txBody>
      </p:sp>
      <p:sp>
        <p:nvSpPr>
          <p:cNvPr id="18" name="AutoShape 18"/>
          <p:cNvSpPr/>
          <p:nvPr/>
        </p:nvSpPr>
        <p:spPr>
          <a:xfrm>
            <a:off x="4826000" y="3810000"/>
            <a:ext cx="6350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C8C8C8"/>
                </a:solidFill>
                <a:latin typeface="Roboto Mono"/>
                <a:ea typeface="Roboto Mono"/>
                <a:cs typeface="Roboto Mono"/>
                <a:sym typeface="Roboto Mono"/>
              </a:rPr>
              <a:t># 列出本地所有镜像</a:t>
            </a:r>
            <a:endParaRPr lang="en-US" sz="1100"/>
          </a:p>
          <a:p>
            <a:pPr indent="0" algn="l">
              <a:lnSpc>
                <a:spcPct val="125000"/>
              </a:lnSpc>
            </a:pPr>
            <a:r>
              <a:rPr lang="en-US" sz="1300" b="0" i="0" u="none" strike="noStrike">
                <a:solidFill>
                  <a:srgbClr val="FFFFFF"/>
                </a:solidFill>
                <a:latin typeface="Roboto Mono"/>
                <a:ea typeface="Roboto Mono"/>
                <a:cs typeface="Roboto Mono"/>
                <a:sym typeface="Roboto Mono"/>
              </a:rPr>
              <a:t>$ docker images</a:t>
            </a:r>
            <a:endParaRPr lang="en-US" sz="1300" b="0" i="0" u="none" strike="noStrike">
              <a:solidFill>
                <a:srgbClr val="FFFFFF"/>
              </a:solidFill>
              <a:latin typeface="Roboto Mono"/>
              <a:ea typeface="Roboto Mono"/>
              <a:cs typeface="Roboto Mono"/>
              <a:sym typeface="Roboto Mono"/>
            </a:endParaRPr>
          </a:p>
          <a:p>
            <a:pPr indent="0" algn="l">
              <a:lnSpc>
                <a:spcPct val="125000"/>
              </a:lnSpc>
            </a:pPr>
            <a:r>
              <a:rPr lang="en-US" sz="1300" b="0" i="0" u="none" strike="noStrike">
                <a:solidFill>
                  <a:srgbClr val="C8C8C8"/>
                </a:solidFill>
                <a:latin typeface="Roboto Mono"/>
                <a:ea typeface="Roboto Mono"/>
                <a:cs typeface="Roboto Mono"/>
                <a:sym typeface="Roboto Mono"/>
              </a:rPr>
              <a:t># 删除指定 ID 的镜像</a:t>
            </a:r>
            <a:endParaRPr lang="en-US" sz="1300" b="0" i="0" u="none" strike="noStrike">
              <a:solidFill>
                <a:srgbClr val="C8C8C8"/>
              </a:solidFill>
              <a:latin typeface="Roboto Mono"/>
              <a:ea typeface="Roboto Mono"/>
              <a:cs typeface="Roboto Mono"/>
              <a:sym typeface="Roboto Mono"/>
            </a:endParaRPr>
          </a:p>
          <a:p>
            <a:pPr indent="0" algn="l">
              <a:lnSpc>
                <a:spcPct val="125000"/>
              </a:lnSpc>
            </a:pPr>
            <a:r>
              <a:rPr lang="en-US" sz="1300" b="0" i="0" u="none" strike="noStrike">
                <a:solidFill>
                  <a:srgbClr val="FFFFFF"/>
                </a:solidFill>
                <a:latin typeface="Roboto Mono"/>
                <a:ea typeface="Roboto Mono"/>
                <a:cs typeface="Roboto Mono"/>
                <a:sym typeface="Roboto Mono"/>
              </a:rPr>
              <a:t>$ docker rmi [image_id]</a:t>
            </a:r>
            <a:endParaRPr lang="en-US" sz="1300" b="0" i="0" u="none" strike="noStrike">
              <a:solidFill>
                <a:srgbClr val="FFFFFF"/>
              </a:solidFill>
              <a:latin typeface="Roboto Mono"/>
              <a:ea typeface="Roboto Mono"/>
              <a:cs typeface="Roboto Mono"/>
              <a:sym typeface="Roboto Mono"/>
            </a:endParaRPr>
          </a:p>
        </p:txBody>
      </p:sp>
      <p:pic>
        <p:nvPicPr>
          <p:cNvPr id="19" name="Picture 1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826000" y="4762500"/>
            <a:ext cx="254000" cy="254000"/>
          </a:xfrm>
          <a:prstGeom prst="rect">
            <a:avLst/>
          </a:prstGeom>
        </p:spPr>
      </p:pic>
      <p:sp>
        <p:nvSpPr>
          <p:cNvPr id="20" name="AutoShape 20"/>
          <p:cNvSpPr/>
          <p:nvPr/>
        </p:nvSpPr>
        <p:spPr>
          <a:xfrm>
            <a:off x="5207000" y="4737100"/>
            <a:ext cx="5969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64C8FF"/>
                </a:solidFill>
                <a:latin typeface="Noto Sans SC"/>
                <a:ea typeface="Noto Sans SC"/>
                <a:cs typeface="Noto Sans SC"/>
                <a:sym typeface="Noto Sans SC"/>
              </a:rPr>
              <a:t>查看镜像详细信息</a:t>
            </a:r>
            <a:endParaRPr lang="en-US" sz="1100"/>
          </a:p>
        </p:txBody>
      </p:sp>
      <p:sp>
        <p:nvSpPr>
          <p:cNvPr id="21" name="AutoShape 21"/>
          <p:cNvSpPr/>
          <p:nvPr/>
        </p:nvSpPr>
        <p:spPr>
          <a:xfrm>
            <a:off x="4826000" y="5080000"/>
            <a:ext cx="6350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C8C8C8"/>
                </a:solidFill>
                <a:latin typeface="Roboto Mono"/>
                <a:ea typeface="Roboto Mono"/>
                <a:cs typeface="Roboto Mono"/>
                <a:sym typeface="Roboto Mono"/>
              </a:rPr>
              <a:t># 查看镜像的元数据和配置信息</a:t>
            </a:r>
            <a:endParaRPr lang="en-US" sz="1100"/>
          </a:p>
          <a:p>
            <a:pPr indent="0" algn="l">
              <a:lnSpc>
                <a:spcPct val="125000"/>
              </a:lnSpc>
            </a:pPr>
            <a:r>
              <a:rPr lang="en-US" sz="1300" b="0" i="0" u="none" strike="noStrike">
                <a:solidFill>
                  <a:srgbClr val="FFFFFF"/>
                </a:solidFill>
                <a:latin typeface="Roboto Mono"/>
                <a:ea typeface="Roboto Mono"/>
                <a:cs typeface="Roboto Mono"/>
                <a:sym typeface="Roboto Mono"/>
              </a:rPr>
              <a:t>$ docker inspect [image_id]</a:t>
            </a:r>
            <a:endParaRPr lang="en-US" sz="1300" b="0" i="0" u="none" strike="noStrike">
              <a:solidFill>
                <a:srgbClr val="FFFFFF"/>
              </a:solidFill>
              <a:latin typeface="Roboto Mono"/>
              <a:ea typeface="Roboto Mono"/>
              <a:cs typeface="Roboto Mono"/>
              <a:sym typeface="Roboto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Docker常用命令 - 容器操作（一）</a:t>
            </a:r>
            <a:endParaRPr lang="en-US" sz="1100"/>
          </a:p>
        </p:txBody>
      </p:sp>
      <p:sp>
        <p:nvSpPr>
          <p:cNvPr id="3" name="AutoShape 3"/>
          <p:cNvSpPr/>
          <p:nvPr/>
        </p:nvSpPr>
        <p:spPr>
          <a:xfrm>
            <a:off x="762000" y="1524000"/>
            <a:ext cx="3556000" cy="4572000"/>
          </a:xfrm>
          <a:prstGeom prst="roundRect">
            <a:avLst>
              <a:gd name="adj" fmla="val 357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78000"/>
            <a:ext cx="406400" cy="406400"/>
          </a:xfrm>
          <a:prstGeom prst="rect">
            <a:avLst/>
          </a:prstGeom>
        </p:spPr>
      </p:pic>
      <p:sp>
        <p:nvSpPr>
          <p:cNvPr id="5" name="AutoShape 5"/>
          <p:cNvSpPr/>
          <p:nvPr/>
        </p:nvSpPr>
        <p:spPr>
          <a:xfrm>
            <a:off x="1524000" y="1778000"/>
            <a:ext cx="2540000" cy="4064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核心概念</a:t>
            </a:r>
            <a:endParaRPr lang="en-US" sz="1100"/>
          </a:p>
        </p:txBody>
      </p:sp>
      <p:cxnSp>
        <p:nvCxnSpPr>
          <p:cNvPr id="6" name="Connector 6"/>
          <p:cNvCxnSpPr/>
          <p:nvPr/>
        </p:nvCxnSpPr>
        <p:spPr>
          <a:xfrm rot="-14323">
            <a:off x="1016013" y="2279650"/>
            <a:ext cx="3048000" cy="12700"/>
          </a:xfrm>
          <a:prstGeom prst="line">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7" name="AutoShape 7"/>
          <p:cNvSpPr/>
          <p:nvPr/>
        </p:nvSpPr>
        <p:spPr>
          <a:xfrm>
            <a:off x="1016000" y="2413000"/>
            <a:ext cx="3048000" cy="330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a:ea typeface="Noto Sans SC"/>
                <a:cs typeface="Noto Sans SC"/>
                <a:sym typeface="Noto Sans SC"/>
              </a:rPr>
              <a:t>容器生命周期</a:t>
            </a:r>
            <a:endParaRPr lang="en-US" sz="1100"/>
          </a:p>
          <a:p>
            <a:pPr indent="0" algn="l">
              <a:lnSpc>
                <a:spcPct val="125000"/>
              </a:lnSpc>
            </a:pPr>
            <a:r>
              <a:rPr lang="en-US" sz="1400" b="0" i="0" u="none" strike="noStrike">
                <a:solidFill>
                  <a:srgbClr val="666666"/>
                </a:solidFill>
                <a:latin typeface="Noto Sans SC"/>
                <a:ea typeface="Noto Sans SC"/>
                <a:cs typeface="Noto Sans SC"/>
                <a:sym typeface="Noto Sans SC"/>
              </a:rPr>
              <a:t>容器是镜像的运行实例。理解容器的生命周期管理是掌握Docker的关键。</a:t>
            </a:r>
            <a:endParaRPr lang="en-US" sz="1400" b="0" i="0" u="none" strike="noStrike">
              <a:solidFill>
                <a:srgbClr val="666666"/>
              </a:solidFill>
              <a:latin typeface="Noto Sans SC"/>
              <a:ea typeface="Noto Sans SC"/>
              <a:cs typeface="Noto Sans SC"/>
              <a:sym typeface="Noto Sans SC"/>
            </a:endParaRPr>
          </a:p>
          <a:p>
            <a:pPr indent="0" algn="l">
              <a:lnSpc>
                <a:spcPct val="125000"/>
              </a:lnSpc>
            </a:pPr>
          </a:p>
          <a:p>
            <a:pPr indent="0" algn="l">
              <a:lnSpc>
                <a:spcPct val="125000"/>
              </a:lnSpc>
            </a:pPr>
            <a:r>
              <a:rPr lang="en-US" sz="1600" b="1" i="0" u="none" strike="noStrike">
                <a:solidFill>
                  <a:srgbClr val="333333"/>
                </a:solidFill>
                <a:latin typeface="Noto Sans SC"/>
                <a:ea typeface="Noto Sans SC"/>
                <a:cs typeface="Noto Sans SC"/>
                <a:sym typeface="Noto Sans SC"/>
              </a:rPr>
              <a:t>常用操作场景</a:t>
            </a:r>
            <a:endParaRPr lang="en-US" sz="1600" b="1" i="0" u="none" strike="noStrike">
              <a:solidFill>
                <a:srgbClr val="333333"/>
              </a:solidFill>
              <a:latin typeface="Noto Sans SC"/>
              <a:ea typeface="Noto Sans SC"/>
              <a:cs typeface="Noto Sans SC"/>
              <a:sym typeface="Noto Sans SC"/>
            </a:endParaRPr>
          </a:p>
          <a:p>
            <a:pPr marL="177800" indent="-177800" algn="l">
              <a:lnSpc>
                <a:spcPct val="125000"/>
              </a:lnSpc>
              <a:buClr>
                <a:srgbClr val="666666"/>
              </a:buClr>
              <a:buChar char="•"/>
            </a:pPr>
            <a:r>
              <a:rPr lang="en-US" sz="1400" b="0" i="0" u="none" strike="noStrike">
                <a:solidFill>
                  <a:srgbClr val="666666"/>
                </a:solidFill>
                <a:latin typeface="Noto Sans SC"/>
                <a:ea typeface="Noto Sans SC"/>
                <a:cs typeface="Noto Sans SC"/>
                <a:sym typeface="Noto Sans SC"/>
              </a:rPr>
              <a:t>创建并启动容器</a:t>
            </a:r>
            <a:endParaRPr lang="en-US" sz="1400" b="0" i="0" u="none" strike="noStrike">
              <a:solidFill>
                <a:srgbClr val="666666"/>
              </a:solidFill>
              <a:latin typeface="Noto Sans SC"/>
              <a:ea typeface="Noto Sans SC"/>
              <a:cs typeface="Noto Sans SC"/>
              <a:sym typeface="Noto Sans SC"/>
            </a:endParaRPr>
          </a:p>
          <a:p>
            <a:pPr marL="177800" indent="-177800" algn="l">
              <a:lnSpc>
                <a:spcPct val="125000"/>
              </a:lnSpc>
              <a:buClr>
                <a:srgbClr val="666666"/>
              </a:buClr>
              <a:buChar char="•"/>
            </a:pPr>
            <a:r>
              <a:rPr lang="en-US" sz="1400" b="0" i="0" u="none" strike="noStrike">
                <a:solidFill>
                  <a:srgbClr val="666666"/>
                </a:solidFill>
                <a:latin typeface="Noto Sans SC"/>
                <a:ea typeface="Noto Sans SC"/>
                <a:cs typeface="Noto Sans SC"/>
                <a:sym typeface="Noto Sans SC"/>
              </a:rPr>
              <a:t>启停与重启容器</a:t>
            </a:r>
            <a:endParaRPr lang="en-US" sz="1400" b="0" i="0" u="none" strike="noStrike">
              <a:solidFill>
                <a:srgbClr val="666666"/>
              </a:solidFill>
              <a:latin typeface="Noto Sans SC"/>
              <a:ea typeface="Noto Sans SC"/>
              <a:cs typeface="Noto Sans SC"/>
              <a:sym typeface="Noto Sans SC"/>
            </a:endParaRPr>
          </a:p>
          <a:p>
            <a:pPr marL="177800" indent="-177800" algn="l">
              <a:lnSpc>
                <a:spcPct val="125000"/>
              </a:lnSpc>
              <a:buClr>
                <a:srgbClr val="666666"/>
              </a:buClr>
              <a:buChar char="•"/>
            </a:pPr>
            <a:r>
              <a:rPr lang="en-US" sz="1400" b="0" i="0" u="none" strike="noStrike">
                <a:solidFill>
                  <a:srgbClr val="666666"/>
                </a:solidFill>
                <a:latin typeface="Noto Sans SC"/>
                <a:ea typeface="Noto Sans SC"/>
                <a:cs typeface="Noto Sans SC"/>
                <a:sym typeface="Noto Sans SC"/>
              </a:rPr>
              <a:t>删除不再使用的容器</a:t>
            </a:r>
            <a:endParaRPr lang="en-US" sz="1400" b="0" i="0" u="none" strike="noStrike">
              <a:solidFill>
                <a:srgbClr val="666666"/>
              </a:solidFill>
              <a:latin typeface="Noto Sans SC"/>
              <a:ea typeface="Noto Sans SC"/>
              <a:cs typeface="Noto Sans SC"/>
              <a:sym typeface="Noto Sans SC"/>
            </a:endParaRPr>
          </a:p>
        </p:txBody>
      </p:sp>
      <p:sp>
        <p:nvSpPr>
          <p:cNvPr id="8" name="AutoShape 8"/>
          <p:cNvSpPr/>
          <p:nvPr/>
        </p:nvSpPr>
        <p:spPr>
          <a:xfrm>
            <a:off x="4572000" y="1524000"/>
            <a:ext cx="6858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826000" y="1778000"/>
            <a:ext cx="406400" cy="406400"/>
          </a:xfrm>
          <a:prstGeom prst="rect">
            <a:avLst/>
          </a:prstGeom>
        </p:spPr>
      </p:pic>
      <p:sp>
        <p:nvSpPr>
          <p:cNvPr id="10" name="AutoShape 10"/>
          <p:cNvSpPr/>
          <p:nvPr/>
        </p:nvSpPr>
        <p:spPr>
          <a:xfrm>
            <a:off x="5334000" y="1778000"/>
            <a:ext cx="5842000" cy="4064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常用命令实战</a:t>
            </a:r>
            <a:endParaRPr lang="en-US" sz="1100"/>
          </a:p>
        </p:txBody>
      </p:sp>
      <p:cxnSp>
        <p:nvCxnSpPr>
          <p:cNvPr id="11" name="Connector 11"/>
          <p:cNvCxnSpPr/>
          <p:nvPr/>
        </p:nvCxnSpPr>
        <p:spPr>
          <a:xfrm rot="-6875">
            <a:off x="4826006" y="2279650"/>
            <a:ext cx="6350000" cy="12700"/>
          </a:xfrm>
          <a:prstGeom prst="line">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2" name="AutoShape 12"/>
          <p:cNvSpPr/>
          <p:nvPr/>
        </p:nvSpPr>
        <p:spPr>
          <a:xfrm>
            <a:off x="4826000" y="2476500"/>
            <a:ext cx="6350000" cy="3365500"/>
          </a:xfrm>
          <a:prstGeom prst="roundRect">
            <a:avLst>
              <a:gd name="adj" fmla="val 1886"/>
            </a:avLst>
          </a:prstGeom>
          <a:solidFill>
            <a:srgbClr val="F5F7FA">
              <a:alpha val="100000"/>
            </a:srgbClr>
          </a:solidFill>
          <a:ln w="12700" cap="flat" cmpd="sng">
            <a:solidFill>
              <a:srgbClr val="DCE1E6">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5016500" y="2603500"/>
            <a:ext cx="5969000" cy="311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969696"/>
                </a:solidFill>
                <a:latin typeface="Noto Sans SC"/>
                <a:ea typeface="Noto Sans SC"/>
                <a:cs typeface="Noto Sans SC"/>
                <a:sym typeface="Noto Sans SC"/>
              </a:rPr>
              <a:t># 1. 创建并启动交互式容器</a:t>
            </a:r>
            <a:endParaRPr lang="en-US" sz="1100"/>
          </a:p>
          <a:p>
            <a:pPr indent="0" algn="l">
              <a:lnSpc>
                <a:spcPct val="125000"/>
              </a:lnSpc>
            </a:pPr>
            <a:r>
              <a:rPr lang="en-US" sz="1300" b="0" i="0" u="none" strike="noStrike">
                <a:solidFill>
                  <a:srgbClr val="003366"/>
                </a:solidFill>
                <a:latin typeface="Noto Sans SC"/>
                <a:ea typeface="Noto Sans SC"/>
                <a:cs typeface="Noto Sans SC"/>
                <a:sym typeface="Noto Sans SC"/>
              </a:rPr>
              <a:t>$ docker run -it --name my_container ubuntu:latest /bin/bash</a:t>
            </a:r>
            <a:endParaRPr lang="en-US" sz="1300" b="0" i="0" u="none" strike="noStrike">
              <a:solidFill>
                <a:srgbClr val="003366"/>
              </a:solidFill>
              <a:latin typeface="Noto Sans SC"/>
              <a:ea typeface="Noto Sans SC"/>
              <a:cs typeface="Noto Sans SC"/>
              <a:sym typeface="Noto Sans SC"/>
            </a:endParaRPr>
          </a:p>
          <a:p>
            <a:pPr indent="0" algn="l">
              <a:lnSpc>
                <a:spcPct val="125000"/>
              </a:lnSpc>
            </a:pPr>
          </a:p>
          <a:p>
            <a:pPr indent="0" algn="l">
              <a:lnSpc>
                <a:spcPct val="125000"/>
              </a:lnSpc>
            </a:pPr>
            <a:r>
              <a:rPr lang="en-US" sz="1300" b="0" i="0" u="none" strike="noStrike">
                <a:solidFill>
                  <a:srgbClr val="969696"/>
                </a:solidFill>
                <a:latin typeface="Noto Sans SC"/>
                <a:ea typeface="Noto Sans SC"/>
                <a:cs typeface="Noto Sans SC"/>
                <a:sym typeface="Noto Sans SC"/>
              </a:rPr>
              <a:t># 2. 启动/停止/重启容器</a:t>
            </a:r>
            <a:endParaRPr lang="en-US" sz="1300" b="0" i="0" u="none" strike="noStrike">
              <a:solidFill>
                <a:srgbClr val="969696"/>
              </a:solidFill>
              <a:latin typeface="Noto Sans SC"/>
              <a:ea typeface="Noto Sans SC"/>
              <a:cs typeface="Noto Sans SC"/>
              <a:sym typeface="Noto Sans SC"/>
            </a:endParaRPr>
          </a:p>
          <a:p>
            <a:pPr indent="0" algn="l">
              <a:lnSpc>
                <a:spcPct val="125000"/>
              </a:lnSpc>
            </a:pPr>
            <a:r>
              <a:rPr lang="en-US" sz="1300" b="0" i="0" u="none" strike="noStrike">
                <a:solidFill>
                  <a:srgbClr val="003366"/>
                </a:solidFill>
                <a:latin typeface="Noto Sans SC"/>
                <a:ea typeface="Noto Sans SC"/>
                <a:cs typeface="Noto Sans SC"/>
                <a:sym typeface="Noto Sans SC"/>
              </a:rPr>
              <a:t>$ docker start my_container</a:t>
            </a:r>
            <a:endParaRPr lang="en-US" sz="1300" b="0" i="0" u="none" strike="noStrike">
              <a:solidFill>
                <a:srgbClr val="003366"/>
              </a:solidFill>
              <a:latin typeface="Noto Sans SC"/>
              <a:ea typeface="Noto Sans SC"/>
              <a:cs typeface="Noto Sans SC"/>
              <a:sym typeface="Noto Sans SC"/>
            </a:endParaRPr>
          </a:p>
          <a:p>
            <a:pPr indent="0" algn="l">
              <a:lnSpc>
                <a:spcPct val="125000"/>
              </a:lnSpc>
            </a:pPr>
            <a:r>
              <a:rPr lang="en-US" sz="1300" b="0" i="0" u="none" strike="noStrike">
                <a:solidFill>
                  <a:srgbClr val="003366"/>
                </a:solidFill>
                <a:latin typeface="Noto Sans SC"/>
                <a:ea typeface="Noto Sans SC"/>
                <a:cs typeface="Noto Sans SC"/>
                <a:sym typeface="Noto Sans SC"/>
              </a:rPr>
              <a:t>$ docker stop my_container</a:t>
            </a:r>
            <a:endParaRPr lang="en-US" sz="1300" b="0" i="0" u="none" strike="noStrike">
              <a:solidFill>
                <a:srgbClr val="003366"/>
              </a:solidFill>
              <a:latin typeface="Noto Sans SC"/>
              <a:ea typeface="Noto Sans SC"/>
              <a:cs typeface="Noto Sans SC"/>
              <a:sym typeface="Noto Sans SC"/>
            </a:endParaRPr>
          </a:p>
          <a:p>
            <a:pPr indent="0" algn="l">
              <a:lnSpc>
                <a:spcPct val="125000"/>
              </a:lnSpc>
            </a:pPr>
            <a:r>
              <a:rPr lang="en-US" sz="1300" b="0" i="0" u="none" strike="noStrike">
                <a:solidFill>
                  <a:srgbClr val="003366"/>
                </a:solidFill>
                <a:latin typeface="Noto Sans SC"/>
                <a:ea typeface="Noto Sans SC"/>
                <a:cs typeface="Noto Sans SC"/>
                <a:sym typeface="Noto Sans SC"/>
              </a:rPr>
              <a:t>$ docker restart my_container</a:t>
            </a:r>
            <a:endParaRPr lang="en-US" sz="1300" b="0" i="0" u="none" strike="noStrike">
              <a:solidFill>
                <a:srgbClr val="003366"/>
              </a:solidFill>
              <a:latin typeface="Noto Sans SC"/>
              <a:ea typeface="Noto Sans SC"/>
              <a:cs typeface="Noto Sans SC"/>
              <a:sym typeface="Noto Sans SC"/>
            </a:endParaRPr>
          </a:p>
          <a:p>
            <a:pPr indent="0" algn="l">
              <a:lnSpc>
                <a:spcPct val="125000"/>
              </a:lnSpc>
            </a:pPr>
          </a:p>
          <a:p>
            <a:pPr indent="0" algn="l">
              <a:lnSpc>
                <a:spcPct val="125000"/>
              </a:lnSpc>
            </a:pPr>
            <a:r>
              <a:rPr lang="en-US" sz="1300" b="0" i="0" u="none" strike="noStrike">
                <a:solidFill>
                  <a:srgbClr val="969696"/>
                </a:solidFill>
                <a:latin typeface="Noto Sans SC"/>
                <a:ea typeface="Noto Sans SC"/>
                <a:cs typeface="Noto Sans SC"/>
                <a:sym typeface="Noto Sans SC"/>
              </a:rPr>
              <a:t># 3. 删除容器 (rm: remove, -f: force)</a:t>
            </a:r>
            <a:endParaRPr lang="en-US" sz="1300" b="0" i="0" u="none" strike="noStrike">
              <a:solidFill>
                <a:srgbClr val="969696"/>
              </a:solidFill>
              <a:latin typeface="Noto Sans SC"/>
              <a:ea typeface="Noto Sans SC"/>
              <a:cs typeface="Noto Sans SC"/>
              <a:sym typeface="Noto Sans SC"/>
            </a:endParaRPr>
          </a:p>
          <a:p>
            <a:pPr indent="0" algn="l">
              <a:lnSpc>
                <a:spcPct val="125000"/>
              </a:lnSpc>
            </a:pPr>
            <a:r>
              <a:rPr lang="en-US" sz="1300" b="0" i="0" u="none" strike="noStrike">
                <a:solidFill>
                  <a:srgbClr val="003366"/>
                </a:solidFill>
                <a:latin typeface="Noto Sans SC"/>
                <a:ea typeface="Noto Sans SC"/>
                <a:cs typeface="Noto Sans SC"/>
                <a:sym typeface="Noto Sans SC"/>
              </a:rPr>
              <a:t>$ docker rm my_container</a:t>
            </a:r>
            <a:endParaRPr lang="en-US" sz="1300" b="0" i="0" u="none" strike="noStrike">
              <a:solidFill>
                <a:srgbClr val="003366"/>
              </a:solidFill>
              <a:latin typeface="Noto Sans SC"/>
              <a:ea typeface="Noto Sans SC"/>
              <a:cs typeface="Noto Sans SC"/>
              <a:sym typeface="Noto Sans SC"/>
            </a:endParaRPr>
          </a:p>
          <a:p>
            <a:pPr indent="0" algn="l">
              <a:lnSpc>
                <a:spcPct val="125000"/>
              </a:lnSpc>
            </a:pPr>
            <a:r>
              <a:rPr lang="en-US" sz="1300" b="0" i="0" u="none" strike="noStrike">
                <a:solidFill>
                  <a:srgbClr val="003366"/>
                </a:solidFill>
                <a:latin typeface="Noto Sans SC"/>
                <a:ea typeface="Noto Sans SC"/>
                <a:cs typeface="Noto Sans SC"/>
                <a:sym typeface="Noto Sans SC"/>
              </a:rPr>
              <a:t>$ docker rm -f my_container</a:t>
            </a:r>
            <a:endParaRPr lang="en-US" sz="1300" b="0" i="0" u="none" strike="noStrike">
              <a:solidFill>
                <a:srgbClr val="003366"/>
              </a:solidFill>
              <a:latin typeface="Noto Sans SC"/>
              <a:ea typeface="Noto Sans SC"/>
              <a:cs typeface="Noto Sans SC"/>
              <a:sym typeface="Noto Sans SC"/>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Docker常用命令 - 容器操作（二）</a:t>
            </a:r>
            <a:endParaRPr lang="en-US" sz="1100"/>
          </a:p>
        </p:txBody>
      </p:sp>
      <p:sp>
        <p:nvSpPr>
          <p:cNvPr id="3" name="AutoShape 3"/>
          <p:cNvSpPr/>
          <p:nvPr/>
        </p:nvSpPr>
        <p:spPr>
          <a:xfrm>
            <a:off x="762000" y="1397000"/>
            <a:ext cx="3556000" cy="4826000"/>
          </a:xfrm>
          <a:prstGeom prst="roundRect">
            <a:avLst>
              <a:gd name="adj" fmla="val 357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651000"/>
            <a:ext cx="304800" cy="304800"/>
          </a:xfrm>
          <a:prstGeom prst="rect">
            <a:avLst/>
          </a:prstGeom>
        </p:spPr>
      </p:pic>
      <p:sp>
        <p:nvSpPr>
          <p:cNvPr id="5" name="AutoShape 5"/>
          <p:cNvSpPr/>
          <p:nvPr/>
        </p:nvSpPr>
        <p:spPr>
          <a:xfrm>
            <a:off x="1397000" y="16256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核心操作概览</a:t>
            </a:r>
            <a:endParaRPr lang="en-US" sz="1100"/>
          </a:p>
        </p:txBody>
      </p:sp>
      <p:cxnSp>
        <p:nvCxnSpPr>
          <p:cNvPr id="6" name="Connector 6"/>
          <p:cNvCxnSpPr/>
          <p:nvPr/>
        </p:nvCxnSpPr>
        <p:spPr>
          <a:xfrm rot="-14323">
            <a:off x="1016013" y="2089150"/>
            <a:ext cx="3048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7" name="AutoShape 7"/>
          <p:cNvSpPr/>
          <p:nvPr/>
        </p:nvSpPr>
        <p:spPr>
          <a:xfrm>
            <a:off x="1016000" y="2286000"/>
            <a:ext cx="3048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除了基础的生命周期管理，容器的日常运维还涉及状态监控、环境调试和文件传输等关键操作。</a:t>
            </a:r>
            <a:endParaRPr lang="en-US" sz="1100"/>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3683000"/>
            <a:ext cx="254000" cy="254000"/>
          </a:xfrm>
          <a:prstGeom prst="rect">
            <a:avLst/>
          </a:prstGeom>
        </p:spPr>
      </p:pic>
      <p:sp>
        <p:nvSpPr>
          <p:cNvPr id="9" name="AutoShape 9"/>
          <p:cNvSpPr/>
          <p:nvPr/>
        </p:nvSpPr>
        <p:spPr>
          <a:xfrm>
            <a:off x="1397000" y="3657600"/>
            <a:ext cx="266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333333"/>
                </a:solidFill>
                <a:latin typeface="Noto Sans SC"/>
                <a:ea typeface="Noto Sans SC"/>
                <a:cs typeface="Noto Sans SC"/>
                <a:sym typeface="Noto Sans SC"/>
              </a:rPr>
              <a:t>状态监控：</a:t>
            </a:r>
            <a:r>
              <a:rPr lang="en-US" sz="1400" b="0" i="0" u="none" strike="noStrike">
                <a:solidFill>
                  <a:srgbClr val="666666"/>
                </a:solidFill>
                <a:latin typeface="Noto Sans SC"/>
                <a:ea typeface="Noto Sans SC"/>
                <a:cs typeface="Noto Sans SC"/>
                <a:sym typeface="Noto Sans SC"/>
              </a:rPr>
              <a:t>查看运行状态与资源占用</a:t>
            </a:r>
            <a:endParaRPr lang="en-US" sz="1100"/>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4127500"/>
            <a:ext cx="254000" cy="254000"/>
          </a:xfrm>
          <a:prstGeom prst="rect">
            <a:avLst/>
          </a:prstGeom>
        </p:spPr>
      </p:pic>
      <p:sp>
        <p:nvSpPr>
          <p:cNvPr id="11" name="AutoShape 11"/>
          <p:cNvSpPr/>
          <p:nvPr/>
        </p:nvSpPr>
        <p:spPr>
          <a:xfrm>
            <a:off x="1397000" y="4102100"/>
            <a:ext cx="266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333333"/>
                </a:solidFill>
                <a:latin typeface="Noto Sans SC"/>
                <a:ea typeface="Noto Sans SC"/>
                <a:cs typeface="Noto Sans SC"/>
                <a:sym typeface="Noto Sans SC"/>
              </a:rPr>
              <a:t>环境调试：</a:t>
            </a:r>
            <a:r>
              <a:rPr lang="en-US" sz="1400" b="0" i="0" u="none" strike="noStrike">
                <a:solidFill>
                  <a:srgbClr val="666666"/>
                </a:solidFill>
                <a:latin typeface="Noto Sans SC"/>
                <a:ea typeface="Noto Sans SC"/>
                <a:cs typeface="Noto Sans SC"/>
                <a:sym typeface="Noto Sans SC"/>
              </a:rPr>
              <a:t>进入容器内部执行命令</a:t>
            </a:r>
            <a:endParaRPr lang="en-US" sz="1100"/>
          </a:p>
        </p:txBody>
      </p:sp>
      <p:pic>
        <p:nvPicPr>
          <p:cNvPr id="12" name="Picture 12"/>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4572000"/>
            <a:ext cx="254000" cy="254000"/>
          </a:xfrm>
          <a:prstGeom prst="rect">
            <a:avLst/>
          </a:prstGeom>
        </p:spPr>
      </p:pic>
      <p:sp>
        <p:nvSpPr>
          <p:cNvPr id="13" name="AutoShape 13"/>
          <p:cNvSpPr/>
          <p:nvPr/>
        </p:nvSpPr>
        <p:spPr>
          <a:xfrm>
            <a:off x="1397000" y="4546600"/>
            <a:ext cx="266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333333"/>
                </a:solidFill>
                <a:latin typeface="Noto Sans SC"/>
                <a:ea typeface="Noto Sans SC"/>
                <a:cs typeface="Noto Sans SC"/>
                <a:sym typeface="Noto Sans SC"/>
              </a:rPr>
              <a:t>文件传输：</a:t>
            </a:r>
            <a:r>
              <a:rPr lang="en-US" sz="1400" b="0" i="0" u="none" strike="noStrike">
                <a:solidFill>
                  <a:srgbClr val="666666"/>
                </a:solidFill>
                <a:latin typeface="Noto Sans SC"/>
                <a:ea typeface="Noto Sans SC"/>
                <a:cs typeface="Noto Sans SC"/>
                <a:sym typeface="Noto Sans SC"/>
              </a:rPr>
              <a:t>主机与容器间复制文件</a:t>
            </a:r>
            <a:endParaRPr lang="en-US" sz="1100"/>
          </a:p>
        </p:txBody>
      </p:sp>
      <p:sp>
        <p:nvSpPr>
          <p:cNvPr id="14" name="AutoShape 14"/>
          <p:cNvSpPr/>
          <p:nvPr/>
        </p:nvSpPr>
        <p:spPr>
          <a:xfrm>
            <a:off x="4572000" y="1397000"/>
            <a:ext cx="6858000" cy="4826000"/>
          </a:xfrm>
          <a:prstGeom prst="roundRect">
            <a:avLst>
              <a:gd name="adj" fmla="val 263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826000" y="1651000"/>
            <a:ext cx="304800" cy="304800"/>
          </a:xfrm>
          <a:prstGeom prst="rect">
            <a:avLst/>
          </a:prstGeom>
        </p:spPr>
      </p:pic>
      <p:sp>
        <p:nvSpPr>
          <p:cNvPr id="16" name="AutoShape 16"/>
          <p:cNvSpPr/>
          <p:nvPr/>
        </p:nvSpPr>
        <p:spPr>
          <a:xfrm>
            <a:off x="5207000" y="16256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常用命令代码示例</a:t>
            </a:r>
            <a:endParaRPr lang="en-US" sz="1100"/>
          </a:p>
        </p:txBody>
      </p:sp>
      <p:cxnSp>
        <p:nvCxnSpPr>
          <p:cNvPr id="17" name="Connector 17"/>
          <p:cNvCxnSpPr/>
          <p:nvPr/>
        </p:nvCxnSpPr>
        <p:spPr>
          <a:xfrm rot="-6875">
            <a:off x="4826006" y="2089150"/>
            <a:ext cx="6350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18" name="AutoShape 18"/>
          <p:cNvSpPr/>
          <p:nvPr/>
        </p:nvSpPr>
        <p:spPr>
          <a:xfrm>
            <a:off x="4826000" y="2286000"/>
            <a:ext cx="6350000" cy="3683000"/>
          </a:xfrm>
          <a:prstGeom prst="roundRect">
            <a:avLst>
              <a:gd name="adj" fmla="val 1724"/>
            </a:avLst>
          </a:prstGeom>
          <a:solidFill>
            <a:srgbClr val="F5F7FA">
              <a:alpha val="100000"/>
            </a:srgbClr>
          </a:solidFill>
          <a:ln w="12700" cap="flat" cmpd="sng">
            <a:solidFill>
              <a:srgbClr val="DCE0E5">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5016500" y="2413000"/>
            <a:ext cx="5969000" cy="3429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969696"/>
                </a:solidFill>
                <a:latin typeface="Noto Sans SC"/>
                <a:ea typeface="Noto Sans SC"/>
                <a:cs typeface="Noto Sans SC"/>
                <a:sym typeface="Noto Sans SC"/>
              </a:rPr>
              <a:t># 查看正在运行的容器</a:t>
            </a:r>
            <a:br>
              <a:rPr lang="en-US" sz="1300" b="0" i="0" u="none" strike="noStrike">
                <a:solidFill>
                  <a:srgbClr val="1F2329"/>
                </a:solidFill>
                <a:latin typeface="Noto Sans SC"/>
                <a:ea typeface="Noto Sans SC"/>
                <a:cs typeface="Noto Sans SC"/>
                <a:sym typeface="Noto Sans SC"/>
              </a:rPr>
            </a:br>
            <a:r>
              <a:rPr lang="en-US" sz="1300" b="1" i="0" u="none" strike="noStrike">
                <a:solidFill>
                  <a:srgbClr val="003366"/>
                </a:solidFill>
                <a:latin typeface="Noto Sans SC"/>
                <a:ea typeface="Noto Sans SC"/>
                <a:cs typeface="Noto Sans SC"/>
                <a:sym typeface="Noto Sans SC"/>
              </a:rPr>
              <a:t>docker ps</a:t>
            </a:r>
            <a:endParaRPr lang="en-US" sz="1100"/>
          </a:p>
          <a:p>
            <a:pPr indent="0" algn="l">
              <a:lnSpc>
                <a:spcPct val="125000"/>
              </a:lnSpc>
            </a:pPr>
            <a:br>
              <a:rPr lang="en-US" sz="1300" b="0" i="0" u="none" strike="noStrike">
                <a:solidFill>
                  <a:srgbClr val="1F2329"/>
                </a:solidFill>
                <a:latin typeface="Noto Sans SC"/>
                <a:ea typeface="Noto Sans SC"/>
                <a:cs typeface="Noto Sans SC"/>
                <a:sym typeface="Noto Sans SC"/>
              </a:rPr>
            </a:br>
            <a:endParaRPr lang="en-US" sz="1300" b="0" i="0" u="none" strike="noStrike">
              <a:solidFill>
                <a:srgbClr val="1F2329"/>
              </a:solidFill>
              <a:latin typeface="Noto Sans SC"/>
              <a:ea typeface="Noto Sans SC"/>
              <a:cs typeface="Noto Sans SC"/>
              <a:sym typeface="Noto Sans SC"/>
            </a:endParaRPr>
          </a:p>
          <a:p>
            <a:pPr indent="0" algn="l">
              <a:lnSpc>
                <a:spcPct val="125000"/>
              </a:lnSpc>
            </a:pPr>
            <a:r>
              <a:rPr lang="en-US" sz="1300" b="0" i="0" u="none" strike="noStrike">
                <a:solidFill>
                  <a:srgbClr val="969696"/>
                </a:solidFill>
                <a:latin typeface="Noto Sans SC"/>
                <a:ea typeface="Noto Sans SC"/>
                <a:cs typeface="Noto Sans SC"/>
                <a:sym typeface="Noto Sans SC"/>
              </a:rPr>
              <a:t># 查看所有容器（包括已停止的）</a:t>
            </a:r>
            <a:br>
              <a:rPr lang="en-US" sz="1300" b="0" i="0" u="none" strike="noStrike">
                <a:solidFill>
                  <a:srgbClr val="1F2329"/>
                </a:solidFill>
                <a:latin typeface="Noto Sans SC"/>
                <a:ea typeface="Noto Sans SC"/>
                <a:cs typeface="Noto Sans SC"/>
                <a:sym typeface="Noto Sans SC"/>
              </a:rPr>
            </a:br>
            <a:r>
              <a:rPr lang="en-US" sz="1300" b="1" i="0" u="none" strike="noStrike">
                <a:solidFill>
                  <a:srgbClr val="003366"/>
                </a:solidFill>
                <a:latin typeface="Noto Sans SC"/>
                <a:ea typeface="Noto Sans SC"/>
                <a:cs typeface="Noto Sans SC"/>
                <a:sym typeface="Noto Sans SC"/>
              </a:rPr>
              <a:t>docker ps -a</a:t>
            </a:r>
            <a:endParaRPr lang="en-US" sz="1300" b="1" i="0" u="none" strike="noStrike">
              <a:solidFill>
                <a:srgbClr val="003366"/>
              </a:solidFill>
              <a:latin typeface="Noto Sans SC"/>
              <a:ea typeface="Noto Sans SC"/>
              <a:cs typeface="Noto Sans SC"/>
              <a:sym typeface="Noto Sans SC"/>
            </a:endParaRPr>
          </a:p>
          <a:p>
            <a:pPr indent="0" algn="l">
              <a:lnSpc>
                <a:spcPct val="125000"/>
              </a:lnSpc>
            </a:pPr>
            <a:br>
              <a:rPr lang="en-US" sz="1300" b="0" i="0" u="none" strike="noStrike">
                <a:solidFill>
                  <a:srgbClr val="1F2329"/>
                </a:solidFill>
                <a:latin typeface="Noto Sans SC"/>
                <a:ea typeface="Noto Sans SC"/>
                <a:cs typeface="Noto Sans SC"/>
                <a:sym typeface="Noto Sans SC"/>
              </a:rPr>
            </a:br>
            <a:endParaRPr lang="en-US" sz="1300" b="0" i="0" u="none" strike="noStrike">
              <a:solidFill>
                <a:srgbClr val="1F2329"/>
              </a:solidFill>
              <a:latin typeface="Noto Sans SC"/>
              <a:ea typeface="Noto Sans SC"/>
              <a:cs typeface="Noto Sans SC"/>
              <a:sym typeface="Noto Sans SC"/>
            </a:endParaRPr>
          </a:p>
          <a:p>
            <a:pPr indent="0" algn="l">
              <a:lnSpc>
                <a:spcPct val="125000"/>
              </a:lnSpc>
            </a:pPr>
            <a:r>
              <a:rPr lang="en-US" sz="1300" b="0" i="0" u="none" strike="noStrike">
                <a:solidFill>
                  <a:srgbClr val="969696"/>
                </a:solidFill>
                <a:latin typeface="Noto Sans SC"/>
                <a:ea typeface="Noto Sans SC"/>
                <a:cs typeface="Noto Sans SC"/>
                <a:sym typeface="Noto Sans SC"/>
              </a:rPr>
              <a:t># 进入一个运行中的容器</a:t>
            </a:r>
            <a:br>
              <a:rPr lang="en-US" sz="1300" b="0" i="0" u="none" strike="noStrike">
                <a:solidFill>
                  <a:srgbClr val="1F2329"/>
                </a:solidFill>
                <a:latin typeface="Noto Sans SC"/>
                <a:ea typeface="Noto Sans SC"/>
                <a:cs typeface="Noto Sans SC"/>
                <a:sym typeface="Noto Sans SC"/>
              </a:rPr>
            </a:br>
            <a:r>
              <a:rPr lang="en-US" sz="1300" b="1" i="0" u="none" strike="noStrike">
                <a:solidFill>
                  <a:srgbClr val="003366"/>
                </a:solidFill>
                <a:latin typeface="Noto Sans SC"/>
                <a:ea typeface="Noto Sans SC"/>
                <a:cs typeface="Noto Sans SC"/>
                <a:sym typeface="Noto Sans SC"/>
              </a:rPr>
              <a:t>docker exec -it my_container /bin/bash</a:t>
            </a:r>
            <a:endParaRPr lang="en-US" sz="1300" b="1" i="0" u="none" strike="noStrike">
              <a:solidFill>
                <a:srgbClr val="003366"/>
              </a:solidFill>
              <a:latin typeface="Noto Sans SC"/>
              <a:ea typeface="Noto Sans SC"/>
              <a:cs typeface="Noto Sans SC"/>
              <a:sym typeface="Noto Sans SC"/>
            </a:endParaRPr>
          </a:p>
          <a:p>
            <a:pPr indent="0" algn="l">
              <a:lnSpc>
                <a:spcPct val="125000"/>
              </a:lnSpc>
            </a:pPr>
            <a:br>
              <a:rPr lang="en-US" sz="1300" b="0" i="0" u="none" strike="noStrike">
                <a:solidFill>
                  <a:srgbClr val="1F2329"/>
                </a:solidFill>
                <a:latin typeface="Noto Sans SC"/>
                <a:ea typeface="Noto Sans SC"/>
                <a:cs typeface="Noto Sans SC"/>
                <a:sym typeface="Noto Sans SC"/>
              </a:rPr>
            </a:br>
            <a:endParaRPr lang="en-US" sz="1300" b="0" i="0" u="none" strike="noStrike">
              <a:solidFill>
                <a:srgbClr val="1F2329"/>
              </a:solidFill>
              <a:latin typeface="Noto Sans SC"/>
              <a:ea typeface="Noto Sans SC"/>
              <a:cs typeface="Noto Sans SC"/>
              <a:sym typeface="Noto Sans SC"/>
            </a:endParaRPr>
          </a:p>
          <a:p>
            <a:pPr indent="0" algn="l">
              <a:lnSpc>
                <a:spcPct val="125000"/>
              </a:lnSpc>
            </a:pPr>
            <a:r>
              <a:rPr lang="en-US" sz="1300" b="0" i="0" u="none" strike="noStrike">
                <a:solidFill>
                  <a:srgbClr val="969696"/>
                </a:solidFill>
                <a:latin typeface="Noto Sans SC"/>
                <a:ea typeface="Noto Sans SC"/>
                <a:cs typeface="Noto Sans SC"/>
                <a:sym typeface="Noto Sans SC"/>
              </a:rPr>
              <a:t># 查看容器日志与资源使用</a:t>
            </a:r>
            <a:br>
              <a:rPr lang="en-US" sz="1300" b="0" i="0" u="none" strike="noStrike">
                <a:solidFill>
                  <a:srgbClr val="1F2329"/>
                </a:solidFill>
                <a:latin typeface="Noto Sans SC"/>
                <a:ea typeface="Noto Sans SC"/>
                <a:cs typeface="Noto Sans SC"/>
                <a:sym typeface="Noto Sans SC"/>
              </a:rPr>
            </a:br>
            <a:r>
              <a:rPr lang="en-US" sz="1300" b="1" i="0" u="none" strike="noStrike">
                <a:solidFill>
                  <a:srgbClr val="003366"/>
                </a:solidFill>
                <a:latin typeface="Noto Sans SC"/>
                <a:ea typeface="Noto Sans SC"/>
                <a:cs typeface="Noto Sans SC"/>
                <a:sym typeface="Noto Sans SC"/>
              </a:rPr>
              <a:t>docker logs my_container</a:t>
            </a:r>
            <a:br>
              <a:rPr lang="en-US" sz="1300" b="0" i="0" u="none" strike="noStrike">
                <a:solidFill>
                  <a:srgbClr val="1F2329"/>
                </a:solidFill>
                <a:latin typeface="Noto Sans SC"/>
                <a:ea typeface="Noto Sans SC"/>
                <a:cs typeface="Noto Sans SC"/>
                <a:sym typeface="Noto Sans SC"/>
              </a:rPr>
            </a:br>
            <a:r>
              <a:rPr lang="en-US" sz="1300" b="1" i="0" u="none" strike="noStrike">
                <a:solidFill>
                  <a:srgbClr val="003366"/>
                </a:solidFill>
                <a:latin typeface="Noto Sans SC"/>
                <a:ea typeface="Noto Sans SC"/>
                <a:cs typeface="Noto Sans SC"/>
                <a:sym typeface="Noto Sans SC"/>
              </a:rPr>
              <a:t>docker stats my_container</a:t>
            </a:r>
            <a:endParaRPr lang="en-US" sz="1300" b="1" i="0" u="none" strike="noStrike">
              <a:solidFill>
                <a:srgbClr val="003366"/>
              </a:solidFill>
              <a:latin typeface="Noto Sans SC"/>
              <a:ea typeface="Noto Sans SC"/>
              <a:cs typeface="Noto Sans SC"/>
              <a:sym typeface="Noto Sans SC"/>
            </a:endParaRPr>
          </a:p>
          <a:p>
            <a:pPr indent="0" algn="l">
              <a:lnSpc>
                <a:spcPct val="125000"/>
              </a:lnSpc>
            </a:pPr>
            <a:br>
              <a:rPr lang="en-US" sz="1300" b="0" i="0" u="none" strike="noStrike">
                <a:solidFill>
                  <a:srgbClr val="1F2329"/>
                </a:solidFill>
                <a:latin typeface="Noto Sans SC"/>
                <a:ea typeface="Noto Sans SC"/>
                <a:cs typeface="Noto Sans SC"/>
                <a:sym typeface="Noto Sans SC"/>
              </a:rPr>
            </a:br>
            <a:endParaRPr lang="en-US" sz="1300" b="0" i="0" u="none" strike="noStrike">
              <a:solidFill>
                <a:srgbClr val="1F2329"/>
              </a:solidFill>
              <a:latin typeface="Noto Sans SC"/>
              <a:ea typeface="Noto Sans SC"/>
              <a:cs typeface="Noto Sans SC"/>
              <a:sym typeface="Noto Sans SC"/>
            </a:endParaRPr>
          </a:p>
          <a:p>
            <a:pPr indent="0" algn="l">
              <a:lnSpc>
                <a:spcPct val="125000"/>
              </a:lnSpc>
            </a:pPr>
            <a:r>
              <a:rPr lang="en-US" sz="1300" b="0" i="0" u="none" strike="noStrike">
                <a:solidFill>
                  <a:srgbClr val="969696"/>
                </a:solidFill>
                <a:latin typeface="Noto Sans SC"/>
                <a:ea typeface="Noto Sans SC"/>
                <a:cs typeface="Noto Sans SC"/>
                <a:sym typeface="Noto Sans SC"/>
              </a:rPr>
              <a:t># 从容器复制文件到主机</a:t>
            </a:r>
            <a:br>
              <a:rPr lang="en-US" sz="1300" b="0" i="0" u="none" strike="noStrike">
                <a:solidFill>
                  <a:srgbClr val="1F2329"/>
                </a:solidFill>
                <a:latin typeface="Noto Sans SC"/>
                <a:ea typeface="Noto Sans SC"/>
                <a:cs typeface="Noto Sans SC"/>
                <a:sym typeface="Noto Sans SC"/>
              </a:rPr>
            </a:br>
            <a:r>
              <a:rPr lang="en-US" sz="1300" b="1" i="0" u="none" strike="noStrike">
                <a:solidFill>
                  <a:srgbClr val="003366"/>
                </a:solidFill>
                <a:latin typeface="Noto Sans SC"/>
                <a:ea typeface="Noto Sans SC"/>
                <a:cs typeface="Noto Sans SC"/>
                <a:sym typeface="Noto Sans SC"/>
              </a:rPr>
              <a:t>docker cp my_container:/path/to/file /host/path</a:t>
            </a:r>
            <a:endParaRPr lang="en-US" sz="1300" b="1" i="0" u="none" strike="noStrike">
              <a:solidFill>
                <a:srgbClr val="003366"/>
              </a:solidFill>
              <a:latin typeface="Noto Sans SC"/>
              <a:ea typeface="Noto Sans SC"/>
              <a:cs typeface="Noto Sans SC"/>
              <a:sym typeface="Noto Sans SC"/>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Dockerfile基础</a:t>
            </a:r>
            <a:endParaRPr lang="en-US" sz="1100"/>
          </a:p>
        </p:txBody>
      </p:sp>
      <p:sp>
        <p:nvSpPr>
          <p:cNvPr id="3" name="AutoShape 3"/>
          <p:cNvSpPr/>
          <p:nvPr/>
        </p:nvSpPr>
        <p:spPr>
          <a:xfrm>
            <a:off x="762000" y="1397000"/>
            <a:ext cx="5207000" cy="4953000"/>
          </a:xfrm>
          <a:prstGeom prst="roundRect">
            <a:avLst>
              <a:gd name="adj" fmla="val 2564"/>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651000"/>
            <a:ext cx="304800" cy="304800"/>
          </a:xfrm>
          <a:prstGeom prst="rect">
            <a:avLst/>
          </a:prstGeom>
        </p:spPr>
      </p:pic>
      <p:sp>
        <p:nvSpPr>
          <p:cNvPr id="5" name="AutoShape 5"/>
          <p:cNvSpPr/>
          <p:nvPr/>
        </p:nvSpPr>
        <p:spPr>
          <a:xfrm>
            <a:off x="1397000" y="1625600"/>
            <a:ext cx="431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核心概念</a:t>
            </a:r>
            <a:endParaRPr lang="en-US" sz="1100"/>
          </a:p>
        </p:txBody>
      </p:sp>
      <p:sp>
        <p:nvSpPr>
          <p:cNvPr id="6" name="AutoShape 6"/>
          <p:cNvSpPr/>
          <p:nvPr/>
        </p:nvSpPr>
        <p:spPr>
          <a:xfrm>
            <a:off x="1016000" y="2032000"/>
            <a:ext cx="4699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Dockerfile是一个包含构建镜像指令的文本文件，通过它可以自动化地构建自定义镜像，实现环境的一致性与可复现性。</a:t>
            </a:r>
            <a:endParaRPr lang="en-US" sz="1100"/>
          </a:p>
        </p:txBody>
      </p:sp>
      <p:cxnSp>
        <p:nvCxnSpPr>
          <p:cNvPr id="7" name="Connector 7"/>
          <p:cNvCxnSpPr/>
          <p:nvPr/>
        </p:nvCxnSpPr>
        <p:spPr>
          <a:xfrm rot="-9291">
            <a:off x="1016009" y="2914650"/>
            <a:ext cx="4699000" cy="12700"/>
          </a:xfrm>
          <a:prstGeom prst="line">
            <a:avLst/>
          </a:prstGeom>
          <a:solidFill>
            <a:srgbClr val="DEE0E3">
              <a:alpha val="100000"/>
            </a:srgbClr>
          </a:solidFill>
          <a:ln w="12700" cap="flat" cmpd="sng">
            <a:solidFill>
              <a:srgbClr val="E6E6E6">
                <a:alpha val="100000"/>
              </a:srgbClr>
            </a:solidFill>
            <a:prstDash val="solid"/>
            <a:round/>
            <a:headEnd type="none" w="med" len="med"/>
            <a:tailEnd type="none" w="med" len="med"/>
          </a:ln>
        </p:spPr>
      </p:cxn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3111500"/>
            <a:ext cx="304800" cy="304800"/>
          </a:xfrm>
          <a:prstGeom prst="rect">
            <a:avLst/>
          </a:prstGeom>
        </p:spPr>
      </p:pic>
      <p:sp>
        <p:nvSpPr>
          <p:cNvPr id="9" name="AutoShape 9"/>
          <p:cNvSpPr/>
          <p:nvPr/>
        </p:nvSpPr>
        <p:spPr>
          <a:xfrm>
            <a:off x="1397000" y="3086100"/>
            <a:ext cx="431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常用核心指令</a:t>
            </a:r>
            <a:endParaRPr lang="en-US" sz="1100"/>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3556000"/>
            <a:ext cx="254000" cy="254000"/>
          </a:xfrm>
          <a:prstGeom prst="rect">
            <a:avLst/>
          </a:prstGeom>
        </p:spPr>
      </p:pic>
      <p:sp>
        <p:nvSpPr>
          <p:cNvPr id="11" name="AutoShape 11"/>
          <p:cNvSpPr/>
          <p:nvPr/>
        </p:nvSpPr>
        <p:spPr>
          <a:xfrm>
            <a:off x="1397000" y="35306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003366"/>
                </a:solidFill>
                <a:latin typeface="Noto Sans SC"/>
                <a:ea typeface="Noto Sans SC"/>
                <a:cs typeface="Noto Sans SC"/>
                <a:sym typeface="Noto Sans SC"/>
              </a:rPr>
              <a:t>FROM</a:t>
            </a:r>
            <a:r>
              <a:rPr lang="en-US" sz="1400" b="0" i="0" u="none" strike="noStrike">
                <a:solidFill>
                  <a:srgbClr val="646464"/>
                </a:solidFill>
                <a:latin typeface="Noto Sans SC"/>
                <a:ea typeface="Noto Sans SC"/>
                <a:cs typeface="Noto Sans SC"/>
                <a:sym typeface="Noto Sans SC"/>
              </a:rPr>
              <a:t>: 指定构建镜像的基础镜像</a:t>
            </a:r>
            <a:endParaRPr lang="en-US" sz="1100"/>
          </a:p>
        </p:txBody>
      </p:sp>
      <p:pic>
        <p:nvPicPr>
          <p:cNvPr id="12" name="Picture 12"/>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3937000"/>
            <a:ext cx="254000" cy="254000"/>
          </a:xfrm>
          <a:prstGeom prst="rect">
            <a:avLst/>
          </a:prstGeom>
        </p:spPr>
      </p:pic>
      <p:sp>
        <p:nvSpPr>
          <p:cNvPr id="13" name="AutoShape 13"/>
          <p:cNvSpPr/>
          <p:nvPr/>
        </p:nvSpPr>
        <p:spPr>
          <a:xfrm>
            <a:off x="1397000" y="39116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003366"/>
                </a:solidFill>
                <a:latin typeface="Noto Sans SC"/>
                <a:ea typeface="Noto Sans SC"/>
                <a:cs typeface="Noto Sans SC"/>
                <a:sym typeface="Noto Sans SC"/>
              </a:rPr>
              <a:t>RUN</a:t>
            </a:r>
            <a:r>
              <a:rPr lang="en-US" sz="1400" b="0" i="0" u="none" strike="noStrike">
                <a:solidFill>
                  <a:srgbClr val="646464"/>
                </a:solidFill>
                <a:latin typeface="Noto Sans SC"/>
                <a:ea typeface="Noto Sans SC"/>
                <a:cs typeface="Noto Sans SC"/>
                <a:sym typeface="Noto Sans SC"/>
              </a:rPr>
              <a:t>: 执行命令，安装软件包或配置环境</a:t>
            </a:r>
            <a:endParaRPr lang="en-US" sz="1100"/>
          </a:p>
        </p:txBody>
      </p:sp>
      <p:pic>
        <p:nvPicPr>
          <p:cNvPr id="14" name="Picture 14"/>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16000" y="4318000"/>
            <a:ext cx="254000" cy="254000"/>
          </a:xfrm>
          <a:prstGeom prst="rect">
            <a:avLst/>
          </a:prstGeom>
        </p:spPr>
      </p:pic>
      <p:sp>
        <p:nvSpPr>
          <p:cNvPr id="15" name="AutoShape 15"/>
          <p:cNvSpPr/>
          <p:nvPr/>
        </p:nvSpPr>
        <p:spPr>
          <a:xfrm>
            <a:off x="1397000" y="42926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003366"/>
                </a:solidFill>
                <a:latin typeface="Noto Sans SC"/>
                <a:ea typeface="Noto Sans SC"/>
                <a:cs typeface="Noto Sans SC"/>
                <a:sym typeface="Noto Sans SC"/>
              </a:rPr>
              <a:t>COPY / ADD</a:t>
            </a:r>
            <a:r>
              <a:rPr lang="en-US" sz="1400" b="0" i="0" u="none" strike="noStrike">
                <a:solidFill>
                  <a:srgbClr val="646464"/>
                </a:solidFill>
                <a:latin typeface="Noto Sans SC"/>
                <a:ea typeface="Noto Sans SC"/>
                <a:cs typeface="Noto Sans SC"/>
                <a:sym typeface="Noto Sans SC"/>
              </a:rPr>
              <a:t>: 将文件从主机复制到镜像中</a:t>
            </a:r>
            <a:endParaRPr lang="en-US" sz="1100"/>
          </a:p>
        </p:txBody>
      </p:sp>
      <p:pic>
        <p:nvPicPr>
          <p:cNvPr id="16" name="Picture 16"/>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1016000" y="4699000"/>
            <a:ext cx="254000" cy="254000"/>
          </a:xfrm>
          <a:prstGeom prst="rect">
            <a:avLst/>
          </a:prstGeom>
        </p:spPr>
      </p:pic>
      <p:sp>
        <p:nvSpPr>
          <p:cNvPr id="17" name="AutoShape 17"/>
          <p:cNvSpPr/>
          <p:nvPr/>
        </p:nvSpPr>
        <p:spPr>
          <a:xfrm>
            <a:off x="1397000" y="46736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003366"/>
                </a:solidFill>
                <a:latin typeface="Noto Sans SC"/>
                <a:ea typeface="Noto Sans SC"/>
                <a:cs typeface="Noto Sans SC"/>
                <a:sym typeface="Noto Sans SC"/>
              </a:rPr>
              <a:t>WORKDIR</a:t>
            </a:r>
            <a:r>
              <a:rPr lang="en-US" sz="1400" b="0" i="0" u="none" strike="noStrike">
                <a:solidFill>
                  <a:srgbClr val="646464"/>
                </a:solidFill>
                <a:latin typeface="Noto Sans SC"/>
                <a:ea typeface="Noto Sans SC"/>
                <a:cs typeface="Noto Sans SC"/>
                <a:sym typeface="Noto Sans SC"/>
              </a:rPr>
              <a:t>: 设置容器运行时的工作目录</a:t>
            </a:r>
            <a:endParaRPr lang="en-US" sz="1100"/>
          </a:p>
        </p:txBody>
      </p:sp>
      <p:pic>
        <p:nvPicPr>
          <p:cNvPr id="18" name="Picture 18"/>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1016000" y="5080000"/>
            <a:ext cx="254000" cy="254000"/>
          </a:xfrm>
          <a:prstGeom prst="rect">
            <a:avLst/>
          </a:prstGeom>
        </p:spPr>
      </p:pic>
      <p:sp>
        <p:nvSpPr>
          <p:cNvPr id="19" name="AutoShape 19"/>
          <p:cNvSpPr/>
          <p:nvPr/>
        </p:nvSpPr>
        <p:spPr>
          <a:xfrm>
            <a:off x="1397000" y="50546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003366"/>
                </a:solidFill>
                <a:latin typeface="Noto Sans SC"/>
                <a:ea typeface="Noto Sans SC"/>
                <a:cs typeface="Noto Sans SC"/>
                <a:sym typeface="Noto Sans SC"/>
              </a:rPr>
              <a:t>EXPOSE</a:t>
            </a:r>
            <a:r>
              <a:rPr lang="en-US" sz="1400" b="0" i="0" u="none" strike="noStrike">
                <a:solidFill>
                  <a:srgbClr val="646464"/>
                </a:solidFill>
                <a:latin typeface="Noto Sans SC"/>
                <a:ea typeface="Noto Sans SC"/>
                <a:cs typeface="Noto Sans SC"/>
                <a:sym typeface="Noto Sans SC"/>
              </a:rPr>
              <a:t>: 声明容器运行时提供的服务端口</a:t>
            </a:r>
            <a:endParaRPr lang="en-US" sz="1100"/>
          </a:p>
        </p:txBody>
      </p:sp>
      <p:pic>
        <p:nvPicPr>
          <p:cNvPr id="20" name="Picture 20"/>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1016000" y="5461000"/>
            <a:ext cx="254000" cy="254000"/>
          </a:xfrm>
          <a:prstGeom prst="rect">
            <a:avLst/>
          </a:prstGeom>
        </p:spPr>
      </p:pic>
      <p:sp>
        <p:nvSpPr>
          <p:cNvPr id="21" name="AutoShape 21"/>
          <p:cNvSpPr/>
          <p:nvPr/>
        </p:nvSpPr>
        <p:spPr>
          <a:xfrm>
            <a:off x="1397000" y="54356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003366"/>
                </a:solidFill>
                <a:latin typeface="Noto Sans SC"/>
                <a:ea typeface="Noto Sans SC"/>
                <a:cs typeface="Noto Sans SC"/>
                <a:sym typeface="Noto Sans SC"/>
              </a:rPr>
              <a:t>CMD / ENTRYPOINT</a:t>
            </a:r>
            <a:r>
              <a:rPr lang="en-US" sz="1400" b="0" i="0" u="none" strike="noStrike">
                <a:solidFill>
                  <a:srgbClr val="646464"/>
                </a:solidFill>
                <a:latin typeface="Noto Sans SC"/>
                <a:ea typeface="Noto Sans SC"/>
                <a:cs typeface="Noto Sans SC"/>
                <a:sym typeface="Noto Sans SC"/>
              </a:rPr>
              <a:t>: 指定容器启动命令</a:t>
            </a:r>
            <a:endParaRPr lang="en-US" sz="1100"/>
          </a:p>
        </p:txBody>
      </p:sp>
      <p:sp>
        <p:nvSpPr>
          <p:cNvPr id="22" name="AutoShape 22"/>
          <p:cNvSpPr/>
          <p:nvPr/>
        </p:nvSpPr>
        <p:spPr>
          <a:xfrm>
            <a:off x="6223000" y="1397000"/>
            <a:ext cx="5207000" cy="4953000"/>
          </a:xfrm>
          <a:prstGeom prst="roundRect">
            <a:avLst>
              <a:gd name="adj" fmla="val 2564"/>
            </a:avLst>
          </a:prstGeom>
          <a:solidFill>
            <a:srgbClr val="003366">
              <a:alpha val="100000"/>
            </a:srgbClr>
          </a:solidFill>
          <a:ln w="25400" cap="flat" cmpd="sng">
            <a:noFill/>
            <a:prstDash val="solid"/>
            <a:round/>
          </a:ln>
          <a:effectLst>
            <a:outerShdw blurRad="127000" dist="50800" dir="2700000" algn="tl" rotWithShape="0">
              <a:srgbClr val="003366">
                <a:alpha val="20000"/>
              </a:srgbClr>
            </a:outerShdw>
          </a:effectLst>
        </p:spPr>
        <p:txBody>
          <a:bodyPr vert="horz" wrap="square" lIns="63500" tIns="63500" rIns="63500" bIns="63500" rtlCol="0" anchor="ctr"/>
          <a:lstStyle/>
          <a:p>
            <a:pPr algn="ctr">
              <a:defRPr/>
            </a:pPr>
          </a:p>
        </p:txBody>
      </p:sp>
      <p:pic>
        <p:nvPicPr>
          <p:cNvPr id="23" name="Picture 23"/>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6477000" y="1651000"/>
            <a:ext cx="304800" cy="304800"/>
          </a:xfrm>
          <a:prstGeom prst="rect">
            <a:avLst/>
          </a:prstGeom>
        </p:spPr>
      </p:pic>
      <p:sp>
        <p:nvSpPr>
          <p:cNvPr id="24" name="AutoShape 24"/>
          <p:cNvSpPr/>
          <p:nvPr/>
        </p:nvSpPr>
        <p:spPr>
          <a:xfrm>
            <a:off x="6858000" y="1625600"/>
            <a:ext cx="431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FFFFFF"/>
                </a:solidFill>
                <a:latin typeface="Noto Sans SC"/>
                <a:ea typeface="Noto Sans SC"/>
                <a:cs typeface="Noto Sans SC"/>
                <a:sym typeface="Noto Sans SC"/>
              </a:rPr>
              <a:t>Python 应用构建示例</a:t>
            </a:r>
            <a:endParaRPr lang="en-US" sz="1100"/>
          </a:p>
        </p:txBody>
      </p:sp>
      <p:sp>
        <p:nvSpPr>
          <p:cNvPr id="25" name="AutoShape 25"/>
          <p:cNvSpPr/>
          <p:nvPr/>
        </p:nvSpPr>
        <p:spPr>
          <a:xfrm>
            <a:off x="6477000" y="2095500"/>
            <a:ext cx="4699000" cy="4000500"/>
          </a:xfrm>
          <a:prstGeom prst="roundRect">
            <a:avLst>
              <a:gd name="adj" fmla="val 1587"/>
            </a:avLst>
          </a:prstGeom>
          <a:solidFill>
            <a:srgbClr val="1E293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6604000" y="2222500"/>
            <a:ext cx="4445000" cy="3746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6B7280"/>
                </a:solidFill>
                <a:latin typeface="Roboto Mono"/>
                <a:ea typeface="Roboto Mono"/>
                <a:cs typeface="Roboto Mono"/>
                <a:sym typeface="Roboto Mono"/>
              </a:rPr>
              <a:t># 指定基础镜像</a:t>
            </a:r>
            <a:endParaRPr lang="en-US" sz="1100"/>
          </a:p>
          <a:p>
            <a:pPr indent="0" algn="l">
              <a:lnSpc>
                <a:spcPct val="125000"/>
              </a:lnSpc>
            </a:pPr>
            <a:r>
              <a:rPr lang="en-US" sz="1300" b="0" i="0" u="none" strike="noStrike">
                <a:solidFill>
                  <a:srgbClr val="60A5FA"/>
                </a:solidFill>
                <a:latin typeface="Roboto Mono"/>
                <a:ea typeface="Roboto Mono"/>
                <a:cs typeface="Roboto Mono"/>
                <a:sym typeface="Roboto Mono"/>
              </a:rPr>
              <a:t>FROM</a:t>
            </a:r>
            <a:r>
              <a:rPr lang="en-US" sz="1300" b="0" i="0" u="none" strike="noStrike">
                <a:solidFill>
                  <a:srgbClr val="FFFFFF"/>
                </a:solidFill>
                <a:latin typeface="Roboto Mono"/>
                <a:ea typeface="Roboto Mono"/>
                <a:cs typeface="Roboto Mono"/>
                <a:sym typeface="Roboto Mono"/>
              </a:rPr>
              <a:t>python:3.9-slim</a:t>
            </a:r>
            <a:endParaRPr lang="en-US" sz="1300" b="0" i="0" u="none" strike="noStrike">
              <a:solidFill>
                <a:srgbClr val="FFFFFF"/>
              </a:solidFill>
              <a:latin typeface="Roboto Mono"/>
              <a:ea typeface="Roboto Mono"/>
              <a:cs typeface="Roboto Mono"/>
              <a:sym typeface="Roboto Mono"/>
            </a:endParaRPr>
          </a:p>
          <a:p>
            <a:pPr indent="0" algn="l">
              <a:lnSpc>
                <a:spcPct val="125000"/>
              </a:lnSpc>
            </a:pPr>
          </a:p>
          <a:p>
            <a:pPr indent="0" algn="l">
              <a:lnSpc>
                <a:spcPct val="125000"/>
              </a:lnSpc>
            </a:pPr>
            <a:r>
              <a:rPr lang="en-US" sz="1300" b="0" i="0" u="none" strike="noStrike">
                <a:solidFill>
                  <a:srgbClr val="6B7280"/>
                </a:solidFill>
                <a:latin typeface="Roboto Mono"/>
                <a:ea typeface="Roboto Mono"/>
                <a:cs typeface="Roboto Mono"/>
                <a:sym typeface="Roboto Mono"/>
              </a:rPr>
              <a:t># 设置工作目录</a:t>
            </a:r>
            <a:endParaRPr lang="en-US" sz="1300" b="0" i="0" u="none" strike="noStrike">
              <a:solidFill>
                <a:srgbClr val="6B7280"/>
              </a:solidFill>
              <a:latin typeface="Roboto Mono"/>
              <a:ea typeface="Roboto Mono"/>
              <a:cs typeface="Roboto Mono"/>
              <a:sym typeface="Roboto Mono"/>
            </a:endParaRPr>
          </a:p>
          <a:p>
            <a:pPr indent="0" algn="l">
              <a:lnSpc>
                <a:spcPct val="125000"/>
              </a:lnSpc>
            </a:pPr>
            <a:r>
              <a:rPr lang="en-US" sz="1300" b="0" i="0" u="none" strike="noStrike">
                <a:solidFill>
                  <a:srgbClr val="60A5FA"/>
                </a:solidFill>
                <a:latin typeface="Roboto Mono"/>
                <a:ea typeface="Roboto Mono"/>
                <a:cs typeface="Roboto Mono"/>
                <a:sym typeface="Roboto Mono"/>
              </a:rPr>
              <a:t>WORKDIR</a:t>
            </a:r>
            <a:r>
              <a:rPr lang="en-US" sz="1300" b="0" i="0" u="none" strike="noStrike">
                <a:solidFill>
                  <a:srgbClr val="FFFFFF"/>
                </a:solidFill>
                <a:latin typeface="Roboto Mono"/>
                <a:ea typeface="Roboto Mono"/>
                <a:cs typeface="Roboto Mono"/>
                <a:sym typeface="Roboto Mono"/>
              </a:rPr>
              <a:t>/app</a:t>
            </a:r>
            <a:endParaRPr lang="en-US" sz="1300" b="0" i="0" u="none" strike="noStrike">
              <a:solidFill>
                <a:srgbClr val="FFFFFF"/>
              </a:solidFill>
              <a:latin typeface="Roboto Mono"/>
              <a:ea typeface="Roboto Mono"/>
              <a:cs typeface="Roboto Mono"/>
              <a:sym typeface="Roboto Mono"/>
            </a:endParaRPr>
          </a:p>
          <a:p>
            <a:pPr indent="0" algn="l">
              <a:lnSpc>
                <a:spcPct val="125000"/>
              </a:lnSpc>
            </a:pPr>
          </a:p>
          <a:p>
            <a:pPr indent="0" algn="l">
              <a:lnSpc>
                <a:spcPct val="125000"/>
              </a:lnSpc>
            </a:pPr>
            <a:r>
              <a:rPr lang="en-US" sz="1300" b="0" i="0" u="none" strike="noStrike">
                <a:solidFill>
                  <a:srgbClr val="6B7280"/>
                </a:solidFill>
                <a:latin typeface="Roboto Mono"/>
                <a:ea typeface="Roboto Mono"/>
                <a:cs typeface="Roboto Mono"/>
                <a:sym typeface="Roboto Mono"/>
              </a:rPr>
              <a:t># 复制依赖文件并安装</a:t>
            </a:r>
            <a:endParaRPr lang="en-US" sz="1300" b="0" i="0" u="none" strike="noStrike">
              <a:solidFill>
                <a:srgbClr val="6B7280"/>
              </a:solidFill>
              <a:latin typeface="Roboto Mono"/>
              <a:ea typeface="Roboto Mono"/>
              <a:cs typeface="Roboto Mono"/>
              <a:sym typeface="Roboto Mono"/>
            </a:endParaRPr>
          </a:p>
          <a:p>
            <a:pPr indent="0" algn="l">
              <a:lnSpc>
                <a:spcPct val="125000"/>
              </a:lnSpc>
            </a:pPr>
            <a:r>
              <a:rPr lang="en-US" sz="1300" b="0" i="0" u="none" strike="noStrike">
                <a:solidFill>
                  <a:srgbClr val="60A5FA"/>
                </a:solidFill>
                <a:latin typeface="Roboto Mono"/>
                <a:ea typeface="Roboto Mono"/>
                <a:cs typeface="Roboto Mono"/>
                <a:sym typeface="Roboto Mono"/>
              </a:rPr>
              <a:t>COPY</a:t>
            </a:r>
            <a:r>
              <a:rPr lang="en-US" sz="1300" b="0" i="0" u="none" strike="noStrike">
                <a:solidFill>
                  <a:srgbClr val="FFFFFF"/>
                </a:solidFill>
                <a:latin typeface="Roboto Mono"/>
                <a:ea typeface="Roboto Mono"/>
                <a:cs typeface="Roboto Mono"/>
                <a:sym typeface="Roboto Mono"/>
              </a:rPr>
              <a:t>requirements.txt .</a:t>
            </a:r>
            <a:endParaRPr lang="en-US" sz="1300" b="0" i="0" u="none" strike="noStrike">
              <a:solidFill>
                <a:srgbClr val="FFFFFF"/>
              </a:solidFill>
              <a:latin typeface="Roboto Mono"/>
              <a:ea typeface="Roboto Mono"/>
              <a:cs typeface="Roboto Mono"/>
              <a:sym typeface="Roboto Mono"/>
            </a:endParaRPr>
          </a:p>
          <a:p>
            <a:pPr indent="0" algn="l">
              <a:lnSpc>
                <a:spcPct val="125000"/>
              </a:lnSpc>
            </a:pPr>
            <a:r>
              <a:rPr lang="en-US" sz="1300" b="0" i="0" u="none" strike="noStrike">
                <a:solidFill>
                  <a:srgbClr val="60A5FA"/>
                </a:solidFill>
                <a:latin typeface="Roboto Mono"/>
                <a:ea typeface="Roboto Mono"/>
                <a:cs typeface="Roboto Mono"/>
                <a:sym typeface="Roboto Mono"/>
              </a:rPr>
              <a:t>RUN</a:t>
            </a:r>
            <a:r>
              <a:rPr lang="en-US" sz="1300" b="0" i="0" u="none" strike="noStrike">
                <a:solidFill>
                  <a:srgbClr val="FFFFFF"/>
                </a:solidFill>
                <a:latin typeface="Roboto Mono"/>
                <a:ea typeface="Roboto Mono"/>
                <a:cs typeface="Roboto Mono"/>
                <a:sym typeface="Roboto Mono"/>
              </a:rPr>
              <a:t>pip install -r requirements.txt</a:t>
            </a:r>
            <a:endParaRPr lang="en-US" sz="1300" b="0" i="0" u="none" strike="noStrike">
              <a:solidFill>
                <a:srgbClr val="FFFFFF"/>
              </a:solidFill>
              <a:latin typeface="Roboto Mono"/>
              <a:ea typeface="Roboto Mono"/>
              <a:cs typeface="Roboto Mono"/>
              <a:sym typeface="Roboto Mono"/>
            </a:endParaRPr>
          </a:p>
          <a:p>
            <a:pPr indent="0" algn="l">
              <a:lnSpc>
                <a:spcPct val="125000"/>
              </a:lnSpc>
            </a:pPr>
          </a:p>
          <a:p>
            <a:pPr indent="0" algn="l">
              <a:lnSpc>
                <a:spcPct val="125000"/>
              </a:lnSpc>
            </a:pPr>
            <a:r>
              <a:rPr lang="en-US" sz="1300" b="0" i="0" u="none" strike="noStrike">
                <a:solidFill>
                  <a:srgbClr val="6B7280"/>
                </a:solidFill>
                <a:latin typeface="Roboto Mono"/>
                <a:ea typeface="Roboto Mono"/>
                <a:cs typeface="Roboto Mono"/>
                <a:sym typeface="Roboto Mono"/>
              </a:rPr>
              <a:t># 复制应用代码</a:t>
            </a:r>
            <a:endParaRPr lang="en-US" sz="1300" b="0" i="0" u="none" strike="noStrike">
              <a:solidFill>
                <a:srgbClr val="6B7280"/>
              </a:solidFill>
              <a:latin typeface="Roboto Mono"/>
              <a:ea typeface="Roboto Mono"/>
              <a:cs typeface="Roboto Mono"/>
              <a:sym typeface="Roboto Mono"/>
            </a:endParaRPr>
          </a:p>
          <a:p>
            <a:pPr indent="0" algn="l">
              <a:lnSpc>
                <a:spcPct val="125000"/>
              </a:lnSpc>
            </a:pPr>
            <a:r>
              <a:rPr lang="en-US" sz="1300" b="0" i="0" u="none" strike="noStrike">
                <a:solidFill>
                  <a:srgbClr val="60A5FA"/>
                </a:solidFill>
                <a:latin typeface="Roboto Mono"/>
                <a:ea typeface="Roboto Mono"/>
                <a:cs typeface="Roboto Mono"/>
                <a:sym typeface="Roboto Mono"/>
              </a:rPr>
              <a:t>COPY</a:t>
            </a:r>
            <a:r>
              <a:rPr lang="en-US" sz="1300" b="0" i="0" u="none" strike="noStrike">
                <a:solidFill>
                  <a:srgbClr val="FFFFFF"/>
                </a:solidFill>
                <a:latin typeface="Roboto Mono"/>
                <a:ea typeface="Roboto Mono"/>
                <a:cs typeface="Roboto Mono"/>
                <a:sym typeface="Roboto Mono"/>
              </a:rPr>
              <a:t>. .</a:t>
            </a:r>
            <a:endParaRPr lang="en-US" sz="1300" b="0" i="0" u="none" strike="noStrike">
              <a:solidFill>
                <a:srgbClr val="FFFFFF"/>
              </a:solidFill>
              <a:latin typeface="Roboto Mono"/>
              <a:ea typeface="Roboto Mono"/>
              <a:cs typeface="Roboto Mono"/>
              <a:sym typeface="Roboto Mono"/>
            </a:endParaRPr>
          </a:p>
          <a:p>
            <a:pPr indent="0" algn="l">
              <a:lnSpc>
                <a:spcPct val="125000"/>
              </a:lnSpc>
            </a:pPr>
          </a:p>
          <a:p>
            <a:pPr indent="0" algn="l">
              <a:lnSpc>
                <a:spcPct val="125000"/>
              </a:lnSpc>
            </a:pPr>
            <a:r>
              <a:rPr lang="en-US" sz="1300" b="0" i="0" u="none" strike="noStrike">
                <a:solidFill>
                  <a:srgbClr val="6B7280"/>
                </a:solidFill>
                <a:latin typeface="Roboto Mono"/>
                <a:ea typeface="Roboto Mono"/>
                <a:cs typeface="Roboto Mono"/>
                <a:sym typeface="Roboto Mono"/>
              </a:rPr>
              <a:t># 暴露端口</a:t>
            </a:r>
            <a:endParaRPr lang="en-US" sz="1300" b="0" i="0" u="none" strike="noStrike">
              <a:solidFill>
                <a:srgbClr val="6B7280"/>
              </a:solidFill>
              <a:latin typeface="Roboto Mono"/>
              <a:ea typeface="Roboto Mono"/>
              <a:cs typeface="Roboto Mono"/>
              <a:sym typeface="Roboto Mono"/>
            </a:endParaRPr>
          </a:p>
          <a:p>
            <a:pPr indent="0" algn="l">
              <a:lnSpc>
                <a:spcPct val="125000"/>
              </a:lnSpc>
            </a:pPr>
            <a:r>
              <a:rPr lang="en-US" sz="1300" b="0" i="0" u="none" strike="noStrike">
                <a:solidFill>
                  <a:srgbClr val="60A5FA"/>
                </a:solidFill>
                <a:latin typeface="Roboto Mono"/>
                <a:ea typeface="Roboto Mono"/>
                <a:cs typeface="Roboto Mono"/>
                <a:sym typeface="Roboto Mono"/>
              </a:rPr>
              <a:t>EXPOSE</a:t>
            </a:r>
            <a:r>
              <a:rPr lang="en-US" sz="1300" b="0" i="0" u="none" strike="noStrike">
                <a:solidFill>
                  <a:srgbClr val="FFFFFF"/>
                </a:solidFill>
                <a:latin typeface="Roboto Mono"/>
                <a:ea typeface="Roboto Mono"/>
                <a:cs typeface="Roboto Mono"/>
                <a:sym typeface="Roboto Mono"/>
              </a:rPr>
              <a:t>8080</a:t>
            </a:r>
            <a:endParaRPr lang="en-US" sz="1300" b="0" i="0" u="none" strike="noStrike">
              <a:solidFill>
                <a:srgbClr val="FFFFFF"/>
              </a:solidFill>
              <a:latin typeface="Roboto Mono"/>
              <a:ea typeface="Roboto Mono"/>
              <a:cs typeface="Roboto Mono"/>
              <a:sym typeface="Roboto Mono"/>
            </a:endParaRPr>
          </a:p>
          <a:p>
            <a:pPr indent="0" algn="l">
              <a:lnSpc>
                <a:spcPct val="125000"/>
              </a:lnSpc>
            </a:pPr>
          </a:p>
          <a:p>
            <a:pPr indent="0" algn="l">
              <a:lnSpc>
                <a:spcPct val="125000"/>
              </a:lnSpc>
            </a:pPr>
            <a:r>
              <a:rPr lang="en-US" sz="1300" b="0" i="0" u="none" strike="noStrike">
                <a:solidFill>
                  <a:srgbClr val="6B7280"/>
                </a:solidFill>
                <a:latin typeface="Roboto Mono"/>
                <a:ea typeface="Roboto Mono"/>
                <a:cs typeface="Roboto Mono"/>
                <a:sym typeface="Roboto Mono"/>
              </a:rPr>
              <a:t># 启动命令</a:t>
            </a:r>
            <a:endParaRPr lang="en-US" sz="1300" b="0" i="0" u="none" strike="noStrike">
              <a:solidFill>
                <a:srgbClr val="6B7280"/>
              </a:solidFill>
              <a:latin typeface="Roboto Mono"/>
              <a:ea typeface="Roboto Mono"/>
              <a:cs typeface="Roboto Mono"/>
              <a:sym typeface="Roboto Mono"/>
            </a:endParaRPr>
          </a:p>
          <a:p>
            <a:pPr indent="0" algn="l">
              <a:lnSpc>
                <a:spcPct val="125000"/>
              </a:lnSpc>
            </a:pPr>
            <a:r>
              <a:rPr lang="en-US" sz="1300" b="0" i="0" u="none" strike="noStrike">
                <a:solidFill>
                  <a:srgbClr val="60A5FA"/>
                </a:solidFill>
                <a:latin typeface="Roboto Mono"/>
                <a:ea typeface="Roboto Mono"/>
                <a:cs typeface="Roboto Mono"/>
                <a:sym typeface="Roboto Mono"/>
              </a:rPr>
              <a:t>CMD</a:t>
            </a:r>
            <a:r>
              <a:rPr lang="en-US" sz="1300" b="0" i="0" u="none" strike="noStrike">
                <a:solidFill>
                  <a:srgbClr val="FFFFFF"/>
                </a:solidFill>
                <a:latin typeface="Roboto Mono"/>
                <a:ea typeface="Roboto Mono"/>
                <a:cs typeface="Roboto Mono"/>
                <a:sym typeface="Roboto Mono"/>
              </a:rPr>
              <a:t>["python", "app.py"]</a:t>
            </a:r>
            <a:endParaRPr lang="en-US" sz="1300" b="0" i="0" u="none" strike="noStrike">
              <a:solidFill>
                <a:srgbClr val="FFFFFF"/>
              </a:solidFill>
              <a:latin typeface="Roboto Mono"/>
              <a:ea typeface="Roboto Mono"/>
              <a:cs typeface="Roboto Mono"/>
              <a:sym typeface="Roboto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使用Dockerfile构建镜像</a:t>
            </a:r>
            <a:endParaRPr lang="en-US" sz="1100"/>
          </a:p>
        </p:txBody>
      </p:sp>
      <p:sp>
        <p:nvSpPr>
          <p:cNvPr id="3" name="AutoShape 3"/>
          <p:cNvSpPr/>
          <p:nvPr/>
        </p:nvSpPr>
        <p:spPr>
          <a:xfrm>
            <a:off x="762000" y="1524000"/>
            <a:ext cx="5080000" cy="4318000"/>
          </a:xfrm>
          <a:prstGeom prst="roundRect">
            <a:avLst>
              <a:gd name="adj" fmla="val 294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66800" y="1828800"/>
            <a:ext cx="406400" cy="406400"/>
          </a:xfrm>
          <a:prstGeom prst="rect">
            <a:avLst/>
          </a:prstGeom>
        </p:spPr>
      </p:pic>
      <p:sp>
        <p:nvSpPr>
          <p:cNvPr id="5" name="AutoShape 5"/>
          <p:cNvSpPr/>
          <p:nvPr/>
        </p:nvSpPr>
        <p:spPr>
          <a:xfrm>
            <a:off x="1574800" y="1828800"/>
            <a:ext cx="3962400" cy="4064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构建流程与核心概念</a:t>
            </a:r>
            <a:endParaRPr lang="en-US" sz="1100"/>
          </a:p>
        </p:txBody>
      </p:sp>
      <p:cxnSp>
        <p:nvCxnSpPr>
          <p:cNvPr id="6" name="Connector 6"/>
          <p:cNvCxnSpPr/>
          <p:nvPr/>
        </p:nvCxnSpPr>
        <p:spPr>
          <a:xfrm rot="-9766">
            <a:off x="1066809" y="2330450"/>
            <a:ext cx="44704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7" name="AutoShape 7"/>
          <p:cNvSpPr/>
          <p:nvPr/>
        </p:nvSpPr>
        <p:spPr>
          <a:xfrm>
            <a:off x="1066800" y="2540000"/>
            <a:ext cx="4470400" cy="2921000"/>
          </a:xfrm>
          <a:prstGeom prst="rect">
            <a:avLst/>
          </a:prstGeom>
          <a:noFill/>
          <a:ln w="12700" cap="flat" cmpd="sng">
            <a:noFill/>
            <a:prstDash val="solid"/>
            <a:round/>
          </a:ln>
        </p:spPr>
        <p:txBody>
          <a:bodyPr vert="horz" wrap="square" lIns="0" tIns="0" rIns="0" bIns="0" rtlCol="0" anchor="ctr" anchorCtr="0"/>
          <a:lstStyle/>
          <a:p>
            <a:pPr marL="203200" indent="-203200" algn="l">
              <a:lnSpc>
                <a:spcPct val="125000"/>
              </a:lnSpc>
              <a:buClr>
                <a:srgbClr val="333333"/>
              </a:buClr>
              <a:buChar char="•"/>
              <a:defRPr/>
            </a:pPr>
            <a:r>
              <a:rPr lang="en-US" sz="1600" b="1" i="0" u="none" strike="noStrike">
                <a:solidFill>
                  <a:srgbClr val="333333"/>
                </a:solidFill>
                <a:latin typeface="Noto Sans SC"/>
                <a:ea typeface="Noto Sans SC"/>
                <a:cs typeface="Noto Sans SC"/>
                <a:sym typeface="Noto Sans SC"/>
              </a:rPr>
              <a:t>核心命令：</a:t>
            </a:r>
            <a:r>
              <a:rPr lang="en-US" sz="1400" b="0" i="0" u="none" strike="noStrike">
                <a:solidFill>
                  <a:srgbClr val="666666"/>
                </a:solidFill>
                <a:latin typeface="Noto Sans SC"/>
                <a:ea typeface="Noto Sans SC"/>
                <a:cs typeface="Noto Sans SC"/>
                <a:sym typeface="Noto Sans SC"/>
              </a:rPr>
              <a:t>编写好Dockerfile后，使用</a:t>
            </a:r>
            <a:r>
              <a:rPr lang="en-US" sz="1400" b="1" i="0" u="none" strike="noStrike">
                <a:solidFill>
                  <a:srgbClr val="003366"/>
                </a:solidFill>
                <a:latin typeface="Noto Sans SC"/>
                <a:ea typeface="Noto Sans SC"/>
                <a:cs typeface="Noto Sans SC"/>
                <a:sym typeface="Noto Sans SC"/>
              </a:rPr>
              <a:t>docker build</a:t>
            </a:r>
            <a:r>
              <a:rPr lang="en-US" sz="1400" b="0" i="0" u="none" strike="noStrike">
                <a:solidFill>
                  <a:srgbClr val="666666"/>
                </a:solidFill>
                <a:latin typeface="Noto Sans SC"/>
                <a:ea typeface="Noto Sans SC"/>
                <a:cs typeface="Noto Sans SC"/>
                <a:sym typeface="Noto Sans SC"/>
              </a:rPr>
              <a:t>命令触发构建。</a:t>
            </a:r>
            <a:endParaRPr lang="en-US" sz="1100"/>
          </a:p>
          <a:p>
            <a:pPr marL="203200" indent="-203200" algn="l">
              <a:lnSpc>
                <a:spcPct val="125000"/>
              </a:lnSpc>
              <a:buClr>
                <a:srgbClr val="333333"/>
              </a:buClr>
              <a:buChar char="•"/>
            </a:pPr>
            <a:r>
              <a:rPr lang="en-US" sz="1600" b="1" i="0" u="none" strike="noStrike">
                <a:solidFill>
                  <a:srgbClr val="333333"/>
                </a:solidFill>
                <a:latin typeface="Noto Sans SC"/>
                <a:ea typeface="Noto Sans SC"/>
                <a:cs typeface="Noto Sans SC"/>
                <a:sym typeface="Noto Sans SC"/>
              </a:rPr>
              <a:t>标签指定：</a:t>
            </a:r>
            <a:r>
              <a:rPr lang="en-US" sz="1400" b="0" i="0" u="none" strike="noStrike">
                <a:solidFill>
                  <a:srgbClr val="666666"/>
                </a:solidFill>
                <a:latin typeface="Noto Sans SC"/>
                <a:ea typeface="Noto Sans SC"/>
                <a:cs typeface="Noto Sans SC"/>
                <a:sym typeface="Noto Sans SC"/>
              </a:rPr>
              <a:t>使用</a:t>
            </a:r>
            <a:r>
              <a:rPr lang="en-US" sz="1400" b="1" i="0" u="none" strike="noStrike">
                <a:solidFill>
                  <a:srgbClr val="003366"/>
                </a:solidFill>
                <a:latin typeface="Noto Sans SC"/>
                <a:ea typeface="Noto Sans SC"/>
                <a:cs typeface="Noto Sans SC"/>
                <a:sym typeface="Noto Sans SC"/>
              </a:rPr>
              <a:t>-t</a:t>
            </a:r>
            <a:r>
              <a:rPr lang="en-US" sz="1400" b="0" i="0" u="none" strike="noStrike">
                <a:solidFill>
                  <a:srgbClr val="666666"/>
                </a:solidFill>
                <a:latin typeface="Noto Sans SC"/>
                <a:ea typeface="Noto Sans SC"/>
                <a:cs typeface="Noto Sans SC"/>
                <a:sym typeface="Noto Sans SC"/>
              </a:rPr>
              <a:t>参数为镜像打上名称和版本标签，便于管理。</a:t>
            </a:r>
            <a:endParaRPr lang="en-US" sz="1400" b="0" i="0" u="none" strike="noStrike">
              <a:solidFill>
                <a:srgbClr val="666666"/>
              </a:solidFill>
              <a:latin typeface="Noto Sans SC"/>
              <a:ea typeface="Noto Sans SC"/>
              <a:cs typeface="Noto Sans SC"/>
              <a:sym typeface="Noto Sans SC"/>
            </a:endParaRPr>
          </a:p>
          <a:p>
            <a:pPr marL="203200" indent="-203200" algn="l">
              <a:lnSpc>
                <a:spcPct val="125000"/>
              </a:lnSpc>
              <a:buClr>
                <a:srgbClr val="333333"/>
              </a:buClr>
              <a:buChar char="•"/>
            </a:pPr>
            <a:r>
              <a:rPr lang="en-US" sz="1600" b="1" i="0" u="none" strike="noStrike">
                <a:solidFill>
                  <a:srgbClr val="333333"/>
                </a:solidFill>
                <a:latin typeface="Noto Sans SC"/>
                <a:ea typeface="Noto Sans SC"/>
                <a:cs typeface="Noto Sans SC"/>
                <a:sym typeface="Noto Sans SC"/>
              </a:rPr>
              <a:t>上下文路径：</a:t>
            </a:r>
            <a:r>
              <a:rPr lang="en-US" sz="1400" b="0" i="0" u="none" strike="noStrike">
                <a:solidFill>
                  <a:srgbClr val="666666"/>
                </a:solidFill>
                <a:latin typeface="Noto Sans SC"/>
                <a:ea typeface="Noto Sans SC"/>
                <a:cs typeface="Noto Sans SC"/>
                <a:sym typeface="Noto Sans SC"/>
              </a:rPr>
              <a:t>命令末尾的</a:t>
            </a:r>
            <a:r>
              <a:rPr lang="en-US" sz="1400" b="1" i="0" u="none" strike="noStrike">
                <a:solidFill>
                  <a:srgbClr val="003366"/>
                </a:solidFill>
                <a:latin typeface="Noto Sans SC"/>
                <a:ea typeface="Noto Sans SC"/>
                <a:cs typeface="Noto Sans SC"/>
                <a:sym typeface="Noto Sans SC"/>
              </a:rPr>
              <a:t>.</a:t>
            </a:r>
            <a:r>
              <a:rPr lang="en-US" sz="1400" b="0" i="0" u="none" strike="noStrike">
                <a:solidFill>
                  <a:srgbClr val="666666"/>
                </a:solidFill>
                <a:latin typeface="Noto Sans SC"/>
                <a:ea typeface="Noto Sans SC"/>
                <a:cs typeface="Noto Sans SC"/>
                <a:sym typeface="Noto Sans SC"/>
              </a:rPr>
              <a:t>表示 Dockerfile 所在的当前目录，即构建上下文。</a:t>
            </a:r>
            <a:endParaRPr lang="en-US" sz="1400" b="0" i="0" u="none" strike="noStrike">
              <a:solidFill>
                <a:srgbClr val="666666"/>
              </a:solidFill>
              <a:latin typeface="Noto Sans SC"/>
              <a:ea typeface="Noto Sans SC"/>
              <a:cs typeface="Noto Sans SC"/>
              <a:sym typeface="Noto Sans SC"/>
            </a:endParaRPr>
          </a:p>
        </p:txBody>
      </p:sp>
      <p:sp>
        <p:nvSpPr>
          <p:cNvPr id="8" name="AutoShape 8"/>
          <p:cNvSpPr/>
          <p:nvPr/>
        </p:nvSpPr>
        <p:spPr>
          <a:xfrm>
            <a:off x="6096000" y="1524000"/>
            <a:ext cx="5080000" cy="4318000"/>
          </a:xfrm>
          <a:prstGeom prst="roundRect">
            <a:avLst>
              <a:gd name="adj" fmla="val 294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00800" y="1828800"/>
            <a:ext cx="406400" cy="406400"/>
          </a:xfrm>
          <a:prstGeom prst="rect">
            <a:avLst/>
          </a:prstGeom>
        </p:spPr>
      </p:pic>
      <p:sp>
        <p:nvSpPr>
          <p:cNvPr id="10" name="AutoShape 10"/>
          <p:cNvSpPr/>
          <p:nvPr/>
        </p:nvSpPr>
        <p:spPr>
          <a:xfrm>
            <a:off x="6908800" y="1828800"/>
            <a:ext cx="3962400" cy="4064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实战代码示例</a:t>
            </a:r>
            <a:endParaRPr lang="en-US" sz="1100"/>
          </a:p>
        </p:txBody>
      </p:sp>
      <p:cxnSp>
        <p:nvCxnSpPr>
          <p:cNvPr id="11" name="Connector 11"/>
          <p:cNvCxnSpPr/>
          <p:nvPr/>
        </p:nvCxnSpPr>
        <p:spPr>
          <a:xfrm rot="-9766">
            <a:off x="6400809" y="2330450"/>
            <a:ext cx="44704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2" name="AutoShape 12"/>
          <p:cNvSpPr/>
          <p:nvPr/>
        </p:nvSpPr>
        <p:spPr>
          <a:xfrm>
            <a:off x="6400800" y="2540000"/>
            <a:ext cx="4470400" cy="2921000"/>
          </a:xfrm>
          <a:prstGeom prst="roundRect">
            <a:avLst>
              <a:gd name="adj" fmla="val 2173"/>
            </a:avLst>
          </a:prstGeom>
          <a:solidFill>
            <a:srgbClr val="F5F7FA">
              <a:alpha val="100000"/>
            </a:srgbClr>
          </a:solidFill>
          <a:ln w="12700" cap="flat" cmpd="sng">
            <a:solidFill>
              <a:srgbClr val="DCE1E6">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6527800" y="2667000"/>
            <a:ext cx="4216400" cy="2667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808080"/>
                </a:solidFill>
                <a:latin typeface="Noto Sans SC"/>
                <a:ea typeface="Noto Sans SC"/>
                <a:cs typeface="Noto Sans SC"/>
                <a:sym typeface="Noto Sans SC"/>
              </a:rPr>
              <a:t># 构建镜像，-t 指定名称和标签，. 表示当前目录</a:t>
            </a:r>
            <a:endParaRPr lang="en-US" sz="1100"/>
          </a:p>
          <a:p>
            <a:pPr indent="0" algn="l">
              <a:lnSpc>
                <a:spcPct val="125000"/>
              </a:lnSpc>
            </a:pPr>
            <a:r>
              <a:rPr lang="en-US" sz="1400" b="1" i="0" u="none" strike="noStrike">
                <a:solidFill>
                  <a:srgbClr val="003366"/>
                </a:solidFill>
                <a:latin typeface="Noto Sans SC"/>
                <a:ea typeface="Noto Sans SC"/>
                <a:cs typeface="Noto Sans SC"/>
                <a:sym typeface="Noto Sans SC"/>
              </a:rPr>
              <a:t>docker build</a:t>
            </a:r>
            <a:r>
              <a:rPr lang="en-US" sz="1400" b="0" i="0" u="none" strike="noStrike">
                <a:solidFill>
                  <a:srgbClr val="333333"/>
                </a:solidFill>
                <a:latin typeface="Noto Sans SC"/>
                <a:ea typeface="Noto Sans SC"/>
                <a:cs typeface="Noto Sans SC"/>
                <a:sym typeface="Noto Sans SC"/>
              </a:rPr>
              <a:t>-t my-python-app:v1 .</a:t>
            </a:r>
            <a:endParaRPr lang="en-US" sz="1400" b="0" i="0" u="none" strike="noStrike">
              <a:solidFill>
                <a:srgbClr val="333333"/>
              </a:solidFill>
              <a:latin typeface="Noto Sans SC"/>
              <a:ea typeface="Noto Sans SC"/>
              <a:cs typeface="Noto Sans SC"/>
              <a:sym typeface="Noto Sans SC"/>
            </a:endParaRPr>
          </a:p>
          <a:p>
            <a:pPr indent="0" algn="l">
              <a:lnSpc>
                <a:spcPct val="125000"/>
              </a:lnSpc>
            </a:pPr>
          </a:p>
          <a:p>
            <a:pPr indent="0" algn="l">
              <a:lnSpc>
                <a:spcPct val="125000"/>
              </a:lnSpc>
            </a:pPr>
            <a:r>
              <a:rPr lang="en-US" sz="1300" b="0" i="0" u="none" strike="noStrike">
                <a:solidFill>
                  <a:srgbClr val="808080"/>
                </a:solidFill>
                <a:latin typeface="Noto Sans SC"/>
                <a:ea typeface="Noto Sans SC"/>
                <a:cs typeface="Noto Sans SC"/>
                <a:sym typeface="Noto Sans SC"/>
              </a:rPr>
              <a:t># 查看新构建的镜像列表</a:t>
            </a:r>
            <a:endParaRPr lang="en-US" sz="1300" b="0" i="0" u="none" strike="noStrike">
              <a:solidFill>
                <a:srgbClr val="808080"/>
              </a:solidFill>
              <a:latin typeface="Noto Sans SC"/>
              <a:ea typeface="Noto Sans SC"/>
              <a:cs typeface="Noto Sans SC"/>
              <a:sym typeface="Noto Sans SC"/>
            </a:endParaRPr>
          </a:p>
          <a:p>
            <a:pPr indent="0" algn="l">
              <a:lnSpc>
                <a:spcPct val="125000"/>
              </a:lnSpc>
            </a:pPr>
            <a:r>
              <a:rPr lang="en-US" sz="1400" b="1" i="0" u="none" strike="noStrike">
                <a:solidFill>
                  <a:srgbClr val="003366"/>
                </a:solidFill>
                <a:latin typeface="Noto Sans SC"/>
                <a:ea typeface="Noto Sans SC"/>
                <a:cs typeface="Noto Sans SC"/>
                <a:sym typeface="Noto Sans SC"/>
              </a:rPr>
              <a:t>docker images</a:t>
            </a:r>
            <a:endParaRPr lang="en-US" sz="1400" b="1" i="0" u="none" strike="noStrike">
              <a:solidFill>
                <a:srgbClr val="003366"/>
              </a:solidFill>
              <a:latin typeface="Noto Sans SC"/>
              <a:ea typeface="Noto Sans SC"/>
              <a:cs typeface="Noto Sans SC"/>
              <a:sym typeface="Noto Sans SC"/>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项目打包与部署</a:t>
            </a:r>
            <a:endParaRPr lang="en-US" sz="1100"/>
          </a:p>
        </p:txBody>
      </p:sp>
      <p:sp>
        <p:nvSpPr>
          <p:cNvPr id="3" name="AutoShape 3"/>
          <p:cNvSpPr/>
          <p:nvPr/>
        </p:nvSpPr>
        <p:spPr>
          <a:xfrm>
            <a:off x="762000" y="1524000"/>
            <a:ext cx="4572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143000" y="1905000"/>
            <a:ext cx="609600" cy="609600"/>
          </a:xfrm>
          <a:prstGeom prst="rect">
            <a:avLst/>
          </a:prstGeom>
        </p:spPr>
      </p:pic>
      <p:sp>
        <p:nvSpPr>
          <p:cNvPr id="5" name="AutoShape 5"/>
          <p:cNvSpPr/>
          <p:nvPr/>
        </p:nvSpPr>
        <p:spPr>
          <a:xfrm>
            <a:off x="1905000" y="1955800"/>
            <a:ext cx="3048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部署核心流程</a:t>
            </a:r>
            <a:endParaRPr lang="en-US" sz="1100"/>
          </a:p>
        </p:txBody>
      </p:sp>
      <p:cxnSp>
        <p:nvCxnSpPr>
          <p:cNvPr id="6" name="Connector 6"/>
          <p:cNvCxnSpPr/>
          <p:nvPr/>
        </p:nvCxnSpPr>
        <p:spPr>
          <a:xfrm rot="-11459">
            <a:off x="1143011" y="2660650"/>
            <a:ext cx="3810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7" name="AutoShape 7"/>
          <p:cNvSpPr/>
          <p:nvPr/>
        </p:nvSpPr>
        <p:spPr>
          <a:xfrm>
            <a:off x="1143000" y="2921000"/>
            <a:ext cx="3810000" cy="254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构建好镜像后，就可以通过运行容器来部署我们的应用了。</a:t>
            </a:r>
            <a:endParaRPr lang="en-US" sz="1100"/>
          </a:p>
          <a:p>
            <a:pPr indent="0" algn="l">
              <a:lnSpc>
                <a:spcPct val="125000"/>
              </a:lnSpc>
            </a:pPr>
            <a:br>
              <a:rPr lang="en-US" sz="1400" b="0" i="0" u="none" strike="noStrike">
                <a:solidFill>
                  <a:srgbClr val="1F2329"/>
                </a:solidFill>
                <a:latin typeface="Noto Sans SC"/>
                <a:ea typeface="Noto Sans SC"/>
                <a:cs typeface="Noto Sans SC"/>
                <a:sym typeface="Noto Sans SC"/>
              </a:rPr>
            </a:br>
            <a:endParaRPr lang="en-US" sz="1400" b="0" i="0" u="none" strike="noStrike">
              <a:solidFill>
                <a:srgbClr val="1F2329"/>
              </a:solidFill>
              <a:latin typeface="Noto Sans SC"/>
              <a:ea typeface="Noto Sans SC"/>
              <a:cs typeface="Noto Sans SC"/>
              <a:sym typeface="Noto Sans SC"/>
            </a:endParaRPr>
          </a:p>
          <a:p>
            <a:pPr marL="177800" indent="-177800" algn="l">
              <a:lnSpc>
                <a:spcPct val="125000"/>
              </a:lnSpc>
              <a:buClr>
                <a:srgbClr val="003366"/>
              </a:buClr>
              <a:buChar char="•"/>
            </a:pPr>
            <a:r>
              <a:rPr lang="en-US" sz="1400" b="1" i="0" u="none" strike="noStrike">
                <a:solidFill>
                  <a:srgbClr val="003366"/>
                </a:solidFill>
                <a:latin typeface="Noto Sans SC"/>
                <a:ea typeface="Noto Sans SC"/>
                <a:cs typeface="Noto Sans SC"/>
                <a:sym typeface="Noto Sans SC"/>
              </a:rPr>
              <a:t>启动容器：</a:t>
            </a:r>
            <a:r>
              <a:rPr lang="en-US" sz="1400" b="0" i="0" u="none" strike="noStrike">
                <a:solidFill>
                  <a:srgbClr val="333333"/>
                </a:solidFill>
                <a:latin typeface="Noto Sans SC"/>
                <a:ea typeface="Noto Sans SC"/>
                <a:cs typeface="Noto Sans SC"/>
                <a:sym typeface="Noto Sans SC"/>
              </a:rPr>
              <a:t>使用 docker run 命令，设置后台运行模式并映射端口。</a:t>
            </a:r>
            <a:endParaRPr lang="en-US" sz="1400" b="0" i="0" u="none" strike="noStrike">
              <a:solidFill>
                <a:srgbClr val="333333"/>
              </a:solidFill>
              <a:latin typeface="Noto Sans SC"/>
              <a:ea typeface="Noto Sans SC"/>
              <a:cs typeface="Noto Sans SC"/>
              <a:sym typeface="Noto Sans SC"/>
            </a:endParaRPr>
          </a:p>
          <a:p>
            <a:pPr marL="177800" indent="-177800" algn="l">
              <a:lnSpc>
                <a:spcPct val="125000"/>
              </a:lnSpc>
              <a:buClr>
                <a:srgbClr val="003366"/>
              </a:buClr>
              <a:buChar char="•"/>
            </a:pPr>
            <a:r>
              <a:rPr lang="en-US" sz="1400" b="1" i="0" u="none" strike="noStrike">
                <a:solidFill>
                  <a:srgbClr val="003366"/>
                </a:solidFill>
                <a:latin typeface="Noto Sans SC"/>
                <a:ea typeface="Noto Sans SC"/>
                <a:cs typeface="Noto Sans SC"/>
                <a:sym typeface="Noto Sans SC"/>
              </a:rPr>
              <a:t>验证状态：</a:t>
            </a:r>
            <a:r>
              <a:rPr lang="en-US" sz="1400" b="0" i="0" u="none" strike="noStrike">
                <a:solidFill>
                  <a:srgbClr val="333333"/>
                </a:solidFill>
                <a:latin typeface="Noto Sans SC"/>
                <a:ea typeface="Noto Sans SC"/>
                <a:cs typeface="Noto Sans SC"/>
                <a:sym typeface="Noto Sans SC"/>
              </a:rPr>
              <a:t>通过 docker ps 查看容器是否正常运行。</a:t>
            </a:r>
            <a:endParaRPr lang="en-US" sz="1400" b="0" i="0" u="none" strike="noStrike">
              <a:solidFill>
                <a:srgbClr val="333333"/>
              </a:solidFill>
              <a:latin typeface="Noto Sans SC"/>
              <a:ea typeface="Noto Sans SC"/>
              <a:cs typeface="Noto Sans SC"/>
              <a:sym typeface="Noto Sans SC"/>
            </a:endParaRPr>
          </a:p>
          <a:p>
            <a:pPr marL="177800" indent="-177800" algn="l">
              <a:lnSpc>
                <a:spcPct val="125000"/>
              </a:lnSpc>
              <a:buClr>
                <a:srgbClr val="003366"/>
              </a:buClr>
              <a:buChar char="•"/>
            </a:pPr>
            <a:r>
              <a:rPr lang="en-US" sz="1400" b="1" i="0" u="none" strike="noStrike">
                <a:solidFill>
                  <a:srgbClr val="003366"/>
                </a:solidFill>
                <a:latin typeface="Noto Sans SC"/>
                <a:ea typeface="Noto Sans SC"/>
                <a:cs typeface="Noto Sans SC"/>
                <a:sym typeface="Noto Sans SC"/>
              </a:rPr>
              <a:t>访问应用：</a:t>
            </a:r>
            <a:r>
              <a:rPr lang="en-US" sz="1400" b="0" i="0" u="none" strike="noStrike">
                <a:solidFill>
                  <a:srgbClr val="333333"/>
                </a:solidFill>
                <a:latin typeface="Noto Sans SC"/>
                <a:ea typeface="Noto Sans SC"/>
                <a:cs typeface="Noto Sans SC"/>
                <a:sym typeface="Noto Sans SC"/>
              </a:rPr>
              <a:t>在浏览器中访问 localhost 对应的端口即可。</a:t>
            </a:r>
            <a:endParaRPr lang="en-US" sz="1400" b="0" i="0" u="none" strike="noStrike">
              <a:solidFill>
                <a:srgbClr val="333333"/>
              </a:solidFill>
              <a:latin typeface="Noto Sans SC"/>
              <a:ea typeface="Noto Sans SC"/>
              <a:cs typeface="Noto Sans SC"/>
              <a:sym typeface="Noto Sans SC"/>
            </a:endParaRPr>
          </a:p>
        </p:txBody>
      </p:sp>
      <p:sp>
        <p:nvSpPr>
          <p:cNvPr id="8" name="AutoShape 8"/>
          <p:cNvSpPr/>
          <p:nvPr/>
        </p:nvSpPr>
        <p:spPr>
          <a:xfrm>
            <a:off x="5588000" y="1524000"/>
            <a:ext cx="5842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969000" y="1905000"/>
            <a:ext cx="609600" cy="609600"/>
          </a:xfrm>
          <a:prstGeom prst="rect">
            <a:avLst/>
          </a:prstGeom>
        </p:spPr>
      </p:pic>
      <p:sp>
        <p:nvSpPr>
          <p:cNvPr id="10" name="AutoShape 10"/>
          <p:cNvSpPr/>
          <p:nvPr/>
        </p:nvSpPr>
        <p:spPr>
          <a:xfrm>
            <a:off x="6731000" y="1955800"/>
            <a:ext cx="4318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关键命令代码示例</a:t>
            </a:r>
            <a:endParaRPr lang="en-US" sz="1100"/>
          </a:p>
        </p:txBody>
      </p:sp>
      <p:cxnSp>
        <p:nvCxnSpPr>
          <p:cNvPr id="11" name="Connector 11"/>
          <p:cNvCxnSpPr/>
          <p:nvPr/>
        </p:nvCxnSpPr>
        <p:spPr>
          <a:xfrm rot="-8594">
            <a:off x="5969008" y="2660650"/>
            <a:ext cx="5080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2" name="AutoShape 12"/>
          <p:cNvSpPr/>
          <p:nvPr/>
        </p:nvSpPr>
        <p:spPr>
          <a:xfrm>
            <a:off x="5969000" y="2921000"/>
            <a:ext cx="5080000" cy="2794000"/>
          </a:xfrm>
          <a:prstGeom prst="roundRect">
            <a:avLst>
              <a:gd name="adj" fmla="val 2272"/>
            </a:avLst>
          </a:prstGeom>
          <a:solidFill>
            <a:srgbClr val="F5F7FA">
              <a:alpha val="100000"/>
            </a:srgbClr>
          </a:solidFill>
          <a:ln w="12700" cap="flat" cmpd="sng">
            <a:solidFill>
              <a:srgbClr val="DCE1E6">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6159500" y="3048000"/>
            <a:ext cx="4699000" cy="2540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300" b="0" i="0" u="none" strike="noStrike">
                <a:solidFill>
                  <a:srgbClr val="646464"/>
                </a:solidFill>
                <a:latin typeface="Noto Sans SC"/>
                <a:ea typeface="Noto Sans SC"/>
                <a:cs typeface="Noto Sans SC"/>
                <a:sym typeface="Noto Sans SC"/>
              </a:rPr>
              <a:t># 运行容器，-d 后台运行，-p 端口映射</a:t>
            </a:r>
            <a:br>
              <a:rPr lang="en-US" sz="1300" b="0" i="0" u="none" strike="noStrike">
                <a:solidFill>
                  <a:srgbClr val="1F2329"/>
                </a:solidFill>
                <a:latin typeface="Noto Sans SC"/>
                <a:ea typeface="Noto Sans SC"/>
                <a:cs typeface="Noto Sans SC"/>
                <a:sym typeface="Noto Sans SC"/>
              </a:rPr>
            </a:br>
            <a:r>
              <a:rPr lang="en-US" sz="1300" b="0" i="0" u="none" strike="noStrike">
                <a:solidFill>
                  <a:srgbClr val="003366"/>
                </a:solidFill>
                <a:latin typeface="Noto Sans SC"/>
                <a:ea typeface="Noto Sans SC"/>
                <a:cs typeface="Noto Sans SC"/>
                <a:sym typeface="Noto Sans SC"/>
              </a:rPr>
              <a:t>docker run -d -p 8080:8080 my-python-app:v1</a:t>
            </a:r>
            <a:endParaRPr lang="en-US" sz="1100"/>
          </a:p>
          <a:p>
            <a:pPr indent="0" algn="l">
              <a:lnSpc>
                <a:spcPct val="125000"/>
              </a:lnSpc>
            </a:pPr>
            <a:br>
              <a:rPr lang="en-US" sz="1300" b="0" i="0" u="none" strike="noStrike">
                <a:solidFill>
                  <a:srgbClr val="1F2329"/>
                </a:solidFill>
                <a:latin typeface="Noto Sans SC"/>
                <a:ea typeface="Noto Sans SC"/>
                <a:cs typeface="Noto Sans SC"/>
                <a:sym typeface="Noto Sans SC"/>
              </a:rPr>
            </a:br>
            <a:endParaRPr lang="en-US" sz="1300" b="0" i="0" u="none" strike="noStrike">
              <a:solidFill>
                <a:srgbClr val="1F2329"/>
              </a:solidFill>
              <a:latin typeface="Noto Sans SC"/>
              <a:ea typeface="Noto Sans SC"/>
              <a:cs typeface="Noto Sans SC"/>
              <a:sym typeface="Noto Sans SC"/>
            </a:endParaRPr>
          </a:p>
          <a:p>
            <a:pPr indent="0" algn="l">
              <a:lnSpc>
                <a:spcPct val="108000"/>
              </a:lnSpc>
            </a:pPr>
            <a:r>
              <a:rPr lang="en-US" sz="1300" b="0" i="0" u="none" strike="noStrike">
                <a:solidFill>
                  <a:srgbClr val="646464"/>
                </a:solidFill>
                <a:latin typeface="Noto Sans SC"/>
                <a:ea typeface="Noto Sans SC"/>
                <a:cs typeface="Noto Sans SC"/>
                <a:sym typeface="Noto Sans SC"/>
              </a:rPr>
              <a:t># 查看容器是否正在运行</a:t>
            </a:r>
            <a:br>
              <a:rPr lang="en-US" sz="1300" b="0" i="0" u="none" strike="noStrike">
                <a:solidFill>
                  <a:srgbClr val="1F2329"/>
                </a:solidFill>
                <a:latin typeface="Noto Sans SC"/>
                <a:ea typeface="Noto Sans SC"/>
                <a:cs typeface="Noto Sans SC"/>
                <a:sym typeface="Noto Sans SC"/>
              </a:rPr>
            </a:br>
            <a:r>
              <a:rPr lang="en-US" sz="1300" b="0" i="0" u="none" strike="noStrike">
                <a:solidFill>
                  <a:srgbClr val="003366"/>
                </a:solidFill>
                <a:latin typeface="Noto Sans SC"/>
                <a:ea typeface="Noto Sans SC"/>
                <a:cs typeface="Noto Sans SC"/>
                <a:sym typeface="Noto Sans SC"/>
              </a:rPr>
              <a:t>docker ps</a:t>
            </a:r>
            <a:endParaRPr lang="en-US" sz="1300" b="0" i="0" u="none" strike="noStrike">
              <a:solidFill>
                <a:srgbClr val="003366"/>
              </a:solidFill>
              <a:latin typeface="Noto Sans SC"/>
              <a:ea typeface="Noto Sans SC"/>
              <a:cs typeface="Noto Sans SC"/>
              <a:sym typeface="Noto Sans SC"/>
            </a:endParaRPr>
          </a:p>
          <a:p>
            <a:pPr indent="0" algn="l">
              <a:lnSpc>
                <a:spcPct val="125000"/>
              </a:lnSpc>
            </a:pPr>
            <a:br>
              <a:rPr lang="en-US" sz="1300" b="0" i="0" u="none" strike="noStrike">
                <a:solidFill>
                  <a:srgbClr val="1F2329"/>
                </a:solidFill>
                <a:latin typeface="Noto Sans SC"/>
                <a:ea typeface="Noto Sans SC"/>
                <a:cs typeface="Noto Sans SC"/>
                <a:sym typeface="Noto Sans SC"/>
              </a:rPr>
            </a:br>
            <a:endParaRPr lang="en-US" sz="1300" b="0" i="0" u="none" strike="noStrike">
              <a:solidFill>
                <a:srgbClr val="1F2329"/>
              </a:solidFill>
              <a:latin typeface="Noto Sans SC"/>
              <a:ea typeface="Noto Sans SC"/>
              <a:cs typeface="Noto Sans SC"/>
              <a:sym typeface="Noto Sans SC"/>
            </a:endParaRPr>
          </a:p>
          <a:p>
            <a:pPr indent="0" algn="l">
              <a:lnSpc>
                <a:spcPct val="108000"/>
              </a:lnSpc>
            </a:pPr>
            <a:r>
              <a:rPr lang="en-US" sz="1300" b="0" i="0" u="none" strike="noStrike">
                <a:solidFill>
                  <a:srgbClr val="646464"/>
                </a:solidFill>
                <a:latin typeface="Noto Sans SC"/>
                <a:ea typeface="Noto Sans SC"/>
                <a:cs typeface="Noto Sans SC"/>
                <a:sym typeface="Noto Sans SC"/>
              </a:rPr>
              <a:t># 访问应用</a:t>
            </a:r>
            <a:br>
              <a:rPr lang="en-US" sz="1300" b="0" i="0" u="none" strike="noStrike">
                <a:solidFill>
                  <a:srgbClr val="1F2329"/>
                </a:solidFill>
                <a:latin typeface="Noto Sans SC"/>
                <a:ea typeface="Noto Sans SC"/>
                <a:cs typeface="Noto Sans SC"/>
                <a:sym typeface="Noto Sans SC"/>
              </a:rPr>
            </a:br>
            <a:r>
              <a:rPr lang="en-US" sz="1300" b="0" i="0" u="none" strike="noStrike">
                <a:solidFill>
                  <a:srgbClr val="003366"/>
                </a:solidFill>
                <a:latin typeface="Noto Sans SC"/>
                <a:ea typeface="Noto Sans SC"/>
                <a:cs typeface="Noto Sans SC"/>
                <a:sym typeface="Noto Sans SC"/>
              </a:rPr>
              <a:t>http://localhost:8080</a:t>
            </a:r>
            <a:endParaRPr lang="en-US" sz="1300" b="0" i="0" u="none" strike="noStrike">
              <a:solidFill>
                <a:srgbClr val="003366"/>
              </a:solidFill>
              <a:latin typeface="Noto Sans SC"/>
              <a:ea typeface="Noto Sans SC"/>
              <a:cs typeface="Noto Sans SC"/>
              <a:sym typeface="Noto Sans SC"/>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Docker Compose简介</a:t>
            </a:r>
            <a:endParaRPr lang="en-US" sz="1100"/>
          </a:p>
        </p:txBody>
      </p:sp>
      <p:sp>
        <p:nvSpPr>
          <p:cNvPr id="3" name="AutoShape 3"/>
          <p:cNvSpPr/>
          <p:nvPr/>
        </p:nvSpPr>
        <p:spPr>
          <a:xfrm>
            <a:off x="762000" y="1524000"/>
            <a:ext cx="4572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srcRect/>
          <a:stretch>
            <a:fillRect/>
          </a:stretch>
        </p:blipFill>
        <p:spPr>
          <a:xfrm>
            <a:off x="1016000" y="1778000"/>
            <a:ext cx="4064000" cy="4064000"/>
          </a:xfrm>
          <a:prstGeom prst="rect">
            <a:avLst/>
          </a:prstGeom>
          <a:noFill/>
          <a:ln w="25400" cap="flat" cmpd="sng">
            <a:noFill/>
            <a:prstDash val="solid"/>
            <a:round/>
          </a:ln>
        </p:spPr>
      </p:pic>
      <p:sp>
        <p:nvSpPr>
          <p:cNvPr id="5" name="AutoShape 5"/>
          <p:cNvSpPr/>
          <p:nvPr/>
        </p:nvSpPr>
        <p:spPr>
          <a:xfrm>
            <a:off x="5588000" y="1524000"/>
            <a:ext cx="5842000" cy="1143000"/>
          </a:xfrm>
          <a:prstGeom prst="roundRect">
            <a:avLst>
              <a:gd name="adj" fmla="val 11111"/>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842000" y="1714500"/>
            <a:ext cx="304800" cy="304800"/>
          </a:xfrm>
          <a:prstGeom prst="rect">
            <a:avLst/>
          </a:prstGeom>
        </p:spPr>
      </p:pic>
      <p:sp>
        <p:nvSpPr>
          <p:cNvPr id="7" name="AutoShape 7"/>
          <p:cNvSpPr/>
          <p:nvPr/>
        </p:nvSpPr>
        <p:spPr>
          <a:xfrm>
            <a:off x="6223000" y="1676400"/>
            <a:ext cx="5080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核心定义</a:t>
            </a:r>
            <a:endParaRPr lang="en-US" sz="1100"/>
          </a:p>
        </p:txBody>
      </p:sp>
      <p:sp>
        <p:nvSpPr>
          <p:cNvPr id="8" name="AutoShape 8"/>
          <p:cNvSpPr/>
          <p:nvPr/>
        </p:nvSpPr>
        <p:spPr>
          <a:xfrm>
            <a:off x="5842000" y="2032000"/>
            <a:ext cx="5334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Docker Compose是一个用于定义和运行多容器Docker应用的工具，通过单一命令即可管理整个应用生命周期。</a:t>
            </a:r>
            <a:endParaRPr lang="en-US" sz="1100"/>
          </a:p>
        </p:txBody>
      </p:sp>
      <p:sp>
        <p:nvSpPr>
          <p:cNvPr id="9" name="AutoShape 9"/>
          <p:cNvSpPr/>
          <p:nvPr/>
        </p:nvSpPr>
        <p:spPr>
          <a:xfrm>
            <a:off x="5588000" y="2857500"/>
            <a:ext cx="5842000" cy="1460500"/>
          </a:xfrm>
          <a:prstGeom prst="roundRect">
            <a:avLst>
              <a:gd name="adj" fmla="val 869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842000" y="3048000"/>
            <a:ext cx="304800" cy="304800"/>
          </a:xfrm>
          <a:prstGeom prst="rect">
            <a:avLst/>
          </a:prstGeom>
        </p:spPr>
      </p:pic>
      <p:sp>
        <p:nvSpPr>
          <p:cNvPr id="11" name="AutoShape 11"/>
          <p:cNvSpPr/>
          <p:nvPr/>
        </p:nvSpPr>
        <p:spPr>
          <a:xfrm>
            <a:off x="6223000" y="3009900"/>
            <a:ext cx="5080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核心优势</a:t>
            </a:r>
            <a:endParaRPr lang="en-US" sz="1100"/>
          </a:p>
        </p:txBody>
      </p:sp>
      <p:sp>
        <p:nvSpPr>
          <p:cNvPr id="12" name="AutoShape 12"/>
          <p:cNvSpPr/>
          <p:nvPr/>
        </p:nvSpPr>
        <p:spPr>
          <a:xfrm>
            <a:off x="5842000" y="3365500"/>
            <a:ext cx="5334000" cy="762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333333"/>
              </a:buClr>
              <a:buChar char="•"/>
              <a:defRPr/>
            </a:pPr>
            <a:r>
              <a:rPr lang="en-US" sz="1400" b="0" i="0" u="none" strike="noStrike">
                <a:solidFill>
                  <a:srgbClr val="333333"/>
                </a:solidFill>
                <a:latin typeface="Noto Sans SC"/>
                <a:ea typeface="Noto Sans SC"/>
                <a:cs typeface="Noto Sans SC"/>
                <a:sym typeface="Noto Sans SC"/>
              </a:rPr>
              <a:t>使用 YAML 文件配置应用服务，结构清晰易维护</a:t>
            </a:r>
            <a:endParaRPr lang="en-US" sz="1100"/>
          </a:p>
          <a:p>
            <a:pPr marL="177800" indent="-177800" algn="l">
              <a:lnSpc>
                <a:spcPct val="125000"/>
              </a:lnSpc>
              <a:buClr>
                <a:srgbClr val="333333"/>
              </a:buClr>
              <a:buChar char="•"/>
            </a:pPr>
            <a:r>
              <a:rPr lang="en-US" sz="1400" b="0" i="0" u="none" strike="noStrike">
                <a:solidFill>
                  <a:srgbClr val="333333"/>
                </a:solidFill>
                <a:latin typeface="Noto Sans SC"/>
                <a:ea typeface="Noto Sans SC"/>
                <a:cs typeface="Noto Sans SC"/>
                <a:sym typeface="Noto Sans SC"/>
              </a:rPr>
              <a:t>单命令启停所有服务，高效管理开发与测试环境</a:t>
            </a:r>
            <a:endParaRPr lang="en-US" sz="1400" b="0" i="0" u="none" strike="noStrike">
              <a:solidFill>
                <a:srgbClr val="333333"/>
              </a:solidFill>
              <a:latin typeface="Noto Sans SC"/>
              <a:ea typeface="Noto Sans SC"/>
              <a:cs typeface="Noto Sans SC"/>
              <a:sym typeface="Noto Sans SC"/>
            </a:endParaRPr>
          </a:p>
        </p:txBody>
      </p:sp>
      <p:sp>
        <p:nvSpPr>
          <p:cNvPr id="13" name="AutoShape 13"/>
          <p:cNvSpPr/>
          <p:nvPr/>
        </p:nvSpPr>
        <p:spPr>
          <a:xfrm>
            <a:off x="5588000" y="4508500"/>
            <a:ext cx="5842000" cy="1587500"/>
          </a:xfrm>
          <a:prstGeom prst="roundRect">
            <a:avLst>
              <a:gd name="adj" fmla="val 800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842000" y="4699000"/>
            <a:ext cx="304800" cy="304800"/>
          </a:xfrm>
          <a:prstGeom prst="rect">
            <a:avLst/>
          </a:prstGeom>
        </p:spPr>
      </p:pic>
      <p:sp>
        <p:nvSpPr>
          <p:cNvPr id="15" name="AutoShape 15"/>
          <p:cNvSpPr/>
          <p:nvPr/>
        </p:nvSpPr>
        <p:spPr>
          <a:xfrm>
            <a:off x="6223000" y="4660900"/>
            <a:ext cx="5080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使用步骤</a:t>
            </a:r>
            <a:endParaRPr lang="en-US" sz="1100"/>
          </a:p>
        </p:txBody>
      </p:sp>
      <p:sp>
        <p:nvSpPr>
          <p:cNvPr id="16" name="AutoShape 16"/>
          <p:cNvSpPr/>
          <p:nvPr/>
        </p:nvSpPr>
        <p:spPr>
          <a:xfrm>
            <a:off x="5842000" y="5016500"/>
            <a:ext cx="5334000" cy="889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333333"/>
              </a:buClr>
              <a:buFont typeface="+mj-lt"/>
              <a:buAutoNum type="arabicPeriod"/>
              <a:defRPr/>
            </a:pPr>
            <a:r>
              <a:rPr lang="en-US" sz="1400" b="0" i="0" u="none" strike="noStrike">
                <a:solidFill>
                  <a:srgbClr val="333333"/>
                </a:solidFill>
                <a:latin typeface="Noto Sans SC"/>
                <a:ea typeface="Noto Sans SC"/>
                <a:cs typeface="Noto Sans SC"/>
                <a:sym typeface="Noto Sans SC"/>
              </a:rPr>
              <a:t>编写 docker-compose.yml 文件，定义服务配置</a:t>
            </a:r>
            <a:endParaRPr lang="en-US" sz="1100"/>
          </a:p>
          <a:p>
            <a:pPr marL="177800" indent="-177800" algn="l">
              <a:lnSpc>
                <a:spcPct val="125000"/>
              </a:lnSpc>
              <a:buClr>
                <a:srgbClr val="333333"/>
              </a:buClr>
              <a:buFont typeface="+mj-lt"/>
              <a:buAutoNum type="arabicPeriod"/>
            </a:pPr>
            <a:r>
              <a:rPr lang="en-US" sz="1400" b="0" i="0" u="none" strike="noStrike">
                <a:solidFill>
                  <a:srgbClr val="333333"/>
                </a:solidFill>
                <a:latin typeface="Noto Sans SC"/>
                <a:ea typeface="Noto Sans SC"/>
                <a:cs typeface="Noto Sans SC"/>
                <a:sym typeface="Noto Sans SC"/>
              </a:rPr>
              <a:t>执行 docker-compose up 启动所有服务</a:t>
            </a:r>
            <a:endParaRPr lang="en-US" sz="1400" b="0" i="0" u="none" strike="noStrike">
              <a:solidFill>
                <a:srgbClr val="333333"/>
              </a:solidFill>
              <a:latin typeface="Noto Sans SC"/>
              <a:ea typeface="Noto Sans SC"/>
              <a:cs typeface="Noto Sans SC"/>
              <a:sym typeface="Noto Sans SC"/>
            </a:endParaRPr>
          </a:p>
          <a:p>
            <a:pPr marL="177800" indent="-177800" algn="l">
              <a:lnSpc>
                <a:spcPct val="125000"/>
              </a:lnSpc>
              <a:buClr>
                <a:srgbClr val="333333"/>
              </a:buClr>
              <a:buFont typeface="+mj-lt"/>
              <a:buAutoNum type="arabicPeriod"/>
            </a:pPr>
            <a:r>
              <a:rPr lang="en-US" sz="1400" b="0" i="0" u="none" strike="noStrike">
                <a:solidFill>
                  <a:srgbClr val="333333"/>
                </a:solidFill>
                <a:latin typeface="Noto Sans SC"/>
                <a:ea typeface="Noto Sans SC"/>
                <a:cs typeface="Noto Sans SC"/>
                <a:sym typeface="Noto Sans SC"/>
              </a:rPr>
              <a:t>执行 docker-compose down 停止并清理服务</a:t>
            </a:r>
            <a:endParaRPr lang="en-US" sz="1400" b="0" i="0" u="none" strike="noStrike">
              <a:solidFill>
                <a:srgbClr val="333333"/>
              </a:solidFill>
              <a:latin typeface="Noto Sans SC"/>
              <a:ea typeface="Noto Sans SC"/>
              <a:cs typeface="Noto Sans SC"/>
              <a:sym typeface="Noto Sans SC"/>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609600" y="609600"/>
            <a:ext cx="109728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003366"/>
                </a:solidFill>
                <a:latin typeface="Noto Sans SC"/>
                <a:ea typeface="Noto Sans SC"/>
                <a:cs typeface="Noto Sans SC"/>
                <a:sym typeface="Noto Sans SC"/>
              </a:rPr>
              <a:t>2.3 自然语言处理概述</a:t>
            </a:r>
            <a:endParaRPr lang="en-US" sz="1100"/>
          </a:p>
        </p:txBody>
      </p:sp>
      <p:sp>
        <p:nvSpPr>
          <p:cNvPr id="3" name="AutoShape 3"/>
          <p:cNvSpPr/>
          <p:nvPr/>
        </p:nvSpPr>
        <p:spPr>
          <a:xfrm>
            <a:off x="609600" y="1778000"/>
            <a:ext cx="3454400" cy="3810000"/>
          </a:xfrm>
          <a:prstGeom prst="roundRect">
            <a:avLst>
              <a:gd name="adj" fmla="val 367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28800" y="2159000"/>
            <a:ext cx="1016000" cy="1016000"/>
          </a:xfrm>
          <a:prstGeom prst="rect">
            <a:avLst/>
          </a:prstGeom>
        </p:spPr>
      </p:pic>
      <p:sp>
        <p:nvSpPr>
          <p:cNvPr id="5" name="AutoShape 5"/>
          <p:cNvSpPr/>
          <p:nvPr/>
        </p:nvSpPr>
        <p:spPr>
          <a:xfrm>
            <a:off x="863600" y="3302000"/>
            <a:ext cx="29464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333333"/>
                </a:solidFill>
                <a:latin typeface="Noto Sans SC"/>
                <a:ea typeface="Noto Sans SC"/>
                <a:cs typeface="Noto Sans SC"/>
                <a:sym typeface="Noto Sans SC"/>
              </a:rPr>
              <a:t>文本理解与分析</a:t>
            </a:r>
            <a:endParaRPr lang="en-US" sz="1100"/>
          </a:p>
        </p:txBody>
      </p:sp>
      <p:sp>
        <p:nvSpPr>
          <p:cNvPr id="6" name="AutoShape 6"/>
          <p:cNvSpPr/>
          <p:nvPr/>
        </p:nvSpPr>
        <p:spPr>
          <a:xfrm>
            <a:off x="863600" y="3746500"/>
            <a:ext cx="2946400" cy="1524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666666"/>
                </a:solidFill>
                <a:latin typeface="Noto Sans SC"/>
                <a:ea typeface="Noto Sans SC"/>
                <a:cs typeface="Noto Sans SC"/>
                <a:sym typeface="Noto Sans SC"/>
              </a:rPr>
              <a:t>通过分词、句法分析和语义理解，使机器能够准确把握文本的深层含义和情感倾向。</a:t>
            </a:r>
            <a:endParaRPr lang="en-US" sz="1100"/>
          </a:p>
        </p:txBody>
      </p:sp>
      <p:sp>
        <p:nvSpPr>
          <p:cNvPr id="7" name="AutoShape 7"/>
          <p:cNvSpPr/>
          <p:nvPr/>
        </p:nvSpPr>
        <p:spPr>
          <a:xfrm>
            <a:off x="4368800" y="1778000"/>
            <a:ext cx="3454400" cy="3810000"/>
          </a:xfrm>
          <a:prstGeom prst="roundRect">
            <a:avLst>
              <a:gd name="adj" fmla="val 367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88000" y="2159000"/>
            <a:ext cx="1016000" cy="1016000"/>
          </a:xfrm>
          <a:prstGeom prst="rect">
            <a:avLst/>
          </a:prstGeom>
        </p:spPr>
      </p:pic>
      <p:sp>
        <p:nvSpPr>
          <p:cNvPr id="9" name="AutoShape 9"/>
          <p:cNvSpPr/>
          <p:nvPr/>
        </p:nvSpPr>
        <p:spPr>
          <a:xfrm>
            <a:off x="4622800" y="3302000"/>
            <a:ext cx="29464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333333"/>
                </a:solidFill>
                <a:latin typeface="Noto Sans SC"/>
                <a:ea typeface="Noto Sans SC"/>
                <a:cs typeface="Noto Sans SC"/>
                <a:sym typeface="Noto Sans SC"/>
              </a:rPr>
              <a:t>知识图谱构建</a:t>
            </a:r>
            <a:endParaRPr lang="en-US" sz="1100"/>
          </a:p>
        </p:txBody>
      </p:sp>
      <p:sp>
        <p:nvSpPr>
          <p:cNvPr id="10" name="AutoShape 10"/>
          <p:cNvSpPr/>
          <p:nvPr/>
        </p:nvSpPr>
        <p:spPr>
          <a:xfrm>
            <a:off x="4622800" y="3746500"/>
            <a:ext cx="2946400" cy="1524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666666"/>
                </a:solidFill>
                <a:latin typeface="Noto Sans SC"/>
                <a:ea typeface="Noto Sans SC"/>
                <a:cs typeface="Noto Sans SC"/>
                <a:sym typeface="Noto Sans SC"/>
              </a:rPr>
              <a:t>将非结构化文本转化为结构化的知识网络，建立实体间的关联，支撑智能问答与推理。</a:t>
            </a:r>
            <a:endParaRPr lang="en-US" sz="1100"/>
          </a:p>
        </p:txBody>
      </p:sp>
      <p:sp>
        <p:nvSpPr>
          <p:cNvPr id="11" name="AutoShape 11"/>
          <p:cNvSpPr/>
          <p:nvPr/>
        </p:nvSpPr>
        <p:spPr>
          <a:xfrm>
            <a:off x="8128000" y="1778000"/>
            <a:ext cx="3454400" cy="3810000"/>
          </a:xfrm>
          <a:prstGeom prst="roundRect">
            <a:avLst>
              <a:gd name="adj" fmla="val 367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347200" y="2159000"/>
            <a:ext cx="1016000" cy="1016000"/>
          </a:xfrm>
          <a:prstGeom prst="rect">
            <a:avLst/>
          </a:prstGeom>
        </p:spPr>
      </p:pic>
      <p:sp>
        <p:nvSpPr>
          <p:cNvPr id="13" name="AutoShape 13"/>
          <p:cNvSpPr/>
          <p:nvPr/>
        </p:nvSpPr>
        <p:spPr>
          <a:xfrm>
            <a:off x="8382000" y="3302000"/>
            <a:ext cx="29464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333333"/>
                </a:solidFill>
                <a:latin typeface="Noto Sans SC"/>
                <a:ea typeface="Noto Sans SC"/>
                <a:cs typeface="Noto Sans SC"/>
                <a:sym typeface="Noto Sans SC"/>
              </a:rPr>
              <a:t>生成式交互</a:t>
            </a:r>
            <a:endParaRPr lang="en-US" sz="1100"/>
          </a:p>
        </p:txBody>
      </p:sp>
      <p:sp>
        <p:nvSpPr>
          <p:cNvPr id="14" name="AutoShape 14"/>
          <p:cNvSpPr/>
          <p:nvPr/>
        </p:nvSpPr>
        <p:spPr>
          <a:xfrm>
            <a:off x="8382000" y="3746500"/>
            <a:ext cx="2946400" cy="1524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666666"/>
                </a:solidFill>
                <a:latin typeface="Noto Sans SC"/>
                <a:ea typeface="Noto Sans SC"/>
                <a:cs typeface="Noto Sans SC"/>
                <a:sym typeface="Noto Sans SC"/>
              </a:rPr>
              <a:t>基于深度学习模型，实现高质量的文本生成、机器翻译及人机对话交互。</a:t>
            </a:r>
            <a:endParaRPr lang="en-US" sz="11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什么是自然语言处理（NLP）？</a:t>
            </a:r>
            <a:endParaRPr lang="en-US" sz="1100"/>
          </a:p>
        </p:txBody>
      </p:sp>
      <p:pic>
        <p:nvPicPr>
          <p:cNvPr id="3" name="Picture 3"/>
          <p:cNvPicPr>
            <a:picLocks noChangeAspect="1"/>
          </p:cNvPicPr>
          <p:nvPr/>
        </p:nvPicPr>
        <p:blipFill>
          <a:blip r:embed="rId1"/>
          <a:srcRect/>
          <a:stretch>
            <a:fillRect/>
          </a:stretch>
        </p:blipFill>
        <p:spPr>
          <a:xfrm>
            <a:off x="762000" y="1524000"/>
            <a:ext cx="4572000" cy="4572000"/>
          </a:xfrm>
          <a:prstGeom prst="roundRect">
            <a:avLst>
              <a:gd name="adj" fmla="val 5555"/>
            </a:avLst>
          </a:prstGeom>
          <a:noFill/>
          <a:ln w="25400" cap="flat" cmpd="sng">
            <a:noFill/>
            <a:prstDash val="solid"/>
            <a:round/>
          </a:ln>
        </p:spPr>
      </p:pic>
      <p:sp>
        <p:nvSpPr>
          <p:cNvPr id="4" name="AutoShape 4"/>
          <p:cNvSpPr/>
          <p:nvPr/>
        </p:nvSpPr>
        <p:spPr>
          <a:xfrm>
            <a:off x="5715000" y="1524000"/>
            <a:ext cx="5715000" cy="1270000"/>
          </a:xfrm>
          <a:prstGeom prst="roundRect">
            <a:avLst>
              <a:gd name="adj" fmla="val 10000"/>
            </a:avLst>
          </a:prstGeom>
          <a:solidFill>
            <a:srgbClr val="FFFFFF">
              <a:alpha val="100000"/>
            </a:srgbClr>
          </a:solidFill>
          <a:ln w="25400" cap="flat" cmpd="sng">
            <a:noFill/>
            <a:prstDash val="solid"/>
            <a:round/>
          </a:ln>
          <a:effectLst>
            <a:outerShdw blurRad="1016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05500" y="1714500"/>
            <a:ext cx="304800" cy="304800"/>
          </a:xfrm>
          <a:prstGeom prst="rect">
            <a:avLst/>
          </a:prstGeom>
        </p:spPr>
      </p:pic>
      <p:sp>
        <p:nvSpPr>
          <p:cNvPr id="6" name="AutoShape 6"/>
          <p:cNvSpPr/>
          <p:nvPr/>
        </p:nvSpPr>
        <p:spPr>
          <a:xfrm>
            <a:off x="6286500" y="1676400"/>
            <a:ext cx="4953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核心定义</a:t>
            </a:r>
            <a:endParaRPr lang="en-US" sz="1100"/>
          </a:p>
        </p:txBody>
      </p:sp>
      <p:sp>
        <p:nvSpPr>
          <p:cNvPr id="7" name="AutoShape 7"/>
          <p:cNvSpPr/>
          <p:nvPr/>
        </p:nvSpPr>
        <p:spPr>
          <a:xfrm>
            <a:off x="5905500" y="2032000"/>
            <a:ext cx="5334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人工智能的重要分支，致力于研究如何让计算机理解、解释和生成人类语言，实现人机间的自然交互。</a:t>
            </a:r>
            <a:endParaRPr lang="en-US" sz="1100"/>
          </a:p>
        </p:txBody>
      </p:sp>
      <p:sp>
        <p:nvSpPr>
          <p:cNvPr id="8" name="AutoShape 8"/>
          <p:cNvSpPr/>
          <p:nvPr/>
        </p:nvSpPr>
        <p:spPr>
          <a:xfrm>
            <a:off x="5715000" y="2984500"/>
            <a:ext cx="5715000" cy="1651000"/>
          </a:xfrm>
          <a:prstGeom prst="roundRect">
            <a:avLst>
              <a:gd name="adj" fmla="val 7692"/>
            </a:avLst>
          </a:prstGeom>
          <a:solidFill>
            <a:srgbClr val="FFFFFF">
              <a:alpha val="100000"/>
            </a:srgbClr>
          </a:solidFill>
          <a:ln w="25400" cap="flat" cmpd="sng">
            <a:noFill/>
            <a:prstDash val="solid"/>
            <a:round/>
          </a:ln>
          <a:effectLst>
            <a:outerShdw blurRad="1016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905500" y="3175000"/>
            <a:ext cx="304800" cy="304800"/>
          </a:xfrm>
          <a:prstGeom prst="rect">
            <a:avLst/>
          </a:prstGeom>
        </p:spPr>
      </p:pic>
      <p:sp>
        <p:nvSpPr>
          <p:cNvPr id="10" name="AutoShape 10"/>
          <p:cNvSpPr/>
          <p:nvPr/>
        </p:nvSpPr>
        <p:spPr>
          <a:xfrm>
            <a:off x="6286500" y="3136900"/>
            <a:ext cx="4953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三大核心目标</a:t>
            </a:r>
            <a:endParaRPr lang="en-US" sz="1100"/>
          </a:p>
        </p:txBody>
      </p:sp>
      <p:pic>
        <p:nvPicPr>
          <p:cNvPr id="11" name="Picture 11"/>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905500" y="3556000"/>
            <a:ext cx="203200" cy="203200"/>
          </a:xfrm>
          <a:prstGeom prst="rect">
            <a:avLst/>
          </a:prstGeom>
        </p:spPr>
      </p:pic>
      <p:sp>
        <p:nvSpPr>
          <p:cNvPr id="12" name="AutoShape 12"/>
          <p:cNvSpPr/>
          <p:nvPr/>
        </p:nvSpPr>
        <p:spPr>
          <a:xfrm>
            <a:off x="6159500" y="3530600"/>
            <a:ext cx="5080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333333"/>
                </a:solidFill>
                <a:latin typeface="Noto Sans SC"/>
                <a:ea typeface="Noto Sans SC"/>
                <a:cs typeface="Noto Sans SC"/>
                <a:sym typeface="Noto Sans SC"/>
              </a:rPr>
              <a:t>理解：</a:t>
            </a:r>
            <a:r>
              <a:rPr lang="en-US" sz="1400" b="0" i="0" u="none" strike="noStrike">
                <a:solidFill>
                  <a:srgbClr val="333333"/>
                </a:solidFill>
                <a:latin typeface="Noto Sans SC"/>
                <a:ea typeface="Noto Sans SC"/>
                <a:cs typeface="Noto Sans SC"/>
                <a:sym typeface="Noto Sans SC"/>
              </a:rPr>
              <a:t>读懂文本含义，进行分词、句法分析等</a:t>
            </a:r>
            <a:endParaRPr lang="en-US" sz="1100"/>
          </a:p>
        </p:txBody>
      </p:sp>
      <p:pic>
        <p:nvPicPr>
          <p:cNvPr id="13" name="Picture 13"/>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905500" y="3873500"/>
            <a:ext cx="203200" cy="203200"/>
          </a:xfrm>
          <a:prstGeom prst="rect">
            <a:avLst/>
          </a:prstGeom>
        </p:spPr>
      </p:pic>
      <p:sp>
        <p:nvSpPr>
          <p:cNvPr id="14" name="AutoShape 14"/>
          <p:cNvSpPr/>
          <p:nvPr/>
        </p:nvSpPr>
        <p:spPr>
          <a:xfrm>
            <a:off x="6159500" y="3848100"/>
            <a:ext cx="5080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333333"/>
                </a:solidFill>
                <a:latin typeface="Noto Sans SC"/>
                <a:ea typeface="Noto Sans SC"/>
                <a:cs typeface="Noto Sans SC"/>
                <a:sym typeface="Noto Sans SC"/>
              </a:rPr>
              <a:t>生成：</a:t>
            </a:r>
            <a:r>
              <a:rPr lang="en-US" sz="1400" b="0" i="0" u="none" strike="noStrike">
                <a:solidFill>
                  <a:srgbClr val="333333"/>
                </a:solidFill>
                <a:latin typeface="Noto Sans SC"/>
                <a:ea typeface="Noto Sans SC"/>
                <a:cs typeface="Noto Sans SC"/>
                <a:sym typeface="Noto Sans SC"/>
              </a:rPr>
              <a:t>生成符合语法和语义的自然语言文本</a:t>
            </a:r>
            <a:endParaRPr lang="en-US" sz="1100"/>
          </a:p>
        </p:txBody>
      </p:sp>
      <p:pic>
        <p:nvPicPr>
          <p:cNvPr id="15" name="Picture 15"/>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905500" y="4191000"/>
            <a:ext cx="203200" cy="203200"/>
          </a:xfrm>
          <a:prstGeom prst="rect">
            <a:avLst/>
          </a:prstGeom>
        </p:spPr>
      </p:pic>
      <p:sp>
        <p:nvSpPr>
          <p:cNvPr id="16" name="AutoShape 16"/>
          <p:cNvSpPr/>
          <p:nvPr/>
        </p:nvSpPr>
        <p:spPr>
          <a:xfrm>
            <a:off x="6159500" y="4165600"/>
            <a:ext cx="5080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333333"/>
                </a:solidFill>
                <a:latin typeface="Noto Sans SC"/>
                <a:ea typeface="Noto Sans SC"/>
                <a:cs typeface="Noto Sans SC"/>
                <a:sym typeface="Noto Sans SC"/>
              </a:rPr>
              <a:t>交互：</a:t>
            </a:r>
            <a:r>
              <a:rPr lang="en-US" sz="1400" b="0" i="0" u="none" strike="noStrike">
                <a:solidFill>
                  <a:srgbClr val="333333"/>
                </a:solidFill>
                <a:latin typeface="Noto Sans SC"/>
                <a:ea typeface="Noto Sans SC"/>
                <a:cs typeface="Noto Sans SC"/>
                <a:sym typeface="Noto Sans SC"/>
              </a:rPr>
              <a:t>实现人机之间高效、自然的语言沟通</a:t>
            </a:r>
            <a:endParaRPr lang="en-US" sz="1100"/>
          </a:p>
        </p:txBody>
      </p:sp>
      <p:sp>
        <p:nvSpPr>
          <p:cNvPr id="17" name="AutoShape 17"/>
          <p:cNvSpPr/>
          <p:nvPr/>
        </p:nvSpPr>
        <p:spPr>
          <a:xfrm>
            <a:off x="5715000" y="4826000"/>
            <a:ext cx="5715000" cy="1270000"/>
          </a:xfrm>
          <a:prstGeom prst="roundRect">
            <a:avLst>
              <a:gd name="adj" fmla="val 10000"/>
            </a:avLst>
          </a:prstGeom>
          <a:solidFill>
            <a:srgbClr val="FFFFFF">
              <a:alpha val="100000"/>
            </a:srgbClr>
          </a:solidFill>
          <a:ln w="25400" cap="flat" cmpd="sng">
            <a:noFill/>
            <a:prstDash val="solid"/>
            <a:round/>
          </a:ln>
          <a:effectLst>
            <a:outerShdw blurRad="1016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5905500" y="5016500"/>
            <a:ext cx="304800" cy="304800"/>
          </a:xfrm>
          <a:prstGeom prst="rect">
            <a:avLst/>
          </a:prstGeom>
        </p:spPr>
      </p:pic>
      <p:sp>
        <p:nvSpPr>
          <p:cNvPr id="19" name="AutoShape 19"/>
          <p:cNvSpPr/>
          <p:nvPr/>
        </p:nvSpPr>
        <p:spPr>
          <a:xfrm>
            <a:off x="6286500" y="4978400"/>
            <a:ext cx="4953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应用价值</a:t>
            </a:r>
            <a:endParaRPr lang="en-US" sz="1100"/>
          </a:p>
        </p:txBody>
      </p:sp>
      <p:sp>
        <p:nvSpPr>
          <p:cNvPr id="20" name="AutoShape 20"/>
          <p:cNvSpPr/>
          <p:nvPr/>
        </p:nvSpPr>
        <p:spPr>
          <a:xfrm>
            <a:off x="5905500" y="5334000"/>
            <a:ext cx="5334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作为人机智能交互的关键技术，广泛应用于机器翻译、智能客服、信息检索、情感分析等领域。</a:t>
            </a:r>
            <a:endParaRPr lang="en-US" sz="110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NLP的主要任务</a:t>
            </a:r>
            <a:endParaRPr lang="en-US" sz="1100"/>
          </a:p>
        </p:txBody>
      </p:sp>
      <p:sp>
        <p:nvSpPr>
          <p:cNvPr id="3" name="AutoShape 3"/>
          <p:cNvSpPr/>
          <p:nvPr/>
        </p:nvSpPr>
        <p:spPr>
          <a:xfrm>
            <a:off x="762000" y="1524000"/>
            <a:ext cx="5207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78000"/>
            <a:ext cx="406400" cy="406400"/>
          </a:xfrm>
          <a:prstGeom prst="rect">
            <a:avLst/>
          </a:prstGeom>
        </p:spPr>
      </p:pic>
      <p:sp>
        <p:nvSpPr>
          <p:cNvPr id="5" name="AutoShape 5"/>
          <p:cNvSpPr/>
          <p:nvPr/>
        </p:nvSpPr>
        <p:spPr>
          <a:xfrm>
            <a:off x="1524000" y="1752600"/>
            <a:ext cx="4191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基础任务</a:t>
            </a:r>
            <a:endParaRPr lang="en-US" sz="1100"/>
          </a:p>
        </p:txBody>
      </p:sp>
      <p:cxnSp>
        <p:nvCxnSpPr>
          <p:cNvPr id="6" name="Connector 6"/>
          <p:cNvCxnSpPr/>
          <p:nvPr/>
        </p:nvCxnSpPr>
        <p:spPr>
          <a:xfrm rot="-9291">
            <a:off x="1016009" y="2216150"/>
            <a:ext cx="4699000" cy="12700"/>
          </a:xfrm>
          <a:prstGeom prst="line">
            <a:avLst/>
          </a:prstGeom>
          <a:solidFill>
            <a:srgbClr val="DEE0E3">
              <a:alpha val="100000"/>
            </a:srgbClr>
          </a:solidFill>
          <a:ln w="12700" cap="flat" cmpd="sng">
            <a:solidFill>
              <a:srgbClr val="003366">
                <a:alpha val="10000"/>
              </a:srgbClr>
            </a:solidFill>
            <a:prstDash val="solid"/>
            <a:round/>
            <a:headEnd type="none" w="med" len="med"/>
            <a:tailEnd type="none" w="med" len="med"/>
          </a:ln>
        </p:spPr>
      </p:cxnSp>
      <p:sp>
        <p:nvSpPr>
          <p:cNvPr id="7" name="AutoShape 7"/>
          <p:cNvSpPr/>
          <p:nvPr/>
        </p:nvSpPr>
        <p:spPr>
          <a:xfrm>
            <a:off x="1016000" y="2349500"/>
            <a:ext cx="4699000" cy="1270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333333"/>
              </a:buClr>
              <a:buChar char="•"/>
              <a:defRPr/>
            </a:pPr>
            <a:r>
              <a:rPr lang="en-US" sz="1400" b="0" i="0" u="none" strike="noStrike">
                <a:solidFill>
                  <a:srgbClr val="333333"/>
                </a:solidFill>
                <a:latin typeface="Noto Sans SC"/>
                <a:ea typeface="Noto Sans SC"/>
                <a:cs typeface="Noto Sans SC"/>
                <a:sym typeface="Noto Sans SC"/>
              </a:rPr>
              <a:t>分词、词性标注、命名实体识别（NER）</a:t>
            </a:r>
            <a:endParaRPr lang="en-US" sz="1100"/>
          </a:p>
          <a:p>
            <a:pPr marL="177800" indent="-177800" algn="l">
              <a:lnSpc>
                <a:spcPct val="125000"/>
              </a:lnSpc>
              <a:buClr>
                <a:srgbClr val="333333"/>
              </a:buClr>
              <a:buChar char="•"/>
            </a:pPr>
            <a:r>
              <a:rPr lang="en-US" sz="1400" b="0" i="0" u="none" strike="noStrike">
                <a:solidFill>
                  <a:srgbClr val="333333"/>
                </a:solidFill>
                <a:latin typeface="Noto Sans SC"/>
                <a:ea typeface="Noto Sans SC"/>
                <a:cs typeface="Noto Sans SC"/>
                <a:sym typeface="Noto Sans SC"/>
              </a:rPr>
              <a:t>句法分析、文本分类</a:t>
            </a:r>
            <a:endParaRPr lang="en-US" sz="1400" b="0" i="0" u="none" strike="noStrike">
              <a:solidFill>
                <a:srgbClr val="333333"/>
              </a:solidFill>
              <a:latin typeface="Noto Sans SC"/>
              <a:ea typeface="Noto Sans SC"/>
              <a:cs typeface="Noto Sans SC"/>
              <a:sym typeface="Noto Sans SC"/>
            </a:endParaRPr>
          </a:p>
        </p:txBody>
      </p:sp>
      <p:sp>
        <p:nvSpPr>
          <p:cNvPr id="8" name="AutoShape 8"/>
          <p:cNvSpPr/>
          <p:nvPr/>
        </p:nvSpPr>
        <p:spPr>
          <a:xfrm>
            <a:off x="6223000" y="1524000"/>
            <a:ext cx="5207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77000" y="1778000"/>
            <a:ext cx="406400" cy="406400"/>
          </a:xfrm>
          <a:prstGeom prst="rect">
            <a:avLst/>
          </a:prstGeom>
        </p:spPr>
      </p:pic>
      <p:sp>
        <p:nvSpPr>
          <p:cNvPr id="10" name="AutoShape 10"/>
          <p:cNvSpPr/>
          <p:nvPr/>
        </p:nvSpPr>
        <p:spPr>
          <a:xfrm>
            <a:off x="6985000" y="1752600"/>
            <a:ext cx="4191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理解与生成任务</a:t>
            </a:r>
            <a:endParaRPr lang="en-US" sz="1100"/>
          </a:p>
        </p:txBody>
      </p:sp>
      <p:cxnSp>
        <p:nvCxnSpPr>
          <p:cNvPr id="11" name="Connector 11"/>
          <p:cNvCxnSpPr/>
          <p:nvPr/>
        </p:nvCxnSpPr>
        <p:spPr>
          <a:xfrm rot="-9291">
            <a:off x="6477009" y="2216150"/>
            <a:ext cx="4699000" cy="12700"/>
          </a:xfrm>
          <a:prstGeom prst="line">
            <a:avLst/>
          </a:prstGeom>
          <a:solidFill>
            <a:srgbClr val="DEE0E3">
              <a:alpha val="100000"/>
            </a:srgbClr>
          </a:solidFill>
          <a:ln w="12700" cap="flat" cmpd="sng">
            <a:solidFill>
              <a:srgbClr val="003366">
                <a:alpha val="10000"/>
              </a:srgbClr>
            </a:solidFill>
            <a:prstDash val="solid"/>
            <a:round/>
            <a:headEnd type="none" w="med" len="med"/>
            <a:tailEnd type="none" w="med" len="med"/>
          </a:ln>
        </p:spPr>
      </p:cxnSp>
      <p:sp>
        <p:nvSpPr>
          <p:cNvPr id="12" name="AutoShape 12"/>
          <p:cNvSpPr/>
          <p:nvPr/>
        </p:nvSpPr>
        <p:spPr>
          <a:xfrm>
            <a:off x="6477000" y="2349500"/>
            <a:ext cx="4699000" cy="1270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333333"/>
              </a:buClr>
              <a:buChar char="•"/>
              <a:defRPr/>
            </a:pPr>
            <a:r>
              <a:rPr lang="en-US" sz="1400" b="0" i="0" u="none" strike="noStrike">
                <a:solidFill>
                  <a:srgbClr val="333333"/>
                </a:solidFill>
                <a:latin typeface="Noto Sans SC"/>
                <a:ea typeface="Noto Sans SC"/>
                <a:cs typeface="Noto Sans SC"/>
                <a:sym typeface="Noto Sans SC"/>
              </a:rPr>
              <a:t>机器翻译、文本摘要、问答系统</a:t>
            </a:r>
            <a:endParaRPr lang="en-US" sz="1100"/>
          </a:p>
          <a:p>
            <a:pPr marL="177800" indent="-177800" algn="l">
              <a:lnSpc>
                <a:spcPct val="125000"/>
              </a:lnSpc>
              <a:buClr>
                <a:srgbClr val="333333"/>
              </a:buClr>
              <a:buChar char="•"/>
            </a:pPr>
            <a:r>
              <a:rPr lang="en-US" sz="1400" b="0" i="0" u="none" strike="noStrike">
                <a:solidFill>
                  <a:srgbClr val="333333"/>
                </a:solidFill>
                <a:latin typeface="Noto Sans SC"/>
                <a:ea typeface="Noto Sans SC"/>
                <a:cs typeface="Noto Sans SC"/>
                <a:sym typeface="Noto Sans SC"/>
              </a:rPr>
              <a:t>对话系统（聊天机器人）</a:t>
            </a:r>
            <a:endParaRPr lang="en-US" sz="1400" b="0" i="0" u="none" strike="noStrike">
              <a:solidFill>
                <a:srgbClr val="333333"/>
              </a:solidFill>
              <a:latin typeface="Noto Sans SC"/>
              <a:ea typeface="Noto Sans SC"/>
              <a:cs typeface="Noto Sans SC"/>
              <a:sym typeface="Noto Sans SC"/>
            </a:endParaRPr>
          </a:p>
        </p:txBody>
      </p:sp>
      <p:sp>
        <p:nvSpPr>
          <p:cNvPr id="13" name="AutoShape 13"/>
          <p:cNvSpPr/>
          <p:nvPr/>
        </p:nvSpPr>
        <p:spPr>
          <a:xfrm>
            <a:off x="762000" y="4064000"/>
            <a:ext cx="5207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4318000"/>
            <a:ext cx="406400" cy="406400"/>
          </a:xfrm>
          <a:prstGeom prst="rect">
            <a:avLst/>
          </a:prstGeom>
        </p:spPr>
      </p:pic>
      <p:sp>
        <p:nvSpPr>
          <p:cNvPr id="15" name="AutoShape 15"/>
          <p:cNvSpPr/>
          <p:nvPr/>
        </p:nvSpPr>
        <p:spPr>
          <a:xfrm>
            <a:off x="1524000" y="4292600"/>
            <a:ext cx="4191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情感与观点挖掘</a:t>
            </a:r>
            <a:endParaRPr lang="en-US" sz="1100"/>
          </a:p>
        </p:txBody>
      </p:sp>
      <p:cxnSp>
        <p:nvCxnSpPr>
          <p:cNvPr id="16" name="Connector 16"/>
          <p:cNvCxnSpPr/>
          <p:nvPr/>
        </p:nvCxnSpPr>
        <p:spPr>
          <a:xfrm rot="-9291">
            <a:off x="1016009" y="4756150"/>
            <a:ext cx="4699000" cy="12700"/>
          </a:xfrm>
          <a:prstGeom prst="line">
            <a:avLst/>
          </a:prstGeom>
          <a:solidFill>
            <a:srgbClr val="DEE0E3">
              <a:alpha val="100000"/>
            </a:srgbClr>
          </a:solidFill>
          <a:ln w="12700" cap="flat" cmpd="sng">
            <a:solidFill>
              <a:srgbClr val="003366">
                <a:alpha val="10000"/>
              </a:srgbClr>
            </a:solidFill>
            <a:prstDash val="solid"/>
            <a:round/>
            <a:headEnd type="none" w="med" len="med"/>
            <a:tailEnd type="none" w="med" len="med"/>
          </a:ln>
        </p:spPr>
      </p:cxnSp>
      <p:sp>
        <p:nvSpPr>
          <p:cNvPr id="17" name="AutoShape 17"/>
          <p:cNvSpPr/>
          <p:nvPr/>
        </p:nvSpPr>
        <p:spPr>
          <a:xfrm>
            <a:off x="1016000" y="4889500"/>
            <a:ext cx="4699000" cy="1270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333333"/>
              </a:buClr>
              <a:buChar char="•"/>
              <a:defRPr/>
            </a:pPr>
            <a:r>
              <a:rPr lang="en-US" sz="1400" b="0" i="0" u="none" strike="noStrike">
                <a:solidFill>
                  <a:srgbClr val="333333"/>
                </a:solidFill>
                <a:latin typeface="Noto Sans SC"/>
                <a:ea typeface="Noto Sans SC"/>
                <a:cs typeface="Noto Sans SC"/>
                <a:sym typeface="Noto Sans SC"/>
              </a:rPr>
              <a:t>情感分析、观点提取</a:t>
            </a:r>
            <a:endParaRPr lang="en-US" sz="1100"/>
          </a:p>
          <a:p>
            <a:pPr marL="177800" indent="-177800" algn="l">
              <a:lnSpc>
                <a:spcPct val="125000"/>
              </a:lnSpc>
              <a:buClr>
                <a:srgbClr val="333333"/>
              </a:buClr>
              <a:buChar char="•"/>
            </a:pPr>
            <a:r>
              <a:rPr lang="en-US" sz="1400" b="0" i="0" u="none" strike="noStrike">
                <a:solidFill>
                  <a:srgbClr val="333333"/>
                </a:solidFill>
                <a:latin typeface="Noto Sans SC"/>
                <a:ea typeface="Noto Sans SC"/>
                <a:cs typeface="Noto Sans SC"/>
                <a:sym typeface="Noto Sans SC"/>
              </a:rPr>
              <a:t>倾向性分析</a:t>
            </a:r>
            <a:endParaRPr lang="en-US" sz="1400" b="0" i="0" u="none" strike="noStrike">
              <a:solidFill>
                <a:srgbClr val="333333"/>
              </a:solidFill>
              <a:latin typeface="Noto Sans SC"/>
              <a:ea typeface="Noto Sans SC"/>
              <a:cs typeface="Noto Sans SC"/>
              <a:sym typeface="Noto Sans SC"/>
            </a:endParaRPr>
          </a:p>
        </p:txBody>
      </p:sp>
      <p:sp>
        <p:nvSpPr>
          <p:cNvPr id="18" name="AutoShape 18"/>
          <p:cNvSpPr/>
          <p:nvPr/>
        </p:nvSpPr>
        <p:spPr>
          <a:xfrm>
            <a:off x="6223000" y="4064000"/>
            <a:ext cx="5207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477000" y="4318000"/>
            <a:ext cx="406400" cy="406400"/>
          </a:xfrm>
          <a:prstGeom prst="rect">
            <a:avLst/>
          </a:prstGeom>
        </p:spPr>
      </p:pic>
      <p:sp>
        <p:nvSpPr>
          <p:cNvPr id="20" name="AutoShape 20"/>
          <p:cNvSpPr/>
          <p:nvPr/>
        </p:nvSpPr>
        <p:spPr>
          <a:xfrm>
            <a:off x="6985000" y="4292600"/>
            <a:ext cx="4191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信息检索与挖掘</a:t>
            </a:r>
            <a:endParaRPr lang="en-US" sz="1100"/>
          </a:p>
        </p:txBody>
      </p:sp>
      <p:cxnSp>
        <p:nvCxnSpPr>
          <p:cNvPr id="21" name="Connector 21"/>
          <p:cNvCxnSpPr/>
          <p:nvPr/>
        </p:nvCxnSpPr>
        <p:spPr>
          <a:xfrm rot="-9291">
            <a:off x="6477009" y="4756150"/>
            <a:ext cx="4699000" cy="12700"/>
          </a:xfrm>
          <a:prstGeom prst="line">
            <a:avLst/>
          </a:prstGeom>
          <a:solidFill>
            <a:srgbClr val="DEE0E3">
              <a:alpha val="100000"/>
            </a:srgbClr>
          </a:solidFill>
          <a:ln w="12700" cap="flat" cmpd="sng">
            <a:solidFill>
              <a:srgbClr val="003366">
                <a:alpha val="10000"/>
              </a:srgbClr>
            </a:solidFill>
            <a:prstDash val="solid"/>
            <a:round/>
            <a:headEnd type="none" w="med" len="med"/>
            <a:tailEnd type="none" w="med" len="med"/>
          </a:ln>
        </p:spPr>
      </p:cxnSp>
      <p:sp>
        <p:nvSpPr>
          <p:cNvPr id="22" name="AutoShape 22"/>
          <p:cNvSpPr/>
          <p:nvPr/>
        </p:nvSpPr>
        <p:spPr>
          <a:xfrm>
            <a:off x="6477000" y="4889500"/>
            <a:ext cx="4699000" cy="1270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333333"/>
              </a:buClr>
              <a:buChar char="•"/>
              <a:defRPr/>
            </a:pPr>
            <a:r>
              <a:rPr lang="en-US" sz="1400" b="0" i="0" u="none" strike="noStrike">
                <a:solidFill>
                  <a:srgbClr val="333333"/>
                </a:solidFill>
                <a:latin typeface="Noto Sans SC"/>
                <a:ea typeface="Noto Sans SC"/>
                <a:cs typeface="Noto Sans SC"/>
                <a:sym typeface="Noto Sans SC"/>
              </a:rPr>
              <a:t>信息检索、文本聚类</a:t>
            </a:r>
            <a:endParaRPr lang="en-US" sz="1100"/>
          </a:p>
          <a:p>
            <a:pPr marL="177800" indent="-177800" algn="l">
              <a:lnSpc>
                <a:spcPct val="125000"/>
              </a:lnSpc>
              <a:buClr>
                <a:srgbClr val="333333"/>
              </a:buClr>
              <a:buChar char="•"/>
            </a:pPr>
            <a:r>
              <a:rPr lang="en-US" sz="1400" b="0" i="0" u="none" strike="noStrike">
                <a:solidFill>
                  <a:srgbClr val="333333"/>
                </a:solidFill>
                <a:latin typeface="Noto Sans SC"/>
                <a:ea typeface="Noto Sans SC"/>
                <a:cs typeface="Noto Sans SC"/>
                <a:sym typeface="Noto Sans SC"/>
              </a:rPr>
              <a:t>文本相似度计算</a:t>
            </a:r>
            <a:endParaRPr lang="en-US" sz="1400" b="0" i="0" u="none" strike="noStrike">
              <a:solidFill>
                <a:srgbClr val="333333"/>
              </a:solidFill>
              <a:latin typeface="Noto Sans SC"/>
              <a:ea typeface="Noto Sans SC"/>
              <a:cs typeface="Noto Sans SC"/>
              <a:sym typeface="Noto Sans SC"/>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NLP的发展历程</a:t>
            </a:r>
            <a:endParaRPr lang="en-US" sz="1100"/>
          </a:p>
        </p:txBody>
      </p:sp>
      <p:sp>
        <p:nvSpPr>
          <p:cNvPr id="3" name="AutoShape 3"/>
          <p:cNvSpPr/>
          <p:nvPr/>
        </p:nvSpPr>
        <p:spPr>
          <a:xfrm>
            <a:off x="762000" y="1651000"/>
            <a:ext cx="3302000" cy="4318000"/>
          </a:xfrm>
          <a:prstGeom prst="roundRect">
            <a:avLst>
              <a:gd name="adj" fmla="val 384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905000"/>
            <a:ext cx="609600" cy="609600"/>
          </a:xfrm>
          <a:prstGeom prst="rect">
            <a:avLst/>
          </a:prstGeom>
        </p:spPr>
      </p:pic>
      <p:sp>
        <p:nvSpPr>
          <p:cNvPr id="5" name="AutoShape 5"/>
          <p:cNvSpPr/>
          <p:nvPr/>
        </p:nvSpPr>
        <p:spPr>
          <a:xfrm>
            <a:off x="1016000" y="2603500"/>
            <a:ext cx="279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基于规则的方法（早期）</a:t>
            </a:r>
            <a:endParaRPr lang="en-US" sz="1100"/>
          </a:p>
        </p:txBody>
      </p:sp>
      <p:cxnSp>
        <p:nvCxnSpPr>
          <p:cNvPr id="6" name="Connector 6"/>
          <p:cNvCxnSpPr/>
          <p:nvPr/>
        </p:nvCxnSpPr>
        <p:spPr>
          <a:xfrm rot="-15626">
            <a:off x="1016014" y="3041650"/>
            <a:ext cx="2794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7" name="AutoShape 7"/>
          <p:cNvSpPr/>
          <p:nvPr/>
        </p:nvSpPr>
        <p:spPr>
          <a:xfrm>
            <a:off x="1016000" y="3175000"/>
            <a:ext cx="2794000" cy="228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依赖人工编写的语法规则和词典来处理语言。</a:t>
            </a:r>
            <a:endParaRPr lang="en-US" sz="1100"/>
          </a:p>
          <a:p>
            <a:pPr indent="0" algn="l">
              <a:lnSpc>
                <a:spcPct val="125000"/>
              </a:lnSpc>
            </a:pPr>
            <a:br>
              <a:rPr lang="en-US" sz="1400" b="0" i="0" u="none" strike="noStrike">
                <a:solidFill>
                  <a:srgbClr val="1F2329"/>
                </a:solidFill>
                <a:latin typeface="Noto Sans SC"/>
                <a:ea typeface="Noto Sans SC"/>
                <a:cs typeface="Noto Sans SC"/>
                <a:sym typeface="Noto Sans SC"/>
              </a:rPr>
            </a:br>
            <a:endParaRPr lang="en-US" sz="1400" b="0" i="0" u="none" strike="noStrike">
              <a:solidFill>
                <a:srgbClr val="1F2329"/>
              </a:solidFill>
              <a:latin typeface="Noto Sans SC"/>
              <a:ea typeface="Noto Sans SC"/>
              <a:cs typeface="Noto Sans SC"/>
              <a:sym typeface="Noto Sans SC"/>
            </a:endParaRPr>
          </a:p>
          <a:p>
            <a:pPr indent="0" algn="l">
              <a:lnSpc>
                <a:spcPct val="125000"/>
              </a:lnSpc>
            </a:pPr>
            <a:r>
              <a:rPr lang="en-US" sz="1400" b="0" i="0" u="none" strike="noStrike">
                <a:solidFill>
                  <a:srgbClr val="646464"/>
                </a:solidFill>
                <a:latin typeface="Noto Sans SC"/>
                <a:ea typeface="Noto Sans SC"/>
                <a:cs typeface="Noto Sans SC"/>
                <a:sym typeface="Noto Sans SC"/>
              </a:rPr>
              <a:t>局限性：灵活性差，难以覆盖复杂的语言现象，维护成本高。</a:t>
            </a:r>
            <a:endParaRPr lang="en-US" sz="1400" b="0" i="0" u="none" strike="noStrike">
              <a:solidFill>
                <a:srgbClr val="646464"/>
              </a:solidFill>
              <a:latin typeface="Noto Sans SC"/>
              <a:ea typeface="Noto Sans SC"/>
              <a:cs typeface="Noto Sans SC"/>
              <a:sym typeface="Noto Sans SC"/>
            </a:endParaRPr>
          </a:p>
        </p:txBody>
      </p:sp>
      <p:sp>
        <p:nvSpPr>
          <p:cNvPr id="8" name="AutoShape 8"/>
          <p:cNvSpPr/>
          <p:nvPr/>
        </p:nvSpPr>
        <p:spPr>
          <a:xfrm>
            <a:off x="4445000" y="1651000"/>
            <a:ext cx="3302000" cy="4318000"/>
          </a:xfrm>
          <a:prstGeom prst="roundRect">
            <a:avLst>
              <a:gd name="adj" fmla="val 384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99000" y="1905000"/>
            <a:ext cx="609600" cy="609600"/>
          </a:xfrm>
          <a:prstGeom prst="rect">
            <a:avLst/>
          </a:prstGeom>
        </p:spPr>
      </p:pic>
      <p:sp>
        <p:nvSpPr>
          <p:cNvPr id="10" name="AutoShape 10"/>
          <p:cNvSpPr/>
          <p:nvPr/>
        </p:nvSpPr>
        <p:spPr>
          <a:xfrm>
            <a:off x="4699000" y="2603500"/>
            <a:ext cx="279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基于统计的方法（中期）</a:t>
            </a:r>
            <a:endParaRPr lang="en-US" sz="1100"/>
          </a:p>
        </p:txBody>
      </p:sp>
      <p:cxnSp>
        <p:nvCxnSpPr>
          <p:cNvPr id="11" name="Connector 11"/>
          <p:cNvCxnSpPr/>
          <p:nvPr/>
        </p:nvCxnSpPr>
        <p:spPr>
          <a:xfrm rot="-15626">
            <a:off x="4699014" y="3041650"/>
            <a:ext cx="2794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2" name="AutoShape 12"/>
          <p:cNvSpPr/>
          <p:nvPr/>
        </p:nvSpPr>
        <p:spPr>
          <a:xfrm>
            <a:off x="4699000" y="3175000"/>
            <a:ext cx="2794000" cy="228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利用大规模语料库进行统计学习，如隐马尔可夫模型(HMM)、条件随机场(CRF)。</a:t>
            </a:r>
            <a:endParaRPr lang="en-US" sz="1100"/>
          </a:p>
          <a:p>
            <a:pPr indent="0" algn="l">
              <a:lnSpc>
                <a:spcPct val="125000"/>
              </a:lnSpc>
            </a:pPr>
            <a:br>
              <a:rPr lang="en-US" sz="1400" b="0" i="0" u="none" strike="noStrike">
                <a:solidFill>
                  <a:srgbClr val="1F2329"/>
                </a:solidFill>
                <a:latin typeface="Noto Sans SC"/>
                <a:ea typeface="Noto Sans SC"/>
                <a:cs typeface="Noto Sans SC"/>
                <a:sym typeface="Noto Sans SC"/>
              </a:rPr>
            </a:br>
            <a:endParaRPr lang="en-US" sz="1400" b="0" i="0" u="none" strike="noStrike">
              <a:solidFill>
                <a:srgbClr val="1F2329"/>
              </a:solidFill>
              <a:latin typeface="Noto Sans SC"/>
              <a:ea typeface="Noto Sans SC"/>
              <a:cs typeface="Noto Sans SC"/>
              <a:sym typeface="Noto Sans SC"/>
            </a:endParaRPr>
          </a:p>
          <a:p>
            <a:pPr indent="0" algn="l">
              <a:lnSpc>
                <a:spcPct val="125000"/>
              </a:lnSpc>
            </a:pPr>
            <a:r>
              <a:rPr lang="en-US" sz="1400" b="0" i="0" u="none" strike="noStrike">
                <a:solidFill>
                  <a:srgbClr val="646464"/>
                </a:solidFill>
                <a:latin typeface="Noto Sans SC"/>
                <a:ea typeface="Noto Sans SC"/>
                <a:cs typeface="Noto Sans SC"/>
                <a:sym typeface="Noto Sans SC"/>
              </a:rPr>
              <a:t>特点：性能显著提升，开始摆脱对人工规则的过度依赖。</a:t>
            </a:r>
            <a:endParaRPr lang="en-US" sz="1400" b="0" i="0" u="none" strike="noStrike">
              <a:solidFill>
                <a:srgbClr val="646464"/>
              </a:solidFill>
              <a:latin typeface="Noto Sans SC"/>
              <a:ea typeface="Noto Sans SC"/>
              <a:cs typeface="Noto Sans SC"/>
              <a:sym typeface="Noto Sans SC"/>
            </a:endParaRPr>
          </a:p>
        </p:txBody>
      </p:sp>
      <p:sp>
        <p:nvSpPr>
          <p:cNvPr id="13" name="AutoShape 13"/>
          <p:cNvSpPr/>
          <p:nvPr/>
        </p:nvSpPr>
        <p:spPr>
          <a:xfrm>
            <a:off x="8128000" y="1651000"/>
            <a:ext cx="3302000" cy="4318000"/>
          </a:xfrm>
          <a:prstGeom prst="roundRect">
            <a:avLst>
              <a:gd name="adj" fmla="val 3846"/>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82000" y="1905000"/>
            <a:ext cx="609600" cy="609600"/>
          </a:xfrm>
          <a:prstGeom prst="rect">
            <a:avLst/>
          </a:prstGeom>
        </p:spPr>
      </p:pic>
      <p:sp>
        <p:nvSpPr>
          <p:cNvPr id="15" name="AutoShape 15"/>
          <p:cNvSpPr/>
          <p:nvPr/>
        </p:nvSpPr>
        <p:spPr>
          <a:xfrm>
            <a:off x="8382000" y="2603500"/>
            <a:ext cx="279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基于深度学习（当前主流）</a:t>
            </a:r>
            <a:endParaRPr lang="en-US" sz="1100"/>
          </a:p>
        </p:txBody>
      </p:sp>
      <p:cxnSp>
        <p:nvCxnSpPr>
          <p:cNvPr id="16" name="Connector 16"/>
          <p:cNvCxnSpPr/>
          <p:nvPr/>
        </p:nvCxnSpPr>
        <p:spPr>
          <a:xfrm rot="-15626">
            <a:off x="8382014" y="3041650"/>
            <a:ext cx="2794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7" name="AutoShape 17"/>
          <p:cNvSpPr/>
          <p:nvPr/>
        </p:nvSpPr>
        <p:spPr>
          <a:xfrm>
            <a:off x="8382000" y="3175000"/>
            <a:ext cx="2794000" cy="228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以神经网络为基础，特别是Transformer架构的出现，自动学习语言深层特征。</a:t>
            </a:r>
            <a:endParaRPr lang="en-US" sz="1100"/>
          </a:p>
          <a:p>
            <a:pPr indent="0" algn="l">
              <a:lnSpc>
                <a:spcPct val="125000"/>
              </a:lnSpc>
            </a:pPr>
            <a:br>
              <a:rPr lang="en-US" sz="1400" b="0" i="0" u="none" strike="noStrike">
                <a:solidFill>
                  <a:srgbClr val="1F2329"/>
                </a:solidFill>
                <a:latin typeface="Noto Sans SC"/>
                <a:ea typeface="Noto Sans SC"/>
                <a:cs typeface="Noto Sans SC"/>
                <a:sym typeface="Noto Sans SC"/>
              </a:rPr>
            </a:br>
            <a:endParaRPr lang="en-US" sz="1400" b="0" i="0" u="none" strike="noStrike">
              <a:solidFill>
                <a:srgbClr val="1F2329"/>
              </a:solidFill>
              <a:latin typeface="Noto Sans SC"/>
              <a:ea typeface="Noto Sans SC"/>
              <a:cs typeface="Noto Sans SC"/>
              <a:sym typeface="Noto Sans SC"/>
            </a:endParaRPr>
          </a:p>
          <a:p>
            <a:pPr indent="0" algn="l">
              <a:lnSpc>
                <a:spcPct val="125000"/>
              </a:lnSpc>
            </a:pPr>
            <a:r>
              <a:rPr lang="en-US" sz="1400" b="0" i="0" u="none" strike="noStrike">
                <a:solidFill>
                  <a:srgbClr val="646464"/>
                </a:solidFill>
                <a:latin typeface="Noto Sans SC"/>
                <a:ea typeface="Noto Sans SC"/>
                <a:cs typeface="Noto Sans SC"/>
                <a:sym typeface="Noto Sans SC"/>
              </a:rPr>
              <a:t>代表：大语言模型（LLM），性能达到新高度。</a:t>
            </a:r>
            <a:endParaRPr lang="en-US" sz="1400" b="0" i="0" u="none" strike="noStrike">
              <a:solidFill>
                <a:srgbClr val="646464"/>
              </a:solidFill>
              <a:latin typeface="Noto Sans SC"/>
              <a:ea typeface="Noto Sans SC"/>
              <a:cs typeface="Noto Sans SC"/>
              <a:sym typeface="Noto Sans SC"/>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NLP的典型应用场景</a:t>
            </a:r>
            <a:endParaRPr lang="en-US" sz="1100"/>
          </a:p>
        </p:txBody>
      </p:sp>
      <p:sp>
        <p:nvSpPr>
          <p:cNvPr id="3" name="AutoShape 3"/>
          <p:cNvSpPr/>
          <p:nvPr/>
        </p:nvSpPr>
        <p:spPr>
          <a:xfrm>
            <a:off x="762000" y="152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srcRect t="35957" b="35957"/>
          <a:stretch>
            <a:fillRect/>
          </a:stretch>
        </p:blipFill>
        <p:spPr>
          <a:xfrm>
            <a:off x="889000" y="1651000"/>
            <a:ext cx="3048000" cy="1270000"/>
          </a:xfrm>
          <a:prstGeom prst="rect">
            <a:avLst/>
          </a:prstGeom>
          <a:noFill/>
          <a:ln w="25400" cap="flat" cmpd="sng">
            <a:noFill/>
            <a:prstDash val="solid"/>
            <a:round/>
          </a:ln>
        </p:spPr>
      </p:pic>
      <p:sp>
        <p:nvSpPr>
          <p:cNvPr id="5" name="AutoShape 5"/>
          <p:cNvSpPr/>
          <p:nvPr/>
        </p:nvSpPr>
        <p:spPr>
          <a:xfrm>
            <a:off x="889000" y="2984500"/>
            <a:ext cx="304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智能客服与聊天机器人</a:t>
            </a:r>
            <a:endParaRPr lang="en-US" sz="1100"/>
          </a:p>
        </p:txBody>
      </p:sp>
      <p:sp>
        <p:nvSpPr>
          <p:cNvPr id="6" name="AutoShape 6"/>
          <p:cNvSpPr/>
          <p:nvPr/>
        </p:nvSpPr>
        <p:spPr>
          <a:xfrm>
            <a:off x="889000" y="3302000"/>
            <a:ext cx="304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333333"/>
                </a:solidFill>
                <a:latin typeface="Noto Sans SC"/>
                <a:ea typeface="Noto Sans SC"/>
                <a:cs typeface="Noto Sans SC"/>
                <a:sym typeface="Noto Sans SC"/>
              </a:rPr>
              <a:t>自动回答用户问题，提供24/7全天候服务。</a:t>
            </a:r>
            <a:endParaRPr lang="en-US" sz="1100"/>
          </a:p>
        </p:txBody>
      </p:sp>
      <p:sp>
        <p:nvSpPr>
          <p:cNvPr id="7" name="AutoShape 7"/>
          <p:cNvSpPr/>
          <p:nvPr/>
        </p:nvSpPr>
        <p:spPr>
          <a:xfrm>
            <a:off x="4445000" y="152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2"/>
          <a:srcRect t="16234" b="16234"/>
          <a:stretch>
            <a:fillRect/>
          </a:stretch>
        </p:blipFill>
        <p:spPr>
          <a:xfrm>
            <a:off x="4572000" y="1651000"/>
            <a:ext cx="3048000" cy="1270000"/>
          </a:xfrm>
          <a:prstGeom prst="rect">
            <a:avLst/>
          </a:prstGeom>
          <a:noFill/>
          <a:ln w="25400" cap="flat" cmpd="sng">
            <a:noFill/>
            <a:prstDash val="solid"/>
            <a:round/>
          </a:ln>
        </p:spPr>
      </p:pic>
      <p:sp>
        <p:nvSpPr>
          <p:cNvPr id="9" name="AutoShape 9"/>
          <p:cNvSpPr/>
          <p:nvPr/>
        </p:nvSpPr>
        <p:spPr>
          <a:xfrm>
            <a:off x="4572000" y="2984500"/>
            <a:ext cx="304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机器翻译</a:t>
            </a:r>
            <a:endParaRPr lang="en-US" sz="1100"/>
          </a:p>
        </p:txBody>
      </p:sp>
      <p:sp>
        <p:nvSpPr>
          <p:cNvPr id="10" name="AutoShape 10"/>
          <p:cNvSpPr/>
          <p:nvPr/>
        </p:nvSpPr>
        <p:spPr>
          <a:xfrm>
            <a:off x="4572000" y="3302000"/>
            <a:ext cx="304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333333"/>
                </a:solidFill>
                <a:latin typeface="Noto Sans SC"/>
                <a:ea typeface="Noto Sans SC"/>
                <a:cs typeface="Noto Sans SC"/>
                <a:sym typeface="Noto Sans SC"/>
              </a:rPr>
              <a:t>实现不同语言间的自动翻译，打破沟通障碍。</a:t>
            </a:r>
            <a:endParaRPr lang="en-US" sz="1100"/>
          </a:p>
        </p:txBody>
      </p:sp>
      <p:sp>
        <p:nvSpPr>
          <p:cNvPr id="11" name="AutoShape 11"/>
          <p:cNvSpPr/>
          <p:nvPr/>
        </p:nvSpPr>
        <p:spPr>
          <a:xfrm>
            <a:off x="8128000" y="152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3"/>
          <a:srcRect t="29166" b="29166"/>
          <a:stretch>
            <a:fillRect/>
          </a:stretch>
        </p:blipFill>
        <p:spPr>
          <a:xfrm>
            <a:off x="8255000" y="1651000"/>
            <a:ext cx="3048000" cy="1270000"/>
          </a:xfrm>
          <a:prstGeom prst="rect">
            <a:avLst/>
          </a:prstGeom>
          <a:noFill/>
          <a:ln w="25400" cap="flat" cmpd="sng">
            <a:noFill/>
            <a:prstDash val="solid"/>
            <a:round/>
          </a:ln>
        </p:spPr>
      </p:pic>
      <p:sp>
        <p:nvSpPr>
          <p:cNvPr id="13" name="AutoShape 13"/>
          <p:cNvSpPr/>
          <p:nvPr/>
        </p:nvSpPr>
        <p:spPr>
          <a:xfrm>
            <a:off x="8255000" y="2984500"/>
            <a:ext cx="3048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语音助手</a:t>
            </a:r>
            <a:endParaRPr lang="en-US" sz="1100"/>
          </a:p>
        </p:txBody>
      </p:sp>
      <p:sp>
        <p:nvSpPr>
          <p:cNvPr id="14" name="AutoShape 14"/>
          <p:cNvSpPr/>
          <p:nvPr/>
        </p:nvSpPr>
        <p:spPr>
          <a:xfrm>
            <a:off x="8255000" y="3302000"/>
            <a:ext cx="304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333333"/>
                </a:solidFill>
                <a:latin typeface="Noto Sans SC"/>
                <a:ea typeface="Noto Sans SC"/>
                <a:cs typeface="Noto Sans SC"/>
                <a:sym typeface="Noto Sans SC"/>
              </a:rPr>
              <a:t>通过语音交互完成任务，如Siri、小爱同学。</a:t>
            </a:r>
            <a:endParaRPr lang="en-US" sz="1100"/>
          </a:p>
        </p:txBody>
      </p:sp>
      <p:sp>
        <p:nvSpPr>
          <p:cNvPr id="15" name="AutoShape 15"/>
          <p:cNvSpPr/>
          <p:nvPr/>
        </p:nvSpPr>
        <p:spPr>
          <a:xfrm>
            <a:off x="762000" y="4064000"/>
            <a:ext cx="5334000" cy="1778000"/>
          </a:xfrm>
          <a:prstGeom prst="roundRect">
            <a:avLst>
              <a:gd name="adj" fmla="val 7142"/>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16000" y="4318000"/>
            <a:ext cx="406400" cy="406400"/>
          </a:xfrm>
          <a:prstGeom prst="rect">
            <a:avLst/>
          </a:prstGeom>
        </p:spPr>
      </p:pic>
      <p:sp>
        <p:nvSpPr>
          <p:cNvPr id="17" name="AutoShape 17"/>
          <p:cNvSpPr/>
          <p:nvPr/>
        </p:nvSpPr>
        <p:spPr>
          <a:xfrm>
            <a:off x="1524000" y="4318000"/>
            <a:ext cx="4318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信息提取与文本挖掘</a:t>
            </a:r>
            <a:endParaRPr lang="en-US" sz="1100"/>
          </a:p>
        </p:txBody>
      </p:sp>
      <p:cxnSp>
        <p:nvCxnSpPr>
          <p:cNvPr id="18" name="Connector 18"/>
          <p:cNvCxnSpPr/>
          <p:nvPr/>
        </p:nvCxnSpPr>
        <p:spPr>
          <a:xfrm rot="-9046">
            <a:off x="1016008" y="4756150"/>
            <a:ext cx="4826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19" name="AutoShape 19"/>
          <p:cNvSpPr/>
          <p:nvPr/>
        </p:nvSpPr>
        <p:spPr>
          <a:xfrm>
            <a:off x="1016000" y="4889500"/>
            <a:ext cx="4826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a:ea typeface="Noto Sans SC"/>
                <a:cs typeface="Noto Sans SC"/>
                <a:sym typeface="Noto Sans SC"/>
              </a:rPr>
              <a:t>从海量文本数据中自动提取关键信息，发现潜在知识和模式，广泛应用于舆情分析和商业情报。</a:t>
            </a:r>
            <a:endParaRPr lang="en-US" sz="1100"/>
          </a:p>
        </p:txBody>
      </p:sp>
      <p:sp>
        <p:nvSpPr>
          <p:cNvPr id="20" name="AutoShape 20"/>
          <p:cNvSpPr/>
          <p:nvPr/>
        </p:nvSpPr>
        <p:spPr>
          <a:xfrm>
            <a:off x="6096000" y="4064000"/>
            <a:ext cx="5334000" cy="1778000"/>
          </a:xfrm>
          <a:prstGeom prst="roundRect">
            <a:avLst>
              <a:gd name="adj" fmla="val 7142"/>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21" name="Picture 21"/>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350000" y="4318000"/>
            <a:ext cx="406400" cy="406400"/>
          </a:xfrm>
          <a:prstGeom prst="rect">
            <a:avLst/>
          </a:prstGeom>
        </p:spPr>
      </p:pic>
      <p:sp>
        <p:nvSpPr>
          <p:cNvPr id="22" name="AutoShape 22"/>
          <p:cNvSpPr/>
          <p:nvPr/>
        </p:nvSpPr>
        <p:spPr>
          <a:xfrm>
            <a:off x="6858000" y="4318000"/>
            <a:ext cx="4318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内容推荐系统</a:t>
            </a:r>
            <a:endParaRPr lang="en-US" sz="1100"/>
          </a:p>
        </p:txBody>
      </p:sp>
      <p:cxnSp>
        <p:nvCxnSpPr>
          <p:cNvPr id="23" name="Connector 23"/>
          <p:cNvCxnSpPr/>
          <p:nvPr/>
        </p:nvCxnSpPr>
        <p:spPr>
          <a:xfrm rot="-9046">
            <a:off x="6350008" y="4756150"/>
            <a:ext cx="4826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24" name="AutoShape 24"/>
          <p:cNvSpPr/>
          <p:nvPr/>
        </p:nvSpPr>
        <p:spPr>
          <a:xfrm>
            <a:off x="6350000" y="4889500"/>
            <a:ext cx="4826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a:ea typeface="Noto Sans SC"/>
                <a:cs typeface="Noto Sans SC"/>
                <a:sym typeface="Noto Sans SC"/>
              </a:rPr>
              <a:t>基于用户的阅读历史和兴趣画像，精准推荐相关的文章、视频等内容，提升用户体验。</a:t>
            </a:r>
            <a:endParaRPr lang="en-US" sz="110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大语言模型与NLP的关系</a:t>
            </a:r>
            <a:endParaRPr lang="en-US" sz="1100"/>
          </a:p>
        </p:txBody>
      </p:sp>
      <p:sp>
        <p:nvSpPr>
          <p:cNvPr id="3" name="AutoShape 3"/>
          <p:cNvSpPr/>
          <p:nvPr/>
        </p:nvSpPr>
        <p:spPr>
          <a:xfrm>
            <a:off x="762000" y="1524000"/>
            <a:ext cx="4826000" cy="4572000"/>
          </a:xfrm>
          <a:prstGeom prst="roundRect">
            <a:avLst>
              <a:gd name="adj" fmla="val 2777"/>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srcRect t="5276" b="5276"/>
          <a:stretch>
            <a:fillRect/>
          </a:stretch>
        </p:blipFill>
        <p:spPr>
          <a:xfrm>
            <a:off x="952500" y="1714500"/>
            <a:ext cx="4445000" cy="4191000"/>
          </a:xfrm>
          <a:prstGeom prst="rect">
            <a:avLst/>
          </a:prstGeom>
          <a:noFill/>
          <a:ln w="25400" cap="flat" cmpd="sng">
            <a:noFill/>
            <a:prstDash val="solid"/>
            <a:round/>
          </a:ln>
        </p:spPr>
      </p:pic>
      <p:sp>
        <p:nvSpPr>
          <p:cNvPr id="5" name="AutoShape 5"/>
          <p:cNvSpPr/>
          <p:nvPr/>
        </p:nvSpPr>
        <p:spPr>
          <a:xfrm>
            <a:off x="5969000" y="1524000"/>
            <a:ext cx="5461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59500" y="1714500"/>
            <a:ext cx="355600" cy="355600"/>
          </a:xfrm>
          <a:prstGeom prst="rect">
            <a:avLst/>
          </a:prstGeom>
        </p:spPr>
      </p:pic>
      <p:sp>
        <p:nvSpPr>
          <p:cNvPr id="7" name="AutoShape 7"/>
          <p:cNvSpPr/>
          <p:nvPr/>
        </p:nvSpPr>
        <p:spPr>
          <a:xfrm>
            <a:off x="6604000" y="1676400"/>
            <a:ext cx="4572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NLP领域的重大突破</a:t>
            </a:r>
            <a:endParaRPr lang="en-US" sz="1100"/>
          </a:p>
        </p:txBody>
      </p:sp>
      <p:sp>
        <p:nvSpPr>
          <p:cNvPr id="8" name="AutoShape 8"/>
          <p:cNvSpPr/>
          <p:nvPr/>
        </p:nvSpPr>
        <p:spPr>
          <a:xfrm>
            <a:off x="6159500" y="2095500"/>
            <a:ext cx="5080000" cy="698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以GPT、BERT等为代表的大模型，基于Transformer架构，通过海量数据预训练，掌握了丰富的语言与世界知识。</a:t>
            </a:r>
            <a:endParaRPr lang="en-US" sz="1100"/>
          </a:p>
        </p:txBody>
      </p:sp>
      <p:sp>
        <p:nvSpPr>
          <p:cNvPr id="9" name="AutoShape 9"/>
          <p:cNvSpPr/>
          <p:nvPr/>
        </p:nvSpPr>
        <p:spPr>
          <a:xfrm>
            <a:off x="5969000" y="3111500"/>
            <a:ext cx="5461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159500" y="3302000"/>
            <a:ext cx="355600" cy="355600"/>
          </a:xfrm>
          <a:prstGeom prst="rect">
            <a:avLst/>
          </a:prstGeom>
        </p:spPr>
      </p:pic>
      <p:sp>
        <p:nvSpPr>
          <p:cNvPr id="11" name="AutoShape 11"/>
          <p:cNvSpPr/>
          <p:nvPr/>
        </p:nvSpPr>
        <p:spPr>
          <a:xfrm>
            <a:off x="6604000" y="3263900"/>
            <a:ext cx="4572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下游任务的通用基础</a:t>
            </a:r>
            <a:endParaRPr lang="en-US" sz="1100"/>
          </a:p>
        </p:txBody>
      </p:sp>
      <p:sp>
        <p:nvSpPr>
          <p:cNvPr id="12" name="AutoShape 12"/>
          <p:cNvSpPr/>
          <p:nvPr/>
        </p:nvSpPr>
        <p:spPr>
          <a:xfrm>
            <a:off x="6159500" y="3683000"/>
            <a:ext cx="5080000" cy="698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通过微调或提示学习，大模型可快速应用于文本分类、翻译、问答等任务，展现出前所未有的性能表现。</a:t>
            </a:r>
            <a:endParaRPr lang="en-US" sz="1100"/>
          </a:p>
        </p:txBody>
      </p:sp>
      <p:sp>
        <p:nvSpPr>
          <p:cNvPr id="13" name="AutoShape 13"/>
          <p:cNvSpPr/>
          <p:nvPr/>
        </p:nvSpPr>
        <p:spPr>
          <a:xfrm>
            <a:off x="5969000" y="4699000"/>
            <a:ext cx="5461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159500" y="4889500"/>
            <a:ext cx="355600" cy="355600"/>
          </a:xfrm>
          <a:prstGeom prst="rect">
            <a:avLst/>
          </a:prstGeom>
        </p:spPr>
      </p:pic>
      <p:sp>
        <p:nvSpPr>
          <p:cNvPr id="15" name="AutoShape 15"/>
          <p:cNvSpPr/>
          <p:nvPr/>
        </p:nvSpPr>
        <p:spPr>
          <a:xfrm>
            <a:off x="6604000" y="4851400"/>
            <a:ext cx="4572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迈向通用人工智能(AGI)</a:t>
            </a:r>
            <a:endParaRPr lang="en-US" sz="1100"/>
          </a:p>
        </p:txBody>
      </p:sp>
      <p:sp>
        <p:nvSpPr>
          <p:cNvPr id="16" name="AutoShape 16"/>
          <p:cNvSpPr/>
          <p:nvPr/>
        </p:nvSpPr>
        <p:spPr>
          <a:xfrm>
            <a:off x="6159500" y="5270500"/>
            <a:ext cx="5080000" cy="698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强大的零样本和少样本学习能力，使其能够执行多种复杂语言任务，成为通往通用人工智能的关键一步。</a:t>
            </a:r>
            <a:endParaRPr lang="en-US" sz="110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大语言模型开发的关键挑战</a:t>
            </a:r>
            <a:endParaRPr lang="en-US" sz="1100"/>
          </a:p>
        </p:txBody>
      </p:sp>
      <p:sp>
        <p:nvSpPr>
          <p:cNvPr id="3" name="AutoShape 3"/>
          <p:cNvSpPr/>
          <p:nvPr/>
        </p:nvSpPr>
        <p:spPr>
          <a:xfrm>
            <a:off x="762000" y="1524000"/>
            <a:ext cx="3429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78000"/>
            <a:ext cx="406400" cy="406400"/>
          </a:xfrm>
          <a:prstGeom prst="rect">
            <a:avLst/>
          </a:prstGeom>
        </p:spPr>
      </p:pic>
      <p:sp>
        <p:nvSpPr>
          <p:cNvPr id="5" name="AutoShape 5"/>
          <p:cNvSpPr/>
          <p:nvPr/>
        </p:nvSpPr>
        <p:spPr>
          <a:xfrm>
            <a:off x="1524000" y="1752600"/>
            <a:ext cx="2413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巨大的计算资源需求</a:t>
            </a:r>
            <a:endParaRPr lang="en-US" sz="1100"/>
          </a:p>
        </p:txBody>
      </p:sp>
      <p:sp>
        <p:nvSpPr>
          <p:cNvPr id="6" name="AutoShape 6"/>
          <p:cNvSpPr/>
          <p:nvPr/>
        </p:nvSpPr>
        <p:spPr>
          <a:xfrm>
            <a:off x="1016000" y="2222500"/>
            <a:ext cx="2921000" cy="1397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a:ea typeface="Noto Sans SC"/>
                <a:cs typeface="Noto Sans SC"/>
                <a:sym typeface="Noto Sans SC"/>
              </a:rPr>
              <a:t>训练和运行大模型需要昂贵的硬件设备（如GPU/TPU）和巨大的算力支持，成本高昂。</a:t>
            </a:r>
            <a:endParaRPr lang="en-US" sz="1100"/>
          </a:p>
        </p:txBody>
      </p:sp>
      <p:sp>
        <p:nvSpPr>
          <p:cNvPr id="7" name="AutoShape 7"/>
          <p:cNvSpPr/>
          <p:nvPr/>
        </p:nvSpPr>
        <p:spPr>
          <a:xfrm>
            <a:off x="4381500" y="1524000"/>
            <a:ext cx="3429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35500" y="1778000"/>
            <a:ext cx="406400" cy="406400"/>
          </a:xfrm>
          <a:prstGeom prst="rect">
            <a:avLst/>
          </a:prstGeom>
        </p:spPr>
      </p:pic>
      <p:sp>
        <p:nvSpPr>
          <p:cNvPr id="9" name="AutoShape 9"/>
          <p:cNvSpPr/>
          <p:nvPr/>
        </p:nvSpPr>
        <p:spPr>
          <a:xfrm>
            <a:off x="5143500" y="1752600"/>
            <a:ext cx="2413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海量高质量数据处理</a:t>
            </a:r>
            <a:endParaRPr lang="en-US" sz="1100"/>
          </a:p>
        </p:txBody>
      </p:sp>
      <p:sp>
        <p:nvSpPr>
          <p:cNvPr id="10" name="AutoShape 10"/>
          <p:cNvSpPr/>
          <p:nvPr/>
        </p:nvSpPr>
        <p:spPr>
          <a:xfrm>
            <a:off x="4635500" y="2222500"/>
            <a:ext cx="2921000" cy="1397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a:ea typeface="Noto Sans SC"/>
                <a:cs typeface="Noto Sans SC"/>
                <a:sym typeface="Noto Sans SC"/>
              </a:rPr>
              <a:t>模型性能依赖数据质量，数据收集、清洗和标注是巨大的工程挑战，耗时耗力。</a:t>
            </a:r>
            <a:endParaRPr lang="en-US" sz="1100"/>
          </a:p>
        </p:txBody>
      </p:sp>
      <p:sp>
        <p:nvSpPr>
          <p:cNvPr id="11" name="AutoShape 11"/>
          <p:cNvSpPr/>
          <p:nvPr/>
        </p:nvSpPr>
        <p:spPr>
          <a:xfrm>
            <a:off x="8001000" y="1524000"/>
            <a:ext cx="3429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255000" y="1778000"/>
            <a:ext cx="406400" cy="406400"/>
          </a:xfrm>
          <a:prstGeom prst="rect">
            <a:avLst/>
          </a:prstGeom>
        </p:spPr>
      </p:pic>
      <p:sp>
        <p:nvSpPr>
          <p:cNvPr id="13" name="AutoShape 13"/>
          <p:cNvSpPr/>
          <p:nvPr/>
        </p:nvSpPr>
        <p:spPr>
          <a:xfrm>
            <a:off x="8763000" y="1752600"/>
            <a:ext cx="2413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训练与微调策略</a:t>
            </a:r>
            <a:endParaRPr lang="en-US" sz="1100"/>
          </a:p>
        </p:txBody>
      </p:sp>
      <p:sp>
        <p:nvSpPr>
          <p:cNvPr id="14" name="AutoShape 14"/>
          <p:cNvSpPr/>
          <p:nvPr/>
        </p:nvSpPr>
        <p:spPr>
          <a:xfrm>
            <a:off x="8255000" y="2222500"/>
            <a:ext cx="2921000" cy="1397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a:ea typeface="Noto Sans SC"/>
                <a:cs typeface="Noto Sans SC"/>
                <a:sym typeface="Noto Sans SC"/>
              </a:rPr>
              <a:t>如何高效地训练和微调模型，使其快速适应特定任务，是一个重要的研究课题。</a:t>
            </a:r>
            <a:endParaRPr lang="en-US" sz="1100"/>
          </a:p>
        </p:txBody>
      </p:sp>
      <p:sp>
        <p:nvSpPr>
          <p:cNvPr id="15" name="AutoShape 15"/>
          <p:cNvSpPr/>
          <p:nvPr/>
        </p:nvSpPr>
        <p:spPr>
          <a:xfrm>
            <a:off x="762000" y="4064000"/>
            <a:ext cx="3429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4318000"/>
            <a:ext cx="406400" cy="406400"/>
          </a:xfrm>
          <a:prstGeom prst="rect">
            <a:avLst/>
          </a:prstGeom>
        </p:spPr>
      </p:pic>
      <p:sp>
        <p:nvSpPr>
          <p:cNvPr id="17" name="AutoShape 17"/>
          <p:cNvSpPr/>
          <p:nvPr/>
        </p:nvSpPr>
        <p:spPr>
          <a:xfrm>
            <a:off x="1524000" y="4292600"/>
            <a:ext cx="2413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模型部署与优化</a:t>
            </a:r>
            <a:endParaRPr lang="en-US" sz="1100"/>
          </a:p>
        </p:txBody>
      </p:sp>
      <p:sp>
        <p:nvSpPr>
          <p:cNvPr id="18" name="AutoShape 18"/>
          <p:cNvSpPr/>
          <p:nvPr/>
        </p:nvSpPr>
        <p:spPr>
          <a:xfrm>
            <a:off x="1016000" y="4762500"/>
            <a:ext cx="2921000" cy="1397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a:ea typeface="Noto Sans SC"/>
                <a:cs typeface="Noto Sans SC"/>
                <a:sym typeface="Noto Sans SC"/>
              </a:rPr>
              <a:t>将庞大的模型高效部署到生产环境，并优化推理速度和内存占用，是落地的关键。</a:t>
            </a:r>
            <a:endParaRPr lang="en-US" sz="1100"/>
          </a:p>
        </p:txBody>
      </p:sp>
      <p:sp>
        <p:nvSpPr>
          <p:cNvPr id="19" name="AutoShape 19"/>
          <p:cNvSpPr/>
          <p:nvPr/>
        </p:nvSpPr>
        <p:spPr>
          <a:xfrm>
            <a:off x="4381500" y="4064000"/>
            <a:ext cx="3429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635500" y="4318000"/>
            <a:ext cx="406400" cy="406400"/>
          </a:xfrm>
          <a:prstGeom prst="rect">
            <a:avLst/>
          </a:prstGeom>
        </p:spPr>
      </p:pic>
      <p:sp>
        <p:nvSpPr>
          <p:cNvPr id="21" name="AutoShape 21"/>
          <p:cNvSpPr/>
          <p:nvPr/>
        </p:nvSpPr>
        <p:spPr>
          <a:xfrm>
            <a:off x="5143500" y="4292600"/>
            <a:ext cx="2413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03366"/>
                </a:solidFill>
                <a:latin typeface="Noto Sans SC"/>
                <a:ea typeface="Noto Sans SC"/>
                <a:cs typeface="Noto Sans SC"/>
                <a:sym typeface="Noto Sans SC"/>
              </a:rPr>
              <a:t>伦理与安全挑战</a:t>
            </a:r>
            <a:endParaRPr lang="en-US" sz="1100"/>
          </a:p>
        </p:txBody>
      </p:sp>
      <p:sp>
        <p:nvSpPr>
          <p:cNvPr id="22" name="AutoShape 22"/>
          <p:cNvSpPr/>
          <p:nvPr/>
        </p:nvSpPr>
        <p:spPr>
          <a:xfrm>
            <a:off x="4635500" y="4762500"/>
            <a:ext cx="2921000" cy="1397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333333"/>
                </a:solidFill>
                <a:latin typeface="Noto Sans SC"/>
                <a:ea typeface="Noto Sans SC"/>
                <a:cs typeface="Noto Sans SC"/>
                <a:sym typeface="Noto Sans SC"/>
              </a:rPr>
              <a:t>防范偏见、错误信息及滥用，确保模型的安全性、公平性和透明度是重要议题。</a:t>
            </a:r>
            <a:endParaRPr lang="en-US" sz="110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本章总结（一）：Python基础</a:t>
            </a:r>
            <a:endParaRPr lang="en-US" sz="1100"/>
          </a:p>
        </p:txBody>
      </p:sp>
      <p:sp>
        <p:nvSpPr>
          <p:cNvPr id="3" name="AutoShape 3"/>
          <p:cNvSpPr/>
          <p:nvPr/>
        </p:nvSpPr>
        <p:spPr>
          <a:xfrm>
            <a:off x="762000" y="1524000"/>
            <a:ext cx="5207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66800" y="1828800"/>
            <a:ext cx="406400" cy="406400"/>
          </a:xfrm>
          <a:prstGeom prst="rect">
            <a:avLst/>
          </a:prstGeom>
        </p:spPr>
      </p:pic>
      <p:sp>
        <p:nvSpPr>
          <p:cNvPr id="5" name="AutoShape 5"/>
          <p:cNvSpPr/>
          <p:nvPr/>
        </p:nvSpPr>
        <p:spPr>
          <a:xfrm>
            <a:off x="1574800" y="1803400"/>
            <a:ext cx="4064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环境准备</a:t>
            </a:r>
            <a:endParaRPr lang="en-US" sz="1100"/>
          </a:p>
        </p:txBody>
      </p:sp>
      <p:cxnSp>
        <p:nvCxnSpPr>
          <p:cNvPr id="6" name="Connector 6"/>
          <p:cNvCxnSpPr/>
          <p:nvPr/>
        </p:nvCxnSpPr>
        <p:spPr>
          <a:xfrm rot="-9496">
            <a:off x="1066809" y="2330450"/>
            <a:ext cx="45974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7" name="AutoShape 7"/>
          <p:cNvSpPr/>
          <p:nvPr/>
        </p:nvSpPr>
        <p:spPr>
          <a:xfrm>
            <a:off x="1066800" y="2463800"/>
            <a:ext cx="4597400" cy="1143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掌握了使用 conda 和 venv 创建虚拟环境的方法，确保项目依赖隔离，提升开发环境的稳定性与可移植性。</a:t>
            </a:r>
            <a:endParaRPr lang="en-US" sz="1100"/>
          </a:p>
        </p:txBody>
      </p:sp>
      <p:sp>
        <p:nvSpPr>
          <p:cNvPr id="8" name="AutoShape 8"/>
          <p:cNvSpPr/>
          <p:nvPr/>
        </p:nvSpPr>
        <p:spPr>
          <a:xfrm>
            <a:off x="6223000" y="1524000"/>
            <a:ext cx="5207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527800" y="1828800"/>
            <a:ext cx="406400" cy="406400"/>
          </a:xfrm>
          <a:prstGeom prst="rect">
            <a:avLst/>
          </a:prstGeom>
        </p:spPr>
      </p:pic>
      <p:sp>
        <p:nvSpPr>
          <p:cNvPr id="10" name="AutoShape 10"/>
          <p:cNvSpPr/>
          <p:nvPr/>
        </p:nvSpPr>
        <p:spPr>
          <a:xfrm>
            <a:off x="7035800" y="1803400"/>
            <a:ext cx="4064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语法基础</a:t>
            </a:r>
            <a:endParaRPr lang="en-US" sz="1100"/>
          </a:p>
        </p:txBody>
      </p:sp>
      <p:cxnSp>
        <p:nvCxnSpPr>
          <p:cNvPr id="11" name="Connector 11"/>
          <p:cNvCxnSpPr/>
          <p:nvPr/>
        </p:nvCxnSpPr>
        <p:spPr>
          <a:xfrm rot="-9496">
            <a:off x="6527809" y="2330450"/>
            <a:ext cx="45974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2" name="AutoShape 12"/>
          <p:cNvSpPr/>
          <p:nvPr/>
        </p:nvSpPr>
        <p:spPr>
          <a:xfrm>
            <a:off x="6527800" y="2463800"/>
            <a:ext cx="4597400" cy="1143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回顾了Python核心语法，包括变量、数据类型、控制流、数据结构、函数定义以及面向对象编程（OOP）的核心概念。</a:t>
            </a:r>
            <a:endParaRPr lang="en-US" sz="1100"/>
          </a:p>
        </p:txBody>
      </p:sp>
      <p:sp>
        <p:nvSpPr>
          <p:cNvPr id="13" name="AutoShape 13"/>
          <p:cNvSpPr/>
          <p:nvPr/>
        </p:nvSpPr>
        <p:spPr>
          <a:xfrm>
            <a:off x="762000" y="4064000"/>
            <a:ext cx="5207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66800" y="4368800"/>
            <a:ext cx="406400" cy="406400"/>
          </a:xfrm>
          <a:prstGeom prst="rect">
            <a:avLst/>
          </a:prstGeom>
        </p:spPr>
      </p:pic>
      <p:sp>
        <p:nvSpPr>
          <p:cNvPr id="15" name="AutoShape 15"/>
          <p:cNvSpPr/>
          <p:nvPr/>
        </p:nvSpPr>
        <p:spPr>
          <a:xfrm>
            <a:off x="1574800" y="4343400"/>
            <a:ext cx="4064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常用库</a:t>
            </a:r>
            <a:endParaRPr lang="en-US" sz="1100"/>
          </a:p>
        </p:txBody>
      </p:sp>
      <p:cxnSp>
        <p:nvCxnSpPr>
          <p:cNvPr id="16" name="Connector 16"/>
          <p:cNvCxnSpPr/>
          <p:nvPr/>
        </p:nvCxnSpPr>
        <p:spPr>
          <a:xfrm rot="-9496">
            <a:off x="1066809" y="4870450"/>
            <a:ext cx="45974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7" name="AutoShape 17"/>
          <p:cNvSpPr/>
          <p:nvPr/>
        </p:nvSpPr>
        <p:spPr>
          <a:xfrm>
            <a:off x="1066800" y="5003800"/>
            <a:ext cx="4597400" cy="1143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深入了解了大模型开发中常用的Python库，如网络请求库 requests、Web框架 Flask 和 Streamlit 等。</a:t>
            </a:r>
            <a:endParaRPr lang="en-US" sz="1100"/>
          </a:p>
        </p:txBody>
      </p:sp>
      <p:sp>
        <p:nvSpPr>
          <p:cNvPr id="18" name="AutoShape 18"/>
          <p:cNvSpPr/>
          <p:nvPr/>
        </p:nvSpPr>
        <p:spPr>
          <a:xfrm>
            <a:off x="6223000" y="4064000"/>
            <a:ext cx="5207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527800" y="4368800"/>
            <a:ext cx="406400" cy="406400"/>
          </a:xfrm>
          <a:prstGeom prst="rect">
            <a:avLst/>
          </a:prstGeom>
        </p:spPr>
      </p:pic>
      <p:sp>
        <p:nvSpPr>
          <p:cNvPr id="20" name="AutoShape 20"/>
          <p:cNvSpPr/>
          <p:nvPr/>
        </p:nvSpPr>
        <p:spPr>
          <a:xfrm>
            <a:off x="7035800" y="4343400"/>
            <a:ext cx="4064000" cy="457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03366"/>
                </a:solidFill>
                <a:latin typeface="Noto Sans SC"/>
                <a:ea typeface="Noto Sans SC"/>
                <a:cs typeface="Noto Sans SC"/>
                <a:sym typeface="Noto Sans SC"/>
              </a:rPr>
              <a:t>接口开发</a:t>
            </a:r>
            <a:endParaRPr lang="en-US" sz="1100"/>
          </a:p>
        </p:txBody>
      </p:sp>
      <p:cxnSp>
        <p:nvCxnSpPr>
          <p:cNvPr id="21" name="Connector 21"/>
          <p:cNvCxnSpPr/>
          <p:nvPr/>
        </p:nvCxnSpPr>
        <p:spPr>
          <a:xfrm rot="-9496">
            <a:off x="6527809" y="4870450"/>
            <a:ext cx="45974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22" name="AutoShape 22"/>
          <p:cNvSpPr/>
          <p:nvPr/>
        </p:nvSpPr>
        <p:spPr>
          <a:xfrm>
            <a:off x="6527800" y="5003800"/>
            <a:ext cx="4597400" cy="1143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学习了如何设计和优化一个健壮、高效的API接口，掌握了RESTful API的设计原则与最佳实践。</a:t>
            </a:r>
            <a:endParaRPr lang="en-US" sz="110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本章总结（二）：Docker基础</a:t>
            </a:r>
            <a:endParaRPr lang="en-US" sz="1100"/>
          </a:p>
        </p:txBody>
      </p:sp>
      <p:sp>
        <p:nvSpPr>
          <p:cNvPr id="3" name="AutoShape 3"/>
          <p:cNvSpPr/>
          <p:nvPr/>
        </p:nvSpPr>
        <p:spPr>
          <a:xfrm>
            <a:off x="762000" y="152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78000"/>
            <a:ext cx="406400" cy="406400"/>
          </a:xfrm>
          <a:prstGeom prst="rect">
            <a:avLst/>
          </a:prstGeom>
        </p:spPr>
      </p:pic>
      <p:sp>
        <p:nvSpPr>
          <p:cNvPr id="5" name="AutoShape 5"/>
          <p:cNvSpPr/>
          <p:nvPr/>
        </p:nvSpPr>
        <p:spPr>
          <a:xfrm>
            <a:off x="1524000" y="177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核心概念解析</a:t>
            </a:r>
            <a:endParaRPr lang="en-US" sz="1100"/>
          </a:p>
        </p:txBody>
      </p:sp>
      <p:cxnSp>
        <p:nvCxnSpPr>
          <p:cNvPr id="6" name="Connector 6"/>
          <p:cNvCxnSpPr/>
          <p:nvPr/>
        </p:nvCxnSpPr>
        <p:spPr>
          <a:xfrm rot="-15626">
            <a:off x="1016014" y="2216150"/>
            <a:ext cx="2794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7" name="AutoShape 7"/>
          <p:cNvSpPr/>
          <p:nvPr/>
        </p:nvSpPr>
        <p:spPr>
          <a:xfrm>
            <a:off x="1016000" y="234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深入理解镜像(Image)、容器(Container)和仓库(Repository)的定义及其相互关系。</a:t>
            </a:r>
            <a:endParaRPr lang="en-US" sz="1100"/>
          </a:p>
        </p:txBody>
      </p:sp>
      <p:sp>
        <p:nvSpPr>
          <p:cNvPr id="8" name="AutoShape 8"/>
          <p:cNvSpPr/>
          <p:nvPr/>
        </p:nvSpPr>
        <p:spPr>
          <a:xfrm>
            <a:off x="4445000" y="152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99000" y="1778000"/>
            <a:ext cx="406400" cy="406400"/>
          </a:xfrm>
          <a:prstGeom prst="rect">
            <a:avLst/>
          </a:prstGeom>
        </p:spPr>
      </p:pic>
      <p:sp>
        <p:nvSpPr>
          <p:cNvPr id="10" name="AutoShape 10"/>
          <p:cNvSpPr/>
          <p:nvPr/>
        </p:nvSpPr>
        <p:spPr>
          <a:xfrm>
            <a:off x="5207000" y="177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常用操作命令</a:t>
            </a:r>
            <a:endParaRPr lang="en-US" sz="1100"/>
          </a:p>
        </p:txBody>
      </p:sp>
      <p:cxnSp>
        <p:nvCxnSpPr>
          <p:cNvPr id="11" name="Connector 11"/>
          <p:cNvCxnSpPr/>
          <p:nvPr/>
        </p:nvCxnSpPr>
        <p:spPr>
          <a:xfrm rot="-15626">
            <a:off x="4699014" y="2216150"/>
            <a:ext cx="2794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2" name="AutoShape 12"/>
          <p:cNvSpPr/>
          <p:nvPr/>
        </p:nvSpPr>
        <p:spPr>
          <a:xfrm>
            <a:off x="4699000" y="234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熟练掌握镜像的拉取、查看，以及容器的创建、启动、停止和删除等基本操作。</a:t>
            </a:r>
            <a:endParaRPr lang="en-US" sz="1100"/>
          </a:p>
        </p:txBody>
      </p:sp>
      <p:sp>
        <p:nvSpPr>
          <p:cNvPr id="13" name="AutoShape 13"/>
          <p:cNvSpPr/>
          <p:nvPr/>
        </p:nvSpPr>
        <p:spPr>
          <a:xfrm>
            <a:off x="8128000" y="152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82000" y="1778000"/>
            <a:ext cx="406400" cy="406400"/>
          </a:xfrm>
          <a:prstGeom prst="rect">
            <a:avLst/>
          </a:prstGeom>
        </p:spPr>
      </p:pic>
      <p:sp>
        <p:nvSpPr>
          <p:cNvPr id="15" name="AutoShape 15"/>
          <p:cNvSpPr/>
          <p:nvPr/>
        </p:nvSpPr>
        <p:spPr>
          <a:xfrm>
            <a:off x="8890000" y="177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镜像构建技术</a:t>
            </a:r>
            <a:endParaRPr lang="en-US" sz="1100"/>
          </a:p>
        </p:txBody>
      </p:sp>
      <p:cxnSp>
        <p:nvCxnSpPr>
          <p:cNvPr id="16" name="Connector 16"/>
          <p:cNvCxnSpPr/>
          <p:nvPr/>
        </p:nvCxnSpPr>
        <p:spPr>
          <a:xfrm rot="-15626">
            <a:off x="8382014" y="2216150"/>
            <a:ext cx="2794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17" name="AutoShape 17"/>
          <p:cNvSpPr/>
          <p:nvPr/>
        </p:nvSpPr>
        <p:spPr>
          <a:xfrm>
            <a:off x="8382000" y="234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学会编写Dockerfile配置文件，并使用 `docker build` 命令构建自定义应用镜像。</a:t>
            </a:r>
            <a:endParaRPr lang="en-US" sz="1100"/>
          </a:p>
        </p:txBody>
      </p:sp>
      <p:sp>
        <p:nvSpPr>
          <p:cNvPr id="18" name="AutoShape 18"/>
          <p:cNvSpPr/>
          <p:nvPr/>
        </p:nvSpPr>
        <p:spPr>
          <a:xfrm>
            <a:off x="762000" y="406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4318000"/>
            <a:ext cx="406400" cy="406400"/>
          </a:xfrm>
          <a:prstGeom prst="rect">
            <a:avLst/>
          </a:prstGeom>
        </p:spPr>
      </p:pic>
      <p:sp>
        <p:nvSpPr>
          <p:cNvPr id="20" name="AutoShape 20"/>
          <p:cNvSpPr/>
          <p:nvPr/>
        </p:nvSpPr>
        <p:spPr>
          <a:xfrm>
            <a:off x="1524000" y="431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项目部署实践</a:t>
            </a:r>
            <a:endParaRPr lang="en-US" sz="1100"/>
          </a:p>
        </p:txBody>
      </p:sp>
      <p:cxnSp>
        <p:nvCxnSpPr>
          <p:cNvPr id="21" name="Connector 21"/>
          <p:cNvCxnSpPr/>
          <p:nvPr/>
        </p:nvCxnSpPr>
        <p:spPr>
          <a:xfrm rot="-15626">
            <a:off x="1016014" y="4756150"/>
            <a:ext cx="2794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22" name="AutoShape 22"/>
          <p:cNvSpPr/>
          <p:nvPr/>
        </p:nvSpPr>
        <p:spPr>
          <a:xfrm>
            <a:off x="1016000" y="488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了解如何将应用打包成镜像，并通过容器化方式快速部署到服务器环境。</a:t>
            </a:r>
            <a:endParaRPr lang="en-US" sz="1100"/>
          </a:p>
        </p:txBody>
      </p:sp>
      <p:sp>
        <p:nvSpPr>
          <p:cNvPr id="23" name="AutoShape 23"/>
          <p:cNvSpPr/>
          <p:nvPr/>
        </p:nvSpPr>
        <p:spPr>
          <a:xfrm>
            <a:off x="4445000" y="406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24" name="Picture 24"/>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699000" y="4318000"/>
            <a:ext cx="406400" cy="406400"/>
          </a:xfrm>
          <a:prstGeom prst="rect">
            <a:avLst/>
          </a:prstGeom>
        </p:spPr>
      </p:pic>
      <p:sp>
        <p:nvSpPr>
          <p:cNvPr id="25" name="AutoShape 25"/>
          <p:cNvSpPr/>
          <p:nvPr/>
        </p:nvSpPr>
        <p:spPr>
          <a:xfrm>
            <a:off x="5207000" y="431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Docker Compose</a:t>
            </a:r>
            <a:endParaRPr lang="en-US" sz="1100"/>
          </a:p>
        </p:txBody>
      </p:sp>
      <p:cxnSp>
        <p:nvCxnSpPr>
          <p:cNvPr id="26" name="Connector 26"/>
          <p:cNvCxnSpPr/>
          <p:nvPr/>
        </p:nvCxnSpPr>
        <p:spPr>
          <a:xfrm rot="-15626">
            <a:off x="4699014" y="4756150"/>
            <a:ext cx="2794000" cy="12700"/>
          </a:xfrm>
          <a:prstGeom prst="straightConnector1">
            <a:avLst/>
          </a:prstGeom>
          <a:solidFill>
            <a:srgbClr val="DEE0E3">
              <a:alpha val="100000"/>
            </a:srgbClr>
          </a:solidFill>
          <a:ln w="25400" cap="flat" cmpd="sng">
            <a:solidFill>
              <a:srgbClr val="E6F3FF">
                <a:alpha val="100000"/>
              </a:srgbClr>
            </a:solidFill>
            <a:prstDash val="solid"/>
            <a:round/>
            <a:headEnd type="none" w="lg" len="lg"/>
            <a:tailEnd type="none" w="lg" len="lg"/>
          </a:ln>
        </p:spPr>
      </p:cxnSp>
      <p:sp>
        <p:nvSpPr>
          <p:cNvPr id="27" name="AutoShape 27"/>
          <p:cNvSpPr/>
          <p:nvPr/>
        </p:nvSpPr>
        <p:spPr>
          <a:xfrm>
            <a:off x="4699000" y="488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初步认识Docker Compose，掌握其在管理多容器应用中的编排与协同作用。</a:t>
            </a:r>
            <a:endParaRPr lang="en-US" sz="1100"/>
          </a:p>
        </p:txBody>
      </p:sp>
      <p:sp>
        <p:nvSpPr>
          <p:cNvPr id="28" name="AutoShape 28"/>
          <p:cNvSpPr/>
          <p:nvPr/>
        </p:nvSpPr>
        <p:spPr>
          <a:xfrm>
            <a:off x="8128000" y="4064000"/>
            <a:ext cx="3302000" cy="2286000"/>
          </a:xfrm>
          <a:prstGeom prst="roundRect">
            <a:avLst>
              <a:gd name="adj" fmla="val 5555"/>
            </a:avLst>
          </a:prstGeom>
          <a:solidFill>
            <a:srgbClr val="003366">
              <a:alpha val="5000"/>
            </a:srgbClr>
          </a:solidFill>
          <a:ln w="12700" cap="flat" cmpd="sng">
            <a:solidFill>
              <a:srgbClr val="003366">
                <a:alpha val="100000"/>
              </a:srgbClr>
            </a:solidFill>
            <a:prstDash val="dash"/>
            <a:round/>
          </a:ln>
        </p:spPr>
        <p:txBody>
          <a:bodyPr vert="horz" wrap="square" lIns="63500" tIns="63500" rIns="63500" bIns="63500" rtlCol="0" anchor="ctr"/>
          <a:lstStyle/>
          <a:p>
            <a:pPr algn="ctr">
              <a:defRPr/>
            </a:pPr>
          </a:p>
        </p:txBody>
      </p:sp>
      <p:pic>
        <p:nvPicPr>
          <p:cNvPr id="29" name="Picture 29"/>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8382000" y="4318000"/>
            <a:ext cx="406400" cy="406400"/>
          </a:xfrm>
          <a:prstGeom prst="rect">
            <a:avLst/>
          </a:prstGeom>
        </p:spPr>
      </p:pic>
      <p:sp>
        <p:nvSpPr>
          <p:cNvPr id="30" name="AutoShape 30"/>
          <p:cNvSpPr/>
          <p:nvPr/>
        </p:nvSpPr>
        <p:spPr>
          <a:xfrm>
            <a:off x="8890000" y="431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总结与展望</a:t>
            </a:r>
            <a:endParaRPr lang="en-US" sz="1100"/>
          </a:p>
        </p:txBody>
      </p:sp>
      <p:cxnSp>
        <p:nvCxnSpPr>
          <p:cNvPr id="31" name="Connector 31"/>
          <p:cNvCxnSpPr/>
          <p:nvPr/>
        </p:nvCxnSpPr>
        <p:spPr>
          <a:xfrm rot="-15626">
            <a:off x="8382014" y="4756150"/>
            <a:ext cx="2794000" cy="12700"/>
          </a:xfrm>
          <a:prstGeom prst="straightConnector1">
            <a:avLst/>
          </a:prstGeom>
          <a:solidFill>
            <a:srgbClr val="DEE0E3">
              <a:alpha val="100000"/>
            </a:srgbClr>
          </a:solidFill>
          <a:ln w="25400" cap="flat" cmpd="sng">
            <a:solidFill>
              <a:srgbClr val="003366">
                <a:alpha val="20000"/>
              </a:srgbClr>
            </a:solidFill>
            <a:prstDash val="solid"/>
            <a:round/>
            <a:headEnd type="none" w="lg" len="lg"/>
            <a:tailEnd type="none" w="lg" len="lg"/>
          </a:ln>
        </p:spPr>
      </p:cxnSp>
      <p:sp>
        <p:nvSpPr>
          <p:cNvPr id="32" name="AutoShape 32"/>
          <p:cNvSpPr/>
          <p:nvPr/>
        </p:nvSpPr>
        <p:spPr>
          <a:xfrm>
            <a:off x="8382000" y="488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Docker解决了环境一致性问题，是现代软件开发和部署的基石。</a:t>
            </a:r>
            <a:endParaRPr lang="en-US" sz="110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本章总结（三）：NLP概述</a:t>
            </a:r>
            <a:endParaRPr lang="en-US" sz="1100"/>
          </a:p>
        </p:txBody>
      </p:sp>
      <p:sp>
        <p:nvSpPr>
          <p:cNvPr id="3" name="AutoShape 3"/>
          <p:cNvSpPr/>
          <p:nvPr/>
        </p:nvSpPr>
        <p:spPr>
          <a:xfrm>
            <a:off x="762000" y="152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78000"/>
            <a:ext cx="406400" cy="406400"/>
          </a:xfrm>
          <a:prstGeom prst="rect">
            <a:avLst/>
          </a:prstGeom>
        </p:spPr>
      </p:pic>
      <p:sp>
        <p:nvSpPr>
          <p:cNvPr id="5" name="AutoShape 5"/>
          <p:cNvSpPr/>
          <p:nvPr/>
        </p:nvSpPr>
        <p:spPr>
          <a:xfrm>
            <a:off x="1524000" y="177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定义与目标</a:t>
            </a:r>
            <a:endParaRPr lang="en-US" sz="1100"/>
          </a:p>
        </p:txBody>
      </p:sp>
      <p:cxnSp>
        <p:nvCxnSpPr>
          <p:cNvPr id="6" name="Connector 6"/>
          <p:cNvCxnSpPr/>
          <p:nvPr/>
        </p:nvCxnSpPr>
        <p:spPr>
          <a:xfrm rot="-15626">
            <a:off x="1016014" y="2216150"/>
            <a:ext cx="2794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7" name="AutoShape 7"/>
          <p:cNvSpPr/>
          <p:nvPr/>
        </p:nvSpPr>
        <p:spPr>
          <a:xfrm>
            <a:off x="1016000" y="234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明确了NLP的定义和核心目标，理解其在人工智能领域的基础地位。</a:t>
            </a:r>
            <a:endParaRPr lang="en-US" sz="1100"/>
          </a:p>
        </p:txBody>
      </p:sp>
      <p:sp>
        <p:nvSpPr>
          <p:cNvPr id="8" name="AutoShape 8"/>
          <p:cNvSpPr/>
          <p:nvPr/>
        </p:nvSpPr>
        <p:spPr>
          <a:xfrm>
            <a:off x="4445000" y="152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99000" y="1778000"/>
            <a:ext cx="406400" cy="406400"/>
          </a:xfrm>
          <a:prstGeom prst="rect">
            <a:avLst/>
          </a:prstGeom>
        </p:spPr>
      </p:pic>
      <p:sp>
        <p:nvSpPr>
          <p:cNvPr id="10" name="AutoShape 10"/>
          <p:cNvSpPr/>
          <p:nvPr/>
        </p:nvSpPr>
        <p:spPr>
          <a:xfrm>
            <a:off x="5207000" y="177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主要任务</a:t>
            </a:r>
            <a:endParaRPr lang="en-US" sz="1100"/>
          </a:p>
        </p:txBody>
      </p:sp>
      <p:cxnSp>
        <p:nvCxnSpPr>
          <p:cNvPr id="11" name="Connector 11"/>
          <p:cNvCxnSpPr/>
          <p:nvPr/>
        </p:nvCxnSpPr>
        <p:spPr>
          <a:xfrm rot="-15626">
            <a:off x="4699014" y="2216150"/>
            <a:ext cx="2794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12" name="AutoShape 12"/>
          <p:cNvSpPr/>
          <p:nvPr/>
        </p:nvSpPr>
        <p:spPr>
          <a:xfrm>
            <a:off x="4699000" y="234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了解了NLP领域的主要研究任务（如分词、翻译、情感分析）及其广泛的应用场景。</a:t>
            </a:r>
            <a:endParaRPr lang="en-US" sz="1100"/>
          </a:p>
        </p:txBody>
      </p:sp>
      <p:sp>
        <p:nvSpPr>
          <p:cNvPr id="13" name="AutoShape 13"/>
          <p:cNvSpPr/>
          <p:nvPr/>
        </p:nvSpPr>
        <p:spPr>
          <a:xfrm>
            <a:off x="8128000" y="1524000"/>
            <a:ext cx="3302000" cy="2286000"/>
          </a:xfrm>
          <a:prstGeom prst="roundRect">
            <a:avLst>
              <a:gd name="adj" fmla="val 5555"/>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82000" y="1778000"/>
            <a:ext cx="406400" cy="406400"/>
          </a:xfrm>
          <a:prstGeom prst="rect">
            <a:avLst/>
          </a:prstGeom>
        </p:spPr>
      </p:pic>
      <p:sp>
        <p:nvSpPr>
          <p:cNvPr id="15" name="AutoShape 15"/>
          <p:cNvSpPr/>
          <p:nvPr/>
        </p:nvSpPr>
        <p:spPr>
          <a:xfrm>
            <a:off x="8890000" y="1778000"/>
            <a:ext cx="228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发展历程</a:t>
            </a:r>
            <a:endParaRPr lang="en-US" sz="1100"/>
          </a:p>
        </p:txBody>
      </p:sp>
      <p:cxnSp>
        <p:nvCxnSpPr>
          <p:cNvPr id="16" name="Connector 16"/>
          <p:cNvCxnSpPr/>
          <p:nvPr/>
        </p:nvCxnSpPr>
        <p:spPr>
          <a:xfrm rot="-15626">
            <a:off x="8382014" y="2216150"/>
            <a:ext cx="27940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17" name="AutoShape 17"/>
          <p:cNvSpPr/>
          <p:nvPr/>
        </p:nvSpPr>
        <p:spPr>
          <a:xfrm>
            <a:off x="8382000" y="2349500"/>
            <a:ext cx="2794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回顾了NLP从基于规则、统计方法到基于深度学习的技术演进阶段。</a:t>
            </a:r>
            <a:endParaRPr lang="en-US" sz="1100"/>
          </a:p>
        </p:txBody>
      </p:sp>
      <p:sp>
        <p:nvSpPr>
          <p:cNvPr id="18" name="AutoShape 18"/>
          <p:cNvSpPr/>
          <p:nvPr/>
        </p:nvSpPr>
        <p:spPr>
          <a:xfrm>
            <a:off x="762000" y="4064000"/>
            <a:ext cx="5143500" cy="2032000"/>
          </a:xfrm>
          <a:prstGeom prst="roundRect">
            <a:avLst>
              <a:gd name="adj" fmla="val 625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16000" y="4318000"/>
            <a:ext cx="406400" cy="406400"/>
          </a:xfrm>
          <a:prstGeom prst="rect">
            <a:avLst/>
          </a:prstGeom>
        </p:spPr>
      </p:pic>
      <p:sp>
        <p:nvSpPr>
          <p:cNvPr id="20" name="AutoShape 20"/>
          <p:cNvSpPr/>
          <p:nvPr/>
        </p:nvSpPr>
        <p:spPr>
          <a:xfrm>
            <a:off x="1524000" y="43180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与大模型的关系</a:t>
            </a:r>
            <a:endParaRPr lang="en-US" sz="1100"/>
          </a:p>
        </p:txBody>
      </p:sp>
      <p:cxnSp>
        <p:nvCxnSpPr>
          <p:cNvPr id="21" name="Connector 21"/>
          <p:cNvCxnSpPr/>
          <p:nvPr/>
        </p:nvCxnSpPr>
        <p:spPr>
          <a:xfrm rot="-9418">
            <a:off x="1016009" y="4756150"/>
            <a:ext cx="46355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22" name="AutoShape 22"/>
          <p:cNvSpPr/>
          <p:nvPr/>
        </p:nvSpPr>
        <p:spPr>
          <a:xfrm>
            <a:off x="1016000" y="4889500"/>
            <a:ext cx="46355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大语言模型是NLP领域的重大突破，是当前解决各类复杂NLP任务的基础架构。</a:t>
            </a:r>
            <a:endParaRPr lang="en-US" sz="1100"/>
          </a:p>
        </p:txBody>
      </p:sp>
      <p:sp>
        <p:nvSpPr>
          <p:cNvPr id="23" name="AutoShape 23"/>
          <p:cNvSpPr/>
          <p:nvPr/>
        </p:nvSpPr>
        <p:spPr>
          <a:xfrm>
            <a:off x="6286500" y="4064000"/>
            <a:ext cx="5143500" cy="2032000"/>
          </a:xfrm>
          <a:prstGeom prst="roundRect">
            <a:avLst>
              <a:gd name="adj" fmla="val 625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24" name="Picture 24"/>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540500" y="4318000"/>
            <a:ext cx="406400" cy="406400"/>
          </a:xfrm>
          <a:prstGeom prst="rect">
            <a:avLst/>
          </a:prstGeom>
        </p:spPr>
      </p:pic>
      <p:sp>
        <p:nvSpPr>
          <p:cNvPr id="25" name="AutoShape 25"/>
          <p:cNvSpPr/>
          <p:nvPr/>
        </p:nvSpPr>
        <p:spPr>
          <a:xfrm>
            <a:off x="7048500" y="43180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面临挑战</a:t>
            </a:r>
            <a:endParaRPr lang="en-US" sz="1100"/>
          </a:p>
        </p:txBody>
      </p:sp>
      <p:cxnSp>
        <p:nvCxnSpPr>
          <p:cNvPr id="26" name="Connector 26"/>
          <p:cNvCxnSpPr/>
          <p:nvPr/>
        </p:nvCxnSpPr>
        <p:spPr>
          <a:xfrm rot="-9418">
            <a:off x="6540509" y="4756150"/>
            <a:ext cx="4635500" cy="12700"/>
          </a:xfrm>
          <a:prstGeom prst="straightConnector1">
            <a:avLst/>
          </a:prstGeom>
          <a:solidFill>
            <a:srgbClr val="DEE0E3">
              <a:alpha val="100000"/>
            </a:srgbClr>
          </a:solidFill>
          <a:ln w="12700" cap="flat" cmpd="sng">
            <a:solidFill>
              <a:srgbClr val="E6F3FF">
                <a:alpha val="100000"/>
              </a:srgbClr>
            </a:solidFill>
            <a:prstDash val="solid"/>
            <a:round/>
            <a:headEnd type="none" w="med" len="med"/>
            <a:tailEnd type="none" w="med" len="med"/>
          </a:ln>
        </p:spPr>
      </p:cxnSp>
      <p:sp>
        <p:nvSpPr>
          <p:cNvPr id="27" name="AutoShape 27"/>
          <p:cNvSpPr/>
          <p:nvPr/>
        </p:nvSpPr>
        <p:spPr>
          <a:xfrm>
            <a:off x="6540500" y="4889500"/>
            <a:ext cx="46355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认识到大语言模型开发和应用中面临的计算资源、数据质量、部署效率及伦理安全等挑战。</a:t>
            </a:r>
            <a:endParaRPr lang="en-US" sz="110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思考题</a:t>
            </a:r>
            <a:endParaRPr lang="en-US" sz="1100"/>
          </a:p>
        </p:txBody>
      </p:sp>
      <p:sp>
        <p:nvSpPr>
          <p:cNvPr id="3" name="AutoShape 3"/>
          <p:cNvSpPr/>
          <p:nvPr/>
        </p:nvSpPr>
        <p:spPr>
          <a:xfrm>
            <a:off x="762000" y="1524000"/>
            <a:ext cx="10668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4" name="AutoShape 4"/>
          <p:cNvSpPr/>
          <p:nvPr/>
        </p:nvSpPr>
        <p:spPr>
          <a:xfrm>
            <a:off x="1016000" y="1841500"/>
            <a:ext cx="762000" cy="762000"/>
          </a:xfrm>
          <a:prstGeom prst="ellipse">
            <a:avLst/>
          </a:prstGeom>
          <a:solidFill>
            <a:srgbClr val="003366">
              <a:alpha val="1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143000" y="1968500"/>
            <a:ext cx="508000" cy="508000"/>
          </a:xfrm>
          <a:prstGeom prst="rect">
            <a:avLst/>
          </a:prstGeom>
        </p:spPr>
      </p:pic>
      <p:sp>
        <p:nvSpPr>
          <p:cNvPr id="6" name="AutoShape 6"/>
          <p:cNvSpPr/>
          <p:nvPr/>
        </p:nvSpPr>
        <p:spPr>
          <a:xfrm>
            <a:off x="2032000" y="1714500"/>
            <a:ext cx="914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01. Python 与大语言模型开发</a:t>
            </a:r>
            <a:endParaRPr lang="en-US" sz="1100"/>
          </a:p>
        </p:txBody>
      </p:sp>
      <p:sp>
        <p:nvSpPr>
          <p:cNvPr id="7" name="AutoShape 7"/>
          <p:cNvSpPr/>
          <p:nvPr/>
        </p:nvSpPr>
        <p:spPr>
          <a:xfrm>
            <a:off x="2032000" y="2095500"/>
            <a:ext cx="9144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为什么Python成为大语言模型开发的首选编程语言？请结合其优缺点进行分析。</a:t>
            </a:r>
            <a:endParaRPr lang="en-US" sz="1100"/>
          </a:p>
        </p:txBody>
      </p:sp>
      <p:sp>
        <p:nvSpPr>
          <p:cNvPr id="8" name="AutoShape 8"/>
          <p:cNvSpPr/>
          <p:nvPr/>
        </p:nvSpPr>
        <p:spPr>
          <a:xfrm>
            <a:off x="762000" y="3175000"/>
            <a:ext cx="10668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9" name="AutoShape 9"/>
          <p:cNvSpPr/>
          <p:nvPr/>
        </p:nvSpPr>
        <p:spPr>
          <a:xfrm>
            <a:off x="1016000" y="3492500"/>
            <a:ext cx="762000" cy="762000"/>
          </a:xfrm>
          <a:prstGeom prst="ellipse">
            <a:avLst/>
          </a:prstGeom>
          <a:solidFill>
            <a:srgbClr val="003366">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43000" y="3619500"/>
            <a:ext cx="508000" cy="508000"/>
          </a:xfrm>
          <a:prstGeom prst="rect">
            <a:avLst/>
          </a:prstGeom>
        </p:spPr>
      </p:pic>
      <p:sp>
        <p:nvSpPr>
          <p:cNvPr id="11" name="AutoShape 11"/>
          <p:cNvSpPr/>
          <p:nvPr/>
        </p:nvSpPr>
        <p:spPr>
          <a:xfrm>
            <a:off x="2032000" y="3365500"/>
            <a:ext cx="914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02. Docker 镜像与容器的理解</a:t>
            </a:r>
            <a:endParaRPr lang="en-US" sz="1100"/>
          </a:p>
        </p:txBody>
      </p:sp>
      <p:sp>
        <p:nvSpPr>
          <p:cNvPr id="12" name="AutoShape 12"/>
          <p:cNvSpPr/>
          <p:nvPr/>
        </p:nvSpPr>
        <p:spPr>
          <a:xfrm>
            <a:off x="2032000" y="3746500"/>
            <a:ext cx="9144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简述Docker镜像和容器的区别与联系，并说明Docker解决了什么问题。</a:t>
            </a:r>
            <a:endParaRPr lang="en-US" sz="1100"/>
          </a:p>
        </p:txBody>
      </p:sp>
      <p:sp>
        <p:nvSpPr>
          <p:cNvPr id="13" name="AutoShape 13"/>
          <p:cNvSpPr/>
          <p:nvPr/>
        </p:nvSpPr>
        <p:spPr>
          <a:xfrm>
            <a:off x="762000" y="4826000"/>
            <a:ext cx="10668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sp>
        <p:nvSpPr>
          <p:cNvPr id="14" name="AutoShape 14"/>
          <p:cNvSpPr/>
          <p:nvPr/>
        </p:nvSpPr>
        <p:spPr>
          <a:xfrm>
            <a:off x="1016000" y="5143500"/>
            <a:ext cx="762000" cy="762000"/>
          </a:xfrm>
          <a:prstGeom prst="ellipse">
            <a:avLst/>
          </a:prstGeom>
          <a:solidFill>
            <a:srgbClr val="003366">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43000" y="5270500"/>
            <a:ext cx="508000" cy="508000"/>
          </a:xfrm>
          <a:prstGeom prst="rect">
            <a:avLst/>
          </a:prstGeom>
        </p:spPr>
      </p:pic>
      <p:sp>
        <p:nvSpPr>
          <p:cNvPr id="16" name="AutoShape 16"/>
          <p:cNvSpPr/>
          <p:nvPr/>
        </p:nvSpPr>
        <p:spPr>
          <a:xfrm>
            <a:off x="2032000" y="5016500"/>
            <a:ext cx="914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03366"/>
                </a:solidFill>
                <a:latin typeface="Noto Sans SC"/>
                <a:ea typeface="Noto Sans SC"/>
                <a:cs typeface="Noto Sans SC"/>
                <a:sym typeface="Noto Sans SC"/>
              </a:rPr>
              <a:t>03. 大语言模型对 NLP 的变革</a:t>
            </a:r>
            <a:endParaRPr lang="en-US" sz="1100"/>
          </a:p>
        </p:txBody>
      </p:sp>
      <p:sp>
        <p:nvSpPr>
          <p:cNvPr id="17" name="AutoShape 17"/>
          <p:cNvSpPr/>
          <p:nvPr/>
        </p:nvSpPr>
        <p:spPr>
          <a:xfrm>
            <a:off x="2032000" y="5397500"/>
            <a:ext cx="9144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333333"/>
                </a:solidFill>
                <a:latin typeface="Noto Sans SC"/>
                <a:ea typeface="Noto Sans SC"/>
                <a:cs typeface="Noto Sans SC"/>
                <a:sym typeface="Noto Sans SC"/>
              </a:rPr>
              <a:t>大语言模型的出现对NLP领域带来了哪些变革？它与传统的NLP方法有何不同？</a:t>
            </a:r>
            <a:endParaRPr lang="en-US" sz="110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03366"/>
                </a:solidFill>
                <a:latin typeface="Noto Sans SC"/>
                <a:ea typeface="Noto Sans SC"/>
                <a:cs typeface="Noto Sans SC"/>
                <a:sym typeface="Noto Sans SC"/>
              </a:rPr>
              <a:t>参考资料</a:t>
            </a:r>
            <a:endParaRPr lang="en-US" sz="1100"/>
          </a:p>
        </p:txBody>
      </p:sp>
      <p:sp>
        <p:nvSpPr>
          <p:cNvPr id="3" name="AutoShape 3"/>
          <p:cNvSpPr/>
          <p:nvPr/>
        </p:nvSpPr>
        <p:spPr>
          <a:xfrm>
            <a:off x="762000" y="1524000"/>
            <a:ext cx="5207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841500"/>
            <a:ext cx="508000" cy="508000"/>
          </a:xfrm>
          <a:prstGeom prst="rect">
            <a:avLst/>
          </a:prstGeom>
        </p:spPr>
      </p:pic>
      <p:sp>
        <p:nvSpPr>
          <p:cNvPr id="5" name="AutoShape 5"/>
          <p:cNvSpPr/>
          <p:nvPr/>
        </p:nvSpPr>
        <p:spPr>
          <a:xfrm>
            <a:off x="1651000" y="17145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333333"/>
                </a:solidFill>
                <a:latin typeface="Noto Sans SC"/>
                <a:ea typeface="Noto Sans SC"/>
                <a:cs typeface="Noto Sans SC"/>
                <a:sym typeface="Noto Sans SC"/>
              </a:rPr>
              <a:t>Python 官方文档</a:t>
            </a:r>
            <a:endParaRPr lang="en-US" sz="1100"/>
          </a:p>
        </p:txBody>
      </p:sp>
      <p:sp>
        <p:nvSpPr>
          <p:cNvPr id="6" name="AutoShape 6"/>
          <p:cNvSpPr/>
          <p:nvPr/>
        </p:nvSpPr>
        <p:spPr>
          <a:xfrm>
            <a:off x="1651000" y="2095500"/>
            <a:ext cx="4064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权威的语言参考与标准库指南，是开发学习的基石。</a:t>
            </a:r>
            <a:endParaRPr lang="en-US" sz="1100"/>
          </a:p>
        </p:txBody>
      </p:sp>
      <p:sp>
        <p:nvSpPr>
          <p:cNvPr id="7" name="AutoShape 7"/>
          <p:cNvSpPr/>
          <p:nvPr/>
        </p:nvSpPr>
        <p:spPr>
          <a:xfrm>
            <a:off x="6223000" y="1524000"/>
            <a:ext cx="5207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77000" y="1841500"/>
            <a:ext cx="508000" cy="508000"/>
          </a:xfrm>
          <a:prstGeom prst="rect">
            <a:avLst/>
          </a:prstGeom>
        </p:spPr>
      </p:pic>
      <p:sp>
        <p:nvSpPr>
          <p:cNvPr id="9" name="AutoShape 9"/>
          <p:cNvSpPr/>
          <p:nvPr/>
        </p:nvSpPr>
        <p:spPr>
          <a:xfrm>
            <a:off x="7112000" y="17145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333333"/>
                </a:solidFill>
                <a:latin typeface="Noto Sans SC"/>
                <a:ea typeface="Noto Sans SC"/>
                <a:cs typeface="Noto Sans SC"/>
                <a:sym typeface="Noto Sans SC"/>
              </a:rPr>
              <a:t>Docker 官方文档</a:t>
            </a:r>
            <a:endParaRPr lang="en-US" sz="1100"/>
          </a:p>
        </p:txBody>
      </p:sp>
      <p:sp>
        <p:nvSpPr>
          <p:cNvPr id="10" name="AutoShape 10"/>
          <p:cNvSpPr/>
          <p:nvPr/>
        </p:nvSpPr>
        <p:spPr>
          <a:xfrm>
            <a:off x="7112000" y="2095500"/>
            <a:ext cx="4064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掌握容器化部署的核心知识，构建高效的开发环境。</a:t>
            </a:r>
            <a:endParaRPr lang="en-US" sz="1100"/>
          </a:p>
        </p:txBody>
      </p:sp>
      <p:sp>
        <p:nvSpPr>
          <p:cNvPr id="11" name="AutoShape 11"/>
          <p:cNvSpPr/>
          <p:nvPr/>
        </p:nvSpPr>
        <p:spPr>
          <a:xfrm>
            <a:off x="762000" y="3175000"/>
            <a:ext cx="5207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3492500"/>
            <a:ext cx="508000" cy="508000"/>
          </a:xfrm>
          <a:prstGeom prst="rect">
            <a:avLst/>
          </a:prstGeom>
        </p:spPr>
      </p:pic>
      <p:sp>
        <p:nvSpPr>
          <p:cNvPr id="13" name="AutoShape 13"/>
          <p:cNvSpPr/>
          <p:nvPr/>
        </p:nvSpPr>
        <p:spPr>
          <a:xfrm>
            <a:off x="1651000" y="33655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333333"/>
                </a:solidFill>
                <a:latin typeface="Noto Sans SC"/>
                <a:ea typeface="Noto Sans SC"/>
                <a:cs typeface="Noto Sans SC"/>
                <a:sym typeface="Noto Sans SC"/>
              </a:rPr>
              <a:t>经典 NLP 书籍</a:t>
            </a:r>
            <a:endParaRPr lang="en-US" sz="1100"/>
          </a:p>
        </p:txBody>
      </p:sp>
      <p:sp>
        <p:nvSpPr>
          <p:cNvPr id="14" name="AutoShape 14"/>
          <p:cNvSpPr/>
          <p:nvPr/>
        </p:nvSpPr>
        <p:spPr>
          <a:xfrm>
            <a:off x="1651000" y="3746500"/>
            <a:ext cx="4064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推荐《自然语言处理入门》及 Goodfellow 的《深度学习》。</a:t>
            </a:r>
            <a:endParaRPr lang="en-US" sz="1100"/>
          </a:p>
        </p:txBody>
      </p:sp>
      <p:sp>
        <p:nvSpPr>
          <p:cNvPr id="15" name="AutoShape 15"/>
          <p:cNvSpPr/>
          <p:nvPr/>
        </p:nvSpPr>
        <p:spPr>
          <a:xfrm>
            <a:off x="6223000" y="3175000"/>
            <a:ext cx="5207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477000" y="3492500"/>
            <a:ext cx="508000" cy="508000"/>
          </a:xfrm>
          <a:prstGeom prst="rect">
            <a:avLst/>
          </a:prstGeom>
        </p:spPr>
      </p:pic>
      <p:sp>
        <p:nvSpPr>
          <p:cNvPr id="17" name="AutoShape 17"/>
          <p:cNvSpPr/>
          <p:nvPr/>
        </p:nvSpPr>
        <p:spPr>
          <a:xfrm>
            <a:off x="7112000" y="33655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333333"/>
                </a:solidFill>
                <a:latin typeface="Noto Sans SC"/>
                <a:ea typeface="Noto Sans SC"/>
                <a:cs typeface="Noto Sans SC"/>
                <a:sym typeface="Noto Sans SC"/>
              </a:rPr>
              <a:t>在线课程资源</a:t>
            </a:r>
            <a:endParaRPr lang="en-US" sz="1100"/>
          </a:p>
        </p:txBody>
      </p:sp>
      <p:sp>
        <p:nvSpPr>
          <p:cNvPr id="18" name="AutoShape 18"/>
          <p:cNvSpPr/>
          <p:nvPr/>
        </p:nvSpPr>
        <p:spPr>
          <a:xfrm>
            <a:off x="7112000" y="3746500"/>
            <a:ext cx="4064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Coursera 和 edX 平台提供丰富的 AI 与 NLP 进阶课程。</a:t>
            </a:r>
            <a:endParaRPr lang="en-US" sz="1100"/>
          </a:p>
        </p:txBody>
      </p:sp>
      <p:sp>
        <p:nvSpPr>
          <p:cNvPr id="19" name="AutoShape 19"/>
          <p:cNvSpPr/>
          <p:nvPr/>
        </p:nvSpPr>
        <p:spPr>
          <a:xfrm>
            <a:off x="762000" y="4826000"/>
            <a:ext cx="10668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03366">
                <a:alpha val="10000"/>
              </a:srgbClr>
            </a:outerShdw>
          </a:effectLst>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16000" y="5143500"/>
            <a:ext cx="508000" cy="508000"/>
          </a:xfrm>
          <a:prstGeom prst="rect">
            <a:avLst/>
          </a:prstGeom>
        </p:spPr>
      </p:pic>
      <p:sp>
        <p:nvSpPr>
          <p:cNvPr id="21" name="AutoShape 21"/>
          <p:cNvSpPr/>
          <p:nvPr/>
        </p:nvSpPr>
        <p:spPr>
          <a:xfrm>
            <a:off x="1651000" y="5016500"/>
            <a:ext cx="9525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333333"/>
                </a:solidFill>
                <a:latin typeface="Noto Sans SC"/>
                <a:ea typeface="Noto Sans SC"/>
                <a:cs typeface="Noto Sans SC"/>
                <a:sym typeface="Noto Sans SC"/>
              </a:rPr>
              <a:t>技术社区与博客</a:t>
            </a:r>
            <a:endParaRPr lang="en-US" sz="1100"/>
          </a:p>
        </p:txBody>
      </p:sp>
      <p:sp>
        <p:nvSpPr>
          <p:cNvPr id="22" name="AutoShape 22"/>
          <p:cNvSpPr/>
          <p:nvPr/>
        </p:nvSpPr>
        <p:spPr>
          <a:xfrm>
            <a:off x="1651000" y="5397500"/>
            <a:ext cx="9525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66666"/>
                </a:solidFill>
                <a:latin typeface="Noto Sans SC"/>
                <a:ea typeface="Noto Sans SC"/>
                <a:cs typeface="Noto Sans SC"/>
                <a:sym typeface="Noto Sans SC"/>
              </a:rPr>
              <a:t>活跃于 Medium、Towards Data Science 及 GitHub，紧跟前沿技术动态。</a:t>
            </a:r>
            <a:endParaRPr lang="en-US" sz="110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E6F3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635000" y="-635000"/>
            <a:ext cx="2540000" cy="2540000"/>
          </a:xfrm>
          <a:prstGeom prst="ellipse">
            <a:avLst/>
          </a:prstGeom>
          <a:solidFill>
            <a:srgbClr val="003366">
              <a:alpha val="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2286000" y="1270000"/>
            <a:ext cx="7620000" cy="4318000"/>
          </a:xfrm>
          <a:prstGeom prst="roundRect">
            <a:avLst>
              <a:gd name="adj" fmla="val 5882"/>
            </a:avLst>
          </a:prstGeom>
          <a:solidFill>
            <a:srgbClr val="FFFFFF">
              <a:alpha val="100000"/>
            </a:srgbClr>
          </a:solidFill>
          <a:ln w="25400" cap="flat" cmpd="sng">
            <a:noFill/>
            <a:prstDash val="solid"/>
            <a:round/>
          </a:ln>
          <a:effectLst>
            <a:outerShdw blurRad="254000" dist="127000" dir="2700000" algn="tl" rotWithShape="0">
              <a:srgbClr val="003366">
                <a:alpha val="15000"/>
              </a:srgbClr>
            </a:outerShdw>
          </a:effectLst>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91200" y="1778000"/>
            <a:ext cx="609600" cy="609600"/>
          </a:xfrm>
          <a:prstGeom prst="rect">
            <a:avLst/>
          </a:prstGeom>
        </p:spPr>
      </p:pic>
      <p:sp>
        <p:nvSpPr>
          <p:cNvPr id="6" name="AutoShape 6"/>
          <p:cNvSpPr/>
          <p:nvPr/>
        </p:nvSpPr>
        <p:spPr>
          <a:xfrm>
            <a:off x="2921000" y="2540000"/>
            <a:ext cx="6350000" cy="762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3600" b="1" i="0" u="none" strike="noStrike">
                <a:solidFill>
                  <a:srgbClr val="003366"/>
                </a:solidFill>
                <a:latin typeface="Noto Sans SC"/>
                <a:ea typeface="Noto Sans SC"/>
                <a:cs typeface="Noto Sans SC"/>
                <a:sym typeface="Noto Sans SC"/>
              </a:rPr>
              <a:t>感谢观看</a:t>
            </a:r>
            <a:endParaRPr lang="en-US" sz="1100"/>
          </a:p>
        </p:txBody>
      </p:sp>
      <p:cxnSp>
        <p:nvCxnSpPr>
          <p:cNvPr id="7" name="Connector 7"/>
          <p:cNvCxnSpPr/>
          <p:nvPr/>
        </p:nvCxnSpPr>
        <p:spPr>
          <a:xfrm rot="-34376">
            <a:off x="5461032" y="3422650"/>
            <a:ext cx="1270000" cy="12700"/>
          </a:xfrm>
          <a:prstGeom prst="straightConnector1">
            <a:avLst/>
          </a:prstGeom>
          <a:solidFill>
            <a:srgbClr val="DEE0E3">
              <a:alpha val="100000"/>
            </a:srgbClr>
          </a:solidFill>
          <a:ln w="25400" cap="flat" cmpd="sng">
            <a:solidFill>
              <a:srgbClr val="DCDCDC">
                <a:alpha val="100000"/>
              </a:srgbClr>
            </a:solidFill>
            <a:prstDash val="solid"/>
            <a:round/>
            <a:headEnd type="none" w="lg" len="lg"/>
            <a:tailEnd type="none" w="lg" len="lg"/>
          </a:ln>
        </p:spPr>
      </p:cxnSp>
      <p:sp>
        <p:nvSpPr>
          <p:cNvPr id="8" name="AutoShape 8"/>
          <p:cNvSpPr/>
          <p:nvPr/>
        </p:nvSpPr>
        <p:spPr>
          <a:xfrm>
            <a:off x="2921000" y="3683000"/>
            <a:ext cx="6350000" cy="762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0" i="0" u="none" strike="noStrike">
                <a:solidFill>
                  <a:srgbClr val="333333"/>
                </a:solidFill>
                <a:latin typeface="Noto Sans SC"/>
                <a:ea typeface="Noto Sans SC"/>
                <a:cs typeface="Noto Sans SC"/>
                <a:sym typeface="Noto Sans SC"/>
              </a:rPr>
              <a:t>希望本次课程能对大家有所帮助，我们下一章再见！</a:t>
            </a:r>
            <a:endParaRPr lang="en-US" sz="1100"/>
          </a:p>
        </p:txBody>
      </p:sp>
    </p:spTree>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12168</Words>
  <Application>WPS 演示</Application>
  <PresentationFormat/>
  <Paragraphs>1121</Paragraphs>
  <Slides>50</Slides>
  <Notes>0</Notes>
  <HiddenSlides>0</HiddenSlides>
  <MMClips>0</MMClips>
  <ScaleCrop>false</ScaleCrop>
  <HeadingPairs>
    <vt:vector size="6" baseType="variant">
      <vt:variant>
        <vt:lpstr>已用的字体</vt:lpstr>
      </vt:variant>
      <vt:variant>
        <vt:i4>15</vt:i4>
      </vt:variant>
      <vt:variant>
        <vt:lpstr>主题</vt:lpstr>
      </vt:variant>
      <vt:variant>
        <vt:i4>2</vt:i4>
      </vt:variant>
      <vt:variant>
        <vt:lpstr>幻灯片标题</vt:lpstr>
      </vt:variant>
      <vt:variant>
        <vt:i4>50</vt:i4>
      </vt:variant>
    </vt:vector>
  </HeadingPairs>
  <TitlesOfParts>
    <vt:vector size="67" baseType="lpstr">
      <vt:lpstr>Arial</vt:lpstr>
      <vt:lpstr>宋体</vt:lpstr>
      <vt:lpstr>Wingdings</vt:lpstr>
      <vt:lpstr>Arial</vt:lpstr>
      <vt:lpstr>Noto Sans SC</vt:lpstr>
      <vt:lpstr>Thonburi</vt:lpstr>
      <vt:lpstr>Roboto Mono</vt:lpstr>
      <vt:lpstr>宋体</vt:lpstr>
      <vt:lpstr>汉仪书宋二KW</vt:lpstr>
      <vt:lpstr>微软雅黑</vt:lpstr>
      <vt:lpstr>汉仪旗黑</vt:lpstr>
      <vt:lpstr>Arial Unicode MS</vt:lpstr>
      <vt:lpstr>Noto Sans SC</vt:lpstr>
      <vt:lpstr>Roboto Mono</vt:lpstr>
      <vt:lpstr>苹方-简</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Soyoger</cp:lastModifiedBy>
  <cp:revision>2</cp:revision>
  <dcterms:created xsi:type="dcterms:W3CDTF">2026-03-09T15:25:59Z</dcterms:created>
  <dcterms:modified xsi:type="dcterms:W3CDTF">2026-03-09T15:25:59Z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E22A0E8FD8C75ED051E4AE69B95DD718_42</vt:lpwstr>
  </property>
  <property fmtid="{D5CDD505-2E9C-101B-9397-08002B2CF9AE}" pid="3" name="KSOProductBuildVer">
    <vt:lpwstr>2052-7.2.1.8947</vt:lpwstr>
  </property>
</Properties>
</file>