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9.svg" ContentType="image/svg+xml"/>
  <Override PartName="/ppt/media/image12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0.svg" ContentType="image/svg+xml"/>
  <Override PartName="/ppt/media/image173.svg" ContentType="image/svg+xml"/>
  <Override PartName="/ppt/media/image176.svg" ContentType="image/svg+xml"/>
  <Override PartName="/ppt/media/image178.svg" ContentType="image/svg+xml"/>
  <Override PartName="/ppt/media/image18.svg" ContentType="image/svg+xml"/>
  <Override PartName="/ppt/media/image180.svg" ContentType="image/svg+xml"/>
  <Override PartName="/ppt/media/image182.svg" ContentType="image/svg+xml"/>
  <Override PartName="/ppt/media/image184.svg" ContentType="image/svg+xml"/>
  <Override PartName="/ppt/media/image186.svg" ContentType="image/svg+xml"/>
  <Override PartName="/ppt/media/image188.svg" ContentType="image/svg+xml"/>
  <Override PartName="/ppt/media/image190.svg" ContentType="image/svg+xml"/>
  <Override PartName="/ppt/media/image192.svg" ContentType="image/svg+xml"/>
  <Override PartName="/ppt/media/image194.svg" ContentType="image/svg+xml"/>
  <Override PartName="/ppt/media/image196.svg" ContentType="image/svg+xml"/>
  <Override PartName="/ppt/media/image198.svg" ContentType="image/svg+xml"/>
  <Override PartName="/ppt/media/image2.svg" ContentType="image/svg+xml"/>
  <Override PartName="/ppt/media/image20.svg" ContentType="image/svg+xml"/>
  <Override PartName="/ppt/media/image201.svg" ContentType="image/svg+xml"/>
  <Override PartName="/ppt/media/image204.svg" ContentType="image/svg+xml"/>
  <Override PartName="/ppt/media/image206.svg" ContentType="image/svg+xml"/>
  <Override PartName="/ppt/media/image208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7.svg" ContentType="image/svg+xml"/>
  <Override PartName="/ppt/media/image49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3.svg" ContentType="image/svg+xml"/>
  <Override PartName="/ppt/media/image66.svg" ContentType="image/svg+xml"/>
  <Override PartName="/ppt/media/image69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301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课程。今天我们将深入探讨自然语言处理领域的核心技术之一——分词技术。分词是理解和处理文本数据的基础，对于后续的文本分析、情感识别、机器翻译等任务至关重要。希望通过本次课程，大家能够系统地掌握分词的基本概念、常用算法和工具，并能够动手实践，训练自己的分词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四个主要部分。首先，我们会介绍分词的基本概念，并对比中英文分词的差异，同时介绍一些常用的分词工具和词云图的制作方法。接着，我们会深入探讨几种常见的分词算法，包括基于规则、统计和深度学习的方法。然后，我们将了解如何利用大语言模型进行分词，并体验其独特的优势。最后，我们会通过一个实战项目，带领大家亲手训练一个属于自己的分词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一部分——分词。在这一节，我们将从最基础的概念入手，了解什么是分词，为什么它如此重要。我们还会对比中英文在分词上的不同挑战，并介绍一些业界常用的分词工具。最后，我们会通过一个有趣的案例，学习如何将分词技术应用于数据可视化，制作出直观的词云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一下什么是分词。简单来说，分词就是将一段连续的文本，按照一定的规则切分成一个个独立的、有意义的词语单元。这个过程看似简单，但却是整个自然语言处理流程的基石。因为后续的所有高级任务，无论是情感分析还是机器翻译，都依赖于分词提供的准确输入。如果分词错误，后续的一切分析都将建立在错误的基础之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分词是基础，但它并非易事。我们面临着诸多挑战。比如，词的定义本身就很模糊，“北京大学”是一个词还是两个词？此外，歧义现象非常普遍，“乒乓球拍卖完了”可以理解为“乒乓球拍/卖完了”，也可以理解为“乒乓球/拍卖/完了”。新词的不断涌现，比如网络流行语，也让分词工具疲于奔命。这些都是我们在分词实践中需要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看英文分词。相比中文，英文分词要简单一些，因为单词之间有空格天然隔开。但是，这并不意味着英文分词就没有挑战。英语单词有各种变形，比如名词的单复数、动词的不同时态。例如，“running”和“ran”都源于“run”，在进行文本分析时，我们通常希望将它们视为同一个词。因此，英文分词常常需要结合词形还原等技术来处理这些变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一个最简单的英文分词例子。在Python中，我们可以直接使用字符串的split方法，按照空格来分割句子。这个例子中，句子被成功地分成了一个个单词。但是，大家注意看结果的最后一个词是“processing.”，句号被包含在了单词里。这说明简单的split方法无法处理标点符号，而且对于单词的变形也无能为力。因此，在实际应用中，我们需要更专业的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LTK是处理英文文本的利器。它提供了丰富的资源和工具。首先，我们需要通过pip安装它。安装完成后，还需要下载一些必要的数据模型，比如用于分词的punkt模型和用于过滤的停用词表。这张截图展示了NLTK的交互式下载界面，我们可以在这里选择需要的数据包进行安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使用NLTK来分词。代码非常简单，导入word_tokenize函数，传入句子即可。对比之前的split方法，我们可以看到，NLTK正确地将句号“.”作为一个独立的标记分割了出来。这使得后续的文本处理更加灵活和准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分词之后，我们通常会进行下一步处理——过滤停用词。停用词是指那些在文本中频繁出现，但对表达核心语义贡献不大的词，比如“is”、“a”、“in”等。通过NLTK的stopwords库，我们可以方便地将这些词过滤掉，从而得到更精炼的词汇列表，这对于后续的文本分析非常有帮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分词之后，我们通常会进行下一步处理——过滤停用词。停用词是指那些在文本中频繁出现，但对表达核心语义贡献不大的词，比如“is”、“a”、“in”等。通过NLTK的stopwords库，我们可以方便地将这些词过滤掉，从而得到更精炼的词汇列表，这对于后续的文本分析非常有帮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众多中文分词工具中，Jieba是使用最广泛的之一。它简单易用，功能强大。我们可以通过pip轻松安装。Jieba支持多种分词模式以适应不同的场景。精确模式是默认模式，追求最准确的切分；全模式会列出所有可能的词；搜索引擎模式则针对搜索场景进行了优化。此外，它还支持并行分词和基于深度学习的Paddle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一个Jieba精确模式的例子。这里我们使用了包含多个2023年新词语的句子。大家可以看到，当HMM参数开启时（这是默认设置），Jieba能够正确识别出“村超”、“新质生产力”这些新词。而当我们关闭HMM参数后，这些新词就被错误地切成了单个的字。这说明HMM模型在处理新词和未登录词方面起到了关键作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全模式。当cut_all参数设为True时，Jieba会把句子中所有可能构成词语的组合都扫描出来。这种方式速度非常快，但缺点也很明显，就是结果中会包含大量的冗余信息和歧义。比如“新词语”会被切分成“新词”、“新词语”、“词语”等多种形式。因此，全模式通常不直接用于最终的文本分析，而是用于生成分词的候选词列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搜索引擎模式是Jieba专为搜索场景设计的。它会在精确模式的基础上，对一些长词进行再次切分。比如“生成式人工智能”，除了作为一个整体，还会被切分成“生成”、“人工”、“智能”等更细的粒度。这样做的好处是，当用户搜索“人工智能”时，即使原文中是“生成式人工智能”，也能被匹配到，从而提高了搜索的召回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处理海量文本数据时，分词速度就变得至关重要。Jieba提供了并行模式来解决这个问题。通过调用enable_parallel函数并指定进程数，Jieba会将文本按行分割，分配到多个CPU核心上同时进行分词处理，最后再将结果合并。这种方式可以充分利用多核CPU的优势，大大提升分词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尽管Jieba的默认词典已经很强大，但在处理特定领域的文本时，我们常常需要加入自己领域的专有名词或新词。Jieba提供了非常方便的自定义词典功能。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我们可以通过add_word方法逐个添加词语，也可以将大量词汇整理成一个词典文件，通过load_userdict方法一次性加载。这对于提高特定场景下的分词精度非常有效。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Jieba，还有很多其他优秀的中文分词工具。比如cutword，它的词频统计更合理，还支持命名实体识别；HanLP是一个功能非常全面的工具包，不仅能分词，还能进行词性标注、句法分析等；THULAC是清华大学的成果，在分词精度上表现出色；而IkAnalyzer则是Java生态中广泛使用的分词工具。大家可以根据自己的需求和技术栈选择合适的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分词技术不仅用于后台的文本分析，还可以用于非常直观的数据可视化——制作词云图。词云图通过词语的大小来表示其出现频率，让我们可以一眼看出文本中的核心信息。制作词云图通常包括文本预处理、分词、去停用词、词频统计和最终的可视化这几个步骤。接下来，我们将通过一个具体的例子来演示如何制作词云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制作词云图，我们首先需要安装必要的Python库。其中，wordcloud是核心库，专门用于生成词云。我们可以通过pip命令轻松安装。此外，我们还会用到之前介绍的jieba进行分词，以及matplotlib和PIL来处理图像和显示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看具体的代码实现。首先，我们定义一个函数来读取文本文件，确保编码正确。接着，我们加载停用词表，为后续的过滤做准备。最后，我们读取目标文档——《2023生成式大模型安全与隐私白皮书》，并逐行进行分词和去停用词处理。这一步的目的是得到一个干净的、只包含有意义词汇的列表，为后续的词频统计和词云图生成做准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得到词汇列表后，我们使用Counter来统计每个词的出现频率。然后，我们调用WordCloud类来生成词云图。在生成时，我们需要指定中文字体以避免乱码，并设置一些参数，比如最大字体大小、最多显示的词语数量、背景颜色等。最后，将生成的词云图保存为图片文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我们生成的词云图。大家可以看到，“模型”、“数据”、“安全”、“隐私”等词汇以较大的字号显示，这说明它们在白皮书中出现的频率最高，是文档的核心主题。通过词云图，我们可以快速、直观地把握一份长文档的主旨，这在信息快速浏览和报告展示中非常有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分词工具的使用后，我们需要深入到技术的底层，看看分词算法是如何工作的。在这一节，我们将系统地介绍三类主流的分词算法：基于规则的方法、基于统计的方法和基于深度学习的方法。理解这些算法的原理，将有助于我们更好地选择和使用分词工具，并为后续的优化和创新打下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规则的分词方法是最基础也是最直观的方法。它的核心思想就像是查字典。我们首先需要一个非常全面的词典，然后用待分词的句子去词典里查找匹配的词语。根据不同的查找规则，比如从左到右还是从右到左，找最长的词还是最短的词，我们就能得到不同的分词结果。这种方法简单直接，但缺点也很明显，词典不可能覆盖所有词汇，尤其是不断出现的新词，而且它也很难处理歧义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最大匹配法是基于规则分词中最常用的一种。正向最大匹配法，就是从左到右扫描句子，每次尝试匹配词典中最长的词。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比如这个例子“研究生命的起源”，词典里有“研究生”这个词。按照FMM，我们会先匹配出“研究生”，但剩下的“命的起源”就无法正确切分了。这说明FMM在处理歧义时存在局限性。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FMM的一些问题，逆向最大匹配法被提出。它的思路是从右往左扫描句子。同样是“研究生命的起源”这个例子，RMM会先从末尾找到“起源”，然后是“生命”，最后是“研究”，得到了正确的分词结果。这说明在某些情况下，RMM比FMM更有效。但这并不意味着RMM是万能的，它同样无法处理所有的歧义现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最大匹配，还有最小匹配法。它的思路是每次优先匹配最短的词。这种方法速度非常快，但缺点也非常突出，就是会把句子切分得非常零碎，产生大量没有意义的单字。比如“北京大学”可能会被切成“北/京/大/学”。因此，最小匹配法现在已经很少被单独使用了，更多的是作为一种辅助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克服基于规则方法的局限性，基于统计的分词方法应运而生。这种方法的核心思想是“让数据说话”。它不再依赖于人工编写的词典，而是通过分析大量的真实文本数据，统计出哪些字组合在一起出现的概率更高，那么它们就更可能是一个词。这种方法能够更好地处理新词和歧义，但代价是需要大量的标注数据进行训练，计算量也更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隐马尔可夫模型（HMM）是基于统计分词方法中的经典代表。在分词任务中，HMM把每个字看作一个观测值，而它在词中的位置（开头、中间、结尾或单独成词）看作隐藏状态。我们首先用大量标注好的语料来训练这个模型，让它学习状态之间的转移规律。然后，对于一个新句子，模型就能通过计算，找出最可能的状态序列，从而完成分词。这种方法在很长一段时间内都是中文分词的主流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近年来，深度学习技术的发展为分词带来了新的突破。基于神经网络的分词方法，如CNN、RNN、LSTM以及现在非常流行的Transformer模型，能够自动从海量数据中学习文本的深层特征和复杂模式。它们不再依赖于人工设计的特征或规则，因此在处理新词、复杂句式和歧义方面表现出了前所未有的优势。当然，这也意味着需要更强大的计算资源和更多的数据来支撑模型的训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了解了传统的分词算法后，我们将目光投向当前最前沿的技术——大语言模型。大语言模型，如GPT系列，在理解和生成人类语言方面展现出了惊人的能力。那么，我们能否利用它们来完成分词任务呢？答案是肯定的。在这一节，我们将探讨如何使用大语言模型进行分词，并看看它相比传统方法有哪些独特的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语言模型最大的优势在于其强大的语义理解能力。传统的分词工具很难处理歧义，但大模型能够读懂上下文，从而做出正确的判断。比如“苹果”这个词，在不同的句子里，模型能清楚地知道它指的是水果还是手机品牌。此外，对于网络上不断出现的新词，大模型也能通过上下文推断出来，而不需要我们手动更新词典。这种能力是传统分词方法难以企及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使用大语言模型分词的过程非常直接。首先，我们需要选择一个合适的模型。然后，关键的一步是设计提示词，我们需要清晰地告诉模型：“请帮我把这句话分词，并用空格分开。”接着，我们通过API调用模型，传入我们的提示词和句子。最后，我们解析模型返回的结果，就能得到分词后的词汇了。整个过程的核心在于如何设计有效的提示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一个具体的例子。这里我们给模型一个提示词，要求它用斜杠分隔来分词。输入的句子是“我最近在学习生成式人工智能，感觉非常有趣。”模型的输出结果非常理想，它不仅正确地切分了常规词汇，还准确地识别出了“生成式人工智能”这个新词，并且正确处理了标点符号。这充分展示了大语言模型在分词任务上的强大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习之后，最关键的是实践。在这最后一部分，我们将进行一个实战训练，亲手训练一个分词器。通过这个项目，大家将掌握从数据准备、选择模型、训练模型到评估模型效果的完整流程，真正将所学知识应用到实际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训练分词器的第一步是准备数据。我们需要一个高质量的、已经分好词的语料库。网上有很多公开的中文分词数据集可供使用。拿到数据后，我们需要进行清洗，去除无用的信息，并确保编码统一。然后，我们需要将数据集划分为训练集、验证集和测试集，用于模型的训练、调优和最终评估。数据的质量直接决定了模型的上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数据，接下来就是选择模型。选择模型时，我们需要综合考虑任务需求、数据量、计算资源和自己的技术背景。如果只是想快速实现一个简单的分词器，可以从基于规则的方法入手。如果数据量充足，并且追求更高的精度，可以选择经典的HMM或CRF模型。如果希望达到最先进的效果，那么基于深度学习的LSTM-CRF或BERT模型会是更好的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训练是一个迭代优化的过程。以CRF模型为例，我们首先需要将文本数据转化为模型能处理的特征。然后，初始化模型参数，开始训练。在训练过程中，模型会不断根据预测结果和真实标签的差异来调整自己的参数。同时，我们需要用验证集来监控模型的表现，及时调整训练策略，避免模型过拟合。最后，将训练好的模型保存下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训练好的模型效果如何，需要用客观的指标来衡量。我们通常使用准确率、精确率、召回率和F1值这几个指标。准确率反映了整体的预测正确率，而精确率和召回率则分别关注预测结果的准确性和完整性。F1值是这两者的综合，是评估模型性能的常用指标。我们将测试集输入到模型中，将预测结果与标准答案进行比对，就能计算出这些指标，从而判断模型的优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给出一个非常简化的训练流程示例。我们可以使用CRF++这样的工具来快速实现一个基于CRF的分词器。整个过程包括数据格式转换、模型训练、预测和评估几个步骤。当然，这只是一个入门级的示例，在实际项目中，特征工程的设计和参数的调优是提升模型性能的关键，这需要大量的实践和经验积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即将结束，我们来简单回顾一下。我们从分词的基本概念出发，学习了常用的分词工具和词云图制作；深入探讨了从规则到统计再到深度学习的各类分词算法；体验了大语言模型带来的新可能；最后还了解了训练分词器的完整流程。希望通过这次课程，大家对分词技术有了全面而深入的理解。分词作为自然语言处理的基础，其重要性不言而喻，希望大家能在未来的学习和工作中灵活运用今天所学的知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现在是问答环节，大家对今天讲的内容有什么疑问，或者有什么想法和建议，都可以提出来，我们一起交流讨论。学习是一个互动的过程，希望大家能积极提问。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非常感谢大家的参与和聆听。本次课程的参考资料已列在屏幕上，大家可以课后继续深入学习。希望这次分享能对大家有所帮助，谢谢！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课程到此结束，再次感谢大家！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4.svg"/><Relationship Id="rId1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0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14.svg"/><Relationship Id="rId1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" Type="http://schemas.openxmlformats.org/officeDocument/2006/relationships/image" Target="../media/image40.svg"/><Relationship Id="rId1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40.svg"/><Relationship Id="rId1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32.svg"/><Relationship Id="rId7" Type="http://schemas.openxmlformats.org/officeDocument/2006/relationships/image" Target="../media/image64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28.svg"/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66.svg"/><Relationship Id="rId1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22.svg"/><Relationship Id="rId7" Type="http://schemas.openxmlformats.org/officeDocument/2006/relationships/image" Target="../media/image70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47.svg"/><Relationship Id="rId3" Type="http://schemas.openxmlformats.org/officeDocument/2006/relationships/image" Target="../media/image67.png"/><Relationship Id="rId2" Type="http://schemas.openxmlformats.org/officeDocument/2006/relationships/image" Target="../media/image14.svg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76.svg"/><Relationship Id="rId13" Type="http://schemas.openxmlformats.org/officeDocument/2006/relationships/image" Target="../media/image75.png"/><Relationship Id="rId12" Type="http://schemas.openxmlformats.org/officeDocument/2006/relationships/image" Target="../media/image74.svg"/><Relationship Id="rId11" Type="http://schemas.openxmlformats.org/officeDocument/2006/relationships/image" Target="../media/image73.png"/><Relationship Id="rId10" Type="http://schemas.openxmlformats.org/officeDocument/2006/relationships/image" Target="../media/image72.svg"/><Relationship Id="rId1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2.svg"/><Relationship Id="rId7" Type="http://schemas.openxmlformats.org/officeDocument/2006/relationships/image" Target="../media/image81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40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svg"/><Relationship Id="rId7" Type="http://schemas.openxmlformats.org/officeDocument/2006/relationships/image" Target="../media/image85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47.svg"/><Relationship Id="rId3" Type="http://schemas.openxmlformats.org/officeDocument/2006/relationships/image" Target="../media/image67.png"/><Relationship Id="rId2" Type="http://schemas.openxmlformats.org/officeDocument/2006/relationships/image" Target="../media/image40.sv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88.svg"/><Relationship Id="rId1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56.svg"/><Relationship Id="rId3" Type="http://schemas.openxmlformats.org/officeDocument/2006/relationships/image" Target="../media/image89.png"/><Relationship Id="rId2" Type="http://schemas.openxmlformats.org/officeDocument/2006/relationships/image" Target="../media/image40.svg"/><Relationship Id="rId1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28.svg"/><Relationship Id="rId3" Type="http://schemas.openxmlformats.org/officeDocument/2006/relationships/image" Target="../media/image61.png"/><Relationship Id="rId2" Type="http://schemas.openxmlformats.org/officeDocument/2006/relationships/image" Target="../media/image40.svg"/><Relationship Id="rId1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70.png"/><Relationship Id="rId4" Type="http://schemas.openxmlformats.org/officeDocument/2006/relationships/image" Target="../media/image40.svg"/><Relationship Id="rId3" Type="http://schemas.openxmlformats.org/officeDocument/2006/relationships/image" Target="../media/image51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2.svg"/><Relationship Id="rId7" Type="http://schemas.openxmlformats.org/officeDocument/2006/relationships/image" Target="../media/image71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14.svg"/><Relationship Id="rId3" Type="http://schemas.openxmlformats.org/officeDocument/2006/relationships/image" Target="../media/image45.png"/><Relationship Id="rId2" Type="http://schemas.openxmlformats.org/officeDocument/2006/relationships/image" Target="../media/image78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png"/><Relationship Id="rId8" Type="http://schemas.openxmlformats.org/officeDocument/2006/relationships/image" Target="../media/image99.svg"/><Relationship Id="rId7" Type="http://schemas.openxmlformats.org/officeDocument/2006/relationships/image" Target="../media/image98.png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95.svg"/><Relationship Id="rId3" Type="http://schemas.openxmlformats.org/officeDocument/2006/relationships/image" Target="../media/image94.png"/><Relationship Id="rId2" Type="http://schemas.openxmlformats.org/officeDocument/2006/relationships/image" Target="../media/image78.svg"/><Relationship Id="rId18" Type="http://schemas.openxmlformats.org/officeDocument/2006/relationships/notesSlide" Target="../notesSlides/notesSlide19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06.svg"/><Relationship Id="rId15" Type="http://schemas.openxmlformats.org/officeDocument/2006/relationships/image" Target="../media/image105.png"/><Relationship Id="rId14" Type="http://schemas.openxmlformats.org/officeDocument/2006/relationships/image" Target="../media/image104.svg"/><Relationship Id="rId13" Type="http://schemas.openxmlformats.org/officeDocument/2006/relationships/image" Target="../media/image103.png"/><Relationship Id="rId12" Type="http://schemas.openxmlformats.org/officeDocument/2006/relationships/image" Target="../media/image102.svg"/><Relationship Id="rId11" Type="http://schemas.openxmlformats.org/officeDocument/2006/relationships/image" Target="../media/image101.png"/><Relationship Id="rId10" Type="http://schemas.openxmlformats.org/officeDocument/2006/relationships/image" Target="../media/image20.svg"/><Relationship Id="rId1" Type="http://schemas.openxmlformats.org/officeDocument/2006/relationships/image" Target="../media/image7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image" Target="../media/image47.svg"/><Relationship Id="rId3" Type="http://schemas.openxmlformats.org/officeDocument/2006/relationships/image" Target="../media/image67.png"/><Relationship Id="rId2" Type="http://schemas.openxmlformats.org/officeDocument/2006/relationships/image" Target="../media/image40.svg"/><Relationship Id="rId1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png"/><Relationship Id="rId8" Type="http://schemas.openxmlformats.org/officeDocument/2006/relationships/image" Target="../media/image114.svg"/><Relationship Id="rId7" Type="http://schemas.openxmlformats.org/officeDocument/2006/relationships/image" Target="../media/image113.png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Relationship Id="rId3" Type="http://schemas.openxmlformats.org/officeDocument/2006/relationships/image" Target="../media/image109.png"/><Relationship Id="rId2" Type="http://schemas.openxmlformats.org/officeDocument/2006/relationships/image" Target="../media/image40.svg"/><Relationship Id="rId12" Type="http://schemas.openxmlformats.org/officeDocument/2006/relationships/notesSlide" Target="../notesSlides/notesSlide2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6.svg"/><Relationship Id="rId1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19.svg"/><Relationship Id="rId3" Type="http://schemas.openxmlformats.org/officeDocument/2006/relationships/image" Target="../media/image118.png"/><Relationship Id="rId2" Type="http://schemas.openxmlformats.org/officeDocument/2006/relationships/image" Target="../media/image24.svg"/><Relationship Id="rId1" Type="http://schemas.openxmlformats.org/officeDocument/2006/relationships/image" Target="../media/image117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" Type="http://schemas.openxmlformats.org/officeDocument/2006/relationships/image" Target="../media/image120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8.svg"/><Relationship Id="rId7" Type="http://schemas.openxmlformats.org/officeDocument/2006/relationships/image" Target="../media/image127.png"/><Relationship Id="rId6" Type="http://schemas.openxmlformats.org/officeDocument/2006/relationships/image" Target="../media/image126.svg"/><Relationship Id="rId5" Type="http://schemas.openxmlformats.org/officeDocument/2006/relationships/image" Target="../media/image125.png"/><Relationship Id="rId4" Type="http://schemas.openxmlformats.org/officeDocument/2006/relationships/image" Target="../media/image124.svg"/><Relationship Id="rId3" Type="http://schemas.openxmlformats.org/officeDocument/2006/relationships/image" Target="../media/image123.png"/><Relationship Id="rId2" Type="http://schemas.openxmlformats.org/officeDocument/2006/relationships/image" Target="../media/image122.svg"/><Relationship Id="rId10" Type="http://schemas.openxmlformats.org/officeDocument/2006/relationships/notesSlide" Target="../notesSlides/notesSlide24.xml"/><Relationship Id="rId1" Type="http://schemas.openxmlformats.org/officeDocument/2006/relationships/image" Target="../media/image12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54.png"/><Relationship Id="rId4" Type="http://schemas.openxmlformats.org/officeDocument/2006/relationships/image" Target="../media/image132.svg"/><Relationship Id="rId3" Type="http://schemas.openxmlformats.org/officeDocument/2006/relationships/image" Target="../media/image131.png"/><Relationship Id="rId2" Type="http://schemas.openxmlformats.org/officeDocument/2006/relationships/image" Target="../media/image130.svg"/><Relationship Id="rId1" Type="http://schemas.openxmlformats.org/officeDocument/2006/relationships/image" Target="../media/image129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png"/><Relationship Id="rId8" Type="http://schemas.openxmlformats.org/officeDocument/2006/relationships/image" Target="../media/image110.svg"/><Relationship Id="rId7" Type="http://schemas.openxmlformats.org/officeDocument/2006/relationships/image" Target="../media/image109.png"/><Relationship Id="rId6" Type="http://schemas.openxmlformats.org/officeDocument/2006/relationships/image" Target="../media/image136.svg"/><Relationship Id="rId5" Type="http://schemas.openxmlformats.org/officeDocument/2006/relationships/image" Target="../media/image135.png"/><Relationship Id="rId4" Type="http://schemas.openxmlformats.org/officeDocument/2006/relationships/image" Target="../media/image132.svg"/><Relationship Id="rId3" Type="http://schemas.openxmlformats.org/officeDocument/2006/relationships/image" Target="../media/image131.png"/><Relationship Id="rId2" Type="http://schemas.openxmlformats.org/officeDocument/2006/relationships/image" Target="../media/image134.svg"/><Relationship Id="rId14" Type="http://schemas.openxmlformats.org/officeDocument/2006/relationships/notesSlide" Target="../notesSlides/notesSlide2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0.svg"/><Relationship Id="rId11" Type="http://schemas.openxmlformats.org/officeDocument/2006/relationships/image" Target="../media/image139.png"/><Relationship Id="rId10" Type="http://schemas.openxmlformats.org/officeDocument/2006/relationships/image" Target="../media/image138.svg"/><Relationship Id="rId1" Type="http://schemas.openxmlformats.org/officeDocument/2006/relationships/image" Target="../media/image133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0.svg"/><Relationship Id="rId7" Type="http://schemas.openxmlformats.org/officeDocument/2006/relationships/image" Target="../media/image109.png"/><Relationship Id="rId6" Type="http://schemas.openxmlformats.org/officeDocument/2006/relationships/image" Target="../media/image144.svg"/><Relationship Id="rId5" Type="http://schemas.openxmlformats.org/officeDocument/2006/relationships/image" Target="../media/image143.png"/><Relationship Id="rId4" Type="http://schemas.openxmlformats.org/officeDocument/2006/relationships/image" Target="../media/image132.svg"/><Relationship Id="rId3" Type="http://schemas.openxmlformats.org/officeDocument/2006/relationships/image" Target="../media/image131.png"/><Relationship Id="rId2" Type="http://schemas.openxmlformats.org/officeDocument/2006/relationships/image" Target="../media/image142.svg"/><Relationship Id="rId10" Type="http://schemas.openxmlformats.org/officeDocument/2006/relationships/notesSlide" Target="../notesSlides/notesSlide27.xml"/><Relationship Id="rId1" Type="http://schemas.openxmlformats.org/officeDocument/2006/relationships/image" Target="../media/image1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146.svg"/><Relationship Id="rId1" Type="http://schemas.openxmlformats.org/officeDocument/2006/relationships/image" Target="../media/image145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4.svg"/><Relationship Id="rId7" Type="http://schemas.openxmlformats.org/officeDocument/2006/relationships/image" Target="../media/image54.png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48.svg"/><Relationship Id="rId3" Type="http://schemas.openxmlformats.org/officeDocument/2006/relationships/image" Target="../media/image147.png"/><Relationship Id="rId2" Type="http://schemas.openxmlformats.org/officeDocument/2006/relationships/image" Target="../media/image78.svg"/><Relationship Id="rId10" Type="http://schemas.openxmlformats.org/officeDocument/2006/relationships/notesSlide" Target="../notesSlides/notesSlide29.xml"/><Relationship Id="rId1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156.svg"/><Relationship Id="rId7" Type="http://schemas.openxmlformats.org/officeDocument/2006/relationships/image" Target="../media/image155.png"/><Relationship Id="rId6" Type="http://schemas.openxmlformats.org/officeDocument/2006/relationships/image" Target="../media/image154.svg"/><Relationship Id="rId5" Type="http://schemas.openxmlformats.org/officeDocument/2006/relationships/image" Target="../media/image153.png"/><Relationship Id="rId4" Type="http://schemas.openxmlformats.org/officeDocument/2006/relationships/image" Target="../media/image152.svg"/><Relationship Id="rId3" Type="http://schemas.openxmlformats.org/officeDocument/2006/relationships/image" Target="../media/image151.png"/><Relationship Id="rId2" Type="http://schemas.openxmlformats.org/officeDocument/2006/relationships/image" Target="../media/image134.svg"/><Relationship Id="rId18" Type="http://schemas.openxmlformats.org/officeDocument/2006/relationships/notesSlide" Target="../notesSlides/notesSlide30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22.svg"/><Relationship Id="rId15" Type="http://schemas.openxmlformats.org/officeDocument/2006/relationships/image" Target="../media/image121.png"/><Relationship Id="rId14" Type="http://schemas.openxmlformats.org/officeDocument/2006/relationships/image" Target="../media/image160.svg"/><Relationship Id="rId13" Type="http://schemas.openxmlformats.org/officeDocument/2006/relationships/image" Target="../media/image159.png"/><Relationship Id="rId12" Type="http://schemas.openxmlformats.org/officeDocument/2006/relationships/image" Target="../media/image158.svg"/><Relationship Id="rId11" Type="http://schemas.openxmlformats.org/officeDocument/2006/relationships/image" Target="../media/image157.png"/><Relationship Id="rId10" Type="http://schemas.openxmlformats.org/officeDocument/2006/relationships/image" Target="../media/image97.svg"/><Relationship Id="rId1" Type="http://schemas.openxmlformats.org/officeDocument/2006/relationships/image" Target="../media/image133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png"/><Relationship Id="rId8" Type="http://schemas.openxmlformats.org/officeDocument/2006/relationships/image" Target="../media/image166.svg"/><Relationship Id="rId7" Type="http://schemas.openxmlformats.org/officeDocument/2006/relationships/image" Target="../media/image165.png"/><Relationship Id="rId6" Type="http://schemas.openxmlformats.org/officeDocument/2006/relationships/image" Target="../media/image164.svg"/><Relationship Id="rId5" Type="http://schemas.openxmlformats.org/officeDocument/2006/relationships/image" Target="../media/image163.png"/><Relationship Id="rId4" Type="http://schemas.openxmlformats.org/officeDocument/2006/relationships/image" Target="../media/image156.svg"/><Relationship Id="rId3" Type="http://schemas.openxmlformats.org/officeDocument/2006/relationships/image" Target="../media/image155.png"/><Relationship Id="rId2" Type="http://schemas.openxmlformats.org/officeDocument/2006/relationships/image" Target="../media/image162.svg"/><Relationship Id="rId16" Type="http://schemas.openxmlformats.org/officeDocument/2006/relationships/notesSlide" Target="../notesSlides/notesSlide31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68.svg"/><Relationship Id="rId13" Type="http://schemas.openxmlformats.org/officeDocument/2006/relationships/image" Target="../media/image167.png"/><Relationship Id="rId12" Type="http://schemas.openxmlformats.org/officeDocument/2006/relationships/image" Target="../media/image108.svg"/><Relationship Id="rId11" Type="http://schemas.openxmlformats.org/officeDocument/2006/relationships/image" Target="../media/image107.png"/><Relationship Id="rId10" Type="http://schemas.openxmlformats.org/officeDocument/2006/relationships/image" Target="../media/image134.svg"/><Relationship Id="rId1" Type="http://schemas.openxmlformats.org/officeDocument/2006/relationships/image" Target="../media/image16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0.svg"/><Relationship Id="rId1" Type="http://schemas.openxmlformats.org/officeDocument/2006/relationships/image" Target="../media/image109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73.svg"/><Relationship Id="rId7" Type="http://schemas.openxmlformats.org/officeDocument/2006/relationships/image" Target="../media/image172.png"/><Relationship Id="rId6" Type="http://schemas.openxmlformats.org/officeDocument/2006/relationships/image" Target="../media/image16.svg"/><Relationship Id="rId5" Type="http://schemas.openxmlformats.org/officeDocument/2006/relationships/image" Target="../media/image171.png"/><Relationship Id="rId4" Type="http://schemas.openxmlformats.org/officeDocument/2006/relationships/image" Target="../media/image170.svg"/><Relationship Id="rId3" Type="http://schemas.openxmlformats.org/officeDocument/2006/relationships/image" Target="../media/image169.png"/><Relationship Id="rId2" Type="http://schemas.openxmlformats.org/officeDocument/2006/relationships/image" Target="../media/image76.svg"/><Relationship Id="rId10" Type="http://schemas.openxmlformats.org/officeDocument/2006/relationships/notesSlide" Target="../notesSlides/notesSlide33.xml"/><Relationship Id="rId1" Type="http://schemas.openxmlformats.org/officeDocument/2006/relationships/image" Target="../media/image75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8.svg"/><Relationship Id="rId7" Type="http://schemas.openxmlformats.org/officeDocument/2006/relationships/image" Target="../media/image77.png"/><Relationship Id="rId6" Type="http://schemas.openxmlformats.org/officeDocument/2006/relationships/image" Target="../media/image178.svg"/><Relationship Id="rId5" Type="http://schemas.openxmlformats.org/officeDocument/2006/relationships/image" Target="../media/image177.png"/><Relationship Id="rId4" Type="http://schemas.openxmlformats.org/officeDocument/2006/relationships/image" Target="../media/image176.svg"/><Relationship Id="rId3" Type="http://schemas.openxmlformats.org/officeDocument/2006/relationships/image" Target="../media/image175.png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34.xml"/><Relationship Id="rId1" Type="http://schemas.openxmlformats.org/officeDocument/2006/relationships/image" Target="../media/image17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182.svg"/><Relationship Id="rId3" Type="http://schemas.openxmlformats.org/officeDocument/2006/relationships/image" Target="../media/image181.png"/><Relationship Id="rId2" Type="http://schemas.openxmlformats.org/officeDocument/2006/relationships/image" Target="../media/image180.svg"/><Relationship Id="rId1" Type="http://schemas.openxmlformats.org/officeDocument/2006/relationships/image" Target="../media/image179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png"/><Relationship Id="rId8" Type="http://schemas.openxmlformats.org/officeDocument/2006/relationships/image" Target="../media/image74.svg"/><Relationship Id="rId7" Type="http://schemas.openxmlformats.org/officeDocument/2006/relationships/image" Target="../media/image73.png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184.svg"/><Relationship Id="rId3" Type="http://schemas.openxmlformats.org/officeDocument/2006/relationships/image" Target="../media/image183.png"/><Relationship Id="rId2" Type="http://schemas.openxmlformats.org/officeDocument/2006/relationships/image" Target="../media/image122.svg"/><Relationship Id="rId12" Type="http://schemas.openxmlformats.org/officeDocument/2006/relationships/notesSlide" Target="../notesSlides/notesSlide3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48.svg"/><Relationship Id="rId1" Type="http://schemas.openxmlformats.org/officeDocument/2006/relationships/image" Target="../media/image121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0.svg"/><Relationship Id="rId7" Type="http://schemas.openxmlformats.org/officeDocument/2006/relationships/image" Target="../media/image189.png"/><Relationship Id="rId6" Type="http://schemas.openxmlformats.org/officeDocument/2006/relationships/image" Target="../media/image188.svg"/><Relationship Id="rId5" Type="http://schemas.openxmlformats.org/officeDocument/2006/relationships/image" Target="../media/image187.png"/><Relationship Id="rId4" Type="http://schemas.openxmlformats.org/officeDocument/2006/relationships/image" Target="../media/image99.svg"/><Relationship Id="rId3" Type="http://schemas.openxmlformats.org/officeDocument/2006/relationships/image" Target="../media/image98.png"/><Relationship Id="rId2" Type="http://schemas.openxmlformats.org/officeDocument/2006/relationships/image" Target="../media/image186.svg"/><Relationship Id="rId10" Type="http://schemas.openxmlformats.org/officeDocument/2006/relationships/notesSlide" Target="../notesSlides/notesSlide37.xml"/><Relationship Id="rId1" Type="http://schemas.openxmlformats.org/officeDocument/2006/relationships/image" Target="../media/image185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1.png"/><Relationship Id="rId8" Type="http://schemas.openxmlformats.org/officeDocument/2006/relationships/image" Target="../media/image40.svg"/><Relationship Id="rId7" Type="http://schemas.openxmlformats.org/officeDocument/2006/relationships/image" Target="../media/image51.png"/><Relationship Id="rId6" Type="http://schemas.openxmlformats.org/officeDocument/2006/relationships/image" Target="../media/image10.svg"/><Relationship Id="rId5" Type="http://schemas.openxmlformats.org/officeDocument/2006/relationships/image" Target="../media/image174.png"/><Relationship Id="rId4" Type="http://schemas.openxmlformats.org/officeDocument/2006/relationships/image" Target="../media/image24.svg"/><Relationship Id="rId3" Type="http://schemas.openxmlformats.org/officeDocument/2006/relationships/image" Target="../media/image117.png"/><Relationship Id="rId2" Type="http://schemas.openxmlformats.org/officeDocument/2006/relationships/image" Target="../media/image22.svg"/><Relationship Id="rId16" Type="http://schemas.openxmlformats.org/officeDocument/2006/relationships/notesSlide" Target="../notesSlides/notesSlide38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82.svg"/><Relationship Id="rId13" Type="http://schemas.openxmlformats.org/officeDocument/2006/relationships/image" Target="../media/image181.png"/><Relationship Id="rId12" Type="http://schemas.openxmlformats.org/officeDocument/2006/relationships/image" Target="../media/image194.svg"/><Relationship Id="rId11" Type="http://schemas.openxmlformats.org/officeDocument/2006/relationships/image" Target="../media/image193.png"/><Relationship Id="rId10" Type="http://schemas.openxmlformats.org/officeDocument/2006/relationships/image" Target="../media/image192.svg"/><Relationship Id="rId1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5.png"/><Relationship Id="rId8" Type="http://schemas.openxmlformats.org/officeDocument/2006/relationships/image" Target="../media/image16.svg"/><Relationship Id="rId7" Type="http://schemas.openxmlformats.org/officeDocument/2006/relationships/image" Target="../media/image171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47.svg"/><Relationship Id="rId3" Type="http://schemas.openxmlformats.org/officeDocument/2006/relationships/image" Target="../media/image67.png"/><Relationship Id="rId2" Type="http://schemas.openxmlformats.org/officeDocument/2006/relationships/image" Target="../media/image78.svg"/><Relationship Id="rId12" Type="http://schemas.openxmlformats.org/officeDocument/2006/relationships/notesSlide" Target="../notesSlides/notesSlide3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96.svg"/><Relationship Id="rId1" Type="http://schemas.openxmlformats.org/officeDocument/2006/relationships/image" Target="../media/image77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7.png"/><Relationship Id="rId8" Type="http://schemas.openxmlformats.org/officeDocument/2006/relationships/image" Target="../media/image148.svg"/><Relationship Id="rId7" Type="http://schemas.openxmlformats.org/officeDocument/2006/relationships/image" Target="../media/image147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22.svg"/><Relationship Id="rId3" Type="http://schemas.openxmlformats.org/officeDocument/2006/relationships/image" Target="../media/image70.png"/><Relationship Id="rId2" Type="http://schemas.openxmlformats.org/officeDocument/2006/relationships/image" Target="../media/image78.svg"/><Relationship Id="rId12" Type="http://schemas.openxmlformats.org/officeDocument/2006/relationships/notesSlide" Target="../notesSlides/notesSlide4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98.svg"/><Relationship Id="rId1" Type="http://schemas.openxmlformats.org/officeDocument/2006/relationships/image" Target="../media/image77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4.svg"/><Relationship Id="rId7" Type="http://schemas.openxmlformats.org/officeDocument/2006/relationships/image" Target="../media/image103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10.svg"/><Relationship Id="rId3" Type="http://schemas.openxmlformats.org/officeDocument/2006/relationships/image" Target="../media/image174.png"/><Relationship Id="rId2" Type="http://schemas.openxmlformats.org/officeDocument/2006/relationships/image" Target="../media/image34.svg"/><Relationship Id="rId10" Type="http://schemas.openxmlformats.org/officeDocument/2006/relationships/notesSlide" Target="../notesSlides/notesSlide41.xml"/><Relationship Id="rId1" Type="http://schemas.openxmlformats.org/officeDocument/2006/relationships/image" Target="../media/image199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3.png"/><Relationship Id="rId8" Type="http://schemas.openxmlformats.org/officeDocument/2006/relationships/image" Target="../media/image10.svg"/><Relationship Id="rId7" Type="http://schemas.openxmlformats.org/officeDocument/2006/relationships/image" Target="../media/image174.png"/><Relationship Id="rId6" Type="http://schemas.openxmlformats.org/officeDocument/2006/relationships/image" Target="../media/image8.svg"/><Relationship Id="rId5" Type="http://schemas.openxmlformats.org/officeDocument/2006/relationships/image" Target="../media/image202.png"/><Relationship Id="rId4" Type="http://schemas.openxmlformats.org/officeDocument/2006/relationships/image" Target="../media/image201.svg"/><Relationship Id="rId3" Type="http://schemas.openxmlformats.org/officeDocument/2006/relationships/image" Target="../media/image200.png"/><Relationship Id="rId2" Type="http://schemas.openxmlformats.org/officeDocument/2006/relationships/image" Target="../media/image14.svg"/><Relationship Id="rId14" Type="http://schemas.openxmlformats.org/officeDocument/2006/relationships/notesSlide" Target="../notesSlides/notesSlide4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92.svg"/><Relationship Id="rId11" Type="http://schemas.openxmlformats.org/officeDocument/2006/relationships/image" Target="../media/image191.png"/><Relationship Id="rId10" Type="http://schemas.openxmlformats.org/officeDocument/2006/relationships/image" Target="../media/image204.svg"/><Relationship Id="rId1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08.svg"/><Relationship Id="rId5" Type="http://schemas.openxmlformats.org/officeDocument/2006/relationships/image" Target="../media/image207.png"/><Relationship Id="rId4" Type="http://schemas.openxmlformats.org/officeDocument/2006/relationships/image" Target="../media/image180.svg"/><Relationship Id="rId3" Type="http://schemas.openxmlformats.org/officeDocument/2006/relationships/image" Target="../media/image179.png"/><Relationship Id="rId2" Type="http://schemas.openxmlformats.org/officeDocument/2006/relationships/image" Target="../media/image206.svg"/><Relationship Id="rId1" Type="http://schemas.openxmlformats.org/officeDocument/2006/relationships/image" Target="../media/image205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0.svg"/><Relationship Id="rId7" Type="http://schemas.openxmlformats.org/officeDocument/2006/relationships/image" Target="../media/image109.png"/><Relationship Id="rId6" Type="http://schemas.openxmlformats.org/officeDocument/2006/relationships/image" Target="../media/image40.svg"/><Relationship Id="rId5" Type="http://schemas.openxmlformats.org/officeDocument/2006/relationships/image" Target="../media/image51.png"/><Relationship Id="rId4" Type="http://schemas.openxmlformats.org/officeDocument/2006/relationships/image" Target="../media/image14.svg"/><Relationship Id="rId3" Type="http://schemas.openxmlformats.org/officeDocument/2006/relationships/image" Target="../media/image45.png"/><Relationship Id="rId2" Type="http://schemas.openxmlformats.org/officeDocument/2006/relationships/image" Target="../media/image130.svg"/><Relationship Id="rId10" Type="http://schemas.openxmlformats.org/officeDocument/2006/relationships/notesSlide" Target="../notesSlides/notesSlide44.xml"/><Relationship Id="rId1" Type="http://schemas.openxmlformats.org/officeDocument/2006/relationships/image" Target="../media/image12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159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分词技术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自然语言处理核心技术详解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5461032" y="393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55A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6000" y="4191000"/>
            <a:ext cx="254000" cy="254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143500" y="4140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主讲人：[您的姓名]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4572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143500" y="4521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日期：2025年12月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455A64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3.1 分词基础概念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什么是分词 &amp; 中英文分词差异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制作词云图实践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455A64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3.2 常见的分词算法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基于规则的分词方法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基于统计与深度学习的分词方法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455A64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29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3.3 使用大语言模型分词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1016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大语言模型分词的优势分析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应用过程与实际案例演示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455A64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29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实战训练：训练一个分词器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477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数据准备、模型选择与训练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模型评估与优化策略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3.1 分词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6">
            <a:off x="762032" y="1517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55A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3368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66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基本概念解析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492500"/>
            <a:ext cx="2692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深入理解分词的定义与核心价值，探讨其在自然语言处理中的基础地位。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800" y="23368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749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对比与工具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49800" y="3492500"/>
            <a:ext cx="2692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对比中英文分词的差异与挑战，介绍业界主流的分词工具及其适用场景。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3368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432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实战：词云制作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32800" y="3492500"/>
            <a:ext cx="2692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通过实际案例演示，学习如何利用分词技术进行数据可视化，生成直观的词云图。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3.1.1 什么是分词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714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定义：确定词的边界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095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分词就是把一段文本或一句话，分割成一个个有含义的词（Token）或者符号，其核心是为每个词确定精确的边界。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92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365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重要性：NLP任务的基石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3746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分词的准确性直接影响后续任务（如文本分类、情感分析）的结果。准确的分词能提供更精准的语义输入，是模型理解语言的基础。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143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5016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应用：数学化表示与分析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5397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通过分词将文本转化为词袋模型或词向量，从而将自然语言转化为计算机可理解的数学形式，进行量化分析。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分词的难点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词的定义问题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如何准确界定一个“词”的边界？这是分词的基础难题。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562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歧义问题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48200" y="222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同一字符串可能有多种切分方式，导致不同的语义理解。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77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884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新词发现问题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222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随着社会发展，网络新词不断涌现，常规工具难以识别。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06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31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方言口语问题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6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不同地域的方言和口语表达习惯，增加了分词的复杂性。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406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8200" y="4318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156200" y="431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中英文混合问题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48200" y="476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实际文本中中英文常常混合出现，增加了分词的难度。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3.1.2 英文分词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8796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分词特点：天然分隔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0110">
            <a:off x="1143009" y="2406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2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143000" y="2603500"/>
            <a:ext cx="431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英文分词相对简单，因为英文单词之间有天然的空格作为分隔符。这种物理分隔大大降低了分词的难度，通常可以直接通过空格进行初步切分。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18796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主要挑战：形态变化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0110">
            <a:off x="6731009" y="2406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2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731000" y="2603500"/>
            <a:ext cx="431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尽管分隔简单，但英文单词存在丰富的形态变化（如单复数、动词时态等）。为了统一词汇形式，分词时通常需要进行词形还原（Lemmatization）或词干提取（Stemming）等操作。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英文分词示例 - 简单分割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455A6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1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实现代码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08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2225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# 定义示例句子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simple_example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= "Tokenization is a crucial step in natural language processing."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# 使用空格分割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simple_tokens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= simple_example.split(" ")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# 打印结果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print(simple_tokens)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455A6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1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171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08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2225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['Tokenization', 'is', 'a', 'crucial', 'step', 'in', 'natural', 'language', 'processing.']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016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5016500"/>
            <a:ext cx="977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局限性说明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397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Python 的字符串 split 方法可以快速实现简单的分词，但无法处理标点符号（如结尾的句号被误判为单词的一部分）和单词形态变化。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英文分词工具 - NLTK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2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工具简介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NLTK (Natural Language Toolkit) 是处理英文文本的利器，集成了丰富的语料库、词典和训练模型。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16009" y="2914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11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086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安装与配置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492500"/>
            <a:ext cx="4572000" cy="508000"/>
          </a:xfrm>
          <a:prstGeom prst="roundRect">
            <a:avLst>
              <a:gd name="adj" fmla="val 12500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35814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pip install nltk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27500"/>
            <a:ext cx="4572000" cy="1714500"/>
          </a:xfrm>
          <a:prstGeom prst="roundRect">
            <a:avLst>
              <a:gd name="adj" fmla="val 3703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4216400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import nltk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nltk.download('punkt')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nltk.download('stopwords')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0" y="1397000"/>
            <a:ext cx="5334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1651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31000" y="1625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NLTK 下载器界面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l="10817" r="10817"/>
          <a:stretch>
            <a:fillRect/>
          </a:stretch>
        </p:blipFill>
        <p:spPr>
          <a:xfrm>
            <a:off x="6350000" y="2095500"/>
            <a:ext cx="4826000" cy="3556000"/>
          </a:xfrm>
          <a:prstGeom prst="rect">
            <a:avLst/>
          </a:prstGeom>
          <a:noFill/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NLTK分词示例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3302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Roboto Mono"/>
                <a:ea typeface="Roboto Mono"/>
                <a:cs typeface="Roboto Mono"/>
                <a:sym typeface="Roboto Mono"/>
              </a:rPr>
              <a:t>from nltk.tokenize import word_tokenize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55A64"/>
                </a:solidFill>
                <a:latin typeface="Roboto Mono"/>
                <a:ea typeface="Roboto Mono"/>
                <a:cs typeface="Roboto Mono"/>
                <a:sym typeface="Roboto Mono"/>
              </a:rPr>
              <a:t>sentence = "Tokenization is a crucial step..."</a:t>
            </a:r>
            <a:endParaRPr lang="en-US" sz="1300" b="0" i="0" u="none" strike="noStrike">
              <a:solidFill>
                <a:srgbClr val="455A6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55A64"/>
                </a:solidFill>
                <a:latin typeface="Roboto Mono"/>
                <a:ea typeface="Roboto Mono"/>
                <a:cs typeface="Roboto Mono"/>
                <a:sym typeface="Roboto Mono"/>
              </a:rPr>
              <a:t>tokens = word_tokenize(sentence)</a:t>
            </a:r>
            <a:endParaRPr lang="en-US" sz="1300" b="0" i="0" u="none" strike="noStrike">
              <a:solidFill>
                <a:srgbClr val="455A6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55A64"/>
                </a:solidFill>
                <a:latin typeface="Roboto Mono"/>
                <a:ea typeface="Roboto Mono"/>
                <a:cs typeface="Roboto Mono"/>
                <a:sym typeface="Roboto Mono"/>
              </a:rPr>
              <a:t>print(tokens)</a:t>
            </a:r>
            <a:endParaRPr lang="en-US" sz="1300" b="0" i="0" u="none" strike="noStrike">
              <a:solidFill>
                <a:srgbClr val="455A6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3302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1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858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0955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277BD"/>
                </a:solidFill>
                <a:latin typeface="Roboto Mono"/>
                <a:ea typeface="Roboto Mono"/>
                <a:cs typeface="Roboto Mono"/>
                <a:sym typeface="Roboto Mono"/>
              </a:rPr>
              <a:t>['Tokenization', 'is', 'a', 'crucial', 'step', 'in', 'natural', 'language', 'processing', '.']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5270500"/>
            <a:ext cx="977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关键特性说明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NLTK 的 word_tokenize 方法可以更准确地分词，它能够智能识别标点符号并将其作为独立的标记分割出来，这对于后续的句法分析和情感分析至关重要。</a:t>
            </a:r>
            <a:endParaRPr lang="en-US" sz="1400" b="0" i="0" u="none" strike="noStrike">
              <a:solidFill>
                <a:srgbClr val="607D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过滤停用词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2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 (Python)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02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2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222500"/>
            <a:ext cx="4699000" cy="1968500"/>
          </a:xfrm>
          <a:prstGeom prst="roundRect">
            <a:avLst>
              <a:gd name="adj" fmla="val 10322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349500"/>
            <a:ext cx="444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Roboto Mono"/>
                <a:ea typeface="Roboto Mono"/>
                <a:cs typeface="Roboto Mono"/>
                <a:sym typeface="Roboto Mono"/>
              </a:rPr>
              <a:t>from nltk.corpus import stopwords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55A64"/>
                </a:solidFill>
                <a:latin typeface="Roboto Mono"/>
                <a:ea typeface="Roboto Mono"/>
                <a:cs typeface="Roboto Mono"/>
                <a:sym typeface="Roboto Mono"/>
              </a:rPr>
              <a:t>filtered_tokens = [token for token in nltk_tokens \</a:t>
            </a:r>
            <a:endParaRPr lang="en-US" sz="1300" b="0" i="0" u="none" strike="noStrike">
              <a:solidFill>
                <a:srgbClr val="455A6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55A64"/>
                </a:solidFill>
                <a:latin typeface="Roboto Mono"/>
                <a:ea typeface="Roboto Mono"/>
                <a:cs typeface="Roboto Mono"/>
                <a:sym typeface="Roboto Mono"/>
              </a:rPr>
              <a:t>if token not in stopwords.words('english')]</a:t>
            </a:r>
            <a:endParaRPr lang="en-US" sz="1300" b="0" i="0" u="none" strike="noStrike">
              <a:solidFill>
                <a:srgbClr val="455A6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55A64"/>
                </a:solidFill>
                <a:latin typeface="Roboto Mono"/>
                <a:ea typeface="Roboto Mono"/>
                <a:cs typeface="Roboto Mono"/>
                <a:sym typeface="Roboto Mono"/>
              </a:rPr>
              <a:t>print(filtered_tokens)</a:t>
            </a:r>
            <a:endParaRPr lang="en-US" sz="1300" b="0" i="0" u="none" strike="noStrike">
              <a:solidFill>
                <a:srgbClr val="455A6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397000"/>
            <a:ext cx="5207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65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162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02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2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222500"/>
            <a:ext cx="4699000" cy="1968500"/>
          </a:xfrm>
          <a:prstGeom prst="roundRect">
            <a:avLst>
              <a:gd name="adj" fmla="val 10322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04000" y="2349500"/>
            <a:ext cx="444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277BD"/>
                </a:solidFill>
                <a:latin typeface="Roboto Mono"/>
                <a:ea typeface="Roboto Mono"/>
                <a:cs typeface="Roboto Mono"/>
                <a:sym typeface="Roboto Mono"/>
              </a:rPr>
              <a:t>['Tokenization', 'crucial', 'step', 'natural', 'language', 'processing', '.']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10668000" cy="1651000"/>
          </a:xfrm>
          <a:prstGeom prst="roundRect">
            <a:avLst>
              <a:gd name="adj" fmla="val 12307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953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9276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概念说明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2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停用词（如“is”、“a”、“in”）通常是高频但信息量低的词汇。过滤它们可以有效减少数据噪声，突出文本的核心信息，从而提升后续自然语言处理任务的效率和准确性。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3.1.3 中文分词</a:t>
            </a:r>
            <a:endParaRPr lang="en-US" sz="1100"/>
          </a:p>
        </p:txBody>
      </p:sp>
      <p:sp>
        <p:nvSpPr>
          <p:cNvPr id="21" name="AutoShape 3"/>
          <p:cNvSpPr/>
          <p:nvPr/>
        </p:nvSpPr>
        <p:spPr>
          <a:xfrm>
            <a:off x="762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2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23" name="AutoShape 5"/>
          <p:cNvSpPr/>
          <p:nvPr/>
        </p:nvSpPr>
        <p:spPr>
          <a:xfrm>
            <a:off x="1524000" y="177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无明确的分隔边界</a:t>
            </a:r>
            <a:endParaRPr lang="en-US" sz="1100"/>
          </a:p>
        </p:txBody>
      </p:sp>
      <p:sp>
        <p:nvSpPr>
          <p:cNvPr id="24" name="AutoShape 6"/>
          <p:cNvSpPr/>
          <p:nvPr/>
        </p:nvSpPr>
        <p:spPr>
          <a:xfrm>
            <a:off x="1016000" y="2222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中文词与词之间没有空格分隔符，需要通过算法来判断词的边界。</a:t>
            </a:r>
            <a:endParaRPr lang="en-US" sz="1100"/>
          </a:p>
        </p:txBody>
      </p:sp>
      <p:sp>
        <p:nvSpPr>
          <p:cNvPr id="25" name="AutoShape 7"/>
          <p:cNvSpPr/>
          <p:nvPr/>
        </p:nvSpPr>
        <p:spPr>
          <a:xfrm>
            <a:off x="4445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6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27" name="AutoShape 9"/>
          <p:cNvSpPr/>
          <p:nvPr/>
        </p:nvSpPr>
        <p:spPr>
          <a:xfrm>
            <a:off x="5207000" y="177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歧义性</a:t>
            </a:r>
            <a:endParaRPr lang="en-US" sz="1100"/>
          </a:p>
        </p:txBody>
      </p:sp>
      <p:sp>
        <p:nvSpPr>
          <p:cNvPr id="28" name="AutoShape 10"/>
          <p:cNvSpPr/>
          <p:nvPr/>
        </p:nvSpPr>
        <p:spPr>
          <a:xfrm>
            <a:off x="4699000" y="2222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一词多义、多音字现象普遍，不同的切分方式可能产生截然不同的含义。</a:t>
            </a:r>
            <a:endParaRPr lang="en-US" sz="1100"/>
          </a:p>
        </p:txBody>
      </p:sp>
      <p:sp>
        <p:nvSpPr>
          <p:cNvPr id="29" name="AutoShape 11"/>
          <p:cNvSpPr/>
          <p:nvPr/>
        </p:nvSpPr>
        <p:spPr>
          <a:xfrm>
            <a:off x="8128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0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31" name="AutoShape 13"/>
          <p:cNvSpPr/>
          <p:nvPr/>
        </p:nvSpPr>
        <p:spPr>
          <a:xfrm>
            <a:off x="8890000" y="177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新词发现</a:t>
            </a:r>
            <a:endParaRPr lang="en-US" sz="1100"/>
          </a:p>
        </p:txBody>
      </p:sp>
      <p:sp>
        <p:nvSpPr>
          <p:cNvPr id="32" name="AutoShape 14"/>
          <p:cNvSpPr/>
          <p:nvPr/>
        </p:nvSpPr>
        <p:spPr>
          <a:xfrm>
            <a:off x="8382000" y="2222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网络新词、流行语等未登录词不断涌现，对词典的实时更新提出挑战。</a:t>
            </a:r>
            <a:endParaRPr lang="en-US" sz="1100"/>
          </a:p>
        </p:txBody>
      </p:sp>
      <p:sp>
        <p:nvSpPr>
          <p:cNvPr id="33" name="AutoShape 15"/>
          <p:cNvSpPr/>
          <p:nvPr/>
        </p:nvSpPr>
        <p:spPr>
          <a:xfrm>
            <a:off x="762000" y="406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35" name="AutoShape 17"/>
          <p:cNvSpPr/>
          <p:nvPr/>
        </p:nvSpPr>
        <p:spPr>
          <a:xfrm>
            <a:off x="15240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方言口语</a:t>
            </a:r>
            <a:endParaRPr lang="en-US" sz="1100"/>
          </a:p>
        </p:txBody>
      </p:sp>
      <p:sp>
        <p:nvSpPr>
          <p:cNvPr id="36" name="AutoShape 18"/>
          <p:cNvSpPr/>
          <p:nvPr/>
        </p:nvSpPr>
        <p:spPr>
          <a:xfrm>
            <a:off x="1016000" y="4762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不同地域的方言和口语表达习惯差异大，增加了分词系统的处理难度。</a:t>
            </a:r>
            <a:endParaRPr lang="en-US" sz="1100"/>
          </a:p>
        </p:txBody>
      </p:sp>
      <p:sp>
        <p:nvSpPr>
          <p:cNvPr id="37" name="AutoShape 19"/>
          <p:cNvSpPr/>
          <p:nvPr/>
        </p:nvSpPr>
        <p:spPr>
          <a:xfrm>
            <a:off x="4445000" y="406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8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4318000"/>
            <a:ext cx="406400" cy="406400"/>
          </a:xfrm>
          <a:prstGeom prst="rect">
            <a:avLst/>
          </a:prstGeom>
        </p:spPr>
      </p:pic>
      <p:sp>
        <p:nvSpPr>
          <p:cNvPr id="39" name="AutoShape 21"/>
          <p:cNvSpPr/>
          <p:nvPr/>
        </p:nvSpPr>
        <p:spPr>
          <a:xfrm>
            <a:off x="52070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词长度不固定</a:t>
            </a:r>
            <a:endParaRPr lang="en-US" sz="1100"/>
          </a:p>
        </p:txBody>
      </p:sp>
      <p:sp>
        <p:nvSpPr>
          <p:cNvPr id="40" name="AutoShape 22"/>
          <p:cNvSpPr/>
          <p:nvPr/>
        </p:nvSpPr>
        <p:spPr>
          <a:xfrm>
            <a:off x="4699000" y="4762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现代汉语以双字词和多字词为主，词长不固定，难以通过固定长度进行匹配。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中文分词工具 - Jieba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556000" cy="4953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25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工具简介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Jieba是一个高性能的Python中文分词库，拥有活跃的社区支持，支持多种分词模式，是NLP领域的首选工具之一。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10160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403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快速安装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使用pip包管理工具一键安装：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3048000" cy="508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pip install jieba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1397000"/>
            <a:ext cx="6858000" cy="4953000"/>
          </a:xfrm>
          <a:prstGeom prst="roundRect">
            <a:avLst>
              <a:gd name="adj" fmla="val 2564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6000" y="1651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1625600"/>
            <a:ext cx="596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核心分词模式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2159000"/>
            <a:ext cx="3111500" cy="1270000"/>
          </a:xfrm>
          <a:prstGeom prst="roundRect">
            <a:avLst>
              <a:gd name="adj" fmla="val 5000"/>
            </a:avLst>
          </a:prstGeom>
          <a:solidFill>
            <a:srgbClr val="E3F2FD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500" y="2349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334000" y="23114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精确模式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16500" y="2667000"/>
            <a:ext cx="273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试图将句子最精确地切开，适合文本分析。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64500" y="2159000"/>
            <a:ext cx="3111500" cy="1270000"/>
          </a:xfrm>
          <a:prstGeom prst="roundRect">
            <a:avLst>
              <a:gd name="adj" fmla="val 5000"/>
            </a:avLst>
          </a:prstGeom>
          <a:solidFill>
            <a:srgbClr val="E3F2FD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55000" y="23495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572500" y="23114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全模式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55000" y="2667000"/>
            <a:ext cx="273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扫描所有可能成词的词语，速度快但可能有歧义。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826000" y="3556000"/>
            <a:ext cx="3111500" cy="1270000"/>
          </a:xfrm>
          <a:prstGeom prst="roundRect">
            <a:avLst>
              <a:gd name="adj" fmla="val 5000"/>
            </a:avLst>
          </a:prstGeom>
          <a:solidFill>
            <a:srgbClr val="E3F2FD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6500" y="37465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334000" y="37084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搜索引擎模式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16500" y="4064000"/>
            <a:ext cx="273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在精确模式基础上，对长词再次切分，提高召回率。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064500" y="3556000"/>
            <a:ext cx="3111500" cy="1270000"/>
          </a:xfrm>
          <a:prstGeom prst="roundRect">
            <a:avLst>
              <a:gd name="adj" fmla="val 5000"/>
            </a:avLst>
          </a:prstGeom>
          <a:solidFill>
            <a:srgbClr val="E3F2FD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55000" y="37465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572500" y="37084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并行模式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255000" y="4064000"/>
            <a:ext cx="273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利用多进程加速分词，适合处理海量数据。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826000" y="4953000"/>
            <a:ext cx="6350000" cy="1143000"/>
          </a:xfrm>
          <a:prstGeom prst="roundRect">
            <a:avLst>
              <a:gd name="adj" fmla="val 5555"/>
            </a:avLst>
          </a:prstGeom>
          <a:solidFill>
            <a:srgbClr val="E3F2FD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16500" y="51435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5334000" y="51054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Paddle模式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016500" y="5461000"/>
            <a:ext cx="596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基于深度学习框架的分词模式，提供更高的准确率。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Jieba精确模式示例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0F2F1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2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 (Python)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import jieba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sentence = "2023年度十大新词语是：生成式人工智能、全球文明倡议、村超、新质生产力..."</a:t>
            </a:r>
            <a:endParaRPr lang="en-US" sz="1300" b="0" i="0" u="none" strike="noStrike">
              <a:solidFill>
                <a:srgbClr val="546E7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# HMM=True (默认开启)</a:t>
            </a:r>
            <a:endParaRPr lang="en-US" sz="1300" b="0" i="0" u="none" strike="noStrike">
              <a:solidFill>
                <a:srgbClr val="9E9E9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seg1 = jieba.cut(sentence, cut_all=False, HMM=True)</a:t>
            </a:r>
            <a:endParaRPr lang="en-US" sz="1300" b="0" i="0" u="none" strike="noStrike">
              <a:solidFill>
                <a:srgbClr val="546E7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print("HMM开启结果:", list(seg1))</a:t>
            </a:r>
            <a:endParaRPr lang="en-US" sz="1300" b="0" i="0" u="none" strike="noStrike">
              <a:solidFill>
                <a:srgbClr val="546E7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# HMM=False (关闭新词识别)</a:t>
            </a:r>
            <a:endParaRPr lang="en-US" sz="1300" b="0" i="0" u="none" strike="noStrike">
              <a:solidFill>
                <a:srgbClr val="9E9E9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seg2 = jieba.cut(sentence, cut_all=False, HMM=False)</a:t>
            </a:r>
            <a:endParaRPr lang="en-US" sz="1300" b="0" i="0" u="none" strike="noStrike">
              <a:solidFill>
                <a:srgbClr val="546E7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print("HMM关闭结果:", list(seg2))</a:t>
            </a:r>
            <a:endParaRPr lang="en-US" sz="1300" b="0" i="0" u="none" strike="noStrike">
              <a:solidFill>
                <a:srgbClr val="546E7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397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0F2F1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651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858000" y="162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分词效果对比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159000"/>
            <a:ext cx="4699000" cy="1397000"/>
          </a:xfrm>
          <a:prstGeom prst="roundRect">
            <a:avLst>
              <a:gd name="adj" fmla="val 9090"/>
            </a:avLst>
          </a:prstGeom>
          <a:solidFill>
            <a:srgbClr val="E1F5F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2349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23114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HMM=True (默认) - 新词识别成功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67500" y="2667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成功识别“村超”、“新质生产力”等未登录词，分词结果符合语义。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746500"/>
            <a:ext cx="4699000" cy="1397000"/>
          </a:xfrm>
          <a:prstGeom prst="roundRect">
            <a:avLst>
              <a:gd name="adj" fmla="val 9090"/>
            </a:avLst>
          </a:prstGeom>
          <a:solidFill>
            <a:srgbClr val="FFEBE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3937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38989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81B60"/>
                </a:solidFill>
                <a:latin typeface="Noto Sans SC"/>
                <a:ea typeface="Noto Sans SC"/>
                <a:cs typeface="Noto Sans SC"/>
                <a:sym typeface="Noto Sans SC"/>
              </a:rPr>
              <a:t>HMM=False - 新词识别失败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67500" y="4254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无法识别新词，“村超”被错误切分为“村”、“超”，“新质生产力”被切分为单字。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Jieba全模式示例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 (Python)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418">
            <a:off x="1016009" y="2152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349500"/>
            <a:ext cx="4635500" cy="1524000"/>
          </a:xfrm>
          <a:prstGeom prst="roundRect">
            <a:avLst>
              <a:gd name="adj" fmla="val 4166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476500"/>
            <a:ext cx="438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cut_all_mode_segments = jieba.cut(sentence, cut_all=True)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print(list(cut_all_mode_segments))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86500" y="1524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778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模式特点与输出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418">
            <a:off x="6540509" y="2152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2413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2387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分词速度极快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58000" y="2692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909C"/>
                </a:solidFill>
                <a:latin typeface="Noto Sans SC"/>
                <a:ea typeface="Noto Sans SC"/>
                <a:cs typeface="Noto Sans SC"/>
                <a:sym typeface="Noto Sans SC"/>
              </a:rPr>
              <a:t>扫描所有可能的词语组合，算法简单高效，适合快速生成候选词。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3302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3276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存在冗余与歧义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858000" y="3581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909C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输出结果包含大量重叠词语，如“新词语”会被切分为“新词”、“新词语”、“词语”。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4191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4165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58000" y="4470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909C"/>
                </a:solidFill>
                <a:latin typeface="Noto Sans SC"/>
                <a:ea typeface="Noto Sans SC"/>
                <a:cs typeface="Noto Sans SC"/>
                <a:sym typeface="Noto Sans SC"/>
              </a:rPr>
              <a:t>通常不直接用于最终分析，而是作为分词候选词生成的基础步骤。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Jieba搜索引擎模式示例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代码实现示例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1524000"/>
          </a:xfrm>
          <a:prstGeom prst="roundRect">
            <a:avLst>
              <a:gd name="adj" fmla="val 4166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413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# 使用搜索引擎模式分词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search_mode_segments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= jieba.cut_for_search(sentence)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print(list(search_mode_segments))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通过调用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cut_for_search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方法，Jieba会在精确模式的基础上，对长词进行更细粒度的切分，以满足搜索场景的需求。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778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310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分词效果演示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286000"/>
            <a:ext cx="4572000" cy="1016000"/>
          </a:xfrm>
          <a:prstGeom prst="roundRect">
            <a:avLst>
              <a:gd name="adj" fmla="val 625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2413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输入：生成式人工智能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输出：生成 / 生成式 / 人工 / 智能 / 人工智能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9549">
            <a:off x="6350009" y="3486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3746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31000" y="3721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核心适用场景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41910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非常适合用于搜索引擎的分词场景。通过对词汇进行多粒度切分，即使文档中包含的是长词（如“生成式人工智能”），用户搜索短词（如“人工智能”）时也能被匹配到，从而显著提高搜索的召回率。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Jieba并行模式示例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588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代码实现示例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5080000" cy="3683000"/>
          </a:xfrm>
          <a:prstGeom prst="roundRect">
            <a:avLst>
              <a:gd name="adj" fmla="val 172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286000"/>
            <a:ext cx="4826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# 开启并行模式，指定进程数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jieba.enable_parallel(2)</a:t>
            </a:r>
            <a:endParaRPr lang="en-US" sz="1400" b="0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# 待分词文本</a:t>
            </a:r>
            <a:endParaRPr lang="en-US" sz="1400" b="0" i="0" u="none" strike="noStrike">
              <a:solidFill>
                <a:srgbClr val="546E7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sentence = "2023年度十大新词语是：生成式人工智能...显眼包、百模大战..."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# 精确模式分词</a:t>
            </a:r>
            <a:endParaRPr lang="en-US" sz="1400" b="0" i="0" u="none" strike="noStrike">
              <a:solidFill>
                <a:srgbClr val="546E7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result = jieba.cut(sentence, cut_all=False)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print(list(result))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604000" y="1524000"/>
            <a:ext cx="4826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171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20955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将输入文本按行分隔，分配到多个独立的进程中并行处理，最后将各个进程的结果合并输出。这种多进程架构能有效利用多核CPU资源。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3937000"/>
            <a:ext cx="4826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412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408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主要优势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58000" y="45085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在处理海量文本数据时，相比单线程模式，并行分词能显著减少处理时间，大幅提升系统的吞吐量和响应速度。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Jieba自定义词典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添加单个词 (add_word)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699000" cy="1143000"/>
          </a:xfrm>
          <a:prstGeom prst="roundRect">
            <a:avLst>
              <a:gd name="adj" fmla="val 5555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413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jieba.add_word('生成式人工智能')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jieba.add_word('新质生产力')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7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加载自定义词典文件 (load_userdict)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286000"/>
            <a:ext cx="4699000" cy="1143000"/>
          </a:xfrm>
          <a:prstGeom prst="roundRect">
            <a:avLst>
              <a:gd name="adj" fmla="val 5555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2413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jieba.load_userdict('user_dict.txt')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格式：词\t词频\t词性 (如：云计算 5 n)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3180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核心作用与价值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481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495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通过添加自定义词典，可以让Jieba精准识别特定领域的专有名词、网络新词或行业术语，有效解决未登录词的分词问题，显著提高分词的准确性和召回率。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其他中文分词工具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455A6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52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cutword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418">
            <a:off x="1016009" y="2216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3495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词频统计更合理，支持命名实体识别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分词速度快，性能表现优异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86500" y="1524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455A6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1752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HanLP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418">
            <a:off x="6540509" y="2216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540500" y="23495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功能全面的自然语言处理工具包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分词精度高，支持多语言处理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455A6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292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THULAC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418">
            <a:off x="1016009" y="4756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48895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清华大学自然语言处理实验室开发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分词效果优秀，学术背景深厚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86500" y="4064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455A6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31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4292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IkAnalyzer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418">
            <a:off x="6540509" y="4756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540500" y="48895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基于Java开发的轻量级分词工具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广泛应用于搜索引擎领域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3.1.4 制作词云图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2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词云图是一种以词频为基础的可视化工具，通过词的大小和颜色来展示文本中关键词的重要程度，直观呈现核心信息。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16009" y="3168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403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文本分析与挖掘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热点话题与舆情分析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市场调研与用户反馈分析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报告展示与可视化汇报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0" y="1397000"/>
            <a:ext cx="5080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1651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31000" y="162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制作步骤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2159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2987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2222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1. 文本预处理：</a:t>
            </a:r>
            <a:r>
              <a:rPr lang="en-US" sz="1400" b="0" i="0" u="none" strike="noStrike">
                <a:solidFill>
                  <a:srgbClr val="646E78"/>
                </a:solidFill>
                <a:latin typeface="Noto Sans SC"/>
                <a:ea typeface="Noto Sans SC"/>
                <a:cs typeface="Noto Sans SC"/>
                <a:sym typeface="Noto Sans SC"/>
              </a:rPr>
              <a:t>清洗数据，去除无关信息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8575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9972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2921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2. 分词：</a:t>
            </a:r>
            <a:r>
              <a:rPr lang="en-US" sz="1400" b="0" i="0" u="none" strike="noStrike">
                <a:solidFill>
                  <a:srgbClr val="646E78"/>
                </a:solidFill>
                <a:latin typeface="Noto Sans SC"/>
                <a:ea typeface="Noto Sans SC"/>
                <a:cs typeface="Noto Sans SC"/>
                <a:sym typeface="Noto Sans SC"/>
              </a:rPr>
              <a:t>将连续文本切分成独立词语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556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6957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3619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3. 去停用词：</a:t>
            </a:r>
            <a:r>
              <a:rPr lang="en-US" sz="1400" b="0" i="0" u="none" strike="noStrike">
                <a:solidFill>
                  <a:srgbClr val="646E78"/>
                </a:solidFill>
                <a:latin typeface="Noto Sans SC"/>
                <a:ea typeface="Noto Sans SC"/>
                <a:cs typeface="Noto Sans SC"/>
                <a:sym typeface="Noto Sans SC"/>
              </a:rPr>
              <a:t>过滤掉无意义的高频词（如“的”）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42545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43942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21500" y="4318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4. 词频统计：</a:t>
            </a:r>
            <a:r>
              <a:rPr lang="en-US" sz="1400" b="0" i="0" u="none" strike="noStrike">
                <a:solidFill>
                  <a:srgbClr val="646E78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计算每个词在文本中出现的频率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4953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7000" y="50927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21500" y="5016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5. 词云图展示：</a:t>
            </a:r>
            <a:r>
              <a:rPr lang="en-US" sz="1400" b="0" i="0" u="none" strike="noStrike">
                <a:solidFill>
                  <a:srgbClr val="646E78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使用可视化库生成最终词云图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词云图制作示例 - 准备工作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9685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730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核心库: wordcloud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Python中制作词云图最常用的库，提供了丰富的参数定制化词云形状、颜色和尺寸。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9685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99000" y="2730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快速安装方法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175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使用Python包管理工具pip进行安装，命令如下：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pip install wordcloud</a:t>
            </a:r>
            <a:endParaRPr lang="en-US" sz="1400" b="1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685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382000" y="2730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常用辅助库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3175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607D8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jieba：中文分词处理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607D8B"/>
              </a:buClr>
              <a:buChar char="•"/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matplotlib：绘图与显示</a:t>
            </a:r>
            <a:endParaRPr lang="en-US" sz="1400" b="0" i="0" u="none" strike="noStrike">
              <a:solidFill>
                <a:srgbClr val="607D8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607D8B"/>
              </a:buClr>
              <a:buChar char="•"/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PIL：图像处理与遮罩</a:t>
            </a:r>
            <a:endParaRPr lang="en-US" sz="1400" b="0" i="0" u="none" strike="noStrike">
              <a:solidFill>
                <a:srgbClr val="607D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词云图制作示例 - 代码实现（1）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635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764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核心代码实现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7473">
            <a:off x="1016007" y="20891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09664" y="1524000"/>
            <a:ext cx="5842000" cy="49468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定义一个函数，用于读取文本文件内容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def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read_text_file(file_path):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以只读模式和UTF-8编码打开文件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with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open(file_path,</a:t>
            </a:r>
            <a:r>
              <a:rPr lang="en-US" sz="1000" b="0" i="0" u="none" strike="noStrike">
                <a:solidFill>
                  <a:srgbClr val="A0522D"/>
                </a:solidFill>
                <a:latin typeface="Noto Sans SC"/>
                <a:ea typeface="Noto Sans SC"/>
                <a:cs typeface="Noto Sans SC"/>
                <a:sym typeface="Noto Sans SC"/>
              </a:rPr>
              <a:t>'r'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, encoding=</a:t>
            </a:r>
            <a:r>
              <a:rPr lang="en-US" sz="1000" b="0" i="0" u="none" strike="noStrike">
                <a:solidFill>
                  <a:srgbClr val="A0522D"/>
                </a:solidFill>
                <a:latin typeface="Noto Sans SC"/>
                <a:ea typeface="Noto Sans SC"/>
                <a:cs typeface="Noto Sans SC"/>
                <a:sym typeface="Noto Sans SC"/>
              </a:rPr>
              <a:t>'utf-8'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f: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读取文件的所有行并返回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return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f.readlines()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调用函数读取停用词文件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stop_words = read_text_file(</a:t>
            </a:r>
            <a:r>
              <a:rPr lang="en-US" sz="1000" b="0" i="0" u="none" strike="noStrike">
                <a:solidFill>
                  <a:srgbClr val="A0522D"/>
                </a:solidFill>
                <a:latin typeface="Noto Sans SC"/>
                <a:ea typeface="Noto Sans SC"/>
                <a:cs typeface="Noto Sans SC"/>
                <a:sym typeface="Noto Sans SC"/>
              </a:rPr>
              <a:t>"stopwords.txt"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去除停用词中的换行符，并生成一个列表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stop_words = [word.replace(</a:t>
            </a:r>
            <a:r>
              <a:rPr lang="en-US" sz="1000" b="0" i="0" u="none" strike="noStrike">
                <a:solidFill>
                  <a:srgbClr val="A0522D"/>
                </a:solidFill>
                <a:latin typeface="Noto Sans SC"/>
                <a:ea typeface="Noto Sans SC"/>
                <a:cs typeface="Noto Sans SC"/>
                <a:sym typeface="Noto Sans SC"/>
              </a:rPr>
              <a:t>"\n"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sz="1000" b="0" i="0" u="none" strike="noStrike">
                <a:solidFill>
                  <a:srgbClr val="A0522D"/>
                </a:solidFill>
                <a:latin typeface="Noto Sans SC"/>
                <a:ea typeface="Noto Sans SC"/>
                <a:cs typeface="Noto Sans SC"/>
                <a:sym typeface="Noto Sans SC"/>
              </a:rPr>
              <a:t>''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word</a:t>
            </a: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stop_words]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调用函数读取目标文档（白皮书）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lines = read_text_file(</a:t>
            </a:r>
            <a:r>
              <a:rPr lang="en-US" sz="1000" b="0" i="0" u="none" strike="noStrike">
                <a:solidFill>
                  <a:srgbClr val="A0522D"/>
                </a:solidFill>
                <a:latin typeface="Noto Sans SC"/>
                <a:ea typeface="Noto Sans SC"/>
                <a:cs typeface="Noto Sans SC"/>
                <a:sym typeface="Noto Sans SC"/>
              </a:rPr>
              <a:t>'2023生成式大模型安全与隐私白皮书.txt'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创建一个空列表，用于存储分词结果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segments = []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遍历文档中的每一行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line</a:t>
            </a: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lines: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跳过空行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if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line.strip() ==</a:t>
            </a:r>
            <a:r>
              <a:rPr lang="en-US" sz="1000" b="0" i="0" u="none" strike="noStrike">
                <a:solidFill>
                  <a:srgbClr val="A0522D"/>
                </a:solidFill>
                <a:latin typeface="Noto Sans SC"/>
                <a:ea typeface="Noto Sans SC"/>
                <a:cs typeface="Noto Sans SC"/>
                <a:sym typeface="Noto Sans SC"/>
              </a:rPr>
              <a:t>''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continue</a:t>
            </a:r>
            <a:endParaRPr lang="en-US" sz="1000" b="0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使用Jieba进行精确模式分词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segs = jieba.lcut(line, cut_all=</a:t>
            </a: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False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过滤掉停用词和空字符串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segs = [seg</a:t>
            </a: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seg</a:t>
            </a: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segs</a:t>
            </a: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if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seg</a:t>
            </a: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not in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stop_words</a:t>
            </a:r>
            <a:r>
              <a:rPr lang="en-US" sz="10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and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seg.strip() !=</a:t>
            </a:r>
            <a:r>
              <a:rPr lang="en-US" sz="1000" b="0" i="0" u="none" strike="noStrike">
                <a:solidFill>
                  <a:srgbClr val="A0522D"/>
                </a:solidFill>
                <a:latin typeface="Noto Sans SC"/>
                <a:ea typeface="Noto Sans SC"/>
                <a:cs typeface="Noto Sans SC"/>
                <a:sym typeface="Noto Sans SC"/>
              </a:rPr>
              <a:t>''</a:t>
            </a: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# 将处理后的分词结果添加到总列表中</a:t>
            </a:r>
            <a:endParaRPr lang="en-US" sz="10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segments.extend(segs)</a:t>
            </a:r>
            <a:endParaRPr lang="en-US" sz="10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366000" y="1524000"/>
            <a:ext cx="4064000" cy="4572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0" y="171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001000" y="16764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核心步骤解析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2277">
            <a:off x="7620011" y="20891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0" y="2286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937500" y="2247900"/>
            <a:ext cx="323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1. 读取文本文件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937500" y="2603500"/>
            <a:ext cx="323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定义read_text_file函数，实现文件读取功能，确保编码统一为UTF-8。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0" y="3556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937500" y="3517900"/>
            <a:ext cx="323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2. 加载停用词表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937500" y="3873500"/>
            <a:ext cx="323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调用函数读取停用词文件，并对其进行预处理，去除换行符，以便后续使用。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0" y="4826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937500" y="4787900"/>
            <a:ext cx="323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 加载目标文档并分词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937500" y="5143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读取需要分析的目标文档，遍历文档的每一行，使用Jieba进行分词，过滤掉停用词和无效字符，得到干净的词汇列表。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词云图制作示例 - 代码实现（2）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词频统计 (Word Frequency)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418">
            <a:off x="1016009" y="2152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349500"/>
            <a:ext cx="4635500" cy="3556000"/>
          </a:xfrm>
          <a:prstGeom prst="roundRect">
            <a:avLst>
              <a:gd name="adj" fmla="val 1785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476500"/>
            <a:ext cx="43815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# 统计分词结果中各词汇的出现频率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from collections import Counter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word_freq = dict(Counter(segments))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# 查看统计结果示例</a:t>
            </a:r>
            <a:endParaRPr lang="en-US" sz="1400" b="0" i="0" u="none" strike="noStrike">
              <a:solidFill>
                <a:srgbClr val="80808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print("高频词汇示例：", dict(list(word_freq.items())[:5]))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86500" y="1524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778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词云生成与保存 (WordCloud)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418">
            <a:off x="6540509" y="2152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2349500"/>
            <a:ext cx="4635500" cy="3556000"/>
          </a:xfrm>
          <a:prstGeom prst="roundRect">
            <a:avLst>
              <a:gd name="adj" fmla="val 1785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67500" y="2476500"/>
            <a:ext cx="43815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# 配置词云参数并生成图片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wordcloud = WordCloud(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font_path="SimHei.ttf", # 指定中文字体防乱码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max_words=100, background_color="white"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).generate_from_frequencies(word_freq)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# 保存生成的词云图</a:t>
            </a:r>
            <a:endParaRPr lang="en-US" sz="1400" b="0" i="0" u="none" strike="noStrike">
              <a:solidFill>
                <a:srgbClr val="80808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wordcloud.to_file('wordcloud.png')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词云图结果展示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588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1778000"/>
            <a:ext cx="5080000" cy="406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604000" y="1524000"/>
            <a:ext cx="4826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0" y="1778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239000" y="1752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核心关键词分析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0110">
            <a:off x="6858009" y="2216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F2F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6858000" y="2413000"/>
            <a:ext cx="4318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从词云图中可以直观地看到，以下词汇出现频率最高，反映了文档的核心讨论内容：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0277BD"/>
              </a:buClr>
              <a:buChar char="•"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模型与技术：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“模型”、“人工智能”、“训练”等词汇占据显著位置，表明技术架构是核心议题。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0277BD"/>
              </a:buClr>
              <a:buChar char="•"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数据要素：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“数据”一词字号突出，强调了数据在AI发展中的基础地位。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0277BD"/>
              </a:buClr>
              <a:buChar char="•"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安全与伦理：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“安全”与“隐私”的高频出现，体现了行业对合规与风险控制的高度重视。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143000"/>
            <a:ext cx="10668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270000" y="1651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3.2 常见的分词算法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523">
            <a:off x="1270004" y="24066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667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6416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章节简介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111500"/>
            <a:ext cx="965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本节将深入探讨分词技术的核心——分词算法。我们将介绍基于规则、基于统计和基于深度学习的三类主流分词方法，理解它们的原理和优缺点。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4572000"/>
            <a:ext cx="609600" cy="609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33600" y="4572000"/>
            <a:ext cx="609600" cy="609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97200" y="4572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3.2.1 基于规则的分词方法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2279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2413000"/>
            <a:ext cx="2794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基于规则的分词算法是早期的经典方法。其核心在于建立一个包含大量词汇的词典，通过字符串匹配的规则来确定分词结果。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778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基本步骤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4699014" y="2279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4699000" y="2413000"/>
            <a:ext cx="2794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0277BD"/>
              </a:buClr>
              <a:buChar char="•"/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准备词典：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构建尽可能全面的词典库。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0277BD"/>
              </a:buClr>
              <a:buChar char="•"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字符串匹配：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将待分词句子与词典词汇进行匹配。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0277BD"/>
              </a:buClr>
              <a:buChar char="•"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确定结果：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根据最大匹配或最小匹配等规则确定最终结果。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778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方法特点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2279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7" name="AutoShape 17"/>
          <p:cNvSpPr/>
          <p:nvPr/>
        </p:nvSpPr>
        <p:spPr>
          <a:xfrm>
            <a:off x="8382000" y="2413000"/>
            <a:ext cx="2794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0277BD"/>
              </a:buClr>
              <a:buChar char="•"/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优点：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方法简单直观，易于实现。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0277BD"/>
              </a:buClr>
              <a:buChar char="•"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缺点：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对词典依赖性强，难以处理新词和歧义问题。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最大匹配法 - 正向最大匹配（FMM）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2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从句子的开头开始，按照长度优先的原则，与词典中长度尽可能长的词进行匹配。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048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022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执行步骤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92500"/>
            <a:ext cx="203200" cy="203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34544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设定词典中最长词的长度为 max_len。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000500"/>
            <a:ext cx="203200" cy="203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33500" y="39624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从句子起始位置取长度为 max_len 的子串进行查找。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08500"/>
            <a:ext cx="203200" cy="203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44704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匹配成功则切分并继续；失败则去掉最后一个字，重复匹配。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397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165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162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实例演示：研究生命的起源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095500"/>
            <a:ext cx="4699000" cy="457200"/>
          </a:xfrm>
          <a:prstGeom prst="roundRect">
            <a:avLst>
              <a:gd name="adj" fmla="val 44444"/>
            </a:avLst>
          </a:prstGeom>
          <a:solidFill>
            <a:srgbClr val="E0F7FA">
              <a:alpha val="100000"/>
            </a:srgbClr>
          </a:solidFill>
          <a:ln cap="flat" cmpd="sng">
            <a:solidFill>
              <a:srgbClr val="B3DB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04000" y="21590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词典：{研究, 研究生, 生命, 的, 起源} (max_len=3)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730500"/>
            <a:ext cx="4699000" cy="635000"/>
          </a:xfrm>
          <a:prstGeom prst="roundRect">
            <a:avLst>
              <a:gd name="adj" fmla="val 32000"/>
            </a:avLst>
          </a:prstGeom>
          <a:solidFill>
            <a:srgbClr val="F5F5F5">
              <a:alpha val="100000"/>
            </a:srgbClr>
          </a:solidFill>
          <a:ln cap="flat" cmpd="sng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28956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21500" y="27940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第一步：取“研究生”(长度3)，匹配成功，切分。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3492500"/>
            <a:ext cx="4699000" cy="635000"/>
          </a:xfrm>
          <a:prstGeom prst="roundRect">
            <a:avLst>
              <a:gd name="adj" fmla="val 32000"/>
            </a:avLst>
          </a:prstGeom>
          <a:solidFill>
            <a:srgbClr val="F5F5F5">
              <a:alpha val="100000"/>
            </a:srgbClr>
          </a:solidFill>
          <a:ln cap="flat" cmpd="sng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6576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21500" y="35560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剩余句子：“命的起源”。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254500"/>
            <a:ext cx="4699000" cy="635000"/>
          </a:xfrm>
          <a:prstGeom prst="roundRect">
            <a:avLst>
              <a:gd name="adj" fmla="val 32000"/>
            </a:avLst>
          </a:prstGeom>
          <a:solidFill>
            <a:srgbClr val="F5F5F5">
              <a:alpha val="100000"/>
            </a:srgbClr>
          </a:solidFill>
          <a:ln cap="flat" cmpd="sng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44196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921500" y="43180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尝试“命的起”、“命的”、“命”均未找到匹配。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5016500"/>
            <a:ext cx="4699000" cy="762000"/>
          </a:xfrm>
          <a:prstGeom prst="roundRect">
            <a:avLst>
              <a:gd name="adj" fmla="val 26666"/>
            </a:avLst>
          </a:prstGeom>
          <a:solidFill>
            <a:srgbClr val="FFEBEE">
              <a:alpha val="50000"/>
            </a:srgbClr>
          </a:solidFill>
          <a:ln w="12700" cap="flat" cmpd="sng">
            <a:solidFill>
              <a:srgbClr val="EF9A9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51816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921500" y="51435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62828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局限性：此例中FMM切分失败，说明其在处理歧义时存在不足。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最大匹配法 - 逆向最大匹配（RMM）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2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549">
            <a:off x="1016009" y="2025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159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与正向最大匹配法相反，RMM从句子的末尾开始，每次尝试匹配词典中最长的词。扫描方向的改变使其在处理特定歧义时表现更优。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048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02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执行步骤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549">
            <a:off x="1016009" y="3422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3556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1. 设定最大词长，从文本末尾开始截取字符串。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2. 若匹配成功则切分，否则长度减一继续匹配。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3. 重复上述过程直到文本处理完毕。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特点对比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549">
            <a:off x="1016009" y="481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4953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RMM在处理某些歧义（如“研究生命的起源”）时比FMM更准确，但同样无法解决所有歧义问题，且实现复杂度略高于FMM。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0" y="1397000"/>
            <a:ext cx="5080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165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731000" y="162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实例演示：研究生命的起源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549">
            <a:off x="6350009" y="2025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350000" y="2222500"/>
            <a:ext cx="4572000" cy="508000"/>
          </a:xfrm>
          <a:prstGeom prst="roundRect">
            <a:avLst>
              <a:gd name="adj" fmla="val 40000"/>
            </a:avLst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词典：研究、研究生、生命、的、起源 (最大词长=3)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2857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Step 1: 初始句 = 研究生命的起源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3175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取末尾3字“的起源”→ 未找到；取2字“起源”→ 匹配成功。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剩余：研究生命的 | 切分结果：起源</a:t>
            </a:r>
            <a:endParaRPr lang="en-US" sz="13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350000" y="3746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Step 2: 剩余句 = 研究生命的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4064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取末尾3字“生命的”→ 未找到；取2字“生命”→ 匹配成功。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剩余：研究的 | 切分结果：生命 / 起源</a:t>
            </a:r>
            <a:endParaRPr lang="en-US" sz="13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0" y="4635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Step 3: 剩余句 = 研究的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4953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取末尾3字“研究的”→ 未找到；取2字“研究”→ 匹配成功。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剩余：的 | 切分结果：研究 / 生命 / 起源</a:t>
            </a:r>
            <a:endParaRPr lang="en-US" sz="13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50000" y="5524500"/>
            <a:ext cx="4572000" cy="508000"/>
          </a:xfrm>
          <a:prstGeom prst="roundRect">
            <a:avLst>
              <a:gd name="adj" fmla="val 4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最终分词结果：研究 / 生命 / 的 / 起源 (正确)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最小匹配法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413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与最大匹配法相反，最小匹配法在分词过程中，优先匹配词典中长度最短的词。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778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特点分析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4699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2413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优点：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匹配速度快，计算复杂度低。</a:t>
            </a: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EF5350"/>
                </a:solidFill>
                <a:latin typeface="Noto Sans SC"/>
                <a:ea typeface="Noto Sans SC"/>
                <a:cs typeface="Noto Sans SC"/>
                <a:sym typeface="Noto Sans SC"/>
              </a:rPr>
              <a:t>缺点：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分词结果过于琐碎，容易产生大量无意义的单字，严重影响后续文本分析效果。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778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382000" y="2413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由于其局限性，目前很少单独使用。通常作为其他算法的补充策略，或在对速度要求极高的特定场景下使用。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3.2.2 基于统计的分词方法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核心思想：数据驱动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不依赖人工词典，通过对大规模语料的统计分析，计算词语出现的概率，以此来确定分词边界。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77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基本假设：共现频率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22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在一个句子中，相邻的字同时出现的频率越高，它们就越可能构成一个词。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常用模型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76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主要包括隐马尔可夫模型（HMM）、条件随机场（CRF）等经典机器学习模型。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方法特点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76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优势：能较好处理新词和歧义。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局限：依赖大量标注语料，计算复杂度较高。</a:t>
            </a:r>
            <a:endParaRPr lang="en-US" sz="1400" b="0" i="0" u="none" strike="noStrike">
              <a:solidFill>
                <a:srgbClr val="546E7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基于统计的分词方法 - 隐马尔可夫模型（HMM）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1435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核心概念与状态定义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418">
            <a:off x="1016009" y="2152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286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HMM将分词视为序列标注问题，每个字被标注为以下四种状态之一：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222500" cy="762000"/>
          </a:xfrm>
          <a:prstGeom prst="roundRect">
            <a:avLst>
              <a:gd name="adj" fmla="val 26666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238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1496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B (Begin)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词的开始位置</a:t>
            </a:r>
            <a:endParaRPr lang="en-US" sz="12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429000" y="3048000"/>
            <a:ext cx="2222500" cy="762000"/>
          </a:xfrm>
          <a:prstGeom prst="roundRect">
            <a:avLst>
              <a:gd name="adj" fmla="val 26666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0" y="3238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873500" y="31496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M (Middle)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词的中间位置</a:t>
            </a:r>
            <a:endParaRPr lang="en-US" sz="12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3937000"/>
            <a:ext cx="2222500" cy="762000"/>
          </a:xfrm>
          <a:prstGeom prst="roundRect">
            <a:avLst>
              <a:gd name="adj" fmla="val 26666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1275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40386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E (End)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词的结束位置</a:t>
            </a:r>
            <a:endParaRPr lang="en-US" sz="12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429000" y="3937000"/>
            <a:ext cx="2222500" cy="762000"/>
          </a:xfrm>
          <a:prstGeom prst="roundRect">
            <a:avLst>
              <a:gd name="adj" fmla="val 26666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56000" y="4127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873500" y="40386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 (Single)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单个字成词</a:t>
            </a:r>
            <a:endParaRPr lang="en-US" sz="12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86500" y="1524000"/>
            <a:ext cx="51435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1778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分词流程与应用示例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418">
            <a:off x="6540509" y="2152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2413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21500" y="2387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1. 模型训练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使用标注语料训练模型，学习状态转移概率和观测概率。</a:t>
            </a:r>
            <a:endParaRPr lang="en-US" sz="12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0500" y="3175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921500" y="3149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2. 序列预测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使用Viterbi算法解码，找出最可能的状态序列以确定边界。</a:t>
            </a:r>
            <a:endParaRPr lang="en-US" sz="12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540500" y="3937000"/>
            <a:ext cx="4635500" cy="1905000"/>
          </a:xfrm>
          <a:prstGeom prst="roundRect">
            <a:avLst>
              <a:gd name="adj" fmla="val 10666"/>
            </a:avLst>
          </a:prstGeom>
          <a:solidFill>
            <a:srgbClr val="ECEF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67500" y="40640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985000" y="4038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分词示例：“我爱中国”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67500" y="4445000"/>
            <a:ext cx="438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标注序列：</a:t>
            </a:r>
            <a:r>
              <a:rPr lang="en-US" sz="1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 / B / E / 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分词结果：</a:t>
            </a:r>
            <a:r>
              <a:rPr lang="en-US" sz="1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我 / 爱 / 中国</a:t>
            </a:r>
            <a:endParaRPr lang="en-US" sz="1200" b="1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3.2.3 基于深度学习的分词方法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2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发展趋势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随着深度学习技术的兴起，基于神经网络的分词方法逐渐成为主流，能够自动学习文本的深层特征。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16009" y="2914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11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086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492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分词精度高，对新词和复杂句式处理能力强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无需人工设计特征，端到端学习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9549">
            <a:off x="1016009" y="437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72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54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面临挑战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953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依赖大量标注训练数据和高性能计算资源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模型复杂度高，解释性相对较差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096000" y="1397000"/>
            <a:ext cx="5334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1651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731000" y="1625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常用深度学习模型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159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2349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2286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CNN (卷积神经网络)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85000" y="2603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擅长提取文本的局部特征，捕捉关键的字或词组合模式。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3302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3492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3429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RNN / LSTM / GRU (循环神经网络)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985000" y="3746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擅长处理序列数据，能够有效捕捉上下文的时序依赖信息。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4445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0500" y="46355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85000" y="4572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 (自注意力机制)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985000" y="4889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基于自注意力机制，能够更好地建模长距离依赖关系，并行计算能力强。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3.3 使用大语言模型分词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032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0066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章节简介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407">
            <a:off x="1143004" y="24701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143000" y="2667000"/>
            <a:ext cx="990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本节将探讨如何利用大语言模型（LLM）进行分词任务，体验其在语义理解和处理复杂文本方面的独特优势。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大语言模型分词的优势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强大的语义理解能力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能够理解上下文语义，有效解决歧义问题。例如，“苹果”在不同语境下会被正确识别为水果或品牌，避免了传统分词的局限性。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77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优秀的新词处理能力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22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无需频繁更新词典，能够根据上下文语境动态推断出新词的含义和边界，适应网络用语和专业术语的快速变化。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灵活的提示词工程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76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支持通过设计不同的提示词（Prompt）来灵活控制分词的粒度和输出格式，满足多样化的下游任务需求。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原生多语言支持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76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打破语言壁垒，原生支持多种语言的分词任务，无需针对每种语言单独训练模型，降低了多语言处理的复杂度。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大语言模型分词应用过程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01. 模型选择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选择合适的大语言模型，例如 GPT-4、Claude 或文心一言等，根据任务需求和性能指标进行评估。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7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02. 提示词设计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设计清晰的提示词，明确告知模型任务目标和输出格式。例如：“请将以下句子进行分词，并用空格分隔：我爱自然语言处理。”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03. 调用模型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1016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API 接口或本地部署环境调用模型，传入精心设计的提示词和待分词的原始文本数据。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04. 结果解析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477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55A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解析模型返回的文本结果，提取并整理出分词后的词汇列表，完成最终的分词任务。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大语言模型分词示例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526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输入提示词 (Prompt)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21336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请将以下中文句子进行分词，并用'/'分隔：我最近在学习生成式人工智能，感觉非常有趣。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4036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模型输出 (Output)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37846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我/最近/在/学习/生成式人工智能/，/感觉/非常/有趣/。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080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0546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结果分析 (Analysis)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54356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模型正确识别了“生成式人工智能”这个新词，并准确地进行了分词，同时也正确处理了标点符号。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143000"/>
            <a:ext cx="10668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270000" y="1651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实战训练：训练一个分词器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523">
            <a:off x="1270004" y="24066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7051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667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章节简介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111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本节将通过一个实战项目，带领大家从零开始训练一个属于自己的分词器。我们将学习数据准备、模型选择、训练过程和模型评估的完整流程。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4064000"/>
            <a:ext cx="2159000" cy="1016000"/>
          </a:xfrm>
          <a:prstGeom prst="roundRect">
            <a:avLst>
              <a:gd name="adj" fmla="val 625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0500" y="4254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635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数据准备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94100" y="4064000"/>
            <a:ext cx="2159000" cy="1016000"/>
          </a:xfrm>
          <a:prstGeom prst="roundRect">
            <a:avLst>
              <a:gd name="adj" fmla="val 625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84600" y="4254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784600" y="4635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模型选择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918200" y="4064000"/>
            <a:ext cx="2159000" cy="1016000"/>
          </a:xfrm>
          <a:prstGeom prst="roundRect">
            <a:avLst>
              <a:gd name="adj" fmla="val 625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8700" y="4254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108700" y="4635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训练过程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4064000"/>
            <a:ext cx="2159000" cy="1016000"/>
          </a:xfrm>
          <a:prstGeom prst="roundRect">
            <a:avLst>
              <a:gd name="adj" fmla="val 625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45500" y="4254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445500" y="4635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模型评估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分词器训练步骤 - 数据准备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01. 语料库选择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选择合适的中文语料库是基础，常用的有人民日报语料、SIGHAN分词数据集等。高质量的语料决定了模型的上限。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7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02. 数据预处理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清洗数据：去除噪声、特殊符号、无关字符。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55A64"/>
              </a:buClr>
              <a:buChar char="•"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统一编码：将文本统一转换为UTF-8编码，避免乱码。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03. 数据标注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1016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对语料进行分词标注，通常使用空格分隔词语。例如：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原句：“我爱中国” → 标注后：“我 爱 中国”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04. 数据集划分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477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将标注好的数据划分为训练集、验证集和测试集，用于模型训练、调优和评估。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常用比例：训练集 80% / 验证集 10% / 测试集 10%</a:t>
            </a:r>
            <a:endParaRPr lang="en-US" sz="1400" b="0" i="0" u="none" strike="noStrike">
              <a:solidFill>
                <a:srgbClr val="45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分词器训练步骤 - 模型选择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核心考量因素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9291">
            <a:off x="1016009" y="208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2606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任务需求导向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权衡精度与速度，明确业务场景的核心诉求。</a:t>
            </a:r>
            <a:endParaRPr lang="en-US" sz="1400" b="0" i="0" u="none" strike="noStrike">
              <a:solidFill>
                <a:srgbClr val="607D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9591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数据量匹配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小数据选简单模型(HMM/CRF)，大数据选深度模型。</a:t>
            </a:r>
            <a:endParaRPr lang="en-US" sz="1400" b="0" i="0" u="none" strike="noStrike">
              <a:solidFill>
                <a:srgbClr val="607D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683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6576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计算资源限制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复杂深度学习模型（如BERT）需要较强的GPU支持。</a:t>
            </a:r>
            <a:endParaRPr lang="en-US" sz="1400" b="0" i="0" u="none" strike="noStrike">
              <a:solidFill>
                <a:srgbClr val="607D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81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3561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技术栈兼容性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优先选择团队熟悉的框架和模型结构以降低维护成本。</a:t>
            </a:r>
            <a:endParaRPr lang="en-US" sz="1400" b="0" i="0" u="none" strike="noStrike">
              <a:solidFill>
                <a:srgbClr val="607D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397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65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常用模型选型推荐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208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286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22606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入门级：基于规则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最大匹配法 (MM)，无需训练，快速实现原型。</a:t>
            </a:r>
            <a:endParaRPr lang="en-US" sz="1400" b="0" i="0" u="none" strike="noStrike">
              <a:solidFill>
                <a:srgbClr val="607D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2984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29591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经典级：统计学习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隐马尔可夫模型 (HMM)、条件随机场 (CRF)，平衡效果与效率。</a:t>
            </a:r>
            <a:endParaRPr lang="en-US" sz="1400" b="0" i="0" u="none" strike="noStrike">
              <a:solidFill>
                <a:srgbClr val="607D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3683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36576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进阶级：深度学习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LSTM-CRF、BERT+CRF，当前SOTA方案，精度最高。</a:t>
            </a:r>
            <a:endParaRPr lang="en-US" sz="1400" b="0" i="0" u="none" strike="noStrike">
              <a:solidFill>
                <a:srgbClr val="607D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分词器训练步骤 - 训练过程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01. 特征提取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将每个字及其上下文转换为模型可以理解的特征向量，这是模型训练的基础输入。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77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02. 模型初始化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28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初始化CRF模型的参数，为后续的迭代训练准备初始状态。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77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03. 模型训练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28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使用训练集数据迭代训练，通过反向传播算法不断调整参数，最小化预测误差。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064000"/>
            <a:ext cx="5397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31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04. 参数调优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826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使用验证集监控模型性能，动态调整学习率、正则化系数等超参数，防止过拟合，确保模型泛化能力。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86500" y="4064000"/>
            <a:ext cx="5397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4318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048500" y="431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05. 模型保存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40500" y="4826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训练完成后，将最终的模型参数保存到文件中，以便后续部署和实际应用。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分词器训练步骤 - 模型评估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准确率 (Accuracy)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预测正确的词数占总词数的比例，反映了模型整体的预测正确率。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14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精确率 (Precision)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095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预测为正的词中，实际为正的比例，关注预测结果的准确性。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61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581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召回率 (Recall)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000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实际为正的词中，被预测为正的比例，关注预测结果的完整性。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429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619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581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F1值 (F1-Score)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000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07D8B"/>
                </a:solidFill>
                <a:latin typeface="Noto Sans SC"/>
                <a:ea typeface="Noto Sans SC"/>
                <a:cs typeface="Noto Sans SC"/>
                <a:sym typeface="Noto Sans SC"/>
              </a:rPr>
              <a:t>精确率和召回率的调和平均数，综合衡量模型性能。公式：F1 = 2 * (P * R) / (P + R)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524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5461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评估方法流程：</a:t>
            </a: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将测试集输入到训练好的模型中，得到预测结果，与真实标注进行对比，计算上述指标。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分词器训练示例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01. 数据准备 (Data Preparation)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将原始文本转换为CRF++工具所需的序列标注格式，通常包含字、词性、标签等特征列。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02. 模型训练 (Training)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222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使用CRF++命令行工具进行训练：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$ crf_learn template.txt train.data model</a:t>
            </a:r>
            <a:endParaRPr lang="en-US" sz="1400" b="0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207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911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03. 模型预测 (Prediction)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381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利用训练好的模型对新数据进行分词预测：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$ crf_test -m model test.data &gt; output.txt</a:t>
            </a:r>
            <a:endParaRPr lang="en-US" sz="1400" b="0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3683000"/>
            <a:ext cx="5207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911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04. 结果评估 (Evaluation)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381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对比预测结果(output.txt)与真实标注(test.data)，计算准确率(Precision)、召回率(Recall)等指标。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5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基础概念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理解了分词的定义、重要性和面临的挑战，建立了基础认知。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81500" y="139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43500" y="165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工具实践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09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掌握了NLTK、Jieba等分词工具，并学会制作可视化词云图。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01000" y="139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65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63000" y="165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算法原理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55000" y="209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深入了解基于规则、统计和深度学习的分词算法原理。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556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810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前沿应用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254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体验了大语言模型在分词任务中的强大能力，展望技术未来。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81500" y="3556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3810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143500" y="3810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实战训练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35500" y="4254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了解了训练分词器的完整流程，将理论转化为实际操作能力。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01000" y="3556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55000" y="3810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63000" y="3810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55000" y="4254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分词是NLP的基石，未来将更加智能高效。希望大家灵活运用所学知识。</a:t>
            </a:r>
            <a:endParaRPr lang="en-US"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455A6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032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21336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提问环节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523">
            <a:off x="1270004" y="27241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270000" y="2921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欢迎大家提问交流，共同探讨分词技术的相关问题。学习是一个互动的过程，期待听到您的见解。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4191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41656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保持联系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572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5466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contact@example.com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52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6">
            <a:off x="5461032" y="240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55A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2286000" y="2794000"/>
            <a:ext cx="762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0" y="311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048000" y="30734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参考资料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7800" y="3606800"/>
            <a:ext cx="203200" cy="203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048000" y="3556000"/>
            <a:ext cx="660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《自然语言处理入门》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7800" y="3987800"/>
            <a:ext cx="203200" cy="203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048000" y="3937000"/>
            <a:ext cx="660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Jieba、NLTK 官方文档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17800" y="4368800"/>
            <a:ext cx="203200" cy="203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048000" y="4318000"/>
            <a:ext cx="660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相关学术论文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课程结束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55A64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感谢大家的聆听与参与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588040" y="3803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10200</Words>
  <Application>WPS 演示</Application>
  <PresentationFormat/>
  <Paragraphs>869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63" baseType="lpstr">
      <vt:lpstr>Arial</vt:lpstr>
      <vt:lpstr>宋体</vt:lpstr>
      <vt:lpstr>Wingdings</vt:lpstr>
      <vt:lpstr>Arial</vt:lpstr>
      <vt:lpstr>Noto Sans SC</vt:lpstr>
      <vt:lpstr>Thonburi</vt:lpstr>
      <vt:lpstr>Roboto Mono</vt:lpstr>
      <vt:lpstr>宋体</vt:lpstr>
      <vt:lpstr>汉仪书宋二KW</vt:lpstr>
      <vt:lpstr>微软雅黑</vt:lpstr>
      <vt:lpstr>汉仪旗黑</vt:lpstr>
      <vt:lpstr>Arial Unicode MS</vt:lpstr>
      <vt:lpstr>Noto Sans SC</vt:lpstr>
      <vt:lpstr>Roboto Mono</vt:lpstr>
      <vt:lpstr>苹方-简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Soyoger</cp:lastModifiedBy>
  <cp:revision>2</cp:revision>
  <dcterms:created xsi:type="dcterms:W3CDTF">2026-03-10T15:34:28Z</dcterms:created>
  <dcterms:modified xsi:type="dcterms:W3CDTF">2026-03-10T15:34:28Z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73F0FBB3214F46F0C039B0698D992892_42</vt:lpwstr>
  </property>
  <property fmtid="{D5CDD505-2E9C-101B-9397-08002B2CF9AE}" pid="3" name="KSOProductBuildVer">
    <vt:lpwstr>2052-7.2.1.8947</vt:lpwstr>
  </property>
</Properties>
</file>