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1.svg" ContentType="image/svg+xml"/>
  <Override PartName="/ppt/media/image103.svg" ContentType="image/svg+xml"/>
  <Override PartName="/ppt/media/image105.svg" ContentType="image/svg+xml"/>
  <Override PartName="/ppt/media/image107.svg" ContentType="image/svg+xml"/>
  <Override PartName="/ppt/media/image109.svg" ContentType="image/svg+xml"/>
  <Override PartName="/ppt/media/image11.svg" ContentType="image/svg+xml"/>
  <Override PartName="/ppt/media/image111.svg" ContentType="image/svg+xml"/>
  <Override PartName="/ppt/media/image113.svg" ContentType="image/svg+xml"/>
  <Override PartName="/ppt/media/image116.svg" ContentType="image/svg+xml"/>
  <Override PartName="/ppt/media/image118.svg" ContentType="image/svg+xml"/>
  <Override PartName="/ppt/media/image120.svg" ContentType="image/svg+xml"/>
  <Override PartName="/ppt/media/image122.svg" ContentType="image/svg+xml"/>
  <Override PartName="/ppt/media/image125.svg" ContentType="image/svg+xml"/>
  <Override PartName="/ppt/media/image128.svg" ContentType="image/svg+xml"/>
  <Override PartName="/ppt/media/image13.svg" ContentType="image/svg+xml"/>
  <Override PartName="/ppt/media/image130.svg" ContentType="image/svg+xml"/>
  <Override PartName="/ppt/media/image133.svg" ContentType="image/svg+xml"/>
  <Override PartName="/ppt/media/image135.svg" ContentType="image/svg+xml"/>
  <Override PartName="/ppt/media/image137.svg" ContentType="image/svg+xml"/>
  <Override PartName="/ppt/media/image140.svg" ContentType="image/svg+xml"/>
  <Override PartName="/ppt/media/image142.svg" ContentType="image/svg+xml"/>
  <Override PartName="/ppt/media/image144.svg" ContentType="image/svg+xml"/>
  <Override PartName="/ppt/media/image146.svg" ContentType="image/svg+xml"/>
  <Override PartName="/ppt/media/image15.svg" ContentType="image/svg+xml"/>
  <Override PartName="/ppt/media/image150.svg" ContentType="image/svg+xml"/>
  <Override PartName="/ppt/media/image152.svg" ContentType="image/svg+xml"/>
  <Override PartName="/ppt/media/image154.svg" ContentType="image/svg+xml"/>
  <Override PartName="/ppt/media/image156.svg" ContentType="image/svg+xml"/>
  <Override PartName="/ppt/media/image158.svg" ContentType="image/svg+xml"/>
  <Override PartName="/ppt/media/image160.svg" ContentType="image/svg+xml"/>
  <Override PartName="/ppt/media/image162.svg" ContentType="image/svg+xml"/>
  <Override PartName="/ppt/media/image164.svg" ContentType="image/svg+xml"/>
  <Override PartName="/ppt/media/image166.svg" ContentType="image/svg+xml"/>
  <Override PartName="/ppt/media/image168.svg" ContentType="image/svg+xml"/>
  <Override PartName="/ppt/media/image17.svg" ContentType="image/svg+xml"/>
  <Override PartName="/ppt/media/image170.svg" ContentType="image/svg+xml"/>
  <Override PartName="/ppt/media/image172.svg" ContentType="image/svg+xml"/>
  <Override PartName="/ppt/media/image174.svg" ContentType="image/svg+xml"/>
  <Override PartName="/ppt/media/image176.svg" ContentType="image/svg+xml"/>
  <Override PartName="/ppt/media/image178.svg" ContentType="image/svg+xml"/>
  <Override PartName="/ppt/media/image184.svg" ContentType="image/svg+xml"/>
  <Override PartName="/ppt/media/image186.svg" ContentType="image/svg+xml"/>
  <Override PartName="/ppt/media/image19.svg" ContentType="image/svg+xml"/>
  <Override PartName="/ppt/media/image22.svg" ContentType="image/svg+xml"/>
  <Override PartName="/ppt/media/image24.svg" ContentType="image/svg+xml"/>
  <Override PartName="/ppt/media/image26.svg" ContentType="image/svg+xml"/>
  <Override PartName="/ppt/media/image29.svg" ContentType="image/svg+xml"/>
  <Override PartName="/ppt/media/image3.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svg" ContentType="image/svg+xml"/>
  <Override PartName="/ppt/media/image50.svg" ContentType="image/svg+xml"/>
  <Override PartName="/ppt/media/image52.svg" ContentType="image/svg+xml"/>
  <Override PartName="/ppt/media/image54.svg" ContentType="image/svg+xml"/>
  <Override PartName="/ppt/media/image58.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7.svg" ContentType="image/svg+xml"/>
  <Override PartName="/ppt/media/image73.svg" ContentType="image/svg+xml"/>
  <Override PartName="/ppt/media/image75.svg" ContentType="image/svg+xml"/>
  <Override PartName="/ppt/media/image77.svg" ContentType="image/svg+xml"/>
  <Override PartName="/ppt/media/image79.svg" ContentType="image/svg+xml"/>
  <Override PartName="/ppt/media/image81.svg" ContentType="image/svg+xml"/>
  <Override PartName="/ppt/media/image83.svg" ContentType="image/svg+xml"/>
  <Override PartName="/ppt/media/image85.svg" ContentType="image/svg+xml"/>
  <Override PartName="/ppt/media/image87.svg" ContentType="image/svg+xml"/>
  <Override PartName="/ppt/media/image89.svg" ContentType="image/svg+xml"/>
  <Override PartName="/ppt/media/image9.svg" ContentType="image/svg+xml"/>
  <Override PartName="/ppt/media/image91.svg" ContentType="image/svg+xml"/>
  <Override PartName="/ppt/media/image94.svg" ContentType="image/svg+xml"/>
  <Override PartName="/ppt/media/image97.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来到本次课程。今天我们将深入探讨一个在当前人工智能领域非常热门的开发框架——LangChain。本次课程的主题是“LangChain开发与实战”，我们将一起学习如何基于大语言模型构建强大的应用程序。希望通过这次学习，大家能够掌握LangChain的核心概念和开发技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本次课程的整体框架。我们将从初识LangChain开始，逐步深入学习其六大核心模块：模型I/O、数据连接、链、记忆、智能体和回调处理器，最后进行总结与展望。希望这个清晰的结构能帮助大家更好地理解和掌握课程内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现在，我们进入第一章节：初识LangChain。在这一部分，我们将了解LangChain的发展背景、整体开发流程以及它的开发生态圈，帮助大家建立一个对LangChain的全方位直观认识。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了解一下LangChain的基本定义。简单来说，LangChain是一个基于大语言模型的开源应用框架。它的核心价值在于极大地降低了开发者进入大模型应用开发领域的门槛，通过提供一系列标准化的工具和组件，让我们能够快速、高效地构建复杂的LLM应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为了更好地支持LLM应用开发，LangChain抽象出了六大核心模块。这张图展示了它们之间的关系。</a:t>
            </a:r>
            <a:endParaRPr lang="en-US" sz="1400" b="0" i="0" u="none" strike="noStrike">
              <a:solidFill>
                <a:srgbClr val="000000"/>
              </a:solidFill>
            </a:endParaRPr>
          </a:p>
          <a:p>
            <a:pPr indent="0" algn="l">
              <a:lnSpc>
                <a:spcPct val="100000"/>
              </a:lnSpc>
            </a:pPr>
            <a:r>
              <a:rPr lang="en-US" sz="1400" b="0" i="0" u="none" strike="noStrike">
                <a:solidFill>
                  <a:srgbClr val="000000"/>
                </a:solidFill>
              </a:rPr>
              <a:t>从模型I/O的交互，到数据连接的数据处理，再到链的组合、记忆的上下文管理、智能体的自主决策，最后通过回调处理器进行监控，这六个模块协同工作，构成了LangChain强大的功能体系。</a:t>
            </a:r>
            <a:endParaRPr lang="en-US" sz="1400" b="0" i="0" u="none" strike="noStrike">
              <a:solidFill>
                <a:srgbClr val="000000"/>
              </a:solidFill>
            </a:endParaRPr>
          </a:p>
          <a:p>
            <a:pPr indent="0" algn="l">
              <a:lnSpc>
                <a:spcPct val="100000"/>
              </a:lnSpc>
            </a:pPr>
            <a:r>
              <a:rPr lang="en-US" sz="1400" b="0" i="0" u="none" strike="noStrike">
                <a:solidFill>
                  <a:srgbClr val="000000"/>
                </a:solidFill>
              </a:rPr>
              <a:t>每个模块都有其独特的作用：模型I/O是基础交互层，数据连接赋予了模型外部知识，链实现了复杂逻辑的编排，记忆让对话更连贯，智能体赋予了系统自主行动的能力，而回调处理器则保障了系统的可观测性。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看看LangChain的开发生态。它覆盖了从开发、生产化到部署的完整生命周期，并提供了一系列配套的核心库。这些库各司其职，从基础的抽象定义，到第三方集成，再到应用部署和监控，形成了一个完整的开发生态系统，极大地便利了开发者。</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在开始使用LangChain之前，我们需要先进行安装。根据不同的需求，我们可以选择安装不同的版本。</a:t>
            </a:r>
            <a:endParaRPr lang="en-US" sz="1400" b="0" i="0" u="none" strike="noStrike">
              <a:solidFill>
                <a:srgbClr val="000000"/>
              </a:solidFill>
            </a:endParaRPr>
          </a:p>
          <a:p>
            <a:pPr indent="0" algn="l">
              <a:lnSpc>
                <a:spcPct val="100000"/>
              </a:lnSpc>
            </a:pPr>
            <a:r>
              <a:rPr lang="en-US" sz="1400" b="0" i="0" u="none" strike="noStrike">
                <a:solidFill>
                  <a:srgbClr val="000000"/>
                </a:solidFill>
              </a:rPr>
              <a:t>例如，仅需要核心功能可以安装langchain-core，需要第三方集成则安装langchain-community。这里列出了主要版本的安装命令，大家可以根据自己的项目需求进行选择。</a:t>
            </a:r>
            <a:endParaRPr lang="en-US" sz="1400" b="0" i="0" u="none" strike="noStrike">
              <a:solidFill>
                <a:srgbClr val="000000"/>
              </a:solidFill>
            </a:endParaRPr>
          </a:p>
          <a:p>
            <a:pPr indent="0" algn="l">
              <a:lnSpc>
                <a:spcPct val="100000"/>
              </a:lnSpc>
            </a:pPr>
            <a:r>
              <a:rPr lang="en-US" sz="1400" b="0" i="0" u="none" strike="noStrike">
                <a:solidFill>
                  <a:srgbClr val="000000"/>
                </a:solidFill>
              </a:rPr>
              <a:t>特别提醒大家，如果需要进行调试和监控，不要忘记安装LangSmith SDK。</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理论学习之后，我们来看一个实际的例子。这是一个使用LangChain进行电商评论情感分析的简单程序。</a:t>
            </a:r>
            <a:endParaRPr lang="en-US" sz="1400" b="0" i="0" u="none" strike="noStrike">
              <a:solidFill>
                <a:srgbClr val="000000"/>
              </a:solidFill>
            </a:endParaRPr>
          </a:p>
          <a:p>
            <a:pPr indent="0" algn="l">
              <a:lnSpc>
                <a:spcPct val="100000"/>
              </a:lnSpc>
            </a:pPr>
            <a:r>
              <a:rPr lang="en-US" sz="1400" b="0" i="0" u="none" strike="noStrike">
                <a:solidFill>
                  <a:srgbClr val="000000"/>
                </a:solidFill>
              </a:rPr>
              <a:t>代码首先配置了Azure OpenAI的连接，然后构造了一个详细的提示词，让模型扮演情感分析专家的角色，对给定的评论进行分析。</a:t>
            </a:r>
            <a:endParaRPr lang="en-US" sz="1400" b="0" i="0" u="none" strike="noStrike">
              <a:solidFill>
                <a:srgbClr val="000000"/>
              </a:solidFill>
            </a:endParaRPr>
          </a:p>
          <a:p>
            <a:pPr indent="0" algn="l">
              <a:lnSpc>
                <a:spcPct val="100000"/>
              </a:lnSpc>
            </a:pPr>
            <a:r>
              <a:rPr lang="en-US" sz="1400" b="0" i="0" u="none" strike="noStrike">
                <a:solidFill>
                  <a:srgbClr val="000000"/>
                </a:solidFill>
              </a:rPr>
              <a:t>最终，模型返回了一个包含情感标签和得分的JSON结果，清晰地展示了评论的积极倾向。这个例子很好地展示了LangChain如何简化与大模型的交互过程。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接下来，我们进入第二章节：模型I/O。在这一部分，我们将重点学习如何通过LangChain与大语言模型进行高效的输入和输出交互，这是构建所有LLM应用的基础。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模型I/O是LangChain的核心模块之一，它定义了我们与大语言模型交互的标准流程。简单来说，这个流程分为三步：首先，通过Prompt模版来构建和管理我们的输入；然后，通过模型包装器将输入发送给具体的大语言模型；最后，通过输出解析器来处理和格式化模型的输出结果。这个标准化的流程大大简化了我们与不同模型交互的复杂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首先，我们来看最基础的提示词模版——PromptTemplate。它允许我们将提示词定义为一个模板，并通过参数动态填充内容，从而实现提示词的复用和动态管理。</a:t>
            </a:r>
            <a:endParaRPr lang="en-US" sz="1400" b="0" i="0" u="none" strike="noStrike">
              <a:solidFill>
                <a:srgbClr val="000000"/>
              </a:solidFill>
            </a:endParaRPr>
          </a:p>
          <a:p>
            <a:pPr indent="0" algn="l">
              <a:lnSpc>
                <a:spcPct val="100000"/>
              </a:lnSpc>
            </a:pPr>
            <a:r>
              <a:rPr lang="en-US" sz="1400" b="0" i="0" u="none" strike="noStrike">
                <a:solidFill>
                  <a:srgbClr val="000000"/>
                </a:solidFill>
              </a:rPr>
              <a:t>左侧我们列出了它的核心作用和三个关键参数：input_variables用于定义变量列表，template是具体的模板字符串，而template_format则指定了格式。</a:t>
            </a:r>
            <a:endParaRPr lang="en-US" sz="1400" b="0" i="0" u="none" strike="noStrike">
              <a:solidFill>
                <a:srgbClr val="000000"/>
              </a:solidFill>
            </a:endParaRPr>
          </a:p>
          <a:p>
            <a:pPr indent="0" algn="l">
              <a:lnSpc>
                <a:spcPct val="100000"/>
              </a:lnSpc>
            </a:pPr>
            <a:r>
              <a:rPr lang="en-US" sz="1400" b="0" i="0" u="none" strike="noStrike">
                <a:solidFill>
                  <a:srgbClr val="000000"/>
                </a:solidFill>
              </a:rPr>
              <a:t>右侧的代码展示了两种实例化方法：一种是使用`from_template`方法，它可以自动识别模板中的变量，非常便捷；另一种是直接指定`input_variables`和`template`。两种方法都能达到相同的效果，大家可以根据习惯选择使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是FewShotPromptTemplate，它是实现少样本学习的关键工具。通过在提示词中动态添加示例，我们可以引导模型更好地理解任务的上下文和预期输出。这个例子展示了如何构建一个直播间虚拟主播的对话模型，通过提供几个问答示例，模型可以学会如何在直播场景下回答用户的问题。这种方式非常适合需要模型遵循特定格式或风格的场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对于聊天机器人这类对话场景，LangChain提供了ChatPromptTemplate。它允许我们构造一个消息列表，其中可以包含不同角色的消息，比如系统消息和人类消息。这种方式更符合实际的对话交互模式，能够更好地引导模型进行多轮对话。这个例子展示了如何构建一个编程助手的聊天提示词，系统角色设定了模型的身份，人类角色则提出具体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模型包装器是LangChain连接各种大语言模型的桥梁。它为不同平台的模型提供了统一的调用接口，开发者无需关心底层API的差异。这个例子展示了如何使用AzureChatOpenAI包装器来调用Azure上部署的GPT-3.5模型，生成一个简短的笑话。通过这种方式，我们可以轻松地切换不同的模型，而无需修改大量代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为了优化性能和降低成本，LangChain提供了模型缓存功能。当相同的请求再次发生时，系统会直接从缓存中返回结果，而无需重新调用模型API。</a:t>
            </a:r>
            <a:endParaRPr lang="en-US" sz="1400" b="0" i="0" u="none" strike="noStrike">
              <a:solidFill>
                <a:srgbClr val="000000"/>
              </a:solidFill>
            </a:endParaRPr>
          </a:p>
          <a:p>
            <a:pPr indent="0" algn="l">
              <a:lnSpc>
                <a:spcPct val="100000"/>
              </a:lnSpc>
            </a:pPr>
            <a:r>
              <a:rPr lang="en-US" sz="1400" b="0" i="0" u="none" strike="noStrike">
                <a:solidFill>
                  <a:srgbClr val="000000"/>
                </a:solidFill>
              </a:rPr>
              <a:t>这个例子清晰地展示了缓存的效果：第一次调用耗时约0.5秒，而第二次调用几乎瞬间完成，耗时仅0.0015秒。这对于处理大量重复请求的应用来说，是一个非常实用的优化手段。</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工具调用是LangChain的一个强大功能，它允许LLM像人一样使用工具来解决问题。在这个例子中，我们定义了一个简单的搜索工具，然后将其绑定到模型上。当我们要求模型“随机说一个水果的名字”时，模型会推理出需要调用搜索工具，并执行该工具来获取结果。这个机制是构建智能体（Agent）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如果LangChain现有的模型包装器无法满足需求，我们还可以自定义LLM包装器。这需要我们继承`LLM`基类，并实现其中的抽象方法。主要需要实现的是`_call`方法，它负责处理输入并返回输出，以及`_llm_type`方法，用于标识模型类型。这种灵活性使得LangChain可以适配任何自定义的大语言模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现在我们进入第三章节：数据连接。在实际应用中，我们经常需要使用自己的私有数据来增强LLM的能力。本章节将学习如何通过LangChain加载、处理和检索这些自有数据。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数据加载是数据连接的第一步，LangChain提供了丰富的数据加载器，支持从CSV、JSON、PDF、网页等多种数据源读取数据。这个例子展示了如何使用CSVLoader加载一个CSV文件。通过这些加载器，我们可以轻松地将外部数据导入到我们的应用中。</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里展示了几种常用数据加载器的基本用法。无论是处理结构化的CSV、JSON文件，还是非结构化的PDF文档，甚至是在线网页内容，LangChain都提供了相应的加载器。这些工具大大简化了数据导入的过程，让我们可以专注于后续的数据处理和应用开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加载数据后，我们常常会遇到文本过长的问题，因为大语言模型能处理的上下文长度是有限的。数据切割就是解决这个问题的关键步骤。</a:t>
            </a:r>
            <a:endParaRPr lang="en-US" sz="1400" b="0" i="0" u="none" strike="noStrike">
              <a:solidFill>
                <a:srgbClr val="000000"/>
              </a:solidFill>
            </a:endParaRPr>
          </a:p>
          <a:p>
            <a:pPr indent="0" algn="l">
              <a:lnSpc>
                <a:spcPct val="100000"/>
              </a:lnSpc>
            </a:pPr>
            <a:r>
              <a:rPr lang="en-US" sz="1400" b="0" i="0" u="none" strike="noStrike">
                <a:solidFill>
                  <a:srgbClr val="000000"/>
                </a:solidFill>
              </a:rPr>
              <a:t>LangChain提供了多种文本切割器，其中RecursiveCharacterTextSplitter是最常用的一种，它会智能地按字符数递归切割文本，并保留一定的重叠，以确保上下文的连贯性。</a:t>
            </a:r>
            <a:endParaRPr lang="en-US" sz="1400" b="0" i="0" u="none" strike="noStrike">
              <a:solidFill>
                <a:srgbClr val="000000"/>
              </a:solidFill>
            </a:endParaRPr>
          </a:p>
          <a:p>
            <a:pPr indent="0" algn="l">
              <a:lnSpc>
                <a:spcPct val="100000"/>
              </a:lnSpc>
            </a:pPr>
            <a:r>
              <a:rPr lang="en-US" sz="1400" b="0" i="0" u="none" strike="noStrike">
                <a:solidFill>
                  <a:srgbClr val="000000"/>
                </a:solidFill>
              </a:rPr>
              <a:t>在代码示例中，我们可以看到通过设置chunk_size和chunk_overlap，我们可以灵活控制文本块的大小和重叠程度，这对于后续的向量化和检索至关重要。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这里展示了三种主要的文本切割器。</a:t>
            </a:r>
            <a:endParaRPr lang="en-US" sz="1400" b="0" i="0" u="none" strike="noStrike">
              <a:solidFill>
                <a:srgbClr val="000000"/>
              </a:solidFill>
            </a:endParaRPr>
          </a:p>
          <a:p>
            <a:pPr indent="0" algn="l">
              <a:lnSpc>
                <a:spcPct val="100000"/>
              </a:lnSpc>
            </a:pPr>
            <a:r>
              <a:rPr lang="en-US" sz="1400" b="0" i="0" u="none" strike="noStrike">
                <a:solidFill>
                  <a:srgbClr val="000000"/>
                </a:solidFill>
              </a:rPr>
              <a:t>CharacterTextSplitter是最基础的，按固定字符数切割。</a:t>
            </a:r>
            <a:endParaRPr lang="en-US" sz="1400" b="0" i="0" u="none" strike="noStrike">
              <a:solidFill>
                <a:srgbClr val="000000"/>
              </a:solidFill>
            </a:endParaRPr>
          </a:p>
          <a:p>
            <a:pPr indent="0" algn="l">
              <a:lnSpc>
                <a:spcPct val="100000"/>
              </a:lnSpc>
            </a:pPr>
            <a:r>
              <a:rPr lang="en-US" sz="1400" b="0" i="0" u="none" strike="noStrike">
                <a:solidFill>
                  <a:srgbClr val="000000"/>
                </a:solidFill>
              </a:rPr>
              <a:t>RecursiveCharacterTextSplitter更智能，会尝试在段落、句子等自然边界处切割，效果更好。</a:t>
            </a:r>
            <a:endParaRPr lang="en-US" sz="1400" b="0" i="0" u="none" strike="noStrike">
              <a:solidFill>
                <a:srgbClr val="000000"/>
              </a:solidFill>
            </a:endParaRPr>
          </a:p>
          <a:p>
            <a:pPr indent="0" algn="l">
              <a:lnSpc>
                <a:spcPct val="100000"/>
              </a:lnSpc>
            </a:pPr>
            <a:r>
              <a:rPr lang="en-US" sz="1400" b="0" i="0" u="none" strike="noStrike">
                <a:solidFill>
                  <a:srgbClr val="000000"/>
                </a:solidFill>
              </a:rPr>
              <a:t>TokenTextSplitter则是按Token数来切割，这对于精确控制模型输入长度非常有用。大家可以根据实际需求选择合适的切割器。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数据转换是连接原始文本和模型应用的关键环节。其中最重要的一步就是文本向量化，即将文本转换为计算机能够理解的数值向量。</a:t>
            </a:r>
            <a:endParaRPr lang="en-US" sz="1400" b="0" i="0" u="none" strike="noStrike">
              <a:solidFill>
                <a:srgbClr val="000000"/>
              </a:solidFill>
            </a:endParaRPr>
          </a:p>
          <a:p>
            <a:pPr indent="0" algn="l">
              <a:lnSpc>
                <a:spcPct val="100000"/>
              </a:lnSpc>
            </a:pPr>
            <a:r>
              <a:rPr lang="en-US" sz="1400" b="0" i="0" u="none" strike="noStrike">
                <a:solidFill>
                  <a:srgbClr val="000000"/>
                </a:solidFill>
              </a:rPr>
              <a:t>在左侧，我们总结了数据转换的核心作用：清洗、格式化和向量化。常用的工具有Embeddings和TextLoader。</a:t>
            </a:r>
            <a:endParaRPr lang="en-US" sz="1400" b="0" i="0" u="none" strike="noStrike">
              <a:solidFill>
                <a:srgbClr val="000000"/>
              </a:solidFill>
            </a:endParaRPr>
          </a:p>
          <a:p>
            <a:pPr indent="0" algn="l">
              <a:lnSpc>
                <a:spcPct val="100000"/>
              </a:lnSpc>
            </a:pPr>
            <a:r>
              <a:rPr lang="en-US" sz="1400" b="0" i="0" u="none" strike="noStrike">
                <a:solidFill>
                  <a:srgbClr val="000000"/>
                </a:solidFill>
              </a:rPr>
              <a:t>右侧的代码展示了如何使用OpenAIEmbeddings将一段文本转换为向量。这个向量可以用于后续的相似度计算和检索。</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个例子更具体地展示了文本向量化的过程和结果。我们将一段简单的中文文本输入到OpenAIEmbeddings模型中，得到了一个长度为1536的向量。这个向量包含了文本的语义信息，两个语义相似的文本，它们的向量在空间中的距离也会更近。这种向量化技术是实现语义检索和相似性匹配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将文本向量化后，我们需要将这些向量存储起来，以便后续进行高效的检索。LangChain支持多种向量存储方案，其中Chroma是一个轻量级的开源选项，非常适合开发和测试阶段。这个例子展示了如何使用Chroma从文档中创建向量数据库，并通过相似度搜索找到与查询最相关的文档。这是实现基于自有数据的问答系统的核心步骤。</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个完整的示例串联了数据加载、向量化和向量检索的全过程。我们首先加载一个文本文件，然后使用OpenAIEmbeddings对其进行向量化，接着将向量存储到Chroma数据库中。最后，当用户提出问题时，我们通过相似度搜索从数据库中找到最相关的文档片段，并将其作为回答的依据。这个流程是构建检索增强生成（RAG）系统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进入第四章节：链。在实际应用中，单个组件往往无法完成复杂的任务，需要将多个组件组合起来。链就是实现这种组合的核心机制，它允许我们将多个模型、提示词模版或其他组件链接成一个处理流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链是LangChain中实现组件复用和流程编排的关键。它的核心思想是将一个复杂的任务分解为多个简单的步骤，每个步骤由一个组件或子链完成，然后将这些步骤按顺序连接起来。</a:t>
            </a:r>
            <a:endParaRPr lang="en-US" sz="1400" b="0" i="0" u="none" strike="noStrike">
              <a:solidFill>
                <a:srgbClr val="000000"/>
              </a:solidFill>
            </a:endParaRPr>
          </a:p>
          <a:p>
            <a:pPr indent="0" algn="l">
              <a:lnSpc>
                <a:spcPct val="100000"/>
              </a:lnSpc>
            </a:pPr>
            <a:r>
              <a:rPr lang="en-US" sz="1400" b="0" i="0" u="none" strike="noStrike">
                <a:solidFill>
                  <a:srgbClr val="000000"/>
                </a:solidFill>
              </a:rPr>
              <a:t>首先，我们来看链的定义：它是将多个LLM模型或组件（如提示词模版、输出解析器、其他链）连接起来，形成一个有序的处理流程，以完成复杂任务。</a:t>
            </a:r>
            <a:endParaRPr lang="en-US" sz="1400" b="0" i="0" u="none" strike="noStrike">
              <a:solidFill>
                <a:srgbClr val="000000"/>
              </a:solidFill>
            </a:endParaRPr>
          </a:p>
          <a:p>
            <a:pPr indent="0" algn="l">
              <a:lnSpc>
                <a:spcPct val="100000"/>
              </a:lnSpc>
            </a:pPr>
            <a:r>
              <a:rPr lang="en-US" sz="1400" b="0" i="0" u="none" strike="noStrike">
                <a:solidFill>
                  <a:srgbClr val="000000"/>
                </a:solidFill>
              </a:rPr>
              <a:t>链的主要作用有两点：一是实现功能组合，将简单的组件组合成复杂的应用；二是处理复杂任务，通过分解步骤来解决单个模型难以完成的任务。</a:t>
            </a:r>
            <a:endParaRPr lang="en-US" sz="1400" b="0" i="0" u="none" strike="noStrike">
              <a:solidFill>
                <a:srgbClr val="000000"/>
              </a:solidFill>
            </a:endParaRPr>
          </a:p>
          <a:p>
            <a:pPr indent="0" algn="l">
              <a:lnSpc>
                <a:spcPct val="100000"/>
              </a:lnSpc>
            </a:pPr>
            <a:r>
              <a:rPr lang="en-US" sz="1400" b="0" i="0" u="none" strike="noStrike">
                <a:solidFill>
                  <a:srgbClr val="000000"/>
                </a:solidFill>
              </a:rPr>
              <a:t>在LangChain中，链主要分为三类：最基础的LLMChain，用于流水线处理的SequentialChain，以及可以根据输入动态选择路径的RouterChain，以满足不同的应用需求。</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LLMChain是最基础也是最常用的链类型。它简单地将一个提示词模版和一个模型包装器组合在一起。在这个例子中，我们创建了一个用于文本摘要的LLMChain，它接收一段文本作为输入，通过提示词模版引导模型生成摘要。LLMChain是构建所有复杂链的基石。</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SequentialChain允许我们将多个链按顺序连接起来，形成一个流水线。在这个例子中，我们首先创建了一个总结链，用于生成文本摘要，然后创建了一个标题链，用于根据摘要生成标题。通过SequentialChain，我们将这两个链组合起来，实现了“输入文本 -&gt; 生成摘要 -&gt; 生成标题”的完整流程。这种方式非常适合处理需要多步骤的复杂任务。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进入第五章节：记忆。大语言模型本身是没有记忆的，它无法记住之前的对话内容。为了实现多轮对话和上下文理解，我们需要为应用添加记忆功能。本章节将学习如何使用LangChain的记忆模块来实现这一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记忆模块是实现智能对话的关键。它的核心作用就是保存对话历史，让模型在生成回答时能够参考之前的上下文。</a:t>
            </a:r>
            <a:endParaRPr lang="en-US" sz="1400" b="0" i="0" u="none" strike="noStrike">
              <a:solidFill>
                <a:srgbClr val="000000"/>
              </a:solidFill>
            </a:endParaRPr>
          </a:p>
          <a:p>
            <a:pPr indent="0" algn="l">
              <a:lnSpc>
                <a:spcPct val="100000"/>
              </a:lnSpc>
            </a:pPr>
            <a:r>
              <a:rPr lang="en-US" sz="1400" b="0" i="0" u="none" strike="noStrike">
                <a:solidFill>
                  <a:srgbClr val="000000"/>
                </a:solidFill>
              </a:rPr>
              <a:t>LangChain提供了多种记忆实现方式：</a:t>
            </a:r>
            <a:endParaRPr lang="en-US" sz="1400" b="0" i="0" u="none" strike="noStrike">
              <a:solidFill>
                <a:srgbClr val="000000"/>
              </a:solidFill>
            </a:endParaRPr>
          </a:p>
          <a:p>
            <a:pPr indent="0" algn="l">
              <a:lnSpc>
                <a:spcPct val="100000"/>
              </a:lnSpc>
            </a:pPr>
            <a:r>
              <a:rPr lang="en-US" sz="1400" b="0" i="0" u="none" strike="noStrike">
                <a:solidFill>
                  <a:srgbClr val="000000"/>
                </a:solidFill>
              </a:rPr>
              <a:t>1. ConversationBufferMemory：简单的缓冲区，适合短对话。</a:t>
            </a:r>
            <a:endParaRPr lang="en-US" sz="1400" b="0" i="0" u="none" strike="noStrike">
              <a:solidFill>
                <a:srgbClr val="000000"/>
              </a:solidFill>
            </a:endParaRPr>
          </a:p>
          <a:p>
            <a:pPr indent="0" algn="l">
              <a:lnSpc>
                <a:spcPct val="100000"/>
              </a:lnSpc>
            </a:pPr>
            <a:r>
              <a:rPr lang="en-US" sz="1400" b="0" i="0" u="none" strike="noStrike">
                <a:solidFill>
                  <a:srgbClr val="000000"/>
                </a:solidFill>
              </a:rPr>
              <a:t>2. ConversationSummaryMemory：能够总结历史，节省空间，适合长对话。</a:t>
            </a:r>
            <a:endParaRPr lang="en-US" sz="1400" b="0" i="0" u="none" strike="noStrike">
              <a:solidFill>
                <a:srgbClr val="000000"/>
              </a:solidFill>
            </a:endParaRPr>
          </a:p>
          <a:p>
            <a:pPr indent="0" algn="l">
              <a:lnSpc>
                <a:spcPct val="100000"/>
              </a:lnSpc>
            </a:pPr>
            <a:r>
              <a:rPr lang="en-US" sz="1400" b="0" i="0" u="none" strike="noStrike">
                <a:solidFill>
                  <a:srgbClr val="000000"/>
                </a:solidFill>
              </a:rPr>
              <a:t>3. VectorStoreRetrieverMemory：基于向量检索，能高效查找相关历史信息。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ConversationBufferMemory是最基础的记忆类型，它会完整地保存所有对话历史。</a:t>
            </a:r>
            <a:endParaRPr lang="en-US" sz="1400" b="0" i="0" u="none" strike="noStrike">
              <a:solidFill>
                <a:srgbClr val="000000"/>
              </a:solidFill>
            </a:endParaRPr>
          </a:p>
          <a:p>
            <a:pPr indent="0" algn="l">
              <a:lnSpc>
                <a:spcPct val="100000"/>
              </a:lnSpc>
            </a:pPr>
            <a:r>
              <a:rPr lang="en-US" sz="1400" b="0" i="0" u="none" strike="noStrike">
                <a:solidFill>
                  <a:srgbClr val="000000"/>
                </a:solidFill>
              </a:rPr>
              <a:t>在这个例子中，我们创建了一个ConversationChain，并为其配置了ConversationBufferMemory。</a:t>
            </a:r>
            <a:endParaRPr lang="en-US" sz="1400" b="0" i="0" u="none" strike="noStrike">
              <a:solidFill>
                <a:srgbClr val="000000"/>
              </a:solidFill>
            </a:endParaRPr>
          </a:p>
          <a:p>
            <a:pPr indent="0" algn="l">
              <a:lnSpc>
                <a:spcPct val="100000"/>
              </a:lnSpc>
            </a:pPr>
            <a:r>
              <a:rPr lang="en-US" sz="1400" b="0" i="0" u="none" strike="noStrike">
                <a:solidFill>
                  <a:srgbClr val="000000"/>
                </a:solidFill>
              </a:rPr>
              <a:t>当我们进行第二轮对话时，模型能够记住第一轮中用户介绍自己叫“小明”，并在回复中使用这个信息，从而实现了上下文对话。</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当对话历史很长时，完整的缓存会占用大量的上下文空间。ConversationSummaryMemory通过对对话历史进行总结，有效地解决了这个问题。它会定期调用LLM对历史对话进行概括，并将这个概括性的总结作为上下文传入模型。这样既能保留对话的关键信息，又能显著减少上下文的长度，非常适合长时间的对话场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接下来是第六章节：智能体。智能体是LangChain中最强大的功能之一，它能够让LLM像人一样思考和行动，自主选择工具并执行任务来解决复杂问题。本章节将学习智能体的基本概念和构建方法。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智能体是LangChain的高阶应用，它结合了我们之前学习的链、工具调用和记忆等功能。其核心思想是让模型拥有自主决策的能力。</a:t>
            </a:r>
            <a:endParaRPr lang="en-US" sz="1400" b="0" i="0" u="none" strike="noStrike">
              <a:solidFill>
                <a:srgbClr val="000000"/>
              </a:solidFill>
            </a:endParaRPr>
          </a:p>
          <a:p>
            <a:pPr indent="0" algn="l">
              <a:lnSpc>
                <a:spcPct val="100000"/>
              </a:lnSpc>
            </a:pPr>
            <a:r>
              <a:rPr lang="en-US" sz="1400" b="0" i="0" u="none" strike="noStrike">
                <a:solidFill>
                  <a:srgbClr val="000000"/>
                </a:solidFill>
              </a:rPr>
              <a:t>一个典型的智能体工作流程包括思考、行动和观察三个步骤，并不断循环直到完成任务。首先，模型理解用户输入并思考下一步；然后采取行动调用工具；接着观察工具返回的结果；最后根据结果决定是继续循环还是直接生成回答。</a:t>
            </a:r>
            <a:endParaRPr lang="en-US" sz="1400" b="0" i="0" u="none" strike="noStrike">
              <a:solidFill>
                <a:srgbClr val="000000"/>
              </a:solidFill>
            </a:endParaRPr>
          </a:p>
          <a:p>
            <a:pPr indent="0" algn="l">
              <a:lnSpc>
                <a:spcPct val="100000"/>
              </a:lnSpc>
            </a:pPr>
            <a:r>
              <a:rPr lang="en-US" sz="1400" b="0" i="0" u="none" strike="noStrike">
                <a:solidFill>
                  <a:srgbClr val="000000"/>
                </a:solidFill>
              </a:rPr>
              <a:t>LangChain支持多种智能体框架，如ReAct和Plan-and-Execute，以适应不同的任务复杂度。ReAct适合需要快速响应和动态调整的场景，而Plan-and-Execute则更适合需要深度规划的复杂任务。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个例子展示了如何构建一个基于ReAct框架的智能体。我们首先加载了一个搜索引擎工具，然后使用`initialize_agent`函数将工具和模型组合成一个智能体，并指定其类型为ReAct。当我们询问一个需要实时信息的问题时，智能体会自动推理出需要调用搜索工具，并通过搜索结果来回答问题。这个过程充分展示了智能体自主决策和使用工具的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最后，我们来学习第七章节：回调处理器。在开发和部署LLM应用时，我们需要了解应用的运行状态，进行日志记录和性能监控。回调处理器就是实现这些功能的关键工具。</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回调处理器为我们提供了一个强大的扩展机制，让我们能够在应用运行的各个环节插入自定义代码。无论是简单的日志打印，还是复杂的性能监控和报警，都可以通过回调处理器来实现。这对于应用的调试、优化和运维至关重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StdOutCallbackHandler是最常用的回调处理器之一，它能将链的执行过程详细地打印到控制台。这对于开发和调试阶段非常有帮助，我们可以清晰地看到提示词的最终格式、模型的输出以及整个过程的耗时。通过这些信息，我们可以快速定位问题，优化提示词和模型参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除了使用内置的回调处理器，我们还可以根据需要自定义回调逻辑。这需要我们继承`BaseCallbackHandler`基类，并实现特定的回调方法。</a:t>
            </a:r>
            <a:endParaRPr lang="en-US" sz="1400" b="0" i="0" u="none" strike="noStrike">
              <a:solidFill>
                <a:srgbClr val="000000"/>
              </a:solidFill>
            </a:endParaRPr>
          </a:p>
          <a:p>
            <a:pPr indent="0" algn="l">
              <a:lnSpc>
                <a:spcPct val="100000"/>
              </a:lnSpc>
            </a:pPr>
            <a:r>
              <a:rPr lang="en-US" sz="1400" b="0" i="0" u="none" strike="noStrike">
                <a:solidFill>
                  <a:srgbClr val="000000"/>
                </a:solidFill>
              </a:rPr>
              <a:t>在这个例子中，我们自定义了一个处理器，用于记录LLM的调用次数。每当模型开始调用时，`on_llm_start`方法就会被触发，我们在其中增加计数器并打印结果。</a:t>
            </a:r>
            <a:endParaRPr lang="en-US" sz="1400" b="0" i="0" u="none" strike="noStrike">
              <a:solidFill>
                <a:srgbClr val="000000"/>
              </a:solidFill>
            </a:endParaRPr>
          </a:p>
          <a:p>
            <a:pPr indent="0" algn="l">
              <a:lnSpc>
                <a:spcPct val="100000"/>
              </a:lnSpc>
            </a:pPr>
            <a:r>
              <a:rPr lang="en-US" sz="1400" b="0" i="0" u="none" strike="noStrike">
                <a:solidFill>
                  <a:srgbClr val="000000"/>
                </a:solidFill>
              </a:rPr>
              <a:t>这种方式赋予了我们极大的灵活性，可以实现各种复杂的监控和扩展功能。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课程的最后，我们对本次学习的内容进行总结，并对LangChain的未来发展进行简单的展望。希望通过这次总结，大家能够对LangChain有一个更全面和深入的理解。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张思维导图总结了我们本次课程的核心知识点。从模型交互的基础，到数据处理的流程，再到链的组合、记忆的管理、智能体的构建以及最后的监控扩展，这六个模块构成了LangChain的完整知识体系。希望大家能够将这些知识点融会贯通，灵活运用到实际的项目开发中。</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LangChain作为一个快速发展的开源框架，其未来充满了可能性。我们可以预见，它将支持更多的模型，集成更丰富的工具，性能也会不断优化。更重要的是，一个活跃的开发者社区将为LangChain注入持续的创新动力。希望大家能够持续关注LangChain的发展，并积极参与到社区建设中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我的讲解到此结束，感谢大家的聆听。接下来是问答环节，大家有任何问题都可以提出来，我们一起交流探讨。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90204"/>
              <a:buNone/>
              <a:defRPr sz="33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90204"/>
              <a:buChar char="•"/>
              <a:defRPr sz="21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marL="914400" marR="0" lvl="1" indent="-342900" algn="l" rtl="0">
              <a:lnSpc>
                <a:spcPct val="90000"/>
              </a:lnSpc>
              <a:spcBef>
                <a:spcPts val="400"/>
              </a:spcBef>
              <a:spcAft>
                <a:spcPts val="0"/>
              </a:spcAft>
              <a:buClr>
                <a:schemeClr val="dk1"/>
              </a:buClr>
              <a:buSzPts val="1800"/>
              <a:buFont typeface="Arial" panose="020B0604020202090204"/>
              <a:buChar char="•"/>
              <a:defRPr sz="18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L="1371600" marR="0" lvl="2" indent="-323850" algn="l" rtl="0">
              <a:lnSpc>
                <a:spcPct val="90000"/>
              </a:lnSpc>
              <a:spcBef>
                <a:spcPts val="400"/>
              </a:spcBef>
              <a:spcAft>
                <a:spcPts val="0"/>
              </a:spcAft>
              <a:buClr>
                <a:schemeClr val="dk1"/>
              </a:buClr>
              <a:buSzPts val="1500"/>
              <a:buFont typeface="Arial" panose="020B0604020202090204"/>
              <a:buChar char="•"/>
              <a:defRPr sz="15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L="1828800" marR="0" lvl="3"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L="2286000" marR="0" lvl="4"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L="2743200" marR="0" lvl="5"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L="3200400" marR="0" lvl="6"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L="3657600" marR="0" lvl="7"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L="4114800" marR="0" lvl="8"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L="0" marR="0" lvl="1"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2pPr>
            <a:lvl3pPr marL="0" marR="0" lvl="2"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3pPr>
            <a:lvl4pPr marL="0" marR="0" lvl="3"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4pPr>
            <a:lvl5pPr marL="0" marR="0" lvl="4"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5pPr>
            <a:lvl6pPr marL="0" marR="0" lvl="5"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6pPr>
            <a:lvl7pPr marL="0" marR="0" lvl="6"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7pPr>
            <a:lvl8pPr marL="0" marR="0" lvl="7"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8pPr>
            <a:lvl9pPr marL="0" marR="0" lvl="8"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2.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image" Target="../media/image12.png"/><Relationship Id="rId8" Type="http://schemas.openxmlformats.org/officeDocument/2006/relationships/image" Target="../media/image11.svg"/><Relationship Id="rId7" Type="http://schemas.openxmlformats.org/officeDocument/2006/relationships/image" Target="../media/image10.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 Id="rId3" Type="http://schemas.openxmlformats.org/officeDocument/2006/relationships/image" Target="../media/image6.png"/><Relationship Id="rId2" Type="http://schemas.openxmlformats.org/officeDocument/2006/relationships/image" Target="../media/image5.svg"/><Relationship Id="rId18" Type="http://schemas.openxmlformats.org/officeDocument/2006/relationships/notesSlide" Target="../notesSlides/notesSlide2.xml"/><Relationship Id="rId17" Type="http://schemas.openxmlformats.org/officeDocument/2006/relationships/slideLayout" Target="../slideLayouts/slideLayout12.xml"/><Relationship Id="rId16" Type="http://schemas.openxmlformats.org/officeDocument/2006/relationships/image" Target="../media/image19.svg"/><Relationship Id="rId15" Type="http://schemas.openxmlformats.org/officeDocument/2006/relationships/image" Target="../media/image18.png"/><Relationship Id="rId14" Type="http://schemas.openxmlformats.org/officeDocument/2006/relationships/image" Target="../media/image17.svg"/><Relationship Id="rId13" Type="http://schemas.openxmlformats.org/officeDocument/2006/relationships/image" Target="../media/image16.png"/><Relationship Id="rId12" Type="http://schemas.openxmlformats.org/officeDocument/2006/relationships/image" Target="../media/image15.svg"/><Relationship Id="rId11" Type="http://schemas.openxmlformats.org/officeDocument/2006/relationships/image" Target="../media/image14.png"/><Relationship Id="rId10" Type="http://schemas.openxmlformats.org/officeDocument/2006/relationships/image" Target="../media/image13.sv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image" Target="../media/image11.svg"/><Relationship Id="rId1" Type="http://schemas.openxmlformats.org/officeDocument/2006/relationships/image" Target="../media/image20.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2.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s>
</file>

<file path=ppt/slides/_rels/slide5.xml.rels><?xml version="1.0" encoding="UTF-8" standalone="yes"?>
<Relationships xmlns="http://schemas.openxmlformats.org/package/2006/relationships"><Relationship Id="rId9" Type="http://schemas.openxmlformats.org/officeDocument/2006/relationships/image" Target="../media/image35.svg"/><Relationship Id="rId8" Type="http://schemas.openxmlformats.org/officeDocument/2006/relationships/image" Target="../media/image34.png"/><Relationship Id="rId7" Type="http://schemas.openxmlformats.org/officeDocument/2006/relationships/image" Target="../media/image33.svg"/><Relationship Id="rId6" Type="http://schemas.openxmlformats.org/officeDocument/2006/relationships/image" Target="../media/image32.png"/><Relationship Id="rId5" Type="http://schemas.openxmlformats.org/officeDocument/2006/relationships/image" Target="../media/image31.svg"/><Relationship Id="rId4" Type="http://schemas.openxmlformats.org/officeDocument/2006/relationships/image" Target="../media/image30.png"/><Relationship Id="rId3" Type="http://schemas.openxmlformats.org/officeDocument/2006/relationships/image" Target="../media/image29.svg"/><Relationship Id="rId2" Type="http://schemas.openxmlformats.org/officeDocument/2006/relationships/image" Target="../media/image28.png"/><Relationship Id="rId15" Type="http://schemas.openxmlformats.org/officeDocument/2006/relationships/notesSlide" Target="../notesSlides/notesSlide5.xml"/><Relationship Id="rId14" Type="http://schemas.openxmlformats.org/officeDocument/2006/relationships/slideLayout" Target="../slideLayouts/slideLayout12.xml"/><Relationship Id="rId13" Type="http://schemas.openxmlformats.org/officeDocument/2006/relationships/image" Target="../media/image39.svg"/><Relationship Id="rId12" Type="http://schemas.openxmlformats.org/officeDocument/2006/relationships/image" Target="../media/image38.png"/><Relationship Id="rId11" Type="http://schemas.openxmlformats.org/officeDocument/2006/relationships/image" Target="../media/image37.svg"/><Relationship Id="rId10" Type="http://schemas.openxmlformats.org/officeDocument/2006/relationships/image" Target="../media/image36.png"/><Relationship Id="rId1" Type="http://schemas.openxmlformats.org/officeDocument/2006/relationships/image" Target="../media/image27.jpeg"/></Relationships>
</file>

<file path=ppt/slides/_rels/slide6.xml.rels><?xml version="1.0" encoding="UTF-8" standalone="yes"?>
<Relationships xmlns="http://schemas.openxmlformats.org/package/2006/relationships"><Relationship Id="rId9" Type="http://schemas.openxmlformats.org/officeDocument/2006/relationships/image" Target="../media/image20.png"/><Relationship Id="rId8" Type="http://schemas.openxmlformats.org/officeDocument/2006/relationships/image" Target="../media/image46.svg"/><Relationship Id="rId7" Type="http://schemas.openxmlformats.org/officeDocument/2006/relationships/image" Target="../media/image45.png"/><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svg"/><Relationship Id="rId3" Type="http://schemas.openxmlformats.org/officeDocument/2006/relationships/image" Target="../media/image41.png"/><Relationship Id="rId20" Type="http://schemas.openxmlformats.org/officeDocument/2006/relationships/notesSlide" Target="../notesSlides/notesSlide6.xml"/><Relationship Id="rId2" Type="http://schemas.openxmlformats.org/officeDocument/2006/relationships/image" Target="../media/image24.svg"/><Relationship Id="rId19" Type="http://schemas.openxmlformats.org/officeDocument/2006/relationships/slideLayout" Target="../slideLayouts/slideLayout12.xml"/><Relationship Id="rId18" Type="http://schemas.openxmlformats.org/officeDocument/2006/relationships/image" Target="../media/image54.svg"/><Relationship Id="rId17" Type="http://schemas.openxmlformats.org/officeDocument/2006/relationships/image" Target="../media/image53.png"/><Relationship Id="rId16" Type="http://schemas.openxmlformats.org/officeDocument/2006/relationships/image" Target="../media/image52.svg"/><Relationship Id="rId15" Type="http://schemas.openxmlformats.org/officeDocument/2006/relationships/image" Target="../media/image51.png"/><Relationship Id="rId14" Type="http://schemas.openxmlformats.org/officeDocument/2006/relationships/image" Target="../media/image50.svg"/><Relationship Id="rId13" Type="http://schemas.openxmlformats.org/officeDocument/2006/relationships/image" Target="../media/image49.png"/><Relationship Id="rId12" Type="http://schemas.openxmlformats.org/officeDocument/2006/relationships/image" Target="../media/image48.svg"/><Relationship Id="rId11" Type="http://schemas.openxmlformats.org/officeDocument/2006/relationships/image" Target="../media/image47.png"/><Relationship Id="rId10" Type="http://schemas.openxmlformats.org/officeDocument/2006/relationships/image" Target="../media/image11.svg"/><Relationship Id="rId1" Type="http://schemas.openxmlformats.org/officeDocument/2006/relationships/image" Target="../media/image40.png"/></Relationships>
</file>

<file path=ppt/slides/_rels/slide7.xml.rels><?xml version="1.0" encoding="UTF-8" standalone="yes"?>
<Relationships xmlns="http://schemas.openxmlformats.org/package/2006/relationships"><Relationship Id="rId9" Type="http://schemas.openxmlformats.org/officeDocument/2006/relationships/image" Target="../media/image61.png"/><Relationship Id="rId8" Type="http://schemas.openxmlformats.org/officeDocument/2006/relationships/image" Target="../media/image60.svg"/><Relationship Id="rId7" Type="http://schemas.openxmlformats.org/officeDocument/2006/relationships/image" Target="../media/image59.png"/><Relationship Id="rId6" Type="http://schemas.openxmlformats.org/officeDocument/2006/relationships/image" Target="../media/image58.svg"/><Relationship Id="rId5" Type="http://schemas.openxmlformats.org/officeDocument/2006/relationships/image" Target="../media/image57.png"/><Relationship Id="rId4" Type="http://schemas.openxmlformats.org/officeDocument/2006/relationships/image" Target="../media/image7.svg"/><Relationship Id="rId3" Type="http://schemas.openxmlformats.org/officeDocument/2006/relationships/image" Target="../media/image56.png"/><Relationship Id="rId2" Type="http://schemas.openxmlformats.org/officeDocument/2006/relationships/image" Target="../media/image22.svg"/><Relationship Id="rId18" Type="http://schemas.openxmlformats.org/officeDocument/2006/relationships/notesSlide" Target="../notesSlides/notesSlide7.xml"/><Relationship Id="rId17" Type="http://schemas.openxmlformats.org/officeDocument/2006/relationships/slideLayout" Target="../slideLayouts/slideLayout12.xml"/><Relationship Id="rId16" Type="http://schemas.openxmlformats.org/officeDocument/2006/relationships/image" Target="../media/image68.svg"/><Relationship Id="rId15" Type="http://schemas.openxmlformats.org/officeDocument/2006/relationships/image" Target="../media/image67.png"/><Relationship Id="rId14" Type="http://schemas.openxmlformats.org/officeDocument/2006/relationships/image" Target="../media/image66.svg"/><Relationship Id="rId13" Type="http://schemas.openxmlformats.org/officeDocument/2006/relationships/image" Target="../media/image65.png"/><Relationship Id="rId12" Type="http://schemas.openxmlformats.org/officeDocument/2006/relationships/image" Target="../media/image64.svg"/><Relationship Id="rId11" Type="http://schemas.openxmlformats.org/officeDocument/2006/relationships/image" Target="../media/image63.png"/><Relationship Id="rId10" Type="http://schemas.openxmlformats.org/officeDocument/2006/relationships/image" Target="../media/image62.svg"/><Relationship Id="rId1" Type="http://schemas.openxmlformats.org/officeDocument/2006/relationships/image" Target="../media/image55.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2.xml"/><Relationship Id="rId2" Type="http://schemas.openxmlformats.org/officeDocument/2006/relationships/image" Target="../media/image68.svg"/><Relationship Id="rId1" Type="http://schemas.openxmlformats.org/officeDocument/2006/relationships/image" Target="../media/image69.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2.xml"/><Relationship Id="rId2" Type="http://schemas.openxmlformats.org/officeDocument/2006/relationships/image" Target="../media/image3.svg"/><Relationship Id="rId1" Type="http://schemas.openxmlformats.org/officeDocument/2006/relationships/image" Target="../media/image70.png"/></Relationships>
</file>

<file path=ppt/slides/_rels/slide10.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12.xml"/><Relationship Id="rId7" Type="http://schemas.openxmlformats.org/officeDocument/2006/relationships/image" Target="../media/image77.svg"/><Relationship Id="rId6" Type="http://schemas.openxmlformats.org/officeDocument/2006/relationships/image" Target="../media/image76.png"/><Relationship Id="rId5" Type="http://schemas.openxmlformats.org/officeDocument/2006/relationships/image" Target="../media/image75.svg"/><Relationship Id="rId4" Type="http://schemas.openxmlformats.org/officeDocument/2006/relationships/image" Target="../media/image74.png"/><Relationship Id="rId3" Type="http://schemas.openxmlformats.org/officeDocument/2006/relationships/image" Target="../media/image73.svg"/><Relationship Id="rId2" Type="http://schemas.openxmlformats.org/officeDocument/2006/relationships/image" Target="../media/image72.png"/><Relationship Id="rId1" Type="http://schemas.openxmlformats.org/officeDocument/2006/relationships/image" Target="../media/image71.png"/></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68.svg"/><Relationship Id="rId7" Type="http://schemas.openxmlformats.org/officeDocument/2006/relationships/image" Target="../media/image69.png"/><Relationship Id="rId6" Type="http://schemas.openxmlformats.org/officeDocument/2006/relationships/image" Target="../media/image22.svg"/><Relationship Id="rId5" Type="http://schemas.openxmlformats.org/officeDocument/2006/relationships/image" Target="../media/image55.png"/><Relationship Id="rId4" Type="http://schemas.openxmlformats.org/officeDocument/2006/relationships/image" Target="../media/image81.svg"/><Relationship Id="rId3" Type="http://schemas.openxmlformats.org/officeDocument/2006/relationships/image" Target="../media/image80.png"/><Relationship Id="rId2" Type="http://schemas.openxmlformats.org/officeDocument/2006/relationships/image" Target="../media/image79.svg"/><Relationship Id="rId10" Type="http://schemas.openxmlformats.org/officeDocument/2006/relationships/notesSlide" Target="../notesSlides/notesSlide11.xml"/><Relationship Id="rId1" Type="http://schemas.openxmlformats.org/officeDocument/2006/relationships/image" Target="../media/image78.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2.xml"/><Relationship Id="rId4" Type="http://schemas.openxmlformats.org/officeDocument/2006/relationships/image" Target="../media/image85.svg"/><Relationship Id="rId3" Type="http://schemas.openxmlformats.org/officeDocument/2006/relationships/image" Target="../media/image84.png"/><Relationship Id="rId2" Type="http://schemas.openxmlformats.org/officeDocument/2006/relationships/image" Target="../media/image83.svg"/><Relationship Id="rId1" Type="http://schemas.openxmlformats.org/officeDocument/2006/relationships/image" Target="../media/image82.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2.xml"/><Relationship Id="rId4" Type="http://schemas.openxmlformats.org/officeDocument/2006/relationships/image" Target="../media/image68.svg"/><Relationship Id="rId3" Type="http://schemas.openxmlformats.org/officeDocument/2006/relationships/image" Target="../media/image69.png"/><Relationship Id="rId2" Type="http://schemas.openxmlformats.org/officeDocument/2006/relationships/image" Target="../media/image85.svg"/><Relationship Id="rId1" Type="http://schemas.openxmlformats.org/officeDocument/2006/relationships/image" Target="../media/image84.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2.xml"/><Relationship Id="rId4" Type="http://schemas.openxmlformats.org/officeDocument/2006/relationships/image" Target="../media/image22.svg"/><Relationship Id="rId3" Type="http://schemas.openxmlformats.org/officeDocument/2006/relationships/image" Target="../media/image55.png"/><Relationship Id="rId2" Type="http://schemas.openxmlformats.org/officeDocument/2006/relationships/image" Target="../media/image87.svg"/><Relationship Id="rId1" Type="http://schemas.openxmlformats.org/officeDocument/2006/relationships/image" Target="../media/image86.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12.xml"/><Relationship Id="rId4" Type="http://schemas.openxmlformats.org/officeDocument/2006/relationships/image" Target="../media/image91.svg"/><Relationship Id="rId3" Type="http://schemas.openxmlformats.org/officeDocument/2006/relationships/image" Target="../media/image90.png"/><Relationship Id="rId2" Type="http://schemas.openxmlformats.org/officeDocument/2006/relationships/image" Target="../media/image89.svg"/><Relationship Id="rId1" Type="http://schemas.openxmlformats.org/officeDocument/2006/relationships/image" Target="../media/image88.pn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12.xml"/><Relationship Id="rId4" Type="http://schemas.openxmlformats.org/officeDocument/2006/relationships/image" Target="../media/image68.svg"/><Relationship Id="rId3" Type="http://schemas.openxmlformats.org/officeDocument/2006/relationships/image" Target="../media/image69.png"/><Relationship Id="rId2" Type="http://schemas.openxmlformats.org/officeDocument/2006/relationships/image" Target="../media/image75.svg"/><Relationship Id="rId1" Type="http://schemas.openxmlformats.org/officeDocument/2006/relationships/image" Target="../media/image92.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2.xml"/><Relationship Id="rId2" Type="http://schemas.openxmlformats.org/officeDocument/2006/relationships/image" Target="../media/image7.svg"/><Relationship Id="rId1" Type="http://schemas.openxmlformats.org/officeDocument/2006/relationships/image" Target="../media/image56.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2.xml"/><Relationship Id="rId2" Type="http://schemas.openxmlformats.org/officeDocument/2006/relationships/image" Target="../media/image94.svg"/><Relationship Id="rId1" Type="http://schemas.openxmlformats.org/officeDocument/2006/relationships/image" Target="../media/image93.png"/></Relationships>
</file>

<file path=ppt/slides/_rels/slide19.xml.rels><?xml version="1.0" encoding="UTF-8" standalone="yes"?>
<Relationships xmlns="http://schemas.openxmlformats.org/package/2006/relationships"><Relationship Id="rId9" Type="http://schemas.openxmlformats.org/officeDocument/2006/relationships/image" Target="../media/image102.png"/><Relationship Id="rId8" Type="http://schemas.openxmlformats.org/officeDocument/2006/relationships/image" Target="../media/image101.svg"/><Relationship Id="rId7" Type="http://schemas.openxmlformats.org/officeDocument/2006/relationships/image" Target="../media/image100.png"/><Relationship Id="rId6" Type="http://schemas.openxmlformats.org/officeDocument/2006/relationships/image" Target="../media/image99.svg"/><Relationship Id="rId5" Type="http://schemas.openxmlformats.org/officeDocument/2006/relationships/image" Target="../media/image98.png"/><Relationship Id="rId4" Type="http://schemas.openxmlformats.org/officeDocument/2006/relationships/image" Target="../media/image97.svg"/><Relationship Id="rId3" Type="http://schemas.openxmlformats.org/officeDocument/2006/relationships/image" Target="../media/image96.png"/><Relationship Id="rId2" Type="http://schemas.openxmlformats.org/officeDocument/2006/relationships/image" Target="../media/image9.svg"/><Relationship Id="rId16" Type="http://schemas.openxmlformats.org/officeDocument/2006/relationships/notesSlide" Target="../notesSlides/notesSlide19.xml"/><Relationship Id="rId15" Type="http://schemas.openxmlformats.org/officeDocument/2006/relationships/slideLayout" Target="../slideLayouts/slideLayout12.xml"/><Relationship Id="rId14" Type="http://schemas.openxmlformats.org/officeDocument/2006/relationships/image" Target="../media/image68.svg"/><Relationship Id="rId13" Type="http://schemas.openxmlformats.org/officeDocument/2006/relationships/image" Target="../media/image69.png"/><Relationship Id="rId12" Type="http://schemas.openxmlformats.org/officeDocument/2006/relationships/image" Target="../media/image105.svg"/><Relationship Id="rId11" Type="http://schemas.openxmlformats.org/officeDocument/2006/relationships/image" Target="../media/image104.png"/><Relationship Id="rId10" Type="http://schemas.openxmlformats.org/officeDocument/2006/relationships/image" Target="../media/image103.svg"/><Relationship Id="rId1" Type="http://schemas.openxmlformats.org/officeDocument/2006/relationships/image" Target="../media/image95.png"/></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09.svg"/><Relationship Id="rId7" Type="http://schemas.openxmlformats.org/officeDocument/2006/relationships/image" Target="../media/image108.png"/><Relationship Id="rId6" Type="http://schemas.openxmlformats.org/officeDocument/2006/relationships/image" Target="../media/image101.svg"/><Relationship Id="rId5" Type="http://schemas.openxmlformats.org/officeDocument/2006/relationships/image" Target="../media/image100.png"/><Relationship Id="rId4" Type="http://schemas.openxmlformats.org/officeDocument/2006/relationships/image" Target="../media/image99.svg"/><Relationship Id="rId3" Type="http://schemas.openxmlformats.org/officeDocument/2006/relationships/image" Target="../media/image98.png"/><Relationship Id="rId2" Type="http://schemas.openxmlformats.org/officeDocument/2006/relationships/image" Target="../media/image107.svg"/><Relationship Id="rId10" Type="http://schemas.openxmlformats.org/officeDocument/2006/relationships/notesSlide" Target="../notesSlides/notesSlide20.xml"/><Relationship Id="rId1" Type="http://schemas.openxmlformats.org/officeDocument/2006/relationships/image" Target="../media/image106.png"/></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68.svg"/><Relationship Id="rId7" Type="http://schemas.openxmlformats.org/officeDocument/2006/relationships/image" Target="../media/image69.png"/><Relationship Id="rId6" Type="http://schemas.openxmlformats.org/officeDocument/2006/relationships/image" Target="../media/image22.svg"/><Relationship Id="rId5" Type="http://schemas.openxmlformats.org/officeDocument/2006/relationships/image" Target="../media/image55.png"/><Relationship Id="rId4" Type="http://schemas.openxmlformats.org/officeDocument/2006/relationships/image" Target="../media/image113.svg"/><Relationship Id="rId3" Type="http://schemas.openxmlformats.org/officeDocument/2006/relationships/image" Target="../media/image112.png"/><Relationship Id="rId2" Type="http://schemas.openxmlformats.org/officeDocument/2006/relationships/image" Target="../media/image111.svg"/><Relationship Id="rId10" Type="http://schemas.openxmlformats.org/officeDocument/2006/relationships/notesSlide" Target="../notesSlides/notesSlide21.xml"/><Relationship Id="rId1" Type="http://schemas.openxmlformats.org/officeDocument/2006/relationships/image" Target="../media/image110.png"/></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68.svg"/><Relationship Id="rId7" Type="http://schemas.openxmlformats.org/officeDocument/2006/relationships/image" Target="../media/image69.png"/><Relationship Id="rId6" Type="http://schemas.openxmlformats.org/officeDocument/2006/relationships/image" Target="../media/image7.svg"/><Relationship Id="rId5" Type="http://schemas.openxmlformats.org/officeDocument/2006/relationships/image" Target="../media/image56.png"/><Relationship Id="rId4" Type="http://schemas.openxmlformats.org/officeDocument/2006/relationships/image" Target="../media/image48.svg"/><Relationship Id="rId3" Type="http://schemas.openxmlformats.org/officeDocument/2006/relationships/image" Target="../media/image114.png"/><Relationship Id="rId2" Type="http://schemas.openxmlformats.org/officeDocument/2006/relationships/image" Target="../media/image22.svg"/><Relationship Id="rId10" Type="http://schemas.openxmlformats.org/officeDocument/2006/relationships/notesSlide" Target="../notesSlides/notesSlide22.xml"/><Relationship Id="rId1" Type="http://schemas.openxmlformats.org/officeDocument/2006/relationships/image" Target="../media/image55.png"/></Relationships>
</file>

<file path=ppt/slides/_rels/slide23.xml.rels><?xml version="1.0" encoding="UTF-8" standalone="yes"?>
<Relationships xmlns="http://schemas.openxmlformats.org/package/2006/relationships"><Relationship Id="rId8" Type="http://schemas.openxmlformats.org/officeDocument/2006/relationships/notesSlide" Target="../notesSlides/notesSlide23.xml"/><Relationship Id="rId7" Type="http://schemas.openxmlformats.org/officeDocument/2006/relationships/slideLayout" Target="../slideLayouts/slideLayout12.xml"/><Relationship Id="rId6" Type="http://schemas.openxmlformats.org/officeDocument/2006/relationships/image" Target="../media/image68.svg"/><Relationship Id="rId5" Type="http://schemas.openxmlformats.org/officeDocument/2006/relationships/image" Target="../media/image69.png"/><Relationship Id="rId4" Type="http://schemas.openxmlformats.org/officeDocument/2006/relationships/image" Target="../media/image118.svg"/><Relationship Id="rId3" Type="http://schemas.openxmlformats.org/officeDocument/2006/relationships/image" Target="../media/image117.png"/><Relationship Id="rId2" Type="http://schemas.openxmlformats.org/officeDocument/2006/relationships/image" Target="../media/image116.svg"/><Relationship Id="rId1" Type="http://schemas.openxmlformats.org/officeDocument/2006/relationships/image" Target="../media/image115.png"/></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slideLayout" Target="../slideLayouts/slideLayout12.xml"/><Relationship Id="rId4" Type="http://schemas.openxmlformats.org/officeDocument/2006/relationships/image" Target="../media/image68.svg"/><Relationship Id="rId3" Type="http://schemas.openxmlformats.org/officeDocument/2006/relationships/image" Target="../media/image69.png"/><Relationship Id="rId2" Type="http://schemas.openxmlformats.org/officeDocument/2006/relationships/image" Target="../media/image120.svg"/><Relationship Id="rId1" Type="http://schemas.openxmlformats.org/officeDocument/2006/relationships/image" Target="../media/image119.png"/></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12.xml"/><Relationship Id="rId4" Type="http://schemas.openxmlformats.org/officeDocument/2006/relationships/image" Target="../media/image122.svg"/><Relationship Id="rId3" Type="http://schemas.openxmlformats.org/officeDocument/2006/relationships/image" Target="../media/image121.png"/><Relationship Id="rId2" Type="http://schemas.openxmlformats.org/officeDocument/2006/relationships/image" Target="../media/image9.svg"/><Relationship Id="rId1" Type="http://schemas.openxmlformats.org/officeDocument/2006/relationships/image" Target="../media/image95.png"/></Relationships>
</file>

<file path=ppt/slides/_rels/slide26.xml.rels><?xml version="1.0" encoding="UTF-8" standalone="yes"?>
<Relationships xmlns="http://schemas.openxmlformats.org/package/2006/relationships"><Relationship Id="rId9" Type="http://schemas.openxmlformats.org/officeDocument/2006/relationships/image" Target="../media/image69.png"/><Relationship Id="rId8" Type="http://schemas.openxmlformats.org/officeDocument/2006/relationships/image" Target="../media/image125.svg"/><Relationship Id="rId7" Type="http://schemas.openxmlformats.org/officeDocument/2006/relationships/image" Target="../media/image124.png"/><Relationship Id="rId6" Type="http://schemas.openxmlformats.org/officeDocument/2006/relationships/image" Target="../media/image66.svg"/><Relationship Id="rId5" Type="http://schemas.openxmlformats.org/officeDocument/2006/relationships/image" Target="../media/image123.png"/><Relationship Id="rId4" Type="http://schemas.openxmlformats.org/officeDocument/2006/relationships/image" Target="../media/image9.svg"/><Relationship Id="rId3" Type="http://schemas.openxmlformats.org/officeDocument/2006/relationships/image" Target="../media/image95.png"/><Relationship Id="rId2" Type="http://schemas.openxmlformats.org/officeDocument/2006/relationships/image" Target="../media/image22.svg"/><Relationship Id="rId12" Type="http://schemas.openxmlformats.org/officeDocument/2006/relationships/notesSlide" Target="../notesSlides/notesSlide26.xml"/><Relationship Id="rId11" Type="http://schemas.openxmlformats.org/officeDocument/2006/relationships/slideLayout" Target="../slideLayouts/slideLayout12.xml"/><Relationship Id="rId10" Type="http://schemas.openxmlformats.org/officeDocument/2006/relationships/image" Target="../media/image68.svg"/><Relationship Id="rId1" Type="http://schemas.openxmlformats.org/officeDocument/2006/relationships/image" Target="../media/image55.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2.xml"/><Relationship Id="rId2" Type="http://schemas.openxmlformats.org/officeDocument/2006/relationships/image" Target="../media/image33.svg"/><Relationship Id="rId1" Type="http://schemas.openxmlformats.org/officeDocument/2006/relationships/image" Target="../media/image126.png"/></Relationships>
</file>

<file path=ppt/slides/_rels/slide28.xml.rels><?xml version="1.0" encoding="UTF-8" standalone="yes"?>
<Relationships xmlns="http://schemas.openxmlformats.org/package/2006/relationships"><Relationship Id="rId9" Type="http://schemas.openxmlformats.org/officeDocument/2006/relationships/image" Target="../media/image114.png"/><Relationship Id="rId8" Type="http://schemas.openxmlformats.org/officeDocument/2006/relationships/image" Target="../media/image130.svg"/><Relationship Id="rId7" Type="http://schemas.openxmlformats.org/officeDocument/2006/relationships/image" Target="../media/image129.png"/><Relationship Id="rId6" Type="http://schemas.openxmlformats.org/officeDocument/2006/relationships/image" Target="../media/image22.svg"/><Relationship Id="rId5" Type="http://schemas.openxmlformats.org/officeDocument/2006/relationships/image" Target="../media/image55.png"/><Relationship Id="rId4" Type="http://schemas.openxmlformats.org/officeDocument/2006/relationships/image" Target="../media/image128.svg"/><Relationship Id="rId3" Type="http://schemas.openxmlformats.org/officeDocument/2006/relationships/image" Target="../media/image127.png"/><Relationship Id="rId2" Type="http://schemas.openxmlformats.org/officeDocument/2006/relationships/image" Target="../media/image11.svg"/><Relationship Id="rId12" Type="http://schemas.openxmlformats.org/officeDocument/2006/relationships/notesSlide" Target="../notesSlides/notesSlide28.xml"/><Relationship Id="rId11" Type="http://schemas.openxmlformats.org/officeDocument/2006/relationships/slideLayout" Target="../slideLayouts/slideLayout12.xml"/><Relationship Id="rId10" Type="http://schemas.openxmlformats.org/officeDocument/2006/relationships/image" Target="../media/image48.svg"/><Relationship Id="rId1" Type="http://schemas.openxmlformats.org/officeDocument/2006/relationships/image" Target="../media/image20.png"/></Relationships>
</file>

<file path=ppt/slides/_rels/slide29.xml.rels><?xml version="1.0" encoding="UTF-8" standalone="yes"?>
<Relationships xmlns="http://schemas.openxmlformats.org/package/2006/relationships"><Relationship Id="rId8" Type="http://schemas.openxmlformats.org/officeDocument/2006/relationships/notesSlide" Target="../notesSlides/notesSlide29.xml"/><Relationship Id="rId7" Type="http://schemas.openxmlformats.org/officeDocument/2006/relationships/slideLayout" Target="../slideLayouts/slideLayout12.xml"/><Relationship Id="rId6" Type="http://schemas.openxmlformats.org/officeDocument/2006/relationships/image" Target="../media/image105.svg"/><Relationship Id="rId5" Type="http://schemas.openxmlformats.org/officeDocument/2006/relationships/image" Target="../media/image104.png"/><Relationship Id="rId4" Type="http://schemas.openxmlformats.org/officeDocument/2006/relationships/image" Target="../media/image46.svg"/><Relationship Id="rId3" Type="http://schemas.openxmlformats.org/officeDocument/2006/relationships/image" Target="../media/image131.png"/><Relationship Id="rId2" Type="http://schemas.openxmlformats.org/officeDocument/2006/relationships/image" Target="../media/image11.svg"/><Relationship Id="rId1" Type="http://schemas.openxmlformats.org/officeDocument/2006/relationships/image" Target="../media/image20.png"/></Relationships>
</file>

<file path=ppt/slides/_rels/slide30.xml.rels><?xml version="1.0" encoding="UTF-8" standalone="yes"?>
<Relationships xmlns="http://schemas.openxmlformats.org/package/2006/relationships"><Relationship Id="rId9" Type="http://schemas.openxmlformats.org/officeDocument/2006/relationships/image" Target="../media/image136.png"/><Relationship Id="rId8" Type="http://schemas.openxmlformats.org/officeDocument/2006/relationships/image" Target="../media/image79.svg"/><Relationship Id="rId7" Type="http://schemas.openxmlformats.org/officeDocument/2006/relationships/image" Target="../media/image78.png"/><Relationship Id="rId6" Type="http://schemas.openxmlformats.org/officeDocument/2006/relationships/image" Target="../media/image135.svg"/><Relationship Id="rId5" Type="http://schemas.openxmlformats.org/officeDocument/2006/relationships/image" Target="../media/image134.png"/><Relationship Id="rId4" Type="http://schemas.openxmlformats.org/officeDocument/2006/relationships/image" Target="../media/image133.svg"/><Relationship Id="rId3" Type="http://schemas.openxmlformats.org/officeDocument/2006/relationships/image" Target="../media/image132.png"/><Relationship Id="rId2" Type="http://schemas.openxmlformats.org/officeDocument/2006/relationships/image" Target="../media/image11.svg"/><Relationship Id="rId14" Type="http://schemas.openxmlformats.org/officeDocument/2006/relationships/notesSlide" Target="../notesSlides/notesSlide30.xml"/><Relationship Id="rId13" Type="http://schemas.openxmlformats.org/officeDocument/2006/relationships/slideLayout" Target="../slideLayouts/slideLayout12.xml"/><Relationship Id="rId12" Type="http://schemas.openxmlformats.org/officeDocument/2006/relationships/image" Target="../media/image105.svg"/><Relationship Id="rId11" Type="http://schemas.openxmlformats.org/officeDocument/2006/relationships/image" Target="../media/image104.png"/><Relationship Id="rId10" Type="http://schemas.openxmlformats.org/officeDocument/2006/relationships/image" Target="../media/image137.svg"/><Relationship Id="rId1" Type="http://schemas.openxmlformats.org/officeDocument/2006/relationships/image" Target="../media/image20.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2.xml"/><Relationship Id="rId2" Type="http://schemas.openxmlformats.org/officeDocument/2006/relationships/image" Target="../media/image13.svg"/><Relationship Id="rId1" Type="http://schemas.openxmlformats.org/officeDocument/2006/relationships/image" Target="../media/image138.png"/></Relationships>
</file>

<file path=ppt/slides/_rels/slide32.xml.rels><?xml version="1.0" encoding="UTF-8" standalone="yes"?>
<Relationships xmlns="http://schemas.openxmlformats.org/package/2006/relationships"><Relationship Id="rId9" Type="http://schemas.openxmlformats.org/officeDocument/2006/relationships/image" Target="../media/image141.png"/><Relationship Id="rId8" Type="http://schemas.openxmlformats.org/officeDocument/2006/relationships/image" Target="../media/image125.svg"/><Relationship Id="rId7" Type="http://schemas.openxmlformats.org/officeDocument/2006/relationships/image" Target="../media/image124.png"/><Relationship Id="rId6" Type="http://schemas.openxmlformats.org/officeDocument/2006/relationships/image" Target="../media/image140.svg"/><Relationship Id="rId5" Type="http://schemas.openxmlformats.org/officeDocument/2006/relationships/image" Target="../media/image139.png"/><Relationship Id="rId4" Type="http://schemas.openxmlformats.org/officeDocument/2006/relationships/image" Target="../media/image11.svg"/><Relationship Id="rId3" Type="http://schemas.openxmlformats.org/officeDocument/2006/relationships/image" Target="../media/image20.png"/><Relationship Id="rId2" Type="http://schemas.openxmlformats.org/officeDocument/2006/relationships/image" Target="../media/image133.svg"/><Relationship Id="rId12" Type="http://schemas.openxmlformats.org/officeDocument/2006/relationships/notesSlide" Target="../notesSlides/notesSlide32.xml"/><Relationship Id="rId11" Type="http://schemas.openxmlformats.org/officeDocument/2006/relationships/slideLayout" Target="../slideLayouts/slideLayout12.xml"/><Relationship Id="rId10" Type="http://schemas.openxmlformats.org/officeDocument/2006/relationships/image" Target="../media/image142.svg"/><Relationship Id="rId1" Type="http://schemas.openxmlformats.org/officeDocument/2006/relationships/image" Target="../media/image132.png"/></Relationships>
</file>

<file path=ppt/slides/_rels/slide33.xml.rels><?xml version="1.0" encoding="UTF-8" standalone="yes"?>
<Relationships xmlns="http://schemas.openxmlformats.org/package/2006/relationships"><Relationship Id="rId6" Type="http://schemas.openxmlformats.org/officeDocument/2006/relationships/notesSlide" Target="../notesSlides/notesSlide33.xml"/><Relationship Id="rId5" Type="http://schemas.openxmlformats.org/officeDocument/2006/relationships/slideLayout" Target="../slideLayouts/slideLayout12.xml"/><Relationship Id="rId4" Type="http://schemas.openxmlformats.org/officeDocument/2006/relationships/image" Target="../media/image146.svg"/><Relationship Id="rId3" Type="http://schemas.openxmlformats.org/officeDocument/2006/relationships/image" Target="../media/image145.png"/><Relationship Id="rId2" Type="http://schemas.openxmlformats.org/officeDocument/2006/relationships/image" Target="../media/image144.svg"/><Relationship Id="rId1" Type="http://schemas.openxmlformats.org/officeDocument/2006/relationships/image" Target="../media/image143.png"/></Relationships>
</file>

<file path=ppt/slides/_rels/slide34.xml.rels><?xml version="1.0" encoding="UTF-8" standalone="yes"?>
<Relationships xmlns="http://schemas.openxmlformats.org/package/2006/relationships"><Relationship Id="rId8" Type="http://schemas.openxmlformats.org/officeDocument/2006/relationships/notesSlide" Target="../notesSlides/notesSlide34.xml"/><Relationship Id="rId7" Type="http://schemas.openxmlformats.org/officeDocument/2006/relationships/slideLayout" Target="../slideLayouts/slideLayout12.xml"/><Relationship Id="rId6" Type="http://schemas.openxmlformats.org/officeDocument/2006/relationships/image" Target="../media/image68.svg"/><Relationship Id="rId5" Type="http://schemas.openxmlformats.org/officeDocument/2006/relationships/image" Target="../media/image69.png"/><Relationship Id="rId4" Type="http://schemas.openxmlformats.org/officeDocument/2006/relationships/image" Target="../media/image99.svg"/><Relationship Id="rId3" Type="http://schemas.openxmlformats.org/officeDocument/2006/relationships/image" Target="../media/image98.png"/><Relationship Id="rId2" Type="http://schemas.openxmlformats.org/officeDocument/2006/relationships/image" Target="../media/image35.svg"/><Relationship Id="rId1" Type="http://schemas.openxmlformats.org/officeDocument/2006/relationships/image" Target="../media/image147.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12.xml"/><Relationship Id="rId2" Type="http://schemas.openxmlformats.org/officeDocument/2006/relationships/image" Target="../media/image15.svg"/><Relationship Id="rId1" Type="http://schemas.openxmlformats.org/officeDocument/2006/relationships/image" Target="../media/image148.png"/></Relationships>
</file>

<file path=ppt/slides/_rels/slide36.xml.rels><?xml version="1.0" encoding="UTF-8" standalone="yes"?>
<Relationships xmlns="http://schemas.openxmlformats.org/package/2006/relationships"><Relationship Id="rId9" Type="http://schemas.openxmlformats.org/officeDocument/2006/relationships/image" Target="../media/image153.png"/><Relationship Id="rId8" Type="http://schemas.openxmlformats.org/officeDocument/2006/relationships/image" Target="../media/image152.svg"/><Relationship Id="rId7" Type="http://schemas.openxmlformats.org/officeDocument/2006/relationships/image" Target="../media/image151.png"/><Relationship Id="rId6" Type="http://schemas.openxmlformats.org/officeDocument/2006/relationships/image" Target="../media/image150.svg"/><Relationship Id="rId5" Type="http://schemas.openxmlformats.org/officeDocument/2006/relationships/image" Target="../media/image149.png"/><Relationship Id="rId4" Type="http://schemas.openxmlformats.org/officeDocument/2006/relationships/image" Target="../media/image35.svg"/><Relationship Id="rId3" Type="http://schemas.openxmlformats.org/officeDocument/2006/relationships/image" Target="../media/image147.png"/><Relationship Id="rId2" Type="http://schemas.openxmlformats.org/officeDocument/2006/relationships/image" Target="../media/image15.svg"/><Relationship Id="rId16" Type="http://schemas.openxmlformats.org/officeDocument/2006/relationships/notesSlide" Target="../notesSlides/notesSlide36.xml"/><Relationship Id="rId15" Type="http://schemas.openxmlformats.org/officeDocument/2006/relationships/slideLayout" Target="../slideLayouts/slideLayout12.xml"/><Relationship Id="rId14" Type="http://schemas.openxmlformats.org/officeDocument/2006/relationships/image" Target="../media/image156.svg"/><Relationship Id="rId13" Type="http://schemas.openxmlformats.org/officeDocument/2006/relationships/image" Target="../media/image155.png"/><Relationship Id="rId12" Type="http://schemas.openxmlformats.org/officeDocument/2006/relationships/image" Target="../media/image48.svg"/><Relationship Id="rId11" Type="http://schemas.openxmlformats.org/officeDocument/2006/relationships/image" Target="../media/image114.png"/><Relationship Id="rId10" Type="http://schemas.openxmlformats.org/officeDocument/2006/relationships/image" Target="../media/image154.svg"/><Relationship Id="rId1" Type="http://schemas.openxmlformats.org/officeDocument/2006/relationships/image" Target="../media/image148.png"/></Relationships>
</file>

<file path=ppt/slides/_rels/slide37.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68.svg"/><Relationship Id="rId7" Type="http://schemas.openxmlformats.org/officeDocument/2006/relationships/image" Target="../media/image69.png"/><Relationship Id="rId6" Type="http://schemas.openxmlformats.org/officeDocument/2006/relationships/image" Target="../media/image125.svg"/><Relationship Id="rId5" Type="http://schemas.openxmlformats.org/officeDocument/2006/relationships/image" Target="../media/image124.png"/><Relationship Id="rId4" Type="http://schemas.openxmlformats.org/officeDocument/2006/relationships/image" Target="../media/image158.svg"/><Relationship Id="rId3" Type="http://schemas.openxmlformats.org/officeDocument/2006/relationships/image" Target="../media/image157.png"/><Relationship Id="rId2" Type="http://schemas.openxmlformats.org/officeDocument/2006/relationships/image" Target="../media/image35.svg"/><Relationship Id="rId10" Type="http://schemas.openxmlformats.org/officeDocument/2006/relationships/notesSlide" Target="../notesSlides/notesSlide37.xml"/><Relationship Id="rId1" Type="http://schemas.openxmlformats.org/officeDocument/2006/relationships/image" Target="../media/image147.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12.xml"/><Relationship Id="rId2" Type="http://schemas.openxmlformats.org/officeDocument/2006/relationships/image" Target="../media/image160.svg"/><Relationship Id="rId1" Type="http://schemas.openxmlformats.org/officeDocument/2006/relationships/image" Target="../media/image159.png"/></Relationships>
</file>

<file path=ppt/slides/_rels/slide39.xml.rels><?xml version="1.0" encoding="UTF-8" standalone="yes"?>
<Relationships xmlns="http://schemas.openxmlformats.org/package/2006/relationships"><Relationship Id="rId9" Type="http://schemas.openxmlformats.org/officeDocument/2006/relationships/image" Target="../media/image167.png"/><Relationship Id="rId8" Type="http://schemas.openxmlformats.org/officeDocument/2006/relationships/image" Target="../media/image166.svg"/><Relationship Id="rId7" Type="http://schemas.openxmlformats.org/officeDocument/2006/relationships/image" Target="../media/image165.png"/><Relationship Id="rId6" Type="http://schemas.openxmlformats.org/officeDocument/2006/relationships/image" Target="../media/image164.svg"/><Relationship Id="rId5" Type="http://schemas.openxmlformats.org/officeDocument/2006/relationships/image" Target="../media/image163.png"/><Relationship Id="rId4" Type="http://schemas.openxmlformats.org/officeDocument/2006/relationships/image" Target="../media/image162.svg"/><Relationship Id="rId3" Type="http://schemas.openxmlformats.org/officeDocument/2006/relationships/image" Target="../media/image161.png"/><Relationship Id="rId2" Type="http://schemas.openxmlformats.org/officeDocument/2006/relationships/image" Target="../media/image3.svg"/><Relationship Id="rId14" Type="http://schemas.openxmlformats.org/officeDocument/2006/relationships/notesSlide" Target="../notesSlides/notesSlide39.xml"/><Relationship Id="rId13" Type="http://schemas.openxmlformats.org/officeDocument/2006/relationships/slideLayout" Target="../slideLayouts/slideLayout12.xml"/><Relationship Id="rId12" Type="http://schemas.openxmlformats.org/officeDocument/2006/relationships/image" Target="../media/image170.svg"/><Relationship Id="rId11" Type="http://schemas.openxmlformats.org/officeDocument/2006/relationships/image" Target="../media/image169.png"/><Relationship Id="rId10" Type="http://schemas.openxmlformats.org/officeDocument/2006/relationships/image" Target="../media/image168.svg"/><Relationship Id="rId1" Type="http://schemas.openxmlformats.org/officeDocument/2006/relationships/image" Target="../media/image70.png"/></Relationships>
</file>

<file path=ppt/slides/_rels/slide40.xml.rels><?xml version="1.0" encoding="UTF-8" standalone="yes"?>
<Relationships xmlns="http://schemas.openxmlformats.org/package/2006/relationships"><Relationship Id="rId8" Type="http://schemas.openxmlformats.org/officeDocument/2006/relationships/notesSlide" Target="../notesSlides/notesSlide40.xml"/><Relationship Id="rId7" Type="http://schemas.openxmlformats.org/officeDocument/2006/relationships/slideLayout" Target="../slideLayouts/slideLayout12.xml"/><Relationship Id="rId6" Type="http://schemas.openxmlformats.org/officeDocument/2006/relationships/image" Target="../media/image160.svg"/><Relationship Id="rId5" Type="http://schemas.openxmlformats.org/officeDocument/2006/relationships/image" Target="../media/image159.png"/><Relationship Id="rId4" Type="http://schemas.openxmlformats.org/officeDocument/2006/relationships/image" Target="../media/image22.svg"/><Relationship Id="rId3" Type="http://schemas.openxmlformats.org/officeDocument/2006/relationships/image" Target="../media/image55.png"/><Relationship Id="rId2" Type="http://schemas.openxmlformats.org/officeDocument/2006/relationships/image" Target="../media/image172.svg"/><Relationship Id="rId1" Type="http://schemas.openxmlformats.org/officeDocument/2006/relationships/image" Target="../media/image171.png"/></Relationships>
</file>

<file path=ppt/slides/_rels/slide41.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68.svg"/><Relationship Id="rId7" Type="http://schemas.openxmlformats.org/officeDocument/2006/relationships/image" Target="../media/image69.png"/><Relationship Id="rId6" Type="http://schemas.openxmlformats.org/officeDocument/2006/relationships/image" Target="../media/image75.svg"/><Relationship Id="rId5" Type="http://schemas.openxmlformats.org/officeDocument/2006/relationships/image" Target="../media/image92.png"/><Relationship Id="rId4" Type="http://schemas.openxmlformats.org/officeDocument/2006/relationships/image" Target="../media/image176.svg"/><Relationship Id="rId3" Type="http://schemas.openxmlformats.org/officeDocument/2006/relationships/image" Target="../media/image175.png"/><Relationship Id="rId2" Type="http://schemas.openxmlformats.org/officeDocument/2006/relationships/image" Target="../media/image174.svg"/><Relationship Id="rId10" Type="http://schemas.openxmlformats.org/officeDocument/2006/relationships/notesSlide" Target="../notesSlides/notesSlide41.xml"/><Relationship Id="rId1" Type="http://schemas.openxmlformats.org/officeDocument/2006/relationships/image" Target="../media/image173.pn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12.xml"/><Relationship Id="rId2" Type="http://schemas.openxmlformats.org/officeDocument/2006/relationships/image" Target="../media/image178.svg"/><Relationship Id="rId1" Type="http://schemas.openxmlformats.org/officeDocument/2006/relationships/image" Target="../media/image177.png"/></Relationships>
</file>

<file path=ppt/slides/_rels/slide43.xml.rels><?xml version="1.0" encoding="UTF-8" standalone="yes"?>
<Relationships xmlns="http://schemas.openxmlformats.org/package/2006/relationships"><Relationship Id="rId9" Type="http://schemas.openxmlformats.org/officeDocument/2006/relationships/image" Target="../media/image180.png"/><Relationship Id="rId8" Type="http://schemas.openxmlformats.org/officeDocument/2006/relationships/image" Target="../media/image35.svg"/><Relationship Id="rId7" Type="http://schemas.openxmlformats.org/officeDocument/2006/relationships/image" Target="../media/image147.png"/><Relationship Id="rId6" Type="http://schemas.openxmlformats.org/officeDocument/2006/relationships/image" Target="../media/image33.svg"/><Relationship Id="rId5" Type="http://schemas.openxmlformats.org/officeDocument/2006/relationships/image" Target="../media/image126.png"/><Relationship Id="rId4" Type="http://schemas.openxmlformats.org/officeDocument/2006/relationships/image" Target="../media/image31.svg"/><Relationship Id="rId3" Type="http://schemas.openxmlformats.org/officeDocument/2006/relationships/image" Target="../media/image179.png"/><Relationship Id="rId2" Type="http://schemas.openxmlformats.org/officeDocument/2006/relationships/image" Target="../media/image75.svg"/><Relationship Id="rId15" Type="http://schemas.openxmlformats.org/officeDocument/2006/relationships/notesSlide" Target="../notesSlides/notesSlide43.xml"/><Relationship Id="rId14" Type="http://schemas.openxmlformats.org/officeDocument/2006/relationships/slideLayout" Target="../slideLayouts/slideLayout12.xml"/><Relationship Id="rId13" Type="http://schemas.openxmlformats.org/officeDocument/2006/relationships/image" Target="../media/image182.jpeg"/><Relationship Id="rId12" Type="http://schemas.openxmlformats.org/officeDocument/2006/relationships/image" Target="../media/image39.svg"/><Relationship Id="rId11" Type="http://schemas.openxmlformats.org/officeDocument/2006/relationships/image" Target="../media/image181.png"/><Relationship Id="rId10" Type="http://schemas.openxmlformats.org/officeDocument/2006/relationships/image" Target="../media/image37.svg"/><Relationship Id="rId1" Type="http://schemas.openxmlformats.org/officeDocument/2006/relationships/image" Target="../media/image92.png"/></Relationships>
</file>

<file path=ppt/slides/_rels/slide4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84.svg"/><Relationship Id="rId7" Type="http://schemas.openxmlformats.org/officeDocument/2006/relationships/image" Target="../media/image183.png"/><Relationship Id="rId6" Type="http://schemas.openxmlformats.org/officeDocument/2006/relationships/image" Target="../media/image91.svg"/><Relationship Id="rId5" Type="http://schemas.openxmlformats.org/officeDocument/2006/relationships/image" Target="../media/image90.png"/><Relationship Id="rId4" Type="http://schemas.openxmlformats.org/officeDocument/2006/relationships/image" Target="../media/image87.svg"/><Relationship Id="rId3" Type="http://schemas.openxmlformats.org/officeDocument/2006/relationships/image" Target="../media/image86.png"/><Relationship Id="rId2" Type="http://schemas.openxmlformats.org/officeDocument/2006/relationships/image" Target="../media/image75.svg"/><Relationship Id="rId10" Type="http://schemas.openxmlformats.org/officeDocument/2006/relationships/notesSlide" Target="../notesSlides/notesSlide44.xml"/><Relationship Id="rId1" Type="http://schemas.openxmlformats.org/officeDocument/2006/relationships/image" Target="../media/image92.png"/></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45.xml"/><Relationship Id="rId4" Type="http://schemas.openxmlformats.org/officeDocument/2006/relationships/slideLayout" Target="../slideLayouts/slideLayout12.xml"/><Relationship Id="rId3" Type="http://schemas.openxmlformats.org/officeDocument/2006/relationships/image" Target="../media/image186.svg"/><Relationship Id="rId2" Type="http://schemas.openxmlformats.org/officeDocument/2006/relationships/image" Target="../media/image185.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1016000" y="1524000"/>
            <a:ext cx="10160000" cy="3810000"/>
          </a:xfrm>
          <a:prstGeom prst="roundRect">
            <a:avLst>
              <a:gd name="adj" fmla="val 6666"/>
            </a:avLst>
          </a:prstGeom>
          <a:solidFill>
            <a:srgbClr val="FFFFFF">
              <a:alpha val="90000"/>
            </a:srgbClr>
          </a:solidFill>
          <a:ln cap="flat" cmpd="sng">
            <a:solidFill>
              <a:srgbClr val="E6CFCF">
                <a:alpha val="90000"/>
              </a:srgbClr>
            </a:solidFill>
            <a:prstDash val="solid"/>
            <a:round/>
          </a:ln>
          <a:effectLst>
            <a:outerShdw blurRad="254000" dist="1270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91200" y="1778000"/>
            <a:ext cx="609600" cy="609600"/>
          </a:xfrm>
          <a:prstGeom prst="rect">
            <a:avLst/>
          </a:prstGeom>
        </p:spPr>
      </p:pic>
      <p:sp>
        <p:nvSpPr>
          <p:cNvPr id="5" name="AutoShape 5"/>
          <p:cNvSpPr/>
          <p:nvPr/>
        </p:nvSpPr>
        <p:spPr>
          <a:xfrm>
            <a:off x="1270000" y="2540000"/>
            <a:ext cx="9652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400" b="1" i="0" u="none" strike="noStrike">
                <a:solidFill>
                  <a:srgbClr val="0277BD"/>
                </a:solidFill>
                <a:latin typeface="Noto Sans SC"/>
                <a:ea typeface="Noto Sans SC"/>
                <a:cs typeface="Noto Sans SC"/>
                <a:sym typeface="Noto Sans SC"/>
              </a:rPr>
              <a:t>LangChain开发与实战</a:t>
            </a:r>
            <a:endParaRPr lang="en-US" sz="1100"/>
          </a:p>
        </p:txBody>
      </p:sp>
      <p:sp>
        <p:nvSpPr>
          <p:cNvPr id="6" name="AutoShape 6"/>
          <p:cNvSpPr/>
          <p:nvPr/>
        </p:nvSpPr>
        <p:spPr>
          <a:xfrm>
            <a:off x="5715000" y="3429000"/>
            <a:ext cx="762000" cy="50800"/>
          </a:xfrm>
          <a:prstGeom prst="roundRect">
            <a:avLst>
              <a:gd name="adj" fmla="val 0"/>
            </a:avLst>
          </a:prstGeom>
          <a:solidFill>
            <a:srgbClr val="FF98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270000" y="3683000"/>
            <a:ext cx="9652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400" b="0" i="0" u="none" strike="noStrike">
                <a:solidFill>
                  <a:srgbClr val="757575"/>
                </a:solidFill>
                <a:latin typeface="Noto Sans SC"/>
                <a:ea typeface="Noto Sans SC"/>
                <a:cs typeface="Noto Sans SC"/>
                <a:sym typeface="Noto Sans SC"/>
              </a:rPr>
              <a:t>基于大语言模型的应用开发框架详解</a:t>
            </a:r>
            <a:endParaRPr lang="en-US" sz="1100"/>
          </a:p>
        </p:txBody>
      </p:sp>
      <p:sp>
        <p:nvSpPr>
          <p:cNvPr id="8" name="AutoShape 8"/>
          <p:cNvSpPr/>
          <p:nvPr/>
        </p:nvSpPr>
        <p:spPr>
          <a:xfrm>
            <a:off x="5080000" y="4445000"/>
            <a:ext cx="2032000" cy="406400"/>
          </a:xfrm>
          <a:prstGeom prst="roundRect">
            <a:avLst>
              <a:gd name="adj" fmla="val 50000"/>
            </a:avLst>
          </a:prstGeom>
          <a:solidFill>
            <a:srgbClr val="0277BD">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0277BD"/>
                </a:solidFill>
                <a:latin typeface="Noto Sans SC"/>
                <a:ea typeface="Noto Sans SC"/>
                <a:cs typeface="Noto Sans SC"/>
                <a:sym typeface="Noto Sans SC"/>
              </a:rPr>
              <a:t>大学教学课件</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889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目录</a:t>
            </a:r>
            <a:endParaRPr lang="en-US" sz="1100"/>
          </a:p>
        </p:txBody>
      </p:sp>
      <p:sp>
        <p:nvSpPr>
          <p:cNvPr id="3" name="AutoShape 3"/>
          <p:cNvSpPr/>
          <p:nvPr/>
        </p:nvSpPr>
        <p:spPr>
          <a:xfrm>
            <a:off x="762000" y="1079500"/>
            <a:ext cx="508000" cy="50800"/>
          </a:xfrm>
          <a:prstGeom prst="roundRect">
            <a:avLst>
              <a:gd name="adj" fmla="val 0"/>
            </a:avLst>
          </a:prstGeom>
          <a:solidFill>
            <a:srgbClr val="FF98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524000"/>
            <a:ext cx="5080000" cy="1016000"/>
          </a:xfrm>
          <a:prstGeom prst="roundRect">
            <a:avLst>
              <a:gd name="adj" fmla="val 12500"/>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508000" cy="508000"/>
          </a:xfrm>
          <a:prstGeom prst="rect">
            <a:avLst/>
          </a:prstGeom>
        </p:spPr>
      </p:pic>
      <p:sp>
        <p:nvSpPr>
          <p:cNvPr id="6" name="AutoShape 6"/>
          <p:cNvSpPr/>
          <p:nvPr/>
        </p:nvSpPr>
        <p:spPr>
          <a:xfrm>
            <a:off x="1651000" y="1651000"/>
            <a:ext cx="3937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757575"/>
                </a:solidFill>
                <a:latin typeface="Noto Sans SC"/>
                <a:ea typeface="Noto Sans SC"/>
                <a:cs typeface="Noto Sans SC"/>
                <a:sym typeface="Noto Sans SC"/>
              </a:rPr>
              <a:t>初识LangChain</a:t>
            </a:r>
            <a:endParaRPr lang="en-US" sz="1100"/>
          </a:p>
        </p:txBody>
      </p:sp>
      <p:sp>
        <p:nvSpPr>
          <p:cNvPr id="7" name="AutoShape 7"/>
          <p:cNvSpPr/>
          <p:nvPr/>
        </p:nvSpPr>
        <p:spPr>
          <a:xfrm>
            <a:off x="6350000" y="1524000"/>
            <a:ext cx="5080000" cy="1016000"/>
          </a:xfrm>
          <a:prstGeom prst="roundRect">
            <a:avLst>
              <a:gd name="adj" fmla="val 12500"/>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1778000"/>
            <a:ext cx="508000" cy="508000"/>
          </a:xfrm>
          <a:prstGeom prst="rect">
            <a:avLst/>
          </a:prstGeom>
        </p:spPr>
      </p:pic>
      <p:sp>
        <p:nvSpPr>
          <p:cNvPr id="9" name="AutoShape 9"/>
          <p:cNvSpPr/>
          <p:nvPr/>
        </p:nvSpPr>
        <p:spPr>
          <a:xfrm>
            <a:off x="7239000" y="1651000"/>
            <a:ext cx="3937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757575"/>
                </a:solidFill>
                <a:latin typeface="Noto Sans SC"/>
                <a:ea typeface="Noto Sans SC"/>
                <a:cs typeface="Noto Sans SC"/>
                <a:sym typeface="Noto Sans SC"/>
              </a:rPr>
              <a:t>模型I/O（Model IO）</a:t>
            </a:r>
            <a:endParaRPr lang="en-US" sz="1100"/>
          </a:p>
        </p:txBody>
      </p:sp>
      <p:sp>
        <p:nvSpPr>
          <p:cNvPr id="10" name="AutoShape 10"/>
          <p:cNvSpPr/>
          <p:nvPr/>
        </p:nvSpPr>
        <p:spPr>
          <a:xfrm>
            <a:off x="762000" y="2730500"/>
            <a:ext cx="5080000" cy="1016000"/>
          </a:xfrm>
          <a:prstGeom prst="roundRect">
            <a:avLst>
              <a:gd name="adj" fmla="val 12500"/>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2984500"/>
            <a:ext cx="508000" cy="508000"/>
          </a:xfrm>
          <a:prstGeom prst="rect">
            <a:avLst/>
          </a:prstGeom>
        </p:spPr>
      </p:pic>
      <p:sp>
        <p:nvSpPr>
          <p:cNvPr id="12" name="AutoShape 12"/>
          <p:cNvSpPr/>
          <p:nvPr/>
        </p:nvSpPr>
        <p:spPr>
          <a:xfrm>
            <a:off x="1651000" y="2857500"/>
            <a:ext cx="3937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757575"/>
                </a:solidFill>
                <a:latin typeface="Noto Sans SC"/>
                <a:ea typeface="Noto Sans SC"/>
                <a:cs typeface="Noto Sans SC"/>
                <a:sym typeface="Noto Sans SC"/>
              </a:rPr>
              <a:t>数据连接（Data Connection）</a:t>
            </a:r>
            <a:endParaRPr lang="en-US" sz="1100"/>
          </a:p>
        </p:txBody>
      </p:sp>
      <p:sp>
        <p:nvSpPr>
          <p:cNvPr id="13" name="AutoShape 13"/>
          <p:cNvSpPr/>
          <p:nvPr/>
        </p:nvSpPr>
        <p:spPr>
          <a:xfrm>
            <a:off x="6350000" y="2730500"/>
            <a:ext cx="5080000" cy="1016000"/>
          </a:xfrm>
          <a:prstGeom prst="roundRect">
            <a:avLst>
              <a:gd name="adj" fmla="val 12500"/>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2984500"/>
            <a:ext cx="508000" cy="508000"/>
          </a:xfrm>
          <a:prstGeom prst="rect">
            <a:avLst/>
          </a:prstGeom>
        </p:spPr>
      </p:pic>
      <p:sp>
        <p:nvSpPr>
          <p:cNvPr id="15" name="AutoShape 15"/>
          <p:cNvSpPr/>
          <p:nvPr/>
        </p:nvSpPr>
        <p:spPr>
          <a:xfrm>
            <a:off x="7239000" y="2857500"/>
            <a:ext cx="3937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757575"/>
                </a:solidFill>
                <a:latin typeface="Noto Sans SC"/>
                <a:ea typeface="Noto Sans SC"/>
                <a:cs typeface="Noto Sans SC"/>
                <a:sym typeface="Noto Sans SC"/>
              </a:rPr>
              <a:t>链（Chains）</a:t>
            </a:r>
            <a:endParaRPr lang="en-US" sz="1100"/>
          </a:p>
        </p:txBody>
      </p:sp>
      <p:sp>
        <p:nvSpPr>
          <p:cNvPr id="16" name="AutoShape 16"/>
          <p:cNvSpPr/>
          <p:nvPr/>
        </p:nvSpPr>
        <p:spPr>
          <a:xfrm>
            <a:off x="762000" y="3937000"/>
            <a:ext cx="5080000" cy="1016000"/>
          </a:xfrm>
          <a:prstGeom prst="roundRect">
            <a:avLst>
              <a:gd name="adj" fmla="val 12500"/>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4191000"/>
            <a:ext cx="508000" cy="508000"/>
          </a:xfrm>
          <a:prstGeom prst="rect">
            <a:avLst/>
          </a:prstGeom>
        </p:spPr>
      </p:pic>
      <p:sp>
        <p:nvSpPr>
          <p:cNvPr id="18" name="AutoShape 18"/>
          <p:cNvSpPr/>
          <p:nvPr/>
        </p:nvSpPr>
        <p:spPr>
          <a:xfrm>
            <a:off x="1651000" y="4064000"/>
            <a:ext cx="3937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757575"/>
                </a:solidFill>
                <a:latin typeface="Noto Sans SC"/>
                <a:ea typeface="Noto Sans SC"/>
                <a:cs typeface="Noto Sans SC"/>
                <a:sym typeface="Noto Sans SC"/>
              </a:rPr>
              <a:t>记忆（Memory）</a:t>
            </a:r>
            <a:endParaRPr lang="en-US" sz="1100"/>
          </a:p>
        </p:txBody>
      </p:sp>
      <p:sp>
        <p:nvSpPr>
          <p:cNvPr id="19" name="AutoShape 19"/>
          <p:cNvSpPr/>
          <p:nvPr/>
        </p:nvSpPr>
        <p:spPr>
          <a:xfrm>
            <a:off x="6350000" y="3937000"/>
            <a:ext cx="5080000" cy="1016000"/>
          </a:xfrm>
          <a:prstGeom prst="roundRect">
            <a:avLst>
              <a:gd name="adj" fmla="val 12500"/>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04000" y="4191000"/>
            <a:ext cx="508000" cy="508000"/>
          </a:xfrm>
          <a:prstGeom prst="rect">
            <a:avLst/>
          </a:prstGeom>
        </p:spPr>
      </p:pic>
      <p:sp>
        <p:nvSpPr>
          <p:cNvPr id="21" name="AutoShape 21"/>
          <p:cNvSpPr/>
          <p:nvPr/>
        </p:nvSpPr>
        <p:spPr>
          <a:xfrm>
            <a:off x="7239000" y="4064000"/>
            <a:ext cx="3937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757575"/>
                </a:solidFill>
                <a:latin typeface="Noto Sans SC"/>
                <a:ea typeface="Noto Sans SC"/>
                <a:cs typeface="Noto Sans SC"/>
                <a:sym typeface="Noto Sans SC"/>
              </a:rPr>
              <a:t>智能体（Agents）</a:t>
            </a:r>
            <a:endParaRPr lang="en-US" sz="1100"/>
          </a:p>
        </p:txBody>
      </p:sp>
      <p:sp>
        <p:nvSpPr>
          <p:cNvPr id="22" name="AutoShape 22"/>
          <p:cNvSpPr/>
          <p:nvPr/>
        </p:nvSpPr>
        <p:spPr>
          <a:xfrm>
            <a:off x="762000" y="5143500"/>
            <a:ext cx="5080000" cy="1016000"/>
          </a:xfrm>
          <a:prstGeom prst="roundRect">
            <a:avLst>
              <a:gd name="adj" fmla="val 12500"/>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016000" y="5397500"/>
            <a:ext cx="508000" cy="508000"/>
          </a:xfrm>
          <a:prstGeom prst="rect">
            <a:avLst/>
          </a:prstGeom>
        </p:spPr>
      </p:pic>
      <p:sp>
        <p:nvSpPr>
          <p:cNvPr id="24" name="AutoShape 24"/>
          <p:cNvSpPr/>
          <p:nvPr/>
        </p:nvSpPr>
        <p:spPr>
          <a:xfrm>
            <a:off x="1651000" y="5270500"/>
            <a:ext cx="3937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757575"/>
                </a:solidFill>
                <a:latin typeface="Noto Sans SC"/>
                <a:ea typeface="Noto Sans SC"/>
                <a:cs typeface="Noto Sans SC"/>
                <a:sym typeface="Noto Sans SC"/>
              </a:rPr>
              <a:t>回调处理器（Callbacks）</a:t>
            </a:r>
            <a:endParaRPr lang="en-US" sz="1100"/>
          </a:p>
        </p:txBody>
      </p:sp>
      <p:sp>
        <p:nvSpPr>
          <p:cNvPr id="25" name="AutoShape 25"/>
          <p:cNvSpPr/>
          <p:nvPr/>
        </p:nvSpPr>
        <p:spPr>
          <a:xfrm>
            <a:off x="6350000" y="5143500"/>
            <a:ext cx="5080000" cy="1016000"/>
          </a:xfrm>
          <a:prstGeom prst="roundRect">
            <a:avLst>
              <a:gd name="adj" fmla="val 12500"/>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604000" y="5397500"/>
            <a:ext cx="508000" cy="508000"/>
          </a:xfrm>
          <a:prstGeom prst="rect">
            <a:avLst/>
          </a:prstGeom>
        </p:spPr>
      </p:pic>
      <p:sp>
        <p:nvSpPr>
          <p:cNvPr id="27" name="AutoShape 27"/>
          <p:cNvSpPr/>
          <p:nvPr/>
        </p:nvSpPr>
        <p:spPr>
          <a:xfrm>
            <a:off x="7239000" y="5270500"/>
            <a:ext cx="3937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757575"/>
                </a:solidFill>
                <a:latin typeface="Noto Sans SC"/>
                <a:ea typeface="Noto Sans SC"/>
                <a:cs typeface="Noto Sans SC"/>
                <a:sym typeface="Noto Sans SC"/>
              </a:rPr>
              <a:t>总结与展望</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635000"/>
            <a:ext cx="2540000" cy="25400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9525000" y="4445000"/>
            <a:ext cx="3810000" cy="38100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16000" y="1397000"/>
            <a:ext cx="10160000" cy="4064000"/>
          </a:xfrm>
          <a:prstGeom prst="roundRect">
            <a:avLst>
              <a:gd name="adj" fmla="val 6250"/>
            </a:avLst>
          </a:prstGeom>
          <a:solidFill>
            <a:srgbClr val="FFFFFF">
              <a:alpha val="100000"/>
            </a:srgbClr>
          </a:solidFill>
          <a:ln w="25400" cap="flat" cmpd="sng">
            <a:noFill/>
            <a:prstDash val="solid"/>
            <a:round/>
          </a:ln>
          <a:effectLst>
            <a:outerShdw blurRad="254000" dist="127000" dir="5400000" algn="tl" rotWithShape="0">
              <a:srgbClr val="0277BD">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91200" y="1778000"/>
            <a:ext cx="609600" cy="609600"/>
          </a:xfrm>
          <a:prstGeom prst="rect">
            <a:avLst/>
          </a:prstGeom>
        </p:spPr>
      </p:pic>
      <p:sp>
        <p:nvSpPr>
          <p:cNvPr id="6" name="AutoShape 6"/>
          <p:cNvSpPr/>
          <p:nvPr/>
        </p:nvSpPr>
        <p:spPr>
          <a:xfrm>
            <a:off x="2324100" y="2540000"/>
            <a:ext cx="75438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0277BD"/>
                </a:solidFill>
                <a:latin typeface="Noto Sans SC"/>
                <a:ea typeface="Noto Sans SC"/>
                <a:cs typeface="Noto Sans SC"/>
                <a:sym typeface="Noto Sans SC"/>
              </a:rPr>
              <a:t>8.1 初识LangChain</a:t>
            </a:r>
            <a:endParaRPr lang="en-US" sz="1100"/>
          </a:p>
        </p:txBody>
      </p:sp>
      <p:cxnSp>
        <p:nvCxnSpPr>
          <p:cNvPr id="7" name="Connector 7"/>
          <p:cNvCxnSpPr/>
          <p:nvPr/>
        </p:nvCxnSpPr>
        <p:spPr>
          <a:xfrm rot="-34376">
            <a:off x="5461032" y="3359150"/>
            <a:ext cx="1270000" cy="12700"/>
          </a:xfrm>
          <a:prstGeom prst="line">
            <a:avLst/>
          </a:prstGeom>
          <a:solidFill>
            <a:srgbClr val="DEE0E3">
              <a:alpha val="100000"/>
            </a:srgbClr>
          </a:solidFill>
          <a:ln w="25400" cap="flat" cmpd="sng">
            <a:solidFill>
              <a:srgbClr val="FF9800">
                <a:alpha val="100000"/>
              </a:srgbClr>
            </a:solidFill>
            <a:prstDash val="solid"/>
            <a:round/>
            <a:headEnd type="none" w="lg" len="lg"/>
            <a:tailEnd type="none" w="lg" len="lg"/>
          </a:ln>
        </p:spPr>
      </p:cxnSp>
      <p:sp>
        <p:nvSpPr>
          <p:cNvPr id="8" name="AutoShape 8"/>
          <p:cNvSpPr/>
          <p:nvPr/>
        </p:nvSpPr>
        <p:spPr>
          <a:xfrm>
            <a:off x="1651000" y="3683000"/>
            <a:ext cx="8890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757575"/>
                </a:solidFill>
                <a:latin typeface="Noto Sans SC"/>
                <a:ea typeface="Noto Sans SC"/>
                <a:cs typeface="Noto Sans SC"/>
                <a:sym typeface="Noto Sans SC"/>
              </a:rPr>
              <a:t>了解发展背景、开发流程和开发生态圈，建立全方位的直观认识。</a:t>
            </a:r>
            <a:endParaRPr lang="en-US" sz="1100"/>
          </a:p>
        </p:txBody>
      </p:sp>
      <p:sp>
        <p:nvSpPr>
          <p:cNvPr id="9" name="AutoShape 9"/>
          <p:cNvSpPr/>
          <p:nvPr/>
        </p:nvSpPr>
        <p:spPr>
          <a:xfrm>
            <a:off x="1016000" y="5384800"/>
            <a:ext cx="10160000" cy="76200"/>
          </a:xfrm>
          <a:prstGeom prst="roundRect">
            <a:avLst>
              <a:gd name="adj" fmla="val 0"/>
            </a:avLst>
          </a:prstGeom>
          <a:gradFill rotWithShape="1">
            <a:gsLst>
              <a:gs pos="0">
                <a:srgbClr val="0277BD">
                  <a:alpha val="100000"/>
                </a:srgbClr>
              </a:gs>
              <a:gs pos="100000">
                <a:srgbClr val="FF9800">
                  <a:alpha val="100000"/>
                </a:srgbClr>
              </a:gs>
            </a:gsLst>
            <a:lin ang="0"/>
          </a:gra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359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8.1.1 LangChain简介</a:t>
            </a:r>
            <a:endParaRPr lang="en-US" sz="1100"/>
          </a:p>
        </p:txBody>
      </p:sp>
      <p:sp>
        <p:nvSpPr>
          <p:cNvPr id="3" name="AutoShape 3"/>
          <p:cNvSpPr/>
          <p:nvPr/>
        </p:nvSpPr>
        <p:spPr>
          <a:xfrm>
            <a:off x="762000" y="1397000"/>
            <a:ext cx="10668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14500"/>
            <a:ext cx="609600" cy="609600"/>
          </a:xfrm>
          <a:prstGeom prst="rect">
            <a:avLst/>
          </a:prstGeom>
        </p:spPr>
      </p:pic>
      <p:sp>
        <p:nvSpPr>
          <p:cNvPr id="5" name="AutoShape 5"/>
          <p:cNvSpPr/>
          <p:nvPr/>
        </p:nvSpPr>
        <p:spPr>
          <a:xfrm>
            <a:off x="1778000" y="1587500"/>
            <a:ext cx="939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LangChain 定义</a:t>
            </a:r>
            <a:endParaRPr lang="en-US" sz="1100"/>
          </a:p>
        </p:txBody>
      </p:sp>
      <p:sp>
        <p:nvSpPr>
          <p:cNvPr id="6" name="AutoShape 6"/>
          <p:cNvSpPr/>
          <p:nvPr/>
        </p:nvSpPr>
        <p:spPr>
          <a:xfrm>
            <a:off x="1778000" y="1968500"/>
            <a:ext cx="939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一个基于大语言模型的开源应用框架，由Harrison Chase开源，现已成为主流的LLM开发框架。</a:t>
            </a:r>
            <a:endParaRPr lang="en-US" sz="1100"/>
          </a:p>
        </p:txBody>
      </p:sp>
      <p:sp>
        <p:nvSpPr>
          <p:cNvPr id="7" name="AutoShape 7"/>
          <p:cNvSpPr/>
          <p:nvPr/>
        </p:nvSpPr>
        <p:spPr>
          <a:xfrm>
            <a:off x="762000" y="2921000"/>
            <a:ext cx="5207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175000"/>
            <a:ext cx="609600" cy="609600"/>
          </a:xfrm>
          <a:prstGeom prst="rect">
            <a:avLst/>
          </a:prstGeom>
        </p:spPr>
      </p:pic>
      <p:sp>
        <p:nvSpPr>
          <p:cNvPr id="9" name="AutoShape 9"/>
          <p:cNvSpPr/>
          <p:nvPr/>
        </p:nvSpPr>
        <p:spPr>
          <a:xfrm>
            <a:off x="1778000" y="3175000"/>
            <a:ext cx="3937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降低开发门槛</a:t>
            </a:r>
            <a:endParaRPr lang="en-US" sz="1100"/>
          </a:p>
        </p:txBody>
      </p:sp>
      <p:sp>
        <p:nvSpPr>
          <p:cNvPr id="10" name="AutoShape 10"/>
          <p:cNvSpPr/>
          <p:nvPr/>
        </p:nvSpPr>
        <p:spPr>
          <a:xfrm>
            <a:off x="1778000" y="3619500"/>
            <a:ext cx="3937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500" b="0" i="0" u="none" strike="noStrike">
                <a:solidFill>
                  <a:srgbClr val="757575"/>
                </a:solidFill>
                <a:latin typeface="Noto Sans SC"/>
                <a:ea typeface="Noto Sans SC"/>
                <a:cs typeface="Noto Sans SC"/>
                <a:sym typeface="Noto Sans SC"/>
              </a:rPr>
              <a:t>开发者只需编写几行代码，无需关注底层逻辑，即可快速运行大模型程序，极大降低了上手难度。</a:t>
            </a:r>
            <a:endParaRPr lang="en-US" sz="1100"/>
          </a:p>
        </p:txBody>
      </p:sp>
      <p:sp>
        <p:nvSpPr>
          <p:cNvPr id="11" name="AutoShape 11"/>
          <p:cNvSpPr/>
          <p:nvPr/>
        </p:nvSpPr>
        <p:spPr>
          <a:xfrm>
            <a:off x="6223000" y="2921000"/>
            <a:ext cx="5207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3175000"/>
            <a:ext cx="609600" cy="609600"/>
          </a:xfrm>
          <a:prstGeom prst="rect">
            <a:avLst/>
          </a:prstGeom>
        </p:spPr>
      </p:pic>
      <p:sp>
        <p:nvSpPr>
          <p:cNvPr id="13" name="AutoShape 13"/>
          <p:cNvSpPr/>
          <p:nvPr/>
        </p:nvSpPr>
        <p:spPr>
          <a:xfrm>
            <a:off x="7239000" y="3175000"/>
            <a:ext cx="3937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提供标准化工具</a:t>
            </a:r>
            <a:endParaRPr lang="en-US" sz="1100"/>
          </a:p>
        </p:txBody>
      </p:sp>
      <p:sp>
        <p:nvSpPr>
          <p:cNvPr id="14" name="AutoShape 14"/>
          <p:cNvSpPr/>
          <p:nvPr/>
        </p:nvSpPr>
        <p:spPr>
          <a:xfrm>
            <a:off x="7239000" y="3619500"/>
            <a:ext cx="3937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500" b="0" i="0" u="none" strike="noStrike">
                <a:solidFill>
                  <a:srgbClr val="757575"/>
                </a:solidFill>
                <a:latin typeface="Noto Sans SC"/>
                <a:ea typeface="Noto Sans SC"/>
                <a:cs typeface="Noto Sans SC"/>
                <a:sym typeface="Noto Sans SC"/>
              </a:rPr>
              <a:t>抽象并设计了六大核心模块，帮助开发者快速搭建复杂的LLM应用，避免重复造轮子。</a:t>
            </a:r>
            <a:endParaRPr lang="en-US" sz="1100"/>
          </a:p>
        </p:txBody>
      </p:sp>
      <p:sp>
        <p:nvSpPr>
          <p:cNvPr id="15" name="AutoShape 15"/>
          <p:cNvSpPr/>
          <p:nvPr/>
        </p:nvSpPr>
        <p:spPr>
          <a:xfrm>
            <a:off x="762000" y="5207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sp>
        <p:nvSpPr>
          <p:cNvPr id="16" name="AutoShape 16"/>
          <p:cNvSpPr/>
          <p:nvPr/>
        </p:nvSpPr>
        <p:spPr>
          <a:xfrm>
            <a:off x="1016000" y="5359400"/>
            <a:ext cx="10160000" cy="457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77BD"/>
                </a:solidFill>
                <a:latin typeface="Noto Sans SC"/>
                <a:ea typeface="Noto Sans SC"/>
                <a:cs typeface="Noto Sans SC"/>
                <a:sym typeface="Noto Sans SC"/>
              </a:rPr>
              <a:t>核心价值总结：让大模型应用开发变得简单、高效、标准化</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LangChain的六大核心模块</a:t>
            </a:r>
            <a:endParaRPr lang="en-US" sz="1100"/>
          </a:p>
        </p:txBody>
      </p:sp>
      <p:pic>
        <p:nvPicPr>
          <p:cNvPr id="3" name="Picture 3"/>
          <p:cNvPicPr>
            <a:picLocks noChangeAspect="1"/>
          </p:cNvPicPr>
          <p:nvPr/>
        </p:nvPicPr>
        <p:blipFill>
          <a:blip r:embed="rId1"/>
          <a:srcRect/>
          <a:stretch>
            <a:fillRect/>
          </a:stretch>
        </p:blipFill>
        <p:spPr>
          <a:xfrm>
            <a:off x="762000" y="1397000"/>
            <a:ext cx="4064000" cy="2286000"/>
          </a:xfrm>
          <a:prstGeom prst="roundRect">
            <a:avLst>
              <a:gd name="adj" fmla="val 5555"/>
            </a:avLst>
          </a:prstGeom>
          <a:noFill/>
          <a:ln w="25400" cap="flat" cmpd="sng">
            <a:solidFill>
              <a:srgbClr val="FFFFFF">
                <a:alpha val="100000"/>
              </a:srgbClr>
            </a:solidFill>
            <a:prstDash val="solid"/>
            <a:round/>
          </a:ln>
          <a:effectLst>
            <a:outerShdw blurRad="190500" dist="101600" dir="5400000" algn="tl" rotWithShape="0">
              <a:srgbClr val="0277BD">
                <a:alpha val="20000"/>
              </a:srgbClr>
            </a:outerShdw>
          </a:effectLst>
        </p:spPr>
      </p:pic>
      <p:sp>
        <p:nvSpPr>
          <p:cNvPr id="4" name="AutoShape 4"/>
          <p:cNvSpPr/>
          <p:nvPr/>
        </p:nvSpPr>
        <p:spPr>
          <a:xfrm>
            <a:off x="762000" y="3810000"/>
            <a:ext cx="4064000" cy="762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757575"/>
                </a:solidFill>
                <a:latin typeface="Noto Sans SC"/>
                <a:ea typeface="Noto Sans SC"/>
                <a:cs typeface="Noto Sans SC"/>
                <a:sym typeface="Noto Sans SC"/>
              </a:rPr>
              <a:t>六大模块协同工作，构建了LLM应用开发的完整生态体系，从交互、数据处理到智能决策，实现了端到端的流程闭环。</a:t>
            </a:r>
            <a:endParaRPr lang="en-US" sz="1100"/>
          </a:p>
        </p:txBody>
      </p:sp>
      <p:sp>
        <p:nvSpPr>
          <p:cNvPr id="5" name="AutoShape 5"/>
          <p:cNvSpPr/>
          <p:nvPr/>
        </p:nvSpPr>
        <p:spPr>
          <a:xfrm>
            <a:off x="5334000" y="1397000"/>
            <a:ext cx="3048000" cy="1143000"/>
          </a:xfrm>
          <a:prstGeom prst="roundRect">
            <a:avLst>
              <a:gd name="adj" fmla="val 11111"/>
            </a:avLst>
          </a:prstGeom>
          <a:solidFill>
            <a:srgbClr val="FFFFFF">
              <a:alpha val="100000"/>
            </a:srgbClr>
          </a:solidFill>
          <a:ln w="25400" cap="flat" cmpd="sng">
            <a:no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24500" y="1587500"/>
            <a:ext cx="304800" cy="304800"/>
          </a:xfrm>
          <a:prstGeom prst="rect">
            <a:avLst/>
          </a:prstGeom>
        </p:spPr>
      </p:pic>
      <p:sp>
        <p:nvSpPr>
          <p:cNvPr id="7" name="AutoShape 7"/>
          <p:cNvSpPr/>
          <p:nvPr/>
        </p:nvSpPr>
        <p:spPr>
          <a:xfrm>
            <a:off x="5905500" y="1524000"/>
            <a:ext cx="2349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模型I/O (Model IO)</a:t>
            </a:r>
            <a:endParaRPr lang="en-US" sz="1100"/>
          </a:p>
        </p:txBody>
      </p:sp>
      <p:sp>
        <p:nvSpPr>
          <p:cNvPr id="8" name="AutoShape 8"/>
          <p:cNvSpPr/>
          <p:nvPr/>
        </p:nvSpPr>
        <p:spPr>
          <a:xfrm>
            <a:off x="5905500" y="1879600"/>
            <a:ext cx="2349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57575"/>
                </a:solidFill>
                <a:latin typeface="Noto Sans SC"/>
                <a:ea typeface="Noto Sans SC"/>
                <a:cs typeface="Noto Sans SC"/>
                <a:sym typeface="Noto Sans SC"/>
              </a:rPr>
              <a:t>负责与大语言模型的输入输出交互，处理提示词和响应。</a:t>
            </a:r>
            <a:endParaRPr lang="en-US" sz="1100"/>
          </a:p>
        </p:txBody>
      </p:sp>
      <p:sp>
        <p:nvSpPr>
          <p:cNvPr id="9" name="AutoShape 9"/>
          <p:cNvSpPr/>
          <p:nvPr/>
        </p:nvSpPr>
        <p:spPr>
          <a:xfrm>
            <a:off x="8636000" y="1397000"/>
            <a:ext cx="3048000" cy="1143000"/>
          </a:xfrm>
          <a:prstGeom prst="roundRect">
            <a:avLst>
              <a:gd name="adj" fmla="val 11111"/>
            </a:avLst>
          </a:prstGeom>
          <a:solidFill>
            <a:srgbClr val="FFFFFF">
              <a:alpha val="100000"/>
            </a:srgbClr>
          </a:solidFill>
          <a:ln w="25400" cap="flat" cmpd="sng">
            <a:no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26500" y="1587500"/>
            <a:ext cx="304800" cy="304800"/>
          </a:xfrm>
          <a:prstGeom prst="rect">
            <a:avLst/>
          </a:prstGeom>
        </p:spPr>
      </p:pic>
      <p:sp>
        <p:nvSpPr>
          <p:cNvPr id="11" name="AutoShape 11"/>
          <p:cNvSpPr/>
          <p:nvPr/>
        </p:nvSpPr>
        <p:spPr>
          <a:xfrm>
            <a:off x="9207500" y="1524000"/>
            <a:ext cx="2349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数据连接 (Data Connection)</a:t>
            </a:r>
            <a:endParaRPr lang="en-US" sz="1100"/>
          </a:p>
        </p:txBody>
      </p:sp>
      <p:sp>
        <p:nvSpPr>
          <p:cNvPr id="12" name="AutoShape 12"/>
          <p:cNvSpPr/>
          <p:nvPr/>
        </p:nvSpPr>
        <p:spPr>
          <a:xfrm>
            <a:off x="9207500" y="1879600"/>
            <a:ext cx="2349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57575"/>
                </a:solidFill>
                <a:latin typeface="Noto Sans SC"/>
                <a:ea typeface="Noto Sans SC"/>
                <a:cs typeface="Noto Sans SC"/>
                <a:sym typeface="Noto Sans SC"/>
              </a:rPr>
              <a:t>提供数据加载、转换、存储和检索功能，连接外部知识库。</a:t>
            </a:r>
            <a:endParaRPr lang="en-US" sz="1100"/>
          </a:p>
        </p:txBody>
      </p:sp>
      <p:sp>
        <p:nvSpPr>
          <p:cNvPr id="13" name="AutoShape 13"/>
          <p:cNvSpPr/>
          <p:nvPr/>
        </p:nvSpPr>
        <p:spPr>
          <a:xfrm>
            <a:off x="5334000" y="2667000"/>
            <a:ext cx="3048000" cy="1143000"/>
          </a:xfrm>
          <a:prstGeom prst="roundRect">
            <a:avLst>
              <a:gd name="adj" fmla="val 11111"/>
            </a:avLst>
          </a:prstGeom>
          <a:solidFill>
            <a:srgbClr val="FFFFFF">
              <a:alpha val="100000"/>
            </a:srgbClr>
          </a:solidFill>
          <a:ln w="25400" cap="flat" cmpd="sng">
            <a:no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24500" y="2857500"/>
            <a:ext cx="304800" cy="304800"/>
          </a:xfrm>
          <a:prstGeom prst="rect">
            <a:avLst/>
          </a:prstGeom>
        </p:spPr>
      </p:pic>
      <p:sp>
        <p:nvSpPr>
          <p:cNvPr id="15" name="AutoShape 15"/>
          <p:cNvSpPr/>
          <p:nvPr/>
        </p:nvSpPr>
        <p:spPr>
          <a:xfrm>
            <a:off x="5905500" y="2794000"/>
            <a:ext cx="2349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链 (Chains)</a:t>
            </a:r>
            <a:endParaRPr lang="en-US" sz="1100"/>
          </a:p>
        </p:txBody>
      </p:sp>
      <p:sp>
        <p:nvSpPr>
          <p:cNvPr id="16" name="AutoShape 16"/>
          <p:cNvSpPr/>
          <p:nvPr/>
        </p:nvSpPr>
        <p:spPr>
          <a:xfrm>
            <a:off x="5905500" y="3149600"/>
            <a:ext cx="2349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57575"/>
                </a:solidFill>
                <a:latin typeface="Noto Sans SC"/>
                <a:ea typeface="Noto Sans SC"/>
                <a:cs typeface="Noto Sans SC"/>
                <a:sym typeface="Noto Sans SC"/>
              </a:rPr>
              <a:t>将多个模型或组件链接起来，组合调用以完成复杂任务。</a:t>
            </a:r>
            <a:endParaRPr lang="en-US" sz="1100"/>
          </a:p>
        </p:txBody>
      </p:sp>
      <p:sp>
        <p:nvSpPr>
          <p:cNvPr id="17" name="AutoShape 17"/>
          <p:cNvSpPr/>
          <p:nvPr/>
        </p:nvSpPr>
        <p:spPr>
          <a:xfrm>
            <a:off x="8636000" y="2667000"/>
            <a:ext cx="3048000" cy="1143000"/>
          </a:xfrm>
          <a:prstGeom prst="roundRect">
            <a:avLst>
              <a:gd name="adj" fmla="val 11111"/>
            </a:avLst>
          </a:prstGeom>
          <a:solidFill>
            <a:srgbClr val="FFFFFF">
              <a:alpha val="100000"/>
            </a:srgbClr>
          </a:solidFill>
          <a:ln w="25400" cap="flat" cmpd="sng">
            <a:no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826500" y="2857500"/>
            <a:ext cx="304800" cy="304800"/>
          </a:xfrm>
          <a:prstGeom prst="rect">
            <a:avLst/>
          </a:prstGeom>
        </p:spPr>
      </p:pic>
      <p:sp>
        <p:nvSpPr>
          <p:cNvPr id="19" name="AutoShape 19"/>
          <p:cNvSpPr/>
          <p:nvPr/>
        </p:nvSpPr>
        <p:spPr>
          <a:xfrm>
            <a:off x="9207500" y="2794000"/>
            <a:ext cx="2349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记忆 (Memory)</a:t>
            </a:r>
            <a:endParaRPr lang="en-US" sz="1100"/>
          </a:p>
        </p:txBody>
      </p:sp>
      <p:sp>
        <p:nvSpPr>
          <p:cNvPr id="20" name="AutoShape 20"/>
          <p:cNvSpPr/>
          <p:nvPr/>
        </p:nvSpPr>
        <p:spPr>
          <a:xfrm>
            <a:off x="9207500" y="3149600"/>
            <a:ext cx="2349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57575"/>
                </a:solidFill>
                <a:latin typeface="Noto Sans SC"/>
                <a:ea typeface="Noto Sans SC"/>
                <a:cs typeface="Noto Sans SC"/>
                <a:sym typeface="Noto Sans SC"/>
              </a:rPr>
              <a:t>为系统添加记忆功能，支持上下文对话，维持会话状态。</a:t>
            </a:r>
            <a:endParaRPr lang="en-US" sz="1100"/>
          </a:p>
        </p:txBody>
      </p:sp>
      <p:sp>
        <p:nvSpPr>
          <p:cNvPr id="21" name="AutoShape 21"/>
          <p:cNvSpPr/>
          <p:nvPr/>
        </p:nvSpPr>
        <p:spPr>
          <a:xfrm>
            <a:off x="5334000" y="3937000"/>
            <a:ext cx="3048000" cy="1143000"/>
          </a:xfrm>
          <a:prstGeom prst="roundRect">
            <a:avLst>
              <a:gd name="adj" fmla="val 11111"/>
            </a:avLst>
          </a:prstGeom>
          <a:solidFill>
            <a:srgbClr val="FFFFFF">
              <a:alpha val="100000"/>
            </a:srgbClr>
          </a:solidFill>
          <a:ln w="25400" cap="flat" cmpd="sng">
            <a:no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524500" y="4127500"/>
            <a:ext cx="304800" cy="304800"/>
          </a:xfrm>
          <a:prstGeom prst="rect">
            <a:avLst/>
          </a:prstGeom>
        </p:spPr>
      </p:pic>
      <p:sp>
        <p:nvSpPr>
          <p:cNvPr id="23" name="AutoShape 23"/>
          <p:cNvSpPr/>
          <p:nvPr/>
        </p:nvSpPr>
        <p:spPr>
          <a:xfrm>
            <a:off x="5905500" y="4064000"/>
            <a:ext cx="2349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智能体 (Agents)</a:t>
            </a:r>
            <a:endParaRPr lang="en-US" sz="1100"/>
          </a:p>
        </p:txBody>
      </p:sp>
      <p:sp>
        <p:nvSpPr>
          <p:cNvPr id="24" name="AutoShape 24"/>
          <p:cNvSpPr/>
          <p:nvPr/>
        </p:nvSpPr>
        <p:spPr>
          <a:xfrm>
            <a:off x="5905500" y="4419600"/>
            <a:ext cx="2349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57575"/>
                </a:solidFill>
                <a:latin typeface="Noto Sans SC"/>
                <a:ea typeface="Noto Sans SC"/>
                <a:cs typeface="Noto Sans SC"/>
                <a:sym typeface="Noto Sans SC"/>
              </a:rPr>
              <a:t>基于LLM的推理能力，自主选择工具并执行任务，具备自主性。</a:t>
            </a:r>
            <a:endParaRPr lang="en-US" sz="1100"/>
          </a:p>
        </p:txBody>
      </p:sp>
      <p:sp>
        <p:nvSpPr>
          <p:cNvPr id="25" name="AutoShape 25"/>
          <p:cNvSpPr/>
          <p:nvPr/>
        </p:nvSpPr>
        <p:spPr>
          <a:xfrm>
            <a:off x="8636000" y="3937000"/>
            <a:ext cx="3048000" cy="1143000"/>
          </a:xfrm>
          <a:prstGeom prst="roundRect">
            <a:avLst>
              <a:gd name="adj" fmla="val 11111"/>
            </a:avLst>
          </a:prstGeom>
          <a:solidFill>
            <a:srgbClr val="FFFFFF">
              <a:alpha val="100000"/>
            </a:srgbClr>
          </a:solidFill>
          <a:ln w="25400" cap="flat" cmpd="sng">
            <a:no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826500" y="4127500"/>
            <a:ext cx="304800" cy="304800"/>
          </a:xfrm>
          <a:prstGeom prst="rect">
            <a:avLst/>
          </a:prstGeom>
        </p:spPr>
      </p:pic>
      <p:sp>
        <p:nvSpPr>
          <p:cNvPr id="27" name="AutoShape 27"/>
          <p:cNvSpPr/>
          <p:nvPr/>
        </p:nvSpPr>
        <p:spPr>
          <a:xfrm>
            <a:off x="9207500" y="4064000"/>
            <a:ext cx="2349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回调处理器 (Callbacks)</a:t>
            </a:r>
            <a:endParaRPr lang="en-US" sz="1100"/>
          </a:p>
        </p:txBody>
      </p:sp>
      <p:sp>
        <p:nvSpPr>
          <p:cNvPr id="28" name="AutoShape 28"/>
          <p:cNvSpPr/>
          <p:nvPr/>
        </p:nvSpPr>
        <p:spPr>
          <a:xfrm>
            <a:off x="9207500" y="4419600"/>
            <a:ext cx="2349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57575"/>
                </a:solidFill>
                <a:latin typeface="Noto Sans SC"/>
                <a:ea typeface="Noto Sans SC"/>
                <a:cs typeface="Noto Sans SC"/>
                <a:sym typeface="Noto Sans SC"/>
              </a:rPr>
              <a:t>用于监控、记录和处理LLM应用的运行状态，支持日志和调试。</a:t>
            </a:r>
            <a:endParaRPr lang="en-US" sz="1100"/>
          </a:p>
        </p:txBody>
      </p:sp>
      <p:sp>
        <p:nvSpPr>
          <p:cNvPr id="29" name="AutoShape 29"/>
          <p:cNvSpPr/>
          <p:nvPr/>
        </p:nvSpPr>
        <p:spPr>
          <a:xfrm>
            <a:off x="762000" y="5588000"/>
            <a:ext cx="10668000" cy="25400"/>
          </a:xfrm>
          <a:prstGeom prst="roundRect">
            <a:avLst>
              <a:gd name="adj" fmla="val 0"/>
            </a:avLst>
          </a:prstGeom>
          <a:solidFill>
            <a:srgbClr val="0277BD">
              <a:alpha val="3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762000" y="57785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0277BD"/>
                </a:solidFill>
                <a:latin typeface="Noto Sans SC"/>
                <a:ea typeface="Noto Sans SC"/>
                <a:cs typeface="Noto Sans SC"/>
                <a:sym typeface="Noto Sans SC"/>
              </a:rPr>
              <a:t>核心价值：模块化设计让LLM应用开发更灵活、可扩展且易于维护</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013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8.1.2 LangChain的开发生态</a:t>
            </a:r>
            <a:endParaRPr lang="en-US" sz="1100"/>
          </a:p>
        </p:txBody>
      </p:sp>
      <p:sp>
        <p:nvSpPr>
          <p:cNvPr id="3" name="AutoShape 3"/>
          <p:cNvSpPr/>
          <p:nvPr/>
        </p:nvSpPr>
        <p:spPr>
          <a:xfrm>
            <a:off x="762000" y="12700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开发生命周期</a:t>
            </a:r>
            <a:endParaRPr lang="en-US" sz="1100"/>
          </a:p>
        </p:txBody>
      </p:sp>
      <p:sp>
        <p:nvSpPr>
          <p:cNvPr id="4" name="AutoShape 4"/>
          <p:cNvSpPr/>
          <p:nvPr/>
        </p:nvSpPr>
        <p:spPr>
          <a:xfrm>
            <a:off x="762000" y="1778000"/>
            <a:ext cx="3302000" cy="1143000"/>
          </a:xfrm>
          <a:prstGeom prst="roundRect">
            <a:avLst>
              <a:gd name="adj" fmla="val 11111"/>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968500"/>
            <a:ext cx="406400" cy="406400"/>
          </a:xfrm>
          <a:prstGeom prst="rect">
            <a:avLst/>
          </a:prstGeom>
        </p:spPr>
      </p:pic>
      <p:sp>
        <p:nvSpPr>
          <p:cNvPr id="6" name="AutoShape 6"/>
          <p:cNvSpPr/>
          <p:nvPr/>
        </p:nvSpPr>
        <p:spPr>
          <a:xfrm>
            <a:off x="1460500" y="1905000"/>
            <a:ext cx="241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开发阶段</a:t>
            </a:r>
            <a:endParaRPr lang="en-US" sz="1100"/>
          </a:p>
        </p:txBody>
      </p:sp>
      <p:sp>
        <p:nvSpPr>
          <p:cNvPr id="7" name="AutoShape 7"/>
          <p:cNvSpPr/>
          <p:nvPr/>
        </p:nvSpPr>
        <p:spPr>
          <a:xfrm>
            <a:off x="1460500" y="2260600"/>
            <a:ext cx="241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757575"/>
                </a:solidFill>
                <a:latin typeface="Noto Sans SC"/>
                <a:ea typeface="Noto Sans SC"/>
                <a:cs typeface="Noto Sans SC"/>
                <a:sym typeface="Noto Sans SC"/>
              </a:rPr>
              <a:t>使用核心库构建应用逻辑，实现业务功能的快速迭代。</a:t>
            </a:r>
            <a:endParaRPr lang="en-US" sz="1100"/>
          </a:p>
        </p:txBody>
      </p:sp>
      <p:sp>
        <p:nvSpPr>
          <p:cNvPr id="8" name="AutoShape 8"/>
          <p:cNvSpPr/>
          <p:nvPr/>
        </p:nvSpPr>
        <p:spPr>
          <a:xfrm>
            <a:off x="762000" y="3111500"/>
            <a:ext cx="3302000" cy="1143000"/>
          </a:xfrm>
          <a:prstGeom prst="roundRect">
            <a:avLst>
              <a:gd name="adj" fmla="val 11111"/>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3302000"/>
            <a:ext cx="406400" cy="406400"/>
          </a:xfrm>
          <a:prstGeom prst="rect">
            <a:avLst/>
          </a:prstGeom>
        </p:spPr>
      </p:pic>
      <p:sp>
        <p:nvSpPr>
          <p:cNvPr id="10" name="AutoShape 10"/>
          <p:cNvSpPr/>
          <p:nvPr/>
        </p:nvSpPr>
        <p:spPr>
          <a:xfrm>
            <a:off x="1460500" y="3238500"/>
            <a:ext cx="241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生产化阶段</a:t>
            </a:r>
            <a:endParaRPr lang="en-US" sz="1100"/>
          </a:p>
        </p:txBody>
      </p:sp>
      <p:sp>
        <p:nvSpPr>
          <p:cNvPr id="11" name="AutoShape 11"/>
          <p:cNvSpPr/>
          <p:nvPr/>
        </p:nvSpPr>
        <p:spPr>
          <a:xfrm>
            <a:off x="1460500" y="3594100"/>
            <a:ext cx="241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757575"/>
                </a:solidFill>
                <a:latin typeface="Noto Sans SC"/>
                <a:ea typeface="Noto Sans SC"/>
                <a:cs typeface="Noto Sans SC"/>
                <a:sym typeface="Noto Sans SC"/>
              </a:rPr>
              <a:t>进行全面的测试、评估和调试，确保应用质量稳定。</a:t>
            </a:r>
            <a:endParaRPr lang="en-US" sz="1100"/>
          </a:p>
        </p:txBody>
      </p:sp>
      <p:sp>
        <p:nvSpPr>
          <p:cNvPr id="12" name="AutoShape 12"/>
          <p:cNvSpPr/>
          <p:nvPr/>
        </p:nvSpPr>
        <p:spPr>
          <a:xfrm>
            <a:off x="762000" y="4445000"/>
            <a:ext cx="3302000" cy="1143000"/>
          </a:xfrm>
          <a:prstGeom prst="roundRect">
            <a:avLst>
              <a:gd name="adj" fmla="val 11111"/>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4635500"/>
            <a:ext cx="406400" cy="406400"/>
          </a:xfrm>
          <a:prstGeom prst="rect">
            <a:avLst/>
          </a:prstGeom>
        </p:spPr>
      </p:pic>
      <p:sp>
        <p:nvSpPr>
          <p:cNvPr id="14" name="AutoShape 14"/>
          <p:cNvSpPr/>
          <p:nvPr/>
        </p:nvSpPr>
        <p:spPr>
          <a:xfrm>
            <a:off x="1460500" y="4572000"/>
            <a:ext cx="241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部署阶段</a:t>
            </a:r>
            <a:endParaRPr lang="en-US" sz="1100"/>
          </a:p>
        </p:txBody>
      </p:sp>
      <p:sp>
        <p:nvSpPr>
          <p:cNvPr id="15" name="AutoShape 15"/>
          <p:cNvSpPr/>
          <p:nvPr/>
        </p:nvSpPr>
        <p:spPr>
          <a:xfrm>
            <a:off x="1460500" y="4927600"/>
            <a:ext cx="241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757575"/>
                </a:solidFill>
                <a:latin typeface="Noto Sans SC"/>
                <a:ea typeface="Noto Sans SC"/>
                <a:cs typeface="Noto Sans SC"/>
                <a:sym typeface="Noto Sans SC"/>
              </a:rPr>
              <a:t>将应用部署为服务，对外提供稳定的API接口。</a:t>
            </a:r>
            <a:endParaRPr lang="en-US" sz="1100"/>
          </a:p>
        </p:txBody>
      </p:sp>
      <p:sp>
        <p:nvSpPr>
          <p:cNvPr id="16" name="AutoShape 16"/>
          <p:cNvSpPr/>
          <p:nvPr/>
        </p:nvSpPr>
        <p:spPr>
          <a:xfrm>
            <a:off x="4572000" y="1270000"/>
            <a:ext cx="685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核心库生态</a:t>
            </a:r>
            <a:endParaRPr lang="en-US" sz="1100"/>
          </a:p>
        </p:txBody>
      </p:sp>
      <p:sp>
        <p:nvSpPr>
          <p:cNvPr id="17" name="AutoShape 17"/>
          <p:cNvSpPr/>
          <p:nvPr/>
        </p:nvSpPr>
        <p:spPr>
          <a:xfrm>
            <a:off x="4572000" y="1778000"/>
            <a:ext cx="3302000" cy="1016000"/>
          </a:xfrm>
          <a:prstGeom prst="roundRect">
            <a:avLst>
              <a:gd name="adj" fmla="val 12500"/>
            </a:avLst>
          </a:prstGeom>
          <a:solidFill>
            <a:srgbClr val="FFFFFF">
              <a:alpha val="100000"/>
            </a:srgbClr>
          </a:solidFill>
          <a:ln w="25400" cap="flat" cmpd="sng">
            <a:noFill/>
            <a:prstDash val="solid"/>
            <a:round/>
          </a:ln>
          <a:effectLst>
            <a:outerShdw blurRad="76200" dist="38100" dir="5400000" algn="tl" rotWithShape="0">
              <a:srgbClr val="0277BD">
                <a:alpha val="15000"/>
              </a:srgbClr>
            </a:outerShdw>
          </a:effectLst>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762500" y="1968500"/>
            <a:ext cx="355600" cy="355600"/>
          </a:xfrm>
          <a:prstGeom prst="rect">
            <a:avLst/>
          </a:prstGeom>
        </p:spPr>
      </p:pic>
      <p:sp>
        <p:nvSpPr>
          <p:cNvPr id="19" name="AutoShape 19"/>
          <p:cNvSpPr/>
          <p:nvPr/>
        </p:nvSpPr>
        <p:spPr>
          <a:xfrm>
            <a:off x="5207000" y="1905000"/>
            <a:ext cx="2540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277BD"/>
                </a:solidFill>
                <a:latin typeface="Noto Sans SC"/>
                <a:ea typeface="Noto Sans SC"/>
                <a:cs typeface="Noto Sans SC"/>
                <a:sym typeface="Noto Sans SC"/>
              </a:rPr>
              <a:t>langchain-core</a:t>
            </a:r>
            <a:endParaRPr lang="en-US" sz="1100"/>
          </a:p>
        </p:txBody>
      </p:sp>
      <p:sp>
        <p:nvSpPr>
          <p:cNvPr id="20" name="AutoShape 20"/>
          <p:cNvSpPr/>
          <p:nvPr/>
        </p:nvSpPr>
        <p:spPr>
          <a:xfrm>
            <a:off x="5207000" y="2222500"/>
            <a:ext cx="2540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57575"/>
                </a:solidFill>
                <a:latin typeface="Noto Sans SC"/>
                <a:ea typeface="Noto Sans SC"/>
                <a:cs typeface="Noto Sans SC"/>
                <a:sym typeface="Noto Sans SC"/>
              </a:rPr>
              <a:t>包含基本抽象和表达式，定义核心接口。</a:t>
            </a:r>
            <a:endParaRPr lang="en-US" sz="1100"/>
          </a:p>
        </p:txBody>
      </p:sp>
      <p:sp>
        <p:nvSpPr>
          <p:cNvPr id="21" name="AutoShape 21"/>
          <p:cNvSpPr/>
          <p:nvPr/>
        </p:nvSpPr>
        <p:spPr>
          <a:xfrm>
            <a:off x="8128000" y="1778000"/>
            <a:ext cx="3302000" cy="1016000"/>
          </a:xfrm>
          <a:prstGeom prst="roundRect">
            <a:avLst>
              <a:gd name="adj" fmla="val 12500"/>
            </a:avLst>
          </a:prstGeom>
          <a:solidFill>
            <a:srgbClr val="FFFFFF">
              <a:alpha val="100000"/>
            </a:srgbClr>
          </a:solidFill>
          <a:ln w="25400" cap="flat" cmpd="sng">
            <a:noFill/>
            <a:prstDash val="solid"/>
            <a:round/>
          </a:ln>
          <a:effectLst>
            <a:outerShdw blurRad="76200" dist="38100" dir="5400000" algn="tl" rotWithShape="0">
              <a:srgbClr val="0277BD">
                <a:alpha val="15000"/>
              </a:srgbClr>
            </a:outerShdw>
          </a:effectLst>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318500" y="1968500"/>
            <a:ext cx="355600" cy="355600"/>
          </a:xfrm>
          <a:prstGeom prst="rect">
            <a:avLst/>
          </a:prstGeom>
        </p:spPr>
      </p:pic>
      <p:sp>
        <p:nvSpPr>
          <p:cNvPr id="23" name="AutoShape 23"/>
          <p:cNvSpPr/>
          <p:nvPr/>
        </p:nvSpPr>
        <p:spPr>
          <a:xfrm>
            <a:off x="8763000" y="1905000"/>
            <a:ext cx="2540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277BD"/>
                </a:solidFill>
                <a:latin typeface="Noto Sans SC"/>
                <a:ea typeface="Noto Sans SC"/>
                <a:cs typeface="Noto Sans SC"/>
                <a:sym typeface="Noto Sans SC"/>
              </a:rPr>
              <a:t>langchain-community</a:t>
            </a:r>
            <a:endParaRPr lang="en-US" sz="1100"/>
          </a:p>
        </p:txBody>
      </p:sp>
      <p:sp>
        <p:nvSpPr>
          <p:cNvPr id="24" name="AutoShape 24"/>
          <p:cNvSpPr/>
          <p:nvPr/>
        </p:nvSpPr>
        <p:spPr>
          <a:xfrm>
            <a:off x="8763000" y="2222500"/>
            <a:ext cx="2540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57575"/>
                </a:solidFill>
                <a:latin typeface="Noto Sans SC"/>
                <a:ea typeface="Noto Sans SC"/>
                <a:cs typeface="Noto Sans SC"/>
                <a:sym typeface="Noto Sans SC"/>
              </a:rPr>
              <a:t>包含第三方集成，连接各类外部工具。</a:t>
            </a:r>
            <a:endParaRPr lang="en-US" sz="1100"/>
          </a:p>
        </p:txBody>
      </p:sp>
      <p:sp>
        <p:nvSpPr>
          <p:cNvPr id="25" name="AutoShape 25"/>
          <p:cNvSpPr/>
          <p:nvPr/>
        </p:nvSpPr>
        <p:spPr>
          <a:xfrm>
            <a:off x="4572000" y="2921000"/>
            <a:ext cx="3302000" cy="1016000"/>
          </a:xfrm>
          <a:prstGeom prst="roundRect">
            <a:avLst>
              <a:gd name="adj" fmla="val 12500"/>
            </a:avLst>
          </a:prstGeom>
          <a:solidFill>
            <a:srgbClr val="FFFFFF">
              <a:alpha val="100000"/>
            </a:srgbClr>
          </a:solidFill>
          <a:ln w="25400" cap="flat" cmpd="sng">
            <a:noFill/>
            <a:prstDash val="solid"/>
            <a:round/>
          </a:ln>
          <a:effectLst>
            <a:outerShdw blurRad="76200" dist="38100" dir="5400000" algn="tl" rotWithShape="0">
              <a:srgbClr val="0277BD">
                <a:alpha val="15000"/>
              </a:srgbClr>
            </a:outerShdw>
          </a:effectLst>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762500" y="3111500"/>
            <a:ext cx="355600" cy="355600"/>
          </a:xfrm>
          <a:prstGeom prst="rect">
            <a:avLst/>
          </a:prstGeom>
        </p:spPr>
      </p:pic>
      <p:sp>
        <p:nvSpPr>
          <p:cNvPr id="27" name="AutoShape 27"/>
          <p:cNvSpPr/>
          <p:nvPr/>
        </p:nvSpPr>
        <p:spPr>
          <a:xfrm>
            <a:off x="5207000" y="3048000"/>
            <a:ext cx="2540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277BD"/>
                </a:solidFill>
                <a:latin typeface="Noto Sans SC"/>
                <a:ea typeface="Noto Sans SC"/>
                <a:cs typeface="Noto Sans SC"/>
                <a:sym typeface="Noto Sans SC"/>
              </a:rPr>
              <a:t>langchain</a:t>
            </a:r>
            <a:endParaRPr lang="en-US" sz="1100"/>
          </a:p>
        </p:txBody>
      </p:sp>
      <p:sp>
        <p:nvSpPr>
          <p:cNvPr id="28" name="AutoShape 28"/>
          <p:cNvSpPr/>
          <p:nvPr/>
        </p:nvSpPr>
        <p:spPr>
          <a:xfrm>
            <a:off x="5207000" y="3365500"/>
            <a:ext cx="2540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57575"/>
                </a:solidFill>
                <a:latin typeface="Noto Sans SC"/>
                <a:ea typeface="Noto Sans SC"/>
                <a:cs typeface="Noto Sans SC"/>
                <a:sym typeface="Noto Sans SC"/>
              </a:rPr>
              <a:t>提供链条、代理和检索策略，构建复杂逻辑。</a:t>
            </a:r>
            <a:endParaRPr lang="en-US" sz="1100"/>
          </a:p>
        </p:txBody>
      </p:sp>
      <p:sp>
        <p:nvSpPr>
          <p:cNvPr id="29" name="AutoShape 29"/>
          <p:cNvSpPr/>
          <p:nvPr/>
        </p:nvSpPr>
        <p:spPr>
          <a:xfrm>
            <a:off x="8128000" y="2921000"/>
            <a:ext cx="3302000" cy="1016000"/>
          </a:xfrm>
          <a:prstGeom prst="roundRect">
            <a:avLst>
              <a:gd name="adj" fmla="val 12500"/>
            </a:avLst>
          </a:prstGeom>
          <a:solidFill>
            <a:srgbClr val="FFFFFF">
              <a:alpha val="100000"/>
            </a:srgbClr>
          </a:solidFill>
          <a:ln w="25400" cap="flat" cmpd="sng">
            <a:noFill/>
            <a:prstDash val="solid"/>
            <a:round/>
          </a:ln>
          <a:effectLst>
            <a:outerShdw blurRad="76200" dist="38100" dir="5400000" algn="tl" rotWithShape="0">
              <a:srgbClr val="0277BD">
                <a:alpha val="15000"/>
              </a:srgbClr>
            </a:outerShdw>
          </a:effectLst>
        </p:spPr>
        <p:txBody>
          <a:bodyPr vert="horz" wrap="square" lIns="63500" tIns="63500" rIns="63500" bIns="63500" rtlCol="0" anchor="ctr"/>
          <a:lstStyle/>
          <a:p>
            <a:pPr algn="ctr">
              <a:defRPr/>
            </a:pPr>
          </a:p>
        </p:txBody>
      </p:sp>
      <p:pic>
        <p:nvPicPr>
          <p:cNvPr id="30" name="Picture 30"/>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318500" y="3111500"/>
            <a:ext cx="355600" cy="355600"/>
          </a:xfrm>
          <a:prstGeom prst="rect">
            <a:avLst/>
          </a:prstGeom>
        </p:spPr>
      </p:pic>
      <p:sp>
        <p:nvSpPr>
          <p:cNvPr id="31" name="AutoShape 31"/>
          <p:cNvSpPr/>
          <p:nvPr/>
        </p:nvSpPr>
        <p:spPr>
          <a:xfrm>
            <a:off x="8763000" y="3048000"/>
            <a:ext cx="2540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277BD"/>
                </a:solidFill>
                <a:latin typeface="Noto Sans SC"/>
                <a:ea typeface="Noto Sans SC"/>
                <a:cs typeface="Noto Sans SC"/>
                <a:sym typeface="Noto Sans SC"/>
              </a:rPr>
              <a:t>langgraph</a:t>
            </a:r>
            <a:endParaRPr lang="en-US" sz="1100"/>
          </a:p>
        </p:txBody>
      </p:sp>
      <p:sp>
        <p:nvSpPr>
          <p:cNvPr id="32" name="AutoShape 32"/>
          <p:cNvSpPr/>
          <p:nvPr/>
        </p:nvSpPr>
        <p:spPr>
          <a:xfrm>
            <a:off x="8763000" y="3365500"/>
            <a:ext cx="2540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57575"/>
                </a:solidFill>
                <a:latin typeface="Noto Sans SC"/>
                <a:ea typeface="Noto Sans SC"/>
                <a:cs typeface="Noto Sans SC"/>
                <a:sym typeface="Noto Sans SC"/>
              </a:rPr>
              <a:t>用于构建有状态的多角色应用，处理复杂交互。</a:t>
            </a:r>
            <a:endParaRPr lang="en-US" sz="1100"/>
          </a:p>
        </p:txBody>
      </p:sp>
      <p:sp>
        <p:nvSpPr>
          <p:cNvPr id="33" name="AutoShape 33"/>
          <p:cNvSpPr/>
          <p:nvPr/>
        </p:nvSpPr>
        <p:spPr>
          <a:xfrm>
            <a:off x="4572000" y="4064000"/>
            <a:ext cx="3302000" cy="1016000"/>
          </a:xfrm>
          <a:prstGeom prst="roundRect">
            <a:avLst>
              <a:gd name="adj" fmla="val 12500"/>
            </a:avLst>
          </a:prstGeom>
          <a:solidFill>
            <a:srgbClr val="FFFFFF">
              <a:alpha val="100000"/>
            </a:srgbClr>
          </a:solidFill>
          <a:ln w="25400" cap="flat" cmpd="sng">
            <a:noFill/>
            <a:prstDash val="solid"/>
            <a:round/>
          </a:ln>
          <a:effectLst>
            <a:outerShdw blurRad="76200" dist="38100" dir="5400000" algn="tl" rotWithShape="0">
              <a:srgbClr val="0277BD">
                <a:alpha val="15000"/>
              </a:srgbClr>
            </a:outerShdw>
          </a:effectLst>
        </p:spPr>
        <p:txBody>
          <a:bodyPr vert="horz" wrap="square" lIns="63500" tIns="63500" rIns="63500" bIns="63500" rtlCol="0" anchor="ctr"/>
          <a:lstStyle/>
          <a:p>
            <a:pPr algn="ctr">
              <a:defRPr/>
            </a:pPr>
          </a:p>
        </p:txBody>
      </p:sp>
      <p:pic>
        <p:nvPicPr>
          <p:cNvPr id="34" name="Picture 34"/>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762500" y="4254500"/>
            <a:ext cx="355600" cy="355600"/>
          </a:xfrm>
          <a:prstGeom prst="rect">
            <a:avLst/>
          </a:prstGeom>
        </p:spPr>
      </p:pic>
      <p:sp>
        <p:nvSpPr>
          <p:cNvPr id="35" name="AutoShape 35"/>
          <p:cNvSpPr/>
          <p:nvPr/>
        </p:nvSpPr>
        <p:spPr>
          <a:xfrm>
            <a:off x="5207000" y="4191000"/>
            <a:ext cx="2540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277BD"/>
                </a:solidFill>
                <a:latin typeface="Noto Sans SC"/>
                <a:ea typeface="Noto Sans SC"/>
                <a:cs typeface="Noto Sans SC"/>
                <a:sym typeface="Noto Sans SC"/>
              </a:rPr>
              <a:t>langserve</a:t>
            </a:r>
            <a:endParaRPr lang="en-US" sz="1100"/>
          </a:p>
        </p:txBody>
      </p:sp>
      <p:sp>
        <p:nvSpPr>
          <p:cNvPr id="36" name="AutoShape 36"/>
          <p:cNvSpPr/>
          <p:nvPr/>
        </p:nvSpPr>
        <p:spPr>
          <a:xfrm>
            <a:off x="5207000" y="4508500"/>
            <a:ext cx="2540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57575"/>
                </a:solidFill>
                <a:latin typeface="Noto Sans SC"/>
                <a:ea typeface="Noto Sans SC"/>
                <a:cs typeface="Noto Sans SC"/>
                <a:sym typeface="Noto Sans SC"/>
              </a:rPr>
              <a:t>将链条部署为REST API，实现服务化部署。</a:t>
            </a:r>
            <a:endParaRPr lang="en-US" sz="1100"/>
          </a:p>
        </p:txBody>
      </p:sp>
      <p:sp>
        <p:nvSpPr>
          <p:cNvPr id="37" name="AutoShape 37"/>
          <p:cNvSpPr/>
          <p:nvPr/>
        </p:nvSpPr>
        <p:spPr>
          <a:xfrm>
            <a:off x="8128000" y="4064000"/>
            <a:ext cx="3302000" cy="1016000"/>
          </a:xfrm>
          <a:prstGeom prst="roundRect">
            <a:avLst>
              <a:gd name="adj" fmla="val 12500"/>
            </a:avLst>
          </a:prstGeom>
          <a:solidFill>
            <a:srgbClr val="FFFFFF">
              <a:alpha val="100000"/>
            </a:srgbClr>
          </a:solidFill>
          <a:ln w="25400" cap="flat" cmpd="sng">
            <a:noFill/>
            <a:prstDash val="solid"/>
            <a:round/>
          </a:ln>
          <a:effectLst>
            <a:outerShdw blurRad="76200" dist="38100" dir="5400000" algn="tl" rotWithShape="0">
              <a:srgbClr val="0277BD">
                <a:alpha val="15000"/>
              </a:srgbClr>
            </a:outerShdw>
          </a:effectLst>
        </p:spPr>
        <p:txBody>
          <a:bodyPr vert="horz" wrap="square" lIns="63500" tIns="63500" rIns="63500" bIns="63500" rtlCol="0" anchor="ctr"/>
          <a:lstStyle/>
          <a:p>
            <a:pPr algn="ctr">
              <a:defRPr/>
            </a:pPr>
          </a:p>
        </p:txBody>
      </p:sp>
      <p:pic>
        <p:nvPicPr>
          <p:cNvPr id="38" name="Picture 38"/>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318500" y="4254500"/>
            <a:ext cx="355600" cy="355600"/>
          </a:xfrm>
          <a:prstGeom prst="rect">
            <a:avLst/>
          </a:prstGeom>
        </p:spPr>
      </p:pic>
      <p:sp>
        <p:nvSpPr>
          <p:cNvPr id="39" name="AutoShape 39"/>
          <p:cNvSpPr/>
          <p:nvPr/>
        </p:nvSpPr>
        <p:spPr>
          <a:xfrm>
            <a:off x="8763000" y="4191000"/>
            <a:ext cx="2540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277BD"/>
                </a:solidFill>
                <a:latin typeface="Noto Sans SC"/>
                <a:ea typeface="Noto Sans SC"/>
                <a:cs typeface="Noto Sans SC"/>
                <a:sym typeface="Noto Sans SC"/>
              </a:rPr>
              <a:t>langsmith</a:t>
            </a:r>
            <a:endParaRPr lang="en-US" sz="1100"/>
          </a:p>
        </p:txBody>
      </p:sp>
      <p:sp>
        <p:nvSpPr>
          <p:cNvPr id="40" name="AutoShape 40"/>
          <p:cNvSpPr/>
          <p:nvPr/>
        </p:nvSpPr>
        <p:spPr>
          <a:xfrm>
            <a:off x="8763000" y="4508500"/>
            <a:ext cx="2540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57575"/>
                </a:solidFill>
                <a:latin typeface="Noto Sans SC"/>
                <a:ea typeface="Noto Sans SC"/>
                <a:cs typeface="Noto Sans SC"/>
                <a:sym typeface="Noto Sans SC"/>
              </a:rPr>
              <a:t>用于调试、测试和监控应用，提升开发效率。</a:t>
            </a:r>
            <a:endParaRPr lang="en-US" sz="1100"/>
          </a:p>
        </p:txBody>
      </p:sp>
      <p:sp>
        <p:nvSpPr>
          <p:cNvPr id="41" name="AutoShape 41"/>
          <p:cNvSpPr/>
          <p:nvPr/>
        </p:nvSpPr>
        <p:spPr>
          <a:xfrm>
            <a:off x="0" y="6604000"/>
            <a:ext cx="12192000" cy="2540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581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LangChain的安装</a:t>
            </a:r>
            <a:endParaRPr lang="en-US" sz="1100"/>
          </a:p>
        </p:txBody>
      </p:sp>
      <p:sp>
        <p:nvSpPr>
          <p:cNvPr id="3" name="AutoShape 3"/>
          <p:cNvSpPr/>
          <p:nvPr/>
        </p:nvSpPr>
        <p:spPr>
          <a:xfrm>
            <a:off x="762000" y="1143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根据不同的使用场景，选择对应的安装命令，快速构建您的大语言模型应用。</a:t>
            </a:r>
            <a:endParaRPr lang="en-US" sz="1100"/>
          </a:p>
        </p:txBody>
      </p:sp>
      <p:sp>
        <p:nvSpPr>
          <p:cNvPr id="4" name="AutoShape 4"/>
          <p:cNvSpPr/>
          <p:nvPr/>
        </p:nvSpPr>
        <p:spPr>
          <a:xfrm>
            <a:off x="762000" y="1778000"/>
            <a:ext cx="33782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968500"/>
            <a:ext cx="406400" cy="406400"/>
          </a:xfrm>
          <a:prstGeom prst="rect">
            <a:avLst/>
          </a:prstGeom>
        </p:spPr>
      </p:pic>
      <p:sp>
        <p:nvSpPr>
          <p:cNvPr id="6" name="AutoShape 6"/>
          <p:cNvSpPr/>
          <p:nvPr/>
        </p:nvSpPr>
        <p:spPr>
          <a:xfrm>
            <a:off x="1460500" y="19304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LangChain 正式版</a:t>
            </a:r>
            <a:endParaRPr lang="en-US" sz="1100"/>
          </a:p>
        </p:txBody>
      </p:sp>
      <p:sp>
        <p:nvSpPr>
          <p:cNvPr id="7" name="AutoShape 7"/>
          <p:cNvSpPr/>
          <p:nvPr/>
        </p:nvSpPr>
        <p:spPr>
          <a:xfrm>
            <a:off x="952500" y="2413000"/>
            <a:ext cx="2997200" cy="457200"/>
          </a:xfrm>
          <a:prstGeom prst="roundRect">
            <a:avLst>
              <a:gd name="adj" fmla="val 13888"/>
            </a:avLst>
          </a:prstGeom>
          <a:solidFill>
            <a:srgbClr val="0277BD">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0277BD"/>
                </a:solidFill>
                <a:latin typeface="Noto Sans SC"/>
                <a:ea typeface="Noto Sans SC"/>
                <a:cs typeface="Noto Sans SC"/>
                <a:sym typeface="Noto Sans SC"/>
              </a:rPr>
              <a:t>pip3 install langchain</a:t>
            </a:r>
            <a:endParaRPr lang="en-US" sz="1100"/>
          </a:p>
        </p:txBody>
      </p:sp>
      <p:sp>
        <p:nvSpPr>
          <p:cNvPr id="8" name="AutoShape 8"/>
          <p:cNvSpPr/>
          <p:nvPr/>
        </p:nvSpPr>
        <p:spPr>
          <a:xfrm>
            <a:off x="4394200" y="1778000"/>
            <a:ext cx="33782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84700" y="1968500"/>
            <a:ext cx="406400" cy="406400"/>
          </a:xfrm>
          <a:prstGeom prst="rect">
            <a:avLst/>
          </a:prstGeom>
        </p:spPr>
      </p:pic>
      <p:sp>
        <p:nvSpPr>
          <p:cNvPr id="10" name="AutoShape 10"/>
          <p:cNvSpPr/>
          <p:nvPr/>
        </p:nvSpPr>
        <p:spPr>
          <a:xfrm>
            <a:off x="5092700" y="19304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LangChain 核心版</a:t>
            </a:r>
            <a:endParaRPr lang="en-US" sz="1100"/>
          </a:p>
        </p:txBody>
      </p:sp>
      <p:sp>
        <p:nvSpPr>
          <p:cNvPr id="11" name="AutoShape 11"/>
          <p:cNvSpPr/>
          <p:nvPr/>
        </p:nvSpPr>
        <p:spPr>
          <a:xfrm>
            <a:off x="4584700" y="2413000"/>
            <a:ext cx="2997200" cy="457200"/>
          </a:xfrm>
          <a:prstGeom prst="roundRect">
            <a:avLst>
              <a:gd name="adj" fmla="val 13888"/>
            </a:avLst>
          </a:prstGeom>
          <a:solidFill>
            <a:srgbClr val="0277BD">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0277BD"/>
                </a:solidFill>
                <a:latin typeface="Noto Sans SC"/>
                <a:ea typeface="Noto Sans SC"/>
                <a:cs typeface="Noto Sans SC"/>
                <a:sym typeface="Noto Sans SC"/>
              </a:rPr>
              <a:t>pip3 install langchain-core</a:t>
            </a:r>
            <a:endParaRPr lang="en-US" sz="1100"/>
          </a:p>
        </p:txBody>
      </p:sp>
      <p:sp>
        <p:nvSpPr>
          <p:cNvPr id="12" name="AutoShape 12"/>
          <p:cNvSpPr/>
          <p:nvPr/>
        </p:nvSpPr>
        <p:spPr>
          <a:xfrm>
            <a:off x="8026400" y="1778000"/>
            <a:ext cx="33782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16900" y="1968500"/>
            <a:ext cx="406400" cy="406400"/>
          </a:xfrm>
          <a:prstGeom prst="rect">
            <a:avLst/>
          </a:prstGeom>
        </p:spPr>
      </p:pic>
      <p:sp>
        <p:nvSpPr>
          <p:cNvPr id="14" name="AutoShape 14"/>
          <p:cNvSpPr/>
          <p:nvPr/>
        </p:nvSpPr>
        <p:spPr>
          <a:xfrm>
            <a:off x="8724900" y="19304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LangChain 社区版</a:t>
            </a:r>
            <a:endParaRPr lang="en-US" sz="1100"/>
          </a:p>
        </p:txBody>
      </p:sp>
      <p:sp>
        <p:nvSpPr>
          <p:cNvPr id="15" name="AutoShape 15"/>
          <p:cNvSpPr/>
          <p:nvPr/>
        </p:nvSpPr>
        <p:spPr>
          <a:xfrm>
            <a:off x="8216900" y="2413000"/>
            <a:ext cx="2997200" cy="457200"/>
          </a:xfrm>
          <a:prstGeom prst="roundRect">
            <a:avLst>
              <a:gd name="adj" fmla="val 13888"/>
            </a:avLst>
          </a:prstGeom>
          <a:solidFill>
            <a:srgbClr val="0277BD">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0277BD"/>
                </a:solidFill>
                <a:latin typeface="Noto Sans SC"/>
                <a:ea typeface="Noto Sans SC"/>
                <a:cs typeface="Noto Sans SC"/>
                <a:sym typeface="Noto Sans SC"/>
              </a:rPr>
              <a:t>pip3 install langchain-community</a:t>
            </a:r>
            <a:endParaRPr lang="en-US" sz="1100"/>
          </a:p>
        </p:txBody>
      </p:sp>
      <p:sp>
        <p:nvSpPr>
          <p:cNvPr id="16" name="AutoShape 16"/>
          <p:cNvSpPr/>
          <p:nvPr/>
        </p:nvSpPr>
        <p:spPr>
          <a:xfrm>
            <a:off x="762000" y="3302000"/>
            <a:ext cx="33782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52500" y="3492500"/>
            <a:ext cx="406400" cy="406400"/>
          </a:xfrm>
          <a:prstGeom prst="rect">
            <a:avLst/>
          </a:prstGeom>
        </p:spPr>
      </p:pic>
      <p:sp>
        <p:nvSpPr>
          <p:cNvPr id="18" name="AutoShape 18"/>
          <p:cNvSpPr/>
          <p:nvPr/>
        </p:nvSpPr>
        <p:spPr>
          <a:xfrm>
            <a:off x="1460500" y="34544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9800"/>
                </a:solidFill>
                <a:latin typeface="Noto Sans SC"/>
                <a:ea typeface="Noto Sans SC"/>
                <a:cs typeface="Noto Sans SC"/>
                <a:sym typeface="Noto Sans SC"/>
              </a:rPr>
              <a:t>LangChain 实验版</a:t>
            </a:r>
            <a:endParaRPr lang="en-US" sz="1100"/>
          </a:p>
        </p:txBody>
      </p:sp>
      <p:sp>
        <p:nvSpPr>
          <p:cNvPr id="19" name="AutoShape 19"/>
          <p:cNvSpPr/>
          <p:nvPr/>
        </p:nvSpPr>
        <p:spPr>
          <a:xfrm>
            <a:off x="952500" y="3937000"/>
            <a:ext cx="2997200" cy="457200"/>
          </a:xfrm>
          <a:prstGeom prst="roundRect">
            <a:avLst>
              <a:gd name="adj" fmla="val 13888"/>
            </a:avLst>
          </a:prstGeom>
          <a:solidFill>
            <a:srgbClr val="FF9800">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FF9800"/>
                </a:solidFill>
                <a:latin typeface="Noto Sans SC"/>
                <a:ea typeface="Noto Sans SC"/>
                <a:cs typeface="Noto Sans SC"/>
                <a:sym typeface="Noto Sans SC"/>
              </a:rPr>
              <a:t>pip3 install langchain-experimental</a:t>
            </a:r>
            <a:endParaRPr lang="en-US" sz="1100"/>
          </a:p>
        </p:txBody>
      </p:sp>
      <p:sp>
        <p:nvSpPr>
          <p:cNvPr id="20" name="AutoShape 20"/>
          <p:cNvSpPr/>
          <p:nvPr/>
        </p:nvSpPr>
        <p:spPr>
          <a:xfrm>
            <a:off x="4394200" y="3302000"/>
            <a:ext cx="33782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584700" y="3492500"/>
            <a:ext cx="406400" cy="406400"/>
          </a:xfrm>
          <a:prstGeom prst="rect">
            <a:avLst/>
          </a:prstGeom>
        </p:spPr>
      </p:pic>
      <p:sp>
        <p:nvSpPr>
          <p:cNvPr id="22" name="AutoShape 22"/>
          <p:cNvSpPr/>
          <p:nvPr/>
        </p:nvSpPr>
        <p:spPr>
          <a:xfrm>
            <a:off x="5092700" y="34544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LangGraph</a:t>
            </a:r>
            <a:endParaRPr lang="en-US" sz="1100"/>
          </a:p>
        </p:txBody>
      </p:sp>
      <p:sp>
        <p:nvSpPr>
          <p:cNvPr id="23" name="AutoShape 23"/>
          <p:cNvSpPr/>
          <p:nvPr/>
        </p:nvSpPr>
        <p:spPr>
          <a:xfrm>
            <a:off x="4584700" y="3937000"/>
            <a:ext cx="2997200" cy="457200"/>
          </a:xfrm>
          <a:prstGeom prst="roundRect">
            <a:avLst>
              <a:gd name="adj" fmla="val 13888"/>
            </a:avLst>
          </a:prstGeom>
          <a:solidFill>
            <a:srgbClr val="0277BD">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0277BD"/>
                </a:solidFill>
                <a:latin typeface="Noto Sans SC"/>
                <a:ea typeface="Noto Sans SC"/>
                <a:cs typeface="Noto Sans SC"/>
                <a:sym typeface="Noto Sans SC"/>
              </a:rPr>
              <a:t>pip3 install langgraph</a:t>
            </a:r>
            <a:endParaRPr lang="en-US" sz="1100"/>
          </a:p>
        </p:txBody>
      </p:sp>
      <p:sp>
        <p:nvSpPr>
          <p:cNvPr id="24" name="AutoShape 24"/>
          <p:cNvSpPr/>
          <p:nvPr/>
        </p:nvSpPr>
        <p:spPr>
          <a:xfrm>
            <a:off x="8026400" y="3302000"/>
            <a:ext cx="33782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216900" y="3492500"/>
            <a:ext cx="406400" cy="406400"/>
          </a:xfrm>
          <a:prstGeom prst="rect">
            <a:avLst/>
          </a:prstGeom>
        </p:spPr>
      </p:pic>
      <p:sp>
        <p:nvSpPr>
          <p:cNvPr id="26" name="AutoShape 26"/>
          <p:cNvSpPr/>
          <p:nvPr/>
        </p:nvSpPr>
        <p:spPr>
          <a:xfrm>
            <a:off x="8724900" y="34544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LangServe</a:t>
            </a:r>
            <a:endParaRPr lang="en-US" sz="1100"/>
          </a:p>
        </p:txBody>
      </p:sp>
      <p:sp>
        <p:nvSpPr>
          <p:cNvPr id="27" name="AutoShape 27"/>
          <p:cNvSpPr/>
          <p:nvPr/>
        </p:nvSpPr>
        <p:spPr>
          <a:xfrm>
            <a:off x="8216900" y="3937000"/>
            <a:ext cx="2997200" cy="457200"/>
          </a:xfrm>
          <a:prstGeom prst="roundRect">
            <a:avLst>
              <a:gd name="adj" fmla="val 13888"/>
            </a:avLst>
          </a:prstGeom>
          <a:solidFill>
            <a:srgbClr val="0277BD">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0277BD"/>
                </a:solidFill>
                <a:latin typeface="Noto Sans SC"/>
                <a:ea typeface="Noto Sans SC"/>
                <a:cs typeface="Noto Sans SC"/>
                <a:sym typeface="Noto Sans SC"/>
              </a:rPr>
              <a:t>pip3 install "langserve[all]"</a:t>
            </a:r>
            <a:endParaRPr lang="en-US" sz="1100"/>
          </a:p>
        </p:txBody>
      </p:sp>
      <p:sp>
        <p:nvSpPr>
          <p:cNvPr id="28" name="AutoShape 28"/>
          <p:cNvSpPr/>
          <p:nvPr/>
        </p:nvSpPr>
        <p:spPr>
          <a:xfrm>
            <a:off x="762000" y="4826000"/>
            <a:ext cx="33782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29" name="Picture 29"/>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52500" y="5016500"/>
            <a:ext cx="406400" cy="406400"/>
          </a:xfrm>
          <a:prstGeom prst="rect">
            <a:avLst/>
          </a:prstGeom>
        </p:spPr>
      </p:pic>
      <p:sp>
        <p:nvSpPr>
          <p:cNvPr id="30" name="AutoShape 30"/>
          <p:cNvSpPr/>
          <p:nvPr/>
        </p:nvSpPr>
        <p:spPr>
          <a:xfrm>
            <a:off x="1460500" y="49784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LangSmith SDK</a:t>
            </a:r>
            <a:endParaRPr lang="en-US" sz="1100"/>
          </a:p>
        </p:txBody>
      </p:sp>
      <p:sp>
        <p:nvSpPr>
          <p:cNvPr id="31" name="AutoShape 31"/>
          <p:cNvSpPr/>
          <p:nvPr/>
        </p:nvSpPr>
        <p:spPr>
          <a:xfrm>
            <a:off x="952500" y="5461000"/>
            <a:ext cx="2997200" cy="457200"/>
          </a:xfrm>
          <a:prstGeom prst="roundRect">
            <a:avLst>
              <a:gd name="adj" fmla="val 13888"/>
            </a:avLst>
          </a:prstGeom>
          <a:solidFill>
            <a:srgbClr val="0277BD">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0277BD"/>
                </a:solidFill>
                <a:latin typeface="Noto Sans SC"/>
                <a:ea typeface="Noto Sans SC"/>
                <a:cs typeface="Noto Sans SC"/>
                <a:sym typeface="Noto Sans SC"/>
              </a:rPr>
              <a:t>pip3 install langsmith</a:t>
            </a:r>
            <a:endParaRPr lang="en-US" sz="1100"/>
          </a:p>
        </p:txBody>
      </p:sp>
      <p:sp>
        <p:nvSpPr>
          <p:cNvPr id="32" name="AutoShape 32"/>
          <p:cNvSpPr/>
          <p:nvPr/>
        </p:nvSpPr>
        <p:spPr>
          <a:xfrm>
            <a:off x="4394200" y="4826000"/>
            <a:ext cx="7010400" cy="1270000"/>
          </a:xfrm>
          <a:prstGeom prst="roundRect">
            <a:avLst>
              <a:gd name="adj" fmla="val 10000"/>
            </a:avLst>
          </a:prstGeom>
          <a:solidFill>
            <a:srgbClr val="FF9800">
              <a:alpha val="10000"/>
            </a:srgbClr>
          </a:solidFill>
          <a:ln w="12700" cap="flat" cmpd="sng">
            <a:solidFill>
              <a:srgbClr val="FF9800">
                <a:alpha val="100000"/>
              </a:srgbClr>
            </a:solidFill>
            <a:prstDash val="dash"/>
            <a:round/>
          </a:ln>
        </p:spPr>
        <p:txBody>
          <a:bodyPr vert="horz" wrap="square" lIns="63500" tIns="63500" rIns="63500" bIns="63500" rtlCol="0" anchor="ctr"/>
          <a:lstStyle/>
          <a:p>
            <a:pPr algn="ctr">
              <a:defRPr/>
            </a:pPr>
          </a:p>
        </p:txBody>
      </p:sp>
      <p:pic>
        <p:nvPicPr>
          <p:cNvPr id="33" name="Picture 33"/>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584700" y="5143500"/>
            <a:ext cx="406400" cy="406400"/>
          </a:xfrm>
          <a:prstGeom prst="rect">
            <a:avLst/>
          </a:prstGeom>
        </p:spPr>
      </p:pic>
      <p:sp>
        <p:nvSpPr>
          <p:cNvPr id="34" name="AutoShape 34"/>
          <p:cNvSpPr/>
          <p:nvPr/>
        </p:nvSpPr>
        <p:spPr>
          <a:xfrm>
            <a:off x="5092700" y="4978400"/>
            <a:ext cx="6096000" cy="965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E65100"/>
                </a:solidFill>
                <a:latin typeface="Noto Sans SC"/>
                <a:ea typeface="Noto Sans SC"/>
                <a:cs typeface="Noto Sans SC"/>
                <a:sym typeface="Noto Sans SC"/>
              </a:rPr>
              <a:t>安装提示</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建议在虚拟环境（如 venv 或 conda）中进行安装，以避免依赖冲突。实验版包含前沿功能，但可能不稳定，适合开发测试使用。</a:t>
            </a:r>
            <a:endParaRPr lang="en-US" sz="14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359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开发第一个LangChain程序</a:t>
            </a:r>
            <a:endParaRPr lang="en-US" sz="1100"/>
          </a:p>
        </p:txBody>
      </p:sp>
      <p:sp>
        <p:nvSpPr>
          <p:cNvPr id="3" name="AutoShape 3"/>
          <p:cNvSpPr/>
          <p:nvPr/>
        </p:nvSpPr>
        <p:spPr>
          <a:xfrm>
            <a:off x="762000" y="1270000"/>
            <a:ext cx="5334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sp>
        <p:nvSpPr>
          <p:cNvPr id="4" name="AutoShape 4"/>
          <p:cNvSpPr/>
          <p:nvPr/>
        </p:nvSpPr>
        <p:spPr>
          <a:xfrm>
            <a:off x="952500" y="1397000"/>
            <a:ext cx="495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代码示例：电商评论情感分析</a:t>
            </a:r>
            <a:endParaRPr lang="en-US" sz="1100"/>
          </a:p>
        </p:txBody>
      </p:sp>
      <p:sp>
        <p:nvSpPr>
          <p:cNvPr id="5" name="AutoShape 5"/>
          <p:cNvSpPr/>
          <p:nvPr/>
        </p:nvSpPr>
        <p:spPr>
          <a:xfrm>
            <a:off x="952500" y="1778000"/>
            <a:ext cx="4953000" cy="292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555555"/>
                </a:solidFill>
                <a:latin typeface="Menlo" panose="020B0609030804020204"/>
                <a:ea typeface="Menlo" panose="020B0609030804020204"/>
                <a:cs typeface="Menlo" panose="020B0609030804020204"/>
                <a:sym typeface="Menlo" panose="020B0609030804020204"/>
              </a:rPr>
              <a:t>from langchain_openai import AzureChatOpenAI</a:t>
            </a:r>
            <a:endParaRPr lang="en-US" sz="1100"/>
          </a:p>
          <a:p>
            <a:pPr indent="0" algn="l">
              <a:lnSpc>
                <a:spcPct val="100000"/>
              </a:lnSpc>
            </a:pPr>
            <a:r>
              <a:rPr lang="en-US" sz="1200" b="0" i="0" u="none" strike="noStrike">
                <a:solidFill>
                  <a:srgbClr val="555555"/>
                </a:solidFill>
                <a:latin typeface="Menlo" panose="020B0609030804020204"/>
                <a:ea typeface="Menlo" panose="020B0609030804020204"/>
                <a:cs typeface="Menlo" panose="020B0609030804020204"/>
                <a:sym typeface="Menlo" panose="020B0609030804020204"/>
              </a:rPr>
              <a:t>azure_chat = AzureChatOpenAI(</a:t>
            </a:r>
            <a:endParaRPr lang="en-US" sz="1200" b="0" i="0" u="none" strike="noStrike">
              <a:solidFill>
                <a:srgbClr val="555555"/>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00" b="0" i="0" u="none" strike="noStrike">
                <a:solidFill>
                  <a:srgbClr val="555555"/>
                </a:solidFill>
                <a:latin typeface="Menlo" panose="020B0609030804020204"/>
                <a:ea typeface="Menlo" panose="020B0609030804020204"/>
                <a:cs typeface="Menlo" panose="020B0609030804020204"/>
                <a:sym typeface="Menlo" panose="020B0609030804020204"/>
              </a:rPr>
              <a:t>azure_endpoint="https://xxx",</a:t>
            </a:r>
            <a:endParaRPr lang="en-US" sz="1200" b="0" i="0" u="none" strike="noStrike">
              <a:solidFill>
                <a:srgbClr val="555555"/>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00" b="0" i="0" u="none" strike="noStrike">
                <a:solidFill>
                  <a:srgbClr val="555555"/>
                </a:solidFill>
                <a:latin typeface="Menlo" panose="020B0609030804020204"/>
                <a:ea typeface="Menlo" panose="020B0609030804020204"/>
                <a:cs typeface="Menlo" panose="020B0609030804020204"/>
                <a:sym typeface="Menlo" panose="020B0609030804020204"/>
              </a:rPr>
              <a:t>azure_deployment="gpt-35-turbo",</a:t>
            </a:r>
            <a:endParaRPr lang="en-US" sz="1200" b="0" i="0" u="none" strike="noStrike">
              <a:solidFill>
                <a:srgbClr val="555555"/>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00" b="0" i="0" u="none" strike="noStrike">
                <a:solidFill>
                  <a:srgbClr val="555555"/>
                </a:solidFill>
                <a:latin typeface="Menlo" panose="020B0609030804020204"/>
                <a:ea typeface="Menlo" panose="020B0609030804020204"/>
                <a:cs typeface="Menlo" panose="020B0609030804020204"/>
                <a:sym typeface="Menlo" panose="020B0609030804020204"/>
              </a:rPr>
              <a:t>openai_api_key="xxx"</a:t>
            </a:r>
            <a:endParaRPr lang="en-US" sz="1200" b="0" i="0" u="none" strike="noStrike">
              <a:solidFill>
                <a:srgbClr val="555555"/>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00" b="0" i="0" u="none" strike="noStrike">
                <a:solidFill>
                  <a:srgbClr val="555555"/>
                </a:solidFill>
                <a:latin typeface="Menlo" panose="020B0609030804020204"/>
                <a:ea typeface="Menlo" panose="020B0609030804020204"/>
                <a:cs typeface="Menlo" panose="020B0609030804020204"/>
                <a:sym typeface="Menlo" panose="020B0609030804020204"/>
              </a:rPr>
              <a:t>)</a:t>
            </a:r>
            <a:endParaRPr lang="en-US" sz="1200" b="0" i="0" u="none" strike="noStrike">
              <a:solidFill>
                <a:srgbClr val="555555"/>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00" b="0" i="0" u="none" strike="noStrike">
                <a:solidFill>
                  <a:srgbClr val="555555"/>
                </a:solidFill>
                <a:latin typeface="Menlo" panose="020B0609030804020204"/>
                <a:ea typeface="Menlo" panose="020B0609030804020204"/>
                <a:cs typeface="Menlo" panose="020B0609030804020204"/>
                <a:sym typeface="Menlo" panose="020B0609030804020204"/>
              </a:rPr>
              <a:t>content = "物流很快，包装精美，非常喜欢。"</a:t>
            </a:r>
            <a:endParaRPr lang="en-US" sz="1200" b="0" i="0" u="none" strike="noStrike">
              <a:solidFill>
                <a:srgbClr val="555555"/>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00" b="0" i="0" u="none" strike="noStrike">
                <a:solidFill>
                  <a:srgbClr val="555555"/>
                </a:solidFill>
                <a:latin typeface="Menlo" panose="020B0609030804020204"/>
                <a:ea typeface="Menlo" panose="020B0609030804020204"/>
                <a:cs typeface="Menlo" panose="020B0609030804020204"/>
                <a:sym typeface="Menlo" panose="020B0609030804020204"/>
              </a:rPr>
              <a:t>prompt = f"身份：资深情感分析专家...文本内容：{content}"</a:t>
            </a:r>
            <a:endParaRPr lang="en-US" sz="1200" b="0" i="0" u="none" strike="noStrike">
              <a:solidFill>
                <a:srgbClr val="555555"/>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00" b="0" i="0" u="none" strike="noStrike">
                <a:solidFill>
                  <a:srgbClr val="555555"/>
                </a:solidFill>
                <a:latin typeface="Menlo" panose="020B0609030804020204"/>
                <a:ea typeface="Menlo" panose="020B0609030804020204"/>
                <a:cs typeface="Menlo" panose="020B0609030804020204"/>
                <a:sym typeface="Menlo" panose="020B0609030804020204"/>
              </a:rPr>
              <a:t>response = azure_chat.invoke(prompt)</a:t>
            </a:r>
            <a:endParaRPr lang="en-US" sz="1200" b="0" i="0" u="none" strike="noStrike">
              <a:solidFill>
                <a:srgbClr val="555555"/>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00" b="0" i="0" u="none" strike="noStrike">
                <a:solidFill>
                  <a:srgbClr val="555555"/>
                </a:solidFill>
                <a:latin typeface="Menlo" panose="020B0609030804020204"/>
                <a:ea typeface="Menlo" panose="020B0609030804020204"/>
                <a:cs typeface="Menlo" panose="020B0609030804020204"/>
                <a:sym typeface="Menlo" panose="020B0609030804020204"/>
              </a:rPr>
              <a:t>print(response.content)</a:t>
            </a:r>
            <a:endParaRPr lang="en-US" sz="1200" b="0" i="0" u="none" strike="noStrike">
              <a:solidFill>
                <a:srgbClr val="555555"/>
              </a:solidFill>
              <a:latin typeface="Menlo" panose="020B0609030804020204"/>
              <a:ea typeface="Menlo" panose="020B0609030804020204"/>
              <a:cs typeface="Menlo" panose="020B0609030804020204"/>
              <a:sym typeface="Menlo" panose="020B0609030804020204"/>
            </a:endParaRPr>
          </a:p>
        </p:txBody>
      </p:sp>
      <p:sp>
        <p:nvSpPr>
          <p:cNvPr id="6" name="AutoShape 6"/>
          <p:cNvSpPr/>
          <p:nvPr/>
        </p:nvSpPr>
        <p:spPr>
          <a:xfrm>
            <a:off x="6350000" y="1270000"/>
            <a:ext cx="5080000" cy="1524000"/>
          </a:xfrm>
          <a:prstGeom prst="roundRect">
            <a:avLst>
              <a:gd name="adj" fmla="val 8333"/>
            </a:avLst>
          </a:prstGeom>
          <a:solidFill>
            <a:srgbClr val="FFFFFF">
              <a:alpha val="10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sp>
        <p:nvSpPr>
          <p:cNvPr id="7" name="AutoShape 7"/>
          <p:cNvSpPr/>
          <p:nvPr/>
        </p:nvSpPr>
        <p:spPr>
          <a:xfrm>
            <a:off x="6540500" y="1397000"/>
            <a:ext cx="469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输出结果 (JSON)</a:t>
            </a:r>
            <a:endParaRPr lang="en-US" sz="1100"/>
          </a:p>
        </p:txBody>
      </p:sp>
      <p:sp>
        <p:nvSpPr>
          <p:cNvPr id="8" name="AutoShape 8"/>
          <p:cNvSpPr/>
          <p:nvPr/>
        </p:nvSpPr>
        <p:spPr>
          <a:xfrm>
            <a:off x="6540500" y="1778000"/>
            <a:ext cx="4699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212121"/>
                </a:solidFill>
                <a:latin typeface="Menlo" panose="020B0609030804020204"/>
                <a:ea typeface="Menlo" panose="020B0609030804020204"/>
                <a:cs typeface="Menlo" panose="020B0609030804020204"/>
                <a:sym typeface="Menlo" panose="020B0609030804020204"/>
              </a:rPr>
              <a:t>{</a:t>
            </a:r>
            <a:endParaRPr lang="en-US" sz="1100"/>
          </a:p>
          <a:p>
            <a:pPr indent="0" algn="l">
              <a:lnSpc>
                <a:spcPct val="108000"/>
              </a:lnSpc>
            </a:pPr>
            <a:r>
              <a:rPr lang="en-US" sz="1400" b="0" i="0" u="none" strike="noStrike">
                <a:solidFill>
                  <a:srgbClr val="212121"/>
                </a:solidFill>
                <a:latin typeface="Menlo" panose="020B0609030804020204"/>
                <a:ea typeface="Menlo" panose="020B0609030804020204"/>
                <a:cs typeface="Menlo" panose="020B0609030804020204"/>
                <a:sym typeface="Menlo" panose="020B0609030804020204"/>
              </a:rPr>
              <a:t>"label": "</a:t>
            </a:r>
            <a:r>
              <a:rPr lang="en-US" sz="1400" b="1" i="0" u="none" strike="noStrike">
                <a:solidFill>
                  <a:srgbClr val="FF9800"/>
                </a:solidFill>
                <a:latin typeface="Menlo" panose="020B0609030804020204"/>
                <a:ea typeface="Menlo" panose="020B0609030804020204"/>
                <a:cs typeface="Menlo" panose="020B0609030804020204"/>
                <a:sym typeface="Menlo" panose="020B0609030804020204"/>
              </a:rPr>
              <a:t>积极</a:t>
            </a:r>
            <a:r>
              <a:rPr lang="en-US" sz="1400" b="0" i="0" u="none" strike="noStrike">
                <a:solidFill>
                  <a:srgbClr val="212121"/>
                </a:solidFill>
                <a:latin typeface="Menlo" panose="020B0609030804020204"/>
                <a:ea typeface="Menlo" panose="020B0609030804020204"/>
                <a:cs typeface="Menlo" panose="020B0609030804020204"/>
                <a:sym typeface="Menlo" panose="020B0609030804020204"/>
              </a:rPr>
              <a:t>",</a:t>
            </a:r>
            <a:endParaRPr lang="en-US" sz="1400" b="0" i="0" u="none" strike="noStrike">
              <a:solidFill>
                <a:srgbClr val="212121"/>
              </a:solidFill>
              <a:latin typeface="Menlo" panose="020B0609030804020204"/>
              <a:ea typeface="Menlo" panose="020B0609030804020204"/>
              <a:cs typeface="Menlo" panose="020B0609030804020204"/>
              <a:sym typeface="Menlo" panose="020B0609030804020204"/>
            </a:endParaRPr>
          </a:p>
          <a:p>
            <a:pPr indent="0" algn="l">
              <a:lnSpc>
                <a:spcPct val="108000"/>
              </a:lnSpc>
            </a:pPr>
            <a:r>
              <a:rPr lang="en-US" sz="1400" b="0" i="0" u="none" strike="noStrike">
                <a:solidFill>
                  <a:srgbClr val="212121"/>
                </a:solidFill>
                <a:latin typeface="Menlo" panose="020B0609030804020204"/>
                <a:ea typeface="Menlo" panose="020B0609030804020204"/>
                <a:cs typeface="Menlo" panose="020B0609030804020204"/>
                <a:sym typeface="Menlo" panose="020B0609030804020204"/>
              </a:rPr>
              <a:t>"score":</a:t>
            </a:r>
            <a:r>
              <a:rPr lang="en-US" sz="1400" b="1" i="0" u="none" strike="noStrike">
                <a:solidFill>
                  <a:srgbClr val="FF9800"/>
                </a:solidFill>
                <a:latin typeface="Menlo" panose="020B0609030804020204"/>
                <a:ea typeface="Menlo" panose="020B0609030804020204"/>
                <a:cs typeface="Menlo" panose="020B0609030804020204"/>
                <a:sym typeface="Menlo" panose="020B0609030804020204"/>
              </a:rPr>
              <a:t>0.95</a:t>
            </a:r>
            <a:endParaRPr lang="en-US" sz="1400" b="1" i="0" u="none" strike="noStrike">
              <a:solidFill>
                <a:srgbClr val="FF9800"/>
              </a:solidFill>
              <a:latin typeface="Menlo" panose="020B0609030804020204"/>
              <a:ea typeface="Menlo" panose="020B0609030804020204"/>
              <a:cs typeface="Menlo" panose="020B0609030804020204"/>
              <a:sym typeface="Menlo" panose="020B0609030804020204"/>
            </a:endParaRPr>
          </a:p>
          <a:p>
            <a:pPr indent="0" algn="l">
              <a:lnSpc>
                <a:spcPct val="108000"/>
              </a:lnSpc>
            </a:pPr>
            <a:r>
              <a:rPr lang="en-US" sz="1400" b="0" i="0" u="none" strike="noStrike">
                <a:solidFill>
                  <a:srgbClr val="212121"/>
                </a:solidFill>
                <a:latin typeface="Menlo" panose="020B0609030804020204"/>
                <a:ea typeface="Menlo" panose="020B0609030804020204"/>
                <a:cs typeface="Menlo" panose="020B0609030804020204"/>
                <a:sym typeface="Menlo" panose="020B0609030804020204"/>
              </a:rPr>
              <a:t>}</a:t>
            </a:r>
            <a:endParaRPr lang="en-US" sz="1400" b="0" i="0" u="none" strike="noStrike">
              <a:solidFill>
                <a:srgbClr val="212121"/>
              </a:solidFill>
              <a:latin typeface="Menlo" panose="020B0609030804020204"/>
              <a:ea typeface="Menlo" panose="020B0609030804020204"/>
              <a:cs typeface="Menlo" panose="020B0609030804020204"/>
              <a:sym typeface="Menlo" panose="020B0609030804020204"/>
            </a:endParaRPr>
          </a:p>
        </p:txBody>
      </p:sp>
      <p:sp>
        <p:nvSpPr>
          <p:cNvPr id="9" name="AutoShape 9"/>
          <p:cNvSpPr/>
          <p:nvPr/>
        </p:nvSpPr>
        <p:spPr>
          <a:xfrm>
            <a:off x="6350000" y="3048000"/>
            <a:ext cx="5080000" cy="1778000"/>
          </a:xfrm>
          <a:prstGeom prst="roundRect">
            <a:avLst>
              <a:gd name="adj" fmla="val 7142"/>
            </a:avLst>
          </a:prstGeom>
          <a:solidFill>
            <a:srgbClr val="FFFFFF">
              <a:alpha val="10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sp>
        <p:nvSpPr>
          <p:cNvPr id="10" name="AutoShape 10"/>
          <p:cNvSpPr/>
          <p:nvPr/>
        </p:nvSpPr>
        <p:spPr>
          <a:xfrm>
            <a:off x="6540500" y="3175000"/>
            <a:ext cx="469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核心步骤解析</a:t>
            </a:r>
            <a:endParaRPr lang="en-US" sz="1100"/>
          </a:p>
        </p:txBody>
      </p:sp>
      <p:sp>
        <p:nvSpPr>
          <p:cNvPr id="11" name="AutoShape 11"/>
          <p:cNvSpPr/>
          <p:nvPr/>
        </p:nvSpPr>
        <p:spPr>
          <a:xfrm>
            <a:off x="6540500" y="3556000"/>
            <a:ext cx="4699000" cy="1143000"/>
          </a:xfrm>
          <a:prstGeom prst="rect">
            <a:avLst/>
          </a:prstGeom>
          <a:noFill/>
          <a:ln w="12700" cap="flat" cmpd="sng">
            <a:noFill/>
            <a:prstDash val="solid"/>
            <a:round/>
          </a:ln>
        </p:spPr>
        <p:txBody>
          <a:bodyPr vert="horz" wrap="square" lIns="0" tIns="0" rIns="0" bIns="0" rtlCol="0" anchor="ctr" anchorCtr="0"/>
          <a:lstStyle/>
          <a:p>
            <a:pPr marL="165100" indent="-165100" algn="l">
              <a:lnSpc>
                <a:spcPct val="108000"/>
              </a:lnSpc>
              <a:buClr>
                <a:srgbClr val="757575"/>
              </a:buClr>
              <a:buChar char="•"/>
              <a:defRPr/>
            </a:pPr>
            <a:r>
              <a:rPr lang="en-US" sz="1300" b="1" i="0" u="none" strike="noStrike">
                <a:solidFill>
                  <a:srgbClr val="757575"/>
                </a:solidFill>
                <a:latin typeface="Noto Sans SC"/>
                <a:ea typeface="Noto Sans SC"/>
                <a:cs typeface="Noto Sans SC"/>
                <a:sym typeface="Noto Sans SC"/>
              </a:rPr>
              <a:t>导入与配置：</a:t>
            </a:r>
            <a:r>
              <a:rPr lang="en-US" sz="1300" b="0" i="0" u="none" strike="noStrike">
                <a:solidFill>
                  <a:srgbClr val="757575"/>
                </a:solidFill>
                <a:latin typeface="Noto Sans SC"/>
                <a:ea typeface="Noto Sans SC"/>
                <a:cs typeface="Noto Sans SC"/>
                <a:sym typeface="Noto Sans SC"/>
              </a:rPr>
              <a:t>引入Azure模型并配置连接信息。</a:t>
            </a:r>
            <a:endParaRPr lang="en-US" sz="1100"/>
          </a:p>
          <a:p>
            <a:pPr marL="165100" indent="-165100" algn="l">
              <a:lnSpc>
                <a:spcPct val="108000"/>
              </a:lnSpc>
              <a:buClr>
                <a:srgbClr val="757575"/>
              </a:buClr>
              <a:buChar char="•"/>
            </a:pPr>
            <a:r>
              <a:rPr lang="en-US" sz="1300" b="1" i="0" u="none" strike="noStrike">
                <a:solidFill>
                  <a:srgbClr val="757575"/>
                </a:solidFill>
                <a:latin typeface="Noto Sans SC"/>
                <a:ea typeface="Noto Sans SC"/>
                <a:cs typeface="Noto Sans SC"/>
                <a:sym typeface="Noto Sans SC"/>
              </a:rPr>
              <a:t>定义内容：</a:t>
            </a:r>
            <a:r>
              <a:rPr lang="en-US" sz="1300" b="0" i="0" u="none" strike="noStrike">
                <a:solidFill>
                  <a:srgbClr val="757575"/>
                </a:solidFill>
                <a:latin typeface="Noto Sans SC"/>
                <a:ea typeface="Noto Sans SC"/>
                <a:cs typeface="Noto Sans SC"/>
                <a:sym typeface="Noto Sans SC"/>
              </a:rPr>
              <a:t>设定待分析的电商评论文本。</a:t>
            </a:r>
            <a:endParaRPr lang="en-US" sz="1300" b="0" i="0" u="none" strike="noStrike">
              <a:solidFill>
                <a:srgbClr val="757575"/>
              </a:solidFill>
              <a:latin typeface="Noto Sans SC"/>
              <a:ea typeface="Noto Sans SC"/>
              <a:cs typeface="Noto Sans SC"/>
              <a:sym typeface="Noto Sans SC"/>
            </a:endParaRPr>
          </a:p>
          <a:p>
            <a:pPr marL="165100" indent="-165100" algn="l">
              <a:lnSpc>
                <a:spcPct val="108000"/>
              </a:lnSpc>
              <a:buClr>
                <a:srgbClr val="757575"/>
              </a:buClr>
              <a:buChar char="•"/>
            </a:pPr>
            <a:r>
              <a:rPr lang="en-US" sz="1300" b="1" i="0" u="none" strike="noStrike">
                <a:solidFill>
                  <a:srgbClr val="757575"/>
                </a:solidFill>
                <a:latin typeface="Noto Sans SC"/>
                <a:ea typeface="Noto Sans SC"/>
                <a:cs typeface="Noto Sans SC"/>
                <a:sym typeface="Noto Sans SC"/>
              </a:rPr>
              <a:t>构造Prompt：</a:t>
            </a:r>
            <a:r>
              <a:rPr lang="en-US" sz="1300" b="0" i="0" u="none" strike="noStrike">
                <a:solidFill>
                  <a:srgbClr val="757575"/>
                </a:solidFill>
                <a:latin typeface="Noto Sans SC"/>
                <a:ea typeface="Noto Sans SC"/>
                <a:cs typeface="Noto Sans SC"/>
                <a:sym typeface="Noto Sans SC"/>
              </a:rPr>
              <a:t>明确角色、任务和输出格式。</a:t>
            </a:r>
            <a:endParaRPr lang="en-US" sz="1300" b="0" i="0" u="none" strike="noStrike">
              <a:solidFill>
                <a:srgbClr val="757575"/>
              </a:solidFill>
              <a:latin typeface="Noto Sans SC"/>
              <a:ea typeface="Noto Sans SC"/>
              <a:cs typeface="Noto Sans SC"/>
              <a:sym typeface="Noto Sans SC"/>
            </a:endParaRPr>
          </a:p>
          <a:p>
            <a:pPr marL="165100" indent="-165100" algn="l">
              <a:lnSpc>
                <a:spcPct val="108000"/>
              </a:lnSpc>
              <a:buClr>
                <a:srgbClr val="757575"/>
              </a:buClr>
              <a:buChar char="•"/>
            </a:pPr>
            <a:r>
              <a:rPr lang="en-US" sz="1300" b="1" i="0" u="none" strike="noStrike">
                <a:solidFill>
                  <a:srgbClr val="757575"/>
                </a:solidFill>
                <a:latin typeface="Noto Sans SC"/>
                <a:ea typeface="Noto Sans SC"/>
                <a:cs typeface="Noto Sans SC"/>
                <a:sym typeface="Noto Sans SC"/>
              </a:rPr>
              <a:t>调用与输出：</a:t>
            </a:r>
            <a:r>
              <a:rPr lang="en-US" sz="1300" b="0" i="0" u="none" strike="noStrike">
                <a:solidFill>
                  <a:srgbClr val="757575"/>
                </a:solidFill>
                <a:latin typeface="Noto Sans SC"/>
                <a:ea typeface="Noto Sans SC"/>
                <a:cs typeface="Noto Sans SC"/>
                <a:sym typeface="Noto Sans SC"/>
              </a:rPr>
              <a:t>发送请求并获取结构化分析结果。</a:t>
            </a:r>
            <a:endParaRPr lang="en-US" sz="1300" b="0" i="0" u="none" strike="noStrike">
              <a:solidFill>
                <a:srgbClr val="757575"/>
              </a:solidFill>
              <a:latin typeface="Noto Sans SC"/>
              <a:ea typeface="Noto Sans SC"/>
              <a:cs typeface="Noto Sans SC"/>
              <a:sym typeface="Noto Sans SC"/>
            </a:endParaRPr>
          </a:p>
        </p:txBody>
      </p:sp>
      <p:sp>
        <p:nvSpPr>
          <p:cNvPr id="12" name="AutoShape 12"/>
          <p:cNvSpPr/>
          <p:nvPr/>
        </p:nvSpPr>
        <p:spPr>
          <a:xfrm>
            <a:off x="762000" y="5080000"/>
            <a:ext cx="10668000" cy="1270000"/>
          </a:xfrm>
          <a:prstGeom prst="roundRect">
            <a:avLst>
              <a:gd name="adj" fmla="val 10000"/>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5334000"/>
            <a:ext cx="406400" cy="406400"/>
          </a:xfrm>
          <a:prstGeom prst="rect">
            <a:avLst/>
          </a:prstGeom>
        </p:spPr>
      </p:pic>
      <p:sp>
        <p:nvSpPr>
          <p:cNvPr id="14" name="AutoShape 14"/>
          <p:cNvSpPr/>
          <p:nvPr/>
        </p:nvSpPr>
        <p:spPr>
          <a:xfrm>
            <a:off x="1524000" y="5270500"/>
            <a:ext cx="9652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核心价值：</a:t>
            </a:r>
            <a:endParaRPr lang="en-US" sz="1100"/>
          </a:p>
          <a:p>
            <a:pPr indent="0" algn="l">
              <a:lnSpc>
                <a:spcPct val="100000"/>
              </a:lnSpc>
            </a:pPr>
            <a:r>
              <a:rPr lang="en-US" sz="1400" b="0" i="0" u="none" strike="noStrike">
                <a:solidFill>
                  <a:srgbClr val="555555"/>
                </a:solidFill>
                <a:latin typeface="Noto Sans SC"/>
                <a:ea typeface="Noto Sans SC"/>
                <a:cs typeface="Noto Sans SC"/>
                <a:sym typeface="Noto Sans SC"/>
              </a:rPr>
              <a:t>通过LangChain封装，开发者无需处理复杂的底层API调用细节，只需专注于业务逻辑（Prompt设计）。此例展示了如何利用大模型快速实现高质量的文本情感分析任务。</a:t>
            </a:r>
            <a:endParaRPr lang="en-US" sz="1400" b="0" i="0" u="none" strike="noStrike">
              <a:solidFill>
                <a:srgbClr val="555555"/>
              </a:solidFill>
              <a:latin typeface="Noto Sans SC"/>
              <a:ea typeface="Noto Sans SC"/>
              <a:cs typeface="Noto Sans SC"/>
              <a:sym typeface="Noto Sans SC"/>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635000"/>
            <a:ext cx="2540000" cy="25400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9525000" y="3810000"/>
            <a:ext cx="3810000" cy="3810000"/>
          </a:xfrm>
          <a:prstGeom prst="ellipse">
            <a:avLst/>
          </a:prstGeom>
          <a:solidFill>
            <a:srgbClr val="FF9800">
              <a:alpha val="1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2286000" y="1524000"/>
            <a:ext cx="7620000" cy="3810000"/>
          </a:xfrm>
          <a:prstGeom prst="roundRect">
            <a:avLst>
              <a:gd name="adj" fmla="val 3333"/>
            </a:avLst>
          </a:prstGeom>
          <a:solidFill>
            <a:srgbClr val="FFFFFF">
              <a:alpha val="100000"/>
            </a:srgbClr>
          </a:solidFill>
          <a:ln w="25400" cap="flat" cmpd="sng">
            <a:noFill/>
            <a:prstDash val="solid"/>
            <a:round/>
          </a:ln>
          <a:effectLst>
            <a:outerShdw blurRad="254000" dist="127000" dir="5400000" algn="tl" rotWithShape="0">
              <a:srgbClr val="0277BD">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1778000"/>
            <a:ext cx="812800" cy="812800"/>
          </a:xfrm>
          <a:prstGeom prst="rect">
            <a:avLst/>
          </a:prstGeom>
        </p:spPr>
      </p:pic>
      <p:sp>
        <p:nvSpPr>
          <p:cNvPr id="6" name="AutoShape 6"/>
          <p:cNvSpPr/>
          <p:nvPr/>
        </p:nvSpPr>
        <p:spPr>
          <a:xfrm>
            <a:off x="2540000" y="2667000"/>
            <a:ext cx="7112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1" i="0" u="none" strike="noStrike">
                <a:solidFill>
                  <a:srgbClr val="0277BD"/>
                </a:solidFill>
                <a:latin typeface="Noto Sans SC"/>
                <a:ea typeface="Noto Sans SC"/>
                <a:cs typeface="Noto Sans SC"/>
                <a:sym typeface="Noto Sans SC"/>
              </a:rPr>
              <a:t>8.2 模型I/O（Model IO）</a:t>
            </a:r>
            <a:endParaRPr lang="en-US" sz="1100"/>
          </a:p>
        </p:txBody>
      </p:sp>
      <p:cxnSp>
        <p:nvCxnSpPr>
          <p:cNvPr id="7" name="Connector 7"/>
          <p:cNvCxnSpPr/>
          <p:nvPr/>
        </p:nvCxnSpPr>
        <p:spPr>
          <a:xfrm rot="-34376">
            <a:off x="5461032" y="3422650"/>
            <a:ext cx="1270000" cy="12700"/>
          </a:xfrm>
          <a:prstGeom prst="line">
            <a:avLst/>
          </a:prstGeom>
          <a:solidFill>
            <a:srgbClr val="DEE0E3">
              <a:alpha val="100000"/>
            </a:srgbClr>
          </a:solidFill>
          <a:ln w="38100" cap="rnd" cmpd="sng">
            <a:solidFill>
              <a:srgbClr val="FF9800">
                <a:alpha val="100000"/>
              </a:srgbClr>
            </a:solidFill>
            <a:prstDash val="solid"/>
            <a:round/>
            <a:headEnd type="none" w="lg" len="lg"/>
            <a:tailEnd type="none" w="lg" len="lg"/>
          </a:ln>
        </p:spPr>
      </p:cxnSp>
      <p:sp>
        <p:nvSpPr>
          <p:cNvPr id="8" name="AutoShape 8"/>
          <p:cNvSpPr/>
          <p:nvPr/>
        </p:nvSpPr>
        <p:spPr>
          <a:xfrm>
            <a:off x="2794000" y="3683000"/>
            <a:ext cx="6604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757575"/>
                </a:solidFill>
                <a:latin typeface="Noto Sans SC"/>
                <a:ea typeface="Noto Sans SC"/>
                <a:cs typeface="Noto Sans SC"/>
                <a:sym typeface="Noto Sans SC"/>
              </a:rPr>
              <a:t>学习如何与大语言模型进行高效的输入和输出交互，构建LLM应用的基础。</a:t>
            </a:r>
            <a:endParaRPr lang="en-US" sz="1100"/>
          </a:p>
        </p:txBody>
      </p:sp>
      <p:sp>
        <p:nvSpPr>
          <p:cNvPr id="9" name="AutoShape 9"/>
          <p:cNvSpPr/>
          <p:nvPr/>
        </p:nvSpPr>
        <p:spPr>
          <a:xfrm>
            <a:off x="2286000" y="5257800"/>
            <a:ext cx="7620000" cy="762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927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8.2.1 模型I/O简介</a:t>
            </a:r>
            <a:endParaRPr lang="en-US" sz="1100"/>
          </a:p>
        </p:txBody>
      </p:sp>
      <p:sp>
        <p:nvSpPr>
          <p:cNvPr id="3" name="AutoShape 3"/>
          <p:cNvSpPr/>
          <p:nvPr/>
        </p:nvSpPr>
        <p:spPr>
          <a:xfrm>
            <a:off x="762000" y="1397000"/>
            <a:ext cx="4572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srcRect t="52" b="52"/>
          <a:stretch>
            <a:fillRect/>
          </a:stretch>
        </p:blipFill>
        <p:spPr>
          <a:xfrm>
            <a:off x="889000" y="1574800"/>
            <a:ext cx="4318000" cy="1447800"/>
          </a:xfrm>
          <a:prstGeom prst="rect">
            <a:avLst/>
          </a:prstGeom>
          <a:noFill/>
          <a:ln w="25400" cap="flat" cmpd="sng">
            <a:noFill/>
            <a:prstDash val="solid"/>
            <a:round/>
          </a:ln>
        </p:spPr>
      </p:pic>
      <p:sp>
        <p:nvSpPr>
          <p:cNvPr id="5" name="AutoShape 5"/>
          <p:cNvSpPr/>
          <p:nvPr/>
        </p:nvSpPr>
        <p:spPr>
          <a:xfrm>
            <a:off x="762000" y="3556000"/>
            <a:ext cx="4572000" cy="1270000"/>
          </a:xfrm>
          <a:prstGeom prst="roundRect">
            <a:avLst>
              <a:gd name="adj" fmla="val 10000"/>
            </a:avLst>
          </a:prstGeom>
          <a:solidFill>
            <a:srgbClr val="0277BD">
              <a:alpha val="8000"/>
            </a:srgbClr>
          </a:solidFill>
          <a:ln w="12700" cap="flat" cmpd="sng">
            <a:solidFill>
              <a:srgbClr val="0277BD">
                <a:alpha val="3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952500" y="3683000"/>
            <a:ext cx="4191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流程概览</a:t>
            </a:r>
            <a:endParaRPr lang="en-US" sz="1100"/>
          </a:p>
          <a:p>
            <a:pPr indent="0" algn="l">
              <a:lnSpc>
                <a:spcPct val="125000"/>
              </a:lnSpc>
            </a:pPr>
            <a:r>
              <a:rPr lang="en-US" sz="1300" b="0" i="0" u="none" strike="noStrike">
                <a:solidFill>
                  <a:srgbClr val="757575"/>
                </a:solidFill>
                <a:latin typeface="Noto Sans SC"/>
                <a:ea typeface="Noto Sans SC"/>
                <a:cs typeface="Noto Sans SC"/>
                <a:sym typeface="Noto Sans SC"/>
              </a:rPr>
              <a:t>通过标准化的输入、交互与输出流程，屏蔽底层模型差异，实现高效的模型集成与调用。</a:t>
            </a:r>
            <a:endParaRPr lang="en-US" sz="1300" b="0" i="0" u="none" strike="noStrike">
              <a:solidFill>
                <a:srgbClr val="757575"/>
              </a:solidFill>
              <a:latin typeface="Noto Sans SC"/>
              <a:ea typeface="Noto Sans SC"/>
              <a:cs typeface="Noto Sans SC"/>
              <a:sym typeface="Noto Sans SC"/>
            </a:endParaRPr>
          </a:p>
        </p:txBody>
      </p:sp>
      <p:sp>
        <p:nvSpPr>
          <p:cNvPr id="7" name="AutoShape 7"/>
          <p:cNvSpPr/>
          <p:nvPr/>
        </p:nvSpPr>
        <p:spPr>
          <a:xfrm>
            <a:off x="5715000" y="1397000"/>
            <a:ext cx="571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模型I/O定义</a:t>
            </a:r>
            <a:endParaRPr lang="en-US" sz="1100"/>
          </a:p>
        </p:txBody>
      </p:sp>
      <p:sp>
        <p:nvSpPr>
          <p:cNvPr id="8" name="AutoShape 8"/>
          <p:cNvSpPr/>
          <p:nvPr/>
        </p:nvSpPr>
        <p:spPr>
          <a:xfrm>
            <a:off x="5715000" y="1841500"/>
            <a:ext cx="5715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通过抽象和封装，提供了一系列与大语言模型交互的标准API接口，使开发者无需深入学习各平台API协议，即可快速建立交互。</a:t>
            </a:r>
            <a:endParaRPr lang="en-US" sz="1100"/>
          </a:p>
        </p:txBody>
      </p:sp>
      <p:sp>
        <p:nvSpPr>
          <p:cNvPr id="9" name="AutoShape 9"/>
          <p:cNvSpPr/>
          <p:nvPr/>
        </p:nvSpPr>
        <p:spPr>
          <a:xfrm>
            <a:off x="5715000" y="2794000"/>
            <a:ext cx="571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模型I/O流程</a:t>
            </a:r>
            <a:endParaRPr lang="en-US" sz="1100"/>
          </a:p>
        </p:txBody>
      </p:sp>
      <p:sp>
        <p:nvSpPr>
          <p:cNvPr id="10" name="AutoShape 10"/>
          <p:cNvSpPr/>
          <p:nvPr/>
        </p:nvSpPr>
        <p:spPr>
          <a:xfrm>
            <a:off x="5715000" y="3302000"/>
            <a:ext cx="5715000" cy="825500"/>
          </a:xfrm>
          <a:prstGeom prst="roundRect">
            <a:avLst>
              <a:gd name="adj" fmla="val 15384"/>
            </a:avLst>
          </a:prstGeom>
          <a:solidFill>
            <a:srgbClr val="FFFFFF">
              <a:alpha val="100000"/>
            </a:srgbClr>
          </a:solidFill>
          <a:ln w="25400" cap="flat" cmpd="sng">
            <a:noFill/>
            <a:prstDash val="solid"/>
            <a:round/>
          </a:ln>
          <a:effectLst>
            <a:outerShdw blurRad="63500" dist="25400" dir="5400000" algn="tl" rotWithShape="0">
              <a:srgbClr val="000000">
                <a:alpha val="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05500" y="3492500"/>
            <a:ext cx="406400" cy="406400"/>
          </a:xfrm>
          <a:prstGeom prst="rect">
            <a:avLst/>
          </a:prstGeom>
        </p:spPr>
      </p:pic>
      <p:sp>
        <p:nvSpPr>
          <p:cNvPr id="12" name="AutoShape 12"/>
          <p:cNvSpPr/>
          <p:nvPr/>
        </p:nvSpPr>
        <p:spPr>
          <a:xfrm>
            <a:off x="6477000" y="3365500"/>
            <a:ext cx="4826000" cy="698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9800"/>
                </a:solidFill>
                <a:latin typeface="Noto Sans SC"/>
                <a:ea typeface="Noto Sans SC"/>
                <a:cs typeface="Noto Sans SC"/>
                <a:sym typeface="Noto Sans SC"/>
              </a:rPr>
              <a:t>Prompt模版</a:t>
            </a:r>
            <a:endParaRPr lang="en-US" sz="1100"/>
          </a:p>
          <a:p>
            <a:pPr indent="0" algn="l">
              <a:lnSpc>
                <a:spcPct val="125000"/>
              </a:lnSpc>
            </a:pPr>
            <a:r>
              <a:rPr lang="en-US" sz="1300" b="0" i="0" u="none" strike="noStrike">
                <a:solidFill>
                  <a:srgbClr val="757575"/>
                </a:solidFill>
                <a:latin typeface="Noto Sans SC"/>
                <a:ea typeface="Noto Sans SC"/>
                <a:cs typeface="Noto Sans SC"/>
                <a:sym typeface="Noto Sans SC"/>
              </a:rPr>
              <a:t>将提示词输入进行模版化管理，并可以动态调整。</a:t>
            </a:r>
            <a:endParaRPr lang="en-US" sz="1300" b="0" i="0" u="none" strike="noStrike">
              <a:solidFill>
                <a:srgbClr val="757575"/>
              </a:solidFill>
              <a:latin typeface="Noto Sans SC"/>
              <a:ea typeface="Noto Sans SC"/>
              <a:cs typeface="Noto Sans SC"/>
              <a:sym typeface="Noto Sans SC"/>
            </a:endParaRPr>
          </a:p>
        </p:txBody>
      </p:sp>
      <p:sp>
        <p:nvSpPr>
          <p:cNvPr id="13" name="AutoShape 13"/>
          <p:cNvSpPr/>
          <p:nvPr/>
        </p:nvSpPr>
        <p:spPr>
          <a:xfrm>
            <a:off x="5715000" y="4254500"/>
            <a:ext cx="5715000" cy="825500"/>
          </a:xfrm>
          <a:prstGeom prst="roundRect">
            <a:avLst>
              <a:gd name="adj" fmla="val 15384"/>
            </a:avLst>
          </a:prstGeom>
          <a:solidFill>
            <a:srgbClr val="FFFFFF">
              <a:alpha val="100000"/>
            </a:srgbClr>
          </a:solidFill>
          <a:ln w="25400" cap="flat" cmpd="sng">
            <a:noFill/>
            <a:prstDash val="solid"/>
            <a:round/>
          </a:ln>
          <a:effectLst>
            <a:outerShdw blurRad="63500" dist="25400" dir="5400000" algn="tl" rotWithShape="0">
              <a:srgbClr val="000000">
                <a:alpha val="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05500" y="4445000"/>
            <a:ext cx="406400" cy="406400"/>
          </a:xfrm>
          <a:prstGeom prst="rect">
            <a:avLst/>
          </a:prstGeom>
        </p:spPr>
      </p:pic>
      <p:sp>
        <p:nvSpPr>
          <p:cNvPr id="15" name="AutoShape 15"/>
          <p:cNvSpPr/>
          <p:nvPr/>
        </p:nvSpPr>
        <p:spPr>
          <a:xfrm>
            <a:off x="6477000" y="4318000"/>
            <a:ext cx="4826000" cy="698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9800"/>
                </a:solidFill>
                <a:latin typeface="Noto Sans SC"/>
                <a:ea typeface="Noto Sans SC"/>
                <a:cs typeface="Noto Sans SC"/>
                <a:sym typeface="Noto Sans SC"/>
              </a:rPr>
              <a:t>模型包装器</a:t>
            </a:r>
            <a:endParaRPr lang="en-US" sz="1100"/>
          </a:p>
          <a:p>
            <a:pPr indent="0" algn="l">
              <a:lnSpc>
                <a:spcPct val="125000"/>
              </a:lnSpc>
            </a:pPr>
            <a:r>
              <a:rPr lang="en-US" sz="1300" b="0" i="0" u="none" strike="noStrike">
                <a:solidFill>
                  <a:srgbClr val="757575"/>
                </a:solidFill>
                <a:latin typeface="Noto Sans SC"/>
                <a:ea typeface="Noto Sans SC"/>
                <a:cs typeface="Noto Sans SC"/>
                <a:sym typeface="Noto Sans SC"/>
              </a:rPr>
              <a:t>集成各个不同平台的大语言模型API接口。</a:t>
            </a:r>
            <a:endParaRPr lang="en-US" sz="1300" b="0" i="0" u="none" strike="noStrike">
              <a:solidFill>
                <a:srgbClr val="757575"/>
              </a:solidFill>
              <a:latin typeface="Noto Sans SC"/>
              <a:ea typeface="Noto Sans SC"/>
              <a:cs typeface="Noto Sans SC"/>
              <a:sym typeface="Noto Sans SC"/>
            </a:endParaRPr>
          </a:p>
        </p:txBody>
      </p:sp>
      <p:sp>
        <p:nvSpPr>
          <p:cNvPr id="16" name="AutoShape 16"/>
          <p:cNvSpPr/>
          <p:nvPr/>
        </p:nvSpPr>
        <p:spPr>
          <a:xfrm>
            <a:off x="5715000" y="5207000"/>
            <a:ext cx="5715000" cy="825500"/>
          </a:xfrm>
          <a:prstGeom prst="roundRect">
            <a:avLst>
              <a:gd name="adj" fmla="val 15384"/>
            </a:avLst>
          </a:prstGeom>
          <a:solidFill>
            <a:srgbClr val="FFFFFF">
              <a:alpha val="100000"/>
            </a:srgbClr>
          </a:solidFill>
          <a:ln w="25400" cap="flat" cmpd="sng">
            <a:noFill/>
            <a:prstDash val="solid"/>
            <a:round/>
          </a:ln>
          <a:effectLst>
            <a:outerShdw blurRad="63500" dist="25400" dir="5400000" algn="tl" rotWithShape="0">
              <a:srgbClr val="000000">
                <a:alpha val="5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05500" y="5397500"/>
            <a:ext cx="406400" cy="406400"/>
          </a:xfrm>
          <a:prstGeom prst="rect">
            <a:avLst/>
          </a:prstGeom>
        </p:spPr>
      </p:pic>
      <p:sp>
        <p:nvSpPr>
          <p:cNvPr id="18" name="AutoShape 18"/>
          <p:cNvSpPr/>
          <p:nvPr/>
        </p:nvSpPr>
        <p:spPr>
          <a:xfrm>
            <a:off x="6477000" y="5270500"/>
            <a:ext cx="4826000" cy="698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9800"/>
                </a:solidFill>
                <a:latin typeface="Noto Sans SC"/>
                <a:ea typeface="Noto Sans SC"/>
                <a:cs typeface="Noto Sans SC"/>
                <a:sym typeface="Noto Sans SC"/>
              </a:rPr>
              <a:t>输出解析器</a:t>
            </a:r>
            <a:endParaRPr lang="en-US" sz="1100"/>
          </a:p>
          <a:p>
            <a:pPr indent="0" algn="l">
              <a:lnSpc>
                <a:spcPct val="125000"/>
              </a:lnSpc>
            </a:pPr>
            <a:r>
              <a:rPr lang="en-US" sz="1300" b="0" i="0" u="none" strike="noStrike">
                <a:solidFill>
                  <a:srgbClr val="757575"/>
                </a:solidFill>
                <a:latin typeface="Noto Sans SC"/>
                <a:ea typeface="Noto Sans SC"/>
                <a:cs typeface="Noto Sans SC"/>
                <a:sym typeface="Noto Sans SC"/>
              </a:rPr>
              <a:t>将模型的输出结果进行格式化输出。</a:t>
            </a:r>
            <a:endParaRPr lang="en-US" sz="13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89408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8.2.2 提示词模版 - PromptTemplate</a:t>
            </a:r>
            <a:endParaRPr lang="en-US" sz="1100"/>
          </a:p>
        </p:txBody>
      </p:sp>
      <p:sp>
        <p:nvSpPr>
          <p:cNvPr id="3" name="AutoShape 3"/>
          <p:cNvSpPr/>
          <p:nvPr/>
        </p:nvSpPr>
        <p:spPr>
          <a:xfrm>
            <a:off x="762000" y="1270000"/>
            <a:ext cx="4318000" cy="3810000"/>
          </a:xfrm>
          <a:prstGeom prst="roundRect">
            <a:avLst>
              <a:gd name="adj" fmla="val 3333"/>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524000"/>
            <a:ext cx="304800" cy="304800"/>
          </a:xfrm>
          <a:prstGeom prst="rect">
            <a:avLst/>
          </a:prstGeom>
        </p:spPr>
      </p:pic>
      <p:sp>
        <p:nvSpPr>
          <p:cNvPr id="5" name="AutoShape 5"/>
          <p:cNvSpPr/>
          <p:nvPr/>
        </p:nvSpPr>
        <p:spPr>
          <a:xfrm>
            <a:off x="1397000" y="1498600"/>
            <a:ext cx="3429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核心作用</a:t>
            </a:r>
            <a:endParaRPr lang="en-US" sz="1100"/>
          </a:p>
        </p:txBody>
      </p:sp>
      <p:sp>
        <p:nvSpPr>
          <p:cNvPr id="6" name="AutoShape 6"/>
          <p:cNvSpPr/>
          <p:nvPr/>
        </p:nvSpPr>
        <p:spPr>
          <a:xfrm>
            <a:off x="1016000" y="19050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动态管理提示词输入，支持参数化和复用，避免重复编写固定格式文本。</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603500"/>
            <a:ext cx="304800" cy="304800"/>
          </a:xfrm>
          <a:prstGeom prst="rect">
            <a:avLst/>
          </a:prstGeom>
        </p:spPr>
      </p:pic>
      <p:sp>
        <p:nvSpPr>
          <p:cNvPr id="8" name="AutoShape 8"/>
          <p:cNvSpPr/>
          <p:nvPr/>
        </p:nvSpPr>
        <p:spPr>
          <a:xfrm>
            <a:off x="1397000" y="2578100"/>
            <a:ext cx="3429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核心参数</a:t>
            </a:r>
            <a:endParaRPr lang="en-US" sz="1100"/>
          </a:p>
        </p:txBody>
      </p:sp>
      <p:sp>
        <p:nvSpPr>
          <p:cNvPr id="9" name="AutoShape 9"/>
          <p:cNvSpPr/>
          <p:nvPr/>
        </p:nvSpPr>
        <p:spPr>
          <a:xfrm>
            <a:off x="1016000" y="3048000"/>
            <a:ext cx="3810000" cy="508000"/>
          </a:xfrm>
          <a:prstGeom prst="roundRect">
            <a:avLst>
              <a:gd name="adj" fmla="val 12500"/>
            </a:avLst>
          </a:prstGeom>
          <a:solidFill>
            <a:srgbClr val="0277BD">
              <a:alpha val="8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143000" y="31115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9800"/>
                </a:solidFill>
                <a:latin typeface="Noto Sans SC"/>
                <a:ea typeface="Noto Sans SC"/>
                <a:cs typeface="Noto Sans SC"/>
                <a:sym typeface="Noto Sans SC"/>
              </a:rPr>
              <a:t>input_variables:</a:t>
            </a:r>
            <a:r>
              <a:rPr lang="en-US" sz="1300" b="0" i="0" u="none" strike="noStrike">
                <a:solidFill>
                  <a:srgbClr val="505050"/>
                </a:solidFill>
                <a:latin typeface="Noto Sans SC"/>
                <a:ea typeface="Noto Sans SC"/>
                <a:cs typeface="Noto Sans SC"/>
                <a:sym typeface="Noto Sans SC"/>
              </a:rPr>
              <a:t>模板中需要填充的变量列表</a:t>
            </a:r>
            <a:endParaRPr lang="en-US" sz="1100"/>
          </a:p>
        </p:txBody>
      </p:sp>
      <p:sp>
        <p:nvSpPr>
          <p:cNvPr id="11" name="AutoShape 11"/>
          <p:cNvSpPr/>
          <p:nvPr/>
        </p:nvSpPr>
        <p:spPr>
          <a:xfrm>
            <a:off x="1016000" y="3619500"/>
            <a:ext cx="3810000" cy="508000"/>
          </a:xfrm>
          <a:prstGeom prst="roundRect">
            <a:avLst>
              <a:gd name="adj" fmla="val 12500"/>
            </a:avLst>
          </a:prstGeom>
          <a:solidFill>
            <a:srgbClr val="0277BD">
              <a:alpha val="8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143000" y="3683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9800"/>
                </a:solidFill>
                <a:latin typeface="Noto Sans SC"/>
                <a:ea typeface="Noto Sans SC"/>
                <a:cs typeface="Noto Sans SC"/>
                <a:sym typeface="Noto Sans SC"/>
              </a:rPr>
              <a:t>template:</a:t>
            </a:r>
            <a:r>
              <a:rPr lang="en-US" sz="1300" b="0" i="0" u="none" strike="noStrike">
                <a:solidFill>
                  <a:srgbClr val="505050"/>
                </a:solidFill>
                <a:latin typeface="Noto Sans SC"/>
                <a:ea typeface="Noto Sans SC"/>
                <a:cs typeface="Noto Sans SC"/>
                <a:sym typeface="Noto Sans SC"/>
              </a:rPr>
              <a:t>提示词模板字符串，包含占位符</a:t>
            </a:r>
            <a:endParaRPr lang="en-US" sz="1100"/>
          </a:p>
        </p:txBody>
      </p:sp>
      <p:sp>
        <p:nvSpPr>
          <p:cNvPr id="13" name="AutoShape 13"/>
          <p:cNvSpPr/>
          <p:nvPr/>
        </p:nvSpPr>
        <p:spPr>
          <a:xfrm>
            <a:off x="1016000" y="4191000"/>
            <a:ext cx="3810000" cy="508000"/>
          </a:xfrm>
          <a:prstGeom prst="roundRect">
            <a:avLst>
              <a:gd name="adj" fmla="val 12500"/>
            </a:avLst>
          </a:prstGeom>
          <a:solidFill>
            <a:srgbClr val="0277BD">
              <a:alpha val="8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1143000" y="42545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9800"/>
                </a:solidFill>
                <a:latin typeface="Noto Sans SC"/>
                <a:ea typeface="Noto Sans SC"/>
                <a:cs typeface="Noto Sans SC"/>
                <a:sym typeface="Noto Sans SC"/>
              </a:rPr>
              <a:t>template_format:</a:t>
            </a:r>
            <a:r>
              <a:rPr lang="en-US" sz="1300" b="0" i="0" u="none" strike="noStrike">
                <a:solidFill>
                  <a:srgbClr val="505050"/>
                </a:solidFill>
                <a:latin typeface="Noto Sans SC"/>
                <a:ea typeface="Noto Sans SC"/>
                <a:cs typeface="Noto Sans SC"/>
                <a:sym typeface="Noto Sans SC"/>
              </a:rPr>
              <a:t>模板格式，默认为 f-string</a:t>
            </a:r>
            <a:endParaRPr lang="en-US" sz="1100"/>
          </a:p>
        </p:txBody>
      </p:sp>
      <p:sp>
        <p:nvSpPr>
          <p:cNvPr id="15" name="AutoShape 15"/>
          <p:cNvSpPr/>
          <p:nvPr/>
        </p:nvSpPr>
        <p:spPr>
          <a:xfrm>
            <a:off x="5334000" y="1270000"/>
            <a:ext cx="6096000" cy="3810000"/>
          </a:xfrm>
          <a:prstGeom prst="roundRect">
            <a:avLst>
              <a:gd name="adj" fmla="val 3333"/>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88000" y="1524000"/>
            <a:ext cx="304800" cy="304800"/>
          </a:xfrm>
          <a:prstGeom prst="rect">
            <a:avLst/>
          </a:prstGeom>
        </p:spPr>
      </p:pic>
      <p:sp>
        <p:nvSpPr>
          <p:cNvPr id="17" name="AutoShape 17"/>
          <p:cNvSpPr/>
          <p:nvPr/>
        </p:nvSpPr>
        <p:spPr>
          <a:xfrm>
            <a:off x="5969000" y="1498600"/>
            <a:ext cx="5207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代码示例：两种实例化方式</a:t>
            </a:r>
            <a:endParaRPr lang="en-US" sz="1100"/>
          </a:p>
        </p:txBody>
      </p:sp>
      <p:sp>
        <p:nvSpPr>
          <p:cNvPr id="18" name="AutoShape 18"/>
          <p:cNvSpPr/>
          <p:nvPr/>
        </p:nvSpPr>
        <p:spPr>
          <a:xfrm>
            <a:off x="5588000" y="2032000"/>
            <a:ext cx="5588000" cy="2667000"/>
          </a:xfrm>
          <a:prstGeom prst="roundRect">
            <a:avLst>
              <a:gd name="adj" fmla="val 2380"/>
            </a:avLst>
          </a:prstGeom>
          <a:solidFill>
            <a:srgbClr val="1E1E1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5715000" y="2159000"/>
            <a:ext cx="5334000" cy="241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C678DD"/>
                </a:solidFill>
                <a:latin typeface="Menlo" panose="020B0609030804020204"/>
                <a:ea typeface="Menlo" panose="020B0609030804020204"/>
                <a:cs typeface="Menlo" panose="020B0609030804020204"/>
                <a:sym typeface="Menlo" panose="020B0609030804020204"/>
              </a:rPr>
              <a:t>from</a:t>
            </a:r>
            <a:r>
              <a:rPr lang="en-US" sz="1200" b="0" i="0" u="none" strike="noStrike">
                <a:solidFill>
                  <a:srgbClr val="DCDFE4"/>
                </a:solidFill>
                <a:latin typeface="Menlo" panose="020B0609030804020204"/>
                <a:ea typeface="Menlo" panose="020B0609030804020204"/>
                <a:cs typeface="Menlo" panose="020B0609030804020204"/>
                <a:sym typeface="Menlo" panose="020B0609030804020204"/>
              </a:rPr>
              <a:t>langchain_core.prompts</a:t>
            </a:r>
            <a:r>
              <a:rPr lang="en-US" sz="1200" b="0" i="0" u="none" strike="noStrike">
                <a:solidFill>
                  <a:srgbClr val="C678DD"/>
                </a:solidFill>
                <a:latin typeface="Menlo" panose="020B0609030804020204"/>
                <a:ea typeface="Menlo" panose="020B0609030804020204"/>
                <a:cs typeface="Menlo" panose="020B0609030804020204"/>
                <a:sym typeface="Menlo" panose="020B0609030804020204"/>
              </a:rPr>
              <a:t>import</a:t>
            </a:r>
            <a:r>
              <a:rPr lang="en-US" sz="1200" b="0" i="0" u="none" strike="noStrike">
                <a:solidFill>
                  <a:srgbClr val="DCDFE4"/>
                </a:solidFill>
                <a:latin typeface="Menlo" panose="020B0609030804020204"/>
                <a:ea typeface="Menlo" panose="020B0609030804020204"/>
                <a:cs typeface="Menlo" panose="020B0609030804020204"/>
                <a:sym typeface="Menlo" panose="020B0609030804020204"/>
              </a:rPr>
              <a:t>PromptTemplate</a:t>
            </a:r>
            <a:endParaRPr lang="en-US" sz="1100"/>
          </a:p>
          <a:p>
            <a:pPr indent="0" algn="l">
              <a:lnSpc>
                <a:spcPct val="125000"/>
              </a:lnSpc>
            </a:pPr>
          </a:p>
          <a:p>
            <a:pPr indent="0" algn="l">
              <a:lnSpc>
                <a:spcPct val="125000"/>
              </a:lnSpc>
            </a:pPr>
            <a:r>
              <a:rPr lang="en-US" sz="1200" b="0" i="0" u="none" strike="noStrike">
                <a:solidFill>
                  <a:srgbClr val="DCDFE4"/>
                </a:solidFill>
                <a:latin typeface="Menlo" panose="020B0609030804020204"/>
                <a:ea typeface="Menlo" panose="020B0609030804020204"/>
                <a:cs typeface="Menlo" panose="020B0609030804020204"/>
                <a:sym typeface="Menlo" panose="020B0609030804020204"/>
              </a:rPr>
              <a:t>template =</a:t>
            </a:r>
            <a:r>
              <a:rPr lang="en-US" sz="1200" b="0" i="0" u="none" strike="noStrike">
                <a:solidFill>
                  <a:srgbClr val="98C379"/>
                </a:solidFill>
                <a:latin typeface="Menlo" panose="020B0609030804020204"/>
                <a:ea typeface="Menlo" panose="020B0609030804020204"/>
                <a:cs typeface="Menlo" panose="020B0609030804020204"/>
                <a:sym typeface="Menlo" panose="020B0609030804020204"/>
              </a:rPr>
              <a:t>"请帮我进行计算：{a} + {b} 的值是多少？"</a:t>
            </a:r>
            <a:endParaRPr lang="en-US" sz="1200" b="0" i="0" u="none" strike="noStrike">
              <a:solidFill>
                <a:srgbClr val="98C379"/>
              </a:solidFill>
              <a:latin typeface="Menlo" panose="020B0609030804020204"/>
              <a:ea typeface="Menlo" panose="020B0609030804020204"/>
              <a:cs typeface="Menlo" panose="020B0609030804020204"/>
              <a:sym typeface="Menlo" panose="020B0609030804020204"/>
            </a:endParaRPr>
          </a:p>
          <a:p>
            <a:pPr indent="0" algn="l">
              <a:lnSpc>
                <a:spcPct val="125000"/>
              </a:lnSpc>
            </a:pPr>
            <a:r>
              <a:rPr lang="en-US" sz="1200" b="0" i="0" u="none" strike="noStrike">
                <a:solidFill>
                  <a:srgbClr val="5C6370"/>
                </a:solidFill>
                <a:latin typeface="Menlo" panose="020B0609030804020204"/>
                <a:ea typeface="Menlo" panose="020B0609030804020204"/>
                <a:cs typeface="Menlo" panose="020B0609030804020204"/>
                <a:sym typeface="Menlo" panose="020B0609030804020204"/>
              </a:rPr>
              <a:t># 方法一：使用 from_template (自动识别变量)</a:t>
            </a:r>
            <a:endParaRPr lang="en-US" sz="1200" b="0" i="0" u="none" strike="noStrike">
              <a:solidFill>
                <a:srgbClr val="5C6370"/>
              </a:solidFill>
              <a:latin typeface="Menlo" panose="020B0609030804020204"/>
              <a:ea typeface="Menlo" panose="020B0609030804020204"/>
              <a:cs typeface="Menlo" panose="020B0609030804020204"/>
              <a:sym typeface="Menlo" panose="020B0609030804020204"/>
            </a:endParaRPr>
          </a:p>
          <a:p>
            <a:pPr indent="0" algn="l">
              <a:lnSpc>
                <a:spcPct val="125000"/>
              </a:lnSpc>
            </a:pPr>
            <a:r>
              <a:rPr lang="en-US" sz="1200" b="0" i="0" u="none" strike="noStrike">
                <a:solidFill>
                  <a:srgbClr val="DCDFE4"/>
                </a:solidFill>
                <a:latin typeface="Menlo" panose="020B0609030804020204"/>
                <a:ea typeface="Menlo" panose="020B0609030804020204"/>
                <a:cs typeface="Menlo" panose="020B0609030804020204"/>
                <a:sym typeface="Menlo" panose="020B0609030804020204"/>
              </a:rPr>
              <a:t>prompt = PromptTemplate.from_template(template=template)</a:t>
            </a:r>
            <a:endParaRPr lang="en-US" sz="1200" b="0" i="0" u="none" strike="noStrike">
              <a:solidFill>
                <a:srgbClr val="DCDFE4"/>
              </a:solidFill>
              <a:latin typeface="Menlo" panose="020B0609030804020204"/>
              <a:ea typeface="Menlo" panose="020B0609030804020204"/>
              <a:cs typeface="Menlo" panose="020B0609030804020204"/>
              <a:sym typeface="Menlo" panose="020B0609030804020204"/>
            </a:endParaRPr>
          </a:p>
          <a:p>
            <a:pPr indent="0" algn="l">
              <a:lnSpc>
                <a:spcPct val="125000"/>
              </a:lnSpc>
            </a:pPr>
            <a:r>
              <a:rPr lang="en-US" sz="1200" b="0" i="0" u="none" strike="noStrike">
                <a:solidFill>
                  <a:srgbClr val="DCDFE4"/>
                </a:solidFill>
                <a:latin typeface="Menlo" panose="020B0609030804020204"/>
                <a:ea typeface="Menlo" panose="020B0609030804020204"/>
                <a:cs typeface="Menlo" panose="020B0609030804020204"/>
                <a:sym typeface="Menlo" panose="020B0609030804020204"/>
              </a:rPr>
              <a:t>prompt = prompt.format(a=</a:t>
            </a:r>
            <a:r>
              <a:rPr lang="en-US" sz="1200" b="0" i="0" u="none" strike="noStrike">
                <a:solidFill>
                  <a:srgbClr val="D19A66"/>
                </a:solidFill>
                <a:latin typeface="Menlo" panose="020B0609030804020204"/>
                <a:ea typeface="Menlo" panose="020B0609030804020204"/>
                <a:cs typeface="Menlo" panose="020B0609030804020204"/>
                <a:sym typeface="Menlo" panose="020B0609030804020204"/>
              </a:rPr>
              <a:t>1</a:t>
            </a:r>
            <a:r>
              <a:rPr lang="en-US" sz="1200" b="0" i="0" u="none" strike="noStrike">
                <a:solidFill>
                  <a:srgbClr val="DCDFE4"/>
                </a:solidFill>
                <a:latin typeface="Menlo" panose="020B0609030804020204"/>
                <a:ea typeface="Menlo" panose="020B0609030804020204"/>
                <a:cs typeface="Menlo" panose="020B0609030804020204"/>
                <a:sym typeface="Menlo" panose="020B0609030804020204"/>
              </a:rPr>
              <a:t>, b=</a:t>
            </a:r>
            <a:r>
              <a:rPr lang="en-US" sz="1200" b="0" i="0" u="none" strike="noStrike">
                <a:solidFill>
                  <a:srgbClr val="D19A66"/>
                </a:solidFill>
                <a:latin typeface="Menlo" panose="020B0609030804020204"/>
                <a:ea typeface="Menlo" panose="020B0609030804020204"/>
                <a:cs typeface="Menlo" panose="020B0609030804020204"/>
                <a:sym typeface="Menlo" panose="020B0609030804020204"/>
              </a:rPr>
              <a:t>2</a:t>
            </a:r>
            <a:r>
              <a:rPr lang="en-US" sz="1200" b="0" i="0" u="none" strike="noStrike">
                <a:solidFill>
                  <a:srgbClr val="DCDFE4"/>
                </a:solidFill>
                <a:latin typeface="Menlo" panose="020B0609030804020204"/>
                <a:ea typeface="Menlo" panose="020B0609030804020204"/>
                <a:cs typeface="Menlo" panose="020B0609030804020204"/>
                <a:sym typeface="Menlo" panose="020B0609030804020204"/>
              </a:rPr>
              <a:t>)</a:t>
            </a:r>
            <a:endParaRPr lang="en-US" sz="1200" b="0" i="0" u="none" strike="noStrike">
              <a:solidFill>
                <a:srgbClr val="DCDFE4"/>
              </a:solidFill>
              <a:latin typeface="Menlo" panose="020B0609030804020204"/>
              <a:ea typeface="Menlo" panose="020B0609030804020204"/>
              <a:cs typeface="Menlo" panose="020B0609030804020204"/>
              <a:sym typeface="Menlo" panose="020B0609030804020204"/>
            </a:endParaRPr>
          </a:p>
          <a:p>
            <a:pPr indent="0" algn="l">
              <a:lnSpc>
                <a:spcPct val="125000"/>
              </a:lnSpc>
            </a:pPr>
            <a:r>
              <a:rPr lang="en-US" sz="1200" b="0" i="0" u="none" strike="noStrike">
                <a:solidFill>
                  <a:srgbClr val="5C6370"/>
                </a:solidFill>
                <a:latin typeface="Menlo" panose="020B0609030804020204"/>
                <a:ea typeface="Menlo" panose="020B0609030804020204"/>
                <a:cs typeface="Menlo" panose="020B0609030804020204"/>
                <a:sym typeface="Menlo" panose="020B0609030804020204"/>
              </a:rPr>
              <a:t># 方法二：直接实例化 (显式指定变量)</a:t>
            </a:r>
            <a:endParaRPr lang="en-US" sz="1200" b="0" i="0" u="none" strike="noStrike">
              <a:solidFill>
                <a:srgbClr val="5C6370"/>
              </a:solidFill>
              <a:latin typeface="Menlo" panose="020B0609030804020204"/>
              <a:ea typeface="Menlo" panose="020B0609030804020204"/>
              <a:cs typeface="Menlo" panose="020B0609030804020204"/>
              <a:sym typeface="Menlo" panose="020B0609030804020204"/>
            </a:endParaRPr>
          </a:p>
          <a:p>
            <a:pPr indent="0" algn="l">
              <a:lnSpc>
                <a:spcPct val="125000"/>
              </a:lnSpc>
            </a:pPr>
            <a:r>
              <a:rPr lang="en-US" sz="1200" b="0" i="0" u="none" strike="noStrike">
                <a:solidFill>
                  <a:srgbClr val="DCDFE4"/>
                </a:solidFill>
                <a:latin typeface="Menlo" panose="020B0609030804020204"/>
                <a:ea typeface="Menlo" panose="020B0609030804020204"/>
                <a:cs typeface="Menlo" panose="020B0609030804020204"/>
                <a:sym typeface="Menlo" panose="020B0609030804020204"/>
              </a:rPr>
              <a:t>prompt = PromptTemplate(template=template, input_variables=[</a:t>
            </a:r>
            <a:r>
              <a:rPr lang="en-US" sz="1200" b="0" i="0" u="none" strike="noStrike">
                <a:solidFill>
                  <a:srgbClr val="98C379"/>
                </a:solidFill>
                <a:latin typeface="Menlo" panose="020B0609030804020204"/>
                <a:ea typeface="Menlo" panose="020B0609030804020204"/>
                <a:cs typeface="Menlo" panose="020B0609030804020204"/>
                <a:sym typeface="Menlo" panose="020B0609030804020204"/>
              </a:rPr>
              <a:t>"a"</a:t>
            </a:r>
            <a:r>
              <a:rPr lang="en-US" sz="1200" b="0" i="0" u="none" strike="noStrike">
                <a:solidFill>
                  <a:srgbClr val="DCDFE4"/>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98C379"/>
                </a:solidFill>
                <a:latin typeface="Menlo" panose="020B0609030804020204"/>
                <a:ea typeface="Menlo" panose="020B0609030804020204"/>
                <a:cs typeface="Menlo" panose="020B0609030804020204"/>
                <a:sym typeface="Menlo" panose="020B0609030804020204"/>
              </a:rPr>
              <a:t>"b"</a:t>
            </a:r>
            <a:r>
              <a:rPr lang="en-US" sz="1200" b="0" i="0" u="none" strike="noStrike">
                <a:solidFill>
                  <a:srgbClr val="DCDFE4"/>
                </a:solidFill>
                <a:latin typeface="Menlo" panose="020B0609030804020204"/>
                <a:ea typeface="Menlo" panose="020B0609030804020204"/>
                <a:cs typeface="Menlo" panose="020B0609030804020204"/>
                <a:sym typeface="Menlo" panose="020B0609030804020204"/>
              </a:rPr>
              <a:t>])</a:t>
            </a:r>
            <a:endParaRPr lang="en-US" sz="1200" b="0" i="0" u="none" strike="noStrike">
              <a:solidFill>
                <a:srgbClr val="DCDFE4"/>
              </a:solidFill>
              <a:latin typeface="Menlo" panose="020B0609030804020204"/>
              <a:ea typeface="Menlo" panose="020B0609030804020204"/>
              <a:cs typeface="Menlo" panose="020B0609030804020204"/>
              <a:sym typeface="Menlo" panose="020B0609030804020204"/>
            </a:endParaRPr>
          </a:p>
          <a:p>
            <a:pPr indent="0" algn="l">
              <a:lnSpc>
                <a:spcPct val="125000"/>
              </a:lnSpc>
            </a:pPr>
            <a:r>
              <a:rPr lang="en-US" sz="1200" b="0" i="0" u="none" strike="noStrike">
                <a:solidFill>
                  <a:srgbClr val="DCDFE4"/>
                </a:solidFill>
                <a:latin typeface="Menlo" panose="020B0609030804020204"/>
                <a:ea typeface="Menlo" panose="020B0609030804020204"/>
                <a:cs typeface="Menlo" panose="020B0609030804020204"/>
                <a:sym typeface="Menlo" panose="020B0609030804020204"/>
              </a:rPr>
              <a:t>prompt = prompt.format(a=</a:t>
            </a:r>
            <a:r>
              <a:rPr lang="en-US" sz="1200" b="0" i="0" u="none" strike="noStrike">
                <a:solidFill>
                  <a:srgbClr val="D19A66"/>
                </a:solidFill>
                <a:latin typeface="Menlo" panose="020B0609030804020204"/>
                <a:ea typeface="Menlo" panose="020B0609030804020204"/>
                <a:cs typeface="Menlo" panose="020B0609030804020204"/>
                <a:sym typeface="Menlo" panose="020B0609030804020204"/>
              </a:rPr>
              <a:t>10</a:t>
            </a:r>
            <a:r>
              <a:rPr lang="en-US" sz="1200" b="0" i="0" u="none" strike="noStrike">
                <a:solidFill>
                  <a:srgbClr val="DCDFE4"/>
                </a:solidFill>
                <a:latin typeface="Menlo" panose="020B0609030804020204"/>
                <a:ea typeface="Menlo" panose="020B0609030804020204"/>
                <a:cs typeface="Menlo" panose="020B0609030804020204"/>
                <a:sym typeface="Menlo" panose="020B0609030804020204"/>
              </a:rPr>
              <a:t>, b=</a:t>
            </a:r>
            <a:r>
              <a:rPr lang="en-US" sz="1200" b="0" i="0" u="none" strike="noStrike">
                <a:solidFill>
                  <a:srgbClr val="D19A66"/>
                </a:solidFill>
                <a:latin typeface="Menlo" panose="020B0609030804020204"/>
                <a:ea typeface="Menlo" panose="020B0609030804020204"/>
                <a:cs typeface="Menlo" panose="020B0609030804020204"/>
                <a:sym typeface="Menlo" panose="020B0609030804020204"/>
              </a:rPr>
              <a:t>20</a:t>
            </a:r>
            <a:r>
              <a:rPr lang="en-US" sz="1200" b="0" i="0" u="none" strike="noStrike">
                <a:solidFill>
                  <a:srgbClr val="DCDFE4"/>
                </a:solidFill>
                <a:latin typeface="Menlo" panose="020B0609030804020204"/>
                <a:ea typeface="Menlo" panose="020B0609030804020204"/>
                <a:cs typeface="Menlo" panose="020B0609030804020204"/>
                <a:sym typeface="Menlo" panose="020B0609030804020204"/>
              </a:rPr>
              <a:t>)</a:t>
            </a:r>
            <a:endParaRPr lang="en-US" sz="1200" b="0" i="0" u="none" strike="noStrike">
              <a:solidFill>
                <a:srgbClr val="DCDFE4"/>
              </a:solidFill>
              <a:latin typeface="Menlo" panose="020B0609030804020204"/>
              <a:ea typeface="Menlo" panose="020B0609030804020204"/>
              <a:cs typeface="Menlo" panose="020B0609030804020204"/>
              <a:sym typeface="Menlo" panose="020B0609030804020204"/>
            </a:endParaRPr>
          </a:p>
        </p:txBody>
      </p:sp>
      <p:sp>
        <p:nvSpPr>
          <p:cNvPr id="20" name="AutoShape 20"/>
          <p:cNvSpPr/>
          <p:nvPr/>
        </p:nvSpPr>
        <p:spPr>
          <a:xfrm>
            <a:off x="762000" y="5334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562600"/>
            <a:ext cx="304800" cy="304800"/>
          </a:xfrm>
          <a:prstGeom prst="rect">
            <a:avLst/>
          </a:prstGeom>
        </p:spPr>
      </p:pic>
      <p:sp>
        <p:nvSpPr>
          <p:cNvPr id="22" name="AutoShape 22"/>
          <p:cNvSpPr/>
          <p:nvPr/>
        </p:nvSpPr>
        <p:spPr>
          <a:xfrm>
            <a:off x="1460500" y="5461000"/>
            <a:ext cx="9715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77BD"/>
                </a:solidFill>
                <a:latin typeface="Noto Sans SC"/>
                <a:ea typeface="Noto Sans SC"/>
                <a:cs typeface="Noto Sans SC"/>
                <a:sym typeface="Noto Sans SC"/>
              </a:rPr>
              <a:t>使用技巧：</a:t>
            </a:r>
            <a:r>
              <a:rPr lang="en-US" sz="1400" b="0" i="0" u="none" strike="noStrike">
                <a:solidFill>
                  <a:srgbClr val="505050"/>
                </a:solidFill>
                <a:latin typeface="Noto Sans SC"/>
                <a:ea typeface="Noto Sans SC"/>
                <a:cs typeface="Noto Sans SC"/>
                <a:sym typeface="Noto Sans SC"/>
              </a:rPr>
              <a:t>当模板复杂或变量较多时，推荐使用</a:t>
            </a:r>
            <a:r>
              <a:rPr lang="en-US" sz="1400" b="1" i="0" u="none" strike="noStrike">
                <a:solidFill>
                  <a:srgbClr val="FF9800"/>
                </a:solidFill>
                <a:latin typeface="Menlo" panose="020B0609030804020204"/>
                <a:ea typeface="Menlo" panose="020B0609030804020204"/>
                <a:cs typeface="Menlo" panose="020B0609030804020204"/>
                <a:sym typeface="Menlo" panose="020B0609030804020204"/>
              </a:rPr>
              <a:t>from_template</a:t>
            </a:r>
            <a:r>
              <a:rPr lang="en-US" sz="1400" b="0" i="0" u="none" strike="noStrike">
                <a:solidFill>
                  <a:srgbClr val="505050"/>
                </a:solidFill>
                <a:latin typeface="Noto Sans SC"/>
                <a:ea typeface="Noto Sans SC"/>
                <a:cs typeface="Noto Sans SC"/>
                <a:sym typeface="Noto Sans SC"/>
              </a:rPr>
              <a:t>方法，它能自动解析模板字符串中的变量，减少手动输入错误。</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提示词模版 - FewShotPromptTemplate</a:t>
            </a:r>
            <a:endParaRPr lang="en-US" sz="1100"/>
          </a:p>
        </p:txBody>
      </p:sp>
      <p:sp>
        <p:nvSpPr>
          <p:cNvPr id="3" name="AutoShape 3"/>
          <p:cNvSpPr/>
          <p:nvPr/>
        </p:nvSpPr>
        <p:spPr>
          <a:xfrm>
            <a:off x="762000" y="1397000"/>
            <a:ext cx="3810000" cy="1524000"/>
          </a:xfrm>
          <a:prstGeom prst="roundRect">
            <a:avLst>
              <a:gd name="adj" fmla="val 8333"/>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5875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核心作用</a:t>
            </a:r>
            <a:endParaRPr lang="en-US" sz="1100"/>
          </a:p>
        </p:txBody>
      </p:sp>
      <p:sp>
        <p:nvSpPr>
          <p:cNvPr id="6" name="AutoShape 6"/>
          <p:cNvSpPr/>
          <p:nvPr/>
        </p:nvSpPr>
        <p:spPr>
          <a:xfrm>
            <a:off x="1016000" y="2032000"/>
            <a:ext cx="330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动态添加示例，实现少样本学习，帮助模型更好地理解任务要求和上下文。</a:t>
            </a:r>
            <a:endParaRPr lang="en-US" sz="1100"/>
          </a:p>
        </p:txBody>
      </p:sp>
      <p:sp>
        <p:nvSpPr>
          <p:cNvPr id="7" name="AutoShape 7"/>
          <p:cNvSpPr/>
          <p:nvPr/>
        </p:nvSpPr>
        <p:spPr>
          <a:xfrm>
            <a:off x="762000" y="3175000"/>
            <a:ext cx="3810000" cy="1524000"/>
          </a:xfrm>
          <a:prstGeom prst="roundRect">
            <a:avLst>
              <a:gd name="adj" fmla="val 8333"/>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429000"/>
            <a:ext cx="406400" cy="406400"/>
          </a:xfrm>
          <a:prstGeom prst="rect">
            <a:avLst/>
          </a:prstGeom>
        </p:spPr>
      </p:pic>
      <p:sp>
        <p:nvSpPr>
          <p:cNvPr id="9" name="AutoShape 9"/>
          <p:cNvSpPr/>
          <p:nvPr/>
        </p:nvSpPr>
        <p:spPr>
          <a:xfrm>
            <a:off x="1524000" y="33655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应用场景</a:t>
            </a:r>
            <a:endParaRPr lang="en-US" sz="1100"/>
          </a:p>
        </p:txBody>
      </p:sp>
      <p:sp>
        <p:nvSpPr>
          <p:cNvPr id="10" name="AutoShape 10"/>
          <p:cNvSpPr/>
          <p:nvPr/>
        </p:nvSpPr>
        <p:spPr>
          <a:xfrm>
            <a:off x="1016000" y="3810000"/>
            <a:ext cx="330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构建直播间虚拟主播对话模型，通过提供问答示例，规范回复格式与风格。</a:t>
            </a:r>
            <a:endParaRPr lang="en-US" sz="1100"/>
          </a:p>
        </p:txBody>
      </p:sp>
      <p:sp>
        <p:nvSpPr>
          <p:cNvPr id="11" name="AutoShape 11"/>
          <p:cNvSpPr/>
          <p:nvPr/>
        </p:nvSpPr>
        <p:spPr>
          <a:xfrm>
            <a:off x="4953000" y="1397000"/>
            <a:ext cx="6477000" cy="3302000"/>
          </a:xfrm>
          <a:prstGeom prst="roundRect">
            <a:avLst>
              <a:gd name="adj" fmla="val 3846"/>
            </a:avLst>
          </a:prstGeom>
          <a:solidFill>
            <a:srgbClr val="1E1E1E">
              <a:alpha val="100000"/>
            </a:srgbClr>
          </a:solidFill>
          <a:ln w="25400" cap="flat" cmpd="sng">
            <a:noFill/>
            <a:prstDash val="solid"/>
            <a:round/>
          </a:ln>
          <a:effectLst>
            <a:outerShdw blurRad="190500" dist="63500" dir="2700000" algn="tl" rotWithShape="0">
              <a:srgbClr val="000000">
                <a:alpha val="20000"/>
              </a:srgbClr>
            </a:outerShdw>
          </a:effectLst>
        </p:spPr>
        <p:txBody>
          <a:bodyPr vert="horz" wrap="square" lIns="63500" tIns="63500" rIns="63500" bIns="63500" rtlCol="0" anchor="ctr"/>
          <a:lstStyle/>
          <a:p>
            <a:pPr algn="ctr">
              <a:defRPr/>
            </a:pPr>
          </a:p>
        </p:txBody>
      </p:sp>
      <p:sp>
        <p:nvSpPr>
          <p:cNvPr id="12" name="AutoShape 12"/>
          <p:cNvSpPr/>
          <p:nvPr/>
        </p:nvSpPr>
        <p:spPr>
          <a:xfrm>
            <a:off x="5207000" y="1524000"/>
            <a:ext cx="596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70196"/>
                  </a:srgbClr>
                </a:solidFill>
                <a:latin typeface="Noto Sans SC"/>
                <a:ea typeface="Noto Sans SC"/>
                <a:cs typeface="Noto Sans SC"/>
                <a:sym typeface="Noto Sans SC"/>
              </a:rPr>
              <a:t>Python 代码示例：构建虚拟主播对话模型</a:t>
            </a:r>
            <a:endParaRPr lang="en-US" sz="1100"/>
          </a:p>
        </p:txBody>
      </p:sp>
      <p:sp>
        <p:nvSpPr>
          <p:cNvPr id="13" name="AutoShape 13"/>
          <p:cNvSpPr/>
          <p:nvPr/>
        </p:nvSpPr>
        <p:spPr>
          <a:xfrm>
            <a:off x="5207000" y="1905000"/>
            <a:ext cx="5969000" cy="2540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C678DD"/>
                </a:solidFill>
                <a:latin typeface="Source Code Pro"/>
                <a:ea typeface="Source Code Pro"/>
                <a:cs typeface="Source Code Pro"/>
                <a:sym typeface="Source Code Pro"/>
              </a:rPr>
              <a:t>from</a:t>
            </a:r>
            <a:r>
              <a:rPr lang="en-US" sz="1200" b="0" i="0" u="none" strike="noStrike">
                <a:solidFill>
                  <a:srgbClr val="DCDFE4"/>
                </a:solidFill>
                <a:latin typeface="Source Code Pro"/>
                <a:ea typeface="Source Code Pro"/>
                <a:cs typeface="Source Code Pro"/>
                <a:sym typeface="Source Code Pro"/>
              </a:rPr>
              <a:t>langchain_core.prompts</a:t>
            </a:r>
            <a:r>
              <a:rPr lang="en-US" sz="1200" b="0" i="0" u="none" strike="noStrike">
                <a:solidFill>
                  <a:srgbClr val="C678DD"/>
                </a:solidFill>
                <a:latin typeface="Source Code Pro"/>
                <a:ea typeface="Source Code Pro"/>
                <a:cs typeface="Source Code Pro"/>
                <a:sym typeface="Source Code Pro"/>
              </a:rPr>
              <a:t>import</a:t>
            </a:r>
            <a:r>
              <a:rPr lang="en-US" sz="1200" b="0" i="0" u="none" strike="noStrike">
                <a:solidFill>
                  <a:srgbClr val="DCDFE4"/>
                </a:solidFill>
                <a:latin typeface="Source Code Pro"/>
                <a:ea typeface="Source Code Pro"/>
                <a:cs typeface="Source Code Pro"/>
                <a:sym typeface="Source Code Pro"/>
              </a:rPr>
              <a:t>PromptTemplate, FewShotPromptTemplate</a:t>
            </a:r>
            <a:endParaRPr lang="en-US" sz="1100"/>
          </a:p>
          <a:p>
            <a:pPr indent="0" algn="l">
              <a:lnSpc>
                <a:spcPct val="100000"/>
              </a:lnSpc>
            </a:pPr>
            <a:r>
              <a:rPr lang="en-US" sz="1200" b="0" i="0" u="none" strike="noStrike">
                <a:solidFill>
                  <a:srgbClr val="DCDFE4"/>
                </a:solidFill>
                <a:latin typeface="Source Code Pro"/>
                <a:ea typeface="Source Code Pro"/>
                <a:cs typeface="Source Code Pro"/>
                <a:sym typeface="Source Code Pro"/>
              </a:rPr>
              <a:t>examples = [{</a:t>
            </a:r>
            <a:r>
              <a:rPr lang="en-US" sz="1200" b="0" i="0" u="none" strike="noStrike">
                <a:solidFill>
                  <a:srgbClr val="98C379"/>
                </a:solidFill>
                <a:latin typeface="Source Code Pro"/>
                <a:ea typeface="Source Code Pro"/>
                <a:cs typeface="Source Code Pro"/>
                <a:sym typeface="Source Code Pro"/>
              </a:rPr>
              <a:t>"question"</a:t>
            </a:r>
            <a:r>
              <a:rPr lang="en-US" sz="1200" b="0" i="0" u="none" strike="noStrike">
                <a:solidFill>
                  <a:srgbClr val="DCDFE4"/>
                </a:solidFill>
                <a:latin typeface="Source Code Pro"/>
                <a:ea typeface="Source Code Pro"/>
                <a:cs typeface="Source Code Pro"/>
                <a:sym typeface="Source Code Pro"/>
              </a:rPr>
              <a:t>:</a:t>
            </a:r>
            <a:r>
              <a:rPr lang="en-US" sz="1200" b="0" i="0" u="none" strike="noStrike">
                <a:solidFill>
                  <a:srgbClr val="98C379"/>
                </a:solidFill>
                <a:latin typeface="Source Code Pro"/>
                <a:ea typeface="Source Code Pro"/>
                <a:cs typeface="Source Code Pro"/>
                <a:sym typeface="Source Code Pro"/>
              </a:rPr>
              <a:t>"发什么快递？"</a:t>
            </a:r>
            <a:r>
              <a:rPr lang="en-US" sz="1200" b="0" i="0" u="none" strike="noStrike">
                <a:solidFill>
                  <a:srgbClr val="DCDFE4"/>
                </a:solidFill>
                <a:latin typeface="Source Code Pro"/>
                <a:ea typeface="Source Code Pro"/>
                <a:cs typeface="Source Code Pro"/>
                <a:sym typeface="Source Code Pro"/>
              </a:rPr>
              <a:t>,</a:t>
            </a:r>
            <a:r>
              <a:rPr lang="en-US" sz="1200" b="0" i="0" u="none" strike="noStrike">
                <a:solidFill>
                  <a:srgbClr val="98C379"/>
                </a:solidFill>
                <a:latin typeface="Source Code Pro"/>
                <a:ea typeface="Source Code Pro"/>
                <a:cs typeface="Source Code Pro"/>
                <a:sym typeface="Source Code Pro"/>
              </a:rPr>
              <a:t>"answer"</a:t>
            </a:r>
            <a:r>
              <a:rPr lang="en-US" sz="1200" b="0" i="0" u="none" strike="noStrike">
                <a:solidFill>
                  <a:srgbClr val="DCDFE4"/>
                </a:solidFill>
                <a:latin typeface="Source Code Pro"/>
                <a:ea typeface="Source Code Pro"/>
                <a:cs typeface="Source Code Pro"/>
                <a:sym typeface="Source Code Pro"/>
              </a:rPr>
              <a:t>:</a:t>
            </a:r>
            <a:r>
              <a:rPr lang="en-US" sz="1200" b="0" i="0" u="none" strike="noStrike">
                <a:solidFill>
                  <a:srgbClr val="98C379"/>
                </a:solidFill>
                <a:latin typeface="Source Code Pro"/>
                <a:ea typeface="Source Code Pro"/>
                <a:cs typeface="Source Code Pro"/>
                <a:sym typeface="Source Code Pro"/>
              </a:rPr>
              <a:t>"我们是顺丰快递，包邮哦！"</a:t>
            </a:r>
            <a:r>
              <a:rPr lang="en-US" sz="1200" b="0" i="0" u="none" strike="noStrike">
                <a:solidFill>
                  <a:srgbClr val="DCDFE4"/>
                </a:solidFill>
                <a:latin typeface="Source Code Pro"/>
                <a:ea typeface="Source Code Pro"/>
                <a:cs typeface="Source Code Pro"/>
                <a:sym typeface="Source Code Pro"/>
              </a:rPr>
              <a:t>}, ...]</a:t>
            </a:r>
            <a:endParaRPr lang="en-US" sz="1200" b="0" i="0" u="none" strike="noStrike">
              <a:solidFill>
                <a:srgbClr val="DCDFE4"/>
              </a:solidFill>
              <a:latin typeface="Source Code Pro"/>
              <a:ea typeface="Source Code Pro"/>
              <a:cs typeface="Source Code Pro"/>
              <a:sym typeface="Source Code Pro"/>
            </a:endParaRPr>
          </a:p>
          <a:p>
            <a:pPr indent="0" algn="l">
              <a:lnSpc>
                <a:spcPct val="100000"/>
              </a:lnSpc>
            </a:pPr>
            <a:r>
              <a:rPr lang="en-US" sz="1200" b="0" i="0" u="none" strike="noStrike">
                <a:solidFill>
                  <a:srgbClr val="DCDFE4"/>
                </a:solidFill>
                <a:latin typeface="Source Code Pro"/>
                <a:ea typeface="Source Code Pro"/>
                <a:cs typeface="Source Code Pro"/>
                <a:sym typeface="Source Code Pro"/>
              </a:rPr>
              <a:t>example_prompt = PromptTemplate(template=</a:t>
            </a:r>
            <a:r>
              <a:rPr lang="en-US" sz="1200" b="0" i="0" u="none" strike="noStrike">
                <a:solidFill>
                  <a:srgbClr val="98C379"/>
                </a:solidFill>
                <a:latin typeface="Source Code Pro"/>
                <a:ea typeface="Source Code Pro"/>
                <a:cs typeface="Source Code Pro"/>
                <a:sym typeface="Source Code Pro"/>
              </a:rPr>
              <a:t>"问题：{question} 答案：{answer}"</a:t>
            </a:r>
            <a:r>
              <a:rPr lang="en-US" sz="1200" b="0" i="0" u="none" strike="noStrike">
                <a:solidFill>
                  <a:srgbClr val="DCDFE4"/>
                </a:solidFill>
                <a:latin typeface="Source Code Pro"/>
                <a:ea typeface="Source Code Pro"/>
                <a:cs typeface="Source Code Pro"/>
                <a:sym typeface="Source Code Pro"/>
              </a:rPr>
              <a:t>, input_variables=[</a:t>
            </a:r>
            <a:r>
              <a:rPr lang="en-US" sz="1200" b="0" i="0" u="none" strike="noStrike">
                <a:solidFill>
                  <a:srgbClr val="98C379"/>
                </a:solidFill>
                <a:latin typeface="Source Code Pro"/>
                <a:ea typeface="Source Code Pro"/>
                <a:cs typeface="Source Code Pro"/>
                <a:sym typeface="Source Code Pro"/>
              </a:rPr>
              <a:t>"question"</a:t>
            </a:r>
            <a:r>
              <a:rPr lang="en-US" sz="1200" b="0" i="0" u="none" strike="noStrike">
                <a:solidFill>
                  <a:srgbClr val="DCDFE4"/>
                </a:solidFill>
                <a:latin typeface="Source Code Pro"/>
                <a:ea typeface="Source Code Pro"/>
                <a:cs typeface="Source Code Pro"/>
                <a:sym typeface="Source Code Pro"/>
              </a:rPr>
              <a:t>,</a:t>
            </a:r>
            <a:r>
              <a:rPr lang="en-US" sz="1200" b="0" i="0" u="none" strike="noStrike">
                <a:solidFill>
                  <a:srgbClr val="98C379"/>
                </a:solidFill>
                <a:latin typeface="Source Code Pro"/>
                <a:ea typeface="Source Code Pro"/>
                <a:cs typeface="Source Code Pro"/>
                <a:sym typeface="Source Code Pro"/>
              </a:rPr>
              <a:t>"answer"</a:t>
            </a:r>
            <a:r>
              <a:rPr lang="en-US" sz="1200" b="0" i="0" u="none" strike="noStrike">
                <a:solidFill>
                  <a:srgbClr val="DCDFE4"/>
                </a:solidFill>
                <a:latin typeface="Source Code Pro"/>
                <a:ea typeface="Source Code Pro"/>
                <a:cs typeface="Source Code Pro"/>
                <a:sym typeface="Source Code Pro"/>
              </a:rPr>
              <a:t>])</a:t>
            </a:r>
            <a:endParaRPr lang="en-US" sz="1200" b="0" i="0" u="none" strike="noStrike">
              <a:solidFill>
                <a:srgbClr val="DCDFE4"/>
              </a:solidFill>
              <a:latin typeface="Source Code Pro"/>
              <a:ea typeface="Source Code Pro"/>
              <a:cs typeface="Source Code Pro"/>
              <a:sym typeface="Source Code Pro"/>
            </a:endParaRPr>
          </a:p>
          <a:p>
            <a:pPr indent="0" algn="l">
              <a:lnSpc>
                <a:spcPct val="100000"/>
              </a:lnSpc>
            </a:pPr>
            <a:r>
              <a:rPr lang="en-US" sz="1200" b="0" i="0" u="none" strike="noStrike">
                <a:solidFill>
                  <a:srgbClr val="DCDFE4"/>
                </a:solidFill>
                <a:latin typeface="Source Code Pro"/>
                <a:ea typeface="Source Code Pro"/>
                <a:cs typeface="Source Code Pro"/>
                <a:sym typeface="Source Code Pro"/>
              </a:rPr>
              <a:t>prefix =</a:t>
            </a:r>
            <a:r>
              <a:rPr lang="en-US" sz="1200" b="0" i="0" u="none" strike="noStrike">
                <a:solidFill>
                  <a:srgbClr val="98C379"/>
                </a:solidFill>
                <a:latin typeface="Source Code Pro"/>
                <a:ea typeface="Source Code Pro"/>
                <a:cs typeface="Source Code Pro"/>
                <a:sym typeface="Source Code Pro"/>
              </a:rPr>
              <a:t>"角色：直播间虚拟主播 功能：回答提问..."</a:t>
            </a:r>
            <a:endParaRPr lang="en-US" sz="1200" b="0" i="0" u="none" strike="noStrike">
              <a:solidFill>
                <a:srgbClr val="98C379"/>
              </a:solidFill>
              <a:latin typeface="Source Code Pro"/>
              <a:ea typeface="Source Code Pro"/>
              <a:cs typeface="Source Code Pro"/>
              <a:sym typeface="Source Code Pro"/>
            </a:endParaRPr>
          </a:p>
          <a:p>
            <a:pPr indent="0" algn="l">
              <a:lnSpc>
                <a:spcPct val="100000"/>
              </a:lnSpc>
            </a:pPr>
            <a:r>
              <a:rPr lang="en-US" sz="1200" b="0" i="0" u="none" strike="noStrike">
                <a:solidFill>
                  <a:srgbClr val="DCDFE4"/>
                </a:solidFill>
                <a:latin typeface="Source Code Pro"/>
                <a:ea typeface="Source Code Pro"/>
                <a:cs typeface="Source Code Pro"/>
                <a:sym typeface="Source Code Pro"/>
              </a:rPr>
              <a:t>few_shot_prompt = FewShotPromptTemplate(examples=examples, example_prompt=example_prompt, prefix=prefix, suffix=suffix)</a:t>
            </a:r>
            <a:endParaRPr lang="en-US" sz="1200" b="0" i="0" u="none" strike="noStrike">
              <a:solidFill>
                <a:srgbClr val="DCDFE4"/>
              </a:solidFill>
              <a:latin typeface="Source Code Pro"/>
              <a:ea typeface="Source Code Pro"/>
              <a:cs typeface="Source Code Pro"/>
              <a:sym typeface="Source Code Pro"/>
            </a:endParaRPr>
          </a:p>
          <a:p>
            <a:pPr indent="0" algn="l">
              <a:lnSpc>
                <a:spcPct val="100000"/>
              </a:lnSpc>
            </a:pPr>
            <a:r>
              <a:rPr lang="en-US" sz="1200" b="0" i="0" u="none" strike="noStrike">
                <a:solidFill>
                  <a:srgbClr val="DCDFE4"/>
                </a:solidFill>
                <a:latin typeface="Source Code Pro"/>
                <a:ea typeface="Source Code Pro"/>
                <a:cs typeface="Source Code Pro"/>
                <a:sym typeface="Source Code Pro"/>
              </a:rPr>
              <a:t>prompt = few_shot_prompt.format(question=</a:t>
            </a:r>
            <a:r>
              <a:rPr lang="en-US" sz="1200" b="0" i="0" u="none" strike="noStrike">
                <a:solidFill>
                  <a:srgbClr val="98C379"/>
                </a:solidFill>
                <a:latin typeface="Source Code Pro"/>
                <a:ea typeface="Source Code Pro"/>
                <a:cs typeface="Source Code Pro"/>
                <a:sym typeface="Source Code Pro"/>
              </a:rPr>
              <a:t>"发什么快递？"</a:t>
            </a:r>
            <a:r>
              <a:rPr lang="en-US" sz="1200" b="0" i="0" u="none" strike="noStrike">
                <a:solidFill>
                  <a:srgbClr val="DCDFE4"/>
                </a:solidFill>
                <a:latin typeface="Source Code Pro"/>
                <a:ea typeface="Source Code Pro"/>
                <a:cs typeface="Source Code Pro"/>
                <a:sym typeface="Source Code Pro"/>
              </a:rPr>
              <a:t>)</a:t>
            </a:r>
            <a:endParaRPr lang="en-US" sz="1200" b="0" i="0" u="none" strike="noStrike">
              <a:solidFill>
                <a:srgbClr val="DCDFE4"/>
              </a:solidFill>
              <a:latin typeface="Source Code Pro"/>
              <a:ea typeface="Source Code Pro"/>
              <a:cs typeface="Source Code Pro"/>
              <a:sym typeface="Source Code Pro"/>
            </a:endParaRPr>
          </a:p>
        </p:txBody>
      </p:sp>
      <p:sp>
        <p:nvSpPr>
          <p:cNvPr id="14" name="AutoShape 14"/>
          <p:cNvSpPr/>
          <p:nvPr/>
        </p:nvSpPr>
        <p:spPr>
          <a:xfrm>
            <a:off x="762000" y="4953000"/>
            <a:ext cx="10668000" cy="1270000"/>
          </a:xfrm>
          <a:prstGeom prst="roundRect">
            <a:avLst>
              <a:gd name="adj" fmla="val 10000"/>
            </a:avLst>
          </a:prstGeom>
          <a:solidFill>
            <a:srgbClr val="FFFFFF">
              <a:alpha val="6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sp>
        <p:nvSpPr>
          <p:cNvPr id="15" name="AutoShape 15"/>
          <p:cNvSpPr/>
          <p:nvPr/>
        </p:nvSpPr>
        <p:spPr>
          <a:xfrm>
            <a:off x="1016000" y="5080000"/>
            <a:ext cx="10160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1" i="0" u="none" strike="noStrike">
                <a:solidFill>
                  <a:srgbClr val="0277BD"/>
                </a:solidFill>
                <a:latin typeface="Noto Sans SC"/>
                <a:ea typeface="Noto Sans SC"/>
                <a:cs typeface="Noto Sans SC"/>
                <a:sym typeface="Noto Sans SC"/>
              </a:rPr>
              <a:t>代码解析：</a:t>
            </a:r>
            <a:r>
              <a:rPr lang="en-US" sz="1400" b="0" i="0" u="none" strike="noStrike">
                <a:solidFill>
                  <a:srgbClr val="424242"/>
                </a:solidFill>
                <a:latin typeface="Noto Sans SC"/>
                <a:ea typeface="Noto Sans SC"/>
                <a:cs typeface="Noto Sans SC"/>
                <a:sym typeface="Noto Sans SC"/>
              </a:rPr>
              <a:t>代码中定义了 `examples` 列表存储问答对，通过 `PromptTemplate` 格式化单个示例，再利用 `FewShotPromptTemplate` 将前缀、示例和后缀拼接。最终调用 `format` 方法，传入用户问题，生成完整的提示词，引导模型生成符合预期风格的回答。</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提示词模版 - ChatPromptTemplate</a:t>
            </a:r>
            <a:endParaRPr lang="en-US" sz="1100"/>
          </a:p>
        </p:txBody>
      </p:sp>
      <p:sp>
        <p:nvSpPr>
          <p:cNvPr id="3" name="AutoShape 3"/>
          <p:cNvSpPr/>
          <p:nvPr/>
        </p:nvSpPr>
        <p:spPr>
          <a:xfrm>
            <a:off x="762000" y="1397000"/>
            <a:ext cx="4064000" cy="3556000"/>
          </a:xfrm>
          <a:prstGeom prst="roundRect">
            <a:avLst>
              <a:gd name="adj" fmla="val 3571"/>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600200"/>
            <a:ext cx="304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核心作用</a:t>
            </a:r>
            <a:endParaRPr lang="en-US" sz="1100"/>
          </a:p>
        </p:txBody>
      </p:sp>
      <p:sp>
        <p:nvSpPr>
          <p:cNvPr id="6" name="AutoShape 6"/>
          <p:cNvSpPr/>
          <p:nvPr/>
        </p:nvSpPr>
        <p:spPr>
          <a:xfrm>
            <a:off x="1016000" y="2159000"/>
            <a:ext cx="3556000" cy="1524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500" b="0" i="0" u="none" strike="noStrike">
                <a:solidFill>
                  <a:srgbClr val="757575"/>
                </a:solidFill>
                <a:latin typeface="Noto Sans SC"/>
                <a:ea typeface="Noto Sans SC"/>
                <a:cs typeface="Noto Sans SC"/>
                <a:sym typeface="Noto Sans SC"/>
              </a:rPr>
              <a:t>构造结构化的消息列表，支持嵌套角色（如系统、人类、AI）的提示词模版。</a:t>
            </a:r>
            <a:endParaRPr lang="en-US" sz="1100"/>
          </a:p>
          <a:p>
            <a:pPr indent="0" algn="l">
              <a:lnSpc>
                <a:spcPct val="117000"/>
              </a:lnSpc>
            </a:pPr>
            <a:r>
              <a:rPr lang="en-US" sz="1500" b="0" i="0" u="none" strike="noStrike">
                <a:solidFill>
                  <a:srgbClr val="757575"/>
                </a:solidFill>
                <a:latin typeface="Noto Sans SC"/>
                <a:ea typeface="Noto Sans SC"/>
                <a:cs typeface="Noto Sans SC"/>
                <a:sym typeface="Noto Sans SC"/>
              </a:rPr>
              <a:t>特别适合构建聊天机器人等多轮对话场景，使交互更符合自然语言习惯。</a:t>
            </a:r>
            <a:endParaRPr lang="en-US" sz="1500" b="0" i="0" u="none" strike="noStrike">
              <a:solidFill>
                <a:srgbClr val="757575"/>
              </a:solidFill>
              <a:latin typeface="Noto Sans SC"/>
              <a:ea typeface="Noto Sans SC"/>
              <a:cs typeface="Noto Sans SC"/>
              <a:sym typeface="Noto Sans SC"/>
            </a:endParaRPr>
          </a:p>
        </p:txBody>
      </p:sp>
      <p:sp>
        <p:nvSpPr>
          <p:cNvPr id="7" name="AutoShape 7"/>
          <p:cNvSpPr/>
          <p:nvPr/>
        </p:nvSpPr>
        <p:spPr>
          <a:xfrm>
            <a:off x="1016000" y="3810000"/>
            <a:ext cx="1651000" cy="406400"/>
          </a:xfrm>
          <a:prstGeom prst="roundRect">
            <a:avLst>
              <a:gd name="adj" fmla="val 50000"/>
            </a:avLst>
          </a:prstGeom>
          <a:solidFill>
            <a:srgbClr val="0277BD">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0277BD"/>
                </a:solidFill>
                <a:latin typeface="Noto Sans SC"/>
                <a:ea typeface="Noto Sans SC"/>
                <a:cs typeface="Noto Sans SC"/>
                <a:sym typeface="Noto Sans SC"/>
              </a:rPr>
              <a:t>角色定义</a:t>
            </a:r>
            <a:endParaRPr lang="en-US" sz="1100"/>
          </a:p>
        </p:txBody>
      </p:sp>
      <p:sp>
        <p:nvSpPr>
          <p:cNvPr id="8" name="AutoShape 8"/>
          <p:cNvSpPr/>
          <p:nvPr/>
        </p:nvSpPr>
        <p:spPr>
          <a:xfrm>
            <a:off x="2794000" y="3810000"/>
            <a:ext cx="1651000" cy="406400"/>
          </a:xfrm>
          <a:prstGeom prst="roundRect">
            <a:avLst>
              <a:gd name="adj" fmla="val 50000"/>
            </a:avLst>
          </a:prstGeom>
          <a:solidFill>
            <a:srgbClr val="0277BD">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0277BD"/>
                </a:solidFill>
                <a:latin typeface="Noto Sans SC"/>
                <a:ea typeface="Noto Sans SC"/>
                <a:cs typeface="Noto Sans SC"/>
                <a:sym typeface="Noto Sans SC"/>
              </a:rPr>
              <a:t>多轮对话</a:t>
            </a:r>
            <a:endParaRPr lang="en-US" sz="1100"/>
          </a:p>
        </p:txBody>
      </p:sp>
      <p:sp>
        <p:nvSpPr>
          <p:cNvPr id="9" name="AutoShape 9"/>
          <p:cNvSpPr/>
          <p:nvPr/>
        </p:nvSpPr>
        <p:spPr>
          <a:xfrm>
            <a:off x="5080000" y="1397000"/>
            <a:ext cx="6350000" cy="3556000"/>
          </a:xfrm>
          <a:prstGeom prst="roundRect">
            <a:avLst>
              <a:gd name="adj" fmla="val 3571"/>
            </a:avLst>
          </a:prstGeom>
          <a:solidFill>
            <a:srgbClr val="1E1E1E">
              <a:alpha val="100000"/>
            </a:srgbClr>
          </a:solidFill>
          <a:ln w="25400" cap="flat" cmpd="sng">
            <a:noFill/>
            <a:prstDash val="solid"/>
            <a:round/>
          </a:ln>
          <a:effectLst>
            <a:outerShdw blurRad="190500" dist="76200" dir="2700000" algn="tl" rotWithShape="0">
              <a:srgbClr val="000000">
                <a:alpha val="20000"/>
              </a:srgbClr>
            </a:outerShdw>
          </a:effectLst>
        </p:spPr>
        <p:txBody>
          <a:bodyPr vert="horz" wrap="square" lIns="63500" tIns="63500" rIns="63500" bIns="63500" rtlCol="0" anchor="ctr"/>
          <a:lstStyle/>
          <a:p>
            <a:pPr algn="ctr">
              <a:defRPr/>
            </a:pPr>
          </a:p>
        </p:txBody>
      </p:sp>
      <p:sp>
        <p:nvSpPr>
          <p:cNvPr id="10" name="AutoShape 10"/>
          <p:cNvSpPr/>
          <p:nvPr/>
        </p:nvSpPr>
        <p:spPr>
          <a:xfrm>
            <a:off x="5334000" y="1587500"/>
            <a:ext cx="584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9800"/>
                </a:solidFill>
                <a:latin typeface="Noto Sans SC"/>
                <a:ea typeface="Noto Sans SC"/>
                <a:cs typeface="Noto Sans SC"/>
                <a:sym typeface="Noto Sans SC"/>
              </a:rPr>
              <a:t>代码示例：构建编程助手提示词</a:t>
            </a:r>
            <a:endParaRPr lang="en-US" sz="1100"/>
          </a:p>
        </p:txBody>
      </p:sp>
      <p:sp>
        <p:nvSpPr>
          <p:cNvPr id="11" name="AutoShape 11"/>
          <p:cNvSpPr/>
          <p:nvPr/>
        </p:nvSpPr>
        <p:spPr>
          <a:xfrm>
            <a:off x="5334000" y="1968500"/>
            <a:ext cx="5842000" cy="266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C792EA"/>
                </a:solidFill>
                <a:latin typeface="Roboto Mono"/>
                <a:ea typeface="Roboto Mono"/>
                <a:cs typeface="Roboto Mono"/>
                <a:sym typeface="Roboto Mono"/>
              </a:rPr>
              <a:t>from</a:t>
            </a:r>
            <a:r>
              <a:rPr lang="en-US" sz="1200" b="0" i="0" u="none" strike="noStrike">
                <a:solidFill>
                  <a:srgbClr val="DCDFE4"/>
                </a:solidFill>
                <a:latin typeface="Roboto Mono"/>
                <a:ea typeface="Roboto Mono"/>
                <a:cs typeface="Roboto Mono"/>
                <a:sym typeface="Roboto Mono"/>
              </a:rPr>
              <a:t>langchain_core.prompts</a:t>
            </a:r>
            <a:r>
              <a:rPr lang="en-US" sz="1200" b="0" i="0" u="none" strike="noStrike">
                <a:solidFill>
                  <a:srgbClr val="C792EA"/>
                </a:solidFill>
                <a:latin typeface="Roboto Mono"/>
                <a:ea typeface="Roboto Mono"/>
                <a:cs typeface="Roboto Mono"/>
                <a:sym typeface="Roboto Mono"/>
              </a:rPr>
              <a:t>import</a:t>
            </a:r>
            <a:r>
              <a:rPr lang="en-US" sz="1200" b="0" i="0" u="none" strike="noStrike">
                <a:solidFill>
                  <a:srgbClr val="DCDFE4"/>
                </a:solidFill>
                <a:latin typeface="Roboto Mono"/>
                <a:ea typeface="Roboto Mono"/>
                <a:cs typeface="Roboto Mono"/>
                <a:sym typeface="Roboto Mono"/>
              </a:rPr>
              <a:t>ChatPromptTemplate, SystemMessagePromptTemplate</a:t>
            </a:r>
            <a:endParaRPr lang="en-US" sz="1100"/>
          </a:p>
          <a:p>
            <a:pPr indent="0" algn="l">
              <a:lnSpc>
                <a:spcPct val="100000"/>
              </a:lnSpc>
            </a:pPr>
          </a:p>
          <a:p>
            <a:pPr indent="0" algn="l">
              <a:lnSpc>
                <a:spcPct val="100000"/>
              </a:lnSpc>
            </a:pPr>
            <a:r>
              <a:rPr lang="en-US" sz="1200" b="0" i="0" u="none" strike="noStrike">
                <a:solidFill>
                  <a:srgbClr val="C792EA"/>
                </a:solidFill>
                <a:latin typeface="Roboto Mono"/>
                <a:ea typeface="Roboto Mono"/>
                <a:cs typeface="Roboto Mono"/>
                <a:sym typeface="Roboto Mono"/>
              </a:rPr>
              <a:t># 1. 定义系统角色提示词</a:t>
            </a:r>
            <a:endParaRPr lang="en-US" sz="1200" b="0" i="0" u="none" strike="noStrike">
              <a:solidFill>
                <a:srgbClr val="C792EA"/>
              </a:solidFill>
              <a:latin typeface="Roboto Mono"/>
              <a:ea typeface="Roboto Mono"/>
              <a:cs typeface="Roboto Mono"/>
              <a:sym typeface="Roboto Mono"/>
            </a:endParaRPr>
          </a:p>
          <a:p>
            <a:pPr indent="0" algn="l">
              <a:lnSpc>
                <a:spcPct val="100000"/>
              </a:lnSpc>
            </a:pPr>
            <a:r>
              <a:rPr lang="en-US" sz="1200" b="0" i="0" u="none" strike="noStrike">
                <a:solidFill>
                  <a:srgbClr val="DCDFE4"/>
                </a:solidFill>
                <a:latin typeface="Roboto Mono"/>
                <a:ea typeface="Roboto Mono"/>
                <a:cs typeface="Roboto Mono"/>
                <a:sym typeface="Roboto Mono"/>
              </a:rPr>
              <a:t>system_template =</a:t>
            </a:r>
            <a:r>
              <a:rPr lang="en-US" sz="1200" b="0" i="0" u="none" strike="noStrike">
                <a:solidFill>
                  <a:srgbClr val="98C379"/>
                </a:solidFill>
                <a:latin typeface="Roboto Mono"/>
                <a:ea typeface="Roboto Mono"/>
                <a:cs typeface="Roboto Mono"/>
                <a:sym typeface="Roboto Mono"/>
              </a:rPr>
              <a:t>"您是资深开发工程师，解答编程问题。"</a:t>
            </a:r>
            <a:endParaRPr lang="en-US" sz="1200" b="0" i="0" u="none" strike="noStrike">
              <a:solidFill>
                <a:srgbClr val="98C379"/>
              </a:solidFill>
              <a:latin typeface="Roboto Mono"/>
              <a:ea typeface="Roboto Mono"/>
              <a:cs typeface="Roboto Mono"/>
              <a:sym typeface="Roboto Mono"/>
            </a:endParaRPr>
          </a:p>
          <a:p>
            <a:pPr indent="0" algn="l">
              <a:lnSpc>
                <a:spcPct val="100000"/>
              </a:lnSpc>
            </a:pPr>
            <a:r>
              <a:rPr lang="en-US" sz="1200" b="0" i="0" u="none" strike="noStrike">
                <a:solidFill>
                  <a:srgbClr val="DCDFE4"/>
                </a:solidFill>
                <a:latin typeface="Roboto Mono"/>
                <a:ea typeface="Roboto Mono"/>
                <a:cs typeface="Roboto Mono"/>
                <a:sym typeface="Roboto Mono"/>
              </a:rPr>
              <a:t>system_prompt = SystemMessagePromptTemplate.from_template(system_template)</a:t>
            </a:r>
            <a:endParaRPr lang="en-US" sz="1200" b="0" i="0" u="none" strike="noStrike">
              <a:solidFill>
                <a:srgbClr val="DCDFE4"/>
              </a:solidFill>
              <a:latin typeface="Roboto Mono"/>
              <a:ea typeface="Roboto Mono"/>
              <a:cs typeface="Roboto Mono"/>
              <a:sym typeface="Roboto Mono"/>
            </a:endParaRPr>
          </a:p>
          <a:p>
            <a:pPr indent="0" algn="l">
              <a:lnSpc>
                <a:spcPct val="100000"/>
              </a:lnSpc>
            </a:pPr>
          </a:p>
          <a:p>
            <a:pPr indent="0" algn="l">
              <a:lnSpc>
                <a:spcPct val="100000"/>
              </a:lnSpc>
            </a:pPr>
            <a:r>
              <a:rPr lang="en-US" sz="1200" b="0" i="0" u="none" strike="noStrike">
                <a:solidFill>
                  <a:srgbClr val="C792EA"/>
                </a:solidFill>
                <a:latin typeface="Roboto Mono"/>
                <a:ea typeface="Roboto Mono"/>
                <a:cs typeface="Roboto Mono"/>
                <a:sym typeface="Roboto Mono"/>
              </a:rPr>
              <a:t># 2. 定义人类角色提示词</a:t>
            </a:r>
            <a:endParaRPr lang="en-US" sz="1200" b="0" i="0" u="none" strike="noStrike">
              <a:solidFill>
                <a:srgbClr val="C792EA"/>
              </a:solidFill>
              <a:latin typeface="Roboto Mono"/>
              <a:ea typeface="Roboto Mono"/>
              <a:cs typeface="Roboto Mono"/>
              <a:sym typeface="Roboto Mono"/>
            </a:endParaRPr>
          </a:p>
          <a:p>
            <a:pPr indent="0" algn="l">
              <a:lnSpc>
                <a:spcPct val="100000"/>
              </a:lnSpc>
            </a:pPr>
            <a:r>
              <a:rPr lang="en-US" sz="1200" b="0" i="0" u="none" strike="noStrike">
                <a:solidFill>
                  <a:srgbClr val="DCDFE4"/>
                </a:solidFill>
                <a:latin typeface="Roboto Mono"/>
                <a:ea typeface="Roboto Mono"/>
                <a:cs typeface="Roboto Mono"/>
                <a:sym typeface="Roboto Mono"/>
              </a:rPr>
              <a:t>human_template =</a:t>
            </a:r>
            <a:r>
              <a:rPr lang="en-US" sz="1200" b="0" i="0" u="none" strike="noStrike">
                <a:solidFill>
                  <a:srgbClr val="98C379"/>
                </a:solidFill>
                <a:latin typeface="Roboto Mono"/>
                <a:ea typeface="Roboto Mono"/>
                <a:cs typeface="Roboto Mono"/>
                <a:sym typeface="Roboto Mono"/>
              </a:rPr>
              <a:t>"请解答：{question}"</a:t>
            </a:r>
            <a:endParaRPr lang="en-US" sz="1200" b="0" i="0" u="none" strike="noStrike">
              <a:solidFill>
                <a:srgbClr val="98C379"/>
              </a:solidFill>
              <a:latin typeface="Roboto Mono"/>
              <a:ea typeface="Roboto Mono"/>
              <a:cs typeface="Roboto Mono"/>
              <a:sym typeface="Roboto Mono"/>
            </a:endParaRPr>
          </a:p>
          <a:p>
            <a:pPr indent="0" algn="l">
              <a:lnSpc>
                <a:spcPct val="100000"/>
              </a:lnSpc>
            </a:pPr>
            <a:r>
              <a:rPr lang="en-US" sz="1200" b="0" i="0" u="none" strike="noStrike">
                <a:solidFill>
                  <a:srgbClr val="DCDFE4"/>
                </a:solidFill>
                <a:latin typeface="Roboto Mono"/>
                <a:ea typeface="Roboto Mono"/>
                <a:cs typeface="Roboto Mono"/>
                <a:sym typeface="Roboto Mono"/>
              </a:rPr>
              <a:t>human_prompt = HumanMessagePromptTemplate.from_template(human_template)</a:t>
            </a:r>
            <a:endParaRPr lang="en-US" sz="1200" b="0" i="0" u="none" strike="noStrike">
              <a:solidFill>
                <a:srgbClr val="DCDFE4"/>
              </a:solidFill>
              <a:latin typeface="Roboto Mono"/>
              <a:ea typeface="Roboto Mono"/>
              <a:cs typeface="Roboto Mono"/>
              <a:sym typeface="Roboto Mono"/>
            </a:endParaRPr>
          </a:p>
          <a:p>
            <a:pPr indent="0" algn="l">
              <a:lnSpc>
                <a:spcPct val="100000"/>
              </a:lnSpc>
            </a:pPr>
          </a:p>
          <a:p>
            <a:pPr indent="0" algn="l">
              <a:lnSpc>
                <a:spcPct val="100000"/>
              </a:lnSpc>
            </a:pPr>
            <a:r>
              <a:rPr lang="en-US" sz="1200" b="0" i="0" u="none" strike="noStrike">
                <a:solidFill>
                  <a:srgbClr val="C792EA"/>
                </a:solidFill>
                <a:latin typeface="Roboto Mono"/>
                <a:ea typeface="Roboto Mono"/>
                <a:cs typeface="Roboto Mono"/>
                <a:sym typeface="Roboto Mono"/>
              </a:rPr>
              <a:t># 3. 组合并格式化</a:t>
            </a:r>
            <a:endParaRPr lang="en-US" sz="1200" b="0" i="0" u="none" strike="noStrike">
              <a:solidFill>
                <a:srgbClr val="C792EA"/>
              </a:solidFill>
              <a:latin typeface="Roboto Mono"/>
              <a:ea typeface="Roboto Mono"/>
              <a:cs typeface="Roboto Mono"/>
              <a:sym typeface="Roboto Mono"/>
            </a:endParaRPr>
          </a:p>
          <a:p>
            <a:pPr indent="0" algn="l">
              <a:lnSpc>
                <a:spcPct val="100000"/>
              </a:lnSpc>
            </a:pPr>
            <a:r>
              <a:rPr lang="en-US" sz="1200" b="0" i="0" u="none" strike="noStrike">
                <a:solidFill>
                  <a:srgbClr val="DCDFE4"/>
                </a:solidFill>
                <a:latin typeface="Roboto Mono"/>
                <a:ea typeface="Roboto Mono"/>
                <a:cs typeface="Roboto Mono"/>
                <a:sym typeface="Roboto Mono"/>
              </a:rPr>
              <a:t>chat_prompt = ChatPromptTemplate.from_messages([system_prompt, human_prompt])</a:t>
            </a:r>
            <a:endParaRPr lang="en-US" sz="1200" b="0" i="0" u="none" strike="noStrike">
              <a:solidFill>
                <a:srgbClr val="DCDFE4"/>
              </a:solidFill>
              <a:latin typeface="Roboto Mono"/>
              <a:ea typeface="Roboto Mono"/>
              <a:cs typeface="Roboto Mono"/>
              <a:sym typeface="Roboto Mono"/>
            </a:endParaRPr>
          </a:p>
          <a:p>
            <a:pPr indent="0" algn="l">
              <a:lnSpc>
                <a:spcPct val="100000"/>
              </a:lnSpc>
            </a:pPr>
            <a:r>
              <a:rPr lang="en-US" sz="1200" b="0" i="0" u="none" strike="noStrike">
                <a:solidFill>
                  <a:srgbClr val="DCDFE4"/>
                </a:solidFill>
                <a:latin typeface="Roboto Mono"/>
                <a:ea typeface="Roboto Mono"/>
                <a:cs typeface="Roboto Mono"/>
                <a:sym typeface="Roboto Mono"/>
              </a:rPr>
              <a:t>prompt = chat_prompt.format_prompt(question=</a:t>
            </a:r>
            <a:r>
              <a:rPr lang="en-US" sz="1200" b="0" i="0" u="none" strike="noStrike">
                <a:solidFill>
                  <a:srgbClr val="98C379"/>
                </a:solidFill>
                <a:latin typeface="Roboto Mono"/>
                <a:ea typeface="Roboto Mono"/>
                <a:cs typeface="Roboto Mono"/>
                <a:sym typeface="Roboto Mono"/>
              </a:rPr>
              <a:t>"Python为什么需要GIL锁？"</a:t>
            </a:r>
            <a:r>
              <a:rPr lang="en-US" sz="1200" b="0" i="0" u="none" strike="noStrike">
                <a:solidFill>
                  <a:srgbClr val="DCDFE4"/>
                </a:solidFill>
                <a:latin typeface="Roboto Mono"/>
                <a:ea typeface="Roboto Mono"/>
                <a:cs typeface="Roboto Mono"/>
                <a:sym typeface="Roboto Mono"/>
              </a:rPr>
              <a:t>)</a:t>
            </a:r>
            <a:endParaRPr lang="en-US" sz="1200" b="0" i="0" u="none" strike="noStrike">
              <a:solidFill>
                <a:srgbClr val="DCDFE4"/>
              </a:solidFill>
              <a:latin typeface="Roboto Mono"/>
              <a:ea typeface="Roboto Mono"/>
              <a:cs typeface="Roboto Mono"/>
              <a:sym typeface="Roboto Mono"/>
            </a:endParaRPr>
          </a:p>
        </p:txBody>
      </p:sp>
      <p:sp>
        <p:nvSpPr>
          <p:cNvPr id="12" name="AutoShape 12"/>
          <p:cNvSpPr/>
          <p:nvPr/>
        </p:nvSpPr>
        <p:spPr>
          <a:xfrm>
            <a:off x="762000" y="5207000"/>
            <a:ext cx="10668000" cy="1016000"/>
          </a:xfrm>
          <a:prstGeom prst="roundRect">
            <a:avLst>
              <a:gd name="adj" fmla="val 12500"/>
            </a:avLst>
          </a:prstGeom>
          <a:solidFill>
            <a:srgbClr val="FFFFFF">
              <a:alpha val="10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5461000"/>
            <a:ext cx="508000" cy="508000"/>
          </a:xfrm>
          <a:prstGeom prst="rect">
            <a:avLst/>
          </a:prstGeom>
        </p:spPr>
      </p:pic>
      <p:sp>
        <p:nvSpPr>
          <p:cNvPr id="14" name="AutoShape 14"/>
          <p:cNvSpPr/>
          <p:nvPr/>
        </p:nvSpPr>
        <p:spPr>
          <a:xfrm>
            <a:off x="1651000" y="5397500"/>
            <a:ext cx="952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核心优势：</a:t>
            </a:r>
            <a:r>
              <a:rPr lang="en-US" sz="1600" b="0" i="0" u="none" strike="noStrike">
                <a:solidFill>
                  <a:srgbClr val="757575"/>
                </a:solidFill>
                <a:latin typeface="Noto Sans SC"/>
                <a:ea typeface="Noto Sans SC"/>
                <a:cs typeface="Noto Sans SC"/>
                <a:sym typeface="Noto Sans SC"/>
              </a:rPr>
              <a:t>通过结构化的角色定义，不仅能让模型明确自身定位，还能清晰区分历史对话中的不同角色，从而实现更精准、更具逻辑性的多轮交互。</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8.2.3 模型包装器 - LLM模型包装器</a:t>
            </a:r>
            <a:endParaRPr lang="en-US" sz="1100"/>
          </a:p>
        </p:txBody>
      </p:sp>
      <p:sp>
        <p:nvSpPr>
          <p:cNvPr id="3" name="AutoShape 3"/>
          <p:cNvSpPr/>
          <p:nvPr/>
        </p:nvSpPr>
        <p:spPr>
          <a:xfrm>
            <a:off x="762000" y="1397000"/>
            <a:ext cx="3810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6256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核心作用</a:t>
            </a:r>
            <a:endParaRPr lang="en-US" sz="1100"/>
          </a:p>
        </p:txBody>
      </p:sp>
      <p:sp>
        <p:nvSpPr>
          <p:cNvPr id="6" name="AutoShape 6"/>
          <p:cNvSpPr/>
          <p:nvPr/>
        </p:nvSpPr>
        <p:spPr>
          <a:xfrm>
            <a:off x="1016000" y="2159000"/>
            <a:ext cx="33020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集成不同平台的大语言模型API，提供统一的调用接口。</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开发者无需关心底层API的差异，即可轻松切换不同模型。</a:t>
            </a:r>
            <a:endParaRPr lang="en-US" sz="1600" b="0" i="0" u="none" strike="noStrike">
              <a:solidFill>
                <a:srgbClr val="757575"/>
              </a:solidFill>
              <a:latin typeface="Noto Sans SC"/>
              <a:ea typeface="Noto Sans SC"/>
              <a:cs typeface="Noto Sans SC"/>
              <a:sym typeface="Noto Sans SC"/>
            </a:endParaRPr>
          </a:p>
        </p:txBody>
      </p:sp>
      <p:sp>
        <p:nvSpPr>
          <p:cNvPr id="7" name="AutoShape 7"/>
          <p:cNvSpPr/>
          <p:nvPr/>
        </p:nvSpPr>
        <p:spPr>
          <a:xfrm>
            <a:off x="4953000" y="1397000"/>
            <a:ext cx="6096000" cy="3556000"/>
          </a:xfrm>
          <a:prstGeom prst="roundRect">
            <a:avLst>
              <a:gd name="adj" fmla="val 3571"/>
            </a:avLst>
          </a:prstGeom>
          <a:solidFill>
            <a:srgbClr val="1E1E1E">
              <a:alpha val="100000"/>
            </a:srgbClr>
          </a:solidFill>
          <a:ln w="25400" cap="flat" cmpd="sng">
            <a:noFill/>
            <a:prstDash val="solid"/>
            <a:round/>
          </a:ln>
          <a:effectLst>
            <a:outerShdw blurRad="127000" dist="50800" dir="5400000" algn="tl" rotWithShape="0">
              <a:srgbClr val="000000">
                <a:alpha val="20000"/>
              </a:srgbClr>
            </a:outerShdw>
          </a:effectLst>
        </p:spPr>
        <p:txBody>
          <a:bodyPr vert="horz" wrap="square" lIns="63500" tIns="63500" rIns="63500" bIns="63500" rtlCol="0" anchor="ctr"/>
          <a:lstStyle/>
          <a:p>
            <a:pPr algn="ctr">
              <a:defRPr/>
            </a:pPr>
          </a:p>
        </p:txBody>
      </p:sp>
      <p:sp>
        <p:nvSpPr>
          <p:cNvPr id="8" name="AutoShape 8"/>
          <p:cNvSpPr/>
          <p:nvPr/>
        </p:nvSpPr>
        <p:spPr>
          <a:xfrm>
            <a:off x="4953000" y="1397000"/>
            <a:ext cx="6096000" cy="381000"/>
          </a:xfrm>
          <a:prstGeom prst="roundRect">
            <a:avLst>
              <a:gd name="adj" fmla="val 0"/>
            </a:avLst>
          </a:prstGeom>
          <a:solidFill>
            <a:srgbClr val="2D2D2D">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5143500" y="1511300"/>
            <a:ext cx="127000" cy="127000"/>
          </a:xfrm>
          <a:prstGeom prst="ellipse">
            <a:avLst/>
          </a:prstGeom>
          <a:solidFill>
            <a:srgbClr val="FF5F5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5397500" y="1511300"/>
            <a:ext cx="127000" cy="127000"/>
          </a:xfrm>
          <a:prstGeom prst="ellipse">
            <a:avLst/>
          </a:prstGeom>
          <a:solidFill>
            <a:srgbClr val="FFBD2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5651500" y="1511300"/>
            <a:ext cx="127000" cy="127000"/>
          </a:xfrm>
          <a:prstGeom prst="ellipse">
            <a:avLst/>
          </a:prstGeom>
          <a:solidFill>
            <a:srgbClr val="27C93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5969000" y="14351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69696"/>
                </a:solidFill>
                <a:latin typeface="Noto Sans SC"/>
                <a:ea typeface="Noto Sans SC"/>
                <a:cs typeface="Noto Sans SC"/>
                <a:sym typeface="Noto Sans SC"/>
              </a:rPr>
              <a:t>azure_chat_wrapper.py</a:t>
            </a:r>
            <a:endParaRPr lang="en-US" sz="1100"/>
          </a:p>
        </p:txBody>
      </p:sp>
      <p:sp>
        <p:nvSpPr>
          <p:cNvPr id="13" name="AutoShape 13"/>
          <p:cNvSpPr/>
          <p:nvPr/>
        </p:nvSpPr>
        <p:spPr>
          <a:xfrm>
            <a:off x="5143500" y="1905000"/>
            <a:ext cx="5715000" cy="292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C678DD"/>
                </a:solidFill>
                <a:latin typeface="Roboto Mono"/>
                <a:ea typeface="Roboto Mono"/>
                <a:cs typeface="Roboto Mono"/>
                <a:sym typeface="Roboto Mono"/>
              </a:rPr>
              <a:t>from</a:t>
            </a:r>
            <a:r>
              <a:rPr lang="en-US" sz="1300" b="0" i="0" u="none" strike="noStrike">
                <a:solidFill>
                  <a:srgbClr val="DCDFE4"/>
                </a:solidFill>
                <a:latin typeface="Roboto Mono"/>
                <a:ea typeface="Roboto Mono"/>
                <a:cs typeface="Roboto Mono"/>
                <a:sym typeface="Roboto Mono"/>
              </a:rPr>
              <a:t>langchain_openai</a:t>
            </a:r>
            <a:r>
              <a:rPr lang="en-US" sz="1300" b="0" i="0" u="none" strike="noStrike">
                <a:solidFill>
                  <a:srgbClr val="C678DD"/>
                </a:solidFill>
                <a:latin typeface="Roboto Mono"/>
                <a:ea typeface="Roboto Mono"/>
                <a:cs typeface="Roboto Mono"/>
                <a:sym typeface="Roboto Mono"/>
              </a:rPr>
              <a:t>import</a:t>
            </a:r>
            <a:r>
              <a:rPr lang="en-US" sz="1300" b="0" i="0" u="none" strike="noStrike">
                <a:solidFill>
                  <a:srgbClr val="DCDFE4"/>
                </a:solidFill>
                <a:latin typeface="Roboto Mono"/>
                <a:ea typeface="Roboto Mono"/>
                <a:cs typeface="Roboto Mono"/>
                <a:sym typeface="Roboto Mono"/>
              </a:rPr>
              <a:t>AzureChatOpenAI</a:t>
            </a:r>
            <a:endParaRPr lang="en-US" sz="1100"/>
          </a:p>
          <a:p>
            <a:pPr indent="0" algn="l">
              <a:lnSpc>
                <a:spcPct val="100000"/>
              </a:lnSpc>
            </a:pPr>
          </a:p>
          <a:p>
            <a:pPr indent="0" algn="l">
              <a:lnSpc>
                <a:spcPct val="100000"/>
              </a:lnSpc>
            </a:pPr>
            <a:r>
              <a:rPr lang="en-US" sz="1300" b="0" i="0" u="none" strike="noStrike">
                <a:solidFill>
                  <a:srgbClr val="E06C75"/>
                </a:solidFill>
                <a:latin typeface="Roboto Mono"/>
                <a:ea typeface="Roboto Mono"/>
                <a:cs typeface="Roboto Mono"/>
                <a:sym typeface="Roboto Mono"/>
              </a:rPr>
              <a:t># 初始化模型</a:t>
            </a:r>
            <a:endParaRPr lang="en-US" sz="1300" b="0" i="0" u="none" strike="noStrike">
              <a:solidFill>
                <a:srgbClr val="E06C75"/>
              </a:solidFill>
              <a:latin typeface="Roboto Mono"/>
              <a:ea typeface="Roboto Mono"/>
              <a:cs typeface="Roboto Mono"/>
              <a:sym typeface="Roboto Mono"/>
            </a:endParaRPr>
          </a:p>
          <a:p>
            <a:pPr indent="0" algn="l">
              <a:lnSpc>
                <a:spcPct val="100000"/>
              </a:lnSpc>
            </a:pPr>
            <a:r>
              <a:rPr lang="en-US" sz="1300" b="0" i="0" u="none" strike="noStrike">
                <a:solidFill>
                  <a:srgbClr val="DCDFE4"/>
                </a:solidFill>
                <a:latin typeface="Roboto Mono"/>
                <a:ea typeface="Roboto Mono"/>
                <a:cs typeface="Roboto Mono"/>
                <a:sym typeface="Roboto Mono"/>
              </a:rPr>
              <a:t>azure_chat = AzureChatOpenAI(</a:t>
            </a:r>
            <a:endParaRPr lang="en-US" sz="1300" b="0" i="0" u="none" strike="noStrike">
              <a:solidFill>
                <a:srgbClr val="DCDFE4"/>
              </a:solidFill>
              <a:latin typeface="Roboto Mono"/>
              <a:ea typeface="Roboto Mono"/>
              <a:cs typeface="Roboto Mono"/>
              <a:sym typeface="Roboto Mono"/>
            </a:endParaRPr>
          </a:p>
          <a:p>
            <a:pPr indent="0" algn="l">
              <a:lnSpc>
                <a:spcPct val="100000"/>
              </a:lnSpc>
            </a:pPr>
            <a:r>
              <a:rPr lang="en-US" sz="1300" b="0" i="0" u="none" strike="noStrike">
                <a:solidFill>
                  <a:srgbClr val="DCDFE4"/>
                </a:solidFill>
                <a:latin typeface="Roboto Mono"/>
                <a:ea typeface="Roboto Mono"/>
                <a:cs typeface="Roboto Mono"/>
                <a:sym typeface="Roboto Mono"/>
              </a:rPr>
              <a:t>azure_endpoint=</a:t>
            </a:r>
            <a:r>
              <a:rPr lang="en-US" sz="1300" b="0" i="0" u="none" strike="noStrike">
                <a:solidFill>
                  <a:srgbClr val="98C379"/>
                </a:solidFill>
                <a:latin typeface="Roboto Mono"/>
                <a:ea typeface="Roboto Mono"/>
                <a:cs typeface="Roboto Mono"/>
                <a:sym typeface="Roboto Mono"/>
              </a:rPr>
              <a:t>"https://xxx"</a:t>
            </a:r>
            <a:r>
              <a:rPr lang="en-US" sz="1300" b="0" i="0" u="none" strike="noStrike">
                <a:solidFill>
                  <a:srgbClr val="DCDFE4"/>
                </a:solidFill>
                <a:latin typeface="Roboto Mono"/>
                <a:ea typeface="Roboto Mono"/>
                <a:cs typeface="Roboto Mono"/>
                <a:sym typeface="Roboto Mono"/>
              </a:rPr>
              <a:t>,</a:t>
            </a:r>
            <a:endParaRPr lang="en-US" sz="1300" b="0" i="0" u="none" strike="noStrike">
              <a:solidFill>
                <a:srgbClr val="DCDFE4"/>
              </a:solidFill>
              <a:latin typeface="Roboto Mono"/>
              <a:ea typeface="Roboto Mono"/>
              <a:cs typeface="Roboto Mono"/>
              <a:sym typeface="Roboto Mono"/>
            </a:endParaRPr>
          </a:p>
          <a:p>
            <a:pPr indent="0" algn="l">
              <a:lnSpc>
                <a:spcPct val="100000"/>
              </a:lnSpc>
            </a:pPr>
            <a:r>
              <a:rPr lang="en-US" sz="1300" b="0" i="0" u="none" strike="noStrike">
                <a:solidFill>
                  <a:srgbClr val="DCDFE4"/>
                </a:solidFill>
                <a:latin typeface="Roboto Mono"/>
                <a:ea typeface="Roboto Mono"/>
                <a:cs typeface="Roboto Mono"/>
                <a:sym typeface="Roboto Mono"/>
              </a:rPr>
              <a:t>azure_deployment=</a:t>
            </a:r>
            <a:r>
              <a:rPr lang="en-US" sz="1300" b="0" i="0" u="none" strike="noStrike">
                <a:solidFill>
                  <a:srgbClr val="98C379"/>
                </a:solidFill>
                <a:latin typeface="Roboto Mono"/>
                <a:ea typeface="Roboto Mono"/>
                <a:cs typeface="Roboto Mono"/>
                <a:sym typeface="Roboto Mono"/>
              </a:rPr>
              <a:t>"gpt-35-turbo"</a:t>
            </a:r>
            <a:r>
              <a:rPr lang="en-US" sz="1300" b="0" i="0" u="none" strike="noStrike">
                <a:solidFill>
                  <a:srgbClr val="DCDFE4"/>
                </a:solidFill>
                <a:latin typeface="Roboto Mono"/>
                <a:ea typeface="Roboto Mono"/>
                <a:cs typeface="Roboto Mono"/>
                <a:sym typeface="Roboto Mono"/>
              </a:rPr>
              <a:t>,</a:t>
            </a:r>
            <a:endParaRPr lang="en-US" sz="1300" b="0" i="0" u="none" strike="noStrike">
              <a:solidFill>
                <a:srgbClr val="DCDFE4"/>
              </a:solidFill>
              <a:latin typeface="Roboto Mono"/>
              <a:ea typeface="Roboto Mono"/>
              <a:cs typeface="Roboto Mono"/>
              <a:sym typeface="Roboto Mono"/>
            </a:endParaRPr>
          </a:p>
          <a:p>
            <a:pPr indent="0" algn="l">
              <a:lnSpc>
                <a:spcPct val="100000"/>
              </a:lnSpc>
            </a:pPr>
            <a:r>
              <a:rPr lang="en-US" sz="1300" b="0" i="0" u="none" strike="noStrike">
                <a:solidFill>
                  <a:srgbClr val="DCDFE4"/>
                </a:solidFill>
                <a:latin typeface="Roboto Mono"/>
                <a:ea typeface="Roboto Mono"/>
                <a:cs typeface="Roboto Mono"/>
                <a:sym typeface="Roboto Mono"/>
              </a:rPr>
              <a:t>openai_api_key=</a:t>
            </a:r>
            <a:r>
              <a:rPr lang="en-US" sz="1300" b="0" i="0" u="none" strike="noStrike">
                <a:solidFill>
                  <a:srgbClr val="98C379"/>
                </a:solidFill>
                <a:latin typeface="Roboto Mono"/>
                <a:ea typeface="Roboto Mono"/>
                <a:cs typeface="Roboto Mono"/>
                <a:sym typeface="Roboto Mono"/>
              </a:rPr>
              <a:t>"xxx"</a:t>
            </a:r>
            <a:endParaRPr lang="en-US" sz="1300" b="0" i="0" u="none" strike="noStrike">
              <a:solidFill>
                <a:srgbClr val="98C379"/>
              </a:solidFill>
              <a:latin typeface="Roboto Mono"/>
              <a:ea typeface="Roboto Mono"/>
              <a:cs typeface="Roboto Mono"/>
              <a:sym typeface="Roboto Mono"/>
            </a:endParaRPr>
          </a:p>
          <a:p>
            <a:pPr indent="0" algn="l">
              <a:lnSpc>
                <a:spcPct val="100000"/>
              </a:lnSpc>
            </a:pPr>
            <a:r>
              <a:rPr lang="en-US" sz="1300" b="0" i="0" u="none" strike="noStrike">
                <a:solidFill>
                  <a:srgbClr val="DCDFE4"/>
                </a:solidFill>
                <a:latin typeface="Roboto Mono"/>
                <a:ea typeface="Roboto Mono"/>
                <a:cs typeface="Roboto Mono"/>
                <a:sym typeface="Roboto Mono"/>
              </a:rPr>
              <a:t>)</a:t>
            </a:r>
            <a:endParaRPr lang="en-US" sz="1300" b="0" i="0" u="none" strike="noStrike">
              <a:solidFill>
                <a:srgbClr val="DCDFE4"/>
              </a:solidFill>
              <a:latin typeface="Roboto Mono"/>
              <a:ea typeface="Roboto Mono"/>
              <a:cs typeface="Roboto Mono"/>
              <a:sym typeface="Roboto Mono"/>
            </a:endParaRPr>
          </a:p>
          <a:p>
            <a:pPr indent="0" algn="l">
              <a:lnSpc>
                <a:spcPct val="100000"/>
              </a:lnSpc>
            </a:pPr>
          </a:p>
          <a:p>
            <a:pPr indent="0" algn="l">
              <a:lnSpc>
                <a:spcPct val="100000"/>
              </a:lnSpc>
            </a:pPr>
            <a:r>
              <a:rPr lang="en-US" sz="1300" b="0" i="0" u="none" strike="noStrike">
                <a:solidFill>
                  <a:srgbClr val="E06C75"/>
                </a:solidFill>
                <a:latin typeface="Roboto Mono"/>
                <a:ea typeface="Roboto Mono"/>
                <a:cs typeface="Roboto Mono"/>
                <a:sym typeface="Roboto Mono"/>
              </a:rPr>
              <a:t># 调用模型生成笑话</a:t>
            </a:r>
            <a:endParaRPr lang="en-US" sz="1300" b="0" i="0" u="none" strike="noStrike">
              <a:solidFill>
                <a:srgbClr val="E06C75"/>
              </a:solidFill>
              <a:latin typeface="Roboto Mono"/>
              <a:ea typeface="Roboto Mono"/>
              <a:cs typeface="Roboto Mono"/>
              <a:sym typeface="Roboto Mono"/>
            </a:endParaRPr>
          </a:p>
          <a:p>
            <a:pPr indent="0" algn="l">
              <a:lnSpc>
                <a:spcPct val="100000"/>
              </a:lnSpc>
            </a:pPr>
            <a:r>
              <a:rPr lang="en-US" sz="1300" b="0" i="0" u="none" strike="noStrike">
                <a:solidFill>
                  <a:srgbClr val="DCDFE4"/>
                </a:solidFill>
                <a:latin typeface="Roboto Mono"/>
                <a:ea typeface="Roboto Mono"/>
                <a:cs typeface="Roboto Mono"/>
                <a:sym typeface="Roboto Mono"/>
              </a:rPr>
              <a:t>prompt =</a:t>
            </a:r>
            <a:r>
              <a:rPr lang="en-US" sz="1300" b="0" i="0" u="none" strike="noStrike">
                <a:solidFill>
                  <a:srgbClr val="98C379"/>
                </a:solidFill>
                <a:latin typeface="Roboto Mono"/>
                <a:ea typeface="Roboto Mono"/>
                <a:cs typeface="Roboto Mono"/>
                <a:sym typeface="Roboto Mono"/>
              </a:rPr>
              <a:t>"功能：告诉我一个中文笑话。限制：20字以内。"</a:t>
            </a:r>
            <a:endParaRPr lang="en-US" sz="1300" b="0" i="0" u="none" strike="noStrike">
              <a:solidFill>
                <a:srgbClr val="98C379"/>
              </a:solidFill>
              <a:latin typeface="Roboto Mono"/>
              <a:ea typeface="Roboto Mono"/>
              <a:cs typeface="Roboto Mono"/>
              <a:sym typeface="Roboto Mono"/>
            </a:endParaRPr>
          </a:p>
          <a:p>
            <a:pPr indent="0" algn="l">
              <a:lnSpc>
                <a:spcPct val="100000"/>
              </a:lnSpc>
            </a:pPr>
            <a:r>
              <a:rPr lang="en-US" sz="1300" b="0" i="0" u="none" strike="noStrike">
                <a:solidFill>
                  <a:srgbClr val="DCDFE4"/>
                </a:solidFill>
                <a:latin typeface="Roboto Mono"/>
                <a:ea typeface="Roboto Mono"/>
                <a:cs typeface="Roboto Mono"/>
                <a:sym typeface="Roboto Mono"/>
              </a:rPr>
              <a:t>response = azure_chat.invoke(prompt)</a:t>
            </a:r>
            <a:endParaRPr lang="en-US" sz="1300" b="0" i="0" u="none" strike="noStrike">
              <a:solidFill>
                <a:srgbClr val="DCDFE4"/>
              </a:solidFill>
              <a:latin typeface="Roboto Mono"/>
              <a:ea typeface="Roboto Mono"/>
              <a:cs typeface="Roboto Mono"/>
              <a:sym typeface="Roboto Mono"/>
            </a:endParaRPr>
          </a:p>
          <a:p>
            <a:pPr indent="0" algn="l">
              <a:lnSpc>
                <a:spcPct val="100000"/>
              </a:lnSpc>
            </a:pPr>
            <a:r>
              <a:rPr lang="en-US" sz="1300" b="0" i="0" u="none" strike="noStrike">
                <a:solidFill>
                  <a:srgbClr val="DCDFE4"/>
                </a:solidFill>
                <a:latin typeface="Roboto Mono"/>
                <a:ea typeface="Roboto Mono"/>
                <a:cs typeface="Roboto Mono"/>
                <a:sym typeface="Roboto Mono"/>
              </a:rPr>
              <a:t>print(response.content)</a:t>
            </a:r>
            <a:endParaRPr lang="en-US" sz="1300" b="0" i="0" u="none" strike="noStrike">
              <a:solidFill>
                <a:srgbClr val="DCDFE4"/>
              </a:solidFill>
              <a:latin typeface="Roboto Mono"/>
              <a:ea typeface="Roboto Mono"/>
              <a:cs typeface="Roboto Mono"/>
              <a:sym typeface="Roboto Mono"/>
            </a:endParaRPr>
          </a:p>
        </p:txBody>
      </p:sp>
      <p:sp>
        <p:nvSpPr>
          <p:cNvPr id="14" name="AutoShape 14"/>
          <p:cNvSpPr/>
          <p:nvPr/>
        </p:nvSpPr>
        <p:spPr>
          <a:xfrm>
            <a:off x="762000" y="5207000"/>
            <a:ext cx="10668000" cy="1016000"/>
          </a:xfrm>
          <a:prstGeom prst="roundRect">
            <a:avLst>
              <a:gd name="adj" fmla="val 12500"/>
            </a:avLst>
          </a:prstGeom>
          <a:solidFill>
            <a:srgbClr val="FFFFFF">
              <a:alpha val="6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5461000"/>
            <a:ext cx="304800" cy="304800"/>
          </a:xfrm>
          <a:prstGeom prst="rect">
            <a:avLst/>
          </a:prstGeom>
        </p:spPr>
      </p:pic>
      <p:sp>
        <p:nvSpPr>
          <p:cNvPr id="16" name="AutoShape 16"/>
          <p:cNvSpPr/>
          <p:nvPr/>
        </p:nvSpPr>
        <p:spPr>
          <a:xfrm>
            <a:off x="1460500" y="5397500"/>
            <a:ext cx="9715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代码解析：</a:t>
            </a:r>
            <a:r>
              <a:rPr lang="en-US" sz="1600" b="0" i="0" u="none" strike="noStrike">
                <a:solidFill>
                  <a:srgbClr val="424242"/>
                </a:solidFill>
                <a:latin typeface="Noto Sans SC"/>
                <a:ea typeface="Noto Sans SC"/>
                <a:cs typeface="Noto Sans SC"/>
                <a:sym typeface="Noto Sans SC"/>
              </a:rPr>
              <a:t>示例展示了使用AzureChatOpenAI包装器连接Azure平台的GPT-3.5模型。通过统一的invoke接口，我们可以轻松发送提示词并获取响应，实现了模型调用的标准化。</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816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模型包装器 - LLM模型缓存</a:t>
            </a:r>
            <a:endParaRPr lang="en-US" sz="1100"/>
          </a:p>
        </p:txBody>
      </p:sp>
      <p:sp>
        <p:nvSpPr>
          <p:cNvPr id="3" name="AutoShape 3"/>
          <p:cNvSpPr/>
          <p:nvPr/>
        </p:nvSpPr>
        <p:spPr>
          <a:xfrm>
            <a:off x="762000" y="1397000"/>
            <a:ext cx="5080000" cy="1270000"/>
          </a:xfrm>
          <a:prstGeom prst="roundRect">
            <a:avLst>
              <a:gd name="adj" fmla="val 10000"/>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508000" cy="508000"/>
          </a:xfrm>
          <a:prstGeom prst="rect">
            <a:avLst/>
          </a:prstGeom>
        </p:spPr>
      </p:pic>
      <p:sp>
        <p:nvSpPr>
          <p:cNvPr id="5" name="AutoShape 5"/>
          <p:cNvSpPr/>
          <p:nvPr/>
        </p:nvSpPr>
        <p:spPr>
          <a:xfrm>
            <a:off x="1651000" y="15875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节省成本</a:t>
            </a:r>
            <a:endParaRPr lang="en-US" sz="1100"/>
          </a:p>
        </p:txBody>
      </p:sp>
      <p:sp>
        <p:nvSpPr>
          <p:cNvPr id="6" name="AutoShape 6"/>
          <p:cNvSpPr/>
          <p:nvPr/>
        </p:nvSpPr>
        <p:spPr>
          <a:xfrm>
            <a:off x="1651000" y="19685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减少重复的模型API调用，避免重复计费，显著降低运营开支。</a:t>
            </a:r>
            <a:endParaRPr lang="en-US" sz="1100"/>
          </a:p>
        </p:txBody>
      </p:sp>
      <p:sp>
        <p:nvSpPr>
          <p:cNvPr id="7" name="AutoShape 7"/>
          <p:cNvSpPr/>
          <p:nvPr/>
        </p:nvSpPr>
        <p:spPr>
          <a:xfrm>
            <a:off x="762000" y="2921000"/>
            <a:ext cx="5080000" cy="1270000"/>
          </a:xfrm>
          <a:prstGeom prst="roundRect">
            <a:avLst>
              <a:gd name="adj" fmla="val 10000"/>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175000"/>
            <a:ext cx="508000" cy="508000"/>
          </a:xfrm>
          <a:prstGeom prst="rect">
            <a:avLst/>
          </a:prstGeom>
        </p:spPr>
      </p:pic>
      <p:sp>
        <p:nvSpPr>
          <p:cNvPr id="9" name="AutoShape 9"/>
          <p:cNvSpPr/>
          <p:nvPr/>
        </p:nvSpPr>
        <p:spPr>
          <a:xfrm>
            <a:off x="1651000" y="31115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提升速度</a:t>
            </a:r>
            <a:endParaRPr lang="en-US" sz="1100"/>
          </a:p>
        </p:txBody>
      </p:sp>
      <p:sp>
        <p:nvSpPr>
          <p:cNvPr id="10" name="AutoShape 10"/>
          <p:cNvSpPr/>
          <p:nvPr/>
        </p:nvSpPr>
        <p:spPr>
          <a:xfrm>
            <a:off x="1651000" y="34925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直接从缓存中获取结果，极大缩短响应时间，提升用户体验。</a:t>
            </a:r>
            <a:endParaRPr lang="en-US" sz="1100"/>
          </a:p>
        </p:txBody>
      </p:sp>
      <p:sp>
        <p:nvSpPr>
          <p:cNvPr id="11" name="AutoShape 11"/>
          <p:cNvSpPr/>
          <p:nvPr/>
        </p:nvSpPr>
        <p:spPr>
          <a:xfrm>
            <a:off x="6223000" y="1397000"/>
            <a:ext cx="5207000" cy="2794000"/>
          </a:xfrm>
          <a:prstGeom prst="roundRect">
            <a:avLst>
              <a:gd name="adj" fmla="val 4545"/>
            </a:avLst>
          </a:prstGeom>
          <a:solidFill>
            <a:srgbClr val="1E1E1E">
              <a:alpha val="100000"/>
            </a:srgbClr>
          </a:solidFill>
          <a:ln w="25400" cap="flat" cmpd="sng">
            <a:noFill/>
            <a:prstDash val="solid"/>
            <a:round/>
          </a:ln>
          <a:effectLst>
            <a:outerShdw blurRad="190500" dist="101600" dir="2700000" algn="tl" rotWithShape="0">
              <a:srgbClr val="000000">
                <a:alpha val="20000"/>
              </a:srgbClr>
            </a:outerShdw>
          </a:effectLst>
        </p:spPr>
        <p:txBody>
          <a:bodyPr vert="horz" wrap="square" lIns="63500" tIns="63500" rIns="63500" bIns="63500" rtlCol="0" anchor="ctr"/>
          <a:lstStyle/>
          <a:p>
            <a:pPr algn="ctr">
              <a:defRPr/>
            </a:pPr>
          </a:p>
        </p:txBody>
      </p:sp>
      <p:sp>
        <p:nvSpPr>
          <p:cNvPr id="12" name="AutoShape 12"/>
          <p:cNvSpPr/>
          <p:nvPr/>
        </p:nvSpPr>
        <p:spPr>
          <a:xfrm>
            <a:off x="6413500" y="1549400"/>
            <a:ext cx="127000" cy="127000"/>
          </a:xfrm>
          <a:prstGeom prst="ellipse">
            <a:avLst/>
          </a:prstGeom>
          <a:solidFill>
            <a:srgbClr val="FF5F5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604000" y="1549400"/>
            <a:ext cx="127000" cy="127000"/>
          </a:xfrm>
          <a:prstGeom prst="ellipse">
            <a:avLst/>
          </a:prstGeom>
          <a:solidFill>
            <a:srgbClr val="FFBD2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794500" y="1549400"/>
            <a:ext cx="127000" cy="127000"/>
          </a:xfrm>
          <a:prstGeom prst="ellipse">
            <a:avLst/>
          </a:prstGeom>
          <a:solidFill>
            <a:srgbClr val="27C93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350000" y="1841500"/>
            <a:ext cx="4953000" cy="215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C678DD"/>
                </a:solidFill>
                <a:latin typeface="Roboto Mono"/>
                <a:ea typeface="Roboto Mono"/>
                <a:cs typeface="Roboto Mono"/>
                <a:sym typeface="Roboto Mono"/>
              </a:rPr>
              <a:t>import</a:t>
            </a:r>
            <a:r>
              <a:rPr lang="en-US" sz="1200" b="0" i="0" u="none" strike="noStrike">
                <a:solidFill>
                  <a:srgbClr val="DCDFE4"/>
                </a:solidFill>
                <a:latin typeface="Roboto Mono"/>
                <a:ea typeface="Roboto Mono"/>
                <a:cs typeface="Roboto Mono"/>
                <a:sym typeface="Roboto Mono"/>
              </a:rPr>
              <a:t>time</a:t>
            </a:r>
            <a:endParaRPr lang="en-US" sz="1100"/>
          </a:p>
          <a:p>
            <a:pPr indent="0" algn="l">
              <a:lnSpc>
                <a:spcPct val="100000"/>
              </a:lnSpc>
            </a:pPr>
            <a:r>
              <a:rPr lang="en-US" sz="1200" b="0" i="0" u="none" strike="noStrike">
                <a:solidFill>
                  <a:srgbClr val="C678DD"/>
                </a:solidFill>
                <a:latin typeface="Roboto Mono"/>
                <a:ea typeface="Roboto Mono"/>
                <a:cs typeface="Roboto Mono"/>
                <a:sym typeface="Roboto Mono"/>
              </a:rPr>
              <a:t>from</a:t>
            </a:r>
            <a:r>
              <a:rPr lang="en-US" sz="1200" b="0" i="0" u="none" strike="noStrike">
                <a:solidFill>
                  <a:srgbClr val="DCDFE4"/>
                </a:solidFill>
                <a:latin typeface="Roboto Mono"/>
                <a:ea typeface="Roboto Mono"/>
                <a:cs typeface="Roboto Mono"/>
                <a:sym typeface="Roboto Mono"/>
              </a:rPr>
              <a:t>langchain.cache</a:t>
            </a:r>
            <a:r>
              <a:rPr lang="en-US" sz="1200" b="0" i="0" u="none" strike="noStrike">
                <a:solidFill>
                  <a:srgbClr val="C678DD"/>
                </a:solidFill>
                <a:latin typeface="Roboto Mono"/>
                <a:ea typeface="Roboto Mono"/>
                <a:cs typeface="Roboto Mono"/>
                <a:sym typeface="Roboto Mono"/>
              </a:rPr>
              <a:t>import</a:t>
            </a:r>
            <a:r>
              <a:rPr lang="en-US" sz="1200" b="0" i="0" u="none" strike="noStrike">
                <a:solidFill>
                  <a:srgbClr val="E5C07B"/>
                </a:solidFill>
                <a:latin typeface="Roboto Mono"/>
                <a:ea typeface="Roboto Mono"/>
                <a:cs typeface="Roboto Mono"/>
                <a:sym typeface="Roboto Mono"/>
              </a:rPr>
              <a:t>InMemoryCache</a:t>
            </a:r>
            <a:endParaRPr lang="en-US" sz="1200" b="0" i="0" u="none" strike="noStrike">
              <a:solidFill>
                <a:srgbClr val="E5C07B"/>
              </a:solidFill>
              <a:latin typeface="Roboto Mono"/>
              <a:ea typeface="Roboto Mono"/>
              <a:cs typeface="Roboto Mono"/>
              <a:sym typeface="Roboto Mono"/>
            </a:endParaRPr>
          </a:p>
          <a:p>
            <a:pPr indent="0" algn="l">
              <a:lnSpc>
                <a:spcPct val="100000"/>
              </a:lnSpc>
            </a:pPr>
            <a:r>
              <a:rPr lang="en-US" sz="1200" b="0" i="0" u="none" strike="noStrike">
                <a:solidFill>
                  <a:srgbClr val="5C6370"/>
                </a:solidFill>
                <a:latin typeface="Roboto Mono"/>
                <a:ea typeface="Roboto Mono"/>
                <a:cs typeface="Roboto Mono"/>
                <a:sym typeface="Roboto Mono"/>
              </a:rPr>
              <a:t># 设置缓存</a:t>
            </a:r>
            <a:endParaRPr lang="en-US" sz="1200" b="0" i="0" u="none" strike="noStrike">
              <a:solidFill>
                <a:srgbClr val="5C6370"/>
              </a:solidFill>
              <a:latin typeface="Roboto Mono"/>
              <a:ea typeface="Roboto Mono"/>
              <a:cs typeface="Roboto Mono"/>
              <a:sym typeface="Roboto Mono"/>
            </a:endParaRPr>
          </a:p>
          <a:p>
            <a:pPr indent="0" algn="l">
              <a:lnSpc>
                <a:spcPct val="100000"/>
              </a:lnSpc>
            </a:pPr>
            <a:r>
              <a:rPr lang="en-US" sz="1200" b="0" i="0" u="none" strike="noStrike">
                <a:solidFill>
                  <a:srgbClr val="DCDFE4"/>
                </a:solidFill>
                <a:latin typeface="Roboto Mono"/>
                <a:ea typeface="Roboto Mono"/>
                <a:cs typeface="Roboto Mono"/>
                <a:sym typeface="Roboto Mono"/>
              </a:rPr>
              <a:t>set_llm_cache(</a:t>
            </a:r>
            <a:r>
              <a:rPr lang="en-US" sz="1200" b="0" i="0" u="none" strike="noStrike">
                <a:solidFill>
                  <a:srgbClr val="61AFEF"/>
                </a:solidFill>
                <a:latin typeface="Roboto Mono"/>
                <a:ea typeface="Roboto Mono"/>
                <a:cs typeface="Roboto Mono"/>
                <a:sym typeface="Roboto Mono"/>
              </a:rPr>
              <a:t>InMemoryCache</a:t>
            </a:r>
            <a:r>
              <a:rPr lang="en-US" sz="1200" b="0" i="0" u="none" strike="noStrike">
                <a:solidFill>
                  <a:srgbClr val="DCDFE4"/>
                </a:solidFill>
                <a:latin typeface="Roboto Mono"/>
                <a:ea typeface="Roboto Mono"/>
                <a:cs typeface="Roboto Mono"/>
                <a:sym typeface="Roboto Mono"/>
              </a:rPr>
              <a:t>())</a:t>
            </a:r>
            <a:endParaRPr lang="en-US" sz="1200" b="0" i="0" u="none" strike="noStrike">
              <a:solidFill>
                <a:srgbClr val="DCDFE4"/>
              </a:solidFill>
              <a:latin typeface="Roboto Mono"/>
              <a:ea typeface="Roboto Mono"/>
              <a:cs typeface="Roboto Mono"/>
              <a:sym typeface="Roboto Mono"/>
            </a:endParaRPr>
          </a:p>
          <a:p>
            <a:pPr indent="0" algn="l">
              <a:lnSpc>
                <a:spcPct val="100000"/>
              </a:lnSpc>
            </a:pPr>
            <a:r>
              <a:rPr lang="en-US" sz="1200" b="0" i="0" u="none" strike="noStrike">
                <a:solidFill>
                  <a:srgbClr val="5C6370"/>
                </a:solidFill>
                <a:latin typeface="Roboto Mono"/>
                <a:ea typeface="Roboto Mono"/>
                <a:cs typeface="Roboto Mono"/>
                <a:sym typeface="Roboto Mono"/>
              </a:rPr>
              <a:t># 第一次调用（无缓存）</a:t>
            </a:r>
            <a:endParaRPr lang="en-US" sz="1200" b="0" i="0" u="none" strike="noStrike">
              <a:solidFill>
                <a:srgbClr val="5C6370"/>
              </a:solidFill>
              <a:latin typeface="Roboto Mono"/>
              <a:ea typeface="Roboto Mono"/>
              <a:cs typeface="Roboto Mono"/>
              <a:sym typeface="Roboto Mono"/>
            </a:endParaRPr>
          </a:p>
          <a:p>
            <a:pPr indent="0" algn="l">
              <a:lnSpc>
                <a:spcPct val="100000"/>
              </a:lnSpc>
            </a:pPr>
            <a:r>
              <a:rPr lang="en-US" sz="1200" b="0" i="0" u="none" strike="noStrike">
                <a:solidFill>
                  <a:srgbClr val="DCDFE4"/>
                </a:solidFill>
                <a:latin typeface="Roboto Mono"/>
                <a:ea typeface="Roboto Mono"/>
                <a:cs typeface="Roboto Mono"/>
                <a:sym typeface="Roboto Mono"/>
              </a:rPr>
              <a:t>start = time.time()</a:t>
            </a:r>
            <a:endParaRPr lang="en-US" sz="1200" b="0" i="0" u="none" strike="noStrike">
              <a:solidFill>
                <a:srgbClr val="DCDFE4"/>
              </a:solidFill>
              <a:latin typeface="Roboto Mono"/>
              <a:ea typeface="Roboto Mono"/>
              <a:cs typeface="Roboto Mono"/>
              <a:sym typeface="Roboto Mono"/>
            </a:endParaRPr>
          </a:p>
          <a:p>
            <a:pPr indent="0" algn="l">
              <a:lnSpc>
                <a:spcPct val="100000"/>
              </a:lnSpc>
            </a:pPr>
            <a:r>
              <a:rPr lang="en-US" sz="1200" b="0" i="0" u="none" strike="noStrike">
                <a:solidFill>
                  <a:srgbClr val="DCDFE4"/>
                </a:solidFill>
                <a:latin typeface="Roboto Mono"/>
                <a:ea typeface="Roboto Mono"/>
                <a:cs typeface="Roboto Mono"/>
                <a:sym typeface="Roboto Mono"/>
              </a:rPr>
              <a:t>response = azure_chat.invoke(</a:t>
            </a:r>
            <a:r>
              <a:rPr lang="en-US" sz="1200" b="0" i="0" u="none" strike="noStrike">
                <a:solidFill>
                  <a:srgbClr val="98C379"/>
                </a:solidFill>
                <a:latin typeface="Roboto Mono"/>
                <a:ea typeface="Roboto Mono"/>
                <a:cs typeface="Roboto Mono"/>
                <a:sym typeface="Roboto Mono"/>
              </a:rPr>
              <a:t>"讲个笑话"</a:t>
            </a:r>
            <a:r>
              <a:rPr lang="en-US" sz="1200" b="0" i="0" u="none" strike="noStrike">
                <a:solidFill>
                  <a:srgbClr val="DCDFE4"/>
                </a:solidFill>
                <a:latin typeface="Roboto Mono"/>
                <a:ea typeface="Roboto Mono"/>
                <a:cs typeface="Roboto Mono"/>
                <a:sym typeface="Roboto Mono"/>
              </a:rPr>
              <a:t>)</a:t>
            </a:r>
            <a:endParaRPr lang="en-US" sz="1200" b="0" i="0" u="none" strike="noStrike">
              <a:solidFill>
                <a:srgbClr val="DCDFE4"/>
              </a:solidFill>
              <a:latin typeface="Roboto Mono"/>
              <a:ea typeface="Roboto Mono"/>
              <a:cs typeface="Roboto Mono"/>
              <a:sym typeface="Roboto Mono"/>
            </a:endParaRPr>
          </a:p>
          <a:p>
            <a:pPr indent="0" algn="l">
              <a:lnSpc>
                <a:spcPct val="100000"/>
              </a:lnSpc>
            </a:pPr>
            <a:r>
              <a:rPr lang="en-US" sz="1200" b="0" i="0" u="none" strike="noStrike">
                <a:solidFill>
                  <a:srgbClr val="5C6370"/>
                </a:solidFill>
                <a:latin typeface="Roboto Mono"/>
                <a:ea typeface="Roboto Mono"/>
                <a:cs typeface="Roboto Mono"/>
                <a:sym typeface="Roboto Mono"/>
              </a:rPr>
              <a:t># 第二次调用（使用缓存）</a:t>
            </a:r>
            <a:endParaRPr lang="en-US" sz="1200" b="0" i="0" u="none" strike="noStrike">
              <a:solidFill>
                <a:srgbClr val="5C6370"/>
              </a:solidFill>
              <a:latin typeface="Roboto Mono"/>
              <a:ea typeface="Roboto Mono"/>
              <a:cs typeface="Roboto Mono"/>
              <a:sym typeface="Roboto Mono"/>
            </a:endParaRPr>
          </a:p>
          <a:p>
            <a:pPr indent="0" algn="l">
              <a:lnSpc>
                <a:spcPct val="100000"/>
              </a:lnSpc>
            </a:pPr>
            <a:r>
              <a:rPr lang="en-US" sz="1200" b="0" i="0" u="none" strike="noStrike">
                <a:solidFill>
                  <a:srgbClr val="DCDFE4"/>
                </a:solidFill>
                <a:latin typeface="Roboto Mono"/>
                <a:ea typeface="Roboto Mono"/>
                <a:cs typeface="Roboto Mono"/>
                <a:sym typeface="Roboto Mono"/>
              </a:rPr>
              <a:t>start = time.time()</a:t>
            </a:r>
            <a:endParaRPr lang="en-US" sz="1200" b="0" i="0" u="none" strike="noStrike">
              <a:solidFill>
                <a:srgbClr val="DCDFE4"/>
              </a:solidFill>
              <a:latin typeface="Roboto Mono"/>
              <a:ea typeface="Roboto Mono"/>
              <a:cs typeface="Roboto Mono"/>
              <a:sym typeface="Roboto Mono"/>
            </a:endParaRPr>
          </a:p>
          <a:p>
            <a:pPr indent="0" algn="l">
              <a:lnSpc>
                <a:spcPct val="100000"/>
              </a:lnSpc>
            </a:pPr>
            <a:r>
              <a:rPr lang="en-US" sz="1200" b="0" i="0" u="none" strike="noStrike">
                <a:solidFill>
                  <a:srgbClr val="DCDFE4"/>
                </a:solidFill>
                <a:latin typeface="Roboto Mono"/>
                <a:ea typeface="Roboto Mono"/>
                <a:cs typeface="Roboto Mono"/>
                <a:sym typeface="Roboto Mono"/>
              </a:rPr>
              <a:t>response = azure_chat.invoke(</a:t>
            </a:r>
            <a:r>
              <a:rPr lang="en-US" sz="1200" b="0" i="0" u="none" strike="noStrike">
                <a:solidFill>
                  <a:srgbClr val="98C379"/>
                </a:solidFill>
                <a:latin typeface="Roboto Mono"/>
                <a:ea typeface="Roboto Mono"/>
                <a:cs typeface="Roboto Mono"/>
                <a:sym typeface="Roboto Mono"/>
              </a:rPr>
              <a:t>"讲个笑话"</a:t>
            </a:r>
            <a:r>
              <a:rPr lang="en-US" sz="1200" b="0" i="0" u="none" strike="noStrike">
                <a:solidFill>
                  <a:srgbClr val="DCDFE4"/>
                </a:solidFill>
                <a:latin typeface="Roboto Mono"/>
                <a:ea typeface="Roboto Mono"/>
                <a:cs typeface="Roboto Mono"/>
                <a:sym typeface="Roboto Mono"/>
              </a:rPr>
              <a:t>)</a:t>
            </a:r>
            <a:endParaRPr lang="en-US" sz="1200" b="0" i="0" u="none" strike="noStrike">
              <a:solidFill>
                <a:srgbClr val="DCDFE4"/>
              </a:solidFill>
              <a:latin typeface="Roboto Mono"/>
              <a:ea typeface="Roboto Mono"/>
              <a:cs typeface="Roboto Mono"/>
              <a:sym typeface="Roboto Mono"/>
            </a:endParaRPr>
          </a:p>
        </p:txBody>
      </p:sp>
      <p:sp>
        <p:nvSpPr>
          <p:cNvPr id="16" name="AutoShape 16"/>
          <p:cNvSpPr/>
          <p:nvPr/>
        </p:nvSpPr>
        <p:spPr>
          <a:xfrm>
            <a:off x="762000" y="4445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性能对比：重复请求耗时差异</a:t>
            </a:r>
            <a:endParaRPr lang="en-US" sz="1100"/>
          </a:p>
        </p:txBody>
      </p:sp>
      <p:sp>
        <p:nvSpPr>
          <p:cNvPr id="17" name="AutoShape 17"/>
          <p:cNvSpPr/>
          <p:nvPr/>
        </p:nvSpPr>
        <p:spPr>
          <a:xfrm>
            <a:off x="762000" y="4953000"/>
            <a:ext cx="5080000" cy="1016000"/>
          </a:xfrm>
          <a:prstGeom prst="roundRect">
            <a:avLst>
              <a:gd name="adj" fmla="val 12500"/>
            </a:avLst>
          </a:prstGeom>
          <a:solidFill>
            <a:srgbClr val="FFFFFF">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1016000" y="5143500"/>
            <a:ext cx="190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无缓存首次调用</a:t>
            </a:r>
            <a:endParaRPr lang="en-US" sz="1100"/>
          </a:p>
        </p:txBody>
      </p:sp>
      <p:sp>
        <p:nvSpPr>
          <p:cNvPr id="19" name="AutoShape 19"/>
          <p:cNvSpPr/>
          <p:nvPr/>
        </p:nvSpPr>
        <p:spPr>
          <a:xfrm>
            <a:off x="3175000" y="5080000"/>
            <a:ext cx="2413000" cy="5080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2800" b="1" i="0" u="none" strike="noStrike">
                <a:solidFill>
                  <a:srgbClr val="E06C75"/>
                </a:solidFill>
                <a:latin typeface="Roboto Mono"/>
                <a:ea typeface="Roboto Mono"/>
                <a:cs typeface="Roboto Mono"/>
                <a:sym typeface="Roboto Mono"/>
              </a:rPr>
              <a:t>0.5352</a:t>
            </a:r>
            <a:r>
              <a:rPr lang="en-US" sz="1600" b="0" i="0" u="none" strike="noStrike">
                <a:solidFill>
                  <a:srgbClr val="757575"/>
                </a:solidFill>
                <a:latin typeface="Noto Sans SC"/>
                <a:ea typeface="Noto Sans SC"/>
                <a:cs typeface="Noto Sans SC"/>
                <a:sym typeface="Noto Sans SC"/>
              </a:rPr>
              <a:t>秒</a:t>
            </a:r>
            <a:endParaRPr lang="en-US" sz="1100"/>
          </a:p>
        </p:txBody>
      </p:sp>
      <p:sp>
        <p:nvSpPr>
          <p:cNvPr id="20" name="AutoShape 20"/>
          <p:cNvSpPr/>
          <p:nvPr/>
        </p:nvSpPr>
        <p:spPr>
          <a:xfrm>
            <a:off x="6223000" y="4953000"/>
            <a:ext cx="5080000" cy="1016000"/>
          </a:xfrm>
          <a:prstGeom prst="roundRect">
            <a:avLst>
              <a:gd name="adj" fmla="val 12500"/>
            </a:avLst>
          </a:prstGeom>
          <a:solidFill>
            <a:srgbClr val="FFFFFF">
              <a:alpha val="100000"/>
            </a:srgbClr>
          </a:solidFill>
          <a:ln w="25400" cap="flat" cmpd="sng">
            <a:solidFill>
              <a:srgbClr val="0277BD">
                <a:alpha val="10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6477000" y="5143500"/>
            <a:ext cx="190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有缓存重复调用</a:t>
            </a:r>
            <a:endParaRPr lang="en-US" sz="1100"/>
          </a:p>
        </p:txBody>
      </p:sp>
      <p:sp>
        <p:nvSpPr>
          <p:cNvPr id="22" name="AutoShape 22"/>
          <p:cNvSpPr/>
          <p:nvPr/>
        </p:nvSpPr>
        <p:spPr>
          <a:xfrm>
            <a:off x="8636000" y="5080000"/>
            <a:ext cx="2413000" cy="5080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2800" b="1" i="0" u="none" strike="noStrike">
                <a:solidFill>
                  <a:srgbClr val="56B6C2"/>
                </a:solidFill>
                <a:latin typeface="Roboto Mono"/>
                <a:ea typeface="Roboto Mono"/>
                <a:cs typeface="Roboto Mono"/>
                <a:sym typeface="Roboto Mono"/>
              </a:rPr>
              <a:t>0.0015</a:t>
            </a:r>
            <a:r>
              <a:rPr lang="en-US" sz="1600" b="0" i="0" u="none" strike="noStrike">
                <a:solidFill>
                  <a:srgbClr val="757575"/>
                </a:solidFill>
                <a:latin typeface="Noto Sans SC"/>
                <a:ea typeface="Noto Sans SC"/>
                <a:cs typeface="Noto Sans SC"/>
                <a:sym typeface="Noto Sans SC"/>
              </a:rPr>
              <a:t>秒</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1501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模型包装器 - LLM模型工具调用</a:t>
            </a:r>
            <a:endParaRPr lang="en-US" sz="1100"/>
          </a:p>
        </p:txBody>
      </p:sp>
      <p:sp>
        <p:nvSpPr>
          <p:cNvPr id="3" name="AutoShape 3"/>
          <p:cNvSpPr/>
          <p:nvPr/>
        </p:nvSpPr>
        <p:spPr>
          <a:xfrm>
            <a:off x="762000" y="1397000"/>
            <a:ext cx="3810000" cy="4445000"/>
          </a:xfrm>
          <a:prstGeom prst="roundRect">
            <a:avLst>
              <a:gd name="adj" fmla="val 3333"/>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6256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工具调用概念</a:t>
            </a:r>
            <a:endParaRPr lang="en-US" sz="1100"/>
          </a:p>
        </p:txBody>
      </p:sp>
      <p:sp>
        <p:nvSpPr>
          <p:cNvPr id="6" name="AutoShape 6"/>
          <p:cNvSpPr/>
          <p:nvPr/>
        </p:nvSpPr>
        <p:spPr>
          <a:xfrm>
            <a:off x="1016000" y="2159000"/>
            <a:ext cx="3302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0" i="0" u="none" strike="noStrike">
                <a:solidFill>
                  <a:srgbClr val="757575"/>
                </a:solidFill>
                <a:latin typeface="Noto Sans SC"/>
                <a:ea typeface="Noto Sans SC"/>
                <a:cs typeface="Noto Sans SC"/>
                <a:sym typeface="Noto Sans SC"/>
              </a:rPr>
              <a:t>利用LLM的推理能力，自主选择并调用外部工具（如搜索引擎、数据库等）来完成任务。这是构建智能体（Agent）的核心基础。</a:t>
            </a:r>
            <a:endParaRPr lang="en-US" sz="1100"/>
          </a:p>
        </p:txBody>
      </p:sp>
      <p:sp>
        <p:nvSpPr>
          <p:cNvPr id="7" name="AutoShape 7"/>
          <p:cNvSpPr/>
          <p:nvPr/>
        </p:nvSpPr>
        <p:spPr>
          <a:xfrm>
            <a:off x="1016000" y="3810000"/>
            <a:ext cx="330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核心机制流程</a:t>
            </a:r>
            <a:endParaRPr lang="en-US" sz="1100"/>
          </a:p>
        </p:txBody>
      </p:sp>
      <p:sp>
        <p:nvSpPr>
          <p:cNvPr id="8" name="AutoShape 8"/>
          <p:cNvSpPr/>
          <p:nvPr/>
        </p:nvSpPr>
        <p:spPr>
          <a:xfrm>
            <a:off x="1016000" y="4254500"/>
            <a:ext cx="3302000" cy="457200"/>
          </a:xfrm>
          <a:prstGeom prst="roundRect">
            <a:avLst>
              <a:gd name="adj" fmla="val 13888"/>
            </a:avLst>
          </a:prstGeom>
          <a:solidFill>
            <a:srgbClr val="0277BD">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0277BD"/>
                </a:solidFill>
                <a:latin typeface="Noto Sans SC"/>
                <a:ea typeface="Noto Sans SC"/>
                <a:cs typeface="Noto Sans SC"/>
                <a:sym typeface="Noto Sans SC"/>
              </a:rPr>
              <a:t>1. 定义工具 (Define)</a:t>
            </a:r>
            <a:endParaRPr lang="en-US" sz="1100"/>
          </a:p>
        </p:txBody>
      </p:sp>
      <p:sp>
        <p:nvSpPr>
          <p:cNvPr id="9" name="AutoShape 9"/>
          <p:cNvSpPr/>
          <p:nvPr/>
        </p:nvSpPr>
        <p:spPr>
          <a:xfrm>
            <a:off x="1016000" y="4826000"/>
            <a:ext cx="3302000" cy="457200"/>
          </a:xfrm>
          <a:prstGeom prst="roundRect">
            <a:avLst>
              <a:gd name="adj" fmla="val 13888"/>
            </a:avLst>
          </a:prstGeom>
          <a:solidFill>
            <a:srgbClr val="0277BD">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0277BD"/>
                </a:solidFill>
                <a:latin typeface="Noto Sans SC"/>
                <a:ea typeface="Noto Sans SC"/>
                <a:cs typeface="Noto Sans SC"/>
                <a:sym typeface="Noto Sans SC"/>
              </a:rPr>
              <a:t>2. 绑定模型 (Bind)</a:t>
            </a:r>
            <a:endParaRPr lang="en-US" sz="1100"/>
          </a:p>
        </p:txBody>
      </p:sp>
      <p:sp>
        <p:nvSpPr>
          <p:cNvPr id="10" name="AutoShape 10"/>
          <p:cNvSpPr/>
          <p:nvPr/>
        </p:nvSpPr>
        <p:spPr>
          <a:xfrm>
            <a:off x="1016000" y="5397500"/>
            <a:ext cx="3302000" cy="457200"/>
          </a:xfrm>
          <a:prstGeom prst="roundRect">
            <a:avLst>
              <a:gd name="adj" fmla="val 13888"/>
            </a:avLst>
          </a:prstGeom>
          <a:solidFill>
            <a:srgbClr val="0277BD">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0277BD"/>
                </a:solidFill>
                <a:latin typeface="Noto Sans SC"/>
                <a:ea typeface="Noto Sans SC"/>
                <a:cs typeface="Noto Sans SC"/>
                <a:sym typeface="Noto Sans SC"/>
              </a:rPr>
              <a:t>3. 执行调用 (Invoke)</a:t>
            </a:r>
            <a:endParaRPr lang="en-US" sz="1100"/>
          </a:p>
        </p:txBody>
      </p:sp>
      <p:sp>
        <p:nvSpPr>
          <p:cNvPr id="11" name="AutoShape 11"/>
          <p:cNvSpPr/>
          <p:nvPr/>
        </p:nvSpPr>
        <p:spPr>
          <a:xfrm>
            <a:off x="4953000" y="1397000"/>
            <a:ext cx="6477000" cy="4445000"/>
          </a:xfrm>
          <a:prstGeom prst="roundRect">
            <a:avLst>
              <a:gd name="adj" fmla="val 2857"/>
            </a:avLst>
          </a:prstGeom>
          <a:solidFill>
            <a:srgbClr val="1E1E1E">
              <a:alpha val="100000"/>
            </a:srgbClr>
          </a:solidFill>
          <a:ln w="25400" cap="flat" cmpd="sng">
            <a:noFill/>
            <a:prstDash val="solid"/>
            <a:round/>
          </a:ln>
          <a:effectLst>
            <a:outerShdw blurRad="127000" dist="50800" dir="5400000" algn="tl" rotWithShape="0">
              <a:srgbClr val="000000">
                <a:alpha val="20000"/>
              </a:srgbClr>
            </a:outerShdw>
          </a:effectLst>
        </p:spPr>
        <p:txBody>
          <a:bodyPr vert="horz" wrap="square" lIns="63500" tIns="63500" rIns="63500" bIns="63500" rtlCol="0" anchor="ctr"/>
          <a:lstStyle/>
          <a:p>
            <a:pPr algn="ctr">
              <a:defRPr/>
            </a:pPr>
          </a:p>
        </p:txBody>
      </p:sp>
      <p:sp>
        <p:nvSpPr>
          <p:cNvPr id="12" name="AutoShape 12"/>
          <p:cNvSpPr/>
          <p:nvPr/>
        </p:nvSpPr>
        <p:spPr>
          <a:xfrm>
            <a:off x="4953000" y="1397000"/>
            <a:ext cx="6477000" cy="381000"/>
          </a:xfrm>
          <a:prstGeom prst="roundRect">
            <a:avLst>
              <a:gd name="adj" fmla="val 0"/>
            </a:avLst>
          </a:prstGeom>
          <a:solidFill>
            <a:srgbClr val="32323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5080000" y="1422400"/>
            <a:ext cx="1270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69696"/>
                </a:solidFill>
                <a:latin typeface="Noto Sans SC"/>
                <a:ea typeface="Noto Sans SC"/>
                <a:cs typeface="Noto Sans SC"/>
                <a:sym typeface="Noto Sans SC"/>
              </a:rPr>
              <a:t>tool_demo.py</a:t>
            </a:r>
            <a:endParaRPr lang="en-US" sz="1100"/>
          </a:p>
        </p:txBody>
      </p:sp>
      <p:sp>
        <p:nvSpPr>
          <p:cNvPr id="14" name="AutoShape 14"/>
          <p:cNvSpPr/>
          <p:nvPr/>
        </p:nvSpPr>
        <p:spPr>
          <a:xfrm>
            <a:off x="5143500" y="1905000"/>
            <a:ext cx="6096000" cy="3683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C678DD"/>
                </a:solidFill>
                <a:latin typeface="Roboto Mono"/>
                <a:ea typeface="Roboto Mono"/>
                <a:cs typeface="Roboto Mono"/>
                <a:sym typeface="Roboto Mono"/>
              </a:rPr>
              <a:t>from</a:t>
            </a:r>
            <a:r>
              <a:rPr lang="en-US" sz="1300" b="0" i="0" u="none" strike="noStrike">
                <a:solidFill>
                  <a:srgbClr val="DCDFE4"/>
                </a:solidFill>
                <a:latin typeface="Roboto Mono"/>
                <a:ea typeface="Roboto Mono"/>
                <a:cs typeface="Roboto Mono"/>
                <a:sym typeface="Roboto Mono"/>
              </a:rPr>
              <a:t>langchain.tools</a:t>
            </a:r>
            <a:r>
              <a:rPr lang="en-US" sz="1300" b="0" i="0" u="none" strike="noStrike">
                <a:solidFill>
                  <a:srgbClr val="C678DD"/>
                </a:solidFill>
                <a:latin typeface="Roboto Mono"/>
                <a:ea typeface="Roboto Mono"/>
                <a:cs typeface="Roboto Mono"/>
                <a:sym typeface="Roboto Mono"/>
              </a:rPr>
              <a:t>import</a:t>
            </a:r>
            <a:r>
              <a:rPr lang="en-US" sz="1300" b="0" i="0" u="none" strike="noStrike">
                <a:solidFill>
                  <a:srgbClr val="DCDFE4"/>
                </a:solidFill>
                <a:latin typeface="Roboto Mono"/>
                <a:ea typeface="Roboto Mono"/>
                <a:cs typeface="Roboto Mono"/>
                <a:sym typeface="Roboto Mono"/>
              </a:rPr>
              <a:t>tool</a:t>
            </a:r>
            <a:endParaRPr lang="en-US" sz="1100"/>
          </a:p>
          <a:p>
            <a:pPr indent="0" algn="l">
              <a:lnSpc>
                <a:spcPct val="100000"/>
              </a:lnSpc>
            </a:pPr>
            <a:r>
              <a:rPr lang="en-US" sz="1300" b="0" i="0" u="none" strike="noStrike">
                <a:solidFill>
                  <a:srgbClr val="5C6370"/>
                </a:solidFill>
                <a:latin typeface="Roboto Mono"/>
                <a:ea typeface="Roboto Mono"/>
                <a:cs typeface="Roboto Mono"/>
                <a:sym typeface="Roboto Mono"/>
              </a:rPr>
              <a:t># 定义自定义工具：使用装饰器注册</a:t>
            </a:r>
            <a:endParaRPr lang="en-US" sz="1300" b="0" i="0" u="none" strike="noStrike">
              <a:solidFill>
                <a:srgbClr val="5C6370"/>
              </a:solidFill>
              <a:latin typeface="Roboto Mono"/>
              <a:ea typeface="Roboto Mono"/>
              <a:cs typeface="Roboto Mono"/>
              <a:sym typeface="Roboto Mono"/>
            </a:endParaRPr>
          </a:p>
          <a:p>
            <a:pPr indent="0" algn="l">
              <a:lnSpc>
                <a:spcPct val="100000"/>
              </a:lnSpc>
            </a:pPr>
            <a:r>
              <a:rPr lang="en-US" sz="1300" b="0" i="0" u="none" strike="noStrike">
                <a:solidFill>
                  <a:srgbClr val="E5C07B"/>
                </a:solidFill>
                <a:latin typeface="Roboto Mono"/>
                <a:ea typeface="Roboto Mono"/>
                <a:cs typeface="Roboto Mono"/>
                <a:sym typeface="Roboto Mono"/>
              </a:rPr>
              <a:t>@tool</a:t>
            </a:r>
            <a:r>
              <a:rPr lang="en-US" sz="1300" b="0" i="0" u="none" strike="noStrike">
                <a:solidFill>
                  <a:srgbClr val="DCDFE4"/>
                </a:solidFill>
                <a:latin typeface="Roboto Mono"/>
                <a:ea typeface="Roboto Mono"/>
                <a:cs typeface="Roboto Mono"/>
                <a:sym typeface="Roboto Mono"/>
              </a:rPr>
              <a:t>(</a:t>
            </a:r>
            <a:r>
              <a:rPr lang="en-US" sz="1300" b="0" i="0" u="none" strike="noStrike">
                <a:solidFill>
                  <a:srgbClr val="98C379"/>
                </a:solidFill>
                <a:latin typeface="Roboto Mono"/>
                <a:ea typeface="Roboto Mono"/>
                <a:cs typeface="Roboto Mono"/>
                <a:sym typeface="Roboto Mono"/>
              </a:rPr>
              <a:t>"search"</a:t>
            </a:r>
            <a:r>
              <a:rPr lang="en-US" sz="1300" b="0" i="0" u="none" strike="noStrike">
                <a:solidFill>
                  <a:srgbClr val="DCDFE4"/>
                </a:solidFill>
                <a:latin typeface="Roboto Mono"/>
                <a:ea typeface="Roboto Mono"/>
                <a:cs typeface="Roboto Mono"/>
                <a:sym typeface="Roboto Mono"/>
              </a:rPr>
              <a:t>, return_direct=</a:t>
            </a:r>
            <a:r>
              <a:rPr lang="en-US" sz="1300" b="0" i="0" u="none" strike="noStrike">
                <a:solidFill>
                  <a:srgbClr val="D19A66"/>
                </a:solidFill>
                <a:latin typeface="Roboto Mono"/>
                <a:ea typeface="Roboto Mono"/>
                <a:cs typeface="Roboto Mono"/>
                <a:sym typeface="Roboto Mono"/>
              </a:rPr>
              <a:t>True</a:t>
            </a:r>
            <a:r>
              <a:rPr lang="en-US" sz="1300" b="0" i="0" u="none" strike="noStrike">
                <a:solidFill>
                  <a:srgbClr val="DCDFE4"/>
                </a:solidFill>
                <a:latin typeface="Roboto Mono"/>
                <a:ea typeface="Roboto Mono"/>
                <a:cs typeface="Roboto Mono"/>
                <a:sym typeface="Roboto Mono"/>
              </a:rPr>
              <a:t>)</a:t>
            </a:r>
            <a:endParaRPr lang="en-US" sz="1300" b="0" i="0" u="none" strike="noStrike">
              <a:solidFill>
                <a:srgbClr val="DCDFE4"/>
              </a:solidFill>
              <a:latin typeface="Roboto Mono"/>
              <a:ea typeface="Roboto Mono"/>
              <a:cs typeface="Roboto Mono"/>
              <a:sym typeface="Roboto Mono"/>
            </a:endParaRPr>
          </a:p>
          <a:p>
            <a:pPr indent="0" algn="l">
              <a:lnSpc>
                <a:spcPct val="100000"/>
              </a:lnSpc>
            </a:pPr>
            <a:r>
              <a:rPr lang="en-US" sz="1300" b="0" i="0" u="none" strike="noStrike">
                <a:solidFill>
                  <a:srgbClr val="C678DD"/>
                </a:solidFill>
                <a:latin typeface="Roboto Mono"/>
                <a:ea typeface="Roboto Mono"/>
                <a:cs typeface="Roboto Mono"/>
                <a:sym typeface="Roboto Mono"/>
              </a:rPr>
              <a:t>def</a:t>
            </a:r>
            <a:r>
              <a:rPr lang="en-US" sz="1300" b="0" i="0" u="none" strike="noStrike">
                <a:solidFill>
                  <a:srgbClr val="61AFEF"/>
                </a:solidFill>
                <a:latin typeface="Roboto Mono"/>
                <a:ea typeface="Roboto Mono"/>
                <a:cs typeface="Roboto Mono"/>
                <a:sym typeface="Roboto Mono"/>
              </a:rPr>
              <a:t>search_api</a:t>
            </a:r>
            <a:r>
              <a:rPr lang="en-US" sz="1300" b="0" i="0" u="none" strike="noStrike">
                <a:solidFill>
                  <a:srgbClr val="DCDFE4"/>
                </a:solidFill>
                <a:latin typeface="Roboto Mono"/>
                <a:ea typeface="Roboto Mono"/>
                <a:cs typeface="Roboto Mono"/>
                <a:sym typeface="Roboto Mono"/>
              </a:rPr>
              <a:t>(query:</a:t>
            </a:r>
            <a:r>
              <a:rPr lang="en-US" sz="1300" b="0" i="0" u="none" strike="noStrike">
                <a:solidFill>
                  <a:srgbClr val="E5C07B"/>
                </a:solidFill>
                <a:latin typeface="Roboto Mono"/>
                <a:ea typeface="Roboto Mono"/>
                <a:cs typeface="Roboto Mono"/>
                <a:sym typeface="Roboto Mono"/>
              </a:rPr>
              <a:t>str</a:t>
            </a:r>
            <a:r>
              <a:rPr lang="en-US" sz="1300" b="0" i="0" u="none" strike="noStrike">
                <a:solidFill>
                  <a:srgbClr val="DCDFE4"/>
                </a:solidFill>
                <a:latin typeface="Roboto Mono"/>
                <a:ea typeface="Roboto Mono"/>
                <a:cs typeface="Roboto Mono"/>
                <a:sym typeface="Roboto Mono"/>
              </a:rPr>
              <a:t>) -&gt;</a:t>
            </a:r>
            <a:r>
              <a:rPr lang="en-US" sz="1300" b="0" i="0" u="none" strike="noStrike">
                <a:solidFill>
                  <a:srgbClr val="E5C07B"/>
                </a:solidFill>
                <a:latin typeface="Roboto Mono"/>
                <a:ea typeface="Roboto Mono"/>
                <a:cs typeface="Roboto Mono"/>
                <a:sym typeface="Roboto Mono"/>
              </a:rPr>
              <a:t>str</a:t>
            </a:r>
            <a:r>
              <a:rPr lang="en-US" sz="1300" b="0" i="0" u="none" strike="noStrike">
                <a:solidFill>
                  <a:srgbClr val="DCDFE4"/>
                </a:solidFill>
                <a:latin typeface="Roboto Mono"/>
                <a:ea typeface="Roboto Mono"/>
                <a:cs typeface="Roboto Mono"/>
                <a:sym typeface="Roboto Mono"/>
              </a:rPr>
              <a:t>:</a:t>
            </a:r>
            <a:endParaRPr lang="en-US" sz="1300" b="0" i="0" u="none" strike="noStrike">
              <a:solidFill>
                <a:srgbClr val="DCDFE4"/>
              </a:solidFill>
              <a:latin typeface="Roboto Mono"/>
              <a:ea typeface="Roboto Mono"/>
              <a:cs typeface="Roboto Mono"/>
              <a:sym typeface="Roboto Mono"/>
            </a:endParaRPr>
          </a:p>
          <a:p>
            <a:pPr indent="0" algn="l">
              <a:lnSpc>
                <a:spcPct val="100000"/>
              </a:lnSpc>
            </a:pPr>
            <a:r>
              <a:rPr lang="en-US" sz="1300" b="0" i="0" u="none" strike="noStrike">
                <a:solidFill>
                  <a:srgbClr val="5C6370"/>
                </a:solidFill>
                <a:latin typeface="Roboto Mono"/>
                <a:ea typeface="Roboto Mono"/>
                <a:cs typeface="Roboto Mono"/>
                <a:sym typeface="Roboto Mono"/>
              </a:rPr>
              <a:t>"""模拟搜索工具，返回固定结果"""</a:t>
            </a:r>
            <a:endParaRPr lang="en-US" sz="1300" b="0" i="0" u="none" strike="noStrike">
              <a:solidFill>
                <a:srgbClr val="5C6370"/>
              </a:solidFill>
              <a:latin typeface="Roboto Mono"/>
              <a:ea typeface="Roboto Mono"/>
              <a:cs typeface="Roboto Mono"/>
              <a:sym typeface="Roboto Mono"/>
            </a:endParaRPr>
          </a:p>
          <a:p>
            <a:pPr indent="0" algn="l">
              <a:lnSpc>
                <a:spcPct val="100000"/>
              </a:lnSpc>
            </a:pPr>
            <a:r>
              <a:rPr lang="en-US" sz="1300" b="0" i="0" u="none" strike="noStrike">
                <a:solidFill>
                  <a:srgbClr val="C678DD"/>
                </a:solidFill>
                <a:latin typeface="Roboto Mono"/>
                <a:ea typeface="Roboto Mono"/>
                <a:cs typeface="Roboto Mono"/>
                <a:sym typeface="Roboto Mono"/>
              </a:rPr>
              <a:t>return</a:t>
            </a:r>
            <a:r>
              <a:rPr lang="en-US" sz="1300" b="0" i="0" u="none" strike="noStrike">
                <a:solidFill>
                  <a:srgbClr val="98C379"/>
                </a:solidFill>
                <a:latin typeface="Roboto Mono"/>
                <a:ea typeface="Roboto Mono"/>
                <a:cs typeface="Roboto Mono"/>
                <a:sym typeface="Roboto Mono"/>
              </a:rPr>
              <a:t>f"查询{query}得到: 苹果"</a:t>
            </a:r>
            <a:endParaRPr lang="en-US" sz="1300" b="0" i="0" u="none" strike="noStrike">
              <a:solidFill>
                <a:srgbClr val="98C379"/>
              </a:solidFill>
              <a:latin typeface="Roboto Mono"/>
              <a:ea typeface="Roboto Mono"/>
              <a:cs typeface="Roboto Mono"/>
              <a:sym typeface="Roboto Mono"/>
            </a:endParaRPr>
          </a:p>
          <a:p>
            <a:pPr indent="0" algn="l">
              <a:lnSpc>
                <a:spcPct val="100000"/>
              </a:lnSpc>
            </a:pPr>
          </a:p>
          <a:p>
            <a:pPr indent="0" algn="l">
              <a:lnSpc>
                <a:spcPct val="100000"/>
              </a:lnSpc>
            </a:pPr>
            <a:r>
              <a:rPr lang="en-US" sz="1300" b="0" i="0" u="none" strike="noStrike">
                <a:solidFill>
                  <a:srgbClr val="5C6370"/>
                </a:solidFill>
                <a:latin typeface="Roboto Mono"/>
                <a:ea typeface="Roboto Mono"/>
                <a:cs typeface="Roboto Mono"/>
                <a:sym typeface="Roboto Mono"/>
              </a:rPr>
              <a:t># 将工具绑定到模型实例</a:t>
            </a:r>
            <a:endParaRPr lang="en-US" sz="1300" b="0" i="0" u="none" strike="noStrike">
              <a:solidFill>
                <a:srgbClr val="5C6370"/>
              </a:solidFill>
              <a:latin typeface="Roboto Mono"/>
              <a:ea typeface="Roboto Mono"/>
              <a:cs typeface="Roboto Mono"/>
              <a:sym typeface="Roboto Mono"/>
            </a:endParaRPr>
          </a:p>
          <a:p>
            <a:pPr indent="0" algn="l">
              <a:lnSpc>
                <a:spcPct val="100000"/>
              </a:lnSpc>
            </a:pPr>
            <a:r>
              <a:rPr lang="en-US" sz="1300" b="0" i="0" u="none" strike="noStrike">
                <a:solidFill>
                  <a:srgbClr val="DCDFE4"/>
                </a:solidFill>
                <a:latin typeface="Roboto Mono"/>
                <a:ea typeface="Roboto Mono"/>
                <a:cs typeface="Roboto Mono"/>
                <a:sym typeface="Roboto Mono"/>
              </a:rPr>
              <a:t>tools = [search_api]</a:t>
            </a:r>
            <a:endParaRPr lang="en-US" sz="1300" b="0" i="0" u="none" strike="noStrike">
              <a:solidFill>
                <a:srgbClr val="DCDFE4"/>
              </a:solidFill>
              <a:latin typeface="Roboto Mono"/>
              <a:ea typeface="Roboto Mono"/>
              <a:cs typeface="Roboto Mono"/>
              <a:sym typeface="Roboto Mono"/>
            </a:endParaRPr>
          </a:p>
          <a:p>
            <a:pPr indent="0" algn="l">
              <a:lnSpc>
                <a:spcPct val="100000"/>
              </a:lnSpc>
            </a:pPr>
            <a:r>
              <a:rPr lang="en-US" sz="1300" b="0" i="0" u="none" strike="noStrike">
                <a:solidFill>
                  <a:srgbClr val="DCDFE4"/>
                </a:solidFill>
                <a:latin typeface="Roboto Mono"/>
                <a:ea typeface="Roboto Mono"/>
                <a:cs typeface="Roboto Mono"/>
                <a:sym typeface="Roboto Mono"/>
              </a:rPr>
              <a:t>llm_with_tools = azure_chat.bind_tools(tools)</a:t>
            </a:r>
            <a:endParaRPr lang="en-US" sz="1300" b="0" i="0" u="none" strike="noStrike">
              <a:solidFill>
                <a:srgbClr val="DCDFE4"/>
              </a:solidFill>
              <a:latin typeface="Roboto Mono"/>
              <a:ea typeface="Roboto Mono"/>
              <a:cs typeface="Roboto Mono"/>
              <a:sym typeface="Roboto Mono"/>
            </a:endParaRPr>
          </a:p>
          <a:p>
            <a:pPr indent="0" algn="l">
              <a:lnSpc>
                <a:spcPct val="100000"/>
              </a:lnSpc>
            </a:pPr>
          </a:p>
          <a:p>
            <a:pPr indent="0" algn="l">
              <a:lnSpc>
                <a:spcPct val="100000"/>
              </a:lnSpc>
            </a:pPr>
            <a:r>
              <a:rPr lang="en-US" sz="1300" b="0" i="0" u="none" strike="noStrike">
                <a:solidFill>
                  <a:srgbClr val="5C6370"/>
                </a:solidFill>
                <a:latin typeface="Roboto Mono"/>
                <a:ea typeface="Roboto Mono"/>
                <a:cs typeface="Roboto Mono"/>
                <a:sym typeface="Roboto Mono"/>
              </a:rPr>
              <a:t># 触发工具调用流程</a:t>
            </a:r>
            <a:endParaRPr lang="en-US" sz="1300" b="0" i="0" u="none" strike="noStrike">
              <a:solidFill>
                <a:srgbClr val="5C6370"/>
              </a:solidFill>
              <a:latin typeface="Roboto Mono"/>
              <a:ea typeface="Roboto Mono"/>
              <a:cs typeface="Roboto Mono"/>
              <a:sym typeface="Roboto Mono"/>
            </a:endParaRPr>
          </a:p>
          <a:p>
            <a:pPr indent="0" algn="l">
              <a:lnSpc>
                <a:spcPct val="100000"/>
              </a:lnSpc>
            </a:pPr>
            <a:r>
              <a:rPr lang="en-US" sz="1300" b="0" i="0" u="none" strike="noStrike">
                <a:solidFill>
                  <a:srgbClr val="DCDFE4"/>
                </a:solidFill>
                <a:latin typeface="Roboto Mono"/>
                <a:ea typeface="Roboto Mono"/>
                <a:cs typeface="Roboto Mono"/>
                <a:sym typeface="Roboto Mono"/>
              </a:rPr>
              <a:t>prompt =</a:t>
            </a:r>
            <a:r>
              <a:rPr lang="en-US" sz="1300" b="0" i="0" u="none" strike="noStrike">
                <a:solidFill>
                  <a:srgbClr val="98C379"/>
                </a:solidFill>
                <a:latin typeface="Roboto Mono"/>
                <a:ea typeface="Roboto Mono"/>
                <a:cs typeface="Roboto Mono"/>
                <a:sym typeface="Roboto Mono"/>
              </a:rPr>
              <a:t>"请使用中文随机说一个水果的名字。"</a:t>
            </a:r>
            <a:endParaRPr lang="en-US" sz="1300" b="0" i="0" u="none" strike="noStrike">
              <a:solidFill>
                <a:srgbClr val="98C379"/>
              </a:solidFill>
              <a:latin typeface="Roboto Mono"/>
              <a:ea typeface="Roboto Mono"/>
              <a:cs typeface="Roboto Mono"/>
              <a:sym typeface="Roboto Mono"/>
            </a:endParaRPr>
          </a:p>
          <a:p>
            <a:pPr indent="0" algn="l">
              <a:lnSpc>
                <a:spcPct val="100000"/>
              </a:lnSpc>
            </a:pPr>
            <a:r>
              <a:rPr lang="en-US" sz="1300" b="0" i="0" u="none" strike="noStrike">
                <a:solidFill>
                  <a:srgbClr val="DCDFE4"/>
                </a:solidFill>
                <a:latin typeface="Roboto Mono"/>
                <a:ea typeface="Roboto Mono"/>
                <a:cs typeface="Roboto Mono"/>
                <a:sym typeface="Roboto Mono"/>
              </a:rPr>
              <a:t>tool_calls = llm_with_tools.invoke(prompt).tool_calls</a:t>
            </a:r>
            <a:endParaRPr lang="en-US" sz="1300" b="0" i="0" u="none" strike="noStrike">
              <a:solidFill>
                <a:srgbClr val="DCDFE4"/>
              </a:solidFill>
              <a:latin typeface="Roboto Mono"/>
              <a:ea typeface="Roboto Mono"/>
              <a:cs typeface="Roboto Mono"/>
              <a:sym typeface="Roboto Mono"/>
            </a:endParaRPr>
          </a:p>
          <a:p>
            <a:pPr indent="0" algn="l">
              <a:lnSpc>
                <a:spcPct val="100000"/>
              </a:lnSpc>
            </a:pPr>
            <a:r>
              <a:rPr lang="en-US" sz="1300" b="0" i="0" u="none" strike="noStrike">
                <a:solidFill>
                  <a:srgbClr val="DCDFE4"/>
                </a:solidFill>
                <a:latin typeface="Roboto Mono"/>
                <a:ea typeface="Roboto Mono"/>
                <a:cs typeface="Roboto Mono"/>
                <a:sym typeface="Roboto Mono"/>
              </a:rPr>
              <a:t>result = search_api.invoke(tool_calls[0][</a:t>
            </a:r>
            <a:r>
              <a:rPr lang="en-US" sz="1300" b="0" i="0" u="none" strike="noStrike">
                <a:solidFill>
                  <a:srgbClr val="98C379"/>
                </a:solidFill>
                <a:latin typeface="Roboto Mono"/>
                <a:ea typeface="Roboto Mono"/>
                <a:cs typeface="Roboto Mono"/>
                <a:sym typeface="Roboto Mono"/>
              </a:rPr>
              <a:t>'args'</a:t>
            </a:r>
            <a:r>
              <a:rPr lang="en-US" sz="1300" b="0" i="0" u="none" strike="noStrike">
                <a:solidFill>
                  <a:srgbClr val="DCDFE4"/>
                </a:solidFill>
                <a:latin typeface="Roboto Mono"/>
                <a:ea typeface="Roboto Mono"/>
                <a:cs typeface="Roboto Mono"/>
                <a:sym typeface="Roboto Mono"/>
              </a:rPr>
              <a:t>])</a:t>
            </a:r>
            <a:endParaRPr lang="en-US" sz="1300" b="0" i="0" u="none" strike="noStrike">
              <a:solidFill>
                <a:srgbClr val="DCDFE4"/>
              </a:solidFill>
              <a:latin typeface="Roboto Mono"/>
              <a:ea typeface="Roboto Mono"/>
              <a:cs typeface="Roboto Mono"/>
              <a:sym typeface="Roboto Mono"/>
            </a:endParaRPr>
          </a:p>
          <a:p>
            <a:pPr indent="0" algn="l">
              <a:lnSpc>
                <a:spcPct val="100000"/>
              </a:lnSpc>
            </a:pPr>
            <a:r>
              <a:rPr lang="en-US" sz="1300" b="0" i="0" u="none" strike="noStrike">
                <a:solidFill>
                  <a:srgbClr val="DCDFE4"/>
                </a:solidFill>
                <a:latin typeface="Roboto Mono"/>
                <a:ea typeface="Roboto Mono"/>
                <a:cs typeface="Roboto Mono"/>
                <a:sym typeface="Roboto Mono"/>
              </a:rPr>
              <a:t>print(result)</a:t>
            </a:r>
            <a:r>
              <a:rPr lang="en-US" sz="1300" b="0" i="0" u="none" strike="noStrike">
                <a:solidFill>
                  <a:srgbClr val="5C6370"/>
                </a:solidFill>
                <a:latin typeface="Roboto Mono"/>
                <a:ea typeface="Roboto Mono"/>
                <a:cs typeface="Roboto Mono"/>
                <a:sym typeface="Roboto Mono"/>
              </a:rPr>
              <a:t># 输出：查询水果得到: 苹果</a:t>
            </a:r>
            <a:endParaRPr lang="en-US" sz="1300" b="0" i="0" u="none" strike="noStrike">
              <a:solidFill>
                <a:srgbClr val="5C6370"/>
              </a:solidFill>
              <a:latin typeface="Roboto Mono"/>
              <a:ea typeface="Roboto Mono"/>
              <a:cs typeface="Roboto Mono"/>
              <a:sym typeface="Roboto Mono"/>
            </a:endParaRPr>
          </a:p>
        </p:txBody>
      </p:sp>
      <p:sp>
        <p:nvSpPr>
          <p:cNvPr id="15" name="AutoShape 15"/>
          <p:cNvSpPr/>
          <p:nvPr/>
        </p:nvSpPr>
        <p:spPr>
          <a:xfrm>
            <a:off x="762000" y="6096000"/>
            <a:ext cx="10668000" cy="508000"/>
          </a:xfrm>
          <a:prstGeom prst="roundRect">
            <a:avLst>
              <a:gd name="adj" fmla="val 25000"/>
            </a:avLst>
          </a:prstGeom>
          <a:solidFill>
            <a:srgbClr val="FF9800">
              <a:alpha val="10000"/>
            </a:srgbClr>
          </a:solidFill>
          <a:ln w="12700" cap="flat" cmpd="sng">
            <a:solidFill>
              <a:srgbClr val="FF9800">
                <a:alpha val="10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6197600"/>
            <a:ext cx="304800" cy="304800"/>
          </a:xfrm>
          <a:prstGeom prst="rect">
            <a:avLst/>
          </a:prstGeom>
        </p:spPr>
      </p:pic>
      <p:sp>
        <p:nvSpPr>
          <p:cNvPr id="17" name="AutoShape 17"/>
          <p:cNvSpPr/>
          <p:nvPr/>
        </p:nvSpPr>
        <p:spPr>
          <a:xfrm>
            <a:off x="1397000" y="6159500"/>
            <a:ext cx="990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E65100"/>
                </a:solidFill>
                <a:latin typeface="Noto Sans SC"/>
                <a:ea typeface="Noto Sans SC"/>
                <a:cs typeface="Noto Sans SC"/>
                <a:sym typeface="Noto Sans SC"/>
              </a:rPr>
              <a:t>关键提示：通过 `bind_tools` 方法，模型不再直接生成答案，而是生成符合特定格式的工具调用请求，从而实现能力的无限扩展。</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62611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模型包装器 - LLM模型自定义</a:t>
            </a:r>
            <a:endParaRPr lang="en-US" sz="1100"/>
          </a:p>
        </p:txBody>
      </p:sp>
      <p:sp>
        <p:nvSpPr>
          <p:cNvPr id="3" name="AutoShape 3"/>
          <p:cNvSpPr/>
          <p:nvPr/>
        </p:nvSpPr>
        <p:spPr>
          <a:xfrm>
            <a:off x="762000" y="1270000"/>
            <a:ext cx="10668000" cy="1143000"/>
          </a:xfrm>
          <a:prstGeom prst="roundRect">
            <a:avLst>
              <a:gd name="adj" fmla="val 11111"/>
            </a:avLst>
          </a:prstGeom>
          <a:solidFill>
            <a:srgbClr val="FFFFFF">
              <a:alpha val="100000"/>
            </a:srgbClr>
          </a:solidFill>
          <a:ln w="25400" cap="flat" cmpd="sng">
            <a:noFill/>
            <a:prstDash val="solid"/>
            <a:round/>
          </a:ln>
          <a:effectLst>
            <a:outerShdw blurRad="127000" dist="50800" dir="2700000" algn="tl" rotWithShape="0">
              <a:srgbClr val="0277BD">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587500"/>
            <a:ext cx="508000" cy="508000"/>
          </a:xfrm>
          <a:prstGeom prst="rect">
            <a:avLst/>
          </a:prstGeom>
        </p:spPr>
      </p:pic>
      <p:sp>
        <p:nvSpPr>
          <p:cNvPr id="5" name="AutoShape 5"/>
          <p:cNvSpPr/>
          <p:nvPr/>
        </p:nvSpPr>
        <p:spPr>
          <a:xfrm>
            <a:off x="1651000" y="1460500"/>
            <a:ext cx="952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自定义LLM包装器方法</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核心在于继承</a:t>
            </a:r>
            <a:r>
              <a:rPr lang="en-US" sz="1400" b="1" i="0" u="none" strike="noStrike">
                <a:solidFill>
                  <a:srgbClr val="FF9800"/>
                </a:solidFill>
                <a:latin typeface="Noto Sans SC"/>
                <a:ea typeface="Noto Sans SC"/>
                <a:cs typeface="Noto Sans SC"/>
                <a:sym typeface="Noto Sans SC"/>
              </a:rPr>
              <a:t>LLM</a:t>
            </a:r>
            <a:r>
              <a:rPr lang="en-US" sz="1400" b="0" i="0" u="none" strike="noStrike">
                <a:solidFill>
                  <a:srgbClr val="757575"/>
                </a:solidFill>
                <a:latin typeface="Noto Sans SC"/>
                <a:ea typeface="Noto Sans SC"/>
                <a:cs typeface="Noto Sans SC"/>
                <a:sym typeface="Noto Sans SC"/>
              </a:rPr>
              <a:t>接口，并实现其规定的抽象方法，从而适配任意自定义大语言模型。</a:t>
            </a:r>
            <a:endParaRPr lang="en-US" sz="1400" b="0" i="0" u="none" strike="noStrike">
              <a:solidFill>
                <a:srgbClr val="757575"/>
              </a:solidFill>
              <a:latin typeface="Noto Sans SC"/>
              <a:ea typeface="Noto Sans SC"/>
              <a:cs typeface="Noto Sans SC"/>
              <a:sym typeface="Noto Sans SC"/>
            </a:endParaRPr>
          </a:p>
        </p:txBody>
      </p:sp>
      <p:sp>
        <p:nvSpPr>
          <p:cNvPr id="6" name="AutoShape 6"/>
          <p:cNvSpPr/>
          <p:nvPr/>
        </p:nvSpPr>
        <p:spPr>
          <a:xfrm>
            <a:off x="762000" y="2667000"/>
            <a:ext cx="10668000" cy="2540000"/>
          </a:xfrm>
          <a:prstGeom prst="roundRect">
            <a:avLst>
              <a:gd name="adj" fmla="val 5000"/>
            </a:avLst>
          </a:prstGeom>
          <a:solidFill>
            <a:srgbClr val="FFFFFF">
              <a:alpha val="100000"/>
            </a:srgbClr>
          </a:solidFill>
          <a:ln w="25400" cap="flat" cmpd="sng">
            <a:noFill/>
            <a:prstDash val="solid"/>
            <a:round/>
          </a:ln>
          <a:effectLst>
            <a:outerShdw blurRad="127000" dist="50800" dir="2700000" algn="tl" rotWithShape="0">
              <a:srgbClr val="0277BD">
                <a:alpha val="10000"/>
              </a:srgbClr>
            </a:outerShdw>
          </a:effectLst>
        </p:spPr>
        <p:txBody>
          <a:bodyPr vert="horz" wrap="square" lIns="63500" tIns="63500" rIns="63500" bIns="63500" rtlCol="0" anchor="ctr"/>
          <a:lstStyle/>
          <a:p>
            <a:pPr algn="ctr">
              <a:defRPr/>
            </a:pPr>
          </a:p>
        </p:txBody>
      </p:sp>
      <p:sp>
        <p:nvSpPr>
          <p:cNvPr id="7" name="AutoShape 7"/>
          <p:cNvSpPr/>
          <p:nvPr/>
        </p:nvSpPr>
        <p:spPr>
          <a:xfrm>
            <a:off x="1016000" y="2794000"/>
            <a:ext cx="1016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核心方法说明</a:t>
            </a:r>
            <a:endParaRPr lang="en-US" sz="1100"/>
          </a:p>
        </p:txBody>
      </p:sp>
      <p:graphicFrame>
        <p:nvGraphicFramePr>
          <p:cNvPr id="8" name="Table 8"/>
          <p:cNvGraphicFramePr>
            <a:graphicFrameLocks noGrp="1"/>
          </p:cNvGraphicFramePr>
          <p:nvPr/>
        </p:nvGraphicFramePr>
        <p:xfrm>
          <a:off x="1016000" y="3238500"/>
          <a:ext cx="9652000" cy="1981200"/>
        </p:xfrm>
        <a:graphic>
          <a:graphicData uri="http://schemas.openxmlformats.org/drawingml/2006/table">
            <a:tbl>
              <a:tblPr>
                <a:effectLst/>
              </a:tblPr>
              <a:tblGrid>
                <a:gridCol w="1524000"/>
                <a:gridCol w="1270000"/>
                <a:gridCol w="6858000"/>
              </a:tblGrid>
              <a:tr h="457200">
                <a:tc>
                  <a:txBody>
                    <a:bodyPr rtlCol="0"/>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方法</a:t>
                      </a:r>
                      <a:endParaRPr lang="en-US" sz="1100"/>
                    </a:p>
                  </a:txBody>
                  <a:tcPr marL="101600" marR="101600" marT="101600" marB="101600" anchor="t" anchorCtr="0">
                    <a:lnL>
                      <a:noFill/>
                    </a:lnL>
                    <a:lnR>
                      <a:noFill/>
                    </a:lnR>
                    <a:lnT>
                      <a:noFill/>
                    </a:lnT>
                    <a:lnB>
                      <a:noFill/>
                    </a:lnB>
                    <a:solidFill>
                      <a:srgbClr val="0277BD">
                        <a:alpha val="100000"/>
                      </a:srgbClr>
                    </a:solidFill>
                  </a:tcPr>
                </a:tc>
                <a:tc>
                  <a:txBody>
                    <a:bodyPr rtlCol="0"/>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是否必须</a:t>
                      </a:r>
                      <a:endParaRPr lang="en-US" sz="1100"/>
                    </a:p>
                  </a:txBody>
                  <a:tcPr marL="101600" marR="101600" marT="101600" marB="101600" anchor="t" anchorCtr="0">
                    <a:lnL>
                      <a:noFill/>
                    </a:lnL>
                    <a:lnR>
                      <a:noFill/>
                    </a:lnR>
                    <a:lnT>
                      <a:noFill/>
                    </a:lnT>
                    <a:lnB>
                      <a:noFill/>
                    </a:lnB>
                    <a:solidFill>
                      <a:srgbClr val="0277BD">
                        <a:alpha val="100000"/>
                      </a:srgbClr>
                    </a:solidFill>
                  </a:tcPr>
                </a:tc>
                <a:tc>
                  <a:txBody>
                    <a:bodyPr rtlCol="0"/>
                    <a:lstStyle/>
                    <a:p>
                      <a:pPr marL="127000" indent="0" algn="l">
                        <a:lnSpc>
                          <a:spcPct val="100000"/>
                        </a:lnSpc>
                        <a:defRPr/>
                      </a:pPr>
                      <a:r>
                        <a:rPr lang="en-US" sz="1400" b="1" i="0" u="none" strike="noStrike">
                          <a:solidFill>
                            <a:srgbClr val="FFFFFF"/>
                          </a:solidFill>
                          <a:latin typeface="Noto Sans SC"/>
                          <a:ea typeface="Noto Sans SC"/>
                          <a:cs typeface="Noto Sans SC"/>
                          <a:sym typeface="Noto Sans SC"/>
                        </a:rPr>
                        <a:t>描述</a:t>
                      </a:r>
                      <a:endParaRPr lang="en-US" sz="1100"/>
                    </a:p>
                  </a:txBody>
                  <a:tcPr marL="101600" marR="101600" marT="101600" marB="101600" anchor="t" anchorCtr="0">
                    <a:lnL>
                      <a:noFill/>
                    </a:lnL>
                    <a:lnR>
                      <a:noFill/>
                    </a:lnR>
                    <a:lnT>
                      <a:noFill/>
                    </a:lnT>
                    <a:lnB>
                      <a:noFill/>
                    </a:lnB>
                    <a:solidFill>
                      <a:srgbClr val="0277BD">
                        <a:alpha val="100000"/>
                      </a:srgbClr>
                    </a:solidFill>
                  </a:tcPr>
                </a:tc>
              </a:tr>
              <a:tr h="508000">
                <a:tc>
                  <a:txBody>
                    <a:bodyPr rtlCol="0"/>
                    <a:lstStyle/>
                    <a:p>
                      <a:pPr indent="0" algn="ctr">
                        <a:lnSpc>
                          <a:spcPct val="100000"/>
                        </a:lnSpc>
                        <a:defRPr/>
                      </a:pPr>
                      <a:r>
                        <a:rPr lang="en-US" sz="1400" b="1" i="0" u="none" strike="noStrike">
                          <a:solidFill>
                            <a:srgbClr val="FF9800"/>
                          </a:solidFill>
                          <a:latin typeface="Noto Sans SC"/>
                          <a:ea typeface="Noto Sans SC"/>
                          <a:cs typeface="Noto Sans SC"/>
                          <a:sym typeface="Noto Sans SC"/>
                        </a:rPr>
                        <a:t>_call</a:t>
                      </a:r>
                      <a:endParaRPr lang="en-US" sz="1100"/>
                    </a:p>
                  </a:txBody>
                  <a:tcPr marL="101600" marR="101600" marT="101600" marB="101600" anchor="t" anchorCtr="0">
                    <a:lnL>
                      <a:noFill/>
                    </a:lnL>
                    <a:lnR>
                      <a:noFill/>
                    </a:lnR>
                    <a:lnT>
                      <a:noFill/>
                    </a:lnT>
                    <a:lnB>
                      <a:noFill/>
                    </a:lnB>
                    <a:solidFill>
                      <a:srgbClr val="E0F7FA">
                        <a:alpha val="50000"/>
                      </a:srgbClr>
                    </a:solidFill>
                  </a:tcPr>
                </a:tc>
                <a:tc>
                  <a:txBody>
                    <a:bodyPr rtlCol="0"/>
                    <a:lstStyle/>
                    <a:p>
                      <a:pPr indent="0" algn="ctr">
                        <a:lnSpc>
                          <a:spcPct val="100000"/>
                        </a:lnSpc>
                        <a:defRPr/>
                      </a:pPr>
                      <a:r>
                        <a:rPr lang="en-US" sz="1400" b="1" i="0" u="none" strike="noStrike">
                          <a:solidFill>
                            <a:srgbClr val="0277BD"/>
                          </a:solidFill>
                          <a:latin typeface="Noto Sans SC"/>
                          <a:ea typeface="Noto Sans SC"/>
                          <a:cs typeface="Noto Sans SC"/>
                          <a:sym typeface="Noto Sans SC"/>
                        </a:rPr>
                        <a:t>是</a:t>
                      </a:r>
                      <a:endParaRPr lang="en-US" sz="1100"/>
                    </a:p>
                  </a:txBody>
                  <a:tcPr marL="101600" marR="101600" marT="101600" marB="101600" anchor="t" anchorCtr="0">
                    <a:lnL>
                      <a:noFill/>
                    </a:lnL>
                    <a:lnR>
                      <a:noFill/>
                    </a:lnR>
                    <a:lnT>
                      <a:noFill/>
                    </a:lnT>
                    <a:lnB>
                      <a:noFill/>
                    </a:lnB>
                    <a:solidFill>
                      <a:srgbClr val="E0F7FA">
                        <a:alpha val="50000"/>
                      </a:srgbClr>
                    </a:solidFill>
                  </a:tcPr>
                </a:tc>
                <a:tc>
                  <a:txBody>
                    <a:bodyPr rtlCol="0"/>
                    <a:lstStyle/>
                    <a:p>
                      <a:pPr marL="127000" indent="0" algn="l">
                        <a:lnSpc>
                          <a:spcPct val="100000"/>
                        </a:lnSpc>
                        <a:defRPr/>
                      </a:pPr>
                      <a:r>
                        <a:rPr lang="en-US" sz="1300" b="0" i="0" u="none" strike="noStrike">
                          <a:solidFill>
                            <a:srgbClr val="757575"/>
                          </a:solidFill>
                          <a:latin typeface="Noto Sans SC"/>
                          <a:ea typeface="Noto Sans SC"/>
                          <a:cs typeface="Noto Sans SC"/>
                          <a:sym typeface="Noto Sans SC"/>
                        </a:rPr>
                        <a:t>接收一个字符串和可选的停用词，返回一个字符串，是 invoke 方法的底层实现。</a:t>
                      </a:r>
                      <a:endParaRPr lang="en-US" sz="1100"/>
                    </a:p>
                  </a:txBody>
                  <a:tcPr marL="101600" marR="101600" marT="101600" marB="101600" anchor="t" anchorCtr="0">
                    <a:lnL>
                      <a:noFill/>
                    </a:lnL>
                    <a:lnR>
                      <a:noFill/>
                    </a:lnR>
                    <a:lnT>
                      <a:noFill/>
                    </a:lnT>
                    <a:lnB>
                      <a:noFill/>
                    </a:lnB>
                    <a:solidFill>
                      <a:srgbClr val="E0F7FA">
                        <a:alpha val="50000"/>
                      </a:srgbClr>
                    </a:solidFill>
                  </a:tcPr>
                </a:tc>
              </a:tr>
              <a:tr h="508000">
                <a:tc>
                  <a:txBody>
                    <a:bodyPr rtlCol="0"/>
                    <a:lstStyle/>
                    <a:p>
                      <a:pPr indent="0" algn="ctr">
                        <a:lnSpc>
                          <a:spcPct val="100000"/>
                        </a:lnSpc>
                        <a:defRPr/>
                      </a:pPr>
                      <a:r>
                        <a:rPr lang="en-US" sz="1400" b="1" i="0" u="none" strike="noStrike">
                          <a:solidFill>
                            <a:srgbClr val="FF9800"/>
                          </a:solidFill>
                          <a:latin typeface="Noto Sans SC"/>
                          <a:ea typeface="Noto Sans SC"/>
                          <a:cs typeface="Noto Sans SC"/>
                          <a:sym typeface="Noto Sans SC"/>
                        </a:rPr>
                        <a:t>_llm_type</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ctr">
                        <a:lnSpc>
                          <a:spcPct val="100000"/>
                        </a:lnSpc>
                        <a:defRPr/>
                      </a:pPr>
                      <a:r>
                        <a:rPr lang="en-US" sz="1400" b="1" i="0" u="none" strike="noStrike">
                          <a:solidFill>
                            <a:srgbClr val="0277BD"/>
                          </a:solidFill>
                          <a:latin typeface="Noto Sans SC"/>
                          <a:ea typeface="Noto Sans SC"/>
                          <a:cs typeface="Noto Sans SC"/>
                          <a:sym typeface="Noto Sans SC"/>
                        </a:rPr>
                        <a:t>是</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marL="127000" indent="0" algn="l">
                        <a:lnSpc>
                          <a:spcPct val="100000"/>
                        </a:lnSpc>
                        <a:defRPr/>
                      </a:pPr>
                      <a:r>
                        <a:rPr lang="en-US" sz="1300" b="0" i="0" u="none" strike="noStrike">
                          <a:solidFill>
                            <a:srgbClr val="757575"/>
                          </a:solidFill>
                          <a:latin typeface="Noto Sans SC"/>
                          <a:ea typeface="Noto Sans SC"/>
                          <a:cs typeface="Noto Sans SC"/>
                          <a:sym typeface="Noto Sans SC"/>
                        </a:rPr>
                        <a:t>返回一个字符串，用于标识模型类型，仅作记录用。</a:t>
                      </a:r>
                      <a:endParaRPr lang="en-US" sz="1100"/>
                    </a:p>
                  </a:txBody>
                  <a:tcPr marL="101600" marR="101600" marT="101600" marB="101600" anchor="t" anchorCtr="0">
                    <a:lnL>
                      <a:noFill/>
                    </a:lnL>
                    <a:lnR>
                      <a:noFill/>
                    </a:lnR>
                    <a:lnT>
                      <a:noFill/>
                    </a:lnT>
                    <a:lnB>
                      <a:noFill/>
                    </a:lnB>
                    <a:solidFill>
                      <a:srgbClr val="FFFFFF">
                        <a:alpha val="100000"/>
                      </a:srgbClr>
                    </a:solidFill>
                  </a:tcPr>
                </a:tc>
              </a:tr>
              <a:tr h="508000">
                <a:tc>
                  <a:txBody>
                    <a:bodyPr rtlCol="0"/>
                    <a:lstStyle/>
                    <a:p>
                      <a:pPr indent="0" algn="ctr">
                        <a:lnSpc>
                          <a:spcPct val="100000"/>
                        </a:lnSpc>
                        <a:defRPr/>
                      </a:pPr>
                      <a:r>
                        <a:rPr lang="en-US" sz="1400" b="1" i="0" u="none" strike="noStrike">
                          <a:solidFill>
                            <a:srgbClr val="FF9800"/>
                          </a:solidFill>
                          <a:latin typeface="Noto Sans SC"/>
                          <a:ea typeface="Noto Sans SC"/>
                          <a:cs typeface="Noto Sans SC"/>
                          <a:sym typeface="Noto Sans SC"/>
                        </a:rPr>
                        <a:t>_identifying_params</a:t>
                      </a:r>
                      <a:endParaRPr lang="en-US" sz="1100"/>
                    </a:p>
                  </a:txBody>
                  <a:tcPr marL="101600" marR="101600" marT="101600" marB="101600" anchor="t" anchorCtr="0">
                    <a:lnL>
                      <a:noFill/>
                    </a:lnL>
                    <a:lnR>
                      <a:noFill/>
                    </a:lnR>
                    <a:lnT>
                      <a:noFill/>
                    </a:lnT>
                    <a:lnB>
                      <a:noFill/>
                    </a:lnB>
                    <a:solidFill>
                      <a:srgbClr val="E0F7FA">
                        <a:alpha val="50000"/>
                      </a:srgbClr>
                    </a:solidFill>
                  </a:tcPr>
                </a:tc>
                <a:tc>
                  <a:txBody>
                    <a:bodyPr rtlCol="0"/>
                    <a:lstStyle/>
                    <a:p>
                      <a:pPr indent="0" algn="ctr">
                        <a:lnSpc>
                          <a:spcPct val="100000"/>
                        </a:lnSpc>
                        <a:defRPr/>
                      </a:pPr>
                      <a:r>
                        <a:rPr lang="en-US" sz="1400" b="0" i="0" u="none" strike="noStrike">
                          <a:solidFill>
                            <a:srgbClr val="757575"/>
                          </a:solidFill>
                          <a:latin typeface="Noto Sans SC"/>
                          <a:ea typeface="Noto Sans SC"/>
                          <a:cs typeface="Noto Sans SC"/>
                          <a:sym typeface="Noto Sans SC"/>
                        </a:rPr>
                        <a:t>否</a:t>
                      </a:r>
                      <a:endParaRPr lang="en-US" sz="1100"/>
                    </a:p>
                  </a:txBody>
                  <a:tcPr marL="101600" marR="101600" marT="101600" marB="101600" anchor="t" anchorCtr="0">
                    <a:lnL>
                      <a:noFill/>
                    </a:lnL>
                    <a:lnR>
                      <a:noFill/>
                    </a:lnR>
                    <a:lnT>
                      <a:noFill/>
                    </a:lnT>
                    <a:lnB>
                      <a:noFill/>
                    </a:lnB>
                    <a:solidFill>
                      <a:srgbClr val="E0F7FA">
                        <a:alpha val="50000"/>
                      </a:srgbClr>
                    </a:solidFill>
                  </a:tcPr>
                </a:tc>
                <a:tc>
                  <a:txBody>
                    <a:bodyPr rtlCol="0"/>
                    <a:lstStyle/>
                    <a:p>
                      <a:pPr marL="127000" indent="0" algn="l">
                        <a:lnSpc>
                          <a:spcPct val="100000"/>
                        </a:lnSpc>
                        <a:defRPr/>
                      </a:pPr>
                      <a:r>
                        <a:rPr lang="en-US" sz="1300" b="0" i="0" u="none" strike="noStrike">
                          <a:solidFill>
                            <a:srgbClr val="757575"/>
                          </a:solidFill>
                          <a:latin typeface="Noto Sans SC"/>
                          <a:ea typeface="Noto Sans SC"/>
                          <a:cs typeface="Noto Sans SC"/>
                          <a:sym typeface="Noto Sans SC"/>
                        </a:rPr>
                        <a:t>返回一个字典，包含模型的识别参数，用于打印和调试。</a:t>
                      </a:r>
                      <a:endParaRPr lang="en-US" sz="1100"/>
                    </a:p>
                  </a:txBody>
                  <a:tcPr marL="101600" marR="101600" marT="101600" marB="101600" anchor="t" anchorCtr="0">
                    <a:lnL>
                      <a:noFill/>
                    </a:lnL>
                    <a:lnR>
                      <a:noFill/>
                    </a:lnR>
                    <a:lnT>
                      <a:noFill/>
                    </a:lnT>
                    <a:lnB>
                      <a:noFill/>
                    </a:lnB>
                    <a:solidFill>
                      <a:srgbClr val="E0F7FA">
                        <a:alpha val="50000"/>
                      </a:srgbClr>
                    </a:solidFill>
                  </a:tcPr>
                </a:tc>
              </a:tr>
            </a:tbl>
          </a:graphicData>
        </a:graphic>
      </p:graphicFrame>
      <p:sp>
        <p:nvSpPr>
          <p:cNvPr id="9" name="AutoShape 9"/>
          <p:cNvSpPr/>
          <p:nvPr/>
        </p:nvSpPr>
        <p:spPr>
          <a:xfrm>
            <a:off x="0" y="6604000"/>
            <a:ext cx="12192000" cy="2540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762000" y="5461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1" u="none" strike="noStrike">
                <a:solidFill>
                  <a:srgbClr val="757575"/>
                </a:solidFill>
                <a:latin typeface="Noto Sans SC"/>
                <a:ea typeface="Noto Sans SC"/>
                <a:cs typeface="Noto Sans SC"/>
                <a:sym typeface="Noto Sans SC"/>
              </a:rPr>
              <a:t>提示：通过这种方式，您可以将任何自定义的大语言模型无缝集成到 LangChain 生态系统中。</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635000"/>
            <a:ext cx="3810000" cy="3810000"/>
          </a:xfrm>
          <a:prstGeom prst="ellipse">
            <a:avLst/>
          </a:prstGeom>
          <a:solidFill>
            <a:srgbClr val="0277BD">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287000" y="4953000"/>
            <a:ext cx="2540000" cy="2540000"/>
          </a:xfrm>
          <a:prstGeom prst="ellipse">
            <a:avLst/>
          </a:prstGeom>
          <a:solidFill>
            <a:srgbClr val="FF9800">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16000" y="1397000"/>
            <a:ext cx="10160000" cy="4064000"/>
          </a:xfrm>
          <a:prstGeom prst="roundRect">
            <a:avLst>
              <a:gd name="adj" fmla="val 3125"/>
            </a:avLst>
          </a:prstGeom>
          <a:solidFill>
            <a:srgbClr val="FFFFFF">
              <a:alpha val="100000"/>
            </a:srgbClr>
          </a:solidFill>
          <a:ln w="25400" cap="flat" cmpd="sng">
            <a:noFill/>
            <a:prstDash val="solid"/>
            <a:round/>
          </a:ln>
          <a:effectLst>
            <a:outerShdw blurRad="254000" dist="127000" dir="5400000" algn="tl" rotWithShape="0">
              <a:srgbClr val="0277BD">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1778000"/>
            <a:ext cx="812800" cy="812800"/>
          </a:xfrm>
          <a:prstGeom prst="rect">
            <a:avLst/>
          </a:prstGeom>
        </p:spPr>
      </p:pic>
      <p:sp>
        <p:nvSpPr>
          <p:cNvPr id="6" name="AutoShape 6"/>
          <p:cNvSpPr/>
          <p:nvPr/>
        </p:nvSpPr>
        <p:spPr>
          <a:xfrm>
            <a:off x="736600" y="2794000"/>
            <a:ext cx="107188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1" i="0" u="none" strike="noStrike">
                <a:solidFill>
                  <a:srgbClr val="0277BD"/>
                </a:solidFill>
                <a:latin typeface="Noto Sans SC"/>
                <a:ea typeface="Noto Sans SC"/>
                <a:cs typeface="Noto Sans SC"/>
                <a:sym typeface="Noto Sans SC"/>
              </a:rPr>
              <a:t>8.3 数据连接（Data Connection）</a:t>
            </a:r>
            <a:endParaRPr lang="en-US" sz="1100"/>
          </a:p>
        </p:txBody>
      </p:sp>
      <p:cxnSp>
        <p:nvCxnSpPr>
          <p:cNvPr id="7" name="Connector 7"/>
          <p:cNvCxnSpPr/>
          <p:nvPr/>
        </p:nvCxnSpPr>
        <p:spPr>
          <a:xfrm rot="-34376">
            <a:off x="5461032" y="3549650"/>
            <a:ext cx="1270000" cy="12700"/>
          </a:xfrm>
          <a:prstGeom prst="line">
            <a:avLst/>
          </a:prstGeom>
          <a:solidFill>
            <a:srgbClr val="DEE0E3">
              <a:alpha val="100000"/>
            </a:srgbClr>
          </a:solidFill>
          <a:ln w="25400" cap="flat" cmpd="sng">
            <a:solidFill>
              <a:srgbClr val="FF9800">
                <a:alpha val="100000"/>
              </a:srgbClr>
            </a:solidFill>
            <a:prstDash val="solid"/>
            <a:round/>
            <a:headEnd type="none" w="lg" len="lg"/>
            <a:tailEnd type="none" w="lg" len="lg"/>
          </a:ln>
        </p:spPr>
      </p:cxnSp>
      <p:sp>
        <p:nvSpPr>
          <p:cNvPr id="8" name="AutoShape 8"/>
          <p:cNvSpPr/>
          <p:nvPr/>
        </p:nvSpPr>
        <p:spPr>
          <a:xfrm>
            <a:off x="1651000" y="3810000"/>
            <a:ext cx="8890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757575"/>
                </a:solidFill>
                <a:latin typeface="Noto Sans SC"/>
                <a:ea typeface="Noto Sans SC"/>
                <a:cs typeface="Noto Sans SC"/>
                <a:sym typeface="Noto Sans SC"/>
              </a:rPr>
              <a:t>学习如何加载、处理和检索自有数据，构建企业级知识库增强LLM能力。</a:t>
            </a:r>
            <a:endParaRPr lang="en-US" sz="1100"/>
          </a:p>
        </p:txBody>
      </p:sp>
      <p:sp>
        <p:nvSpPr>
          <p:cNvPr id="9" name="AutoShape 9"/>
          <p:cNvSpPr/>
          <p:nvPr/>
        </p:nvSpPr>
        <p:spPr>
          <a:xfrm>
            <a:off x="1016000" y="5384800"/>
            <a:ext cx="10160000" cy="762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124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8.3.1 数据加载</a:t>
            </a:r>
            <a:endParaRPr lang="en-US" sz="1100"/>
          </a:p>
        </p:txBody>
      </p:sp>
      <p:sp>
        <p:nvSpPr>
          <p:cNvPr id="3" name="AutoShape 3"/>
          <p:cNvSpPr/>
          <p:nvPr/>
        </p:nvSpPr>
        <p:spPr>
          <a:xfrm>
            <a:off x="762000" y="1397000"/>
            <a:ext cx="5080000" cy="1270000"/>
          </a:xfrm>
          <a:prstGeom prst="roundRect">
            <a:avLst>
              <a:gd name="adj" fmla="val 10000"/>
            </a:avLst>
          </a:prstGeom>
          <a:solidFill>
            <a:srgbClr val="FFFFFF">
              <a:alpha val="80000"/>
            </a:srgbClr>
          </a:solidFill>
          <a:ln cap="flat" cmpd="sng">
            <a:solidFill>
              <a:srgbClr val="E6CFCF">
                <a:alpha val="80000"/>
              </a:srgbClr>
            </a:solid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587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数据加载作用</a:t>
            </a:r>
            <a:endParaRPr lang="en-US" sz="1100"/>
          </a:p>
        </p:txBody>
      </p:sp>
      <p:sp>
        <p:nvSpPr>
          <p:cNvPr id="6" name="AutoShape 6"/>
          <p:cNvSpPr/>
          <p:nvPr/>
        </p:nvSpPr>
        <p:spPr>
          <a:xfrm>
            <a:off x="1524000" y="19685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从各种数据源（如文件、数据库、网页）读取数据，将其转化为统一格式供后续处理。</a:t>
            </a:r>
            <a:endParaRPr lang="en-US" sz="1100"/>
          </a:p>
        </p:txBody>
      </p:sp>
      <p:sp>
        <p:nvSpPr>
          <p:cNvPr id="7" name="AutoShape 7"/>
          <p:cNvSpPr/>
          <p:nvPr/>
        </p:nvSpPr>
        <p:spPr>
          <a:xfrm>
            <a:off x="762000" y="2921000"/>
            <a:ext cx="5080000" cy="2286000"/>
          </a:xfrm>
          <a:prstGeom prst="roundRect">
            <a:avLst>
              <a:gd name="adj" fmla="val 5555"/>
            </a:avLst>
          </a:prstGeom>
          <a:solidFill>
            <a:srgbClr val="FFFFFF">
              <a:alpha val="80000"/>
            </a:srgbClr>
          </a:solidFill>
          <a:ln cap="flat" cmpd="sng">
            <a:solidFill>
              <a:srgbClr val="E6CFCF">
                <a:alpha val="80000"/>
              </a:srgbClr>
            </a:solid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sp>
        <p:nvSpPr>
          <p:cNvPr id="8" name="AutoShape 8"/>
          <p:cNvSpPr/>
          <p:nvPr/>
        </p:nvSpPr>
        <p:spPr>
          <a:xfrm>
            <a:off x="1016000" y="3111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常用加载器</a:t>
            </a:r>
            <a:endParaRPr lang="en-US" sz="1100"/>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619500"/>
            <a:ext cx="304800" cy="304800"/>
          </a:xfrm>
          <a:prstGeom prst="rect">
            <a:avLst/>
          </a:prstGeom>
        </p:spPr>
      </p:pic>
      <p:sp>
        <p:nvSpPr>
          <p:cNvPr id="10" name="AutoShape 10"/>
          <p:cNvSpPr/>
          <p:nvPr/>
        </p:nvSpPr>
        <p:spPr>
          <a:xfrm>
            <a:off x="1460500" y="35814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424242"/>
                </a:solidFill>
                <a:latin typeface="Noto Sans SC"/>
                <a:ea typeface="Noto Sans SC"/>
                <a:cs typeface="Noto Sans SC"/>
                <a:sym typeface="Noto Sans SC"/>
              </a:rPr>
              <a:t>CSVLoader：</a:t>
            </a:r>
            <a:r>
              <a:rPr lang="en-US" sz="1400" b="0" i="0" u="none" strike="noStrike">
                <a:solidFill>
                  <a:srgbClr val="757575"/>
                </a:solidFill>
                <a:latin typeface="Noto Sans SC"/>
                <a:ea typeface="Noto Sans SC"/>
                <a:cs typeface="Noto Sans SC"/>
                <a:sym typeface="Noto Sans SC"/>
              </a:rPr>
              <a:t>加载 CSV 格式数据文件</a:t>
            </a:r>
            <a:endParaRPr lang="en-US" sz="1100"/>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064000"/>
            <a:ext cx="304800" cy="304800"/>
          </a:xfrm>
          <a:prstGeom prst="rect">
            <a:avLst/>
          </a:prstGeom>
        </p:spPr>
      </p:pic>
      <p:sp>
        <p:nvSpPr>
          <p:cNvPr id="12" name="AutoShape 12"/>
          <p:cNvSpPr/>
          <p:nvPr/>
        </p:nvSpPr>
        <p:spPr>
          <a:xfrm>
            <a:off x="1460500" y="40259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424242"/>
                </a:solidFill>
                <a:latin typeface="Noto Sans SC"/>
                <a:ea typeface="Noto Sans SC"/>
                <a:cs typeface="Noto Sans SC"/>
                <a:sym typeface="Noto Sans SC"/>
              </a:rPr>
              <a:t>JSONLoader：</a:t>
            </a:r>
            <a:r>
              <a:rPr lang="en-US" sz="1400" b="0" i="0" u="none" strike="noStrike">
                <a:solidFill>
                  <a:srgbClr val="757575"/>
                </a:solidFill>
                <a:latin typeface="Noto Sans SC"/>
                <a:ea typeface="Noto Sans SC"/>
                <a:cs typeface="Noto Sans SC"/>
                <a:sym typeface="Noto Sans SC"/>
              </a:rPr>
              <a:t>加载 JSON 格式数据文件</a:t>
            </a:r>
            <a:endParaRPr lang="en-US" sz="1100"/>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508500"/>
            <a:ext cx="304800" cy="304800"/>
          </a:xfrm>
          <a:prstGeom prst="rect">
            <a:avLst/>
          </a:prstGeom>
        </p:spPr>
      </p:pic>
      <p:sp>
        <p:nvSpPr>
          <p:cNvPr id="14" name="AutoShape 14"/>
          <p:cNvSpPr/>
          <p:nvPr/>
        </p:nvSpPr>
        <p:spPr>
          <a:xfrm>
            <a:off x="1460500" y="44704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424242"/>
                </a:solidFill>
                <a:latin typeface="Noto Sans SC"/>
                <a:ea typeface="Noto Sans SC"/>
                <a:cs typeface="Noto Sans SC"/>
                <a:sym typeface="Noto Sans SC"/>
              </a:rPr>
              <a:t>PyPDFLoader：</a:t>
            </a:r>
            <a:r>
              <a:rPr lang="en-US" sz="1400" b="0" i="0" u="none" strike="noStrike">
                <a:solidFill>
                  <a:srgbClr val="757575"/>
                </a:solidFill>
                <a:latin typeface="Noto Sans SC"/>
                <a:ea typeface="Noto Sans SC"/>
                <a:cs typeface="Noto Sans SC"/>
                <a:sym typeface="Noto Sans SC"/>
              </a:rPr>
              <a:t>加载 PDF 文档内容</a:t>
            </a:r>
            <a:endParaRPr lang="en-US" sz="1100"/>
          </a:p>
        </p:txBody>
      </p:sp>
      <p:pic>
        <p:nvPicPr>
          <p:cNvPr id="15" name="Picture 1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4953000"/>
            <a:ext cx="304800" cy="304800"/>
          </a:xfrm>
          <a:prstGeom prst="rect">
            <a:avLst/>
          </a:prstGeom>
        </p:spPr>
      </p:pic>
      <p:sp>
        <p:nvSpPr>
          <p:cNvPr id="16" name="AutoShape 16"/>
          <p:cNvSpPr/>
          <p:nvPr/>
        </p:nvSpPr>
        <p:spPr>
          <a:xfrm>
            <a:off x="1460500" y="49149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424242"/>
                </a:solidFill>
                <a:latin typeface="Noto Sans SC"/>
                <a:ea typeface="Noto Sans SC"/>
                <a:cs typeface="Noto Sans SC"/>
                <a:sym typeface="Noto Sans SC"/>
              </a:rPr>
              <a:t>WebBaseLoader：</a:t>
            </a:r>
            <a:r>
              <a:rPr lang="en-US" sz="1400" b="0" i="0" u="none" strike="noStrike">
                <a:solidFill>
                  <a:srgbClr val="757575"/>
                </a:solidFill>
                <a:latin typeface="Noto Sans SC"/>
                <a:ea typeface="Noto Sans SC"/>
                <a:cs typeface="Noto Sans SC"/>
                <a:sym typeface="Noto Sans SC"/>
              </a:rPr>
              <a:t>加载网页 HTML 内容</a:t>
            </a:r>
            <a:endParaRPr lang="en-US" sz="1100"/>
          </a:p>
        </p:txBody>
      </p:sp>
      <p:sp>
        <p:nvSpPr>
          <p:cNvPr id="17" name="AutoShape 17"/>
          <p:cNvSpPr/>
          <p:nvPr/>
        </p:nvSpPr>
        <p:spPr>
          <a:xfrm>
            <a:off x="6223000" y="1397000"/>
            <a:ext cx="4953000" cy="2540000"/>
          </a:xfrm>
          <a:prstGeom prst="roundRect">
            <a:avLst>
              <a:gd name="adj" fmla="val 5000"/>
            </a:avLst>
          </a:prstGeom>
          <a:solidFill>
            <a:srgbClr val="1E1E1E">
              <a:alpha val="100000"/>
            </a:srgbClr>
          </a:solidFill>
          <a:ln w="25400" cap="flat" cmpd="sng">
            <a:noFill/>
            <a:prstDash val="solid"/>
            <a:round/>
          </a:ln>
          <a:effectLst>
            <a:outerShdw blurRad="190500" dist="76200" dir="2700000" algn="tl" rotWithShape="0">
              <a:srgbClr val="000000">
                <a:alpha val="30000"/>
              </a:srgbClr>
            </a:outerShdw>
          </a:effectLst>
        </p:spPr>
        <p:txBody>
          <a:bodyPr vert="horz" wrap="square" lIns="63500" tIns="63500" rIns="63500" bIns="63500" rtlCol="0" anchor="ctr"/>
          <a:lstStyle/>
          <a:p>
            <a:pPr algn="ctr">
              <a:defRPr/>
            </a:pPr>
          </a:p>
        </p:txBody>
      </p:sp>
      <p:sp>
        <p:nvSpPr>
          <p:cNvPr id="18" name="AutoShape 18"/>
          <p:cNvSpPr/>
          <p:nvPr/>
        </p:nvSpPr>
        <p:spPr>
          <a:xfrm>
            <a:off x="6223000" y="1397000"/>
            <a:ext cx="4953000" cy="406400"/>
          </a:xfrm>
          <a:prstGeom prst="roundRect">
            <a:avLst>
              <a:gd name="adj" fmla="val 0"/>
            </a:avLst>
          </a:prstGeom>
          <a:solidFill>
            <a:srgbClr val="2D2D2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350000" y="1473200"/>
            <a:ext cx="254000" cy="254000"/>
          </a:xfrm>
          <a:prstGeom prst="rect">
            <a:avLst/>
          </a:prstGeom>
        </p:spPr>
      </p:pic>
      <p:sp>
        <p:nvSpPr>
          <p:cNvPr id="20" name="AutoShape 20"/>
          <p:cNvSpPr/>
          <p:nvPr/>
        </p:nvSpPr>
        <p:spPr>
          <a:xfrm>
            <a:off x="6667500" y="14478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B4B4B4"/>
                </a:solidFill>
                <a:latin typeface="Noto Sans SC"/>
                <a:ea typeface="Noto Sans SC"/>
                <a:cs typeface="Noto Sans SC"/>
                <a:sym typeface="Noto Sans SC"/>
              </a:rPr>
              <a:t>example.py</a:t>
            </a:r>
            <a:endParaRPr lang="en-US" sz="1100"/>
          </a:p>
        </p:txBody>
      </p:sp>
      <p:sp>
        <p:nvSpPr>
          <p:cNvPr id="21" name="AutoShape 21"/>
          <p:cNvSpPr/>
          <p:nvPr/>
        </p:nvSpPr>
        <p:spPr>
          <a:xfrm>
            <a:off x="6413500" y="1905000"/>
            <a:ext cx="4572000" cy="177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C678DD"/>
                </a:solidFill>
                <a:latin typeface="Consolas"/>
                <a:ea typeface="Consolas"/>
                <a:cs typeface="Consolas"/>
                <a:sym typeface="Consolas"/>
              </a:rPr>
              <a:t>from</a:t>
            </a:r>
            <a:r>
              <a:rPr lang="en-US" sz="1300" b="0" i="0" u="none" strike="noStrike">
                <a:solidFill>
                  <a:srgbClr val="DCDFE4"/>
                </a:solidFill>
                <a:latin typeface="Consolas"/>
                <a:ea typeface="Consolas"/>
                <a:cs typeface="Consolas"/>
                <a:sym typeface="Consolas"/>
              </a:rPr>
              <a:t>langchain_community.document_loaders</a:t>
            </a:r>
            <a:r>
              <a:rPr lang="en-US" sz="1300" b="0" i="0" u="none" strike="noStrike">
                <a:solidFill>
                  <a:srgbClr val="C678DD"/>
                </a:solidFill>
                <a:latin typeface="Consolas"/>
                <a:ea typeface="Consolas"/>
                <a:cs typeface="Consolas"/>
                <a:sym typeface="Consolas"/>
              </a:rPr>
              <a:t>import</a:t>
            </a:r>
            <a:r>
              <a:rPr lang="en-US" sz="1300" b="0" i="0" u="none" strike="noStrike">
                <a:solidFill>
                  <a:srgbClr val="E5C07B"/>
                </a:solidFill>
                <a:latin typeface="Consolas"/>
                <a:ea typeface="Consolas"/>
                <a:cs typeface="Consolas"/>
                <a:sym typeface="Consolas"/>
              </a:rPr>
              <a:t>CSVLoader</a:t>
            </a:r>
            <a:endParaRPr lang="en-US" sz="1100"/>
          </a:p>
          <a:p>
            <a:pPr indent="0" algn="l">
              <a:lnSpc>
                <a:spcPct val="125000"/>
              </a:lnSpc>
            </a:pPr>
          </a:p>
          <a:p>
            <a:pPr indent="0" algn="l">
              <a:lnSpc>
                <a:spcPct val="125000"/>
              </a:lnSpc>
            </a:pPr>
            <a:r>
              <a:rPr lang="en-US" sz="1300" b="0" i="0" u="none" strike="noStrike">
                <a:solidFill>
                  <a:srgbClr val="DCDFE4"/>
                </a:solidFill>
                <a:latin typeface="Consolas"/>
                <a:ea typeface="Consolas"/>
                <a:cs typeface="Consolas"/>
                <a:sym typeface="Consolas"/>
              </a:rPr>
              <a:t>loader =</a:t>
            </a:r>
            <a:r>
              <a:rPr lang="en-US" sz="1300" b="0" i="0" u="none" strike="noStrike">
                <a:solidFill>
                  <a:srgbClr val="E5C07B"/>
                </a:solidFill>
                <a:latin typeface="Consolas"/>
                <a:ea typeface="Consolas"/>
                <a:cs typeface="Consolas"/>
                <a:sym typeface="Consolas"/>
              </a:rPr>
              <a:t>CSVLoader</a:t>
            </a:r>
            <a:r>
              <a:rPr lang="en-US" sz="1300" b="0" i="0" u="none" strike="noStrike">
                <a:solidFill>
                  <a:srgbClr val="DCDFE4"/>
                </a:solidFill>
                <a:latin typeface="Consolas"/>
                <a:ea typeface="Consolas"/>
                <a:cs typeface="Consolas"/>
                <a:sym typeface="Consolas"/>
              </a:rPr>
              <a:t>(file_path=</a:t>
            </a:r>
            <a:r>
              <a:rPr lang="en-US" sz="1300" b="0" i="0" u="none" strike="noStrike">
                <a:solidFill>
                  <a:srgbClr val="98C379"/>
                </a:solidFill>
                <a:latin typeface="Consolas"/>
                <a:ea typeface="Consolas"/>
                <a:cs typeface="Consolas"/>
                <a:sym typeface="Consolas"/>
              </a:rPr>
              <a:t>"data.csv"</a:t>
            </a:r>
            <a:r>
              <a:rPr lang="en-US" sz="1300" b="0" i="0" u="none" strike="noStrike">
                <a:solidFill>
                  <a:srgbClr val="DCDFE4"/>
                </a:solidFill>
                <a:latin typeface="Consolas"/>
                <a:ea typeface="Consolas"/>
                <a:cs typeface="Consolas"/>
                <a:sym typeface="Consolas"/>
              </a:rPr>
              <a:t>)</a:t>
            </a:r>
            <a:endParaRPr lang="en-US" sz="1300" b="0" i="0" u="none" strike="noStrike">
              <a:solidFill>
                <a:srgbClr val="DCDFE4"/>
              </a:solidFill>
              <a:latin typeface="Consolas"/>
              <a:ea typeface="Consolas"/>
              <a:cs typeface="Consolas"/>
              <a:sym typeface="Consolas"/>
            </a:endParaRPr>
          </a:p>
          <a:p>
            <a:pPr indent="0" algn="l">
              <a:lnSpc>
                <a:spcPct val="125000"/>
              </a:lnSpc>
            </a:pPr>
            <a:r>
              <a:rPr lang="en-US" sz="1300" b="0" i="0" u="none" strike="noStrike">
                <a:solidFill>
                  <a:srgbClr val="DCDFE4"/>
                </a:solidFill>
                <a:latin typeface="Consolas"/>
                <a:ea typeface="Consolas"/>
                <a:cs typeface="Consolas"/>
                <a:sym typeface="Consolas"/>
              </a:rPr>
              <a:t>documents = loader.load()</a:t>
            </a:r>
            <a:endParaRPr lang="en-US" sz="1300" b="0" i="0" u="none" strike="noStrike">
              <a:solidFill>
                <a:srgbClr val="DCDFE4"/>
              </a:solidFill>
              <a:latin typeface="Consolas"/>
              <a:ea typeface="Consolas"/>
              <a:cs typeface="Consolas"/>
              <a:sym typeface="Consolas"/>
            </a:endParaRPr>
          </a:p>
          <a:p>
            <a:pPr indent="0" algn="l">
              <a:lnSpc>
                <a:spcPct val="125000"/>
              </a:lnSpc>
            </a:pPr>
            <a:r>
              <a:rPr lang="en-US" sz="1300" b="0" i="0" u="none" strike="noStrike">
                <a:solidFill>
                  <a:srgbClr val="DCDFE4"/>
                </a:solidFill>
                <a:latin typeface="Consolas"/>
                <a:ea typeface="Consolas"/>
                <a:cs typeface="Consolas"/>
                <a:sym typeface="Consolas"/>
              </a:rPr>
              <a:t>print(documents)</a:t>
            </a:r>
            <a:endParaRPr lang="en-US" sz="1300" b="0" i="0" u="none" strike="noStrike">
              <a:solidFill>
                <a:srgbClr val="DCDFE4"/>
              </a:solidFill>
              <a:latin typeface="Consolas"/>
              <a:ea typeface="Consolas"/>
              <a:cs typeface="Consolas"/>
              <a:sym typeface="Consolas"/>
            </a:endParaRPr>
          </a:p>
        </p:txBody>
      </p:sp>
      <p:sp>
        <p:nvSpPr>
          <p:cNvPr id="22" name="AutoShape 22"/>
          <p:cNvSpPr/>
          <p:nvPr/>
        </p:nvSpPr>
        <p:spPr>
          <a:xfrm>
            <a:off x="6223000" y="4191000"/>
            <a:ext cx="4953000" cy="1016000"/>
          </a:xfrm>
          <a:prstGeom prst="roundRect">
            <a:avLst>
              <a:gd name="adj" fmla="val 12500"/>
            </a:avLst>
          </a:prstGeom>
          <a:solidFill>
            <a:srgbClr val="FFFFFF">
              <a:alpha val="80000"/>
            </a:srgbClr>
          </a:solidFill>
          <a:ln cap="flat" cmpd="sng">
            <a:solidFill>
              <a:srgbClr val="E6CFCF">
                <a:alpha val="80000"/>
              </a:srgbClr>
            </a:solid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413500" y="4381500"/>
            <a:ext cx="304800" cy="304800"/>
          </a:xfrm>
          <a:prstGeom prst="rect">
            <a:avLst/>
          </a:prstGeom>
        </p:spPr>
      </p:pic>
      <p:sp>
        <p:nvSpPr>
          <p:cNvPr id="24" name="AutoShape 24"/>
          <p:cNvSpPr/>
          <p:nvPr/>
        </p:nvSpPr>
        <p:spPr>
          <a:xfrm>
            <a:off x="6794500" y="43434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代码示例展示了如何使用</a:t>
            </a:r>
            <a:r>
              <a:rPr lang="en-US" sz="1400" b="1" i="0" u="none" strike="noStrike">
                <a:solidFill>
                  <a:srgbClr val="0277BD"/>
                </a:solidFill>
                <a:latin typeface="Consolas"/>
                <a:ea typeface="Consolas"/>
                <a:cs typeface="Consolas"/>
                <a:sym typeface="Consolas"/>
              </a:rPr>
              <a:t>CSVLoader</a:t>
            </a:r>
            <a:r>
              <a:rPr lang="en-US" sz="1400" b="0" i="0" u="none" strike="noStrike">
                <a:solidFill>
                  <a:srgbClr val="757575"/>
                </a:solidFill>
                <a:latin typeface="Noto Sans SC"/>
                <a:ea typeface="Noto Sans SC"/>
                <a:cs typeface="Noto Sans SC"/>
                <a:sym typeface="Noto Sans SC"/>
              </a:rPr>
              <a:t>加载数据。通过调用 load() 方法，数据被转化为 Document 对象列表，便于后续的分割和向量化处理。</a:t>
            </a:r>
            <a:endParaRPr lang="en-US" sz="1100"/>
          </a:p>
        </p:txBody>
      </p:sp>
      <p:sp>
        <p:nvSpPr>
          <p:cNvPr id="25" name="AutoShape 25"/>
          <p:cNvSpPr/>
          <p:nvPr/>
        </p:nvSpPr>
        <p:spPr>
          <a:xfrm>
            <a:off x="0" y="6604000"/>
            <a:ext cx="12192000" cy="2540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5687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数据加载器示例</a:t>
            </a:r>
            <a:endParaRPr lang="en-US" sz="1100"/>
          </a:p>
        </p:txBody>
      </p:sp>
      <p:sp>
        <p:nvSpPr>
          <p:cNvPr id="3" name="AutoShape 3"/>
          <p:cNvSpPr/>
          <p:nvPr/>
        </p:nvSpPr>
        <p:spPr>
          <a:xfrm>
            <a:off x="762000" y="1397000"/>
            <a:ext cx="51435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6002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CSVLoader</a:t>
            </a:r>
            <a:endParaRPr lang="en-US" sz="1100"/>
          </a:p>
        </p:txBody>
      </p:sp>
      <p:sp>
        <p:nvSpPr>
          <p:cNvPr id="6" name="AutoShape 6"/>
          <p:cNvSpPr/>
          <p:nvPr/>
        </p:nvSpPr>
        <p:spPr>
          <a:xfrm>
            <a:off x="1016000" y="2159000"/>
            <a:ext cx="4635500" cy="1143000"/>
          </a:xfrm>
          <a:prstGeom prst="roundRect">
            <a:avLst>
              <a:gd name="adj" fmla="val 5555"/>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143000" y="2222500"/>
            <a:ext cx="43815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Source Code Pro"/>
                <a:ea typeface="Source Code Pro"/>
                <a:cs typeface="Source Code Pro"/>
                <a:sym typeface="Source Code Pro"/>
              </a:rPr>
              <a:t>from langchain_community.document_loaders import CSVLoader</a:t>
            </a:r>
            <a:endParaRPr lang="en-US" sz="1100"/>
          </a:p>
          <a:p>
            <a:pPr indent="0" algn="l">
              <a:lnSpc>
                <a:spcPct val="125000"/>
              </a:lnSpc>
            </a:pPr>
            <a:r>
              <a:rPr lang="en-US" sz="1400" b="0" i="0" u="none" strike="noStrike">
                <a:solidFill>
                  <a:srgbClr val="757575"/>
                </a:solidFill>
                <a:latin typeface="Source Code Pro"/>
                <a:ea typeface="Source Code Pro"/>
                <a:cs typeface="Source Code Pro"/>
                <a:sym typeface="Source Code Pro"/>
              </a:rPr>
              <a:t>loader = CSVLoader(file_path="data.csv")</a:t>
            </a:r>
            <a:endParaRPr lang="en-US" sz="1400" b="0" i="0" u="none" strike="noStrike">
              <a:solidFill>
                <a:srgbClr val="757575"/>
              </a:solidFill>
              <a:latin typeface="Source Code Pro"/>
              <a:ea typeface="Source Code Pro"/>
              <a:cs typeface="Source Code Pro"/>
              <a:sym typeface="Source Code Pro"/>
            </a:endParaRPr>
          </a:p>
        </p:txBody>
      </p:sp>
      <p:sp>
        <p:nvSpPr>
          <p:cNvPr id="8" name="AutoShape 8"/>
          <p:cNvSpPr/>
          <p:nvPr/>
        </p:nvSpPr>
        <p:spPr>
          <a:xfrm>
            <a:off x="6286500" y="1397000"/>
            <a:ext cx="51435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1651000"/>
            <a:ext cx="406400" cy="406400"/>
          </a:xfrm>
          <a:prstGeom prst="rect">
            <a:avLst/>
          </a:prstGeom>
        </p:spPr>
      </p:pic>
      <p:sp>
        <p:nvSpPr>
          <p:cNvPr id="10" name="AutoShape 10"/>
          <p:cNvSpPr/>
          <p:nvPr/>
        </p:nvSpPr>
        <p:spPr>
          <a:xfrm>
            <a:off x="7048500" y="16002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JSONLoader</a:t>
            </a:r>
            <a:endParaRPr lang="en-US" sz="1100"/>
          </a:p>
        </p:txBody>
      </p:sp>
      <p:sp>
        <p:nvSpPr>
          <p:cNvPr id="11" name="AutoShape 11"/>
          <p:cNvSpPr/>
          <p:nvPr/>
        </p:nvSpPr>
        <p:spPr>
          <a:xfrm>
            <a:off x="6540500" y="2159000"/>
            <a:ext cx="4635500" cy="1143000"/>
          </a:xfrm>
          <a:prstGeom prst="roundRect">
            <a:avLst>
              <a:gd name="adj" fmla="val 5555"/>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667500" y="2222500"/>
            <a:ext cx="43815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Source Code Pro"/>
                <a:ea typeface="Source Code Pro"/>
                <a:cs typeface="Source Code Pro"/>
                <a:sym typeface="Source Code Pro"/>
              </a:rPr>
              <a:t>from langchain_community.document_loaders import JSONLoader</a:t>
            </a:r>
            <a:endParaRPr lang="en-US" sz="1100"/>
          </a:p>
          <a:p>
            <a:pPr indent="0" algn="l">
              <a:lnSpc>
                <a:spcPct val="125000"/>
              </a:lnSpc>
            </a:pPr>
            <a:r>
              <a:rPr lang="en-US" sz="1400" b="0" i="0" u="none" strike="noStrike">
                <a:solidFill>
                  <a:srgbClr val="757575"/>
                </a:solidFill>
                <a:latin typeface="Source Code Pro"/>
                <a:ea typeface="Source Code Pro"/>
                <a:cs typeface="Source Code Pro"/>
                <a:sym typeface="Source Code Pro"/>
              </a:rPr>
              <a:t>loader = JSONLoader(file_path="data.json", jq_schema=".[]")</a:t>
            </a:r>
            <a:endParaRPr lang="en-US" sz="1400" b="0" i="0" u="none" strike="noStrike">
              <a:solidFill>
                <a:srgbClr val="757575"/>
              </a:solidFill>
              <a:latin typeface="Source Code Pro"/>
              <a:ea typeface="Source Code Pro"/>
              <a:cs typeface="Source Code Pro"/>
              <a:sym typeface="Source Code Pro"/>
            </a:endParaRPr>
          </a:p>
        </p:txBody>
      </p:sp>
      <p:sp>
        <p:nvSpPr>
          <p:cNvPr id="13" name="AutoShape 13"/>
          <p:cNvSpPr/>
          <p:nvPr/>
        </p:nvSpPr>
        <p:spPr>
          <a:xfrm>
            <a:off x="762000" y="3810000"/>
            <a:ext cx="51435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064000"/>
            <a:ext cx="406400" cy="406400"/>
          </a:xfrm>
          <a:prstGeom prst="rect">
            <a:avLst/>
          </a:prstGeom>
        </p:spPr>
      </p:pic>
      <p:sp>
        <p:nvSpPr>
          <p:cNvPr id="15" name="AutoShape 15"/>
          <p:cNvSpPr/>
          <p:nvPr/>
        </p:nvSpPr>
        <p:spPr>
          <a:xfrm>
            <a:off x="1524000" y="40132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PyPDFLoader</a:t>
            </a:r>
            <a:endParaRPr lang="en-US" sz="1100"/>
          </a:p>
        </p:txBody>
      </p:sp>
      <p:sp>
        <p:nvSpPr>
          <p:cNvPr id="16" name="AutoShape 16"/>
          <p:cNvSpPr/>
          <p:nvPr/>
        </p:nvSpPr>
        <p:spPr>
          <a:xfrm>
            <a:off x="1016000" y="4572000"/>
            <a:ext cx="4635500" cy="1143000"/>
          </a:xfrm>
          <a:prstGeom prst="roundRect">
            <a:avLst>
              <a:gd name="adj" fmla="val 5555"/>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143000" y="4635500"/>
            <a:ext cx="43815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Source Code Pro"/>
                <a:ea typeface="Source Code Pro"/>
                <a:cs typeface="Source Code Pro"/>
                <a:sym typeface="Source Code Pro"/>
              </a:rPr>
              <a:t>from langchain_community.document_loaders import PyPDFLoader</a:t>
            </a:r>
            <a:endParaRPr lang="en-US" sz="1100"/>
          </a:p>
          <a:p>
            <a:pPr indent="0" algn="l">
              <a:lnSpc>
                <a:spcPct val="125000"/>
              </a:lnSpc>
            </a:pPr>
            <a:r>
              <a:rPr lang="en-US" sz="1400" b="0" i="0" u="none" strike="noStrike">
                <a:solidFill>
                  <a:srgbClr val="757575"/>
                </a:solidFill>
                <a:latin typeface="Source Code Pro"/>
                <a:ea typeface="Source Code Pro"/>
                <a:cs typeface="Source Code Pro"/>
                <a:sym typeface="Source Code Pro"/>
              </a:rPr>
              <a:t>loader = PyPDFLoader("document.pdf")</a:t>
            </a:r>
            <a:endParaRPr lang="en-US" sz="1400" b="0" i="0" u="none" strike="noStrike">
              <a:solidFill>
                <a:srgbClr val="757575"/>
              </a:solidFill>
              <a:latin typeface="Source Code Pro"/>
              <a:ea typeface="Source Code Pro"/>
              <a:cs typeface="Source Code Pro"/>
              <a:sym typeface="Source Code Pro"/>
            </a:endParaRPr>
          </a:p>
        </p:txBody>
      </p:sp>
      <p:sp>
        <p:nvSpPr>
          <p:cNvPr id="18" name="AutoShape 18"/>
          <p:cNvSpPr/>
          <p:nvPr/>
        </p:nvSpPr>
        <p:spPr>
          <a:xfrm>
            <a:off x="6286500" y="3810000"/>
            <a:ext cx="51435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0500" y="4064000"/>
            <a:ext cx="406400" cy="406400"/>
          </a:xfrm>
          <a:prstGeom prst="rect">
            <a:avLst/>
          </a:prstGeom>
        </p:spPr>
      </p:pic>
      <p:sp>
        <p:nvSpPr>
          <p:cNvPr id="20" name="AutoShape 20"/>
          <p:cNvSpPr/>
          <p:nvPr/>
        </p:nvSpPr>
        <p:spPr>
          <a:xfrm>
            <a:off x="7048500" y="40132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WebBaseLoader</a:t>
            </a:r>
            <a:endParaRPr lang="en-US" sz="1100"/>
          </a:p>
        </p:txBody>
      </p:sp>
      <p:sp>
        <p:nvSpPr>
          <p:cNvPr id="21" name="AutoShape 21"/>
          <p:cNvSpPr/>
          <p:nvPr/>
        </p:nvSpPr>
        <p:spPr>
          <a:xfrm>
            <a:off x="6540500" y="4572000"/>
            <a:ext cx="4635500" cy="1143000"/>
          </a:xfrm>
          <a:prstGeom prst="roundRect">
            <a:avLst>
              <a:gd name="adj" fmla="val 5555"/>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667500" y="4635500"/>
            <a:ext cx="43815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Source Code Pro"/>
                <a:ea typeface="Source Code Pro"/>
                <a:cs typeface="Source Code Pro"/>
                <a:sym typeface="Source Code Pro"/>
              </a:rPr>
              <a:t>from langchain_community.document_loaders import WebBaseLoader</a:t>
            </a:r>
            <a:endParaRPr lang="en-US" sz="1100"/>
          </a:p>
          <a:p>
            <a:pPr indent="0" algn="l">
              <a:lnSpc>
                <a:spcPct val="125000"/>
              </a:lnSpc>
            </a:pPr>
            <a:r>
              <a:rPr lang="en-US" sz="1400" b="0" i="0" u="none" strike="noStrike">
                <a:solidFill>
                  <a:srgbClr val="757575"/>
                </a:solidFill>
                <a:latin typeface="Source Code Pro"/>
                <a:ea typeface="Source Code Pro"/>
                <a:cs typeface="Source Code Pro"/>
                <a:sym typeface="Source Code Pro"/>
              </a:rPr>
              <a:t>loader = WebBaseLoader("https://example.com")</a:t>
            </a:r>
            <a:endParaRPr lang="en-US" sz="1400" b="0" i="0" u="none" strike="noStrike">
              <a:solidFill>
                <a:srgbClr val="757575"/>
              </a:solidFill>
              <a:latin typeface="Source Code Pro"/>
              <a:ea typeface="Source Code Pro"/>
              <a:cs typeface="Source Code Pro"/>
              <a:sym typeface="Source Code Pr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470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8.3.2 数据切割</a:t>
            </a:r>
            <a:endParaRPr lang="en-US" sz="1100"/>
          </a:p>
        </p:txBody>
      </p:sp>
      <p:sp>
        <p:nvSpPr>
          <p:cNvPr id="3" name="AutoShape 3"/>
          <p:cNvSpPr/>
          <p:nvPr/>
        </p:nvSpPr>
        <p:spPr>
          <a:xfrm>
            <a:off x="762000" y="1397000"/>
            <a:ext cx="5080000" cy="1270000"/>
          </a:xfrm>
          <a:prstGeom prst="roundRect">
            <a:avLst>
              <a:gd name="adj" fmla="val 10000"/>
            </a:avLst>
          </a:prstGeom>
          <a:solidFill>
            <a:srgbClr val="FFFFFF">
              <a:alpha val="100000"/>
            </a:srgbClr>
          </a:solidFill>
          <a:ln w="25400" cap="flat" cmpd="sng">
            <a:noFill/>
            <a:prstDash val="solid"/>
            <a:round/>
          </a:ln>
          <a:effectLst>
            <a:outerShdw blurRad="127000" dist="50800" dir="2700000" algn="tl" rotWithShape="0">
              <a:srgbClr val="0277BD">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5875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必要性：突破上下文限制</a:t>
            </a:r>
            <a:endParaRPr lang="en-US" sz="1100"/>
          </a:p>
        </p:txBody>
      </p:sp>
      <p:sp>
        <p:nvSpPr>
          <p:cNvPr id="6" name="AutoShape 6"/>
          <p:cNvSpPr/>
          <p:nvPr/>
        </p:nvSpPr>
        <p:spPr>
          <a:xfrm>
            <a:off x="1524000" y="19685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大语言模型存在上下文窗口限制，需将超长文本切割为片段，以适应模型处理能力。</a:t>
            </a:r>
            <a:endParaRPr lang="en-US" sz="1100"/>
          </a:p>
        </p:txBody>
      </p:sp>
      <p:sp>
        <p:nvSpPr>
          <p:cNvPr id="7" name="AutoShape 7"/>
          <p:cNvSpPr/>
          <p:nvPr/>
        </p:nvSpPr>
        <p:spPr>
          <a:xfrm>
            <a:off x="762000" y="2921000"/>
            <a:ext cx="5080000" cy="2032000"/>
          </a:xfrm>
          <a:prstGeom prst="roundRect">
            <a:avLst>
              <a:gd name="adj" fmla="val 6250"/>
            </a:avLst>
          </a:prstGeom>
          <a:solidFill>
            <a:srgbClr val="FFFFFF">
              <a:alpha val="100000"/>
            </a:srgbClr>
          </a:solidFill>
          <a:ln w="25400" cap="flat" cmpd="sng">
            <a:noFill/>
            <a:prstDash val="solid"/>
            <a:round/>
          </a:ln>
          <a:effectLst>
            <a:outerShdw blurRad="127000" dist="50800" dir="2700000" algn="tl" rotWithShape="0">
              <a:srgbClr val="0277BD">
                <a:alpha val="10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175000"/>
            <a:ext cx="406400" cy="406400"/>
          </a:xfrm>
          <a:prstGeom prst="rect">
            <a:avLst/>
          </a:prstGeom>
        </p:spPr>
      </p:pic>
      <p:sp>
        <p:nvSpPr>
          <p:cNvPr id="9" name="AutoShape 9"/>
          <p:cNvSpPr/>
          <p:nvPr/>
        </p:nvSpPr>
        <p:spPr>
          <a:xfrm>
            <a:off x="1524000" y="31115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常用切割器类型</a:t>
            </a:r>
            <a:endParaRPr lang="en-US" sz="1100"/>
          </a:p>
        </p:txBody>
      </p:sp>
      <p:sp>
        <p:nvSpPr>
          <p:cNvPr id="10" name="AutoShape 10"/>
          <p:cNvSpPr/>
          <p:nvPr/>
        </p:nvSpPr>
        <p:spPr>
          <a:xfrm>
            <a:off x="1524000" y="3492500"/>
            <a:ext cx="4064000" cy="1270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757575"/>
              </a:buClr>
              <a:buChar char="•"/>
              <a:defRPr/>
            </a:pPr>
            <a:r>
              <a:rPr lang="en-US" sz="1400" b="1" i="0" u="none" strike="noStrike">
                <a:solidFill>
                  <a:srgbClr val="757575"/>
                </a:solidFill>
                <a:latin typeface="Noto Sans SC"/>
                <a:ea typeface="Noto Sans SC"/>
                <a:cs typeface="Noto Sans SC"/>
                <a:sym typeface="Noto Sans SC"/>
              </a:rPr>
              <a:t>CharacterTextSplitter</a:t>
            </a:r>
            <a:r>
              <a:rPr lang="en-US" sz="1400" b="0" i="0" u="none" strike="noStrike">
                <a:solidFill>
                  <a:srgbClr val="757575"/>
                </a:solidFill>
                <a:latin typeface="Noto Sans SC"/>
                <a:ea typeface="Noto Sans SC"/>
                <a:cs typeface="Noto Sans SC"/>
                <a:sym typeface="Noto Sans SC"/>
              </a:rPr>
              <a:t>：按字符数切割，简单直接。</a:t>
            </a:r>
            <a:endParaRPr lang="en-US" sz="1100"/>
          </a:p>
          <a:p>
            <a:pPr marL="177800" indent="-177800" algn="l">
              <a:lnSpc>
                <a:spcPct val="125000"/>
              </a:lnSpc>
              <a:buClr>
                <a:srgbClr val="757575"/>
              </a:buClr>
              <a:buChar char="•"/>
            </a:pPr>
            <a:r>
              <a:rPr lang="en-US" sz="1400" b="1" i="0" u="none" strike="noStrike">
                <a:solidFill>
                  <a:srgbClr val="757575"/>
                </a:solidFill>
                <a:latin typeface="Noto Sans SC"/>
                <a:ea typeface="Noto Sans SC"/>
                <a:cs typeface="Noto Sans SC"/>
                <a:sym typeface="Noto Sans SC"/>
              </a:rPr>
              <a:t>RecursiveCharacterTextSplitter</a:t>
            </a:r>
            <a:r>
              <a:rPr lang="en-US" sz="1400" b="0" i="0" u="none" strike="noStrike">
                <a:solidFill>
                  <a:srgbClr val="757575"/>
                </a:solidFill>
                <a:latin typeface="Noto Sans SC"/>
                <a:ea typeface="Noto Sans SC"/>
                <a:cs typeface="Noto Sans SC"/>
                <a:sym typeface="Noto Sans SC"/>
              </a:rPr>
              <a:t>：按字符数递归切割，更智能，适合复杂文本。</a:t>
            </a:r>
            <a:endParaRPr lang="en-US" sz="1400" b="0" i="0" u="none" strike="noStrike">
              <a:solidFill>
                <a:srgbClr val="757575"/>
              </a:solidFill>
              <a:latin typeface="Noto Sans SC"/>
              <a:ea typeface="Noto Sans SC"/>
              <a:cs typeface="Noto Sans SC"/>
              <a:sym typeface="Noto Sans SC"/>
            </a:endParaRPr>
          </a:p>
          <a:p>
            <a:pPr marL="177800" indent="-177800" algn="l">
              <a:lnSpc>
                <a:spcPct val="125000"/>
              </a:lnSpc>
              <a:buClr>
                <a:srgbClr val="757575"/>
              </a:buClr>
              <a:buChar char="•"/>
            </a:pPr>
            <a:r>
              <a:rPr lang="en-US" sz="1400" b="1" i="0" u="none" strike="noStrike">
                <a:solidFill>
                  <a:srgbClr val="757575"/>
                </a:solidFill>
                <a:latin typeface="Noto Sans SC"/>
                <a:ea typeface="Noto Sans SC"/>
                <a:cs typeface="Noto Sans SC"/>
                <a:sym typeface="Noto Sans SC"/>
              </a:rPr>
              <a:t>TokenTextSplitter</a:t>
            </a:r>
            <a:r>
              <a:rPr lang="en-US" sz="1400" b="0" i="0" u="none" strike="noStrike">
                <a:solidFill>
                  <a:srgbClr val="757575"/>
                </a:solidFill>
                <a:latin typeface="Noto Sans SC"/>
                <a:ea typeface="Noto Sans SC"/>
                <a:cs typeface="Noto Sans SC"/>
                <a:sym typeface="Noto Sans SC"/>
              </a:rPr>
              <a:t>：按Token数切割，更符合LLM计费逻辑。</a:t>
            </a:r>
            <a:endParaRPr lang="en-US" sz="1400" b="0" i="0" u="none" strike="noStrike">
              <a:solidFill>
                <a:srgbClr val="757575"/>
              </a:solidFill>
              <a:latin typeface="Noto Sans SC"/>
              <a:ea typeface="Noto Sans SC"/>
              <a:cs typeface="Noto Sans SC"/>
              <a:sym typeface="Noto Sans SC"/>
            </a:endParaRPr>
          </a:p>
        </p:txBody>
      </p:sp>
      <p:sp>
        <p:nvSpPr>
          <p:cNvPr id="11" name="AutoShape 11"/>
          <p:cNvSpPr/>
          <p:nvPr/>
        </p:nvSpPr>
        <p:spPr>
          <a:xfrm>
            <a:off x="6096000" y="1397000"/>
            <a:ext cx="5334000" cy="3556000"/>
          </a:xfrm>
          <a:prstGeom prst="roundRect">
            <a:avLst>
              <a:gd name="adj" fmla="val 3571"/>
            </a:avLst>
          </a:prstGeom>
          <a:solidFill>
            <a:srgbClr val="FFFFFF">
              <a:alpha val="100000"/>
            </a:srgbClr>
          </a:solidFill>
          <a:ln w="25400" cap="flat" cmpd="sng">
            <a:noFill/>
            <a:prstDash val="solid"/>
            <a:round/>
          </a:ln>
          <a:effectLst>
            <a:outerShdw blurRad="127000" dist="50800" dir="2700000" algn="tl" rotWithShape="0">
              <a:srgbClr val="0277BD">
                <a:alpha val="10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0" y="1651000"/>
            <a:ext cx="406400" cy="406400"/>
          </a:xfrm>
          <a:prstGeom prst="rect">
            <a:avLst/>
          </a:prstGeom>
        </p:spPr>
      </p:pic>
      <p:sp>
        <p:nvSpPr>
          <p:cNvPr id="13" name="AutoShape 13"/>
          <p:cNvSpPr/>
          <p:nvPr/>
        </p:nvSpPr>
        <p:spPr>
          <a:xfrm>
            <a:off x="6858000" y="1587500"/>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代码实现：递归切割示例</a:t>
            </a:r>
            <a:endParaRPr lang="en-US" sz="1100"/>
          </a:p>
        </p:txBody>
      </p:sp>
      <p:sp>
        <p:nvSpPr>
          <p:cNvPr id="14" name="AutoShape 14"/>
          <p:cNvSpPr/>
          <p:nvPr/>
        </p:nvSpPr>
        <p:spPr>
          <a:xfrm>
            <a:off x="6350000" y="2159000"/>
            <a:ext cx="4826000" cy="2413000"/>
          </a:xfrm>
          <a:prstGeom prst="roundRect">
            <a:avLst>
              <a:gd name="adj" fmla="val 2631"/>
            </a:avLst>
          </a:prstGeom>
          <a:solidFill>
            <a:srgbClr val="F5F5F5">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6477000" y="2286000"/>
            <a:ext cx="4572000" cy="215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57575"/>
                </a:solidFill>
                <a:latin typeface="Consolas"/>
                <a:ea typeface="Consolas"/>
                <a:cs typeface="Consolas"/>
                <a:sym typeface="Consolas"/>
              </a:rPr>
              <a:t>from langchain_text_splitters import</a:t>
            </a:r>
            <a:r>
              <a:rPr lang="en-US" sz="1200" b="1" i="0" u="none" strike="noStrike">
                <a:solidFill>
                  <a:srgbClr val="0277BD"/>
                </a:solidFill>
                <a:latin typeface="Consolas"/>
                <a:ea typeface="Consolas"/>
                <a:cs typeface="Consolas"/>
                <a:sym typeface="Consolas"/>
              </a:rPr>
              <a:t>RecursiveCharacterTextSplitter</a:t>
            </a:r>
            <a:endParaRPr lang="en-US" sz="1100"/>
          </a:p>
          <a:p>
            <a:pPr indent="0" algn="l">
              <a:lnSpc>
                <a:spcPct val="125000"/>
              </a:lnSpc>
            </a:pPr>
          </a:p>
          <a:p>
            <a:pPr indent="0" algn="l">
              <a:lnSpc>
                <a:spcPct val="125000"/>
              </a:lnSpc>
            </a:pPr>
            <a:r>
              <a:rPr lang="en-US" sz="1200" b="0" i="0" u="none" strike="noStrike">
                <a:solidFill>
                  <a:srgbClr val="757575"/>
                </a:solidFill>
                <a:latin typeface="Consolas"/>
                <a:ea typeface="Consolas"/>
                <a:cs typeface="Consolas"/>
                <a:sym typeface="Consolas"/>
              </a:rPr>
              <a:t>text_splitter =</a:t>
            </a:r>
            <a:r>
              <a:rPr lang="en-US" sz="1200" b="1" i="0" u="none" strike="noStrike">
                <a:solidFill>
                  <a:srgbClr val="0277BD"/>
                </a:solidFill>
                <a:latin typeface="Consolas"/>
                <a:ea typeface="Consolas"/>
                <a:cs typeface="Consolas"/>
                <a:sym typeface="Consolas"/>
              </a:rPr>
              <a:t>RecursiveCharacterTextSplitter</a:t>
            </a:r>
            <a:r>
              <a:rPr lang="en-US" sz="1200" b="0" i="0" u="none" strike="noStrike">
                <a:solidFill>
                  <a:srgbClr val="757575"/>
                </a:solidFill>
                <a:latin typeface="Consolas"/>
                <a:ea typeface="Consolas"/>
                <a:cs typeface="Consolas"/>
                <a:sym typeface="Consolas"/>
              </a:rPr>
              <a:t>(</a:t>
            </a:r>
            <a:endParaRPr lang="en-US" sz="1200" b="0" i="0" u="none" strike="noStrike">
              <a:solidFill>
                <a:srgbClr val="757575"/>
              </a:solidFill>
              <a:latin typeface="Consolas"/>
              <a:ea typeface="Consolas"/>
              <a:cs typeface="Consolas"/>
              <a:sym typeface="Consolas"/>
            </a:endParaRPr>
          </a:p>
          <a:p>
            <a:pPr indent="0" algn="l">
              <a:lnSpc>
                <a:spcPct val="125000"/>
              </a:lnSpc>
            </a:pPr>
            <a:r>
              <a:rPr lang="en-US" sz="1200" b="0" i="0" u="none" strike="noStrike">
                <a:solidFill>
                  <a:srgbClr val="757575"/>
                </a:solidFill>
                <a:latin typeface="Consolas"/>
                <a:ea typeface="Consolas"/>
                <a:cs typeface="Consolas"/>
                <a:sym typeface="Consolas"/>
              </a:rPr>
              <a:t>chunk_size=</a:t>
            </a:r>
            <a:r>
              <a:rPr lang="en-US" sz="1200" b="0" i="0" u="none" strike="noStrike">
                <a:solidFill>
                  <a:srgbClr val="FF9800"/>
                </a:solidFill>
                <a:latin typeface="Consolas"/>
                <a:ea typeface="Consolas"/>
                <a:cs typeface="Consolas"/>
                <a:sym typeface="Consolas"/>
              </a:rPr>
              <a:t>100</a:t>
            </a:r>
            <a:r>
              <a:rPr lang="en-US" sz="1200" b="0" i="0" u="none" strike="noStrike">
                <a:solidFill>
                  <a:srgbClr val="757575"/>
                </a:solidFill>
                <a:latin typeface="Consolas"/>
                <a:ea typeface="Consolas"/>
                <a:cs typeface="Consolas"/>
                <a:sym typeface="Consolas"/>
              </a:rPr>
              <a:t>,</a:t>
            </a:r>
            <a:r>
              <a:rPr lang="en-US" sz="1200" b="0" i="0" u="none" strike="noStrike">
                <a:solidFill>
                  <a:srgbClr val="9E9E9E"/>
                </a:solidFill>
                <a:latin typeface="Consolas"/>
                <a:ea typeface="Consolas"/>
                <a:cs typeface="Consolas"/>
                <a:sym typeface="Consolas"/>
              </a:rPr>
              <a:t># 块大小</a:t>
            </a:r>
            <a:endParaRPr lang="en-US" sz="1200" b="0" i="0" u="none" strike="noStrike">
              <a:solidFill>
                <a:srgbClr val="9E9E9E"/>
              </a:solidFill>
              <a:latin typeface="Consolas"/>
              <a:ea typeface="Consolas"/>
              <a:cs typeface="Consolas"/>
              <a:sym typeface="Consolas"/>
            </a:endParaRPr>
          </a:p>
          <a:p>
            <a:pPr indent="0" algn="l">
              <a:lnSpc>
                <a:spcPct val="125000"/>
              </a:lnSpc>
            </a:pPr>
            <a:r>
              <a:rPr lang="en-US" sz="1200" b="0" i="0" u="none" strike="noStrike">
                <a:solidFill>
                  <a:srgbClr val="757575"/>
                </a:solidFill>
                <a:latin typeface="Consolas"/>
                <a:ea typeface="Consolas"/>
                <a:cs typeface="Consolas"/>
                <a:sym typeface="Consolas"/>
              </a:rPr>
              <a:t>chunk_overlap=</a:t>
            </a:r>
            <a:r>
              <a:rPr lang="en-US" sz="1200" b="0" i="0" u="none" strike="noStrike">
                <a:solidFill>
                  <a:srgbClr val="FF9800"/>
                </a:solidFill>
                <a:latin typeface="Consolas"/>
                <a:ea typeface="Consolas"/>
                <a:cs typeface="Consolas"/>
                <a:sym typeface="Consolas"/>
              </a:rPr>
              <a:t>20</a:t>
            </a:r>
            <a:r>
              <a:rPr lang="en-US" sz="1200" b="0" i="0" u="none" strike="noStrike">
                <a:solidFill>
                  <a:srgbClr val="757575"/>
                </a:solidFill>
                <a:latin typeface="Consolas"/>
                <a:ea typeface="Consolas"/>
                <a:cs typeface="Consolas"/>
                <a:sym typeface="Consolas"/>
              </a:rPr>
              <a:t>,</a:t>
            </a:r>
            <a:r>
              <a:rPr lang="en-US" sz="1200" b="0" i="0" u="none" strike="noStrike">
                <a:solidFill>
                  <a:srgbClr val="9E9E9E"/>
                </a:solidFill>
                <a:latin typeface="Consolas"/>
                <a:ea typeface="Consolas"/>
                <a:cs typeface="Consolas"/>
                <a:sym typeface="Consolas"/>
              </a:rPr>
              <a:t># 重叠部分</a:t>
            </a:r>
            <a:endParaRPr lang="en-US" sz="1200" b="0" i="0" u="none" strike="noStrike">
              <a:solidFill>
                <a:srgbClr val="9E9E9E"/>
              </a:solidFill>
              <a:latin typeface="Consolas"/>
              <a:ea typeface="Consolas"/>
              <a:cs typeface="Consolas"/>
              <a:sym typeface="Consolas"/>
            </a:endParaRPr>
          </a:p>
          <a:p>
            <a:pPr indent="0" algn="l">
              <a:lnSpc>
                <a:spcPct val="125000"/>
              </a:lnSpc>
            </a:pPr>
            <a:r>
              <a:rPr lang="en-US" sz="1200" b="0" i="0" u="none" strike="noStrike">
                <a:solidFill>
                  <a:srgbClr val="757575"/>
                </a:solidFill>
                <a:latin typeface="Consolas"/>
                <a:ea typeface="Consolas"/>
                <a:cs typeface="Consolas"/>
                <a:sym typeface="Consolas"/>
              </a:rPr>
              <a:t>length_function=len,</a:t>
            </a:r>
            <a:endParaRPr lang="en-US" sz="1200" b="0" i="0" u="none" strike="noStrike">
              <a:solidFill>
                <a:srgbClr val="757575"/>
              </a:solidFill>
              <a:latin typeface="Consolas"/>
              <a:ea typeface="Consolas"/>
              <a:cs typeface="Consolas"/>
              <a:sym typeface="Consolas"/>
            </a:endParaRPr>
          </a:p>
          <a:p>
            <a:pPr indent="0" algn="l">
              <a:lnSpc>
                <a:spcPct val="125000"/>
              </a:lnSpc>
            </a:pPr>
            <a:r>
              <a:rPr lang="en-US" sz="1200" b="0" i="0" u="none" strike="noStrike">
                <a:solidFill>
                  <a:srgbClr val="757575"/>
                </a:solidFill>
                <a:latin typeface="Consolas"/>
                <a:ea typeface="Consolas"/>
                <a:cs typeface="Consolas"/>
                <a:sym typeface="Consolas"/>
              </a:rPr>
              <a:t>)</a:t>
            </a:r>
            <a:endParaRPr lang="en-US" sz="1200" b="0" i="0" u="none" strike="noStrike">
              <a:solidFill>
                <a:srgbClr val="757575"/>
              </a:solidFill>
              <a:latin typeface="Consolas"/>
              <a:ea typeface="Consolas"/>
              <a:cs typeface="Consolas"/>
              <a:sym typeface="Consolas"/>
            </a:endParaRPr>
          </a:p>
          <a:p>
            <a:pPr indent="0" algn="l">
              <a:lnSpc>
                <a:spcPct val="125000"/>
              </a:lnSpc>
            </a:pPr>
            <a:r>
              <a:rPr lang="en-US" sz="1200" b="0" i="0" u="none" strike="noStrike">
                <a:solidFill>
                  <a:srgbClr val="757575"/>
                </a:solidFill>
                <a:latin typeface="Consolas"/>
                <a:ea typeface="Consolas"/>
                <a:cs typeface="Consolas"/>
                <a:sym typeface="Consolas"/>
              </a:rPr>
              <a:t>texts = text_splitter.create_documents([long_text])</a:t>
            </a:r>
            <a:endParaRPr lang="en-US" sz="1200" b="0" i="0" u="none" strike="noStrike">
              <a:solidFill>
                <a:srgbClr val="757575"/>
              </a:solidFill>
              <a:latin typeface="Consolas"/>
              <a:ea typeface="Consolas"/>
              <a:cs typeface="Consolas"/>
              <a:sym typeface="Consolas"/>
            </a:endParaRPr>
          </a:p>
        </p:txBody>
      </p:sp>
      <p:sp>
        <p:nvSpPr>
          <p:cNvPr id="16" name="AutoShape 16"/>
          <p:cNvSpPr/>
          <p:nvPr/>
        </p:nvSpPr>
        <p:spPr>
          <a:xfrm>
            <a:off x="762000" y="5207000"/>
            <a:ext cx="10668000" cy="1016000"/>
          </a:xfrm>
          <a:prstGeom prst="roundRect">
            <a:avLst>
              <a:gd name="adj" fmla="val 12500"/>
            </a:avLst>
          </a:prstGeom>
          <a:solidFill>
            <a:srgbClr val="0277BD">
              <a:alpha val="1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461000"/>
            <a:ext cx="406400" cy="406400"/>
          </a:xfrm>
          <a:prstGeom prst="rect">
            <a:avLst/>
          </a:prstGeom>
        </p:spPr>
      </p:pic>
      <p:sp>
        <p:nvSpPr>
          <p:cNvPr id="18" name="AutoShape 18"/>
          <p:cNvSpPr/>
          <p:nvPr/>
        </p:nvSpPr>
        <p:spPr>
          <a:xfrm>
            <a:off x="1524000" y="5397500"/>
            <a:ext cx="965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核心要点：</a:t>
            </a:r>
            <a:r>
              <a:rPr lang="en-US" sz="1600" b="0" i="0" u="none" strike="noStrike">
                <a:solidFill>
                  <a:srgbClr val="757575"/>
                </a:solidFill>
                <a:latin typeface="Noto Sans SC"/>
                <a:ea typeface="Noto Sans SC"/>
                <a:cs typeface="Noto Sans SC"/>
                <a:sym typeface="Noto Sans SC"/>
              </a:rPr>
              <a:t>合理的切割策略是保证检索增强生成（RAG）效果的关键。通过设置合适的 chunk_size 和 chunk_overlap，可以在保证信息完整性的同时，最大化利用模型的上下文窗口。</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57632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数据切割器示例</a:t>
            </a:r>
            <a:endParaRPr lang="en-US" sz="1100"/>
          </a:p>
        </p:txBody>
      </p:sp>
      <p:sp>
        <p:nvSpPr>
          <p:cNvPr id="3" name="AutoShape 3"/>
          <p:cNvSpPr/>
          <p:nvPr/>
        </p:nvSpPr>
        <p:spPr>
          <a:xfrm>
            <a:off x="762000" y="1397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600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CharacterTextSplitter</a:t>
            </a:r>
            <a:endParaRPr lang="en-US" sz="1100"/>
          </a:p>
        </p:txBody>
      </p:sp>
      <p:sp>
        <p:nvSpPr>
          <p:cNvPr id="6" name="AutoShape 6"/>
          <p:cNvSpPr/>
          <p:nvPr/>
        </p:nvSpPr>
        <p:spPr>
          <a:xfrm>
            <a:off x="1016000" y="20955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按固定字符数进行基础切割，适用于简单文本。</a:t>
            </a:r>
            <a:endParaRPr lang="en-US" sz="1100"/>
          </a:p>
        </p:txBody>
      </p:sp>
      <p:sp>
        <p:nvSpPr>
          <p:cNvPr id="7" name="AutoShape 7"/>
          <p:cNvSpPr/>
          <p:nvPr/>
        </p:nvSpPr>
        <p:spPr>
          <a:xfrm>
            <a:off x="1016000" y="2730500"/>
            <a:ext cx="2794000" cy="1778000"/>
          </a:xfrm>
          <a:prstGeom prst="roundRect">
            <a:avLst>
              <a:gd name="adj" fmla="val 3571"/>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143000" y="2857500"/>
            <a:ext cx="2540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9800"/>
                </a:solidFill>
                <a:latin typeface="Roboto Mono"/>
                <a:ea typeface="Roboto Mono"/>
                <a:cs typeface="Roboto Mono"/>
                <a:sym typeface="Roboto Mono"/>
              </a:rPr>
              <a:t>from</a:t>
            </a:r>
            <a:r>
              <a:rPr lang="en-US" sz="1200" b="0" i="0" u="none" strike="noStrike">
                <a:solidFill>
                  <a:srgbClr val="333333"/>
                </a:solidFill>
                <a:latin typeface="Roboto Mono"/>
                <a:ea typeface="Roboto Mono"/>
                <a:cs typeface="Roboto Mono"/>
                <a:sym typeface="Roboto Mono"/>
              </a:rPr>
              <a:t>langchain_text_splitters</a:t>
            </a:r>
            <a:r>
              <a:rPr lang="en-US" sz="1200" b="0" i="0" u="none" strike="noStrike">
                <a:solidFill>
                  <a:srgbClr val="FF9800"/>
                </a:solidFill>
                <a:latin typeface="Roboto Mono"/>
                <a:ea typeface="Roboto Mono"/>
                <a:cs typeface="Roboto Mono"/>
                <a:sym typeface="Roboto Mono"/>
              </a:rPr>
              <a:t>import</a:t>
            </a:r>
            <a:r>
              <a:rPr lang="en-US" sz="1200" b="0" i="0" u="none" strike="noStrike">
                <a:solidFill>
                  <a:srgbClr val="333333"/>
                </a:solidFill>
                <a:latin typeface="Roboto Mono"/>
                <a:ea typeface="Roboto Mono"/>
                <a:cs typeface="Roboto Mono"/>
                <a:sym typeface="Roboto Mono"/>
              </a:rPr>
              <a:t>CharacterTextSplitter</a:t>
            </a:r>
            <a:endParaRPr lang="en-US" sz="1100"/>
          </a:p>
          <a:p>
            <a:pPr indent="0" algn="l">
              <a:lnSpc>
                <a:spcPct val="125000"/>
              </a:lnSpc>
            </a:pPr>
            <a:r>
              <a:rPr lang="en-US" sz="1200" b="0" i="0" u="none" strike="noStrike">
                <a:solidFill>
                  <a:srgbClr val="333333"/>
                </a:solidFill>
                <a:latin typeface="Roboto Mono"/>
                <a:ea typeface="Roboto Mono"/>
                <a:cs typeface="Roboto Mono"/>
                <a:sym typeface="Roboto Mono"/>
              </a:rPr>
              <a:t>text_splitter = CharacterTextSplitter(chunk_size=100, chunk_overlap=0)</a:t>
            </a:r>
            <a:endParaRPr lang="en-US" sz="1200" b="0" i="0" u="none" strike="noStrike">
              <a:solidFill>
                <a:srgbClr val="333333"/>
              </a:solidFill>
              <a:latin typeface="Roboto Mono"/>
              <a:ea typeface="Roboto Mono"/>
              <a:cs typeface="Roboto Mono"/>
              <a:sym typeface="Roboto Mono"/>
            </a:endParaRPr>
          </a:p>
        </p:txBody>
      </p:sp>
      <p:sp>
        <p:nvSpPr>
          <p:cNvPr id="9" name="AutoShape 9"/>
          <p:cNvSpPr/>
          <p:nvPr/>
        </p:nvSpPr>
        <p:spPr>
          <a:xfrm>
            <a:off x="4445000" y="1397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651000"/>
            <a:ext cx="406400" cy="406400"/>
          </a:xfrm>
          <a:prstGeom prst="rect">
            <a:avLst/>
          </a:prstGeom>
        </p:spPr>
      </p:pic>
      <p:sp>
        <p:nvSpPr>
          <p:cNvPr id="11" name="AutoShape 11"/>
          <p:cNvSpPr/>
          <p:nvPr/>
        </p:nvSpPr>
        <p:spPr>
          <a:xfrm>
            <a:off x="5207000" y="1600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RecursiveCharacterTextSplitter</a:t>
            </a:r>
            <a:endParaRPr lang="en-US" sz="1100"/>
          </a:p>
        </p:txBody>
      </p:sp>
      <p:sp>
        <p:nvSpPr>
          <p:cNvPr id="12" name="AutoShape 12"/>
          <p:cNvSpPr/>
          <p:nvPr/>
        </p:nvSpPr>
        <p:spPr>
          <a:xfrm>
            <a:off x="4699000" y="20955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智能寻找自然边界（段落、句子），效果更优。</a:t>
            </a:r>
            <a:endParaRPr lang="en-US" sz="1100"/>
          </a:p>
        </p:txBody>
      </p:sp>
      <p:sp>
        <p:nvSpPr>
          <p:cNvPr id="13" name="AutoShape 13"/>
          <p:cNvSpPr/>
          <p:nvPr/>
        </p:nvSpPr>
        <p:spPr>
          <a:xfrm>
            <a:off x="4699000" y="2730500"/>
            <a:ext cx="2794000" cy="1778000"/>
          </a:xfrm>
          <a:prstGeom prst="roundRect">
            <a:avLst>
              <a:gd name="adj" fmla="val 3571"/>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826000" y="2857500"/>
            <a:ext cx="2540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9800"/>
                </a:solidFill>
                <a:latin typeface="Roboto Mono"/>
                <a:ea typeface="Roboto Mono"/>
                <a:cs typeface="Roboto Mono"/>
                <a:sym typeface="Roboto Mono"/>
              </a:rPr>
              <a:t>from</a:t>
            </a:r>
            <a:r>
              <a:rPr lang="en-US" sz="1200" b="0" i="0" u="none" strike="noStrike">
                <a:solidFill>
                  <a:srgbClr val="333333"/>
                </a:solidFill>
                <a:latin typeface="Roboto Mono"/>
                <a:ea typeface="Roboto Mono"/>
                <a:cs typeface="Roboto Mono"/>
                <a:sym typeface="Roboto Mono"/>
              </a:rPr>
              <a:t>langchain_text_splitters</a:t>
            </a:r>
            <a:r>
              <a:rPr lang="en-US" sz="1200" b="0" i="0" u="none" strike="noStrike">
                <a:solidFill>
                  <a:srgbClr val="FF9800"/>
                </a:solidFill>
                <a:latin typeface="Roboto Mono"/>
                <a:ea typeface="Roboto Mono"/>
                <a:cs typeface="Roboto Mono"/>
                <a:sym typeface="Roboto Mono"/>
              </a:rPr>
              <a:t>import</a:t>
            </a:r>
            <a:r>
              <a:rPr lang="en-US" sz="1200" b="0" i="0" u="none" strike="noStrike">
                <a:solidFill>
                  <a:srgbClr val="333333"/>
                </a:solidFill>
                <a:latin typeface="Roboto Mono"/>
                <a:ea typeface="Roboto Mono"/>
                <a:cs typeface="Roboto Mono"/>
                <a:sym typeface="Roboto Mono"/>
              </a:rPr>
              <a:t>RecursiveCharacterTextSplitter</a:t>
            </a:r>
            <a:endParaRPr lang="en-US" sz="1100"/>
          </a:p>
          <a:p>
            <a:pPr indent="0" algn="l">
              <a:lnSpc>
                <a:spcPct val="125000"/>
              </a:lnSpc>
            </a:pPr>
            <a:r>
              <a:rPr lang="en-US" sz="1200" b="0" i="0" u="none" strike="noStrike">
                <a:solidFill>
                  <a:srgbClr val="333333"/>
                </a:solidFill>
                <a:latin typeface="Roboto Mono"/>
                <a:ea typeface="Roboto Mono"/>
                <a:cs typeface="Roboto Mono"/>
                <a:sym typeface="Roboto Mono"/>
              </a:rPr>
              <a:t>text_splitter = RecursiveCharacterTextSplitter(chunk_size=100, chunk_overlap=20)</a:t>
            </a:r>
            <a:endParaRPr lang="en-US" sz="1200" b="0" i="0" u="none" strike="noStrike">
              <a:solidFill>
                <a:srgbClr val="333333"/>
              </a:solidFill>
              <a:latin typeface="Roboto Mono"/>
              <a:ea typeface="Roboto Mono"/>
              <a:cs typeface="Roboto Mono"/>
              <a:sym typeface="Roboto Mono"/>
            </a:endParaRPr>
          </a:p>
        </p:txBody>
      </p:sp>
      <p:sp>
        <p:nvSpPr>
          <p:cNvPr id="15" name="AutoShape 15"/>
          <p:cNvSpPr/>
          <p:nvPr/>
        </p:nvSpPr>
        <p:spPr>
          <a:xfrm>
            <a:off x="8128000" y="1397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651000"/>
            <a:ext cx="406400" cy="406400"/>
          </a:xfrm>
          <a:prstGeom prst="rect">
            <a:avLst/>
          </a:prstGeom>
        </p:spPr>
      </p:pic>
      <p:sp>
        <p:nvSpPr>
          <p:cNvPr id="17" name="AutoShape 17"/>
          <p:cNvSpPr/>
          <p:nvPr/>
        </p:nvSpPr>
        <p:spPr>
          <a:xfrm>
            <a:off x="8890000" y="1600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TokenTextSplitter</a:t>
            </a:r>
            <a:endParaRPr lang="en-US" sz="1100"/>
          </a:p>
        </p:txBody>
      </p:sp>
      <p:sp>
        <p:nvSpPr>
          <p:cNvPr id="18" name="AutoShape 18"/>
          <p:cNvSpPr/>
          <p:nvPr/>
        </p:nvSpPr>
        <p:spPr>
          <a:xfrm>
            <a:off x="8382000" y="20955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按Token数量切割，精确控制模型输入长度。</a:t>
            </a:r>
            <a:endParaRPr lang="en-US" sz="1100"/>
          </a:p>
        </p:txBody>
      </p:sp>
      <p:sp>
        <p:nvSpPr>
          <p:cNvPr id="19" name="AutoShape 19"/>
          <p:cNvSpPr/>
          <p:nvPr/>
        </p:nvSpPr>
        <p:spPr>
          <a:xfrm>
            <a:off x="8382000" y="2730500"/>
            <a:ext cx="2794000" cy="1778000"/>
          </a:xfrm>
          <a:prstGeom prst="roundRect">
            <a:avLst>
              <a:gd name="adj" fmla="val 3571"/>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509000" y="2857500"/>
            <a:ext cx="2540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9800"/>
                </a:solidFill>
                <a:latin typeface="Roboto Mono"/>
                <a:ea typeface="Roboto Mono"/>
                <a:cs typeface="Roboto Mono"/>
                <a:sym typeface="Roboto Mono"/>
              </a:rPr>
              <a:t>from</a:t>
            </a:r>
            <a:r>
              <a:rPr lang="en-US" sz="1200" b="0" i="0" u="none" strike="noStrike">
                <a:solidFill>
                  <a:srgbClr val="333333"/>
                </a:solidFill>
                <a:latin typeface="Roboto Mono"/>
                <a:ea typeface="Roboto Mono"/>
                <a:cs typeface="Roboto Mono"/>
                <a:sym typeface="Roboto Mono"/>
              </a:rPr>
              <a:t>langchain_text_splitters</a:t>
            </a:r>
            <a:r>
              <a:rPr lang="en-US" sz="1200" b="0" i="0" u="none" strike="noStrike">
                <a:solidFill>
                  <a:srgbClr val="FF9800"/>
                </a:solidFill>
                <a:latin typeface="Roboto Mono"/>
                <a:ea typeface="Roboto Mono"/>
                <a:cs typeface="Roboto Mono"/>
                <a:sym typeface="Roboto Mono"/>
              </a:rPr>
              <a:t>import</a:t>
            </a:r>
            <a:r>
              <a:rPr lang="en-US" sz="1200" b="0" i="0" u="none" strike="noStrike">
                <a:solidFill>
                  <a:srgbClr val="333333"/>
                </a:solidFill>
                <a:latin typeface="Roboto Mono"/>
                <a:ea typeface="Roboto Mono"/>
                <a:cs typeface="Roboto Mono"/>
                <a:sym typeface="Roboto Mono"/>
              </a:rPr>
              <a:t>TokenTextSplitter</a:t>
            </a:r>
            <a:endParaRPr lang="en-US" sz="1100"/>
          </a:p>
          <a:p>
            <a:pPr indent="0" algn="l">
              <a:lnSpc>
                <a:spcPct val="125000"/>
              </a:lnSpc>
            </a:pPr>
            <a:r>
              <a:rPr lang="en-US" sz="1200" b="0" i="0" u="none" strike="noStrike">
                <a:solidFill>
                  <a:srgbClr val="333333"/>
                </a:solidFill>
                <a:latin typeface="Roboto Mono"/>
                <a:ea typeface="Roboto Mono"/>
                <a:cs typeface="Roboto Mono"/>
                <a:sym typeface="Roboto Mono"/>
              </a:rPr>
              <a:t>text_splitter = TokenTextSplitter(chunk_size=100, chunk_overlap=0)</a:t>
            </a:r>
            <a:endParaRPr lang="en-US" sz="1200" b="0" i="0" u="none" strike="noStrike">
              <a:solidFill>
                <a:srgbClr val="333333"/>
              </a:solidFill>
              <a:latin typeface="Roboto Mono"/>
              <a:ea typeface="Roboto Mono"/>
              <a:cs typeface="Roboto Mono"/>
              <a:sym typeface="Roboto Mono"/>
            </a:endParaRPr>
          </a:p>
        </p:txBody>
      </p:sp>
      <p:sp>
        <p:nvSpPr>
          <p:cNvPr id="21" name="AutoShape 21"/>
          <p:cNvSpPr/>
          <p:nvPr/>
        </p:nvSpPr>
        <p:spPr>
          <a:xfrm>
            <a:off x="762000" y="5334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524500"/>
            <a:ext cx="304800" cy="304800"/>
          </a:xfrm>
          <a:prstGeom prst="rect">
            <a:avLst/>
          </a:prstGeom>
        </p:spPr>
      </p:pic>
      <p:sp>
        <p:nvSpPr>
          <p:cNvPr id="23" name="AutoShape 23"/>
          <p:cNvSpPr/>
          <p:nvPr/>
        </p:nvSpPr>
        <p:spPr>
          <a:xfrm>
            <a:off x="1460500" y="5486400"/>
            <a:ext cx="9779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77BD"/>
                </a:solidFill>
                <a:latin typeface="Noto Sans SC"/>
                <a:ea typeface="Noto Sans SC"/>
                <a:cs typeface="Noto Sans SC"/>
                <a:sym typeface="Noto Sans SC"/>
              </a:rPr>
              <a:t>提示：</a:t>
            </a:r>
            <a:r>
              <a:rPr lang="en-US" sz="1400" b="0" i="0" u="none" strike="noStrike">
                <a:solidFill>
                  <a:srgbClr val="505050"/>
                </a:solidFill>
                <a:latin typeface="Noto Sans SC"/>
                <a:ea typeface="Noto Sans SC"/>
                <a:cs typeface="Noto Sans SC"/>
                <a:sym typeface="Noto Sans SC"/>
              </a:rPr>
              <a:t>Chunk_size 决定了每块文本的大小，Chunk_overlap 决定了块与块之间的重叠部分，用于保持上下文连贯性。</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124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8.3.3 数据转换</a:t>
            </a:r>
            <a:endParaRPr lang="en-US" sz="1100"/>
          </a:p>
        </p:txBody>
      </p:sp>
      <p:sp>
        <p:nvSpPr>
          <p:cNvPr id="3" name="AutoShape 3"/>
          <p:cNvSpPr/>
          <p:nvPr/>
        </p:nvSpPr>
        <p:spPr>
          <a:xfrm>
            <a:off x="762000" y="1270000"/>
            <a:ext cx="5080000" cy="1651000"/>
          </a:xfrm>
          <a:prstGeom prst="roundRect">
            <a:avLst>
              <a:gd name="adj" fmla="val 7692"/>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524000"/>
            <a:ext cx="406400" cy="406400"/>
          </a:xfrm>
          <a:prstGeom prst="rect">
            <a:avLst/>
          </a:prstGeom>
        </p:spPr>
      </p:pic>
      <p:sp>
        <p:nvSpPr>
          <p:cNvPr id="5" name="AutoShape 5"/>
          <p:cNvSpPr/>
          <p:nvPr/>
        </p:nvSpPr>
        <p:spPr>
          <a:xfrm>
            <a:off x="1524000" y="14986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核心作用</a:t>
            </a:r>
            <a:endParaRPr lang="en-US" sz="1100"/>
          </a:p>
        </p:txBody>
      </p:sp>
      <p:sp>
        <p:nvSpPr>
          <p:cNvPr id="6" name="AutoShape 6"/>
          <p:cNvSpPr/>
          <p:nvPr/>
        </p:nvSpPr>
        <p:spPr>
          <a:xfrm>
            <a:off x="1016000" y="19685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对原始文本数据进行清洗、格式化和向量化，消除噪声，统一格式，使其能够被模型有效理解和利用。</a:t>
            </a:r>
            <a:endParaRPr lang="en-US" sz="1100"/>
          </a:p>
        </p:txBody>
      </p:sp>
      <p:sp>
        <p:nvSpPr>
          <p:cNvPr id="7" name="AutoShape 7"/>
          <p:cNvSpPr/>
          <p:nvPr/>
        </p:nvSpPr>
        <p:spPr>
          <a:xfrm>
            <a:off x="762000" y="3175000"/>
            <a:ext cx="5080000" cy="1905000"/>
          </a:xfrm>
          <a:prstGeom prst="roundRect">
            <a:avLst>
              <a:gd name="adj" fmla="val 6666"/>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429000"/>
            <a:ext cx="406400" cy="406400"/>
          </a:xfrm>
          <a:prstGeom prst="rect">
            <a:avLst/>
          </a:prstGeom>
        </p:spPr>
      </p:pic>
      <p:sp>
        <p:nvSpPr>
          <p:cNvPr id="9" name="AutoShape 9"/>
          <p:cNvSpPr/>
          <p:nvPr/>
        </p:nvSpPr>
        <p:spPr>
          <a:xfrm>
            <a:off x="1524000" y="34036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常用转换器</a:t>
            </a:r>
            <a:endParaRPr lang="en-US" sz="1100"/>
          </a:p>
        </p:txBody>
      </p:sp>
      <p:sp>
        <p:nvSpPr>
          <p:cNvPr id="10" name="AutoShape 10"/>
          <p:cNvSpPr/>
          <p:nvPr/>
        </p:nvSpPr>
        <p:spPr>
          <a:xfrm>
            <a:off x="1016000" y="3873500"/>
            <a:ext cx="4572000" cy="1016000"/>
          </a:xfrm>
          <a:prstGeom prst="rect">
            <a:avLst/>
          </a:prstGeom>
          <a:noFill/>
          <a:ln w="12700" cap="flat" cmpd="sng">
            <a:noFill/>
            <a:prstDash val="solid"/>
            <a:round/>
          </a:ln>
        </p:spPr>
        <p:txBody>
          <a:bodyPr vert="horz" wrap="square" lIns="0" tIns="0" rIns="0" bIns="0" rtlCol="0" anchor="ctr" anchorCtr="0"/>
          <a:lstStyle/>
          <a:p>
            <a:pPr marL="190500" indent="-190500" algn="l">
              <a:lnSpc>
                <a:spcPct val="117000"/>
              </a:lnSpc>
              <a:buClr>
                <a:srgbClr val="FF9800"/>
              </a:buClr>
              <a:buChar char="•"/>
              <a:defRPr/>
            </a:pPr>
            <a:r>
              <a:rPr lang="en-US" sz="1500" b="1" i="0" u="none" strike="noStrike">
                <a:solidFill>
                  <a:srgbClr val="FF9800"/>
                </a:solidFill>
                <a:latin typeface="Noto Sans SC"/>
                <a:ea typeface="Noto Sans SC"/>
                <a:cs typeface="Noto Sans SC"/>
                <a:sym typeface="Noto Sans SC"/>
              </a:rPr>
              <a:t>Embeddings：</a:t>
            </a:r>
            <a:r>
              <a:rPr lang="en-US" sz="1500" b="0" i="0" u="none" strike="noStrike">
                <a:solidFill>
                  <a:srgbClr val="757575"/>
                </a:solidFill>
                <a:latin typeface="Noto Sans SC"/>
                <a:ea typeface="Noto Sans SC"/>
                <a:cs typeface="Noto Sans SC"/>
                <a:sym typeface="Noto Sans SC"/>
              </a:rPr>
              <a:t>将文本转换为高维数值向量，是语义检索的基础。</a:t>
            </a:r>
            <a:endParaRPr lang="en-US" sz="1100"/>
          </a:p>
          <a:p>
            <a:pPr marL="190500" indent="-190500" algn="l">
              <a:lnSpc>
                <a:spcPct val="117000"/>
              </a:lnSpc>
              <a:buClr>
                <a:srgbClr val="FF9800"/>
              </a:buClr>
              <a:buChar char="•"/>
            </a:pPr>
            <a:r>
              <a:rPr lang="en-US" sz="1500" b="1" i="0" u="none" strike="noStrike">
                <a:solidFill>
                  <a:srgbClr val="FF9800"/>
                </a:solidFill>
                <a:latin typeface="Noto Sans SC"/>
                <a:ea typeface="Noto Sans SC"/>
                <a:cs typeface="Noto Sans SC"/>
                <a:sym typeface="Noto Sans SC"/>
              </a:rPr>
              <a:t>TextLoader：</a:t>
            </a:r>
            <a:r>
              <a:rPr lang="en-US" sz="1500" b="0" i="0" u="none" strike="noStrike">
                <a:solidFill>
                  <a:srgbClr val="757575"/>
                </a:solidFill>
                <a:latin typeface="Noto Sans SC"/>
                <a:ea typeface="Noto Sans SC"/>
                <a:cs typeface="Noto Sans SC"/>
                <a:sym typeface="Noto Sans SC"/>
              </a:rPr>
              <a:t>加载各类文本文件（如 .txt, .md），处理编码问题。</a:t>
            </a:r>
            <a:endParaRPr lang="en-US" sz="1500" b="0" i="0" u="none" strike="noStrike">
              <a:solidFill>
                <a:srgbClr val="757575"/>
              </a:solidFill>
              <a:latin typeface="Noto Sans SC"/>
              <a:ea typeface="Noto Sans SC"/>
              <a:cs typeface="Noto Sans SC"/>
              <a:sym typeface="Noto Sans SC"/>
            </a:endParaRPr>
          </a:p>
        </p:txBody>
      </p:sp>
      <p:sp>
        <p:nvSpPr>
          <p:cNvPr id="11" name="AutoShape 11"/>
          <p:cNvSpPr/>
          <p:nvPr/>
        </p:nvSpPr>
        <p:spPr>
          <a:xfrm>
            <a:off x="6096000" y="1270000"/>
            <a:ext cx="5334000" cy="3810000"/>
          </a:xfrm>
          <a:prstGeom prst="roundRect">
            <a:avLst>
              <a:gd name="adj" fmla="val 3333"/>
            </a:avLst>
          </a:prstGeom>
          <a:solidFill>
            <a:srgbClr val="1E1E1E">
              <a:alpha val="100000"/>
            </a:srgbClr>
          </a:solidFill>
          <a:ln w="25400" cap="flat" cmpd="sng">
            <a:noFill/>
            <a:prstDash val="solid"/>
            <a:round/>
          </a:ln>
          <a:effectLst>
            <a:outerShdw blurRad="190500" dist="76200" dir="2700000" algn="tl" rotWithShape="0">
              <a:srgbClr val="000000">
                <a:alpha val="20000"/>
              </a:srgbClr>
            </a:outerShdw>
          </a:effectLst>
        </p:spPr>
        <p:txBody>
          <a:bodyPr vert="horz" wrap="square" lIns="63500" tIns="63500" rIns="63500" bIns="63500" rtlCol="0" anchor="ctr"/>
          <a:lstStyle/>
          <a:p>
            <a:pPr algn="ctr">
              <a:defRPr/>
            </a:pPr>
          </a:p>
        </p:txBody>
      </p:sp>
      <p:sp>
        <p:nvSpPr>
          <p:cNvPr id="12" name="AutoShape 12"/>
          <p:cNvSpPr/>
          <p:nvPr/>
        </p:nvSpPr>
        <p:spPr>
          <a:xfrm>
            <a:off x="6096000" y="1270000"/>
            <a:ext cx="5334000" cy="457200"/>
          </a:xfrm>
          <a:prstGeom prst="roundRect">
            <a:avLst>
              <a:gd name="adj" fmla="val 0"/>
            </a:avLst>
          </a:prstGeom>
          <a:solidFill>
            <a:srgbClr val="2D2D2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286500" y="1397000"/>
            <a:ext cx="152400" cy="152400"/>
          </a:xfrm>
          <a:prstGeom prst="ellipse">
            <a:avLst/>
          </a:prstGeom>
          <a:solidFill>
            <a:srgbClr val="FF5F5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540500" y="1397000"/>
            <a:ext cx="152400" cy="152400"/>
          </a:xfrm>
          <a:prstGeom prst="ellipse">
            <a:avLst/>
          </a:prstGeom>
          <a:solidFill>
            <a:srgbClr val="FFBD2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794500" y="1397000"/>
            <a:ext cx="152400" cy="152400"/>
          </a:xfrm>
          <a:prstGeom prst="ellipse">
            <a:avLst/>
          </a:prstGeom>
          <a:solidFill>
            <a:srgbClr val="27C93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7112000" y="13462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969696"/>
                </a:solidFill>
                <a:latin typeface="Noto Sans SC"/>
                <a:ea typeface="Noto Sans SC"/>
                <a:cs typeface="Noto Sans SC"/>
                <a:sym typeface="Noto Sans SC"/>
              </a:rPr>
              <a:t>Python: OpenAIEmbeddings 示例</a:t>
            </a:r>
            <a:endParaRPr lang="en-US" sz="1100"/>
          </a:p>
        </p:txBody>
      </p:sp>
      <p:sp>
        <p:nvSpPr>
          <p:cNvPr id="17" name="AutoShape 17"/>
          <p:cNvSpPr/>
          <p:nvPr/>
        </p:nvSpPr>
        <p:spPr>
          <a:xfrm>
            <a:off x="6286500" y="1841500"/>
            <a:ext cx="4953000" cy="304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C678DD"/>
                </a:solidFill>
                <a:latin typeface="Roboto Mono"/>
                <a:ea typeface="Roboto Mono"/>
                <a:cs typeface="Roboto Mono"/>
                <a:sym typeface="Roboto Mono"/>
              </a:rPr>
              <a:t>from</a:t>
            </a:r>
            <a:r>
              <a:rPr lang="en-US" sz="1300" b="0" i="0" u="none" strike="noStrike">
                <a:solidFill>
                  <a:srgbClr val="DCDFE4"/>
                </a:solidFill>
                <a:latin typeface="Roboto Mono"/>
                <a:ea typeface="Roboto Mono"/>
                <a:cs typeface="Roboto Mono"/>
                <a:sym typeface="Roboto Mono"/>
              </a:rPr>
              <a:t>langchain_openai</a:t>
            </a:r>
            <a:r>
              <a:rPr lang="en-US" sz="1300" b="0" i="0" u="none" strike="noStrike">
                <a:solidFill>
                  <a:srgbClr val="C678DD"/>
                </a:solidFill>
                <a:latin typeface="Roboto Mono"/>
                <a:ea typeface="Roboto Mono"/>
                <a:cs typeface="Roboto Mono"/>
                <a:sym typeface="Roboto Mono"/>
              </a:rPr>
              <a:t>import</a:t>
            </a:r>
            <a:r>
              <a:rPr lang="en-US" sz="1300" b="0" i="0" u="none" strike="noStrike">
                <a:solidFill>
                  <a:srgbClr val="DCDFE4"/>
                </a:solidFill>
                <a:latin typeface="Roboto Mono"/>
                <a:ea typeface="Roboto Mono"/>
                <a:cs typeface="Roboto Mono"/>
                <a:sym typeface="Roboto Mono"/>
              </a:rPr>
              <a:t>OpenAIEmbeddings</a:t>
            </a:r>
            <a:endParaRPr lang="en-US" sz="1100"/>
          </a:p>
          <a:p>
            <a:pPr indent="0" algn="l">
              <a:lnSpc>
                <a:spcPct val="108000"/>
              </a:lnSpc>
            </a:pPr>
          </a:p>
          <a:p>
            <a:pPr indent="0" algn="l">
              <a:lnSpc>
                <a:spcPct val="108000"/>
              </a:lnSpc>
            </a:pPr>
            <a:r>
              <a:rPr lang="en-US" sz="1300" b="0" i="0" u="none" strike="noStrike">
                <a:solidFill>
                  <a:srgbClr val="DCDFE4"/>
                </a:solidFill>
                <a:latin typeface="Roboto Mono"/>
                <a:ea typeface="Roboto Mono"/>
                <a:cs typeface="Roboto Mono"/>
                <a:sym typeface="Roboto Mono"/>
              </a:rPr>
              <a:t>embeddings = OpenAIEmbeddings()</a:t>
            </a:r>
            <a:endParaRPr lang="en-US" sz="1300" b="0" i="0" u="none" strike="noStrike">
              <a:solidFill>
                <a:srgbClr val="DCDFE4"/>
              </a:solidFill>
              <a:latin typeface="Roboto Mono"/>
              <a:ea typeface="Roboto Mono"/>
              <a:cs typeface="Roboto Mono"/>
              <a:sym typeface="Roboto Mono"/>
            </a:endParaRPr>
          </a:p>
          <a:p>
            <a:pPr indent="0" algn="l">
              <a:lnSpc>
                <a:spcPct val="108000"/>
              </a:lnSpc>
            </a:pPr>
            <a:r>
              <a:rPr lang="en-US" sz="1300" b="0" i="0" u="none" strike="noStrike">
                <a:solidFill>
                  <a:srgbClr val="DCDFE4"/>
                </a:solidFill>
                <a:latin typeface="Roboto Mono"/>
                <a:ea typeface="Roboto Mono"/>
                <a:cs typeface="Roboto Mono"/>
                <a:sym typeface="Roboto Mono"/>
              </a:rPr>
              <a:t>text =</a:t>
            </a:r>
            <a:r>
              <a:rPr lang="en-US" sz="1300" b="0" i="0" u="none" strike="noStrike">
                <a:solidFill>
                  <a:srgbClr val="98C379"/>
                </a:solidFill>
                <a:latin typeface="Roboto Mono"/>
                <a:ea typeface="Roboto Mono"/>
                <a:cs typeface="Roboto Mono"/>
                <a:sym typeface="Roboto Mono"/>
              </a:rPr>
              <a:t>"这是一段需要向量化的文本。"</a:t>
            </a:r>
            <a:endParaRPr lang="en-US" sz="1300" b="0" i="0" u="none" strike="noStrike">
              <a:solidFill>
                <a:srgbClr val="98C379"/>
              </a:solidFill>
              <a:latin typeface="Roboto Mono"/>
              <a:ea typeface="Roboto Mono"/>
              <a:cs typeface="Roboto Mono"/>
              <a:sym typeface="Roboto Mono"/>
            </a:endParaRPr>
          </a:p>
          <a:p>
            <a:pPr indent="0" algn="l">
              <a:lnSpc>
                <a:spcPct val="108000"/>
              </a:lnSpc>
            </a:pPr>
            <a:r>
              <a:rPr lang="en-US" sz="1300" b="0" i="0" u="none" strike="noStrike">
                <a:solidFill>
                  <a:srgbClr val="DCDFE4"/>
                </a:solidFill>
                <a:latin typeface="Roboto Mono"/>
                <a:ea typeface="Roboto Mono"/>
                <a:cs typeface="Roboto Mono"/>
                <a:sym typeface="Roboto Mono"/>
              </a:rPr>
              <a:t>vector = embeddings.embed_query(text)</a:t>
            </a:r>
            <a:endParaRPr lang="en-US" sz="1300" b="0" i="0" u="none" strike="noStrike">
              <a:solidFill>
                <a:srgbClr val="DCDFE4"/>
              </a:solidFill>
              <a:latin typeface="Roboto Mono"/>
              <a:ea typeface="Roboto Mono"/>
              <a:cs typeface="Roboto Mono"/>
              <a:sym typeface="Roboto Mono"/>
            </a:endParaRPr>
          </a:p>
          <a:p>
            <a:pPr indent="0" algn="l">
              <a:lnSpc>
                <a:spcPct val="108000"/>
              </a:lnSpc>
            </a:pPr>
          </a:p>
          <a:p>
            <a:pPr indent="0" algn="l">
              <a:lnSpc>
                <a:spcPct val="108000"/>
              </a:lnSpc>
            </a:pPr>
            <a:r>
              <a:rPr lang="en-US" sz="1300" b="0" i="0" u="none" strike="noStrike">
                <a:solidFill>
                  <a:srgbClr val="5C6370"/>
                </a:solidFill>
                <a:latin typeface="Roboto Mono"/>
                <a:ea typeface="Roboto Mono"/>
                <a:cs typeface="Roboto Mono"/>
                <a:sym typeface="Roboto Mono"/>
              </a:rPr>
              <a:t># 输出向量形状和部分值</a:t>
            </a:r>
            <a:endParaRPr lang="en-US" sz="1300" b="0" i="0" u="none" strike="noStrike">
              <a:solidFill>
                <a:srgbClr val="5C6370"/>
              </a:solidFill>
              <a:latin typeface="Roboto Mono"/>
              <a:ea typeface="Roboto Mono"/>
              <a:cs typeface="Roboto Mono"/>
              <a:sym typeface="Roboto Mono"/>
            </a:endParaRPr>
          </a:p>
          <a:p>
            <a:pPr indent="0" algn="l">
              <a:lnSpc>
                <a:spcPct val="108000"/>
              </a:lnSpc>
            </a:pPr>
            <a:r>
              <a:rPr lang="en-US" sz="1300" b="0" i="0" u="none" strike="noStrike">
                <a:solidFill>
                  <a:srgbClr val="DCDFE4"/>
                </a:solidFill>
                <a:latin typeface="Roboto Mono"/>
                <a:ea typeface="Roboto Mono"/>
                <a:cs typeface="Roboto Mono"/>
                <a:sym typeface="Roboto Mono"/>
              </a:rPr>
              <a:t>print(f</a:t>
            </a:r>
            <a:r>
              <a:rPr lang="en-US" sz="1300" b="0" i="0" u="none" strike="noStrike">
                <a:solidFill>
                  <a:srgbClr val="98C379"/>
                </a:solidFill>
                <a:latin typeface="Roboto Mono"/>
                <a:ea typeface="Roboto Mono"/>
                <a:cs typeface="Roboto Mono"/>
                <a:sym typeface="Roboto Mono"/>
              </a:rPr>
              <a:t>"向量形状: {len(vector)}"</a:t>
            </a:r>
            <a:r>
              <a:rPr lang="en-US" sz="1300" b="0" i="0" u="none" strike="noStrike">
                <a:solidFill>
                  <a:srgbClr val="DCDFE4"/>
                </a:solidFill>
                <a:latin typeface="Roboto Mono"/>
                <a:ea typeface="Roboto Mono"/>
                <a:cs typeface="Roboto Mono"/>
                <a:sym typeface="Roboto Mono"/>
              </a:rPr>
              <a:t>)</a:t>
            </a:r>
            <a:endParaRPr lang="en-US" sz="1300" b="0" i="0" u="none" strike="noStrike">
              <a:solidFill>
                <a:srgbClr val="DCDFE4"/>
              </a:solidFill>
              <a:latin typeface="Roboto Mono"/>
              <a:ea typeface="Roboto Mono"/>
              <a:cs typeface="Roboto Mono"/>
              <a:sym typeface="Roboto Mono"/>
            </a:endParaRPr>
          </a:p>
          <a:p>
            <a:pPr indent="0" algn="l">
              <a:lnSpc>
                <a:spcPct val="108000"/>
              </a:lnSpc>
            </a:pPr>
            <a:r>
              <a:rPr lang="en-US" sz="1300" b="0" i="0" u="none" strike="noStrike">
                <a:solidFill>
                  <a:srgbClr val="DCDFE4"/>
                </a:solidFill>
                <a:latin typeface="Roboto Mono"/>
                <a:ea typeface="Roboto Mono"/>
                <a:cs typeface="Roboto Mono"/>
                <a:sym typeface="Roboto Mono"/>
              </a:rPr>
              <a:t>print(f</a:t>
            </a:r>
            <a:r>
              <a:rPr lang="en-US" sz="1300" b="0" i="0" u="none" strike="noStrike">
                <a:solidFill>
                  <a:srgbClr val="98C379"/>
                </a:solidFill>
                <a:latin typeface="Roboto Mono"/>
                <a:ea typeface="Roboto Mono"/>
                <a:cs typeface="Roboto Mono"/>
                <a:sym typeface="Roboto Mono"/>
              </a:rPr>
              <a:t>"向量前5个值: {vector[:5]}"</a:t>
            </a:r>
            <a:r>
              <a:rPr lang="en-US" sz="1300" b="0" i="0" u="none" strike="noStrike">
                <a:solidFill>
                  <a:srgbClr val="DCDFE4"/>
                </a:solidFill>
                <a:latin typeface="Roboto Mono"/>
                <a:ea typeface="Roboto Mono"/>
                <a:cs typeface="Roboto Mono"/>
                <a:sym typeface="Roboto Mono"/>
              </a:rPr>
              <a:t>)</a:t>
            </a:r>
            <a:endParaRPr lang="en-US" sz="1300" b="0" i="0" u="none" strike="noStrike">
              <a:solidFill>
                <a:srgbClr val="DCDFE4"/>
              </a:solidFill>
              <a:latin typeface="Roboto Mono"/>
              <a:ea typeface="Roboto Mono"/>
              <a:cs typeface="Roboto Mono"/>
              <a:sym typeface="Roboto Mono"/>
            </a:endParaRPr>
          </a:p>
        </p:txBody>
      </p:sp>
      <p:sp>
        <p:nvSpPr>
          <p:cNvPr id="18" name="AutoShape 18"/>
          <p:cNvSpPr/>
          <p:nvPr/>
        </p:nvSpPr>
        <p:spPr>
          <a:xfrm>
            <a:off x="762000" y="5334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511800"/>
            <a:ext cx="406400" cy="406400"/>
          </a:xfrm>
          <a:prstGeom prst="rect">
            <a:avLst/>
          </a:prstGeom>
        </p:spPr>
      </p:pic>
      <p:sp>
        <p:nvSpPr>
          <p:cNvPr id="20" name="AutoShape 20"/>
          <p:cNvSpPr/>
          <p:nvPr/>
        </p:nvSpPr>
        <p:spPr>
          <a:xfrm>
            <a:off x="1524000" y="5461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关键提示：</a:t>
            </a:r>
            <a:r>
              <a:rPr lang="en-US" sz="1600" b="0" i="0" u="none" strike="noStrike">
                <a:solidFill>
                  <a:srgbClr val="505050"/>
                </a:solidFill>
                <a:latin typeface="Noto Sans SC"/>
                <a:ea typeface="Noto Sans SC"/>
                <a:cs typeface="Noto Sans SC"/>
                <a:sym typeface="Noto Sans SC"/>
              </a:rPr>
              <a:t>Embeddings 是连接自然语言与机器学习模型的桥梁，高质量的向量表示是实现精准检索和问答的前提。</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692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数据转换示例</a:t>
            </a:r>
            <a:endParaRPr lang="en-US" sz="1100"/>
          </a:p>
        </p:txBody>
      </p:sp>
      <p:sp>
        <p:nvSpPr>
          <p:cNvPr id="3" name="AutoShape 3"/>
          <p:cNvSpPr/>
          <p:nvPr/>
        </p:nvSpPr>
        <p:spPr>
          <a:xfrm>
            <a:off x="762000" y="1397000"/>
            <a:ext cx="5080000" cy="3048000"/>
          </a:xfrm>
          <a:prstGeom prst="roundRect">
            <a:avLst>
              <a:gd name="adj" fmla="val 4166"/>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016000" y="15875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757575"/>
                </a:solidFill>
                <a:latin typeface="Noto Sans SC"/>
                <a:ea typeface="Noto Sans SC"/>
                <a:cs typeface="Noto Sans SC"/>
                <a:sym typeface="Noto Sans SC"/>
              </a:rPr>
              <a:t>代码实现 (Python)</a:t>
            </a:r>
            <a:endParaRPr lang="en-US" sz="1100"/>
          </a:p>
        </p:txBody>
      </p:sp>
      <p:sp>
        <p:nvSpPr>
          <p:cNvPr id="5" name="AutoShape 5"/>
          <p:cNvSpPr/>
          <p:nvPr/>
        </p:nvSpPr>
        <p:spPr>
          <a:xfrm>
            <a:off x="1016000" y="1968500"/>
            <a:ext cx="4572000" cy="215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555555"/>
                </a:solidFill>
                <a:latin typeface="Roboto Mono"/>
                <a:ea typeface="Roboto Mono"/>
                <a:cs typeface="Roboto Mono"/>
                <a:sym typeface="Roboto Mono"/>
              </a:rPr>
              <a:t>from langchain_openai import OpenAIEmbeddings</a:t>
            </a:r>
            <a:endParaRPr lang="en-US" sz="1100"/>
          </a:p>
          <a:p>
            <a:pPr indent="0" algn="l">
              <a:lnSpc>
                <a:spcPct val="108000"/>
              </a:lnSpc>
            </a:pPr>
            <a:r>
              <a:rPr lang="en-US" sz="1300" b="0" i="0" u="none" strike="noStrike">
                <a:solidFill>
                  <a:srgbClr val="555555"/>
                </a:solidFill>
                <a:latin typeface="Roboto Mono"/>
                <a:ea typeface="Roboto Mono"/>
                <a:cs typeface="Roboto Mono"/>
                <a:sym typeface="Roboto Mono"/>
              </a:rPr>
              <a:t>embeddings = OpenAIEmbeddings()</a:t>
            </a:r>
            <a:endParaRPr lang="en-US" sz="1300" b="0" i="0" u="none" strike="noStrike">
              <a:solidFill>
                <a:srgbClr val="555555"/>
              </a:solidFill>
              <a:latin typeface="Roboto Mono"/>
              <a:ea typeface="Roboto Mono"/>
              <a:cs typeface="Roboto Mono"/>
              <a:sym typeface="Roboto Mono"/>
            </a:endParaRPr>
          </a:p>
          <a:p>
            <a:pPr indent="0" algn="l">
              <a:lnSpc>
                <a:spcPct val="108000"/>
              </a:lnSpc>
            </a:pPr>
            <a:r>
              <a:rPr lang="en-US" sz="1300" b="0" i="0" u="none" strike="noStrike">
                <a:solidFill>
                  <a:srgbClr val="555555"/>
                </a:solidFill>
                <a:latin typeface="Roboto Mono"/>
                <a:ea typeface="Roboto Mono"/>
                <a:cs typeface="Roboto Mono"/>
                <a:sym typeface="Roboto Mono"/>
              </a:rPr>
              <a:t>text = "这是一段需要向量化的文本。"</a:t>
            </a:r>
            <a:endParaRPr lang="en-US" sz="1300" b="0" i="0" u="none" strike="noStrike">
              <a:solidFill>
                <a:srgbClr val="555555"/>
              </a:solidFill>
              <a:latin typeface="Roboto Mono"/>
              <a:ea typeface="Roboto Mono"/>
              <a:cs typeface="Roboto Mono"/>
              <a:sym typeface="Roboto Mono"/>
            </a:endParaRPr>
          </a:p>
          <a:p>
            <a:pPr indent="0" algn="l">
              <a:lnSpc>
                <a:spcPct val="108000"/>
              </a:lnSpc>
            </a:pPr>
            <a:r>
              <a:rPr lang="en-US" sz="1300" b="0" i="0" u="none" strike="noStrike">
                <a:solidFill>
                  <a:srgbClr val="555555"/>
                </a:solidFill>
                <a:latin typeface="Roboto Mono"/>
                <a:ea typeface="Roboto Mono"/>
                <a:cs typeface="Roboto Mono"/>
                <a:sym typeface="Roboto Mono"/>
              </a:rPr>
              <a:t>vector = embeddings.embed_query(text)</a:t>
            </a:r>
            <a:endParaRPr lang="en-US" sz="1300" b="0" i="0" u="none" strike="noStrike">
              <a:solidFill>
                <a:srgbClr val="555555"/>
              </a:solidFill>
              <a:latin typeface="Roboto Mono"/>
              <a:ea typeface="Roboto Mono"/>
              <a:cs typeface="Roboto Mono"/>
              <a:sym typeface="Roboto Mono"/>
            </a:endParaRPr>
          </a:p>
          <a:p>
            <a:pPr indent="0" algn="l">
              <a:lnSpc>
                <a:spcPct val="108000"/>
              </a:lnSpc>
            </a:pPr>
            <a:r>
              <a:rPr lang="en-US" sz="1300" b="0" i="0" u="none" strike="noStrike">
                <a:solidFill>
                  <a:srgbClr val="555555"/>
                </a:solidFill>
                <a:latin typeface="Roboto Mono"/>
                <a:ea typeface="Roboto Mono"/>
                <a:cs typeface="Roboto Mono"/>
                <a:sym typeface="Roboto Mono"/>
              </a:rPr>
              <a:t>print(f"向量形状: {len(vector)}")</a:t>
            </a:r>
            <a:endParaRPr lang="en-US" sz="1300" b="0" i="0" u="none" strike="noStrike">
              <a:solidFill>
                <a:srgbClr val="555555"/>
              </a:solidFill>
              <a:latin typeface="Roboto Mono"/>
              <a:ea typeface="Roboto Mono"/>
              <a:cs typeface="Roboto Mono"/>
              <a:sym typeface="Roboto Mono"/>
            </a:endParaRPr>
          </a:p>
          <a:p>
            <a:pPr indent="0" algn="l">
              <a:lnSpc>
                <a:spcPct val="108000"/>
              </a:lnSpc>
            </a:pPr>
            <a:r>
              <a:rPr lang="en-US" sz="1300" b="0" i="0" u="none" strike="noStrike">
                <a:solidFill>
                  <a:srgbClr val="555555"/>
                </a:solidFill>
                <a:latin typeface="Roboto Mono"/>
                <a:ea typeface="Roboto Mono"/>
                <a:cs typeface="Roboto Mono"/>
                <a:sym typeface="Roboto Mono"/>
              </a:rPr>
              <a:t>print(f"向量前5个值: {vector[:5]}")</a:t>
            </a:r>
            <a:endParaRPr lang="en-US" sz="1300" b="0" i="0" u="none" strike="noStrike">
              <a:solidFill>
                <a:srgbClr val="555555"/>
              </a:solidFill>
              <a:latin typeface="Roboto Mono"/>
              <a:ea typeface="Roboto Mono"/>
              <a:cs typeface="Roboto Mono"/>
              <a:sym typeface="Roboto Mono"/>
            </a:endParaR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096000" y="2667000"/>
            <a:ext cx="508000" cy="508000"/>
          </a:xfrm>
          <a:prstGeom prst="rect">
            <a:avLst/>
          </a:prstGeom>
        </p:spPr>
      </p:pic>
      <p:sp>
        <p:nvSpPr>
          <p:cNvPr id="7" name="AutoShape 7"/>
          <p:cNvSpPr/>
          <p:nvPr/>
        </p:nvSpPr>
        <p:spPr>
          <a:xfrm>
            <a:off x="6858000" y="1397000"/>
            <a:ext cx="4572000" cy="3048000"/>
          </a:xfrm>
          <a:prstGeom prst="roundRect">
            <a:avLst>
              <a:gd name="adj" fmla="val 4166"/>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sp>
        <p:nvSpPr>
          <p:cNvPr id="8" name="AutoShape 8"/>
          <p:cNvSpPr/>
          <p:nvPr/>
        </p:nvSpPr>
        <p:spPr>
          <a:xfrm>
            <a:off x="7112000" y="15875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757575"/>
                </a:solidFill>
                <a:latin typeface="Noto Sans SC"/>
                <a:ea typeface="Noto Sans SC"/>
                <a:cs typeface="Noto Sans SC"/>
                <a:sym typeface="Noto Sans SC"/>
              </a:rPr>
              <a:t>输出结果与解析</a:t>
            </a:r>
            <a:endParaRPr lang="en-US" sz="1100"/>
          </a:p>
        </p:txBody>
      </p:sp>
      <p:sp>
        <p:nvSpPr>
          <p:cNvPr id="9" name="AutoShape 9"/>
          <p:cNvSpPr/>
          <p:nvPr/>
        </p:nvSpPr>
        <p:spPr>
          <a:xfrm>
            <a:off x="7112000" y="1968500"/>
            <a:ext cx="4064000" cy="2159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1" i="0" u="none" strike="noStrike">
                <a:solidFill>
                  <a:srgbClr val="0277BD"/>
                </a:solidFill>
                <a:latin typeface="Noto Sans SC"/>
                <a:ea typeface="Noto Sans SC"/>
                <a:cs typeface="Noto Sans SC"/>
                <a:sym typeface="Noto Sans SC"/>
              </a:rPr>
              <a:t>输出：</a:t>
            </a:r>
            <a:endParaRPr lang="en-US" sz="1100"/>
          </a:p>
          <a:p>
            <a:pPr indent="0" algn="l">
              <a:lnSpc>
                <a:spcPct val="117000"/>
              </a:lnSpc>
            </a:pPr>
            <a:r>
              <a:rPr lang="en-US" sz="1300" b="0" i="0" u="none" strike="noStrike">
                <a:solidFill>
                  <a:srgbClr val="555555"/>
                </a:solidFill>
                <a:latin typeface="Roboto Mono"/>
                <a:ea typeface="Roboto Mono"/>
                <a:cs typeface="Roboto Mono"/>
                <a:sym typeface="Roboto Mono"/>
              </a:rPr>
              <a:t>向量形状: 1536</a:t>
            </a:r>
            <a:endParaRPr lang="en-US" sz="1300" b="0" i="0" u="none" strike="noStrike">
              <a:solidFill>
                <a:srgbClr val="555555"/>
              </a:solidFill>
              <a:latin typeface="Roboto Mono"/>
              <a:ea typeface="Roboto Mono"/>
              <a:cs typeface="Roboto Mono"/>
              <a:sym typeface="Roboto Mono"/>
            </a:endParaRPr>
          </a:p>
          <a:p>
            <a:pPr indent="0" algn="l">
              <a:lnSpc>
                <a:spcPct val="117000"/>
              </a:lnSpc>
            </a:pPr>
            <a:r>
              <a:rPr lang="en-US" sz="1300" b="0" i="0" u="none" strike="noStrike">
                <a:solidFill>
                  <a:srgbClr val="555555"/>
                </a:solidFill>
                <a:latin typeface="Roboto Mono"/>
                <a:ea typeface="Roboto Mono"/>
                <a:cs typeface="Roboto Mono"/>
                <a:sym typeface="Roboto Mono"/>
              </a:rPr>
              <a:t>向量前5个值: [-0.005, 0.012, -0.023, 0.008, -0.015]</a:t>
            </a:r>
            <a:endParaRPr lang="en-US" sz="1300" b="0" i="0" u="none" strike="noStrike">
              <a:solidFill>
                <a:srgbClr val="555555"/>
              </a:solidFill>
              <a:latin typeface="Roboto Mono"/>
              <a:ea typeface="Roboto Mono"/>
              <a:cs typeface="Roboto Mono"/>
              <a:sym typeface="Roboto Mono"/>
            </a:endParaRPr>
          </a:p>
          <a:p>
            <a:pPr indent="0" algn="l">
              <a:lnSpc>
                <a:spcPct val="117000"/>
              </a:lnSpc>
            </a:pPr>
          </a:p>
          <a:p>
            <a:pPr indent="0" algn="l">
              <a:lnSpc>
                <a:spcPct val="117000"/>
              </a:lnSpc>
            </a:pPr>
            <a:r>
              <a:rPr lang="en-US" sz="1400" b="1" i="0" u="none" strike="noStrike">
                <a:solidFill>
                  <a:srgbClr val="0277BD"/>
                </a:solidFill>
                <a:latin typeface="Noto Sans SC"/>
                <a:ea typeface="Noto Sans SC"/>
                <a:cs typeface="Noto Sans SC"/>
                <a:sym typeface="Noto Sans SC"/>
              </a:rPr>
              <a:t>说明：</a:t>
            </a:r>
            <a:endParaRPr lang="en-US" sz="1400" b="1" i="0" u="none" strike="noStrike">
              <a:solidFill>
                <a:srgbClr val="0277BD"/>
              </a:solidFill>
              <a:latin typeface="Noto Sans SC"/>
              <a:ea typeface="Noto Sans SC"/>
              <a:cs typeface="Noto Sans SC"/>
              <a:sym typeface="Noto Sans SC"/>
            </a:endParaRPr>
          </a:p>
          <a:p>
            <a:pPr indent="0" algn="l">
              <a:lnSpc>
                <a:spcPct val="117000"/>
              </a:lnSpc>
            </a:pPr>
            <a:r>
              <a:rPr lang="en-US" sz="1300" b="0" i="0" u="none" strike="noStrike">
                <a:solidFill>
                  <a:srgbClr val="757575"/>
                </a:solidFill>
                <a:latin typeface="Noto Sans SC"/>
                <a:ea typeface="Noto Sans SC"/>
                <a:cs typeface="Noto Sans SC"/>
                <a:sym typeface="Noto Sans SC"/>
              </a:rPr>
              <a:t>1. 维度为1536，符合OpenAI模型标准。</a:t>
            </a:r>
            <a:endParaRPr lang="en-US" sz="1300" b="0" i="0" u="none" strike="noStrike">
              <a:solidFill>
                <a:srgbClr val="757575"/>
              </a:solidFill>
              <a:latin typeface="Noto Sans SC"/>
              <a:ea typeface="Noto Sans SC"/>
              <a:cs typeface="Noto Sans SC"/>
              <a:sym typeface="Noto Sans SC"/>
            </a:endParaRPr>
          </a:p>
          <a:p>
            <a:pPr indent="0" algn="l">
              <a:lnSpc>
                <a:spcPct val="117000"/>
              </a:lnSpc>
            </a:pPr>
            <a:r>
              <a:rPr lang="en-US" sz="1300" b="0" i="0" u="none" strike="noStrike">
                <a:solidFill>
                  <a:srgbClr val="757575"/>
                </a:solidFill>
                <a:latin typeface="Noto Sans SC"/>
                <a:ea typeface="Noto Sans SC"/>
                <a:cs typeface="Noto Sans SC"/>
                <a:sym typeface="Noto Sans SC"/>
              </a:rPr>
              <a:t>2. 浮点数序列代表文本的语义特征。</a:t>
            </a:r>
            <a:endParaRPr lang="en-US" sz="1300" b="0" i="0" u="none" strike="noStrike">
              <a:solidFill>
                <a:srgbClr val="757575"/>
              </a:solidFill>
              <a:latin typeface="Noto Sans SC"/>
              <a:ea typeface="Noto Sans SC"/>
              <a:cs typeface="Noto Sans SC"/>
              <a:sym typeface="Noto Sans SC"/>
            </a:endParaRPr>
          </a:p>
        </p:txBody>
      </p:sp>
      <p:sp>
        <p:nvSpPr>
          <p:cNvPr id="10" name="AutoShape 10"/>
          <p:cNvSpPr/>
          <p:nvPr/>
        </p:nvSpPr>
        <p:spPr>
          <a:xfrm>
            <a:off x="762000" y="4826000"/>
            <a:ext cx="10668000" cy="1270000"/>
          </a:xfrm>
          <a:prstGeom prst="roundRect">
            <a:avLst>
              <a:gd name="adj" fmla="val 10000"/>
            </a:avLst>
          </a:prstGeom>
          <a:solidFill>
            <a:srgbClr val="FFFFFF">
              <a:alpha val="6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5080000"/>
            <a:ext cx="406400" cy="406400"/>
          </a:xfrm>
          <a:prstGeom prst="rect">
            <a:avLst/>
          </a:prstGeom>
        </p:spPr>
      </p:pic>
      <p:sp>
        <p:nvSpPr>
          <p:cNvPr id="12" name="AutoShape 12"/>
          <p:cNvSpPr/>
          <p:nvPr/>
        </p:nvSpPr>
        <p:spPr>
          <a:xfrm>
            <a:off x="1524000" y="5016500"/>
            <a:ext cx="96520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0277BD"/>
                </a:solidFill>
                <a:latin typeface="Noto Sans SC"/>
                <a:ea typeface="Noto Sans SC"/>
                <a:cs typeface="Noto Sans SC"/>
                <a:sym typeface="Noto Sans SC"/>
              </a:rPr>
              <a:t>核心价值：</a:t>
            </a:r>
            <a:endParaRPr lang="en-US" sz="1100"/>
          </a:p>
          <a:p>
            <a:pPr indent="0" algn="l">
              <a:lnSpc>
                <a:spcPct val="100000"/>
              </a:lnSpc>
            </a:pPr>
            <a:r>
              <a:rPr lang="en-US" sz="1400" b="0" i="0" u="none" strike="noStrike">
                <a:solidFill>
                  <a:srgbClr val="757575"/>
                </a:solidFill>
                <a:latin typeface="Noto Sans SC"/>
                <a:ea typeface="Noto Sans SC"/>
                <a:cs typeface="Noto Sans SC"/>
                <a:sym typeface="Noto Sans SC"/>
              </a:rPr>
              <a:t>通过向量化，我们将人类可读的文本转化为机器可计算的数字向量。这使得计算机能够理解文本的语义，从而实现语义检索、相似性匹配等高级AI功能。</a:t>
            </a:r>
            <a:endParaRPr lang="en-US" sz="14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927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8.3.4 向量存储和检索</a:t>
            </a:r>
            <a:endParaRPr lang="en-US" sz="1100"/>
          </a:p>
        </p:txBody>
      </p:sp>
      <p:sp>
        <p:nvSpPr>
          <p:cNvPr id="3" name="AutoShape 3"/>
          <p:cNvSpPr/>
          <p:nvPr/>
        </p:nvSpPr>
        <p:spPr>
          <a:xfrm>
            <a:off x="762000" y="1270000"/>
            <a:ext cx="5080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77BD">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524000"/>
            <a:ext cx="406400" cy="406400"/>
          </a:xfrm>
          <a:prstGeom prst="rect">
            <a:avLst/>
          </a:prstGeom>
        </p:spPr>
      </p:pic>
      <p:sp>
        <p:nvSpPr>
          <p:cNvPr id="5" name="AutoShape 5"/>
          <p:cNvSpPr/>
          <p:nvPr/>
        </p:nvSpPr>
        <p:spPr>
          <a:xfrm>
            <a:off x="1524000" y="14732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向量存储核心作用</a:t>
            </a:r>
            <a:endParaRPr lang="en-US" sz="1100"/>
          </a:p>
        </p:txBody>
      </p:sp>
      <p:sp>
        <p:nvSpPr>
          <p:cNvPr id="6" name="AutoShape 6"/>
          <p:cNvSpPr/>
          <p:nvPr/>
        </p:nvSpPr>
        <p:spPr>
          <a:xfrm>
            <a:off x="1016000" y="19685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将文本向量存储到专门的向量数据库中，建立索引，支持高效的相似度检索与召回，是构建知识库问答的基础。</a:t>
            </a:r>
            <a:endParaRPr lang="en-US" sz="1100"/>
          </a:p>
        </p:txBody>
      </p:sp>
      <p:sp>
        <p:nvSpPr>
          <p:cNvPr id="7" name="AutoShape 7"/>
          <p:cNvSpPr/>
          <p:nvPr/>
        </p:nvSpPr>
        <p:spPr>
          <a:xfrm>
            <a:off x="762000" y="3111500"/>
            <a:ext cx="5080000" cy="2413000"/>
          </a:xfrm>
          <a:prstGeom prst="roundRect">
            <a:avLst>
              <a:gd name="adj" fmla="val 5263"/>
            </a:avLst>
          </a:prstGeom>
          <a:solidFill>
            <a:srgbClr val="FFFFFF">
              <a:alpha val="100000"/>
            </a:srgbClr>
          </a:solidFill>
          <a:ln w="25400" cap="flat" cmpd="sng">
            <a:noFill/>
            <a:prstDash val="solid"/>
            <a:round/>
          </a:ln>
          <a:effectLst>
            <a:outerShdw blurRad="127000" dist="50800" dir="5400000" algn="tl" rotWithShape="0">
              <a:srgbClr val="0277BD">
                <a:alpha val="10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365500"/>
            <a:ext cx="406400" cy="406400"/>
          </a:xfrm>
          <a:prstGeom prst="rect">
            <a:avLst/>
          </a:prstGeom>
        </p:spPr>
      </p:pic>
      <p:sp>
        <p:nvSpPr>
          <p:cNvPr id="9" name="AutoShape 9"/>
          <p:cNvSpPr/>
          <p:nvPr/>
        </p:nvSpPr>
        <p:spPr>
          <a:xfrm>
            <a:off x="1524000" y="33147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常用向量存储方案</a:t>
            </a:r>
            <a:endParaRPr lang="en-US" sz="1100"/>
          </a:p>
        </p:txBody>
      </p:sp>
      <p:sp>
        <p:nvSpPr>
          <p:cNvPr id="10" name="AutoShape 10"/>
          <p:cNvSpPr/>
          <p:nvPr/>
        </p:nvSpPr>
        <p:spPr>
          <a:xfrm>
            <a:off x="1016000" y="3873500"/>
            <a:ext cx="4572000" cy="508000"/>
          </a:xfrm>
          <a:prstGeom prst="roundRect">
            <a:avLst>
              <a:gd name="adj" fmla="val 12500"/>
            </a:avLst>
          </a:prstGeom>
          <a:solidFill>
            <a:srgbClr val="0277BD">
              <a:alpha val="8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143000" y="39370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277BD"/>
                </a:solidFill>
                <a:latin typeface="Noto Sans SC"/>
                <a:ea typeface="Noto Sans SC"/>
                <a:cs typeface="Noto Sans SC"/>
                <a:sym typeface="Noto Sans SC"/>
              </a:rPr>
              <a:t>Chroma：</a:t>
            </a:r>
            <a:r>
              <a:rPr lang="en-US" sz="1400" b="0" i="0" u="none" strike="noStrike">
                <a:solidFill>
                  <a:srgbClr val="757575"/>
                </a:solidFill>
                <a:latin typeface="Noto Sans SC"/>
                <a:ea typeface="Noto Sans SC"/>
                <a:cs typeface="Noto Sans SC"/>
                <a:sym typeface="Noto Sans SC"/>
              </a:rPr>
              <a:t>轻量级开源向量数据库，适合开发测试。</a:t>
            </a:r>
            <a:endParaRPr lang="en-US" sz="1100"/>
          </a:p>
        </p:txBody>
      </p:sp>
      <p:sp>
        <p:nvSpPr>
          <p:cNvPr id="12" name="AutoShape 12"/>
          <p:cNvSpPr/>
          <p:nvPr/>
        </p:nvSpPr>
        <p:spPr>
          <a:xfrm>
            <a:off x="1016000" y="4445000"/>
            <a:ext cx="4572000" cy="508000"/>
          </a:xfrm>
          <a:prstGeom prst="roundRect">
            <a:avLst>
              <a:gd name="adj" fmla="val 12500"/>
            </a:avLst>
          </a:prstGeom>
          <a:solidFill>
            <a:srgbClr val="0277BD">
              <a:alpha val="8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143000" y="45085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277BD"/>
                </a:solidFill>
                <a:latin typeface="Noto Sans SC"/>
                <a:ea typeface="Noto Sans SC"/>
                <a:cs typeface="Noto Sans SC"/>
                <a:sym typeface="Noto Sans SC"/>
              </a:rPr>
              <a:t>FAISS：</a:t>
            </a:r>
            <a:r>
              <a:rPr lang="en-US" sz="1400" b="0" i="0" u="none" strike="noStrike">
                <a:solidFill>
                  <a:srgbClr val="757575"/>
                </a:solidFill>
                <a:latin typeface="Noto Sans SC"/>
                <a:ea typeface="Noto Sans SC"/>
                <a:cs typeface="Noto Sans SC"/>
                <a:sym typeface="Noto Sans SC"/>
              </a:rPr>
              <a:t>Facebook开源，专注高效相似度搜索。</a:t>
            </a:r>
            <a:endParaRPr lang="en-US" sz="1100"/>
          </a:p>
        </p:txBody>
      </p:sp>
      <p:sp>
        <p:nvSpPr>
          <p:cNvPr id="14" name="AutoShape 14"/>
          <p:cNvSpPr/>
          <p:nvPr/>
        </p:nvSpPr>
        <p:spPr>
          <a:xfrm>
            <a:off x="1016000" y="5016500"/>
            <a:ext cx="4572000" cy="508000"/>
          </a:xfrm>
          <a:prstGeom prst="roundRect">
            <a:avLst>
              <a:gd name="adj" fmla="val 12500"/>
            </a:avLst>
          </a:prstGeom>
          <a:solidFill>
            <a:srgbClr val="0277BD">
              <a:alpha val="8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1143000" y="50800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277BD"/>
                </a:solidFill>
                <a:latin typeface="Noto Sans SC"/>
                <a:ea typeface="Noto Sans SC"/>
                <a:cs typeface="Noto Sans SC"/>
                <a:sym typeface="Noto Sans SC"/>
              </a:rPr>
              <a:t>Pinecone：</a:t>
            </a:r>
            <a:r>
              <a:rPr lang="en-US" sz="1400" b="0" i="0" u="none" strike="noStrike">
                <a:solidFill>
                  <a:srgbClr val="757575"/>
                </a:solidFill>
                <a:latin typeface="Noto Sans SC"/>
                <a:ea typeface="Noto Sans SC"/>
                <a:cs typeface="Noto Sans SC"/>
                <a:sym typeface="Noto Sans SC"/>
              </a:rPr>
              <a:t>全托管的向量数据库服务，生产级可用。</a:t>
            </a:r>
            <a:endParaRPr lang="en-US" sz="1100"/>
          </a:p>
        </p:txBody>
      </p:sp>
      <p:sp>
        <p:nvSpPr>
          <p:cNvPr id="16" name="AutoShape 16"/>
          <p:cNvSpPr/>
          <p:nvPr/>
        </p:nvSpPr>
        <p:spPr>
          <a:xfrm>
            <a:off x="6096000" y="1270000"/>
            <a:ext cx="5334000" cy="4254500"/>
          </a:xfrm>
          <a:prstGeom prst="roundRect">
            <a:avLst>
              <a:gd name="adj" fmla="val 2985"/>
            </a:avLst>
          </a:prstGeom>
          <a:solidFill>
            <a:srgbClr val="1E1E1E">
              <a:alpha val="100000"/>
            </a:srgbClr>
          </a:solidFill>
          <a:ln w="25400" cap="flat" cmpd="sng">
            <a:noFill/>
            <a:prstDash val="solid"/>
            <a:round/>
          </a:ln>
          <a:effectLst>
            <a:outerShdw blurRad="190500" dist="101600" dir="5400000" algn="tl" rotWithShape="0">
              <a:srgbClr val="000000">
                <a:alpha val="20000"/>
              </a:srgbClr>
            </a:outerShdw>
          </a:effectLst>
        </p:spPr>
        <p:txBody>
          <a:bodyPr vert="horz" wrap="square" lIns="63500" tIns="63500" rIns="63500" bIns="63500" rtlCol="0" anchor="ctr"/>
          <a:lstStyle/>
          <a:p>
            <a:pPr algn="ctr">
              <a:defRPr/>
            </a:pPr>
          </a:p>
        </p:txBody>
      </p:sp>
      <p:sp>
        <p:nvSpPr>
          <p:cNvPr id="17" name="AutoShape 17"/>
          <p:cNvSpPr/>
          <p:nvPr/>
        </p:nvSpPr>
        <p:spPr>
          <a:xfrm>
            <a:off x="6350000" y="14605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9800"/>
                </a:solidFill>
                <a:latin typeface="Noto Sans SC"/>
                <a:ea typeface="Noto Sans SC"/>
                <a:cs typeface="Noto Sans SC"/>
                <a:sym typeface="Noto Sans SC"/>
              </a:rPr>
              <a:t>代码示例：使用 Chroma 存储与检索</a:t>
            </a:r>
            <a:endParaRPr lang="en-US" sz="1100"/>
          </a:p>
        </p:txBody>
      </p:sp>
      <p:sp>
        <p:nvSpPr>
          <p:cNvPr id="18" name="AutoShape 18"/>
          <p:cNvSpPr/>
          <p:nvPr/>
        </p:nvSpPr>
        <p:spPr>
          <a:xfrm>
            <a:off x="6350000" y="1841500"/>
            <a:ext cx="4826000" cy="342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C678DD"/>
                </a:solidFill>
                <a:latin typeface="Consolas"/>
                <a:ea typeface="Consolas"/>
                <a:cs typeface="Consolas"/>
                <a:sym typeface="Consolas"/>
              </a:rPr>
              <a:t>from</a:t>
            </a:r>
            <a:r>
              <a:rPr lang="en-US" sz="1300" b="0" i="0" u="none" strike="noStrike">
                <a:solidFill>
                  <a:srgbClr val="DCDFE4"/>
                </a:solidFill>
                <a:latin typeface="Consolas"/>
                <a:ea typeface="Consolas"/>
                <a:cs typeface="Consolas"/>
                <a:sym typeface="Consolas"/>
              </a:rPr>
              <a:t>langchain_community.vectorstores</a:t>
            </a:r>
            <a:r>
              <a:rPr lang="en-US" sz="1300" b="0" i="0" u="none" strike="noStrike">
                <a:solidFill>
                  <a:srgbClr val="C678DD"/>
                </a:solidFill>
                <a:latin typeface="Consolas"/>
                <a:ea typeface="Consolas"/>
                <a:cs typeface="Consolas"/>
                <a:sym typeface="Consolas"/>
              </a:rPr>
              <a:t>import</a:t>
            </a:r>
            <a:r>
              <a:rPr lang="en-US" sz="1300" b="0" i="0" u="none" strike="noStrike">
                <a:solidFill>
                  <a:srgbClr val="DCDFE4"/>
                </a:solidFill>
                <a:latin typeface="Consolas"/>
                <a:ea typeface="Consolas"/>
                <a:cs typeface="Consolas"/>
                <a:sym typeface="Consolas"/>
              </a:rPr>
              <a:t>Chroma</a:t>
            </a:r>
            <a:endParaRPr lang="en-US" sz="1100"/>
          </a:p>
          <a:p>
            <a:pPr indent="0" algn="l">
              <a:lnSpc>
                <a:spcPct val="100000"/>
              </a:lnSpc>
            </a:pPr>
            <a:r>
              <a:rPr lang="en-US" sz="1300" b="0" i="0" u="none" strike="noStrike">
                <a:solidFill>
                  <a:srgbClr val="5C6370"/>
                </a:solidFill>
                <a:latin typeface="Consolas"/>
                <a:ea typeface="Consolas"/>
                <a:cs typeface="Consolas"/>
                <a:sym typeface="Consolas"/>
              </a:rPr>
              <a:t># 假设已经有了documents和embeddings</a:t>
            </a:r>
            <a:endParaRPr lang="en-US" sz="1300" b="0" i="0" u="none" strike="noStrike">
              <a:solidFill>
                <a:srgbClr val="5C6370"/>
              </a:solidFill>
              <a:latin typeface="Consolas"/>
              <a:ea typeface="Consolas"/>
              <a:cs typeface="Consolas"/>
              <a:sym typeface="Consolas"/>
            </a:endParaRPr>
          </a:p>
          <a:p>
            <a:pPr indent="0" algn="l">
              <a:lnSpc>
                <a:spcPct val="100000"/>
              </a:lnSpc>
            </a:pPr>
            <a:r>
              <a:rPr lang="en-US" sz="1300" b="0" i="0" u="none" strike="noStrike">
                <a:solidFill>
                  <a:srgbClr val="DCDFE4"/>
                </a:solidFill>
                <a:latin typeface="Consolas"/>
                <a:ea typeface="Consolas"/>
                <a:cs typeface="Consolas"/>
                <a:sym typeface="Consolas"/>
              </a:rPr>
              <a:t>db = Chroma.from_documents(documents, embeddings)</a:t>
            </a:r>
            <a:endParaRPr lang="en-US" sz="1300" b="0" i="0" u="none" strike="noStrike">
              <a:solidFill>
                <a:srgbClr val="DCDFE4"/>
              </a:solidFill>
              <a:latin typeface="Consolas"/>
              <a:ea typeface="Consolas"/>
              <a:cs typeface="Consolas"/>
              <a:sym typeface="Consolas"/>
            </a:endParaRPr>
          </a:p>
          <a:p>
            <a:pPr indent="0" algn="l">
              <a:lnSpc>
                <a:spcPct val="100000"/>
              </a:lnSpc>
            </a:pPr>
          </a:p>
          <a:p>
            <a:pPr indent="0" algn="l">
              <a:lnSpc>
                <a:spcPct val="100000"/>
              </a:lnSpc>
            </a:pPr>
            <a:r>
              <a:rPr lang="en-US" sz="1300" b="0" i="0" u="none" strike="noStrike">
                <a:solidFill>
                  <a:srgbClr val="5C6370"/>
                </a:solidFill>
                <a:latin typeface="Consolas"/>
                <a:ea typeface="Consolas"/>
                <a:cs typeface="Consolas"/>
                <a:sym typeface="Consolas"/>
              </a:rPr>
              <a:t># 相似度检索</a:t>
            </a:r>
            <a:endParaRPr lang="en-US" sz="1300" b="0" i="0" u="none" strike="noStrike">
              <a:solidFill>
                <a:srgbClr val="5C6370"/>
              </a:solidFill>
              <a:latin typeface="Consolas"/>
              <a:ea typeface="Consolas"/>
              <a:cs typeface="Consolas"/>
              <a:sym typeface="Consolas"/>
            </a:endParaRPr>
          </a:p>
          <a:p>
            <a:pPr indent="0" algn="l">
              <a:lnSpc>
                <a:spcPct val="100000"/>
              </a:lnSpc>
            </a:pPr>
            <a:r>
              <a:rPr lang="en-US" sz="1300" b="0" i="0" u="none" strike="noStrike">
                <a:solidFill>
                  <a:srgbClr val="E5C07B"/>
                </a:solidFill>
                <a:latin typeface="Consolas"/>
                <a:ea typeface="Consolas"/>
                <a:cs typeface="Consolas"/>
                <a:sym typeface="Consolas"/>
              </a:rPr>
              <a:t>query</a:t>
            </a:r>
            <a:r>
              <a:rPr lang="en-US" sz="1300" b="0" i="0" u="none" strike="noStrike">
                <a:solidFill>
                  <a:srgbClr val="DCDFE4"/>
                </a:solidFill>
                <a:latin typeface="Consolas"/>
                <a:ea typeface="Consolas"/>
                <a:cs typeface="Consolas"/>
                <a:sym typeface="Consolas"/>
              </a:rPr>
              <a:t>=</a:t>
            </a:r>
            <a:r>
              <a:rPr lang="en-US" sz="1300" b="0" i="0" u="none" strike="noStrike">
                <a:solidFill>
                  <a:srgbClr val="98C379"/>
                </a:solidFill>
                <a:latin typeface="Consolas"/>
                <a:ea typeface="Consolas"/>
                <a:cs typeface="Consolas"/>
                <a:sym typeface="Consolas"/>
              </a:rPr>
              <a:t>"我想了解人工智能的发展趋势"</a:t>
            </a:r>
            <a:endParaRPr lang="en-US" sz="1300" b="0" i="0" u="none" strike="noStrike">
              <a:solidFill>
                <a:srgbClr val="98C379"/>
              </a:solidFill>
              <a:latin typeface="Consolas"/>
              <a:ea typeface="Consolas"/>
              <a:cs typeface="Consolas"/>
              <a:sym typeface="Consolas"/>
            </a:endParaRPr>
          </a:p>
          <a:p>
            <a:pPr indent="0" algn="l">
              <a:lnSpc>
                <a:spcPct val="100000"/>
              </a:lnSpc>
            </a:pPr>
            <a:r>
              <a:rPr lang="en-US" sz="1300" b="0" i="0" u="none" strike="noStrike">
                <a:solidFill>
                  <a:srgbClr val="E5C07B"/>
                </a:solidFill>
                <a:latin typeface="Consolas"/>
                <a:ea typeface="Consolas"/>
                <a:cs typeface="Consolas"/>
                <a:sym typeface="Consolas"/>
              </a:rPr>
              <a:t>docs</a:t>
            </a:r>
            <a:r>
              <a:rPr lang="en-US" sz="1300" b="0" i="0" u="none" strike="noStrike">
                <a:solidFill>
                  <a:srgbClr val="DCDFE4"/>
                </a:solidFill>
                <a:latin typeface="Consolas"/>
                <a:ea typeface="Consolas"/>
                <a:cs typeface="Consolas"/>
                <a:sym typeface="Consolas"/>
              </a:rPr>
              <a:t>= db.similarity_search(query)</a:t>
            </a:r>
            <a:endParaRPr lang="en-US" sz="1300" b="0" i="0" u="none" strike="noStrike">
              <a:solidFill>
                <a:srgbClr val="DCDFE4"/>
              </a:solidFill>
              <a:latin typeface="Consolas"/>
              <a:ea typeface="Consolas"/>
              <a:cs typeface="Consolas"/>
              <a:sym typeface="Consolas"/>
            </a:endParaRPr>
          </a:p>
          <a:p>
            <a:pPr indent="0" algn="l">
              <a:lnSpc>
                <a:spcPct val="100000"/>
              </a:lnSpc>
            </a:pPr>
            <a:r>
              <a:rPr lang="en-US" sz="1300" b="0" i="0" u="none" strike="noStrike">
                <a:solidFill>
                  <a:srgbClr val="E5C07B"/>
                </a:solidFill>
                <a:latin typeface="Consolas"/>
                <a:ea typeface="Consolas"/>
                <a:cs typeface="Consolas"/>
                <a:sym typeface="Consolas"/>
              </a:rPr>
              <a:t>print</a:t>
            </a:r>
            <a:r>
              <a:rPr lang="en-US" sz="1300" b="0" i="0" u="none" strike="noStrike">
                <a:solidFill>
                  <a:srgbClr val="DCDFE4"/>
                </a:solidFill>
                <a:latin typeface="Consolas"/>
                <a:ea typeface="Consolas"/>
                <a:cs typeface="Consolas"/>
                <a:sym typeface="Consolas"/>
              </a:rPr>
              <a:t>(docs[0].page_content)</a:t>
            </a:r>
            <a:endParaRPr lang="en-US" sz="1300" b="0" i="0" u="none" strike="noStrike">
              <a:solidFill>
                <a:srgbClr val="DCDFE4"/>
              </a:solidFill>
              <a:latin typeface="Consolas"/>
              <a:ea typeface="Consolas"/>
              <a:cs typeface="Consolas"/>
              <a:sym typeface="Consolas"/>
            </a:endParaRPr>
          </a:p>
        </p:txBody>
      </p:sp>
      <p:sp>
        <p:nvSpPr>
          <p:cNvPr id="19" name="AutoShape 19"/>
          <p:cNvSpPr/>
          <p:nvPr/>
        </p:nvSpPr>
        <p:spPr>
          <a:xfrm>
            <a:off x="0" y="6604000"/>
            <a:ext cx="12192000" cy="2540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470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向量存储和检索示例</a:t>
            </a:r>
            <a:endParaRPr lang="en-US" sz="1100"/>
          </a:p>
        </p:txBody>
      </p:sp>
      <p:sp>
        <p:nvSpPr>
          <p:cNvPr id="3" name="AutoShape 3"/>
          <p:cNvSpPr/>
          <p:nvPr/>
        </p:nvSpPr>
        <p:spPr>
          <a:xfrm>
            <a:off x="762000" y="1397000"/>
            <a:ext cx="5842000" cy="3556000"/>
          </a:xfrm>
          <a:prstGeom prst="roundRect">
            <a:avLst>
              <a:gd name="adj" fmla="val 3571"/>
            </a:avLst>
          </a:prstGeom>
          <a:solidFill>
            <a:srgbClr val="1E1E1E">
              <a:alpha val="100000"/>
            </a:srgbClr>
          </a:solidFill>
          <a:ln w="25400" cap="flat" cmpd="sng">
            <a:noFill/>
            <a:prstDash val="solid"/>
            <a:round/>
          </a:ln>
          <a:effectLst>
            <a:outerShdw blurRad="127000" dist="50800" dir="2700000" algn="tl" rotWithShape="0">
              <a:srgbClr val="000000">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952500" y="1587500"/>
            <a:ext cx="127000" cy="127000"/>
          </a:xfrm>
          <a:prstGeom prst="ellipse">
            <a:avLst/>
          </a:prstGeom>
          <a:solidFill>
            <a:srgbClr val="FF5F56">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206500" y="1587500"/>
            <a:ext cx="127000" cy="127000"/>
          </a:xfrm>
          <a:prstGeom prst="ellipse">
            <a:avLst/>
          </a:prstGeom>
          <a:solidFill>
            <a:srgbClr val="FFBD2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460500" y="1587500"/>
            <a:ext cx="127000" cy="127000"/>
          </a:xfrm>
          <a:prstGeom prst="ellipse">
            <a:avLst/>
          </a:prstGeom>
          <a:solidFill>
            <a:srgbClr val="27C93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952500" y="1905000"/>
            <a:ext cx="5461000" cy="2921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C678DD"/>
                </a:solidFill>
                <a:latin typeface="Roboto Mono"/>
                <a:ea typeface="Roboto Mono"/>
                <a:cs typeface="Roboto Mono"/>
                <a:sym typeface="Roboto Mono"/>
              </a:rPr>
              <a:t>from</a:t>
            </a:r>
            <a:r>
              <a:rPr lang="en-US" sz="1200" b="0" i="0" u="none" strike="noStrike">
                <a:solidFill>
                  <a:srgbClr val="DCDCDC"/>
                </a:solidFill>
                <a:latin typeface="Roboto Mono"/>
                <a:ea typeface="Roboto Mono"/>
                <a:cs typeface="Roboto Mono"/>
                <a:sym typeface="Roboto Mono"/>
              </a:rPr>
              <a:t>langchain_community.vectorstores</a:t>
            </a:r>
            <a:r>
              <a:rPr lang="en-US" sz="1200" b="0" i="0" u="none" strike="noStrike">
                <a:solidFill>
                  <a:srgbClr val="C678DD"/>
                </a:solidFill>
                <a:latin typeface="Roboto Mono"/>
                <a:ea typeface="Roboto Mono"/>
                <a:cs typeface="Roboto Mono"/>
                <a:sym typeface="Roboto Mono"/>
              </a:rPr>
              <a:t>import</a:t>
            </a:r>
            <a:r>
              <a:rPr lang="en-US" sz="1200" b="0" i="0" u="none" strike="noStrike">
                <a:solidFill>
                  <a:srgbClr val="DCDCDC"/>
                </a:solidFill>
                <a:latin typeface="Roboto Mono"/>
                <a:ea typeface="Roboto Mono"/>
                <a:cs typeface="Roboto Mono"/>
                <a:sym typeface="Roboto Mono"/>
              </a:rPr>
              <a:t>Chroma</a:t>
            </a:r>
            <a:endParaRPr lang="en-US" sz="1100"/>
          </a:p>
          <a:p>
            <a:pPr indent="0" algn="l">
              <a:lnSpc>
                <a:spcPct val="108000"/>
              </a:lnSpc>
            </a:pPr>
            <a:r>
              <a:rPr lang="en-US" sz="1200" b="0" i="0" u="none" strike="noStrike">
                <a:solidFill>
                  <a:srgbClr val="C678DD"/>
                </a:solidFill>
                <a:latin typeface="Roboto Mono"/>
                <a:ea typeface="Roboto Mono"/>
                <a:cs typeface="Roboto Mono"/>
                <a:sym typeface="Roboto Mono"/>
              </a:rPr>
              <a:t>from</a:t>
            </a:r>
            <a:r>
              <a:rPr lang="en-US" sz="1200" b="0" i="0" u="none" strike="noStrike">
                <a:solidFill>
                  <a:srgbClr val="DCDCDC"/>
                </a:solidFill>
                <a:latin typeface="Roboto Mono"/>
                <a:ea typeface="Roboto Mono"/>
                <a:cs typeface="Roboto Mono"/>
                <a:sym typeface="Roboto Mono"/>
              </a:rPr>
              <a:t>langchain_openai</a:t>
            </a:r>
            <a:r>
              <a:rPr lang="en-US" sz="1200" b="0" i="0" u="none" strike="noStrike">
                <a:solidFill>
                  <a:srgbClr val="C678DD"/>
                </a:solidFill>
                <a:latin typeface="Roboto Mono"/>
                <a:ea typeface="Roboto Mono"/>
                <a:cs typeface="Roboto Mono"/>
                <a:sym typeface="Roboto Mono"/>
              </a:rPr>
              <a:t>import</a:t>
            </a:r>
            <a:r>
              <a:rPr lang="en-US" sz="1200" b="0" i="0" u="none" strike="noStrike">
                <a:solidFill>
                  <a:srgbClr val="DCDCDC"/>
                </a:solidFill>
                <a:latin typeface="Roboto Mono"/>
                <a:ea typeface="Roboto Mono"/>
                <a:cs typeface="Roboto Mono"/>
                <a:sym typeface="Roboto Mono"/>
              </a:rPr>
              <a:t>OpenAIEmbeddings</a:t>
            </a:r>
            <a:endParaRPr lang="en-US" sz="1200" b="0" i="0" u="none" strike="noStrike">
              <a:solidFill>
                <a:srgbClr val="DCDCDC"/>
              </a:solidFill>
              <a:latin typeface="Roboto Mono"/>
              <a:ea typeface="Roboto Mono"/>
              <a:cs typeface="Roboto Mono"/>
              <a:sym typeface="Roboto Mono"/>
            </a:endParaRPr>
          </a:p>
          <a:p>
            <a:pPr indent="0" algn="l">
              <a:lnSpc>
                <a:spcPct val="108000"/>
              </a:lnSpc>
            </a:pPr>
            <a:r>
              <a:rPr lang="en-US" sz="1200" b="0" i="0" u="none" strike="noStrike">
                <a:solidFill>
                  <a:srgbClr val="C678DD"/>
                </a:solidFill>
                <a:latin typeface="Roboto Mono"/>
                <a:ea typeface="Roboto Mono"/>
                <a:cs typeface="Roboto Mono"/>
                <a:sym typeface="Roboto Mono"/>
              </a:rPr>
              <a:t>from</a:t>
            </a:r>
            <a:r>
              <a:rPr lang="en-US" sz="1200" b="0" i="0" u="none" strike="noStrike">
                <a:solidFill>
                  <a:srgbClr val="DCDCDC"/>
                </a:solidFill>
                <a:latin typeface="Roboto Mono"/>
                <a:ea typeface="Roboto Mono"/>
                <a:cs typeface="Roboto Mono"/>
                <a:sym typeface="Roboto Mono"/>
              </a:rPr>
              <a:t>langchain_community.document_loaders</a:t>
            </a:r>
            <a:r>
              <a:rPr lang="en-US" sz="1200" b="0" i="0" u="none" strike="noStrike">
                <a:solidFill>
                  <a:srgbClr val="C678DD"/>
                </a:solidFill>
                <a:latin typeface="Roboto Mono"/>
                <a:ea typeface="Roboto Mono"/>
                <a:cs typeface="Roboto Mono"/>
                <a:sym typeface="Roboto Mono"/>
              </a:rPr>
              <a:t>import</a:t>
            </a:r>
            <a:r>
              <a:rPr lang="en-US" sz="1200" b="0" i="0" u="none" strike="noStrike">
                <a:solidFill>
                  <a:srgbClr val="DCDCDC"/>
                </a:solidFill>
                <a:latin typeface="Roboto Mono"/>
                <a:ea typeface="Roboto Mono"/>
                <a:cs typeface="Roboto Mono"/>
                <a:sym typeface="Roboto Mono"/>
              </a:rPr>
              <a:t>TextLoader</a:t>
            </a:r>
            <a:endParaRPr lang="en-US" sz="1200" b="0" i="0" u="none" strike="noStrike">
              <a:solidFill>
                <a:srgbClr val="DCDCDC"/>
              </a:solidFill>
              <a:latin typeface="Roboto Mono"/>
              <a:ea typeface="Roboto Mono"/>
              <a:cs typeface="Roboto Mono"/>
              <a:sym typeface="Roboto Mono"/>
            </a:endParaRPr>
          </a:p>
          <a:p>
            <a:pPr indent="0" algn="l">
              <a:lnSpc>
                <a:spcPct val="108000"/>
              </a:lnSpc>
            </a:pPr>
            <a:r>
              <a:rPr lang="en-US" sz="1200" b="0" i="0" u="none" strike="noStrike">
                <a:solidFill>
                  <a:srgbClr val="5C6370"/>
                </a:solidFill>
                <a:latin typeface="Roboto Mono"/>
                <a:ea typeface="Roboto Mono"/>
                <a:cs typeface="Roboto Mono"/>
                <a:sym typeface="Roboto Mono"/>
              </a:rPr>
              <a:t># 1. 加载数据并初始化Embeddings</a:t>
            </a:r>
            <a:endParaRPr lang="en-US" sz="1200" b="0" i="0" u="none" strike="noStrike">
              <a:solidFill>
                <a:srgbClr val="5C6370"/>
              </a:solidFill>
              <a:latin typeface="Roboto Mono"/>
              <a:ea typeface="Roboto Mono"/>
              <a:cs typeface="Roboto Mono"/>
              <a:sym typeface="Roboto Mono"/>
            </a:endParaRPr>
          </a:p>
          <a:p>
            <a:pPr indent="0" algn="l">
              <a:lnSpc>
                <a:spcPct val="108000"/>
              </a:lnSpc>
            </a:pPr>
            <a:r>
              <a:rPr lang="en-US" sz="1200" b="0" i="0" u="none" strike="noStrike">
                <a:solidFill>
                  <a:srgbClr val="DCDCDC"/>
                </a:solidFill>
                <a:latin typeface="Roboto Mono"/>
                <a:ea typeface="Roboto Mono"/>
                <a:cs typeface="Roboto Mono"/>
                <a:sym typeface="Roboto Mono"/>
              </a:rPr>
              <a:t>loader = TextLoader(</a:t>
            </a:r>
            <a:r>
              <a:rPr lang="en-US" sz="1200" b="0" i="0" u="none" strike="noStrike">
                <a:solidFill>
                  <a:srgbClr val="98C379"/>
                </a:solidFill>
                <a:latin typeface="Roboto Mono"/>
                <a:ea typeface="Roboto Mono"/>
                <a:cs typeface="Roboto Mono"/>
                <a:sym typeface="Roboto Mono"/>
              </a:rPr>
              <a:t>"data.txt"</a:t>
            </a:r>
            <a:r>
              <a:rPr lang="en-US" sz="1200" b="0" i="0" u="none" strike="noStrike">
                <a:solidFill>
                  <a:srgbClr val="DCDCDC"/>
                </a:solidFill>
                <a:latin typeface="Roboto Mono"/>
                <a:ea typeface="Roboto Mono"/>
                <a:cs typeface="Roboto Mono"/>
                <a:sym typeface="Roboto Mono"/>
              </a:rPr>
              <a:t>)</a:t>
            </a:r>
            <a:endParaRPr lang="en-US" sz="1200" b="0" i="0" u="none" strike="noStrike">
              <a:solidFill>
                <a:srgbClr val="DCDCDC"/>
              </a:solidFill>
              <a:latin typeface="Roboto Mono"/>
              <a:ea typeface="Roboto Mono"/>
              <a:cs typeface="Roboto Mono"/>
              <a:sym typeface="Roboto Mono"/>
            </a:endParaRPr>
          </a:p>
          <a:p>
            <a:pPr indent="0" algn="l">
              <a:lnSpc>
                <a:spcPct val="108000"/>
              </a:lnSpc>
            </a:pPr>
            <a:r>
              <a:rPr lang="en-US" sz="1200" b="0" i="0" u="none" strike="noStrike">
                <a:solidFill>
                  <a:srgbClr val="DCDCDC"/>
                </a:solidFill>
                <a:latin typeface="Roboto Mono"/>
                <a:ea typeface="Roboto Mono"/>
                <a:cs typeface="Roboto Mono"/>
                <a:sym typeface="Roboto Mono"/>
              </a:rPr>
              <a:t>embeddings = OpenAIEmbeddings()</a:t>
            </a:r>
            <a:endParaRPr lang="en-US" sz="1200" b="0" i="0" u="none" strike="noStrike">
              <a:solidFill>
                <a:srgbClr val="DCDCDC"/>
              </a:solidFill>
              <a:latin typeface="Roboto Mono"/>
              <a:ea typeface="Roboto Mono"/>
              <a:cs typeface="Roboto Mono"/>
              <a:sym typeface="Roboto Mono"/>
            </a:endParaRPr>
          </a:p>
          <a:p>
            <a:pPr indent="0" algn="l">
              <a:lnSpc>
                <a:spcPct val="108000"/>
              </a:lnSpc>
            </a:pPr>
            <a:r>
              <a:rPr lang="en-US" sz="1200" b="0" i="0" u="none" strike="noStrike">
                <a:solidFill>
                  <a:srgbClr val="5C6370"/>
                </a:solidFill>
                <a:latin typeface="Roboto Mono"/>
                <a:ea typeface="Roboto Mono"/>
                <a:cs typeface="Roboto Mono"/>
                <a:sym typeface="Roboto Mono"/>
              </a:rPr>
              <a:t># 2. 创建向量数据库</a:t>
            </a:r>
            <a:endParaRPr lang="en-US" sz="1200" b="0" i="0" u="none" strike="noStrike">
              <a:solidFill>
                <a:srgbClr val="5C6370"/>
              </a:solidFill>
              <a:latin typeface="Roboto Mono"/>
              <a:ea typeface="Roboto Mono"/>
              <a:cs typeface="Roboto Mono"/>
              <a:sym typeface="Roboto Mono"/>
            </a:endParaRPr>
          </a:p>
          <a:p>
            <a:pPr indent="0" algn="l">
              <a:lnSpc>
                <a:spcPct val="108000"/>
              </a:lnSpc>
            </a:pPr>
            <a:r>
              <a:rPr lang="en-US" sz="1200" b="0" i="0" u="none" strike="noStrike">
                <a:solidFill>
                  <a:srgbClr val="DCDCDC"/>
                </a:solidFill>
                <a:latin typeface="Roboto Mono"/>
                <a:ea typeface="Roboto Mono"/>
                <a:cs typeface="Roboto Mono"/>
                <a:sym typeface="Roboto Mono"/>
              </a:rPr>
              <a:t>db = Chroma.from_documents(loader.load(), embeddings)</a:t>
            </a:r>
            <a:endParaRPr lang="en-US" sz="1200" b="0" i="0" u="none" strike="noStrike">
              <a:solidFill>
                <a:srgbClr val="DCDCDC"/>
              </a:solidFill>
              <a:latin typeface="Roboto Mono"/>
              <a:ea typeface="Roboto Mono"/>
              <a:cs typeface="Roboto Mono"/>
              <a:sym typeface="Roboto Mono"/>
            </a:endParaRPr>
          </a:p>
          <a:p>
            <a:pPr indent="0" algn="l">
              <a:lnSpc>
                <a:spcPct val="108000"/>
              </a:lnSpc>
            </a:pPr>
            <a:r>
              <a:rPr lang="en-US" sz="1200" b="0" i="0" u="none" strike="noStrike">
                <a:solidFill>
                  <a:srgbClr val="5C6370"/>
                </a:solidFill>
                <a:latin typeface="Roboto Mono"/>
                <a:ea typeface="Roboto Mono"/>
                <a:cs typeface="Roboto Mono"/>
                <a:sym typeface="Roboto Mono"/>
              </a:rPr>
              <a:t># 3. 相似度检索</a:t>
            </a:r>
            <a:endParaRPr lang="en-US" sz="1200" b="0" i="0" u="none" strike="noStrike">
              <a:solidFill>
                <a:srgbClr val="5C6370"/>
              </a:solidFill>
              <a:latin typeface="Roboto Mono"/>
              <a:ea typeface="Roboto Mono"/>
              <a:cs typeface="Roboto Mono"/>
              <a:sym typeface="Roboto Mono"/>
            </a:endParaRPr>
          </a:p>
          <a:p>
            <a:pPr indent="0" algn="l">
              <a:lnSpc>
                <a:spcPct val="108000"/>
              </a:lnSpc>
            </a:pPr>
            <a:r>
              <a:rPr lang="en-US" sz="1200" b="0" i="0" u="none" strike="noStrike">
                <a:solidFill>
                  <a:srgbClr val="DCDCDC"/>
                </a:solidFill>
                <a:latin typeface="Roboto Mono"/>
                <a:ea typeface="Roboto Mono"/>
                <a:cs typeface="Roboto Mono"/>
                <a:sym typeface="Roboto Mono"/>
              </a:rPr>
              <a:t>query =</a:t>
            </a:r>
            <a:r>
              <a:rPr lang="en-US" sz="1200" b="0" i="0" u="none" strike="noStrike">
                <a:solidFill>
                  <a:srgbClr val="98C379"/>
                </a:solidFill>
                <a:latin typeface="Roboto Mono"/>
                <a:ea typeface="Roboto Mono"/>
                <a:cs typeface="Roboto Mono"/>
                <a:sym typeface="Roboto Mono"/>
              </a:rPr>
              <a:t>"人工智能的未来发展方向是什么？"</a:t>
            </a:r>
            <a:endParaRPr lang="en-US" sz="1200" b="0" i="0" u="none" strike="noStrike">
              <a:solidFill>
                <a:srgbClr val="98C379"/>
              </a:solidFill>
              <a:latin typeface="Roboto Mono"/>
              <a:ea typeface="Roboto Mono"/>
              <a:cs typeface="Roboto Mono"/>
              <a:sym typeface="Roboto Mono"/>
            </a:endParaRPr>
          </a:p>
          <a:p>
            <a:pPr indent="0" algn="l">
              <a:lnSpc>
                <a:spcPct val="108000"/>
              </a:lnSpc>
            </a:pPr>
            <a:r>
              <a:rPr lang="en-US" sz="1200" b="0" i="0" u="none" strike="noStrike">
                <a:solidFill>
                  <a:srgbClr val="DCDCDC"/>
                </a:solidFill>
                <a:latin typeface="Roboto Mono"/>
                <a:ea typeface="Roboto Mono"/>
                <a:cs typeface="Roboto Mono"/>
                <a:sym typeface="Roboto Mono"/>
              </a:rPr>
              <a:t>docs = db.similarity_search(query)</a:t>
            </a:r>
            <a:endParaRPr lang="en-US" sz="1200" b="0" i="0" u="none" strike="noStrike">
              <a:solidFill>
                <a:srgbClr val="DCDCDC"/>
              </a:solidFill>
              <a:latin typeface="Roboto Mono"/>
              <a:ea typeface="Roboto Mono"/>
              <a:cs typeface="Roboto Mono"/>
              <a:sym typeface="Roboto Mono"/>
            </a:endParaRPr>
          </a:p>
          <a:p>
            <a:pPr indent="0" algn="l">
              <a:lnSpc>
                <a:spcPct val="108000"/>
              </a:lnSpc>
            </a:pPr>
            <a:r>
              <a:rPr lang="en-US" sz="1200" b="0" i="0" u="none" strike="noStrike">
                <a:solidFill>
                  <a:srgbClr val="5C6370"/>
                </a:solidFill>
                <a:latin typeface="Roboto Mono"/>
                <a:ea typeface="Roboto Mono"/>
                <a:cs typeface="Roboto Mono"/>
                <a:sym typeface="Roboto Mono"/>
              </a:rPr>
              <a:t># 4. 输出结果</a:t>
            </a:r>
            <a:endParaRPr lang="en-US" sz="1200" b="0" i="0" u="none" strike="noStrike">
              <a:solidFill>
                <a:srgbClr val="5C6370"/>
              </a:solidFill>
              <a:latin typeface="Roboto Mono"/>
              <a:ea typeface="Roboto Mono"/>
              <a:cs typeface="Roboto Mono"/>
              <a:sym typeface="Roboto Mono"/>
            </a:endParaRPr>
          </a:p>
          <a:p>
            <a:pPr indent="0" algn="l">
              <a:lnSpc>
                <a:spcPct val="108000"/>
              </a:lnSpc>
            </a:pPr>
            <a:r>
              <a:rPr lang="en-US" sz="1200" b="0" i="0" u="none" strike="noStrike">
                <a:solidFill>
                  <a:srgbClr val="DCDCDC"/>
                </a:solidFill>
                <a:latin typeface="Roboto Mono"/>
                <a:ea typeface="Roboto Mono"/>
                <a:cs typeface="Roboto Mono"/>
                <a:sym typeface="Roboto Mono"/>
              </a:rPr>
              <a:t>print(docs[0].page_content)</a:t>
            </a:r>
            <a:endParaRPr lang="en-US" sz="1200" b="0" i="0" u="none" strike="noStrike">
              <a:solidFill>
                <a:srgbClr val="DCDCDC"/>
              </a:solidFill>
              <a:latin typeface="Roboto Mono"/>
              <a:ea typeface="Roboto Mono"/>
              <a:cs typeface="Roboto Mono"/>
              <a:sym typeface="Roboto Mono"/>
            </a:endParaRPr>
          </a:p>
        </p:txBody>
      </p:sp>
      <p:sp>
        <p:nvSpPr>
          <p:cNvPr id="8" name="AutoShape 8"/>
          <p:cNvSpPr/>
          <p:nvPr/>
        </p:nvSpPr>
        <p:spPr>
          <a:xfrm>
            <a:off x="6985000" y="1397000"/>
            <a:ext cx="4445000" cy="762000"/>
          </a:xfrm>
          <a:prstGeom prst="roundRect">
            <a:avLst>
              <a:gd name="adj" fmla="val 16666"/>
            </a:avLst>
          </a:prstGeom>
          <a:solidFill>
            <a:srgbClr val="FFFFFF">
              <a:alpha val="100000"/>
            </a:srgbClr>
          </a:solidFill>
          <a:ln w="25400" cap="flat" cmpd="sng">
            <a:noFill/>
            <a:prstDash val="solid"/>
            <a:round/>
          </a:ln>
          <a:effectLst>
            <a:outerShdw blurRad="63500" dist="25400" dir="2700000" algn="tl" rotWithShape="0">
              <a:srgbClr val="0277BD">
                <a:alpha val="10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175500" y="1587500"/>
            <a:ext cx="381000" cy="381000"/>
          </a:xfrm>
          <a:prstGeom prst="rect">
            <a:avLst/>
          </a:prstGeom>
        </p:spPr>
      </p:pic>
      <p:sp>
        <p:nvSpPr>
          <p:cNvPr id="10" name="AutoShape 10"/>
          <p:cNvSpPr/>
          <p:nvPr/>
        </p:nvSpPr>
        <p:spPr>
          <a:xfrm>
            <a:off x="7683500" y="1460500"/>
            <a:ext cx="355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数据加载与向量化</a:t>
            </a:r>
            <a:endParaRPr lang="en-US" sz="1100"/>
          </a:p>
          <a:p>
            <a:pPr indent="0" algn="l">
              <a:lnSpc>
                <a:spcPct val="125000"/>
              </a:lnSpc>
            </a:pPr>
            <a:r>
              <a:rPr lang="en-US" sz="1200" b="0" i="0" u="none" strike="noStrike">
                <a:solidFill>
                  <a:srgbClr val="757575"/>
                </a:solidFill>
                <a:latin typeface="Noto Sans SC"/>
                <a:ea typeface="Noto Sans SC"/>
                <a:cs typeface="Noto Sans SC"/>
                <a:sym typeface="Noto Sans SC"/>
              </a:rPr>
              <a:t>加载文本文件，使用 OpenAI Embeddings 生成向量</a:t>
            </a:r>
            <a:endParaRPr lang="en-US" sz="1200" b="0" i="0" u="none" strike="noStrike">
              <a:solidFill>
                <a:srgbClr val="757575"/>
              </a:solidFill>
              <a:latin typeface="Noto Sans SC"/>
              <a:ea typeface="Noto Sans SC"/>
              <a:cs typeface="Noto Sans SC"/>
              <a:sym typeface="Noto Sans SC"/>
            </a:endParaRPr>
          </a:p>
        </p:txBody>
      </p:sp>
      <p:sp>
        <p:nvSpPr>
          <p:cNvPr id="11" name="AutoShape 11"/>
          <p:cNvSpPr/>
          <p:nvPr/>
        </p:nvSpPr>
        <p:spPr>
          <a:xfrm>
            <a:off x="6985000" y="2349500"/>
            <a:ext cx="4445000" cy="762000"/>
          </a:xfrm>
          <a:prstGeom prst="roundRect">
            <a:avLst>
              <a:gd name="adj" fmla="val 16666"/>
            </a:avLst>
          </a:prstGeom>
          <a:solidFill>
            <a:srgbClr val="FFFFFF">
              <a:alpha val="100000"/>
            </a:srgbClr>
          </a:solidFill>
          <a:ln w="25400" cap="flat" cmpd="sng">
            <a:noFill/>
            <a:prstDash val="solid"/>
            <a:round/>
          </a:ln>
          <a:effectLst>
            <a:outerShdw blurRad="63500" dist="25400" dir="2700000" algn="tl" rotWithShape="0">
              <a:srgbClr val="0277BD">
                <a:alpha val="10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75500" y="2540000"/>
            <a:ext cx="381000" cy="381000"/>
          </a:xfrm>
          <a:prstGeom prst="rect">
            <a:avLst/>
          </a:prstGeom>
        </p:spPr>
      </p:pic>
      <p:sp>
        <p:nvSpPr>
          <p:cNvPr id="13" name="AutoShape 13"/>
          <p:cNvSpPr/>
          <p:nvPr/>
        </p:nvSpPr>
        <p:spPr>
          <a:xfrm>
            <a:off x="7683500" y="2413000"/>
            <a:ext cx="355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向量存储构建</a:t>
            </a:r>
            <a:endParaRPr lang="en-US" sz="1100"/>
          </a:p>
          <a:p>
            <a:pPr indent="0" algn="l">
              <a:lnSpc>
                <a:spcPct val="125000"/>
              </a:lnSpc>
            </a:pPr>
            <a:r>
              <a:rPr lang="en-US" sz="1200" b="0" i="0" u="none" strike="noStrike">
                <a:solidFill>
                  <a:srgbClr val="757575"/>
                </a:solidFill>
                <a:latin typeface="Noto Sans SC"/>
                <a:ea typeface="Noto Sans SC"/>
                <a:cs typeface="Noto Sans SC"/>
                <a:sym typeface="Noto Sans SC"/>
              </a:rPr>
              <a:t>将向量数据存入 Chroma 向量数据库</a:t>
            </a:r>
            <a:endParaRPr lang="en-US" sz="1200" b="0" i="0" u="none" strike="noStrike">
              <a:solidFill>
                <a:srgbClr val="757575"/>
              </a:solidFill>
              <a:latin typeface="Noto Sans SC"/>
              <a:ea typeface="Noto Sans SC"/>
              <a:cs typeface="Noto Sans SC"/>
              <a:sym typeface="Noto Sans SC"/>
            </a:endParaRPr>
          </a:p>
        </p:txBody>
      </p:sp>
      <p:sp>
        <p:nvSpPr>
          <p:cNvPr id="14" name="AutoShape 14"/>
          <p:cNvSpPr/>
          <p:nvPr/>
        </p:nvSpPr>
        <p:spPr>
          <a:xfrm>
            <a:off x="6985000" y="3302000"/>
            <a:ext cx="4445000" cy="762000"/>
          </a:xfrm>
          <a:prstGeom prst="roundRect">
            <a:avLst>
              <a:gd name="adj" fmla="val 16666"/>
            </a:avLst>
          </a:prstGeom>
          <a:solidFill>
            <a:srgbClr val="FFFFFF">
              <a:alpha val="100000"/>
            </a:srgbClr>
          </a:solidFill>
          <a:ln w="25400" cap="flat" cmpd="sng">
            <a:noFill/>
            <a:prstDash val="solid"/>
            <a:round/>
          </a:ln>
          <a:effectLst>
            <a:outerShdw blurRad="63500" dist="25400" dir="2700000" algn="tl" rotWithShape="0">
              <a:srgbClr val="0277BD">
                <a:alpha val="10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75500" y="3492500"/>
            <a:ext cx="381000" cy="381000"/>
          </a:xfrm>
          <a:prstGeom prst="rect">
            <a:avLst/>
          </a:prstGeom>
        </p:spPr>
      </p:pic>
      <p:sp>
        <p:nvSpPr>
          <p:cNvPr id="16" name="AutoShape 16"/>
          <p:cNvSpPr/>
          <p:nvPr/>
        </p:nvSpPr>
        <p:spPr>
          <a:xfrm>
            <a:off x="7683500" y="3365500"/>
            <a:ext cx="355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语义相似度检索</a:t>
            </a:r>
            <a:endParaRPr lang="en-US" sz="1100"/>
          </a:p>
          <a:p>
            <a:pPr indent="0" algn="l">
              <a:lnSpc>
                <a:spcPct val="125000"/>
              </a:lnSpc>
            </a:pPr>
            <a:r>
              <a:rPr lang="en-US" sz="1200" b="0" i="0" u="none" strike="noStrike">
                <a:solidFill>
                  <a:srgbClr val="757575"/>
                </a:solidFill>
                <a:latin typeface="Noto Sans SC"/>
                <a:ea typeface="Noto Sans SC"/>
                <a:cs typeface="Noto Sans SC"/>
                <a:sym typeface="Noto Sans SC"/>
              </a:rPr>
              <a:t>输入问题，检索数据库中最相关的文档片段</a:t>
            </a:r>
            <a:endParaRPr lang="en-US" sz="1200" b="0" i="0" u="none" strike="noStrike">
              <a:solidFill>
                <a:srgbClr val="757575"/>
              </a:solidFill>
              <a:latin typeface="Noto Sans SC"/>
              <a:ea typeface="Noto Sans SC"/>
              <a:cs typeface="Noto Sans SC"/>
              <a:sym typeface="Noto Sans SC"/>
            </a:endParaRPr>
          </a:p>
        </p:txBody>
      </p:sp>
      <p:sp>
        <p:nvSpPr>
          <p:cNvPr id="17" name="AutoShape 17"/>
          <p:cNvSpPr/>
          <p:nvPr/>
        </p:nvSpPr>
        <p:spPr>
          <a:xfrm>
            <a:off x="6985000" y="4254500"/>
            <a:ext cx="4445000" cy="762000"/>
          </a:xfrm>
          <a:prstGeom prst="roundRect">
            <a:avLst>
              <a:gd name="adj" fmla="val 16666"/>
            </a:avLst>
          </a:prstGeom>
          <a:solidFill>
            <a:srgbClr val="FFFFFF">
              <a:alpha val="100000"/>
            </a:srgbClr>
          </a:solidFill>
          <a:ln w="25400" cap="flat" cmpd="sng">
            <a:noFill/>
            <a:prstDash val="solid"/>
            <a:round/>
          </a:ln>
          <a:effectLst>
            <a:outerShdw blurRad="63500" dist="25400" dir="2700000" algn="tl" rotWithShape="0">
              <a:srgbClr val="0277BD">
                <a:alpha val="10000"/>
              </a:srgbClr>
            </a:outerShdw>
          </a:effectLst>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175500" y="4445000"/>
            <a:ext cx="381000" cy="381000"/>
          </a:xfrm>
          <a:prstGeom prst="rect">
            <a:avLst/>
          </a:prstGeom>
        </p:spPr>
      </p:pic>
      <p:sp>
        <p:nvSpPr>
          <p:cNvPr id="19" name="AutoShape 19"/>
          <p:cNvSpPr/>
          <p:nvPr/>
        </p:nvSpPr>
        <p:spPr>
          <a:xfrm>
            <a:off x="7683500" y="4318000"/>
            <a:ext cx="355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9800"/>
                </a:solidFill>
                <a:latin typeface="Noto Sans SC"/>
                <a:ea typeface="Noto Sans SC"/>
                <a:cs typeface="Noto Sans SC"/>
                <a:sym typeface="Noto Sans SC"/>
              </a:rPr>
              <a:t>精准结果输出</a:t>
            </a:r>
            <a:endParaRPr lang="en-US" sz="1100"/>
          </a:p>
          <a:p>
            <a:pPr indent="0" algn="l">
              <a:lnSpc>
                <a:spcPct val="125000"/>
              </a:lnSpc>
            </a:pPr>
            <a:r>
              <a:rPr lang="en-US" sz="1200" b="0" i="0" u="none" strike="noStrike">
                <a:solidFill>
                  <a:srgbClr val="757575"/>
                </a:solidFill>
                <a:latin typeface="Noto Sans SC"/>
                <a:ea typeface="Noto Sans SC"/>
                <a:cs typeface="Noto Sans SC"/>
                <a:sym typeface="Noto Sans SC"/>
              </a:rPr>
              <a:t>返回匹配度最高的文档内容作为回答依据</a:t>
            </a:r>
            <a:endParaRPr lang="en-US" sz="1200" b="0" i="0" u="none" strike="noStrike">
              <a:solidFill>
                <a:srgbClr val="757575"/>
              </a:solidFill>
              <a:latin typeface="Noto Sans SC"/>
              <a:ea typeface="Noto Sans SC"/>
              <a:cs typeface="Noto Sans SC"/>
              <a:sym typeface="Noto Sans SC"/>
            </a:endParaRPr>
          </a:p>
        </p:txBody>
      </p:sp>
      <p:sp>
        <p:nvSpPr>
          <p:cNvPr id="20" name="AutoShape 20"/>
          <p:cNvSpPr/>
          <p:nvPr/>
        </p:nvSpPr>
        <p:spPr>
          <a:xfrm>
            <a:off x="762000" y="5334000"/>
            <a:ext cx="10668000" cy="889000"/>
          </a:xfrm>
          <a:prstGeom prst="roundRect">
            <a:avLst>
              <a:gd name="adj" fmla="val 14285"/>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5524500"/>
            <a:ext cx="508000" cy="508000"/>
          </a:xfrm>
          <a:prstGeom prst="rect">
            <a:avLst/>
          </a:prstGeom>
        </p:spPr>
      </p:pic>
      <p:sp>
        <p:nvSpPr>
          <p:cNvPr id="22" name="AutoShape 22"/>
          <p:cNvSpPr/>
          <p:nvPr/>
        </p:nvSpPr>
        <p:spPr>
          <a:xfrm>
            <a:off x="1651000" y="5397500"/>
            <a:ext cx="952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77BD"/>
                </a:solidFill>
                <a:latin typeface="Noto Sans SC"/>
                <a:ea typeface="Noto Sans SC"/>
                <a:cs typeface="Noto Sans SC"/>
                <a:sym typeface="Noto Sans SC"/>
              </a:rPr>
              <a:t>核心价值：</a:t>
            </a:r>
            <a:r>
              <a:rPr lang="en-US" sz="1400" b="0" i="0" u="none" strike="noStrike">
                <a:solidFill>
                  <a:srgbClr val="424242"/>
                </a:solidFill>
                <a:latin typeface="Noto Sans SC"/>
                <a:ea typeface="Noto Sans SC"/>
                <a:cs typeface="Noto Sans SC"/>
                <a:sym typeface="Noto Sans SC"/>
              </a:rPr>
              <a:t>该流程展示了 RAG（检索增强生成）系统的核心机制，通过将私有数据向量化并存储，实现基于大模型的私有知识库问答，解决了模型知识更新滞后和幻觉问题。</a:t>
            </a:r>
            <a:endParaRPr lang="en-US"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524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1397000"/>
            <a:ext cx="10922000" cy="4064000"/>
          </a:xfrm>
          <a:prstGeom prst="roundRect">
            <a:avLst>
              <a:gd name="adj" fmla="val 4687"/>
            </a:avLst>
          </a:prstGeom>
          <a:solidFill>
            <a:srgbClr val="FFFFFF">
              <a:alpha val="100000"/>
            </a:srgbClr>
          </a:solidFill>
          <a:ln w="25400" cap="flat" cmpd="sng">
            <a:noFill/>
            <a:prstDash val="solid"/>
            <a:round/>
          </a:ln>
          <a:effectLst>
            <a:outerShdw blurRad="254000" dist="1270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1778000"/>
            <a:ext cx="812800" cy="812800"/>
          </a:xfrm>
          <a:prstGeom prst="rect">
            <a:avLst/>
          </a:prstGeom>
        </p:spPr>
      </p:pic>
      <p:sp>
        <p:nvSpPr>
          <p:cNvPr id="5" name="AutoShape 5"/>
          <p:cNvSpPr/>
          <p:nvPr/>
        </p:nvSpPr>
        <p:spPr>
          <a:xfrm>
            <a:off x="3073400" y="2730500"/>
            <a:ext cx="60325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0277BD"/>
                </a:solidFill>
                <a:latin typeface="Noto Sans SC"/>
                <a:ea typeface="Noto Sans SC"/>
                <a:cs typeface="Noto Sans SC"/>
                <a:sym typeface="Noto Sans SC"/>
              </a:rPr>
              <a:t>8.4 链（Chains）</a:t>
            </a:r>
            <a:endParaRPr lang="en-US" sz="1100"/>
          </a:p>
        </p:txBody>
      </p:sp>
      <p:cxnSp>
        <p:nvCxnSpPr>
          <p:cNvPr id="6" name="Connector 6"/>
          <p:cNvCxnSpPr/>
          <p:nvPr/>
        </p:nvCxnSpPr>
        <p:spPr>
          <a:xfrm rot="-34376">
            <a:off x="5461032" y="3549650"/>
            <a:ext cx="1270000" cy="12700"/>
          </a:xfrm>
          <a:prstGeom prst="straightConnector1">
            <a:avLst/>
          </a:prstGeom>
          <a:solidFill>
            <a:srgbClr val="DEE0E3">
              <a:alpha val="100000"/>
            </a:srgbClr>
          </a:solidFill>
          <a:ln w="38100" cap="flat" cmpd="sng">
            <a:solidFill>
              <a:srgbClr val="E0F7FA">
                <a:alpha val="100000"/>
              </a:srgbClr>
            </a:solidFill>
            <a:prstDash val="solid"/>
            <a:round/>
            <a:headEnd type="none" w="lg" len="lg"/>
            <a:tailEnd type="none" w="lg" len="lg"/>
          </a:ln>
        </p:spPr>
      </p:cxnSp>
      <p:sp>
        <p:nvSpPr>
          <p:cNvPr id="7" name="AutoShape 7"/>
          <p:cNvSpPr/>
          <p:nvPr/>
        </p:nvSpPr>
        <p:spPr>
          <a:xfrm>
            <a:off x="1270000" y="3810000"/>
            <a:ext cx="9652000" cy="762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2000" b="0" i="0" u="none" strike="noStrike">
                <a:solidFill>
                  <a:srgbClr val="757575"/>
                </a:solidFill>
                <a:latin typeface="Noto Sans SC"/>
                <a:ea typeface="Noto Sans SC"/>
                <a:cs typeface="Noto Sans SC"/>
                <a:sym typeface="Noto Sans SC"/>
              </a:rPr>
              <a:t>学习如何将多个组件链接起来完成复杂任务，构建高效的处理流程。</a:t>
            </a:r>
            <a:endParaRPr lang="en-US" sz="1100"/>
          </a:p>
        </p:txBody>
      </p:sp>
      <p:sp>
        <p:nvSpPr>
          <p:cNvPr id="8" name="AutoShape 8"/>
          <p:cNvSpPr/>
          <p:nvPr/>
        </p:nvSpPr>
        <p:spPr>
          <a:xfrm>
            <a:off x="0" y="6705600"/>
            <a:ext cx="12192000" cy="1524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0" y="6223000"/>
            <a:ext cx="12192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757575">
                    <a:alpha val="60000"/>
                  </a:srgbClr>
                </a:solidFill>
                <a:latin typeface="Noto Sans SC"/>
                <a:ea typeface="Noto Sans SC"/>
                <a:cs typeface="Noto Sans SC"/>
                <a:sym typeface="Noto Sans SC"/>
              </a:rPr>
              <a:t>Advanced AI Application Architecture</a:t>
            </a:r>
            <a:endParaRPr lang="en-US" sz="11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124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8.4.1 链的简介</a:t>
            </a:r>
            <a:endParaRPr lang="en-US" sz="1100"/>
          </a:p>
        </p:txBody>
      </p:sp>
      <p:sp>
        <p:nvSpPr>
          <p:cNvPr id="3" name="AutoShape 3"/>
          <p:cNvSpPr/>
          <p:nvPr/>
        </p:nvSpPr>
        <p:spPr>
          <a:xfrm>
            <a:off x="762000" y="1270000"/>
            <a:ext cx="10668000" cy="1143000"/>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587500"/>
            <a:ext cx="508000" cy="508000"/>
          </a:xfrm>
          <a:prstGeom prst="rect">
            <a:avLst/>
          </a:prstGeom>
        </p:spPr>
      </p:pic>
      <p:sp>
        <p:nvSpPr>
          <p:cNvPr id="5" name="AutoShape 5"/>
          <p:cNvSpPr/>
          <p:nvPr/>
        </p:nvSpPr>
        <p:spPr>
          <a:xfrm>
            <a:off x="1651000" y="1397000"/>
            <a:ext cx="9525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链的定义：</a:t>
            </a:r>
            <a:r>
              <a:rPr lang="en-US" sz="1600" b="0" i="0" u="none" strike="noStrike">
                <a:solidFill>
                  <a:srgbClr val="757575"/>
                </a:solidFill>
                <a:latin typeface="Noto Sans SC"/>
                <a:ea typeface="Noto Sans SC"/>
                <a:cs typeface="Noto Sans SC"/>
                <a:sym typeface="Noto Sans SC"/>
              </a:rPr>
              <a:t>将多个LLM模型或组件（如提示词模版、输出解析器、其他链）连接起来，形成一个有序的处理流程，以完成复杂任务。</a:t>
            </a:r>
            <a:endParaRPr lang="en-US" sz="1100"/>
          </a:p>
        </p:txBody>
      </p:sp>
      <p:sp>
        <p:nvSpPr>
          <p:cNvPr id="6" name="AutoShape 6"/>
          <p:cNvSpPr/>
          <p:nvPr/>
        </p:nvSpPr>
        <p:spPr>
          <a:xfrm>
            <a:off x="762000" y="2667000"/>
            <a:ext cx="10668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048000"/>
            <a:ext cx="508000" cy="508000"/>
          </a:xfrm>
          <a:prstGeom prst="rect">
            <a:avLst/>
          </a:prstGeom>
        </p:spPr>
      </p:pic>
      <p:sp>
        <p:nvSpPr>
          <p:cNvPr id="8" name="AutoShape 8"/>
          <p:cNvSpPr/>
          <p:nvPr/>
        </p:nvSpPr>
        <p:spPr>
          <a:xfrm>
            <a:off x="1651000" y="2794000"/>
            <a:ext cx="9525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链的作用：</a:t>
            </a:r>
            <a:endParaRPr lang="en-US" sz="1100"/>
          </a:p>
          <a:p>
            <a:pPr marL="190500" indent="-190500" algn="l">
              <a:lnSpc>
                <a:spcPct val="125000"/>
              </a:lnSpc>
              <a:buClr>
                <a:srgbClr val="757575"/>
              </a:buClr>
              <a:buChar char="•"/>
            </a:pPr>
            <a:r>
              <a:rPr lang="en-US" sz="1500" b="1" i="0" u="none" strike="noStrike">
                <a:solidFill>
                  <a:srgbClr val="757575"/>
                </a:solidFill>
                <a:latin typeface="Noto Sans SC"/>
                <a:ea typeface="Noto Sans SC"/>
                <a:cs typeface="Noto Sans SC"/>
                <a:sym typeface="Noto Sans SC"/>
              </a:rPr>
              <a:t>功能组合：</a:t>
            </a:r>
            <a:r>
              <a:rPr lang="en-US" sz="1500" b="0" i="0" u="none" strike="noStrike">
                <a:solidFill>
                  <a:srgbClr val="757575"/>
                </a:solidFill>
                <a:latin typeface="Noto Sans SC"/>
                <a:ea typeface="Noto Sans SC"/>
                <a:cs typeface="Noto Sans SC"/>
                <a:sym typeface="Noto Sans SC"/>
              </a:rPr>
              <a:t>将简单的组件组合成复杂的应用，实现能力的叠加。</a:t>
            </a:r>
            <a:endParaRPr lang="en-US" sz="1500" b="0" i="0" u="none" strike="noStrike">
              <a:solidFill>
                <a:srgbClr val="757575"/>
              </a:solidFill>
              <a:latin typeface="Noto Sans SC"/>
              <a:ea typeface="Noto Sans SC"/>
              <a:cs typeface="Noto Sans SC"/>
              <a:sym typeface="Noto Sans SC"/>
            </a:endParaRPr>
          </a:p>
          <a:p>
            <a:pPr marL="190500" indent="-190500" algn="l">
              <a:lnSpc>
                <a:spcPct val="125000"/>
              </a:lnSpc>
              <a:buClr>
                <a:srgbClr val="757575"/>
              </a:buClr>
              <a:buChar char="•"/>
            </a:pPr>
            <a:r>
              <a:rPr lang="en-US" sz="1500" b="1" i="0" u="none" strike="noStrike">
                <a:solidFill>
                  <a:srgbClr val="757575"/>
                </a:solidFill>
                <a:latin typeface="Noto Sans SC"/>
                <a:ea typeface="Noto Sans SC"/>
                <a:cs typeface="Noto Sans SC"/>
                <a:sym typeface="Noto Sans SC"/>
              </a:rPr>
              <a:t>处理复杂任务：</a:t>
            </a:r>
            <a:r>
              <a:rPr lang="en-US" sz="1500" b="0" i="0" u="none" strike="noStrike">
                <a:solidFill>
                  <a:srgbClr val="757575"/>
                </a:solidFill>
                <a:latin typeface="Noto Sans SC"/>
                <a:ea typeface="Noto Sans SC"/>
                <a:cs typeface="Noto Sans SC"/>
                <a:sym typeface="Noto Sans SC"/>
              </a:rPr>
              <a:t>将单个模型难以完成的任务，分解为多个步骤逐步解决。</a:t>
            </a:r>
            <a:endParaRPr lang="en-US" sz="1500" b="0" i="0" u="none" strike="noStrike">
              <a:solidFill>
                <a:srgbClr val="757575"/>
              </a:solidFill>
              <a:latin typeface="Noto Sans SC"/>
              <a:ea typeface="Noto Sans SC"/>
              <a:cs typeface="Noto Sans SC"/>
              <a:sym typeface="Noto Sans SC"/>
            </a:endParaRPr>
          </a:p>
        </p:txBody>
      </p:sp>
      <p:sp>
        <p:nvSpPr>
          <p:cNvPr id="9" name="AutoShape 9"/>
          <p:cNvSpPr/>
          <p:nvPr/>
        </p:nvSpPr>
        <p:spPr>
          <a:xfrm>
            <a:off x="762000" y="4191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链的分类</a:t>
            </a:r>
            <a:endParaRPr lang="en-US" sz="1100"/>
          </a:p>
        </p:txBody>
      </p:sp>
      <p:sp>
        <p:nvSpPr>
          <p:cNvPr id="10" name="AutoShape 10"/>
          <p:cNvSpPr/>
          <p:nvPr/>
        </p:nvSpPr>
        <p:spPr>
          <a:xfrm>
            <a:off x="762000" y="4699000"/>
            <a:ext cx="33782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953000"/>
            <a:ext cx="406400" cy="406400"/>
          </a:xfrm>
          <a:prstGeom prst="rect">
            <a:avLst/>
          </a:prstGeom>
        </p:spPr>
      </p:pic>
      <p:sp>
        <p:nvSpPr>
          <p:cNvPr id="12" name="AutoShape 12"/>
          <p:cNvSpPr/>
          <p:nvPr/>
        </p:nvSpPr>
        <p:spPr>
          <a:xfrm>
            <a:off x="1524000" y="4889500"/>
            <a:ext cx="2413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LLMChain</a:t>
            </a:r>
            <a:endParaRPr lang="en-US" sz="1100"/>
          </a:p>
          <a:p>
            <a:pPr indent="0" algn="l">
              <a:lnSpc>
                <a:spcPct val="125000"/>
              </a:lnSpc>
            </a:pPr>
            <a:r>
              <a:rPr lang="en-US" sz="1300" b="0" i="0" u="none" strike="noStrike">
                <a:solidFill>
                  <a:srgbClr val="757575"/>
                </a:solidFill>
                <a:latin typeface="Noto Sans SC"/>
                <a:ea typeface="Noto Sans SC"/>
                <a:cs typeface="Noto Sans SC"/>
                <a:sym typeface="Noto Sans SC"/>
              </a:rPr>
              <a:t>最基础的链，组合提示词模版和模型，实现基础交互。</a:t>
            </a:r>
            <a:endParaRPr lang="en-US" sz="1300" b="0" i="0" u="none" strike="noStrike">
              <a:solidFill>
                <a:srgbClr val="757575"/>
              </a:solidFill>
              <a:latin typeface="Noto Sans SC"/>
              <a:ea typeface="Noto Sans SC"/>
              <a:cs typeface="Noto Sans SC"/>
              <a:sym typeface="Noto Sans SC"/>
            </a:endParaRPr>
          </a:p>
        </p:txBody>
      </p:sp>
      <p:sp>
        <p:nvSpPr>
          <p:cNvPr id="13" name="AutoShape 13"/>
          <p:cNvSpPr/>
          <p:nvPr/>
        </p:nvSpPr>
        <p:spPr>
          <a:xfrm>
            <a:off x="4394200" y="4699000"/>
            <a:ext cx="33782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48200" y="4953000"/>
            <a:ext cx="406400" cy="406400"/>
          </a:xfrm>
          <a:prstGeom prst="rect">
            <a:avLst/>
          </a:prstGeom>
        </p:spPr>
      </p:pic>
      <p:sp>
        <p:nvSpPr>
          <p:cNvPr id="15" name="AutoShape 15"/>
          <p:cNvSpPr/>
          <p:nvPr/>
        </p:nvSpPr>
        <p:spPr>
          <a:xfrm>
            <a:off x="5156200" y="4889500"/>
            <a:ext cx="2413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SequentialChain</a:t>
            </a:r>
            <a:endParaRPr lang="en-US" sz="1100"/>
          </a:p>
          <a:p>
            <a:pPr indent="0" algn="l">
              <a:lnSpc>
                <a:spcPct val="125000"/>
              </a:lnSpc>
            </a:pPr>
            <a:r>
              <a:rPr lang="en-US" sz="1300" b="0" i="0" u="none" strike="noStrike">
                <a:solidFill>
                  <a:srgbClr val="757575"/>
                </a:solidFill>
                <a:latin typeface="Noto Sans SC"/>
                <a:ea typeface="Noto Sans SC"/>
                <a:cs typeface="Noto Sans SC"/>
                <a:sym typeface="Noto Sans SC"/>
              </a:rPr>
              <a:t>按顺序执行多个链，前一个链的输出作为下一个链的输入。</a:t>
            </a:r>
            <a:endParaRPr lang="en-US" sz="1300" b="0" i="0" u="none" strike="noStrike">
              <a:solidFill>
                <a:srgbClr val="757575"/>
              </a:solidFill>
              <a:latin typeface="Noto Sans SC"/>
              <a:ea typeface="Noto Sans SC"/>
              <a:cs typeface="Noto Sans SC"/>
              <a:sym typeface="Noto Sans SC"/>
            </a:endParaRPr>
          </a:p>
        </p:txBody>
      </p:sp>
      <p:sp>
        <p:nvSpPr>
          <p:cNvPr id="16" name="AutoShape 16"/>
          <p:cNvSpPr/>
          <p:nvPr/>
        </p:nvSpPr>
        <p:spPr>
          <a:xfrm>
            <a:off x="8026400" y="4699000"/>
            <a:ext cx="33782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280400" y="4953000"/>
            <a:ext cx="406400" cy="406400"/>
          </a:xfrm>
          <a:prstGeom prst="rect">
            <a:avLst/>
          </a:prstGeom>
        </p:spPr>
      </p:pic>
      <p:sp>
        <p:nvSpPr>
          <p:cNvPr id="18" name="AutoShape 18"/>
          <p:cNvSpPr/>
          <p:nvPr/>
        </p:nvSpPr>
        <p:spPr>
          <a:xfrm>
            <a:off x="8788400" y="4889500"/>
            <a:ext cx="2413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RouterChain</a:t>
            </a:r>
            <a:endParaRPr lang="en-US" sz="1100"/>
          </a:p>
          <a:p>
            <a:pPr indent="0" algn="l">
              <a:lnSpc>
                <a:spcPct val="125000"/>
              </a:lnSpc>
            </a:pPr>
            <a:r>
              <a:rPr lang="en-US" sz="1300" b="0" i="0" u="none" strike="noStrike">
                <a:solidFill>
                  <a:srgbClr val="757575"/>
                </a:solidFill>
                <a:latin typeface="Noto Sans SC"/>
                <a:ea typeface="Noto Sans SC"/>
                <a:cs typeface="Noto Sans SC"/>
                <a:sym typeface="Noto Sans SC"/>
              </a:rPr>
              <a:t>根据输入内容的特征，动态选择最合适的链来执行任务。</a:t>
            </a:r>
            <a:endParaRPr lang="en-US" sz="13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124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LLMChain示例</a:t>
            </a:r>
            <a:endParaRPr lang="en-US" sz="1100"/>
          </a:p>
        </p:txBody>
      </p:sp>
      <p:sp>
        <p:nvSpPr>
          <p:cNvPr id="3" name="AutoShape 3"/>
          <p:cNvSpPr/>
          <p:nvPr/>
        </p:nvSpPr>
        <p:spPr>
          <a:xfrm>
            <a:off x="762000" y="1397000"/>
            <a:ext cx="4826000" cy="2794000"/>
          </a:xfrm>
          <a:prstGeom prst="roundRect">
            <a:avLst>
              <a:gd name="adj" fmla="val 454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625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LLMChain 核心作用</a:t>
            </a:r>
            <a:endParaRPr lang="en-US" sz="1100"/>
          </a:p>
        </p:txBody>
      </p:sp>
      <p:sp>
        <p:nvSpPr>
          <p:cNvPr id="6" name="AutoShape 6"/>
          <p:cNvSpPr/>
          <p:nvPr/>
        </p:nvSpPr>
        <p:spPr>
          <a:xfrm>
            <a:off x="1016000" y="2159000"/>
            <a:ext cx="4318000" cy="177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0" i="0" u="none" strike="noStrike">
                <a:solidFill>
                  <a:srgbClr val="757575"/>
                </a:solidFill>
                <a:latin typeface="Noto Sans SC"/>
                <a:ea typeface="Noto Sans SC"/>
                <a:cs typeface="Noto Sans SC"/>
                <a:sym typeface="Noto Sans SC"/>
              </a:rPr>
              <a:t>LLMChain 是构建复杂应用的基础单元。它将</a:t>
            </a:r>
            <a:r>
              <a:rPr lang="en-US" sz="1500" b="1" i="0" u="none" strike="noStrike">
                <a:solidFill>
                  <a:srgbClr val="FF9800"/>
                </a:solidFill>
                <a:latin typeface="Noto Sans SC"/>
                <a:ea typeface="Noto Sans SC"/>
                <a:cs typeface="Noto Sans SC"/>
                <a:sym typeface="Noto Sans SC"/>
              </a:rPr>
              <a:t>提示词模版 (PromptTemplate)</a:t>
            </a:r>
            <a:r>
              <a:rPr lang="en-US" sz="1500" b="0" i="0" u="none" strike="noStrike">
                <a:solidFill>
                  <a:srgbClr val="757575"/>
                </a:solidFill>
                <a:latin typeface="Noto Sans SC"/>
                <a:ea typeface="Noto Sans SC"/>
                <a:cs typeface="Noto Sans SC"/>
                <a:sym typeface="Noto Sans SC"/>
              </a:rPr>
              <a:t>与</a:t>
            </a:r>
            <a:r>
              <a:rPr lang="en-US" sz="1500" b="1" i="0" u="none" strike="noStrike">
                <a:solidFill>
                  <a:srgbClr val="FF9800"/>
                </a:solidFill>
                <a:latin typeface="Noto Sans SC"/>
                <a:ea typeface="Noto Sans SC"/>
                <a:cs typeface="Noto Sans SC"/>
                <a:sym typeface="Noto Sans SC"/>
              </a:rPr>
              <a:t>大语言模型 (LLM)</a:t>
            </a:r>
            <a:r>
              <a:rPr lang="en-US" sz="1500" b="0" i="0" u="none" strike="noStrike">
                <a:solidFill>
                  <a:srgbClr val="757575"/>
                </a:solidFill>
                <a:latin typeface="Noto Sans SC"/>
                <a:ea typeface="Noto Sans SC"/>
                <a:cs typeface="Noto Sans SC"/>
                <a:sym typeface="Noto Sans SC"/>
              </a:rPr>
              <a:t>进行封装，形成一个可执行的处理链。</a:t>
            </a:r>
            <a:endParaRPr lang="en-US" sz="1100"/>
          </a:p>
          <a:p>
            <a:pPr indent="0" algn="l">
              <a:lnSpc>
                <a:spcPct val="125000"/>
              </a:lnSpc>
            </a:pPr>
            <a:r>
              <a:rPr lang="en-US" sz="1500" b="0" i="0" u="none" strike="noStrike">
                <a:solidFill>
                  <a:srgbClr val="757575"/>
                </a:solidFill>
                <a:latin typeface="Noto Sans SC"/>
                <a:ea typeface="Noto Sans SC"/>
                <a:cs typeface="Noto Sans SC"/>
                <a:sym typeface="Noto Sans SC"/>
              </a:rPr>
              <a:t>通过该链，用户可以便捷地输入数据，经过模型处理后获得输出结果，实现从输入到输出的自动化流程。</a:t>
            </a:r>
            <a:endParaRPr lang="en-US" sz="1500" b="0" i="0" u="none" strike="noStrike">
              <a:solidFill>
                <a:srgbClr val="757575"/>
              </a:solidFill>
              <a:latin typeface="Noto Sans SC"/>
              <a:ea typeface="Noto Sans SC"/>
              <a:cs typeface="Noto Sans SC"/>
              <a:sym typeface="Noto Sans SC"/>
            </a:endParaRPr>
          </a:p>
        </p:txBody>
      </p:sp>
      <p:sp>
        <p:nvSpPr>
          <p:cNvPr id="7" name="AutoShape 7"/>
          <p:cNvSpPr/>
          <p:nvPr/>
        </p:nvSpPr>
        <p:spPr>
          <a:xfrm>
            <a:off x="762000" y="4445000"/>
            <a:ext cx="4826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699000"/>
            <a:ext cx="406400" cy="406400"/>
          </a:xfrm>
          <a:prstGeom prst="rect">
            <a:avLst/>
          </a:prstGeom>
        </p:spPr>
      </p:pic>
      <p:sp>
        <p:nvSpPr>
          <p:cNvPr id="9" name="AutoShape 9"/>
          <p:cNvSpPr/>
          <p:nvPr/>
        </p:nvSpPr>
        <p:spPr>
          <a:xfrm>
            <a:off x="1524000" y="4673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构建流程</a:t>
            </a:r>
            <a:endParaRPr lang="en-US" sz="1100"/>
          </a:p>
        </p:txBody>
      </p:sp>
      <p:sp>
        <p:nvSpPr>
          <p:cNvPr id="10" name="AutoShape 10"/>
          <p:cNvSpPr/>
          <p:nvPr/>
        </p:nvSpPr>
        <p:spPr>
          <a:xfrm>
            <a:off x="1016000" y="52070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0" i="0" u="none" strike="noStrike">
                <a:solidFill>
                  <a:srgbClr val="757575"/>
                </a:solidFill>
                <a:latin typeface="Noto Sans SC"/>
                <a:ea typeface="Noto Sans SC"/>
                <a:cs typeface="Noto Sans SC"/>
                <a:sym typeface="Noto Sans SC"/>
              </a:rPr>
              <a:t>1. 初始化模型 &amp;#8594; 2. 创建提示词模版 &amp;#8594; 3. 构建链 &amp;#8594; 4. 运行</a:t>
            </a:r>
            <a:endParaRPr lang="en-US" sz="1100"/>
          </a:p>
        </p:txBody>
      </p:sp>
      <p:sp>
        <p:nvSpPr>
          <p:cNvPr id="11" name="AutoShape 11"/>
          <p:cNvSpPr/>
          <p:nvPr/>
        </p:nvSpPr>
        <p:spPr>
          <a:xfrm>
            <a:off x="5842000" y="1397000"/>
            <a:ext cx="5588000" cy="4445000"/>
          </a:xfrm>
          <a:prstGeom prst="roundRect">
            <a:avLst>
              <a:gd name="adj" fmla="val 2857"/>
            </a:avLst>
          </a:prstGeom>
          <a:solidFill>
            <a:srgbClr val="1E1E1E">
              <a:alpha val="100000"/>
            </a:srgbClr>
          </a:solidFill>
          <a:ln w="25400" cap="flat" cmpd="sng">
            <a:noFill/>
            <a:prstDash val="solid"/>
            <a:round/>
          </a:ln>
          <a:effectLst>
            <a:outerShdw blurRad="152400" dist="76200" dir="5400000" algn="tl" rotWithShape="0">
              <a:srgbClr val="000000">
                <a:alpha val="25000"/>
              </a:srgbClr>
            </a:outerShdw>
          </a:effectLst>
        </p:spPr>
        <p:txBody>
          <a:bodyPr vert="horz" wrap="square" lIns="63500" tIns="63500" rIns="63500" bIns="63500" rtlCol="0" anchor="ctr"/>
          <a:lstStyle/>
          <a:p>
            <a:pPr algn="ctr">
              <a:defRPr/>
            </a:pPr>
          </a:p>
        </p:txBody>
      </p:sp>
      <p:sp>
        <p:nvSpPr>
          <p:cNvPr id="12" name="AutoShape 12"/>
          <p:cNvSpPr/>
          <p:nvPr/>
        </p:nvSpPr>
        <p:spPr>
          <a:xfrm>
            <a:off x="5842000" y="1397000"/>
            <a:ext cx="5588000" cy="457200"/>
          </a:xfrm>
          <a:prstGeom prst="roundRect">
            <a:avLst>
              <a:gd name="adj" fmla="val 0"/>
            </a:avLst>
          </a:prstGeom>
          <a:solidFill>
            <a:srgbClr val="32323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32500" y="1498600"/>
            <a:ext cx="254000" cy="254000"/>
          </a:xfrm>
          <a:prstGeom prst="rect">
            <a:avLst/>
          </a:prstGeom>
        </p:spPr>
      </p:pic>
      <p:sp>
        <p:nvSpPr>
          <p:cNvPr id="14" name="AutoShape 14"/>
          <p:cNvSpPr/>
          <p:nvPr/>
        </p:nvSpPr>
        <p:spPr>
          <a:xfrm>
            <a:off x="6413500" y="14732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B4B4B4"/>
                </a:solidFill>
                <a:latin typeface="Noto Sans SC"/>
                <a:ea typeface="Noto Sans SC"/>
                <a:cs typeface="Noto Sans SC"/>
                <a:sym typeface="Noto Sans SC"/>
              </a:rPr>
              <a:t>text_summarization.py</a:t>
            </a:r>
            <a:endParaRPr lang="en-US" sz="1100"/>
          </a:p>
        </p:txBody>
      </p:sp>
      <p:sp>
        <p:nvSpPr>
          <p:cNvPr id="15" name="AutoShape 15"/>
          <p:cNvSpPr/>
          <p:nvPr/>
        </p:nvSpPr>
        <p:spPr>
          <a:xfrm>
            <a:off x="6032500" y="1968500"/>
            <a:ext cx="5207000" cy="368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C678DD"/>
                </a:solidFill>
                <a:latin typeface="Source Code Pro"/>
                <a:ea typeface="Source Code Pro"/>
                <a:cs typeface="Source Code Pro"/>
                <a:sym typeface="Source Code Pro"/>
              </a:rPr>
              <a:t>from</a:t>
            </a:r>
            <a:r>
              <a:rPr lang="en-US" sz="1300" b="0" i="0" u="none" strike="noStrike">
                <a:solidFill>
                  <a:srgbClr val="DCDFE4"/>
                </a:solidFill>
                <a:latin typeface="Source Code Pro"/>
                <a:ea typeface="Source Code Pro"/>
                <a:cs typeface="Source Code Pro"/>
                <a:sym typeface="Source Code Pro"/>
              </a:rPr>
              <a:t>langchain.chains</a:t>
            </a:r>
            <a:r>
              <a:rPr lang="en-US" sz="1300" b="0" i="0" u="none" strike="noStrike">
                <a:solidFill>
                  <a:srgbClr val="C678DD"/>
                </a:solidFill>
                <a:latin typeface="Source Code Pro"/>
                <a:ea typeface="Source Code Pro"/>
                <a:cs typeface="Source Code Pro"/>
                <a:sym typeface="Source Code Pro"/>
              </a:rPr>
              <a:t>import</a:t>
            </a:r>
            <a:r>
              <a:rPr lang="en-US" sz="1300" b="0" i="0" u="none" strike="noStrike">
                <a:solidFill>
                  <a:srgbClr val="E5C07B"/>
                </a:solidFill>
                <a:latin typeface="Source Code Pro"/>
                <a:ea typeface="Source Code Pro"/>
                <a:cs typeface="Source Code Pro"/>
                <a:sym typeface="Source Code Pro"/>
              </a:rPr>
              <a:t>LLMChain</a:t>
            </a:r>
            <a:endParaRPr lang="en-US" sz="1100"/>
          </a:p>
          <a:p>
            <a:pPr indent="0" algn="l">
              <a:lnSpc>
                <a:spcPct val="108000"/>
              </a:lnSpc>
            </a:pPr>
            <a:r>
              <a:rPr lang="en-US" sz="1300" b="0" i="0" u="none" strike="noStrike">
                <a:solidFill>
                  <a:srgbClr val="C678DD"/>
                </a:solidFill>
                <a:latin typeface="Source Code Pro"/>
                <a:ea typeface="Source Code Pro"/>
                <a:cs typeface="Source Code Pro"/>
                <a:sym typeface="Source Code Pro"/>
              </a:rPr>
              <a:t>from</a:t>
            </a:r>
            <a:r>
              <a:rPr lang="en-US" sz="1300" b="0" i="0" u="none" strike="noStrike">
                <a:solidFill>
                  <a:srgbClr val="DCDFE4"/>
                </a:solidFill>
                <a:latin typeface="Source Code Pro"/>
                <a:ea typeface="Source Code Pro"/>
                <a:cs typeface="Source Code Pro"/>
                <a:sym typeface="Source Code Pro"/>
              </a:rPr>
              <a:t>langchain_core.prompts</a:t>
            </a:r>
            <a:r>
              <a:rPr lang="en-US" sz="1300" b="0" i="0" u="none" strike="noStrike">
                <a:solidFill>
                  <a:srgbClr val="C678DD"/>
                </a:solidFill>
                <a:latin typeface="Source Code Pro"/>
                <a:ea typeface="Source Code Pro"/>
                <a:cs typeface="Source Code Pro"/>
                <a:sym typeface="Source Code Pro"/>
              </a:rPr>
              <a:t>import</a:t>
            </a:r>
            <a:r>
              <a:rPr lang="en-US" sz="1300" b="0" i="0" u="none" strike="noStrike">
                <a:solidFill>
                  <a:srgbClr val="E5C07B"/>
                </a:solidFill>
                <a:latin typeface="Source Code Pro"/>
                <a:ea typeface="Source Code Pro"/>
                <a:cs typeface="Source Code Pro"/>
                <a:sym typeface="Source Code Pro"/>
              </a:rPr>
              <a:t>PromptTemplate</a:t>
            </a:r>
            <a:endParaRPr lang="en-US" sz="1300" b="0" i="0" u="none" strike="noStrike">
              <a:solidFill>
                <a:srgbClr val="E5C07B"/>
              </a:solidFill>
              <a:latin typeface="Source Code Pro"/>
              <a:ea typeface="Source Code Pro"/>
              <a:cs typeface="Source Code Pro"/>
              <a:sym typeface="Source Code Pro"/>
            </a:endParaRPr>
          </a:p>
          <a:p>
            <a:pPr indent="0" algn="l">
              <a:lnSpc>
                <a:spcPct val="108000"/>
              </a:lnSpc>
            </a:pPr>
            <a:r>
              <a:rPr lang="en-US" sz="1300" b="0" i="0" u="none" strike="noStrike">
                <a:solidFill>
                  <a:srgbClr val="C678DD"/>
                </a:solidFill>
                <a:latin typeface="Source Code Pro"/>
                <a:ea typeface="Source Code Pro"/>
                <a:cs typeface="Source Code Pro"/>
                <a:sym typeface="Source Code Pro"/>
              </a:rPr>
              <a:t>from</a:t>
            </a:r>
            <a:r>
              <a:rPr lang="en-US" sz="1300" b="0" i="0" u="none" strike="noStrike">
                <a:solidFill>
                  <a:srgbClr val="DCDFE4"/>
                </a:solidFill>
                <a:latin typeface="Source Code Pro"/>
                <a:ea typeface="Source Code Pro"/>
                <a:cs typeface="Source Code Pro"/>
                <a:sym typeface="Source Code Pro"/>
              </a:rPr>
              <a:t>langchain_openai</a:t>
            </a:r>
            <a:r>
              <a:rPr lang="en-US" sz="1300" b="0" i="0" u="none" strike="noStrike">
                <a:solidFill>
                  <a:srgbClr val="C678DD"/>
                </a:solidFill>
                <a:latin typeface="Source Code Pro"/>
                <a:ea typeface="Source Code Pro"/>
                <a:cs typeface="Source Code Pro"/>
                <a:sym typeface="Source Code Pro"/>
              </a:rPr>
              <a:t>import</a:t>
            </a:r>
            <a:r>
              <a:rPr lang="en-US" sz="1300" b="0" i="0" u="none" strike="noStrike">
                <a:solidFill>
                  <a:srgbClr val="E5C07B"/>
                </a:solidFill>
                <a:latin typeface="Source Code Pro"/>
                <a:ea typeface="Source Code Pro"/>
                <a:cs typeface="Source Code Pro"/>
                <a:sym typeface="Source Code Pro"/>
              </a:rPr>
              <a:t>AzureChatOpenAI</a:t>
            </a:r>
            <a:endParaRPr lang="en-US" sz="1300" b="0" i="0" u="none" strike="noStrike">
              <a:solidFill>
                <a:srgbClr val="E5C07B"/>
              </a:solidFill>
              <a:latin typeface="Source Code Pro"/>
              <a:ea typeface="Source Code Pro"/>
              <a:cs typeface="Source Code Pro"/>
              <a:sym typeface="Source Code Pro"/>
            </a:endParaRPr>
          </a:p>
          <a:p>
            <a:pPr indent="0" algn="l">
              <a:lnSpc>
                <a:spcPct val="108000"/>
              </a:lnSpc>
            </a:pPr>
            <a:r>
              <a:rPr lang="en-US" sz="1300" b="0" i="0" u="none" strike="noStrike">
                <a:solidFill>
                  <a:srgbClr val="5C6370"/>
                </a:solidFill>
                <a:latin typeface="Source Code Pro"/>
                <a:ea typeface="Source Code Pro"/>
                <a:cs typeface="Source Code Pro"/>
                <a:sym typeface="Source Code Pro"/>
              </a:rPr>
              <a:t># 1. 初始化模型</a:t>
            </a:r>
            <a:endParaRPr lang="en-US" sz="1300" b="0" i="0" u="none" strike="noStrike">
              <a:solidFill>
                <a:srgbClr val="5C6370"/>
              </a:solidFill>
              <a:latin typeface="Source Code Pro"/>
              <a:ea typeface="Source Code Pro"/>
              <a:cs typeface="Source Code Pro"/>
              <a:sym typeface="Source Code Pro"/>
            </a:endParaRPr>
          </a:p>
          <a:p>
            <a:pPr indent="0" algn="l">
              <a:lnSpc>
                <a:spcPct val="108000"/>
              </a:lnSpc>
            </a:pPr>
            <a:r>
              <a:rPr lang="en-US" sz="1300" b="0" i="0" u="none" strike="noStrike">
                <a:solidFill>
                  <a:srgbClr val="DCDFE4"/>
                </a:solidFill>
                <a:latin typeface="Source Code Pro"/>
                <a:ea typeface="Source Code Pro"/>
                <a:cs typeface="Source Code Pro"/>
                <a:sym typeface="Source Code Pro"/>
              </a:rPr>
              <a:t>llm = AzureChatOpenAI(...)</a:t>
            </a:r>
            <a:endParaRPr lang="en-US" sz="1300" b="0" i="0" u="none" strike="noStrike">
              <a:solidFill>
                <a:srgbClr val="DCDFE4"/>
              </a:solidFill>
              <a:latin typeface="Source Code Pro"/>
              <a:ea typeface="Source Code Pro"/>
              <a:cs typeface="Source Code Pro"/>
              <a:sym typeface="Source Code Pro"/>
            </a:endParaRPr>
          </a:p>
          <a:p>
            <a:pPr indent="0" algn="l">
              <a:lnSpc>
                <a:spcPct val="108000"/>
              </a:lnSpc>
            </a:pPr>
            <a:r>
              <a:rPr lang="en-US" sz="1300" b="0" i="0" u="none" strike="noStrike">
                <a:solidFill>
                  <a:srgbClr val="5C6370"/>
                </a:solidFill>
                <a:latin typeface="Source Code Pro"/>
                <a:ea typeface="Source Code Pro"/>
                <a:cs typeface="Source Code Pro"/>
                <a:sym typeface="Source Code Pro"/>
              </a:rPr>
              <a:t># 2. 创建提示词模版</a:t>
            </a:r>
            <a:endParaRPr lang="en-US" sz="1300" b="0" i="0" u="none" strike="noStrike">
              <a:solidFill>
                <a:srgbClr val="5C6370"/>
              </a:solidFill>
              <a:latin typeface="Source Code Pro"/>
              <a:ea typeface="Source Code Pro"/>
              <a:cs typeface="Source Code Pro"/>
              <a:sym typeface="Source Code Pro"/>
            </a:endParaRPr>
          </a:p>
          <a:p>
            <a:pPr indent="0" algn="l">
              <a:lnSpc>
                <a:spcPct val="108000"/>
              </a:lnSpc>
            </a:pPr>
            <a:r>
              <a:rPr lang="en-US" sz="1300" b="0" i="0" u="none" strike="noStrike">
                <a:solidFill>
                  <a:srgbClr val="DCDFE4"/>
                </a:solidFill>
                <a:latin typeface="Source Code Pro"/>
                <a:ea typeface="Source Code Pro"/>
                <a:cs typeface="Source Code Pro"/>
                <a:sym typeface="Source Code Pro"/>
              </a:rPr>
              <a:t>template =</a:t>
            </a:r>
            <a:r>
              <a:rPr lang="en-US" sz="1300" b="0" i="0" u="none" strike="noStrike">
                <a:solidFill>
                  <a:srgbClr val="98C379"/>
                </a:solidFill>
                <a:latin typeface="Source Code Pro"/>
                <a:ea typeface="Source Code Pro"/>
                <a:cs typeface="Source Code Pro"/>
                <a:sym typeface="Source Code Pro"/>
              </a:rPr>
              <a:t>"请总结以下文本：{text}"</a:t>
            </a:r>
            <a:endParaRPr lang="en-US" sz="1300" b="0" i="0" u="none" strike="noStrike">
              <a:solidFill>
                <a:srgbClr val="98C379"/>
              </a:solidFill>
              <a:latin typeface="Source Code Pro"/>
              <a:ea typeface="Source Code Pro"/>
              <a:cs typeface="Source Code Pro"/>
              <a:sym typeface="Source Code Pro"/>
            </a:endParaRPr>
          </a:p>
          <a:p>
            <a:pPr indent="0" algn="l">
              <a:lnSpc>
                <a:spcPct val="108000"/>
              </a:lnSpc>
            </a:pPr>
            <a:r>
              <a:rPr lang="en-US" sz="1300" b="0" i="0" u="none" strike="noStrike">
                <a:solidFill>
                  <a:srgbClr val="DCDFE4"/>
                </a:solidFill>
                <a:latin typeface="Source Code Pro"/>
                <a:ea typeface="Source Code Pro"/>
                <a:cs typeface="Source Code Pro"/>
                <a:sym typeface="Source Code Pro"/>
              </a:rPr>
              <a:t>prompt = PromptTemplate(input_variables=[</a:t>
            </a:r>
            <a:r>
              <a:rPr lang="en-US" sz="1300" b="0" i="0" u="none" strike="noStrike">
                <a:solidFill>
                  <a:srgbClr val="98C379"/>
                </a:solidFill>
                <a:latin typeface="Source Code Pro"/>
                <a:ea typeface="Source Code Pro"/>
                <a:cs typeface="Source Code Pro"/>
                <a:sym typeface="Source Code Pro"/>
              </a:rPr>
              <a:t>"text"</a:t>
            </a:r>
            <a:r>
              <a:rPr lang="en-US" sz="1300" b="0" i="0" u="none" strike="noStrike">
                <a:solidFill>
                  <a:srgbClr val="DCDFE4"/>
                </a:solidFill>
                <a:latin typeface="Source Code Pro"/>
                <a:ea typeface="Source Code Pro"/>
                <a:cs typeface="Source Code Pro"/>
                <a:sym typeface="Source Code Pro"/>
              </a:rPr>
              <a:t>], template=template)</a:t>
            </a:r>
            <a:endParaRPr lang="en-US" sz="1300" b="0" i="0" u="none" strike="noStrike">
              <a:solidFill>
                <a:srgbClr val="DCDFE4"/>
              </a:solidFill>
              <a:latin typeface="Source Code Pro"/>
              <a:ea typeface="Source Code Pro"/>
              <a:cs typeface="Source Code Pro"/>
              <a:sym typeface="Source Code Pro"/>
            </a:endParaRPr>
          </a:p>
          <a:p>
            <a:pPr indent="0" algn="l">
              <a:lnSpc>
                <a:spcPct val="108000"/>
              </a:lnSpc>
            </a:pPr>
            <a:r>
              <a:rPr lang="en-US" sz="1300" b="0" i="0" u="none" strike="noStrike">
                <a:solidFill>
                  <a:srgbClr val="5C6370"/>
                </a:solidFill>
                <a:latin typeface="Source Code Pro"/>
                <a:ea typeface="Source Code Pro"/>
                <a:cs typeface="Source Code Pro"/>
                <a:sym typeface="Source Code Pro"/>
              </a:rPr>
              <a:t># 3. 创建LLMChain</a:t>
            </a:r>
            <a:endParaRPr lang="en-US" sz="1300" b="0" i="0" u="none" strike="noStrike">
              <a:solidFill>
                <a:srgbClr val="5C6370"/>
              </a:solidFill>
              <a:latin typeface="Source Code Pro"/>
              <a:ea typeface="Source Code Pro"/>
              <a:cs typeface="Source Code Pro"/>
              <a:sym typeface="Source Code Pro"/>
            </a:endParaRPr>
          </a:p>
          <a:p>
            <a:pPr indent="0" algn="l">
              <a:lnSpc>
                <a:spcPct val="108000"/>
              </a:lnSpc>
            </a:pPr>
            <a:r>
              <a:rPr lang="en-US" sz="1300" b="0" i="0" u="none" strike="noStrike">
                <a:solidFill>
                  <a:srgbClr val="DCDFE4"/>
                </a:solidFill>
                <a:latin typeface="Source Code Pro"/>
                <a:ea typeface="Source Code Pro"/>
                <a:cs typeface="Source Code Pro"/>
                <a:sym typeface="Source Code Pro"/>
              </a:rPr>
              <a:t>chain = LLMChain(llm=llm, prompt=prompt)</a:t>
            </a:r>
            <a:endParaRPr lang="en-US" sz="1300" b="0" i="0" u="none" strike="noStrike">
              <a:solidFill>
                <a:srgbClr val="DCDFE4"/>
              </a:solidFill>
              <a:latin typeface="Source Code Pro"/>
              <a:ea typeface="Source Code Pro"/>
              <a:cs typeface="Source Code Pro"/>
              <a:sym typeface="Source Code Pro"/>
            </a:endParaRPr>
          </a:p>
          <a:p>
            <a:pPr indent="0" algn="l">
              <a:lnSpc>
                <a:spcPct val="108000"/>
              </a:lnSpc>
            </a:pPr>
            <a:r>
              <a:rPr lang="en-US" sz="1300" b="0" i="0" u="none" strike="noStrike">
                <a:solidFill>
                  <a:srgbClr val="5C6370"/>
                </a:solidFill>
                <a:latin typeface="Source Code Pro"/>
                <a:ea typeface="Source Code Pro"/>
                <a:cs typeface="Source Code Pro"/>
                <a:sym typeface="Source Code Pro"/>
              </a:rPr>
              <a:t># 4. 运行链</a:t>
            </a:r>
            <a:endParaRPr lang="en-US" sz="1300" b="0" i="0" u="none" strike="noStrike">
              <a:solidFill>
                <a:srgbClr val="5C6370"/>
              </a:solidFill>
              <a:latin typeface="Source Code Pro"/>
              <a:ea typeface="Source Code Pro"/>
              <a:cs typeface="Source Code Pro"/>
              <a:sym typeface="Source Code Pro"/>
            </a:endParaRPr>
          </a:p>
          <a:p>
            <a:pPr indent="0" algn="l">
              <a:lnSpc>
                <a:spcPct val="108000"/>
              </a:lnSpc>
            </a:pPr>
            <a:r>
              <a:rPr lang="en-US" sz="1300" b="0" i="0" u="none" strike="noStrike">
                <a:solidFill>
                  <a:srgbClr val="DCDFE4"/>
                </a:solidFill>
                <a:latin typeface="Source Code Pro"/>
                <a:ea typeface="Source Code Pro"/>
                <a:cs typeface="Source Code Pro"/>
                <a:sym typeface="Source Code Pro"/>
              </a:rPr>
              <a:t>result = chain.run(</a:t>
            </a:r>
            <a:r>
              <a:rPr lang="en-US" sz="1300" b="0" i="0" u="none" strike="noStrike">
                <a:solidFill>
                  <a:srgbClr val="98C379"/>
                </a:solidFill>
                <a:latin typeface="Source Code Pro"/>
                <a:ea typeface="Source Code Pro"/>
                <a:cs typeface="Source Code Pro"/>
                <a:sym typeface="Source Code Pro"/>
              </a:rPr>
              <a:t>"这是一段需要总结的长文本内容..."</a:t>
            </a:r>
            <a:r>
              <a:rPr lang="en-US" sz="1300" b="0" i="0" u="none" strike="noStrike">
                <a:solidFill>
                  <a:srgbClr val="DCDFE4"/>
                </a:solidFill>
                <a:latin typeface="Source Code Pro"/>
                <a:ea typeface="Source Code Pro"/>
                <a:cs typeface="Source Code Pro"/>
                <a:sym typeface="Source Code Pro"/>
              </a:rPr>
              <a:t>)</a:t>
            </a:r>
            <a:endParaRPr lang="en-US" sz="1300" b="0" i="0" u="none" strike="noStrike">
              <a:solidFill>
                <a:srgbClr val="DCDFE4"/>
              </a:solidFill>
              <a:latin typeface="Source Code Pro"/>
              <a:ea typeface="Source Code Pro"/>
              <a:cs typeface="Source Code Pro"/>
              <a:sym typeface="Source Code Pro"/>
            </a:endParaRPr>
          </a:p>
          <a:p>
            <a:pPr indent="0" algn="l">
              <a:lnSpc>
                <a:spcPct val="108000"/>
              </a:lnSpc>
            </a:pPr>
            <a:r>
              <a:rPr lang="en-US" sz="1300" b="0" i="0" u="none" strike="noStrike">
                <a:solidFill>
                  <a:srgbClr val="DCDFE4"/>
                </a:solidFill>
                <a:latin typeface="Source Code Pro"/>
                <a:ea typeface="Source Code Pro"/>
                <a:cs typeface="Source Code Pro"/>
                <a:sym typeface="Source Code Pro"/>
              </a:rPr>
              <a:t>print(result)</a:t>
            </a:r>
            <a:endParaRPr lang="en-US" sz="1300" b="0" i="0" u="none" strike="noStrike">
              <a:solidFill>
                <a:srgbClr val="DCDFE4"/>
              </a:solidFill>
              <a:latin typeface="Source Code Pro"/>
              <a:ea typeface="Source Code Pro"/>
              <a:cs typeface="Source Code Pro"/>
              <a:sym typeface="Source Code Pr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581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SequentialChain示例</a:t>
            </a:r>
            <a:endParaRPr lang="en-US" sz="1100"/>
          </a:p>
        </p:txBody>
      </p:sp>
      <p:sp>
        <p:nvSpPr>
          <p:cNvPr id="3" name="AutoShape 3"/>
          <p:cNvSpPr/>
          <p:nvPr/>
        </p:nvSpPr>
        <p:spPr>
          <a:xfrm>
            <a:off x="762000" y="1270000"/>
            <a:ext cx="4826000" cy="1270000"/>
          </a:xfrm>
          <a:prstGeom prst="roundRect">
            <a:avLst>
              <a:gd name="adj" fmla="val 10000"/>
            </a:avLst>
          </a:prstGeom>
          <a:solidFill>
            <a:srgbClr val="FFFFFF">
              <a:alpha val="100000"/>
            </a:srgbClr>
          </a:solidFill>
          <a:ln w="25400" cap="flat" cmpd="sng">
            <a:noFill/>
            <a:prstDash val="solid"/>
            <a:round/>
          </a:ln>
          <a:effectLst>
            <a:outerShdw blurRad="127000" dist="50800" dir="2700000" algn="tl" rotWithShape="0">
              <a:srgbClr val="0277BD">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524000"/>
            <a:ext cx="406400" cy="406400"/>
          </a:xfrm>
          <a:prstGeom prst="rect">
            <a:avLst/>
          </a:prstGeom>
        </p:spPr>
      </p:pic>
      <p:sp>
        <p:nvSpPr>
          <p:cNvPr id="5" name="AutoShape 5"/>
          <p:cNvSpPr/>
          <p:nvPr/>
        </p:nvSpPr>
        <p:spPr>
          <a:xfrm>
            <a:off x="1524000" y="1460500"/>
            <a:ext cx="3810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核心作用：任务流水线</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按顺序执行多个链，将前一个链的输出作为后一个链的输入，实现复杂任务的分步处理。</a:t>
            </a:r>
            <a:endParaRPr lang="en-US" sz="1400" b="0" i="0" u="none" strike="noStrike">
              <a:solidFill>
                <a:srgbClr val="757575"/>
              </a:solidFill>
              <a:latin typeface="Noto Sans SC"/>
              <a:ea typeface="Noto Sans SC"/>
              <a:cs typeface="Noto Sans SC"/>
              <a:sym typeface="Noto Sans SC"/>
            </a:endParaRPr>
          </a:p>
        </p:txBody>
      </p:sp>
      <p:sp>
        <p:nvSpPr>
          <p:cNvPr id="6" name="AutoShape 6"/>
          <p:cNvSpPr/>
          <p:nvPr/>
        </p:nvSpPr>
        <p:spPr>
          <a:xfrm>
            <a:off x="762000" y="27940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执行流程演示</a:t>
            </a:r>
            <a:endParaRPr lang="en-US" sz="1100"/>
          </a:p>
        </p:txBody>
      </p:sp>
      <p:sp>
        <p:nvSpPr>
          <p:cNvPr id="7" name="AutoShape 7"/>
          <p:cNvSpPr/>
          <p:nvPr/>
        </p:nvSpPr>
        <p:spPr>
          <a:xfrm>
            <a:off x="762000" y="3302000"/>
            <a:ext cx="4826000" cy="635000"/>
          </a:xfrm>
          <a:prstGeom prst="roundRect">
            <a:avLst>
              <a:gd name="adj" fmla="val 20000"/>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3441700"/>
            <a:ext cx="355600" cy="355600"/>
          </a:xfrm>
          <a:prstGeom prst="rect">
            <a:avLst/>
          </a:prstGeom>
        </p:spPr>
      </p:pic>
      <p:sp>
        <p:nvSpPr>
          <p:cNvPr id="9" name="AutoShape 9"/>
          <p:cNvSpPr/>
          <p:nvPr/>
        </p:nvSpPr>
        <p:spPr>
          <a:xfrm>
            <a:off x="1397000" y="3403600"/>
            <a:ext cx="4064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a:ea typeface="Noto Sans SC"/>
                <a:cs typeface="Noto Sans SC"/>
                <a:sym typeface="Noto Sans SC"/>
              </a:rPr>
              <a:t>输入文本 (Input)</a:t>
            </a:r>
            <a:endParaRPr lang="en-US" sz="1100"/>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048000" y="4000500"/>
            <a:ext cx="254000" cy="254000"/>
          </a:xfrm>
          <a:prstGeom prst="rect">
            <a:avLst/>
          </a:prstGeom>
        </p:spPr>
      </p:pic>
      <p:sp>
        <p:nvSpPr>
          <p:cNvPr id="11" name="AutoShape 11"/>
          <p:cNvSpPr/>
          <p:nvPr/>
        </p:nvSpPr>
        <p:spPr>
          <a:xfrm>
            <a:off x="762000" y="4318000"/>
            <a:ext cx="4826000" cy="635000"/>
          </a:xfrm>
          <a:prstGeom prst="roundRect">
            <a:avLst>
              <a:gd name="adj" fmla="val 20000"/>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52500" y="4457700"/>
            <a:ext cx="355600" cy="355600"/>
          </a:xfrm>
          <a:prstGeom prst="rect">
            <a:avLst/>
          </a:prstGeom>
        </p:spPr>
      </p:pic>
      <p:sp>
        <p:nvSpPr>
          <p:cNvPr id="13" name="AutoShape 13"/>
          <p:cNvSpPr/>
          <p:nvPr/>
        </p:nvSpPr>
        <p:spPr>
          <a:xfrm>
            <a:off x="1397000" y="4419600"/>
            <a:ext cx="4064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a:ea typeface="Noto Sans SC"/>
                <a:cs typeface="Noto Sans SC"/>
                <a:sym typeface="Noto Sans SC"/>
              </a:rPr>
              <a:t>链1：总结文本 (Summary)</a:t>
            </a:r>
            <a:endParaRPr lang="en-US" sz="1100"/>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048000" y="5016500"/>
            <a:ext cx="254000" cy="254000"/>
          </a:xfrm>
          <a:prstGeom prst="rect">
            <a:avLst/>
          </a:prstGeom>
        </p:spPr>
      </p:pic>
      <p:sp>
        <p:nvSpPr>
          <p:cNvPr id="15" name="AutoShape 15"/>
          <p:cNvSpPr/>
          <p:nvPr/>
        </p:nvSpPr>
        <p:spPr>
          <a:xfrm>
            <a:off x="762000" y="5334000"/>
            <a:ext cx="4826000" cy="635000"/>
          </a:xfrm>
          <a:prstGeom prst="roundRect">
            <a:avLst>
              <a:gd name="adj" fmla="val 20000"/>
            </a:avLst>
          </a:prstGeom>
          <a:solidFill>
            <a:srgbClr val="FF9800">
              <a:alpha val="10000"/>
            </a:srgbClr>
          </a:solidFill>
          <a:ln w="12700" cap="flat" cmpd="sng">
            <a:solidFill>
              <a:srgbClr val="FF9800">
                <a:alpha val="10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52500" y="5473700"/>
            <a:ext cx="355600" cy="355600"/>
          </a:xfrm>
          <a:prstGeom prst="rect">
            <a:avLst/>
          </a:prstGeom>
        </p:spPr>
      </p:pic>
      <p:sp>
        <p:nvSpPr>
          <p:cNvPr id="17" name="AutoShape 17"/>
          <p:cNvSpPr/>
          <p:nvPr/>
        </p:nvSpPr>
        <p:spPr>
          <a:xfrm>
            <a:off x="1397000" y="5435600"/>
            <a:ext cx="4064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a:ea typeface="Noto Sans SC"/>
                <a:cs typeface="Noto Sans SC"/>
                <a:sym typeface="Noto Sans SC"/>
              </a:rPr>
              <a:t>链2：生成标题 (Title)</a:t>
            </a:r>
            <a:endParaRPr lang="en-US" sz="1100"/>
          </a:p>
        </p:txBody>
      </p:sp>
      <p:sp>
        <p:nvSpPr>
          <p:cNvPr id="18" name="AutoShape 18"/>
          <p:cNvSpPr/>
          <p:nvPr/>
        </p:nvSpPr>
        <p:spPr>
          <a:xfrm>
            <a:off x="5969000" y="1270000"/>
            <a:ext cx="5461000" cy="4699000"/>
          </a:xfrm>
          <a:prstGeom prst="roundRect">
            <a:avLst>
              <a:gd name="adj" fmla="val 2702"/>
            </a:avLst>
          </a:prstGeom>
          <a:solidFill>
            <a:srgbClr val="1E1E1E">
              <a:alpha val="100000"/>
            </a:srgbClr>
          </a:solidFill>
          <a:ln w="25400" cap="flat" cmpd="sng">
            <a:noFill/>
            <a:prstDash val="solid"/>
            <a:round/>
          </a:ln>
          <a:effectLst>
            <a:outerShdw blurRad="190500" dist="76200" dir="2700000" algn="tl" rotWithShape="0">
              <a:srgbClr val="000000">
                <a:alpha val="30000"/>
              </a:srgbClr>
            </a:outerShdw>
          </a:effectLst>
        </p:spPr>
        <p:txBody>
          <a:bodyPr vert="horz" wrap="square" lIns="63500" tIns="63500" rIns="63500" bIns="63500" rtlCol="0" anchor="ctr"/>
          <a:lstStyle/>
          <a:p>
            <a:pPr algn="ctr">
              <a:defRPr/>
            </a:pPr>
          </a:p>
        </p:txBody>
      </p:sp>
      <p:sp>
        <p:nvSpPr>
          <p:cNvPr id="19" name="AutoShape 19"/>
          <p:cNvSpPr/>
          <p:nvPr/>
        </p:nvSpPr>
        <p:spPr>
          <a:xfrm>
            <a:off x="5969000" y="1270000"/>
            <a:ext cx="5461000" cy="457200"/>
          </a:xfrm>
          <a:prstGeom prst="roundRect">
            <a:avLst>
              <a:gd name="adj" fmla="val 0"/>
            </a:avLst>
          </a:prstGeom>
          <a:solidFill>
            <a:srgbClr val="2D2D2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096000" y="1346200"/>
            <a:ext cx="254000" cy="254000"/>
          </a:xfrm>
          <a:prstGeom prst="rect">
            <a:avLst/>
          </a:prstGeom>
        </p:spPr>
      </p:pic>
      <p:sp>
        <p:nvSpPr>
          <p:cNvPr id="21" name="AutoShape 21"/>
          <p:cNvSpPr/>
          <p:nvPr/>
        </p:nvSpPr>
        <p:spPr>
          <a:xfrm>
            <a:off x="6477000" y="1320800"/>
            <a:ext cx="482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B4B4B4"/>
                </a:solidFill>
                <a:latin typeface="Noto Sans SC"/>
                <a:ea typeface="Noto Sans SC"/>
                <a:cs typeface="Noto Sans SC"/>
                <a:sym typeface="Noto Sans SC"/>
              </a:rPr>
              <a:t>Python Implementation</a:t>
            </a:r>
            <a:endParaRPr lang="en-US" sz="1100"/>
          </a:p>
        </p:txBody>
      </p:sp>
      <p:sp>
        <p:nvSpPr>
          <p:cNvPr id="22" name="AutoShape 22"/>
          <p:cNvSpPr/>
          <p:nvPr/>
        </p:nvSpPr>
        <p:spPr>
          <a:xfrm>
            <a:off x="6096000" y="1841500"/>
            <a:ext cx="5207000" cy="393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FF9800"/>
                </a:solidFill>
                <a:latin typeface="Consolas"/>
                <a:ea typeface="Consolas"/>
                <a:cs typeface="Consolas"/>
                <a:sym typeface="Consolas"/>
              </a:rPr>
              <a:t>from</a:t>
            </a:r>
            <a:r>
              <a:rPr lang="en-US" sz="1200" b="0" i="0" u="none" strike="noStrike">
                <a:solidFill>
                  <a:srgbClr val="DCDCDC"/>
                </a:solidFill>
                <a:latin typeface="Consolas"/>
                <a:ea typeface="Consolas"/>
                <a:cs typeface="Consolas"/>
                <a:sym typeface="Consolas"/>
              </a:rPr>
              <a:t>langchain.chains</a:t>
            </a:r>
            <a:r>
              <a:rPr lang="en-US" sz="1200" b="0" i="0" u="none" strike="noStrike">
                <a:solidFill>
                  <a:srgbClr val="FF9800"/>
                </a:solidFill>
                <a:latin typeface="Consolas"/>
                <a:ea typeface="Consolas"/>
                <a:cs typeface="Consolas"/>
                <a:sym typeface="Consolas"/>
              </a:rPr>
              <a:t>import</a:t>
            </a:r>
            <a:r>
              <a:rPr lang="en-US" sz="1200" b="0" i="0" u="none" strike="noStrike">
                <a:solidFill>
                  <a:srgbClr val="DCDCDC"/>
                </a:solidFill>
                <a:latin typeface="Consolas"/>
                <a:ea typeface="Consolas"/>
                <a:cs typeface="Consolas"/>
                <a:sym typeface="Consolas"/>
              </a:rPr>
              <a:t>LLMChain, SequentialChain</a:t>
            </a:r>
            <a:endParaRPr lang="en-US" sz="1100"/>
          </a:p>
          <a:p>
            <a:pPr indent="0" algn="l">
              <a:lnSpc>
                <a:spcPct val="100000"/>
              </a:lnSpc>
            </a:pPr>
            <a:r>
              <a:rPr lang="en-US" sz="1200" b="0" i="0" u="none" strike="noStrike">
                <a:solidFill>
                  <a:srgbClr val="FF9800"/>
                </a:solidFill>
                <a:latin typeface="Consolas"/>
                <a:ea typeface="Consolas"/>
                <a:cs typeface="Consolas"/>
                <a:sym typeface="Consolas"/>
              </a:rPr>
              <a:t>from</a:t>
            </a:r>
            <a:r>
              <a:rPr lang="en-US" sz="1200" b="0" i="0" u="none" strike="noStrike">
                <a:solidFill>
                  <a:srgbClr val="DCDCDC"/>
                </a:solidFill>
                <a:latin typeface="Consolas"/>
                <a:ea typeface="Consolas"/>
                <a:cs typeface="Consolas"/>
                <a:sym typeface="Consolas"/>
              </a:rPr>
              <a:t>langchain_core.prompts</a:t>
            </a:r>
            <a:r>
              <a:rPr lang="en-US" sz="1200" b="0" i="0" u="none" strike="noStrike">
                <a:solidFill>
                  <a:srgbClr val="FF9800"/>
                </a:solidFill>
                <a:latin typeface="Consolas"/>
                <a:ea typeface="Consolas"/>
                <a:cs typeface="Consolas"/>
                <a:sym typeface="Consolas"/>
              </a:rPr>
              <a:t>import</a:t>
            </a:r>
            <a:r>
              <a:rPr lang="en-US" sz="1200" b="0" i="0" u="none" strike="noStrike">
                <a:solidFill>
                  <a:srgbClr val="DCDCDC"/>
                </a:solidFill>
                <a:latin typeface="Consolas"/>
                <a:ea typeface="Consolas"/>
                <a:cs typeface="Consolas"/>
                <a:sym typeface="Consolas"/>
              </a:rPr>
              <a:t>PromptTemplate</a:t>
            </a:r>
            <a:endParaRPr lang="en-US" sz="1200" b="0" i="0" u="none" strike="noStrike">
              <a:solidFill>
                <a:srgbClr val="DCDCDC"/>
              </a:solidFill>
              <a:latin typeface="Consolas"/>
              <a:ea typeface="Consolas"/>
              <a:cs typeface="Consolas"/>
              <a:sym typeface="Consolas"/>
            </a:endParaRPr>
          </a:p>
          <a:p>
            <a:pPr indent="0" algn="l">
              <a:lnSpc>
                <a:spcPct val="100000"/>
              </a:lnSpc>
            </a:pPr>
            <a:r>
              <a:rPr lang="en-US" sz="1200" b="0" i="0" u="none" strike="noStrike">
                <a:solidFill>
                  <a:srgbClr val="646464"/>
                </a:solidFill>
                <a:latin typeface="Consolas"/>
                <a:ea typeface="Consolas"/>
                <a:cs typeface="Consolas"/>
                <a:sym typeface="Consolas"/>
              </a:rPr>
              <a:t># 链1：总结文本</a:t>
            </a:r>
            <a:endParaRPr lang="en-US" sz="1200" b="0" i="0" u="none" strike="noStrike">
              <a:solidFill>
                <a:srgbClr val="646464"/>
              </a:solidFill>
              <a:latin typeface="Consolas"/>
              <a:ea typeface="Consolas"/>
              <a:cs typeface="Consolas"/>
              <a:sym typeface="Consolas"/>
            </a:endParaRPr>
          </a:p>
          <a:p>
            <a:pPr indent="0" algn="l">
              <a:lnSpc>
                <a:spcPct val="100000"/>
              </a:lnSpc>
            </a:pPr>
            <a:r>
              <a:rPr lang="en-US" sz="1200" b="0" i="0" u="none" strike="noStrike">
                <a:solidFill>
                  <a:srgbClr val="DCDCDC"/>
                </a:solidFill>
                <a:latin typeface="Consolas"/>
                <a:ea typeface="Consolas"/>
                <a:cs typeface="Consolas"/>
                <a:sym typeface="Consolas"/>
              </a:rPr>
              <a:t>summarize_prompt = PromptTemplate(input_variables=[</a:t>
            </a:r>
            <a:r>
              <a:rPr lang="en-US" sz="1200" b="0" i="0" u="none" strike="noStrike">
                <a:solidFill>
                  <a:srgbClr val="A5D6A7"/>
                </a:solidFill>
                <a:latin typeface="Consolas"/>
                <a:ea typeface="Consolas"/>
                <a:cs typeface="Consolas"/>
                <a:sym typeface="Consolas"/>
              </a:rPr>
              <a:t>"text"</a:t>
            </a:r>
            <a:r>
              <a:rPr lang="en-US" sz="1200" b="0" i="0" u="none" strike="noStrike">
                <a:solidFill>
                  <a:srgbClr val="DCDCDC"/>
                </a:solidFill>
                <a:latin typeface="Consolas"/>
                <a:ea typeface="Consolas"/>
                <a:cs typeface="Consolas"/>
                <a:sym typeface="Consolas"/>
              </a:rPr>
              <a:t>], template=</a:t>
            </a:r>
            <a:r>
              <a:rPr lang="en-US" sz="1200" b="0" i="0" u="none" strike="noStrike">
                <a:solidFill>
                  <a:srgbClr val="A5D6A7"/>
                </a:solidFill>
                <a:latin typeface="Consolas"/>
                <a:ea typeface="Consolas"/>
                <a:cs typeface="Consolas"/>
                <a:sym typeface="Consolas"/>
              </a:rPr>
              <a:t>"总结文本：{text}"</a:t>
            </a:r>
            <a:r>
              <a:rPr lang="en-US" sz="1200" b="0" i="0" u="none" strike="noStrike">
                <a:solidFill>
                  <a:srgbClr val="DCDCDC"/>
                </a:solidFill>
                <a:latin typeface="Consolas"/>
                <a:ea typeface="Consolas"/>
                <a:cs typeface="Consolas"/>
                <a:sym typeface="Consolas"/>
              </a:rPr>
              <a:t>)</a:t>
            </a:r>
            <a:endParaRPr lang="en-US" sz="1200" b="0" i="0" u="none" strike="noStrike">
              <a:solidFill>
                <a:srgbClr val="DCDCDC"/>
              </a:solidFill>
              <a:latin typeface="Consolas"/>
              <a:ea typeface="Consolas"/>
              <a:cs typeface="Consolas"/>
              <a:sym typeface="Consolas"/>
            </a:endParaRPr>
          </a:p>
          <a:p>
            <a:pPr indent="0" algn="l">
              <a:lnSpc>
                <a:spcPct val="100000"/>
              </a:lnSpc>
            </a:pPr>
            <a:r>
              <a:rPr lang="en-US" sz="1200" b="0" i="0" u="none" strike="noStrike">
                <a:solidFill>
                  <a:srgbClr val="DCDCDC"/>
                </a:solidFill>
                <a:latin typeface="Consolas"/>
                <a:ea typeface="Consolas"/>
                <a:cs typeface="Consolas"/>
                <a:sym typeface="Consolas"/>
              </a:rPr>
              <a:t>summarize_chain = LLMChain(llm=llm, prompt=summarize_prompt, output_key=</a:t>
            </a:r>
            <a:r>
              <a:rPr lang="en-US" sz="1200" b="0" i="0" u="none" strike="noStrike">
                <a:solidFill>
                  <a:srgbClr val="A5D6A7"/>
                </a:solidFill>
                <a:latin typeface="Consolas"/>
                <a:ea typeface="Consolas"/>
                <a:cs typeface="Consolas"/>
                <a:sym typeface="Consolas"/>
              </a:rPr>
              <a:t>"summary"</a:t>
            </a:r>
            <a:r>
              <a:rPr lang="en-US" sz="1200" b="0" i="0" u="none" strike="noStrike">
                <a:solidFill>
                  <a:srgbClr val="DCDCDC"/>
                </a:solidFill>
                <a:latin typeface="Consolas"/>
                <a:ea typeface="Consolas"/>
                <a:cs typeface="Consolas"/>
                <a:sym typeface="Consolas"/>
              </a:rPr>
              <a:t>)</a:t>
            </a:r>
            <a:endParaRPr lang="en-US" sz="1200" b="0" i="0" u="none" strike="noStrike">
              <a:solidFill>
                <a:srgbClr val="DCDCDC"/>
              </a:solidFill>
              <a:latin typeface="Consolas"/>
              <a:ea typeface="Consolas"/>
              <a:cs typeface="Consolas"/>
              <a:sym typeface="Consolas"/>
            </a:endParaRPr>
          </a:p>
          <a:p>
            <a:pPr indent="0" algn="l">
              <a:lnSpc>
                <a:spcPct val="100000"/>
              </a:lnSpc>
            </a:pPr>
            <a:r>
              <a:rPr lang="en-US" sz="1200" b="0" i="0" u="none" strike="noStrike">
                <a:solidFill>
                  <a:srgbClr val="646464"/>
                </a:solidFill>
                <a:latin typeface="Consolas"/>
                <a:ea typeface="Consolas"/>
                <a:cs typeface="Consolas"/>
                <a:sym typeface="Consolas"/>
              </a:rPr>
              <a:t># 链2：生成标题</a:t>
            </a:r>
            <a:endParaRPr lang="en-US" sz="1200" b="0" i="0" u="none" strike="noStrike">
              <a:solidFill>
                <a:srgbClr val="646464"/>
              </a:solidFill>
              <a:latin typeface="Consolas"/>
              <a:ea typeface="Consolas"/>
              <a:cs typeface="Consolas"/>
              <a:sym typeface="Consolas"/>
            </a:endParaRPr>
          </a:p>
          <a:p>
            <a:pPr indent="0" algn="l">
              <a:lnSpc>
                <a:spcPct val="100000"/>
              </a:lnSpc>
            </a:pPr>
            <a:r>
              <a:rPr lang="en-US" sz="1200" b="0" i="0" u="none" strike="noStrike">
                <a:solidFill>
                  <a:srgbClr val="DCDCDC"/>
                </a:solidFill>
                <a:latin typeface="Consolas"/>
                <a:ea typeface="Consolas"/>
                <a:cs typeface="Consolas"/>
                <a:sym typeface="Consolas"/>
              </a:rPr>
              <a:t>title_prompt = PromptTemplate(input_variables=[</a:t>
            </a:r>
            <a:r>
              <a:rPr lang="en-US" sz="1200" b="0" i="0" u="none" strike="noStrike">
                <a:solidFill>
                  <a:srgbClr val="A5D6A7"/>
                </a:solidFill>
                <a:latin typeface="Consolas"/>
                <a:ea typeface="Consolas"/>
                <a:cs typeface="Consolas"/>
                <a:sym typeface="Consolas"/>
              </a:rPr>
              <a:t>"summary"</a:t>
            </a:r>
            <a:r>
              <a:rPr lang="en-US" sz="1200" b="0" i="0" u="none" strike="noStrike">
                <a:solidFill>
                  <a:srgbClr val="DCDCDC"/>
                </a:solidFill>
                <a:latin typeface="Consolas"/>
                <a:ea typeface="Consolas"/>
                <a:cs typeface="Consolas"/>
                <a:sym typeface="Consolas"/>
              </a:rPr>
              <a:t>], template=</a:t>
            </a:r>
            <a:r>
              <a:rPr lang="en-US" sz="1200" b="0" i="0" u="none" strike="noStrike">
                <a:solidFill>
                  <a:srgbClr val="A5D6A7"/>
                </a:solidFill>
                <a:latin typeface="Consolas"/>
                <a:ea typeface="Consolas"/>
                <a:cs typeface="Consolas"/>
                <a:sym typeface="Consolas"/>
              </a:rPr>
              <a:t>"生成标题：{summary}"</a:t>
            </a:r>
            <a:r>
              <a:rPr lang="en-US" sz="1200" b="0" i="0" u="none" strike="noStrike">
                <a:solidFill>
                  <a:srgbClr val="DCDCDC"/>
                </a:solidFill>
                <a:latin typeface="Consolas"/>
                <a:ea typeface="Consolas"/>
                <a:cs typeface="Consolas"/>
                <a:sym typeface="Consolas"/>
              </a:rPr>
              <a:t>)</a:t>
            </a:r>
            <a:endParaRPr lang="en-US" sz="1200" b="0" i="0" u="none" strike="noStrike">
              <a:solidFill>
                <a:srgbClr val="DCDCDC"/>
              </a:solidFill>
              <a:latin typeface="Consolas"/>
              <a:ea typeface="Consolas"/>
              <a:cs typeface="Consolas"/>
              <a:sym typeface="Consolas"/>
            </a:endParaRPr>
          </a:p>
          <a:p>
            <a:pPr indent="0" algn="l">
              <a:lnSpc>
                <a:spcPct val="100000"/>
              </a:lnSpc>
            </a:pPr>
            <a:r>
              <a:rPr lang="en-US" sz="1200" b="0" i="0" u="none" strike="noStrike">
                <a:solidFill>
                  <a:srgbClr val="DCDCDC"/>
                </a:solidFill>
                <a:latin typeface="Consolas"/>
                <a:ea typeface="Consolas"/>
                <a:cs typeface="Consolas"/>
                <a:sym typeface="Consolas"/>
              </a:rPr>
              <a:t>title_chain = LLMChain(llm=llm, prompt=title_prompt, output_key=</a:t>
            </a:r>
            <a:r>
              <a:rPr lang="en-US" sz="1200" b="0" i="0" u="none" strike="noStrike">
                <a:solidFill>
                  <a:srgbClr val="A5D6A7"/>
                </a:solidFill>
                <a:latin typeface="Consolas"/>
                <a:ea typeface="Consolas"/>
                <a:cs typeface="Consolas"/>
                <a:sym typeface="Consolas"/>
              </a:rPr>
              <a:t>"title"</a:t>
            </a:r>
            <a:r>
              <a:rPr lang="en-US" sz="1200" b="0" i="0" u="none" strike="noStrike">
                <a:solidFill>
                  <a:srgbClr val="DCDCDC"/>
                </a:solidFill>
                <a:latin typeface="Consolas"/>
                <a:ea typeface="Consolas"/>
                <a:cs typeface="Consolas"/>
                <a:sym typeface="Consolas"/>
              </a:rPr>
              <a:t>)</a:t>
            </a:r>
            <a:endParaRPr lang="en-US" sz="1200" b="0" i="0" u="none" strike="noStrike">
              <a:solidFill>
                <a:srgbClr val="DCDCDC"/>
              </a:solidFill>
              <a:latin typeface="Consolas"/>
              <a:ea typeface="Consolas"/>
              <a:cs typeface="Consolas"/>
              <a:sym typeface="Consolas"/>
            </a:endParaRPr>
          </a:p>
          <a:p>
            <a:pPr indent="0" algn="l">
              <a:lnSpc>
                <a:spcPct val="100000"/>
              </a:lnSpc>
            </a:pPr>
            <a:r>
              <a:rPr lang="en-US" sz="1200" b="0" i="0" u="none" strike="noStrike">
                <a:solidFill>
                  <a:srgbClr val="646464"/>
                </a:solidFill>
                <a:latin typeface="Consolas"/>
                <a:ea typeface="Consolas"/>
                <a:cs typeface="Consolas"/>
                <a:sym typeface="Consolas"/>
              </a:rPr>
              <a:t># 组合流水线</a:t>
            </a:r>
            <a:endParaRPr lang="en-US" sz="1200" b="0" i="0" u="none" strike="noStrike">
              <a:solidFill>
                <a:srgbClr val="646464"/>
              </a:solidFill>
              <a:latin typeface="Consolas"/>
              <a:ea typeface="Consolas"/>
              <a:cs typeface="Consolas"/>
              <a:sym typeface="Consolas"/>
            </a:endParaRPr>
          </a:p>
          <a:p>
            <a:pPr indent="0" algn="l">
              <a:lnSpc>
                <a:spcPct val="100000"/>
              </a:lnSpc>
            </a:pPr>
            <a:r>
              <a:rPr lang="en-US" sz="1200" b="0" i="0" u="none" strike="noStrike">
                <a:solidFill>
                  <a:srgbClr val="DCDCDC"/>
                </a:solidFill>
                <a:latin typeface="Consolas"/>
                <a:ea typeface="Consolas"/>
                <a:cs typeface="Consolas"/>
                <a:sym typeface="Consolas"/>
              </a:rPr>
              <a:t>overall_chain = SequentialChain(</a:t>
            </a:r>
            <a:endParaRPr lang="en-US" sz="1200" b="0" i="0" u="none" strike="noStrike">
              <a:solidFill>
                <a:srgbClr val="DCDCDC"/>
              </a:solidFill>
              <a:latin typeface="Consolas"/>
              <a:ea typeface="Consolas"/>
              <a:cs typeface="Consolas"/>
              <a:sym typeface="Consolas"/>
            </a:endParaRPr>
          </a:p>
          <a:p>
            <a:pPr indent="0" algn="l">
              <a:lnSpc>
                <a:spcPct val="100000"/>
              </a:lnSpc>
            </a:pPr>
            <a:r>
              <a:rPr lang="en-US" sz="1200" b="0" i="0" u="none" strike="noStrike">
                <a:solidFill>
                  <a:srgbClr val="DCDCDC"/>
                </a:solidFill>
                <a:latin typeface="Consolas"/>
                <a:ea typeface="Consolas"/>
                <a:cs typeface="Consolas"/>
                <a:sym typeface="Consolas"/>
              </a:rPr>
              <a:t>chains=[summarize_chain, title_chain],</a:t>
            </a:r>
            <a:endParaRPr lang="en-US" sz="1200" b="0" i="0" u="none" strike="noStrike">
              <a:solidFill>
                <a:srgbClr val="DCDCDC"/>
              </a:solidFill>
              <a:latin typeface="Consolas"/>
              <a:ea typeface="Consolas"/>
              <a:cs typeface="Consolas"/>
              <a:sym typeface="Consolas"/>
            </a:endParaRPr>
          </a:p>
          <a:p>
            <a:pPr indent="0" algn="l">
              <a:lnSpc>
                <a:spcPct val="100000"/>
              </a:lnSpc>
            </a:pPr>
            <a:r>
              <a:rPr lang="en-US" sz="1200" b="0" i="0" u="none" strike="noStrike">
                <a:solidFill>
                  <a:srgbClr val="DCDCDC"/>
                </a:solidFill>
                <a:latin typeface="Consolas"/>
                <a:ea typeface="Consolas"/>
                <a:cs typeface="Consolas"/>
                <a:sym typeface="Consolas"/>
              </a:rPr>
              <a:t>input_variables=[</a:t>
            </a:r>
            <a:r>
              <a:rPr lang="en-US" sz="1200" b="0" i="0" u="none" strike="noStrike">
                <a:solidFill>
                  <a:srgbClr val="A5D6A7"/>
                </a:solidFill>
                <a:latin typeface="Consolas"/>
                <a:ea typeface="Consolas"/>
                <a:cs typeface="Consolas"/>
                <a:sym typeface="Consolas"/>
              </a:rPr>
              <a:t>"text"</a:t>
            </a:r>
            <a:r>
              <a:rPr lang="en-US" sz="1200" b="0" i="0" u="none" strike="noStrike">
                <a:solidFill>
                  <a:srgbClr val="DCDCDC"/>
                </a:solidFill>
                <a:latin typeface="Consolas"/>
                <a:ea typeface="Consolas"/>
                <a:cs typeface="Consolas"/>
                <a:sym typeface="Consolas"/>
              </a:rPr>
              <a:t>],</a:t>
            </a:r>
            <a:endParaRPr lang="en-US" sz="1200" b="0" i="0" u="none" strike="noStrike">
              <a:solidFill>
                <a:srgbClr val="DCDCDC"/>
              </a:solidFill>
              <a:latin typeface="Consolas"/>
              <a:ea typeface="Consolas"/>
              <a:cs typeface="Consolas"/>
              <a:sym typeface="Consolas"/>
            </a:endParaRPr>
          </a:p>
          <a:p>
            <a:pPr indent="0" algn="l">
              <a:lnSpc>
                <a:spcPct val="100000"/>
              </a:lnSpc>
            </a:pPr>
            <a:r>
              <a:rPr lang="en-US" sz="1200" b="0" i="0" u="none" strike="noStrike">
                <a:solidFill>
                  <a:srgbClr val="DCDCDC"/>
                </a:solidFill>
                <a:latin typeface="Consolas"/>
                <a:ea typeface="Consolas"/>
                <a:cs typeface="Consolas"/>
                <a:sym typeface="Consolas"/>
              </a:rPr>
              <a:t>output_variables=[</a:t>
            </a:r>
            <a:r>
              <a:rPr lang="en-US" sz="1200" b="0" i="0" u="none" strike="noStrike">
                <a:solidFill>
                  <a:srgbClr val="A5D6A7"/>
                </a:solidFill>
                <a:latin typeface="Consolas"/>
                <a:ea typeface="Consolas"/>
                <a:cs typeface="Consolas"/>
                <a:sym typeface="Consolas"/>
              </a:rPr>
              <a:t>"summary"</a:t>
            </a:r>
            <a:r>
              <a:rPr lang="en-US" sz="1200" b="0" i="0" u="none" strike="noStrike">
                <a:solidFill>
                  <a:srgbClr val="DCDCDC"/>
                </a:solidFill>
                <a:latin typeface="Consolas"/>
                <a:ea typeface="Consolas"/>
                <a:cs typeface="Consolas"/>
                <a:sym typeface="Consolas"/>
              </a:rPr>
              <a:t>,</a:t>
            </a:r>
            <a:r>
              <a:rPr lang="en-US" sz="1200" b="0" i="0" u="none" strike="noStrike">
                <a:solidFill>
                  <a:srgbClr val="A5D6A7"/>
                </a:solidFill>
                <a:latin typeface="Consolas"/>
                <a:ea typeface="Consolas"/>
                <a:cs typeface="Consolas"/>
                <a:sym typeface="Consolas"/>
              </a:rPr>
              <a:t>"title"</a:t>
            </a:r>
            <a:r>
              <a:rPr lang="en-US" sz="1200" b="0" i="0" u="none" strike="noStrike">
                <a:solidFill>
                  <a:srgbClr val="DCDCDC"/>
                </a:solidFill>
                <a:latin typeface="Consolas"/>
                <a:ea typeface="Consolas"/>
                <a:cs typeface="Consolas"/>
                <a:sym typeface="Consolas"/>
              </a:rPr>
              <a:t>]</a:t>
            </a:r>
            <a:endParaRPr lang="en-US" sz="1200" b="0" i="0" u="none" strike="noStrike">
              <a:solidFill>
                <a:srgbClr val="DCDCDC"/>
              </a:solidFill>
              <a:latin typeface="Consolas"/>
              <a:ea typeface="Consolas"/>
              <a:cs typeface="Consolas"/>
              <a:sym typeface="Consolas"/>
            </a:endParaRPr>
          </a:p>
          <a:p>
            <a:pPr indent="0" algn="l">
              <a:lnSpc>
                <a:spcPct val="100000"/>
              </a:lnSpc>
            </a:pPr>
            <a:r>
              <a:rPr lang="en-US" sz="1200" b="0" i="0" u="none" strike="noStrike">
                <a:solidFill>
                  <a:srgbClr val="DCDCDC"/>
                </a:solidFill>
                <a:latin typeface="Consolas"/>
                <a:ea typeface="Consolas"/>
                <a:cs typeface="Consolas"/>
                <a:sym typeface="Consolas"/>
              </a:rPr>
              <a:t>)</a:t>
            </a:r>
            <a:endParaRPr lang="en-US" sz="1200" b="0" i="0" u="none" strike="noStrike">
              <a:solidFill>
                <a:srgbClr val="DCDCDC"/>
              </a:solidFill>
              <a:latin typeface="Consolas"/>
              <a:ea typeface="Consolas"/>
              <a:cs typeface="Consolas"/>
              <a:sym typeface="Consolas"/>
            </a:endParaRPr>
          </a:p>
          <a:p>
            <a:pPr indent="0" algn="l">
              <a:lnSpc>
                <a:spcPct val="100000"/>
              </a:lnSpc>
            </a:pPr>
            <a:r>
              <a:rPr lang="en-US" sz="1200" b="0" i="0" u="none" strike="noStrike">
                <a:solidFill>
                  <a:srgbClr val="646464"/>
                </a:solidFill>
                <a:latin typeface="Consolas"/>
                <a:ea typeface="Consolas"/>
                <a:cs typeface="Consolas"/>
                <a:sym typeface="Consolas"/>
              </a:rPr>
              <a:t># 运行</a:t>
            </a:r>
            <a:endParaRPr lang="en-US" sz="1200" b="0" i="0" u="none" strike="noStrike">
              <a:solidFill>
                <a:srgbClr val="646464"/>
              </a:solidFill>
              <a:latin typeface="Consolas"/>
              <a:ea typeface="Consolas"/>
              <a:cs typeface="Consolas"/>
              <a:sym typeface="Consolas"/>
            </a:endParaRPr>
          </a:p>
          <a:p>
            <a:pPr indent="0" algn="l">
              <a:lnSpc>
                <a:spcPct val="100000"/>
              </a:lnSpc>
            </a:pPr>
            <a:r>
              <a:rPr lang="en-US" sz="1200" b="0" i="0" u="none" strike="noStrike">
                <a:solidFill>
                  <a:srgbClr val="DCDCDC"/>
                </a:solidFill>
                <a:latin typeface="Consolas"/>
                <a:ea typeface="Consolas"/>
                <a:cs typeface="Consolas"/>
                <a:sym typeface="Consolas"/>
              </a:rPr>
              <a:t>result = overall_chain.run(</a:t>
            </a:r>
            <a:r>
              <a:rPr lang="en-US" sz="1200" b="0" i="0" u="none" strike="noStrike">
                <a:solidFill>
                  <a:srgbClr val="A5D6A7"/>
                </a:solidFill>
                <a:latin typeface="Consolas"/>
                <a:ea typeface="Consolas"/>
                <a:cs typeface="Consolas"/>
                <a:sym typeface="Consolas"/>
              </a:rPr>
              <a:t>"这是一段需要处理的长文本内容..."</a:t>
            </a:r>
            <a:r>
              <a:rPr lang="en-US" sz="1200" b="0" i="0" u="none" strike="noStrike">
                <a:solidFill>
                  <a:srgbClr val="DCDCDC"/>
                </a:solidFill>
                <a:latin typeface="Consolas"/>
                <a:ea typeface="Consolas"/>
                <a:cs typeface="Consolas"/>
                <a:sym typeface="Consolas"/>
              </a:rPr>
              <a:t>)</a:t>
            </a:r>
            <a:endParaRPr lang="en-US" sz="1200" b="0" i="0" u="none" strike="noStrike">
              <a:solidFill>
                <a:srgbClr val="DCDCDC"/>
              </a:solidFill>
              <a:latin typeface="Consolas"/>
              <a:ea typeface="Consolas"/>
              <a:cs typeface="Consolas"/>
              <a:sym typeface="Consola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635000"/>
            <a:ext cx="2540000" cy="2540000"/>
          </a:xfrm>
          <a:prstGeom prst="ellipse">
            <a:avLst/>
          </a:prstGeom>
          <a:solidFill>
            <a:srgbClr val="0277BD">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9525000" y="3810000"/>
            <a:ext cx="3810000" cy="3810000"/>
          </a:xfrm>
          <a:prstGeom prst="ellipse">
            <a:avLst/>
          </a:prstGeom>
          <a:solidFill>
            <a:srgbClr val="FF9800">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16000" y="1270000"/>
            <a:ext cx="10160000" cy="4318000"/>
          </a:xfrm>
          <a:prstGeom prst="roundRect">
            <a:avLst>
              <a:gd name="adj" fmla="val 5882"/>
            </a:avLst>
          </a:prstGeom>
          <a:solidFill>
            <a:srgbClr val="FFFFFF">
              <a:alpha val="100000"/>
            </a:srgbClr>
          </a:solidFill>
          <a:ln w="25400" cap="flat" cmpd="sng">
            <a:noFill/>
            <a:prstDash val="solid"/>
            <a:round/>
          </a:ln>
          <a:effectLst>
            <a:outerShdw blurRad="254000" dist="127000" dir="5400000" algn="tl" rotWithShape="0">
              <a:srgbClr val="0277BD">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1651000"/>
            <a:ext cx="812800" cy="812800"/>
          </a:xfrm>
          <a:prstGeom prst="rect">
            <a:avLst/>
          </a:prstGeom>
        </p:spPr>
      </p:pic>
      <p:sp>
        <p:nvSpPr>
          <p:cNvPr id="6" name="AutoShape 6"/>
          <p:cNvSpPr/>
          <p:nvPr/>
        </p:nvSpPr>
        <p:spPr>
          <a:xfrm>
            <a:off x="1739900" y="2603500"/>
            <a:ext cx="87122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200" b="1" i="0" u="none" strike="noStrike">
                <a:solidFill>
                  <a:srgbClr val="0277BD"/>
                </a:solidFill>
                <a:latin typeface="Noto Sans SC"/>
                <a:ea typeface="Noto Sans SC"/>
                <a:cs typeface="Noto Sans SC"/>
                <a:sym typeface="Noto Sans SC"/>
              </a:rPr>
              <a:t>8.5 记忆（Memory）</a:t>
            </a:r>
            <a:endParaRPr lang="en-US" sz="1100"/>
          </a:p>
        </p:txBody>
      </p:sp>
      <p:cxnSp>
        <p:nvCxnSpPr>
          <p:cNvPr id="7" name="Connector 7"/>
          <p:cNvCxnSpPr/>
          <p:nvPr/>
        </p:nvCxnSpPr>
        <p:spPr>
          <a:xfrm rot="-34376">
            <a:off x="5461032" y="3486150"/>
            <a:ext cx="1270000" cy="12700"/>
          </a:xfrm>
          <a:prstGeom prst="straightConnector1">
            <a:avLst/>
          </a:prstGeom>
          <a:solidFill>
            <a:srgbClr val="DEE0E3">
              <a:alpha val="100000"/>
            </a:srgbClr>
          </a:solidFill>
          <a:ln w="38100" cap="flat" cmpd="sng">
            <a:solidFill>
              <a:srgbClr val="FF9800">
                <a:alpha val="100000"/>
              </a:srgbClr>
            </a:solidFill>
            <a:prstDash val="solid"/>
            <a:round/>
            <a:headEnd type="none" w="lg" len="lg"/>
            <a:tailEnd type="none" w="lg" len="lg"/>
          </a:ln>
        </p:spPr>
      </p:cxnSp>
      <p:sp>
        <p:nvSpPr>
          <p:cNvPr id="8" name="AutoShape 8"/>
          <p:cNvSpPr/>
          <p:nvPr/>
        </p:nvSpPr>
        <p:spPr>
          <a:xfrm>
            <a:off x="1651000" y="3746500"/>
            <a:ext cx="8890000" cy="1016000"/>
          </a:xfrm>
          <a:prstGeom prst="rect">
            <a:avLst/>
          </a:prstGeom>
          <a:noFill/>
          <a:ln w="12700" cap="flat" cmpd="sng">
            <a:noFill/>
            <a:prstDash val="solid"/>
            <a:round/>
          </a:ln>
        </p:spPr>
        <p:txBody>
          <a:bodyPr vert="horz" wrap="square" lIns="0" tIns="0" rIns="0" bIns="0" rtlCol="0" anchor="t" anchorCtr="0"/>
          <a:lstStyle/>
          <a:p>
            <a:pPr indent="0" algn="ctr">
              <a:lnSpc>
                <a:spcPct val="117000"/>
              </a:lnSpc>
              <a:defRPr/>
            </a:pPr>
            <a:r>
              <a:rPr lang="en-US" sz="2000" b="0" i="0" u="none" strike="noStrike">
                <a:solidFill>
                  <a:srgbClr val="757575"/>
                </a:solidFill>
                <a:latin typeface="Noto Sans SC"/>
                <a:ea typeface="Noto Sans SC"/>
                <a:cs typeface="Noto Sans SC"/>
                <a:sym typeface="Noto Sans SC"/>
              </a:rPr>
              <a:t>学习如何为 LLM 应用添加记忆功能，支持上下文对话，实现智能交互体验。</a:t>
            </a:r>
            <a:endParaRPr lang="en-US" sz="1100"/>
          </a:p>
        </p:txBody>
      </p:sp>
      <p:sp>
        <p:nvSpPr>
          <p:cNvPr id="9" name="AutoShape 9"/>
          <p:cNvSpPr/>
          <p:nvPr/>
        </p:nvSpPr>
        <p:spPr>
          <a:xfrm>
            <a:off x="0" y="6096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0277BD">
                    <a:alpha val="60000"/>
                  </a:srgbClr>
                </a:solidFill>
                <a:latin typeface="Noto Sans SC"/>
                <a:ea typeface="Noto Sans SC"/>
                <a:cs typeface="Noto Sans SC"/>
                <a:sym typeface="Noto Sans SC"/>
              </a:rPr>
              <a:t>LLM Application Development Series</a:t>
            </a:r>
            <a:endParaRPr lang="en-US" sz="11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581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8.5.1 记忆的简介</a:t>
            </a:r>
            <a:endParaRPr lang="en-US" sz="1100"/>
          </a:p>
        </p:txBody>
      </p:sp>
      <p:sp>
        <p:nvSpPr>
          <p:cNvPr id="3" name="AutoShape 3"/>
          <p:cNvSpPr/>
          <p:nvPr/>
        </p:nvSpPr>
        <p:spPr>
          <a:xfrm>
            <a:off x="762000" y="1270000"/>
            <a:ext cx="10668000" cy="1143000"/>
          </a:xfrm>
          <a:prstGeom prst="roundRect">
            <a:avLst>
              <a:gd name="adj" fmla="val 11111"/>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587500"/>
            <a:ext cx="508000" cy="508000"/>
          </a:xfrm>
          <a:prstGeom prst="rect">
            <a:avLst/>
          </a:prstGeom>
        </p:spPr>
      </p:pic>
      <p:sp>
        <p:nvSpPr>
          <p:cNvPr id="5" name="AutoShape 5"/>
          <p:cNvSpPr/>
          <p:nvPr/>
        </p:nvSpPr>
        <p:spPr>
          <a:xfrm>
            <a:off x="1651000" y="1397000"/>
            <a:ext cx="9525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记忆的定义：</a:t>
            </a:r>
            <a:r>
              <a:rPr lang="en-US" sz="1600" b="0" i="0" u="none" strike="noStrike">
                <a:solidFill>
                  <a:srgbClr val="757575"/>
                </a:solidFill>
                <a:latin typeface="Noto Sans SC"/>
                <a:ea typeface="Noto Sans SC"/>
                <a:cs typeface="Noto Sans SC"/>
                <a:sym typeface="Noto Sans SC"/>
              </a:rPr>
              <a:t>在LLM应用中，保存模型的输入和输出信息，以便在后续交互中能够参考这些历史信息，实现上下文对话。</a:t>
            </a:r>
            <a:endParaRPr lang="en-US" sz="1100"/>
          </a:p>
        </p:txBody>
      </p:sp>
      <p:sp>
        <p:nvSpPr>
          <p:cNvPr id="6" name="AutoShape 6"/>
          <p:cNvSpPr/>
          <p:nvPr/>
        </p:nvSpPr>
        <p:spPr>
          <a:xfrm>
            <a:off x="762000" y="2603500"/>
            <a:ext cx="10668000" cy="1143000"/>
          </a:xfrm>
          <a:prstGeom prst="roundRect">
            <a:avLst>
              <a:gd name="adj" fmla="val 11111"/>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921000"/>
            <a:ext cx="508000" cy="508000"/>
          </a:xfrm>
          <a:prstGeom prst="rect">
            <a:avLst/>
          </a:prstGeom>
        </p:spPr>
      </p:pic>
      <p:sp>
        <p:nvSpPr>
          <p:cNvPr id="8" name="AutoShape 8"/>
          <p:cNvSpPr/>
          <p:nvPr/>
        </p:nvSpPr>
        <p:spPr>
          <a:xfrm>
            <a:off x="1651000" y="2730500"/>
            <a:ext cx="9525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记忆的作用：</a:t>
            </a:r>
            <a:endParaRPr lang="en-US" sz="1100"/>
          </a:p>
          <a:p>
            <a:pPr marL="203200" indent="-203200" algn="l">
              <a:lnSpc>
                <a:spcPct val="125000"/>
              </a:lnSpc>
              <a:buClr>
                <a:srgbClr val="757575"/>
              </a:buClr>
              <a:buChar char="•"/>
            </a:pPr>
            <a:r>
              <a:rPr lang="en-US" sz="1600" b="0" i="0" u="none" strike="noStrike">
                <a:solidFill>
                  <a:srgbClr val="757575"/>
                </a:solidFill>
                <a:latin typeface="Noto Sans SC"/>
                <a:ea typeface="Noto Sans SC"/>
                <a:cs typeface="Noto Sans SC"/>
                <a:sym typeface="Noto Sans SC"/>
              </a:rPr>
              <a:t>赋予LLM上下文理解能力，使其“记得”之前的对话内容。</a:t>
            </a:r>
            <a:endParaRPr lang="en-US" sz="1600" b="0" i="0" u="none" strike="noStrike">
              <a:solidFill>
                <a:srgbClr val="757575"/>
              </a:solidFill>
              <a:latin typeface="Noto Sans SC"/>
              <a:ea typeface="Noto Sans SC"/>
              <a:cs typeface="Noto Sans SC"/>
              <a:sym typeface="Noto Sans SC"/>
            </a:endParaRPr>
          </a:p>
          <a:p>
            <a:pPr marL="203200" indent="-203200" algn="l">
              <a:lnSpc>
                <a:spcPct val="125000"/>
              </a:lnSpc>
              <a:buClr>
                <a:srgbClr val="757575"/>
              </a:buClr>
              <a:buChar char="•"/>
            </a:pPr>
            <a:r>
              <a:rPr lang="en-US" sz="1600" b="0" i="0" u="none" strike="noStrike">
                <a:solidFill>
                  <a:srgbClr val="757575"/>
                </a:solidFill>
                <a:latin typeface="Noto Sans SC"/>
                <a:ea typeface="Noto Sans SC"/>
                <a:cs typeface="Noto Sans SC"/>
                <a:sym typeface="Noto Sans SC"/>
              </a:rPr>
              <a:t>支持多轮连续对话，显著提升用户交互体验。</a:t>
            </a:r>
            <a:endParaRPr lang="en-US" sz="1600" b="0" i="0" u="none" strike="noStrike">
              <a:solidFill>
                <a:srgbClr val="757575"/>
              </a:solidFill>
              <a:latin typeface="Noto Sans SC"/>
              <a:ea typeface="Noto Sans SC"/>
              <a:cs typeface="Noto Sans SC"/>
              <a:sym typeface="Noto Sans SC"/>
            </a:endParaRPr>
          </a:p>
        </p:txBody>
      </p:sp>
      <p:sp>
        <p:nvSpPr>
          <p:cNvPr id="9" name="AutoShape 9"/>
          <p:cNvSpPr/>
          <p:nvPr/>
        </p:nvSpPr>
        <p:spPr>
          <a:xfrm>
            <a:off x="762000" y="3937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记忆的分类</a:t>
            </a:r>
            <a:endParaRPr lang="en-US" sz="1100"/>
          </a:p>
        </p:txBody>
      </p:sp>
      <p:sp>
        <p:nvSpPr>
          <p:cNvPr id="10" name="AutoShape 10"/>
          <p:cNvSpPr/>
          <p:nvPr/>
        </p:nvSpPr>
        <p:spPr>
          <a:xfrm>
            <a:off x="762000" y="4381500"/>
            <a:ext cx="3429000" cy="1524000"/>
          </a:xfrm>
          <a:prstGeom prst="roundRect">
            <a:avLst>
              <a:gd name="adj" fmla="val 8333"/>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572000"/>
            <a:ext cx="406400" cy="406400"/>
          </a:xfrm>
          <a:prstGeom prst="rect">
            <a:avLst/>
          </a:prstGeom>
        </p:spPr>
      </p:pic>
      <p:sp>
        <p:nvSpPr>
          <p:cNvPr id="12" name="AutoShape 12"/>
          <p:cNvSpPr/>
          <p:nvPr/>
        </p:nvSpPr>
        <p:spPr>
          <a:xfrm>
            <a:off x="1524000" y="45085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ConversationBuffer</a:t>
            </a:r>
            <a:endParaRPr lang="en-US" sz="1100"/>
          </a:p>
        </p:txBody>
      </p:sp>
      <p:sp>
        <p:nvSpPr>
          <p:cNvPr id="13" name="AutoShape 13"/>
          <p:cNvSpPr/>
          <p:nvPr/>
        </p:nvSpPr>
        <p:spPr>
          <a:xfrm>
            <a:off x="1016000" y="4953000"/>
            <a:ext cx="292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简单缓存所有对话历史，适合短对话场景。</a:t>
            </a:r>
            <a:endParaRPr lang="en-US" sz="1100"/>
          </a:p>
        </p:txBody>
      </p:sp>
      <p:sp>
        <p:nvSpPr>
          <p:cNvPr id="14" name="AutoShape 14"/>
          <p:cNvSpPr/>
          <p:nvPr/>
        </p:nvSpPr>
        <p:spPr>
          <a:xfrm>
            <a:off x="4381500" y="4381500"/>
            <a:ext cx="3429000" cy="1524000"/>
          </a:xfrm>
          <a:prstGeom prst="roundRect">
            <a:avLst>
              <a:gd name="adj" fmla="val 8333"/>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35500" y="4572000"/>
            <a:ext cx="406400" cy="406400"/>
          </a:xfrm>
          <a:prstGeom prst="rect">
            <a:avLst/>
          </a:prstGeom>
        </p:spPr>
      </p:pic>
      <p:sp>
        <p:nvSpPr>
          <p:cNvPr id="16" name="AutoShape 16"/>
          <p:cNvSpPr/>
          <p:nvPr/>
        </p:nvSpPr>
        <p:spPr>
          <a:xfrm>
            <a:off x="5143500" y="45085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ConversationSummary</a:t>
            </a:r>
            <a:endParaRPr lang="en-US" sz="1100"/>
          </a:p>
        </p:txBody>
      </p:sp>
      <p:sp>
        <p:nvSpPr>
          <p:cNvPr id="17" name="AutoShape 17"/>
          <p:cNvSpPr/>
          <p:nvPr/>
        </p:nvSpPr>
        <p:spPr>
          <a:xfrm>
            <a:off x="4635500" y="4953000"/>
            <a:ext cx="292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对对话历史进行总结，节省上下文空间，适合长对话。</a:t>
            </a:r>
            <a:endParaRPr lang="en-US" sz="1100"/>
          </a:p>
        </p:txBody>
      </p:sp>
      <p:sp>
        <p:nvSpPr>
          <p:cNvPr id="18" name="AutoShape 18"/>
          <p:cNvSpPr/>
          <p:nvPr/>
        </p:nvSpPr>
        <p:spPr>
          <a:xfrm>
            <a:off x="8001000" y="4381500"/>
            <a:ext cx="3429000" cy="1524000"/>
          </a:xfrm>
          <a:prstGeom prst="roundRect">
            <a:avLst>
              <a:gd name="adj" fmla="val 8333"/>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255000" y="4572000"/>
            <a:ext cx="406400" cy="406400"/>
          </a:xfrm>
          <a:prstGeom prst="rect">
            <a:avLst/>
          </a:prstGeom>
        </p:spPr>
      </p:pic>
      <p:sp>
        <p:nvSpPr>
          <p:cNvPr id="20" name="AutoShape 20"/>
          <p:cNvSpPr/>
          <p:nvPr/>
        </p:nvSpPr>
        <p:spPr>
          <a:xfrm>
            <a:off x="8763000" y="45085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VectorStoreRetriever</a:t>
            </a:r>
            <a:endParaRPr lang="en-US" sz="1100"/>
          </a:p>
        </p:txBody>
      </p:sp>
      <p:sp>
        <p:nvSpPr>
          <p:cNvPr id="21" name="AutoShape 21"/>
          <p:cNvSpPr/>
          <p:nvPr/>
        </p:nvSpPr>
        <p:spPr>
          <a:xfrm>
            <a:off x="8255000" y="4953000"/>
            <a:ext cx="292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存储在向量数据库，支持相似度检索，高效查找历史信息。</a:t>
            </a:r>
            <a:endParaRPr lang="en-US" sz="11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ConversationBufferMemory示例</a:t>
            </a:r>
            <a:endParaRPr lang="en-US" sz="1100"/>
          </a:p>
        </p:txBody>
      </p:sp>
      <p:sp>
        <p:nvSpPr>
          <p:cNvPr id="3" name="AutoShape 3"/>
          <p:cNvSpPr/>
          <p:nvPr/>
        </p:nvSpPr>
        <p:spPr>
          <a:xfrm>
            <a:off x="762000" y="1397000"/>
            <a:ext cx="4318000" cy="3556000"/>
          </a:xfrm>
          <a:prstGeom prst="roundRect">
            <a:avLst>
              <a:gd name="adj" fmla="val 3571"/>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6256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核心作用</a:t>
            </a:r>
            <a:endParaRPr lang="en-US" sz="1100"/>
          </a:p>
        </p:txBody>
      </p:sp>
      <p:sp>
        <p:nvSpPr>
          <p:cNvPr id="6" name="AutoShape 6"/>
          <p:cNvSpPr/>
          <p:nvPr/>
        </p:nvSpPr>
        <p:spPr>
          <a:xfrm>
            <a:off x="1016000" y="2159000"/>
            <a:ext cx="3810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0" i="0" u="none" strike="noStrike">
                <a:solidFill>
                  <a:srgbClr val="757575"/>
                </a:solidFill>
                <a:latin typeface="Noto Sans SC"/>
                <a:ea typeface="Noto Sans SC"/>
                <a:cs typeface="Noto Sans SC"/>
                <a:sym typeface="Noto Sans SC"/>
              </a:rPr>
              <a:t>简单地将所有对话历史（用户输入和AI回复）缓存起来，每次调用时将完整的历史信息传入模型，确保上下文的连续性。</a:t>
            </a:r>
            <a:endParaRPr lang="en-US" sz="1100"/>
          </a:p>
        </p:txBody>
      </p:sp>
      <p:sp>
        <p:nvSpPr>
          <p:cNvPr id="7" name="AutoShape 7"/>
          <p:cNvSpPr/>
          <p:nvPr/>
        </p:nvSpPr>
        <p:spPr>
          <a:xfrm>
            <a:off x="5334000" y="1397000"/>
            <a:ext cx="6096000" cy="3556000"/>
          </a:xfrm>
          <a:prstGeom prst="roundRect">
            <a:avLst>
              <a:gd name="adj" fmla="val 3571"/>
            </a:avLst>
          </a:prstGeom>
          <a:solidFill>
            <a:srgbClr val="1E1E1E">
              <a:alpha val="100000"/>
            </a:srgbClr>
          </a:solidFill>
          <a:ln w="25400" cap="flat" cmpd="sng">
            <a:noFill/>
            <a:prstDash val="solid"/>
            <a:round/>
          </a:ln>
          <a:effectLst>
            <a:outerShdw blurRad="127000" dist="50800" dir="2700000" algn="tl" rotWithShape="0">
              <a:srgbClr val="000000">
                <a:alpha val="20000"/>
              </a:srgbClr>
            </a:outerShdw>
          </a:effectLst>
        </p:spPr>
        <p:txBody>
          <a:bodyPr vert="horz" wrap="square" lIns="63500" tIns="63500" rIns="63500" bIns="63500" rtlCol="0" anchor="ctr"/>
          <a:lstStyle/>
          <a:p>
            <a:pPr algn="ctr">
              <a:defRPr/>
            </a:pPr>
          </a:p>
        </p:txBody>
      </p:sp>
      <p:sp>
        <p:nvSpPr>
          <p:cNvPr id="8" name="AutoShape 8"/>
          <p:cNvSpPr/>
          <p:nvPr/>
        </p:nvSpPr>
        <p:spPr>
          <a:xfrm>
            <a:off x="5588000" y="1587500"/>
            <a:ext cx="5588000" cy="317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C678DD"/>
                </a:solidFill>
                <a:latin typeface="Roboto Mono"/>
                <a:ea typeface="Roboto Mono"/>
                <a:cs typeface="Roboto Mono"/>
                <a:sym typeface="Roboto Mono"/>
              </a:rPr>
              <a:t>from</a:t>
            </a:r>
            <a:r>
              <a:rPr lang="en-US" sz="1300" b="0" i="0" u="none" strike="noStrike">
                <a:solidFill>
                  <a:srgbClr val="DCDFE4"/>
                </a:solidFill>
                <a:latin typeface="Roboto Mono"/>
                <a:ea typeface="Roboto Mono"/>
                <a:cs typeface="Roboto Mono"/>
                <a:sym typeface="Roboto Mono"/>
              </a:rPr>
              <a:t>langchain.chains</a:t>
            </a:r>
            <a:r>
              <a:rPr lang="en-US" sz="1300" b="0" i="0" u="none" strike="noStrike">
                <a:solidFill>
                  <a:srgbClr val="C678DD"/>
                </a:solidFill>
                <a:latin typeface="Roboto Mono"/>
                <a:ea typeface="Roboto Mono"/>
                <a:cs typeface="Roboto Mono"/>
                <a:sym typeface="Roboto Mono"/>
              </a:rPr>
              <a:t>import</a:t>
            </a:r>
            <a:r>
              <a:rPr lang="en-US" sz="1300" b="0" i="0" u="none" strike="noStrike">
                <a:solidFill>
                  <a:srgbClr val="E5C07B"/>
                </a:solidFill>
                <a:latin typeface="Roboto Mono"/>
                <a:ea typeface="Roboto Mono"/>
                <a:cs typeface="Roboto Mono"/>
                <a:sym typeface="Roboto Mono"/>
              </a:rPr>
              <a:t>ConversationChain</a:t>
            </a:r>
            <a:endParaRPr lang="en-US" sz="1100"/>
          </a:p>
          <a:p>
            <a:pPr indent="0" algn="l">
              <a:lnSpc>
                <a:spcPct val="108000"/>
              </a:lnSpc>
            </a:pPr>
            <a:r>
              <a:rPr lang="en-US" sz="1300" b="0" i="0" u="none" strike="noStrike">
                <a:solidFill>
                  <a:srgbClr val="C678DD"/>
                </a:solidFill>
                <a:latin typeface="Roboto Mono"/>
                <a:ea typeface="Roboto Mono"/>
                <a:cs typeface="Roboto Mono"/>
                <a:sym typeface="Roboto Mono"/>
              </a:rPr>
              <a:t>from</a:t>
            </a:r>
            <a:r>
              <a:rPr lang="en-US" sz="1300" b="0" i="0" u="none" strike="noStrike">
                <a:solidFill>
                  <a:srgbClr val="DCDFE4"/>
                </a:solidFill>
                <a:latin typeface="Roboto Mono"/>
                <a:ea typeface="Roboto Mono"/>
                <a:cs typeface="Roboto Mono"/>
                <a:sym typeface="Roboto Mono"/>
              </a:rPr>
              <a:t>langchain.memory</a:t>
            </a:r>
            <a:r>
              <a:rPr lang="en-US" sz="1300" b="0" i="0" u="none" strike="noStrike">
                <a:solidFill>
                  <a:srgbClr val="C678DD"/>
                </a:solidFill>
                <a:latin typeface="Roboto Mono"/>
                <a:ea typeface="Roboto Mono"/>
                <a:cs typeface="Roboto Mono"/>
                <a:sym typeface="Roboto Mono"/>
              </a:rPr>
              <a:t>import</a:t>
            </a:r>
            <a:r>
              <a:rPr lang="en-US" sz="1300" b="0" i="0" u="none" strike="noStrike">
                <a:solidFill>
                  <a:srgbClr val="E5C07B"/>
                </a:solidFill>
                <a:latin typeface="Roboto Mono"/>
                <a:ea typeface="Roboto Mono"/>
                <a:cs typeface="Roboto Mono"/>
                <a:sym typeface="Roboto Mono"/>
              </a:rPr>
              <a:t>ConversationBufferMemory</a:t>
            </a:r>
            <a:endParaRPr lang="en-US" sz="1300" b="0" i="0" u="none" strike="noStrike">
              <a:solidFill>
                <a:srgbClr val="E5C07B"/>
              </a:solidFill>
              <a:latin typeface="Roboto Mono"/>
              <a:ea typeface="Roboto Mono"/>
              <a:cs typeface="Roboto Mono"/>
              <a:sym typeface="Roboto Mono"/>
            </a:endParaRPr>
          </a:p>
          <a:p>
            <a:pPr indent="0" algn="l">
              <a:lnSpc>
                <a:spcPct val="108000"/>
              </a:lnSpc>
            </a:pPr>
            <a:r>
              <a:rPr lang="en-US" sz="1300" b="0" i="0" u="none" strike="noStrike">
                <a:solidFill>
                  <a:srgbClr val="C678DD"/>
                </a:solidFill>
                <a:latin typeface="Roboto Mono"/>
                <a:ea typeface="Roboto Mono"/>
                <a:cs typeface="Roboto Mono"/>
                <a:sym typeface="Roboto Mono"/>
              </a:rPr>
              <a:t>from</a:t>
            </a:r>
            <a:r>
              <a:rPr lang="en-US" sz="1300" b="0" i="0" u="none" strike="noStrike">
                <a:solidFill>
                  <a:srgbClr val="DCDFE4"/>
                </a:solidFill>
                <a:latin typeface="Roboto Mono"/>
                <a:ea typeface="Roboto Mono"/>
                <a:cs typeface="Roboto Mono"/>
                <a:sym typeface="Roboto Mono"/>
              </a:rPr>
              <a:t>langchain_openai</a:t>
            </a:r>
            <a:r>
              <a:rPr lang="en-US" sz="1300" b="0" i="0" u="none" strike="noStrike">
                <a:solidFill>
                  <a:srgbClr val="C678DD"/>
                </a:solidFill>
                <a:latin typeface="Roboto Mono"/>
                <a:ea typeface="Roboto Mono"/>
                <a:cs typeface="Roboto Mono"/>
                <a:sym typeface="Roboto Mono"/>
              </a:rPr>
              <a:t>import</a:t>
            </a:r>
            <a:r>
              <a:rPr lang="en-US" sz="1300" b="0" i="0" u="none" strike="noStrike">
                <a:solidFill>
                  <a:srgbClr val="E5C07B"/>
                </a:solidFill>
                <a:latin typeface="Roboto Mono"/>
                <a:ea typeface="Roboto Mono"/>
                <a:cs typeface="Roboto Mono"/>
                <a:sym typeface="Roboto Mono"/>
              </a:rPr>
              <a:t>AzureChatOpenAI</a:t>
            </a:r>
            <a:endParaRPr lang="en-US" sz="1300" b="0" i="0" u="none" strike="noStrike">
              <a:solidFill>
                <a:srgbClr val="E5C07B"/>
              </a:solidFill>
              <a:latin typeface="Roboto Mono"/>
              <a:ea typeface="Roboto Mono"/>
              <a:cs typeface="Roboto Mono"/>
              <a:sym typeface="Roboto Mono"/>
            </a:endParaRPr>
          </a:p>
          <a:p>
            <a:pPr indent="0" algn="l">
              <a:lnSpc>
                <a:spcPct val="108000"/>
              </a:lnSpc>
            </a:pPr>
            <a:r>
              <a:rPr lang="en-US" sz="1300" b="0" i="0" u="none" strike="noStrike">
                <a:solidFill>
                  <a:srgbClr val="5C6370"/>
                </a:solidFill>
                <a:latin typeface="Roboto Mono"/>
                <a:ea typeface="Roboto Mono"/>
                <a:cs typeface="Roboto Mono"/>
                <a:sym typeface="Roboto Mono"/>
              </a:rPr>
              <a:t># 初始化模型与记忆</a:t>
            </a:r>
            <a:endParaRPr lang="en-US" sz="1300" b="0" i="0" u="none" strike="noStrike">
              <a:solidFill>
                <a:srgbClr val="5C6370"/>
              </a:solidFill>
              <a:latin typeface="Roboto Mono"/>
              <a:ea typeface="Roboto Mono"/>
              <a:cs typeface="Roboto Mono"/>
              <a:sym typeface="Roboto Mono"/>
            </a:endParaRPr>
          </a:p>
          <a:p>
            <a:pPr indent="0" algn="l">
              <a:lnSpc>
                <a:spcPct val="108000"/>
              </a:lnSpc>
            </a:pPr>
            <a:r>
              <a:rPr lang="en-US" sz="1300" b="0" i="0" u="none" strike="noStrike">
                <a:solidFill>
                  <a:srgbClr val="DCDFE4"/>
                </a:solidFill>
                <a:latin typeface="Roboto Mono"/>
                <a:ea typeface="Roboto Mono"/>
                <a:cs typeface="Roboto Mono"/>
                <a:sym typeface="Roboto Mono"/>
              </a:rPr>
              <a:t>llm = AzureChatOpenAI(...)</a:t>
            </a:r>
            <a:endParaRPr lang="en-US" sz="1300" b="0" i="0" u="none" strike="noStrike">
              <a:solidFill>
                <a:srgbClr val="DCDFE4"/>
              </a:solidFill>
              <a:latin typeface="Roboto Mono"/>
              <a:ea typeface="Roboto Mono"/>
              <a:cs typeface="Roboto Mono"/>
              <a:sym typeface="Roboto Mono"/>
            </a:endParaRPr>
          </a:p>
          <a:p>
            <a:pPr indent="0" algn="l">
              <a:lnSpc>
                <a:spcPct val="108000"/>
              </a:lnSpc>
            </a:pPr>
            <a:r>
              <a:rPr lang="en-US" sz="1300" b="0" i="0" u="none" strike="noStrike">
                <a:solidFill>
                  <a:srgbClr val="DCDFE4"/>
                </a:solidFill>
                <a:latin typeface="Roboto Mono"/>
                <a:ea typeface="Roboto Mono"/>
                <a:cs typeface="Roboto Mono"/>
                <a:sym typeface="Roboto Mono"/>
              </a:rPr>
              <a:t>memory =</a:t>
            </a:r>
            <a:r>
              <a:rPr lang="en-US" sz="1300" b="0" i="0" u="none" strike="noStrike">
                <a:solidFill>
                  <a:srgbClr val="61AFEF"/>
                </a:solidFill>
                <a:latin typeface="Roboto Mono"/>
                <a:ea typeface="Roboto Mono"/>
                <a:cs typeface="Roboto Mono"/>
                <a:sym typeface="Roboto Mono"/>
              </a:rPr>
              <a:t>ConversationBufferMemory</a:t>
            </a:r>
            <a:r>
              <a:rPr lang="en-US" sz="1300" b="0" i="0" u="none" strike="noStrike">
                <a:solidFill>
                  <a:srgbClr val="DCDFE4"/>
                </a:solidFill>
                <a:latin typeface="Roboto Mono"/>
                <a:ea typeface="Roboto Mono"/>
                <a:cs typeface="Roboto Mono"/>
                <a:sym typeface="Roboto Mono"/>
              </a:rPr>
              <a:t>()</a:t>
            </a:r>
            <a:endParaRPr lang="en-US" sz="1300" b="0" i="0" u="none" strike="noStrike">
              <a:solidFill>
                <a:srgbClr val="DCDFE4"/>
              </a:solidFill>
              <a:latin typeface="Roboto Mono"/>
              <a:ea typeface="Roboto Mono"/>
              <a:cs typeface="Roboto Mono"/>
              <a:sym typeface="Roboto Mono"/>
            </a:endParaRPr>
          </a:p>
          <a:p>
            <a:pPr indent="0" algn="l">
              <a:lnSpc>
                <a:spcPct val="108000"/>
              </a:lnSpc>
            </a:pPr>
            <a:r>
              <a:rPr lang="en-US" sz="1300" b="0" i="0" u="none" strike="noStrike">
                <a:solidFill>
                  <a:srgbClr val="DCDFE4"/>
                </a:solidFill>
                <a:latin typeface="Roboto Mono"/>
                <a:ea typeface="Roboto Mono"/>
                <a:cs typeface="Roboto Mono"/>
                <a:sym typeface="Roboto Mono"/>
              </a:rPr>
              <a:t>conversation =</a:t>
            </a:r>
            <a:r>
              <a:rPr lang="en-US" sz="1300" b="0" i="0" u="none" strike="noStrike">
                <a:solidFill>
                  <a:srgbClr val="61AFEF"/>
                </a:solidFill>
                <a:latin typeface="Roboto Mono"/>
                <a:ea typeface="Roboto Mono"/>
                <a:cs typeface="Roboto Mono"/>
                <a:sym typeface="Roboto Mono"/>
              </a:rPr>
              <a:t>ConversationChain</a:t>
            </a:r>
            <a:r>
              <a:rPr lang="en-US" sz="1300" b="0" i="0" u="none" strike="noStrike">
                <a:solidFill>
                  <a:srgbClr val="DCDFE4"/>
                </a:solidFill>
                <a:latin typeface="Roboto Mono"/>
                <a:ea typeface="Roboto Mono"/>
                <a:cs typeface="Roboto Mono"/>
                <a:sym typeface="Roboto Mono"/>
              </a:rPr>
              <a:t>(llm=llm, memory=memory)</a:t>
            </a:r>
            <a:endParaRPr lang="en-US" sz="1300" b="0" i="0" u="none" strike="noStrike">
              <a:solidFill>
                <a:srgbClr val="DCDFE4"/>
              </a:solidFill>
              <a:latin typeface="Roboto Mono"/>
              <a:ea typeface="Roboto Mono"/>
              <a:cs typeface="Roboto Mono"/>
              <a:sym typeface="Roboto Mono"/>
            </a:endParaRPr>
          </a:p>
          <a:p>
            <a:pPr indent="0" algn="l">
              <a:lnSpc>
                <a:spcPct val="108000"/>
              </a:lnSpc>
            </a:pPr>
            <a:r>
              <a:rPr lang="en-US" sz="1300" b="0" i="0" u="none" strike="noStrike">
                <a:solidFill>
                  <a:srgbClr val="5C6370"/>
                </a:solidFill>
                <a:latin typeface="Roboto Mono"/>
                <a:ea typeface="Roboto Mono"/>
                <a:cs typeface="Roboto Mono"/>
                <a:sym typeface="Roboto Mono"/>
              </a:rPr>
              <a:t># 对话交互</a:t>
            </a:r>
            <a:endParaRPr lang="en-US" sz="1300" b="0" i="0" u="none" strike="noStrike">
              <a:solidFill>
                <a:srgbClr val="5C6370"/>
              </a:solidFill>
              <a:latin typeface="Roboto Mono"/>
              <a:ea typeface="Roboto Mono"/>
              <a:cs typeface="Roboto Mono"/>
              <a:sym typeface="Roboto Mono"/>
            </a:endParaRPr>
          </a:p>
          <a:p>
            <a:pPr indent="0" algn="l">
              <a:lnSpc>
                <a:spcPct val="108000"/>
              </a:lnSpc>
            </a:pPr>
            <a:r>
              <a:rPr lang="en-US" sz="1300" b="0" i="0" u="none" strike="noStrike">
                <a:solidFill>
                  <a:srgbClr val="DCDFE4"/>
                </a:solidFill>
                <a:latin typeface="Roboto Mono"/>
                <a:ea typeface="Roboto Mono"/>
                <a:cs typeface="Roboto Mono"/>
                <a:sym typeface="Roboto Mono"/>
              </a:rPr>
              <a:t>response = conversation.predict(input=</a:t>
            </a:r>
            <a:r>
              <a:rPr lang="en-US" sz="1300" b="0" i="0" u="none" strike="noStrike">
                <a:solidFill>
                  <a:srgbClr val="98C379"/>
                </a:solidFill>
                <a:latin typeface="Roboto Mono"/>
                <a:ea typeface="Roboto Mono"/>
                <a:cs typeface="Roboto Mono"/>
                <a:sym typeface="Roboto Mono"/>
              </a:rPr>
              <a:t>"你好，我叫小明。"</a:t>
            </a:r>
            <a:r>
              <a:rPr lang="en-US" sz="1300" b="0" i="0" u="none" strike="noStrike">
                <a:solidFill>
                  <a:srgbClr val="DCDFE4"/>
                </a:solidFill>
                <a:latin typeface="Roboto Mono"/>
                <a:ea typeface="Roboto Mono"/>
                <a:cs typeface="Roboto Mono"/>
                <a:sym typeface="Roboto Mono"/>
              </a:rPr>
              <a:t>)</a:t>
            </a:r>
            <a:endParaRPr lang="en-US" sz="1300" b="0" i="0" u="none" strike="noStrike">
              <a:solidFill>
                <a:srgbClr val="DCDFE4"/>
              </a:solidFill>
              <a:latin typeface="Roboto Mono"/>
              <a:ea typeface="Roboto Mono"/>
              <a:cs typeface="Roboto Mono"/>
              <a:sym typeface="Roboto Mono"/>
            </a:endParaRPr>
          </a:p>
          <a:p>
            <a:pPr indent="0" algn="l">
              <a:lnSpc>
                <a:spcPct val="108000"/>
              </a:lnSpc>
            </a:pPr>
            <a:r>
              <a:rPr lang="en-US" sz="1300" b="0" i="0" u="none" strike="noStrike">
                <a:solidFill>
                  <a:srgbClr val="DCDFE4"/>
                </a:solidFill>
                <a:latin typeface="Roboto Mono"/>
                <a:ea typeface="Roboto Mono"/>
                <a:cs typeface="Roboto Mono"/>
                <a:sym typeface="Roboto Mono"/>
              </a:rPr>
              <a:t>response = conversation.predict(input=</a:t>
            </a:r>
            <a:r>
              <a:rPr lang="en-US" sz="1300" b="0" i="0" u="none" strike="noStrike">
                <a:solidFill>
                  <a:srgbClr val="98C379"/>
                </a:solidFill>
                <a:latin typeface="Roboto Mono"/>
                <a:ea typeface="Roboto Mono"/>
                <a:cs typeface="Roboto Mono"/>
                <a:sym typeface="Roboto Mono"/>
              </a:rPr>
              <a:t>"我喜欢编程，你呢？"</a:t>
            </a:r>
            <a:r>
              <a:rPr lang="en-US" sz="1300" b="0" i="0" u="none" strike="noStrike">
                <a:solidFill>
                  <a:srgbClr val="DCDFE4"/>
                </a:solidFill>
                <a:latin typeface="Roboto Mono"/>
                <a:ea typeface="Roboto Mono"/>
                <a:cs typeface="Roboto Mono"/>
                <a:sym typeface="Roboto Mono"/>
              </a:rPr>
              <a:t>)</a:t>
            </a:r>
            <a:endParaRPr lang="en-US" sz="1300" b="0" i="0" u="none" strike="noStrike">
              <a:solidFill>
                <a:srgbClr val="DCDFE4"/>
              </a:solidFill>
              <a:latin typeface="Roboto Mono"/>
              <a:ea typeface="Roboto Mono"/>
              <a:cs typeface="Roboto Mono"/>
              <a:sym typeface="Roboto Mono"/>
            </a:endParaRPr>
          </a:p>
        </p:txBody>
      </p:sp>
      <p:sp>
        <p:nvSpPr>
          <p:cNvPr id="9" name="AutoShape 9"/>
          <p:cNvSpPr/>
          <p:nvPr/>
        </p:nvSpPr>
        <p:spPr>
          <a:xfrm>
            <a:off x="762000" y="5207000"/>
            <a:ext cx="10668000" cy="1143000"/>
          </a:xfrm>
          <a:prstGeom prst="roundRect">
            <a:avLst>
              <a:gd name="adj" fmla="val 11111"/>
            </a:avLst>
          </a:prstGeom>
          <a:solidFill>
            <a:srgbClr val="FFFFFF">
              <a:alpha val="6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5461000"/>
            <a:ext cx="304800" cy="304800"/>
          </a:xfrm>
          <a:prstGeom prst="rect">
            <a:avLst/>
          </a:prstGeom>
        </p:spPr>
      </p:pic>
      <p:sp>
        <p:nvSpPr>
          <p:cNvPr id="11" name="AutoShape 11"/>
          <p:cNvSpPr/>
          <p:nvPr/>
        </p:nvSpPr>
        <p:spPr>
          <a:xfrm>
            <a:off x="1397000" y="5397500"/>
            <a:ext cx="9779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交互流程解析：</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第一轮对话建立身份（小明），第二轮对话询问喜好。模型通过</a:t>
            </a:r>
            <a:r>
              <a:rPr lang="en-US" sz="1400" b="1" i="0" u="none" strike="noStrike">
                <a:solidFill>
                  <a:srgbClr val="FF9800"/>
                </a:solidFill>
                <a:latin typeface="Roboto Mono"/>
                <a:ea typeface="Roboto Mono"/>
                <a:cs typeface="Roboto Mono"/>
                <a:sym typeface="Roboto Mono"/>
              </a:rPr>
              <a:t>ConversationBufferMemory</a:t>
            </a:r>
            <a:r>
              <a:rPr lang="en-US" sz="1400" b="0" i="0" u="none" strike="noStrike">
                <a:solidFill>
                  <a:srgbClr val="757575"/>
                </a:solidFill>
                <a:latin typeface="Noto Sans SC"/>
                <a:ea typeface="Noto Sans SC"/>
                <a:cs typeface="Noto Sans SC"/>
                <a:sym typeface="Noto Sans SC"/>
              </a:rPr>
              <a:t>调取历史记录，在回复中自然地提及“小明”，实现了上下文感知。</a:t>
            </a:r>
            <a:endParaRPr lang="en-US" sz="14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ConversationSummaryMemory示例</a:t>
            </a:r>
            <a:endParaRPr lang="en-US" sz="1100"/>
          </a:p>
        </p:txBody>
      </p:sp>
      <p:sp>
        <p:nvSpPr>
          <p:cNvPr id="3" name="AutoShape 3"/>
          <p:cNvSpPr/>
          <p:nvPr/>
        </p:nvSpPr>
        <p:spPr>
          <a:xfrm>
            <a:off x="762000" y="1397000"/>
            <a:ext cx="4826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6002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核心机制与优势</a:t>
            </a:r>
            <a:endParaRPr lang="en-US" sz="1100"/>
          </a:p>
        </p:txBody>
      </p:sp>
      <p:sp>
        <p:nvSpPr>
          <p:cNvPr id="6" name="AutoShape 6"/>
          <p:cNvSpPr/>
          <p:nvPr/>
        </p:nvSpPr>
        <p:spPr>
          <a:xfrm>
            <a:off x="1016000" y="2159000"/>
            <a:ext cx="43180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0" i="0" u="none" strike="noStrike">
                <a:solidFill>
                  <a:srgbClr val="757575"/>
                </a:solidFill>
                <a:latin typeface="Noto Sans SC"/>
                <a:ea typeface="Noto Sans SC"/>
                <a:cs typeface="Noto Sans SC"/>
                <a:sym typeface="Noto Sans SC"/>
              </a:rPr>
              <a:t>不同于保存完整的对话历史，</a:t>
            </a:r>
            <a:r>
              <a:rPr lang="en-US" sz="1500" b="1" i="0" u="none" strike="noStrike">
                <a:solidFill>
                  <a:srgbClr val="0277BD"/>
                </a:solidFill>
                <a:latin typeface="Noto Sans SC"/>
                <a:ea typeface="Noto Sans SC"/>
                <a:cs typeface="Noto Sans SC"/>
                <a:sym typeface="Noto Sans SC"/>
              </a:rPr>
              <a:t>ConversationSummaryMemory</a:t>
            </a:r>
            <a:r>
              <a:rPr lang="en-US" sz="1500" b="0" i="0" u="none" strike="noStrike">
                <a:solidFill>
                  <a:srgbClr val="757575"/>
                </a:solidFill>
                <a:latin typeface="Noto Sans SC"/>
                <a:ea typeface="Noto Sans SC"/>
                <a:cs typeface="Noto Sans SC"/>
                <a:sym typeface="Noto Sans SC"/>
              </a:rPr>
              <a:t>会定期调用大模型对历史对话进行</a:t>
            </a:r>
            <a:r>
              <a:rPr lang="en-US" sz="1500" b="1" i="0" u="none" strike="noStrike">
                <a:solidFill>
                  <a:srgbClr val="FF9800"/>
                </a:solidFill>
                <a:latin typeface="Noto Sans SC"/>
                <a:ea typeface="Noto Sans SC"/>
                <a:cs typeface="Noto Sans SC"/>
                <a:sym typeface="Noto Sans SC"/>
              </a:rPr>
              <a:t>智能总结</a:t>
            </a:r>
            <a:r>
              <a:rPr lang="en-US" sz="1500" b="0" i="0" u="none" strike="noStrike">
                <a:solidFill>
                  <a:srgbClr val="757575"/>
                </a:solidFill>
                <a:latin typeface="Noto Sans SC"/>
                <a:ea typeface="Noto Sans SC"/>
                <a:cs typeface="Noto Sans SC"/>
                <a:sym typeface="Noto Sans SC"/>
              </a:rPr>
              <a:t>。</a:t>
            </a:r>
            <a:endParaRPr lang="en-US" sz="1100"/>
          </a:p>
          <a:p>
            <a:pPr indent="0" algn="l">
              <a:lnSpc>
                <a:spcPct val="125000"/>
              </a:lnSpc>
            </a:pPr>
            <a:r>
              <a:rPr lang="en-US" sz="1500" b="0" i="0" u="none" strike="noStrike">
                <a:solidFill>
                  <a:srgbClr val="757575"/>
                </a:solidFill>
                <a:latin typeface="Noto Sans SC"/>
                <a:ea typeface="Noto Sans SC"/>
                <a:cs typeface="Noto Sans SC"/>
                <a:sym typeface="Noto Sans SC"/>
              </a:rPr>
              <a:t>这种方式能显著减少上下文占用空间，支持更长的对话轮次，同时保留关键信息。</a:t>
            </a:r>
            <a:endParaRPr lang="en-US" sz="1500" b="0" i="0" u="none" strike="noStrike">
              <a:solidFill>
                <a:srgbClr val="757575"/>
              </a:solidFill>
              <a:latin typeface="Noto Sans SC"/>
              <a:ea typeface="Noto Sans SC"/>
              <a:cs typeface="Noto Sans SC"/>
              <a:sym typeface="Noto Sans SC"/>
            </a:endParaRPr>
          </a:p>
        </p:txBody>
      </p:sp>
      <p:sp>
        <p:nvSpPr>
          <p:cNvPr id="7" name="AutoShape 7"/>
          <p:cNvSpPr/>
          <p:nvPr/>
        </p:nvSpPr>
        <p:spPr>
          <a:xfrm>
            <a:off x="5842000" y="1397000"/>
            <a:ext cx="5588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96000" y="1651000"/>
            <a:ext cx="406400" cy="406400"/>
          </a:xfrm>
          <a:prstGeom prst="rect">
            <a:avLst/>
          </a:prstGeom>
        </p:spPr>
      </p:pic>
      <p:sp>
        <p:nvSpPr>
          <p:cNvPr id="9" name="AutoShape 9"/>
          <p:cNvSpPr/>
          <p:nvPr/>
        </p:nvSpPr>
        <p:spPr>
          <a:xfrm>
            <a:off x="6604000" y="16002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代码实现示例</a:t>
            </a:r>
            <a:endParaRPr lang="en-US" sz="1100"/>
          </a:p>
        </p:txBody>
      </p:sp>
      <p:sp>
        <p:nvSpPr>
          <p:cNvPr id="10" name="AutoShape 10"/>
          <p:cNvSpPr/>
          <p:nvPr/>
        </p:nvSpPr>
        <p:spPr>
          <a:xfrm>
            <a:off x="6096000" y="2159000"/>
            <a:ext cx="5080000" cy="2413000"/>
          </a:xfrm>
          <a:prstGeom prst="roundRect">
            <a:avLst>
              <a:gd name="adj" fmla="val 2631"/>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223000" y="2286000"/>
            <a:ext cx="4826000" cy="215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757575"/>
                </a:solidFill>
                <a:latin typeface="Source Code Pro"/>
                <a:ea typeface="Source Code Pro"/>
                <a:cs typeface="Source Code Pro"/>
                <a:sym typeface="Source Code Pro"/>
              </a:rPr>
              <a:t># 导入必要模块</a:t>
            </a:r>
            <a:endParaRPr lang="en-US" sz="1100"/>
          </a:p>
          <a:p>
            <a:pPr indent="0" algn="l">
              <a:lnSpc>
                <a:spcPct val="108000"/>
              </a:lnSpc>
            </a:pPr>
            <a:r>
              <a:rPr lang="en-US" sz="1300" b="0" i="0" u="none" strike="noStrike">
                <a:solidFill>
                  <a:srgbClr val="0277BD"/>
                </a:solidFill>
                <a:latin typeface="Source Code Pro"/>
                <a:ea typeface="Source Code Pro"/>
                <a:cs typeface="Source Code Pro"/>
                <a:sym typeface="Source Code Pro"/>
              </a:rPr>
              <a:t>from</a:t>
            </a:r>
            <a:r>
              <a:rPr lang="en-US" sz="1300" b="0" i="0" u="none" strike="noStrike">
                <a:solidFill>
                  <a:srgbClr val="333333"/>
                </a:solidFill>
                <a:latin typeface="Source Code Pro"/>
                <a:ea typeface="Source Code Pro"/>
                <a:cs typeface="Source Code Pro"/>
                <a:sym typeface="Source Code Pro"/>
              </a:rPr>
              <a:t>langchain.memory</a:t>
            </a:r>
            <a:r>
              <a:rPr lang="en-US" sz="1300" b="0" i="0" u="none" strike="noStrike">
                <a:solidFill>
                  <a:srgbClr val="0277BD"/>
                </a:solidFill>
                <a:latin typeface="Source Code Pro"/>
                <a:ea typeface="Source Code Pro"/>
                <a:cs typeface="Source Code Pro"/>
                <a:sym typeface="Source Code Pro"/>
              </a:rPr>
              <a:t>import</a:t>
            </a:r>
            <a:r>
              <a:rPr lang="en-US" sz="1300" b="0" i="0" u="none" strike="noStrike">
                <a:solidFill>
                  <a:srgbClr val="333333"/>
                </a:solidFill>
                <a:latin typeface="Source Code Pro"/>
                <a:ea typeface="Source Code Pro"/>
                <a:cs typeface="Source Code Pro"/>
                <a:sym typeface="Source Code Pro"/>
              </a:rPr>
              <a:t>ConversationSummaryMemory</a:t>
            </a:r>
            <a:endParaRPr lang="en-US" sz="1300" b="0" i="0" u="none" strike="noStrike">
              <a:solidFill>
                <a:srgbClr val="333333"/>
              </a:solidFill>
              <a:latin typeface="Source Code Pro"/>
              <a:ea typeface="Source Code Pro"/>
              <a:cs typeface="Source Code Pro"/>
              <a:sym typeface="Source Code Pro"/>
            </a:endParaRPr>
          </a:p>
          <a:p>
            <a:pPr indent="0" algn="l">
              <a:lnSpc>
                <a:spcPct val="108000"/>
              </a:lnSpc>
            </a:pPr>
            <a:r>
              <a:rPr lang="en-US" sz="1300" b="0" i="0" u="none" strike="noStrike">
                <a:solidFill>
                  <a:srgbClr val="0277BD"/>
                </a:solidFill>
                <a:latin typeface="Source Code Pro"/>
                <a:ea typeface="Source Code Pro"/>
                <a:cs typeface="Source Code Pro"/>
                <a:sym typeface="Source Code Pro"/>
              </a:rPr>
              <a:t>from</a:t>
            </a:r>
            <a:r>
              <a:rPr lang="en-US" sz="1300" b="0" i="0" u="none" strike="noStrike">
                <a:solidFill>
                  <a:srgbClr val="333333"/>
                </a:solidFill>
                <a:latin typeface="Source Code Pro"/>
                <a:ea typeface="Source Code Pro"/>
                <a:cs typeface="Source Code Pro"/>
                <a:sym typeface="Source Code Pro"/>
              </a:rPr>
              <a:t>langchain_openai</a:t>
            </a:r>
            <a:r>
              <a:rPr lang="en-US" sz="1300" b="0" i="0" u="none" strike="noStrike">
                <a:solidFill>
                  <a:srgbClr val="0277BD"/>
                </a:solidFill>
                <a:latin typeface="Source Code Pro"/>
                <a:ea typeface="Source Code Pro"/>
                <a:cs typeface="Source Code Pro"/>
                <a:sym typeface="Source Code Pro"/>
              </a:rPr>
              <a:t>import</a:t>
            </a:r>
            <a:r>
              <a:rPr lang="en-US" sz="1300" b="0" i="0" u="none" strike="noStrike">
                <a:solidFill>
                  <a:srgbClr val="333333"/>
                </a:solidFill>
                <a:latin typeface="Source Code Pro"/>
                <a:ea typeface="Source Code Pro"/>
                <a:cs typeface="Source Code Pro"/>
                <a:sym typeface="Source Code Pro"/>
              </a:rPr>
              <a:t>AzureChatOpenAI</a:t>
            </a:r>
            <a:endParaRPr lang="en-US" sz="1300" b="0" i="0" u="none" strike="noStrike">
              <a:solidFill>
                <a:srgbClr val="333333"/>
              </a:solidFill>
              <a:latin typeface="Source Code Pro"/>
              <a:ea typeface="Source Code Pro"/>
              <a:cs typeface="Source Code Pro"/>
              <a:sym typeface="Source Code Pro"/>
            </a:endParaRPr>
          </a:p>
          <a:p>
            <a:pPr indent="0" algn="l">
              <a:lnSpc>
                <a:spcPct val="108000"/>
              </a:lnSpc>
            </a:pPr>
            <a:r>
              <a:rPr lang="en-US" sz="1300" b="0" i="0" u="none" strike="noStrike">
                <a:solidFill>
                  <a:srgbClr val="333333"/>
                </a:solidFill>
                <a:latin typeface="Source Code Pro"/>
                <a:ea typeface="Source Code Pro"/>
                <a:cs typeface="Source Code Pro"/>
                <a:sym typeface="Source Code Pro"/>
              </a:rPr>
              <a:t>llm = AzureChatOpenAI(...)</a:t>
            </a:r>
            <a:endParaRPr lang="en-US" sz="1300" b="0" i="0" u="none" strike="noStrike">
              <a:solidFill>
                <a:srgbClr val="333333"/>
              </a:solidFill>
              <a:latin typeface="Source Code Pro"/>
              <a:ea typeface="Source Code Pro"/>
              <a:cs typeface="Source Code Pro"/>
              <a:sym typeface="Source Code Pro"/>
            </a:endParaRPr>
          </a:p>
          <a:p>
            <a:pPr indent="0" algn="l">
              <a:lnSpc>
                <a:spcPct val="108000"/>
              </a:lnSpc>
            </a:pPr>
            <a:r>
              <a:rPr lang="en-US" sz="1300" b="0" i="0" u="none" strike="noStrike">
                <a:solidFill>
                  <a:srgbClr val="333333"/>
                </a:solidFill>
                <a:latin typeface="Source Code Pro"/>
                <a:ea typeface="Source Code Pro"/>
                <a:cs typeface="Source Code Pro"/>
                <a:sym typeface="Source Code Pro"/>
              </a:rPr>
              <a:t>memory = ConversationSummaryMemory(llm=llm)</a:t>
            </a:r>
            <a:endParaRPr lang="en-US" sz="1300" b="0" i="0" u="none" strike="noStrike">
              <a:solidFill>
                <a:srgbClr val="333333"/>
              </a:solidFill>
              <a:latin typeface="Source Code Pro"/>
              <a:ea typeface="Source Code Pro"/>
              <a:cs typeface="Source Code Pro"/>
              <a:sym typeface="Source Code Pro"/>
            </a:endParaRPr>
          </a:p>
          <a:p>
            <a:pPr indent="0" algn="l">
              <a:lnSpc>
                <a:spcPct val="108000"/>
              </a:lnSpc>
            </a:pPr>
            <a:r>
              <a:rPr lang="en-US" sz="1300" b="0" i="0" u="none" strike="noStrike">
                <a:solidFill>
                  <a:srgbClr val="333333"/>
                </a:solidFill>
                <a:latin typeface="Source Code Pro"/>
                <a:ea typeface="Source Code Pro"/>
                <a:cs typeface="Source Code Pro"/>
                <a:sym typeface="Source Code Pro"/>
              </a:rPr>
              <a:t>conversation = ConversationChain(llm=llm, memory=memory)</a:t>
            </a:r>
            <a:endParaRPr lang="en-US" sz="1300" b="0" i="0" u="none" strike="noStrike">
              <a:solidFill>
                <a:srgbClr val="333333"/>
              </a:solidFill>
              <a:latin typeface="Source Code Pro"/>
              <a:ea typeface="Source Code Pro"/>
              <a:cs typeface="Source Code Pro"/>
              <a:sym typeface="Source Code Pro"/>
            </a:endParaRPr>
          </a:p>
          <a:p>
            <a:pPr indent="0" algn="l">
              <a:lnSpc>
                <a:spcPct val="108000"/>
              </a:lnSpc>
            </a:pPr>
            <a:r>
              <a:rPr lang="en-US" sz="1300" b="0" i="0" u="none" strike="noStrike">
                <a:solidFill>
                  <a:srgbClr val="757575"/>
                </a:solidFill>
                <a:latin typeface="Source Code Pro"/>
                <a:ea typeface="Source Code Pro"/>
                <a:cs typeface="Source Code Pro"/>
                <a:sym typeface="Source Code Pro"/>
              </a:rPr>
              <a:t># 查看总结内容：memory.load_memory_variables({})</a:t>
            </a:r>
            <a:endParaRPr lang="en-US" sz="1300" b="0" i="0" u="none" strike="noStrike">
              <a:solidFill>
                <a:srgbClr val="757575"/>
              </a:solidFill>
              <a:latin typeface="Source Code Pro"/>
              <a:ea typeface="Source Code Pro"/>
              <a:cs typeface="Source Code Pro"/>
              <a:sym typeface="Source Code Pro"/>
            </a:endParaRPr>
          </a:p>
        </p:txBody>
      </p:sp>
      <p:sp>
        <p:nvSpPr>
          <p:cNvPr id="12" name="AutoShape 12"/>
          <p:cNvSpPr/>
          <p:nvPr/>
        </p:nvSpPr>
        <p:spPr>
          <a:xfrm>
            <a:off x="762000" y="5207000"/>
            <a:ext cx="10668000" cy="1016000"/>
          </a:xfrm>
          <a:prstGeom prst="roundRect">
            <a:avLst>
              <a:gd name="adj" fmla="val 12500"/>
            </a:avLst>
          </a:prstGeom>
          <a:solidFill>
            <a:srgbClr val="0277BD">
              <a:alpha val="1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461000"/>
            <a:ext cx="406400" cy="406400"/>
          </a:xfrm>
          <a:prstGeom prst="rect">
            <a:avLst/>
          </a:prstGeom>
        </p:spPr>
      </p:pic>
      <p:sp>
        <p:nvSpPr>
          <p:cNvPr id="14" name="AutoShape 14"/>
          <p:cNvSpPr/>
          <p:nvPr/>
        </p:nvSpPr>
        <p:spPr>
          <a:xfrm>
            <a:off x="1524000" y="5397500"/>
            <a:ext cx="965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应用场景：</a:t>
            </a:r>
            <a:r>
              <a:rPr lang="en-US" sz="1600" b="0" i="0" u="none" strike="noStrike">
                <a:solidFill>
                  <a:srgbClr val="757575"/>
                </a:solidFill>
                <a:latin typeface="Noto Sans SC"/>
                <a:ea typeface="Noto Sans SC"/>
                <a:cs typeface="Noto Sans SC"/>
                <a:sym typeface="Noto Sans SC"/>
              </a:rPr>
              <a:t>非常适合需要长时间、多轮次交互的场景，如客服机器人、个人助理等，有效解决上下文窗口限制问题。</a:t>
            </a:r>
            <a:endParaRPr lang="en-US" sz="11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0" y="-1270000"/>
            <a:ext cx="5080000" cy="5080000"/>
          </a:xfrm>
          <a:prstGeom prst="ellipse">
            <a:avLst/>
          </a:prstGeom>
          <a:solidFill>
            <a:srgbClr val="0277BD">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9652000" y="4318000"/>
            <a:ext cx="3810000" cy="3810000"/>
          </a:xfrm>
          <a:prstGeom prst="ellipse">
            <a:avLst/>
          </a:prstGeom>
          <a:solidFill>
            <a:srgbClr val="FF9800">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16000" y="1270000"/>
            <a:ext cx="10160000" cy="4318000"/>
          </a:xfrm>
          <a:prstGeom prst="roundRect">
            <a:avLst>
              <a:gd name="adj" fmla="val 5882"/>
            </a:avLst>
          </a:prstGeom>
          <a:solidFill>
            <a:srgbClr val="FFFFFF">
              <a:alpha val="100000"/>
            </a:srgbClr>
          </a:solidFill>
          <a:ln w="25400" cap="flat" cmpd="sng">
            <a:noFill/>
            <a:prstDash val="solid"/>
            <a:round/>
          </a:ln>
          <a:effectLst>
            <a:outerShdw blurRad="254000" dist="127000" dir="5400000" algn="tl" rotWithShape="0">
              <a:srgbClr val="0277BD">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1651000"/>
            <a:ext cx="812800" cy="812800"/>
          </a:xfrm>
          <a:prstGeom prst="rect">
            <a:avLst/>
          </a:prstGeom>
        </p:spPr>
      </p:pic>
      <p:sp>
        <p:nvSpPr>
          <p:cNvPr id="6" name="AutoShape 6"/>
          <p:cNvSpPr/>
          <p:nvPr/>
        </p:nvSpPr>
        <p:spPr>
          <a:xfrm>
            <a:off x="2095500" y="2667000"/>
            <a:ext cx="79883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400" b="1" i="0" u="none" strike="noStrike">
                <a:solidFill>
                  <a:srgbClr val="0277BD"/>
                </a:solidFill>
                <a:latin typeface="Noto Sans SC"/>
                <a:ea typeface="Noto Sans SC"/>
                <a:cs typeface="Noto Sans SC"/>
                <a:sym typeface="Noto Sans SC"/>
              </a:rPr>
              <a:t>8.6 智能体（Agents）</a:t>
            </a:r>
            <a:endParaRPr lang="en-US" sz="1100"/>
          </a:p>
        </p:txBody>
      </p:sp>
      <p:cxnSp>
        <p:nvCxnSpPr>
          <p:cNvPr id="7" name="Connector 7"/>
          <p:cNvCxnSpPr/>
          <p:nvPr/>
        </p:nvCxnSpPr>
        <p:spPr>
          <a:xfrm rot="-34376">
            <a:off x="5461032" y="3549650"/>
            <a:ext cx="1270000" cy="12700"/>
          </a:xfrm>
          <a:prstGeom prst="straightConnector1">
            <a:avLst/>
          </a:prstGeom>
          <a:solidFill>
            <a:srgbClr val="DEE0E3">
              <a:alpha val="100000"/>
            </a:srgbClr>
          </a:solidFill>
          <a:ln w="38100" cap="rnd" cmpd="sng">
            <a:solidFill>
              <a:srgbClr val="FF9800">
                <a:alpha val="100000"/>
              </a:srgbClr>
            </a:solidFill>
            <a:prstDash val="solid"/>
            <a:round/>
            <a:headEnd type="none" w="lg" len="lg"/>
            <a:tailEnd type="none" w="lg" len="lg"/>
          </a:ln>
        </p:spPr>
      </p:cxnSp>
      <p:sp>
        <p:nvSpPr>
          <p:cNvPr id="8" name="AutoShape 8"/>
          <p:cNvSpPr/>
          <p:nvPr/>
        </p:nvSpPr>
        <p:spPr>
          <a:xfrm>
            <a:off x="1651000" y="3937000"/>
            <a:ext cx="8890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a:solidFill>
                  <a:srgbClr val="757575"/>
                </a:solidFill>
                <a:latin typeface="Noto Sans SC"/>
                <a:ea typeface="Noto Sans SC"/>
                <a:cs typeface="Noto Sans SC"/>
                <a:sym typeface="Noto Sans SC"/>
              </a:rPr>
              <a:t>学习如何构建能够自主决策和执行任务的智能体，掌握LLM自主行动的核心逻辑。</a:t>
            </a:r>
            <a:endParaRPr lang="en-US" sz="1100"/>
          </a:p>
        </p:txBody>
      </p:sp>
      <p:sp>
        <p:nvSpPr>
          <p:cNvPr id="9" name="AutoShape 9"/>
          <p:cNvSpPr/>
          <p:nvPr/>
        </p:nvSpPr>
        <p:spPr>
          <a:xfrm>
            <a:off x="0" y="6705600"/>
            <a:ext cx="12192000" cy="1524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581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8.6.1 智能体的简介</a:t>
            </a:r>
            <a:endParaRPr lang="en-US" sz="1100"/>
          </a:p>
        </p:txBody>
      </p:sp>
      <p:sp>
        <p:nvSpPr>
          <p:cNvPr id="3" name="AutoShape 3"/>
          <p:cNvSpPr/>
          <p:nvPr/>
        </p:nvSpPr>
        <p:spPr>
          <a:xfrm>
            <a:off x="762000" y="1270000"/>
            <a:ext cx="10668000" cy="1016000"/>
          </a:xfrm>
          <a:prstGeom prst="roundRect">
            <a:avLst>
              <a:gd name="adj" fmla="val 12500"/>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524000"/>
            <a:ext cx="508000" cy="508000"/>
          </a:xfrm>
          <a:prstGeom prst="rect">
            <a:avLst/>
          </a:prstGeom>
        </p:spPr>
      </p:pic>
      <p:sp>
        <p:nvSpPr>
          <p:cNvPr id="5" name="AutoShape 5"/>
          <p:cNvSpPr/>
          <p:nvPr/>
        </p:nvSpPr>
        <p:spPr>
          <a:xfrm>
            <a:off x="1651000" y="1397000"/>
            <a:ext cx="952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智能体的定义：</a:t>
            </a:r>
            <a:r>
              <a:rPr lang="en-US" sz="1600" b="0" i="0" u="none" strike="noStrike">
                <a:solidFill>
                  <a:srgbClr val="757575"/>
                </a:solidFill>
                <a:latin typeface="Noto Sans SC"/>
                <a:ea typeface="Noto Sans SC"/>
                <a:cs typeface="Noto Sans SC"/>
                <a:sym typeface="Noto Sans SC"/>
              </a:rPr>
              <a:t>以大语言模型为推理引擎，能够自主理解用户需求、选择合适的工具、执行工具并根据结果生成最终回答的系统。</a:t>
            </a:r>
            <a:endParaRPr lang="en-US" sz="1100"/>
          </a:p>
        </p:txBody>
      </p:sp>
      <p:sp>
        <p:nvSpPr>
          <p:cNvPr id="6" name="AutoShape 6"/>
          <p:cNvSpPr/>
          <p:nvPr/>
        </p:nvSpPr>
        <p:spPr>
          <a:xfrm>
            <a:off x="762000" y="2540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工作流程循环</a:t>
            </a:r>
            <a:endParaRPr lang="en-US" sz="1100"/>
          </a:p>
        </p:txBody>
      </p:sp>
      <p:sp>
        <p:nvSpPr>
          <p:cNvPr id="7" name="AutoShape 7"/>
          <p:cNvSpPr/>
          <p:nvPr/>
        </p:nvSpPr>
        <p:spPr>
          <a:xfrm>
            <a:off x="762000" y="3048000"/>
            <a:ext cx="2476500" cy="1524000"/>
          </a:xfrm>
          <a:prstGeom prst="roundRect">
            <a:avLst>
              <a:gd name="adj" fmla="val 8333"/>
            </a:avLst>
          </a:prstGeom>
          <a:solidFill>
            <a:srgbClr val="FFFFFF">
              <a:alpha val="100000"/>
            </a:srgbClr>
          </a:solidFill>
          <a:ln w="25400" cap="flat" cmpd="sng">
            <a:noFill/>
            <a:prstDash val="solid"/>
            <a:round/>
          </a:ln>
          <a:effectLst>
            <a:outerShdw blurRad="635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76400" y="3238500"/>
            <a:ext cx="508000" cy="508000"/>
          </a:xfrm>
          <a:prstGeom prst="rect">
            <a:avLst/>
          </a:prstGeom>
        </p:spPr>
      </p:pic>
      <p:sp>
        <p:nvSpPr>
          <p:cNvPr id="9" name="AutoShape 9"/>
          <p:cNvSpPr/>
          <p:nvPr/>
        </p:nvSpPr>
        <p:spPr>
          <a:xfrm>
            <a:off x="762000" y="3810000"/>
            <a:ext cx="24765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77BD"/>
                </a:solidFill>
                <a:latin typeface="Noto Sans SC"/>
                <a:ea typeface="Noto Sans SC"/>
                <a:cs typeface="Noto Sans SC"/>
                <a:sym typeface="Noto Sans SC"/>
              </a:rPr>
              <a:t>思考 (Thought)</a:t>
            </a:r>
            <a:endParaRPr lang="en-US" sz="1100"/>
          </a:p>
          <a:p>
            <a:pPr indent="0" algn="ctr">
              <a:lnSpc>
                <a:spcPct val="125000"/>
              </a:lnSpc>
            </a:pPr>
            <a:r>
              <a:rPr lang="en-US" sz="1200" b="0" i="0" u="none" strike="noStrike">
                <a:solidFill>
                  <a:srgbClr val="757575"/>
                </a:solidFill>
                <a:latin typeface="Noto Sans SC"/>
                <a:ea typeface="Noto Sans SC"/>
                <a:cs typeface="Noto Sans SC"/>
                <a:sym typeface="Noto Sans SC"/>
              </a:rPr>
              <a:t>理解输入，决定下一步</a:t>
            </a:r>
            <a:endParaRPr lang="en-US" sz="1200" b="0" i="0" u="none" strike="noStrike">
              <a:solidFill>
                <a:srgbClr val="757575"/>
              </a:solidFill>
              <a:latin typeface="Noto Sans SC"/>
              <a:ea typeface="Noto Sans SC"/>
              <a:cs typeface="Noto Sans SC"/>
              <a:sym typeface="Noto Sans SC"/>
            </a:endParaRPr>
          </a:p>
        </p:txBody>
      </p:sp>
      <p:sp>
        <p:nvSpPr>
          <p:cNvPr id="10" name="AutoShape 10"/>
          <p:cNvSpPr/>
          <p:nvPr/>
        </p:nvSpPr>
        <p:spPr>
          <a:xfrm>
            <a:off x="3492500" y="3048000"/>
            <a:ext cx="2476500" cy="1524000"/>
          </a:xfrm>
          <a:prstGeom prst="roundRect">
            <a:avLst>
              <a:gd name="adj" fmla="val 8333"/>
            </a:avLst>
          </a:prstGeom>
          <a:solidFill>
            <a:srgbClr val="FFFFFF">
              <a:alpha val="100000"/>
            </a:srgbClr>
          </a:solidFill>
          <a:ln w="25400" cap="flat" cmpd="sng">
            <a:noFill/>
            <a:prstDash val="solid"/>
            <a:round/>
          </a:ln>
          <a:effectLst>
            <a:outerShdw blurRad="635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406900" y="3238500"/>
            <a:ext cx="508000" cy="508000"/>
          </a:xfrm>
          <a:prstGeom prst="rect">
            <a:avLst/>
          </a:prstGeom>
        </p:spPr>
      </p:pic>
      <p:sp>
        <p:nvSpPr>
          <p:cNvPr id="12" name="AutoShape 12"/>
          <p:cNvSpPr/>
          <p:nvPr/>
        </p:nvSpPr>
        <p:spPr>
          <a:xfrm>
            <a:off x="3492500" y="3810000"/>
            <a:ext cx="24765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77BD"/>
                </a:solidFill>
                <a:latin typeface="Noto Sans SC"/>
                <a:ea typeface="Noto Sans SC"/>
                <a:cs typeface="Noto Sans SC"/>
                <a:sym typeface="Noto Sans SC"/>
              </a:rPr>
              <a:t>行动 (Action)</a:t>
            </a:r>
            <a:endParaRPr lang="en-US" sz="1100"/>
          </a:p>
          <a:p>
            <a:pPr indent="0" algn="ctr">
              <a:lnSpc>
                <a:spcPct val="125000"/>
              </a:lnSpc>
            </a:pPr>
            <a:r>
              <a:rPr lang="en-US" sz="1200" b="0" i="0" u="none" strike="noStrike">
                <a:solidFill>
                  <a:srgbClr val="757575"/>
                </a:solidFill>
                <a:latin typeface="Noto Sans SC"/>
                <a:ea typeface="Noto Sans SC"/>
                <a:cs typeface="Noto Sans SC"/>
                <a:sym typeface="Noto Sans SC"/>
              </a:rPr>
              <a:t>选择并调用合适工具</a:t>
            </a:r>
            <a:endParaRPr lang="en-US" sz="1200" b="0" i="0" u="none" strike="noStrike">
              <a:solidFill>
                <a:srgbClr val="757575"/>
              </a:solidFill>
              <a:latin typeface="Noto Sans SC"/>
              <a:ea typeface="Noto Sans SC"/>
              <a:cs typeface="Noto Sans SC"/>
              <a:sym typeface="Noto Sans SC"/>
            </a:endParaRPr>
          </a:p>
        </p:txBody>
      </p:sp>
      <p:sp>
        <p:nvSpPr>
          <p:cNvPr id="13" name="AutoShape 13"/>
          <p:cNvSpPr/>
          <p:nvPr/>
        </p:nvSpPr>
        <p:spPr>
          <a:xfrm>
            <a:off x="6223000" y="3048000"/>
            <a:ext cx="2476500" cy="1524000"/>
          </a:xfrm>
          <a:prstGeom prst="roundRect">
            <a:avLst>
              <a:gd name="adj" fmla="val 8333"/>
            </a:avLst>
          </a:prstGeom>
          <a:solidFill>
            <a:srgbClr val="FFFFFF">
              <a:alpha val="100000"/>
            </a:srgbClr>
          </a:solidFill>
          <a:ln w="25400" cap="flat" cmpd="sng">
            <a:noFill/>
            <a:prstDash val="solid"/>
            <a:round/>
          </a:ln>
          <a:effectLst>
            <a:outerShdw blurRad="635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137400" y="3238500"/>
            <a:ext cx="508000" cy="508000"/>
          </a:xfrm>
          <a:prstGeom prst="rect">
            <a:avLst/>
          </a:prstGeom>
        </p:spPr>
      </p:pic>
      <p:sp>
        <p:nvSpPr>
          <p:cNvPr id="15" name="AutoShape 15"/>
          <p:cNvSpPr/>
          <p:nvPr/>
        </p:nvSpPr>
        <p:spPr>
          <a:xfrm>
            <a:off x="6223000" y="3810000"/>
            <a:ext cx="24765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77BD"/>
                </a:solidFill>
                <a:latin typeface="Noto Sans SC"/>
                <a:ea typeface="Noto Sans SC"/>
                <a:cs typeface="Noto Sans SC"/>
                <a:sym typeface="Noto Sans SC"/>
              </a:rPr>
              <a:t>观察 (Observation)</a:t>
            </a:r>
            <a:endParaRPr lang="en-US" sz="1100"/>
          </a:p>
          <a:p>
            <a:pPr indent="0" algn="ctr">
              <a:lnSpc>
                <a:spcPct val="125000"/>
              </a:lnSpc>
            </a:pPr>
            <a:r>
              <a:rPr lang="en-US" sz="1200" b="0" i="0" u="none" strike="noStrike">
                <a:solidFill>
                  <a:srgbClr val="757575"/>
                </a:solidFill>
                <a:latin typeface="Noto Sans SC"/>
                <a:ea typeface="Noto Sans SC"/>
                <a:cs typeface="Noto Sans SC"/>
                <a:sym typeface="Noto Sans SC"/>
              </a:rPr>
              <a:t>获取工具执行的结果</a:t>
            </a:r>
            <a:endParaRPr lang="en-US" sz="1200" b="0" i="0" u="none" strike="noStrike">
              <a:solidFill>
                <a:srgbClr val="757575"/>
              </a:solidFill>
              <a:latin typeface="Noto Sans SC"/>
              <a:ea typeface="Noto Sans SC"/>
              <a:cs typeface="Noto Sans SC"/>
              <a:sym typeface="Noto Sans SC"/>
            </a:endParaRPr>
          </a:p>
        </p:txBody>
      </p:sp>
      <p:sp>
        <p:nvSpPr>
          <p:cNvPr id="16" name="AutoShape 16"/>
          <p:cNvSpPr/>
          <p:nvPr/>
        </p:nvSpPr>
        <p:spPr>
          <a:xfrm>
            <a:off x="8953500" y="3048000"/>
            <a:ext cx="2476500" cy="1524000"/>
          </a:xfrm>
          <a:prstGeom prst="roundRect">
            <a:avLst>
              <a:gd name="adj" fmla="val 8333"/>
            </a:avLst>
          </a:prstGeom>
          <a:solidFill>
            <a:srgbClr val="FFFFFF">
              <a:alpha val="100000"/>
            </a:srgbClr>
          </a:solidFill>
          <a:ln w="25400" cap="flat" cmpd="sng">
            <a:noFill/>
            <a:prstDash val="solid"/>
            <a:round/>
          </a:ln>
          <a:effectLst>
            <a:outerShdw blurRad="635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867900" y="3238500"/>
            <a:ext cx="508000" cy="508000"/>
          </a:xfrm>
          <a:prstGeom prst="rect">
            <a:avLst/>
          </a:prstGeom>
        </p:spPr>
      </p:pic>
      <p:sp>
        <p:nvSpPr>
          <p:cNvPr id="18" name="AutoShape 18"/>
          <p:cNvSpPr/>
          <p:nvPr/>
        </p:nvSpPr>
        <p:spPr>
          <a:xfrm>
            <a:off x="8953500" y="3810000"/>
            <a:ext cx="24765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77BD"/>
                </a:solidFill>
                <a:latin typeface="Noto Sans SC"/>
                <a:ea typeface="Noto Sans SC"/>
                <a:cs typeface="Noto Sans SC"/>
                <a:sym typeface="Noto Sans SC"/>
              </a:rPr>
              <a:t>重复 (Repeat)</a:t>
            </a:r>
            <a:endParaRPr lang="en-US" sz="1100"/>
          </a:p>
          <a:p>
            <a:pPr indent="0" algn="ctr">
              <a:lnSpc>
                <a:spcPct val="125000"/>
              </a:lnSpc>
            </a:pPr>
            <a:r>
              <a:rPr lang="en-US" sz="1200" b="0" i="0" u="none" strike="noStrike">
                <a:solidFill>
                  <a:srgbClr val="757575"/>
                </a:solidFill>
                <a:latin typeface="Noto Sans SC"/>
                <a:ea typeface="Noto Sans SC"/>
                <a:cs typeface="Noto Sans SC"/>
                <a:sym typeface="Noto Sans SC"/>
              </a:rPr>
              <a:t>判断是否继续或生成回答</a:t>
            </a:r>
            <a:endParaRPr lang="en-US" sz="1200" b="0" i="0" u="none" strike="noStrike">
              <a:solidFill>
                <a:srgbClr val="757575"/>
              </a:solidFill>
              <a:latin typeface="Noto Sans SC"/>
              <a:ea typeface="Noto Sans SC"/>
              <a:cs typeface="Noto Sans SC"/>
              <a:sym typeface="Noto Sans SC"/>
            </a:endParaRPr>
          </a:p>
        </p:txBody>
      </p:sp>
      <p:sp>
        <p:nvSpPr>
          <p:cNvPr id="19" name="AutoShape 19"/>
          <p:cNvSpPr/>
          <p:nvPr/>
        </p:nvSpPr>
        <p:spPr>
          <a:xfrm>
            <a:off x="762000" y="4826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常见智能体类型</a:t>
            </a:r>
            <a:endParaRPr lang="en-US" sz="1100"/>
          </a:p>
        </p:txBody>
      </p:sp>
      <p:sp>
        <p:nvSpPr>
          <p:cNvPr id="20" name="AutoShape 20"/>
          <p:cNvSpPr/>
          <p:nvPr/>
        </p:nvSpPr>
        <p:spPr>
          <a:xfrm>
            <a:off x="762000" y="5334000"/>
            <a:ext cx="5207000" cy="1016000"/>
          </a:xfrm>
          <a:prstGeom prst="roundRect">
            <a:avLst>
              <a:gd name="adj" fmla="val 12500"/>
            </a:avLst>
          </a:prstGeom>
          <a:solidFill>
            <a:srgbClr val="FFFFFF">
              <a:alpha val="100000"/>
            </a:srgbClr>
          </a:solidFill>
          <a:ln w="25400" cap="flat" cmpd="sng">
            <a:noFill/>
            <a:prstDash val="solid"/>
            <a:round/>
          </a:ln>
          <a:effectLst>
            <a:outerShdw blurRad="635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16000" y="5588000"/>
            <a:ext cx="508000" cy="508000"/>
          </a:xfrm>
          <a:prstGeom prst="rect">
            <a:avLst/>
          </a:prstGeom>
        </p:spPr>
      </p:pic>
      <p:sp>
        <p:nvSpPr>
          <p:cNvPr id="22" name="AutoShape 22"/>
          <p:cNvSpPr/>
          <p:nvPr/>
        </p:nvSpPr>
        <p:spPr>
          <a:xfrm>
            <a:off x="1651000" y="54610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ReAct 模式：</a:t>
            </a:r>
            <a:r>
              <a:rPr lang="en-US" sz="1400" b="0" i="0" u="none" strike="noStrike">
                <a:solidFill>
                  <a:srgbClr val="757575"/>
                </a:solidFill>
                <a:latin typeface="Noto Sans SC"/>
                <a:ea typeface="Noto Sans SC"/>
                <a:cs typeface="Noto Sans SC"/>
                <a:sym typeface="Noto Sans SC"/>
              </a:rPr>
              <a:t>让模型通过“思考-行动-观察”的循环来解决问题，适用于动态环境。</a:t>
            </a:r>
            <a:endParaRPr lang="en-US" sz="1100"/>
          </a:p>
        </p:txBody>
      </p:sp>
      <p:sp>
        <p:nvSpPr>
          <p:cNvPr id="23" name="AutoShape 23"/>
          <p:cNvSpPr/>
          <p:nvPr/>
        </p:nvSpPr>
        <p:spPr>
          <a:xfrm>
            <a:off x="6223000" y="5334000"/>
            <a:ext cx="5207000" cy="1016000"/>
          </a:xfrm>
          <a:prstGeom prst="roundRect">
            <a:avLst>
              <a:gd name="adj" fmla="val 12500"/>
            </a:avLst>
          </a:prstGeom>
          <a:solidFill>
            <a:srgbClr val="FFFFFF">
              <a:alpha val="100000"/>
            </a:srgbClr>
          </a:solidFill>
          <a:ln w="25400" cap="flat" cmpd="sng">
            <a:noFill/>
            <a:prstDash val="solid"/>
            <a:round/>
          </a:ln>
          <a:effectLst>
            <a:outerShdw blurRad="635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477000" y="5588000"/>
            <a:ext cx="508000" cy="508000"/>
          </a:xfrm>
          <a:prstGeom prst="rect">
            <a:avLst/>
          </a:prstGeom>
        </p:spPr>
      </p:pic>
      <p:sp>
        <p:nvSpPr>
          <p:cNvPr id="25" name="AutoShape 25"/>
          <p:cNvSpPr/>
          <p:nvPr/>
        </p:nvSpPr>
        <p:spPr>
          <a:xfrm>
            <a:off x="7112000" y="54610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Plan-and-Execute：</a:t>
            </a:r>
            <a:r>
              <a:rPr lang="en-US" sz="1400" b="0" i="0" u="none" strike="noStrike">
                <a:solidFill>
                  <a:srgbClr val="757575"/>
                </a:solidFill>
                <a:latin typeface="Noto Sans SC"/>
                <a:ea typeface="Noto Sans SC"/>
                <a:cs typeface="Noto Sans SC"/>
                <a:sym typeface="Noto Sans SC"/>
              </a:rPr>
              <a:t>先制定详细计划，再逐步执行计划，适合复杂的长程任务。</a:t>
            </a:r>
            <a:endParaRPr lang="en-US" sz="11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9149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智能体示例（ReAct）</a:t>
            </a:r>
            <a:endParaRPr lang="en-US" sz="1100"/>
          </a:p>
        </p:txBody>
      </p:sp>
      <p:sp>
        <p:nvSpPr>
          <p:cNvPr id="3" name="AutoShape 3"/>
          <p:cNvSpPr/>
          <p:nvPr/>
        </p:nvSpPr>
        <p:spPr>
          <a:xfrm>
            <a:off x="762000" y="1397000"/>
            <a:ext cx="4572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016000" y="16510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ReAct 框架核心特点</a:t>
            </a:r>
            <a:endParaRPr lang="en-US" sz="1100"/>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222500"/>
            <a:ext cx="406400" cy="406400"/>
          </a:xfrm>
          <a:prstGeom prst="rect">
            <a:avLst/>
          </a:prstGeom>
        </p:spPr>
      </p:pic>
      <p:sp>
        <p:nvSpPr>
          <p:cNvPr id="6" name="AutoShape 6"/>
          <p:cNvSpPr/>
          <p:nvPr/>
        </p:nvSpPr>
        <p:spPr>
          <a:xfrm>
            <a:off x="1524000" y="2159000"/>
            <a:ext cx="3556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1" i="0" u="none" strike="noStrike">
                <a:solidFill>
                  <a:srgbClr val="0277BD"/>
                </a:solidFill>
                <a:latin typeface="Noto Sans SC"/>
                <a:ea typeface="Noto Sans SC"/>
                <a:cs typeface="Noto Sans SC"/>
                <a:sym typeface="Noto Sans SC"/>
              </a:rPr>
              <a:t>思考与行动循环</a:t>
            </a:r>
            <a:endParaRPr lang="en-US" sz="1100"/>
          </a:p>
          <a:p>
            <a:pPr indent="0" algn="l">
              <a:lnSpc>
                <a:spcPct val="108000"/>
              </a:lnSpc>
            </a:pPr>
            <a:r>
              <a:rPr lang="en-US" sz="1600" b="0" i="0" u="none" strike="noStrike">
                <a:solidFill>
                  <a:srgbClr val="757575"/>
                </a:solidFill>
                <a:latin typeface="Noto Sans SC"/>
                <a:ea typeface="Noto Sans SC"/>
                <a:cs typeface="Noto Sans SC"/>
                <a:sym typeface="Noto Sans SC"/>
              </a:rPr>
              <a:t>让模型生成自然语言的“思考”和“行动”，通过多步推理解决复杂问题。</a:t>
            </a:r>
            <a:endParaRPr lang="en-US" sz="1600" b="0" i="0" u="none" strike="noStrike">
              <a:solidFill>
                <a:srgbClr val="757575"/>
              </a:solidFill>
              <a:latin typeface="Noto Sans SC"/>
              <a:ea typeface="Noto Sans SC"/>
              <a:cs typeface="Noto Sans SC"/>
              <a:sym typeface="Noto Sans SC"/>
            </a:endParaR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111500"/>
            <a:ext cx="406400" cy="406400"/>
          </a:xfrm>
          <a:prstGeom prst="rect">
            <a:avLst/>
          </a:prstGeom>
        </p:spPr>
      </p:pic>
      <p:sp>
        <p:nvSpPr>
          <p:cNvPr id="8" name="AutoShape 8"/>
          <p:cNvSpPr/>
          <p:nvPr/>
        </p:nvSpPr>
        <p:spPr>
          <a:xfrm>
            <a:off x="1524000" y="3048000"/>
            <a:ext cx="3556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1" i="0" u="none" strike="noStrike">
                <a:solidFill>
                  <a:srgbClr val="0277BD"/>
                </a:solidFill>
                <a:latin typeface="Noto Sans SC"/>
                <a:ea typeface="Noto Sans SC"/>
                <a:cs typeface="Noto Sans SC"/>
                <a:sym typeface="Noto Sans SC"/>
              </a:rPr>
              <a:t>自主工具调用</a:t>
            </a:r>
            <a:endParaRPr lang="en-US" sz="1100"/>
          </a:p>
          <a:p>
            <a:pPr indent="0" algn="l">
              <a:lnSpc>
                <a:spcPct val="108000"/>
              </a:lnSpc>
            </a:pPr>
            <a:r>
              <a:rPr lang="en-US" sz="1600" b="0" i="0" u="none" strike="noStrike">
                <a:solidFill>
                  <a:srgbClr val="757575"/>
                </a:solidFill>
                <a:latin typeface="Noto Sans SC"/>
                <a:ea typeface="Noto Sans SC"/>
                <a:cs typeface="Noto Sans SC"/>
                <a:sym typeface="Noto Sans SC"/>
              </a:rPr>
              <a:t>智能体能够根据问题需求，自主决定是否调用外部工具（如搜索引擎）获取信息。</a:t>
            </a:r>
            <a:endParaRPr lang="en-US" sz="1600" b="0" i="0" u="none" strike="noStrike">
              <a:solidFill>
                <a:srgbClr val="757575"/>
              </a:solidFill>
              <a:latin typeface="Noto Sans SC"/>
              <a:ea typeface="Noto Sans SC"/>
              <a:cs typeface="Noto Sans SC"/>
              <a:sym typeface="Noto Sans SC"/>
            </a:endParaR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000500"/>
            <a:ext cx="406400" cy="406400"/>
          </a:xfrm>
          <a:prstGeom prst="rect">
            <a:avLst/>
          </a:prstGeom>
        </p:spPr>
      </p:pic>
      <p:sp>
        <p:nvSpPr>
          <p:cNvPr id="10" name="AutoShape 10"/>
          <p:cNvSpPr/>
          <p:nvPr/>
        </p:nvSpPr>
        <p:spPr>
          <a:xfrm>
            <a:off x="1524000" y="3937000"/>
            <a:ext cx="3556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1" i="0" u="none" strike="noStrike">
                <a:solidFill>
                  <a:srgbClr val="0277BD"/>
                </a:solidFill>
                <a:latin typeface="Noto Sans SC"/>
                <a:ea typeface="Noto Sans SC"/>
                <a:cs typeface="Noto Sans SC"/>
                <a:sym typeface="Noto Sans SC"/>
              </a:rPr>
              <a:t>增强可解释性</a:t>
            </a:r>
            <a:endParaRPr lang="en-US" sz="1100"/>
          </a:p>
          <a:p>
            <a:pPr indent="0" algn="l">
              <a:lnSpc>
                <a:spcPct val="108000"/>
              </a:lnSpc>
            </a:pPr>
            <a:r>
              <a:rPr lang="en-US" sz="1600" b="0" i="0" u="none" strike="noStrike">
                <a:solidFill>
                  <a:srgbClr val="757575"/>
                </a:solidFill>
                <a:latin typeface="Noto Sans SC"/>
                <a:ea typeface="Noto Sans SC"/>
                <a:cs typeface="Noto Sans SC"/>
                <a:sym typeface="Noto Sans SC"/>
              </a:rPr>
              <a:t>通过展示“思考”过程，使AI的决策路径更加透明，便于调试和信任。</a:t>
            </a:r>
            <a:endParaRPr lang="en-US" sz="1600" b="0" i="0" u="none" strike="noStrike">
              <a:solidFill>
                <a:srgbClr val="757575"/>
              </a:solidFill>
              <a:latin typeface="Noto Sans SC"/>
              <a:ea typeface="Noto Sans SC"/>
              <a:cs typeface="Noto Sans SC"/>
              <a:sym typeface="Noto Sans SC"/>
            </a:endParaRPr>
          </a:p>
        </p:txBody>
      </p:sp>
      <p:sp>
        <p:nvSpPr>
          <p:cNvPr id="11" name="AutoShape 11"/>
          <p:cNvSpPr/>
          <p:nvPr/>
        </p:nvSpPr>
        <p:spPr>
          <a:xfrm>
            <a:off x="5588000" y="1397000"/>
            <a:ext cx="5842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12" name="AutoShape 12"/>
          <p:cNvSpPr/>
          <p:nvPr/>
        </p:nvSpPr>
        <p:spPr>
          <a:xfrm>
            <a:off x="5842000" y="1651000"/>
            <a:ext cx="533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代码实现：构建 ReAct 智能体</a:t>
            </a:r>
            <a:endParaRPr lang="en-US" sz="1100"/>
          </a:p>
        </p:txBody>
      </p:sp>
      <p:sp>
        <p:nvSpPr>
          <p:cNvPr id="13" name="AutoShape 13"/>
          <p:cNvSpPr/>
          <p:nvPr/>
        </p:nvSpPr>
        <p:spPr>
          <a:xfrm>
            <a:off x="5842000" y="2159000"/>
            <a:ext cx="5334000" cy="2413000"/>
          </a:xfrm>
          <a:prstGeom prst="roundRect">
            <a:avLst>
              <a:gd name="adj" fmla="val 2631"/>
            </a:avLst>
          </a:prstGeom>
          <a:solidFill>
            <a:srgbClr val="1E1E1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5969000" y="2286000"/>
            <a:ext cx="5080000" cy="215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C678DD"/>
                </a:solidFill>
                <a:latin typeface="Roboto Mono"/>
                <a:ea typeface="Roboto Mono"/>
                <a:cs typeface="Roboto Mono"/>
                <a:sym typeface="Roboto Mono"/>
              </a:rPr>
              <a:t>from</a:t>
            </a:r>
            <a:r>
              <a:rPr lang="en-US" sz="1200" b="0" i="0" u="none" strike="noStrike">
                <a:solidFill>
                  <a:srgbClr val="DCDCDC"/>
                </a:solidFill>
                <a:latin typeface="Roboto Mono"/>
                <a:ea typeface="Roboto Mono"/>
                <a:cs typeface="Roboto Mono"/>
                <a:sym typeface="Roboto Mono"/>
              </a:rPr>
              <a:t>langchain.agents</a:t>
            </a:r>
            <a:r>
              <a:rPr lang="en-US" sz="1200" b="0" i="0" u="none" strike="noStrike">
                <a:solidFill>
                  <a:srgbClr val="C678DD"/>
                </a:solidFill>
                <a:latin typeface="Roboto Mono"/>
                <a:ea typeface="Roboto Mono"/>
                <a:cs typeface="Roboto Mono"/>
                <a:sym typeface="Roboto Mono"/>
              </a:rPr>
              <a:t>import</a:t>
            </a:r>
            <a:r>
              <a:rPr lang="en-US" sz="1200" b="0" i="0" u="none" strike="noStrike">
                <a:solidFill>
                  <a:srgbClr val="DCDCDC"/>
                </a:solidFill>
                <a:latin typeface="Roboto Mono"/>
                <a:ea typeface="Roboto Mono"/>
                <a:cs typeface="Roboto Mono"/>
                <a:sym typeface="Roboto Mono"/>
              </a:rPr>
              <a:t>AgentType, initialize_agent</a:t>
            </a:r>
            <a:endParaRPr lang="en-US" sz="1100"/>
          </a:p>
          <a:p>
            <a:pPr indent="0" algn="l">
              <a:lnSpc>
                <a:spcPct val="108000"/>
              </a:lnSpc>
            </a:pPr>
            <a:r>
              <a:rPr lang="en-US" sz="1200" b="0" i="0" u="none" strike="noStrike">
                <a:solidFill>
                  <a:srgbClr val="C678DD"/>
                </a:solidFill>
                <a:latin typeface="Roboto Mono"/>
                <a:ea typeface="Roboto Mono"/>
                <a:cs typeface="Roboto Mono"/>
                <a:sym typeface="Roboto Mono"/>
              </a:rPr>
              <a:t>from</a:t>
            </a:r>
            <a:r>
              <a:rPr lang="en-US" sz="1200" b="0" i="0" u="none" strike="noStrike">
                <a:solidFill>
                  <a:srgbClr val="DCDCDC"/>
                </a:solidFill>
                <a:latin typeface="Roboto Mono"/>
                <a:ea typeface="Roboto Mono"/>
                <a:cs typeface="Roboto Mono"/>
                <a:sym typeface="Roboto Mono"/>
              </a:rPr>
              <a:t>langchain_openai</a:t>
            </a:r>
            <a:r>
              <a:rPr lang="en-US" sz="1200" b="0" i="0" u="none" strike="noStrike">
                <a:solidFill>
                  <a:srgbClr val="C678DD"/>
                </a:solidFill>
                <a:latin typeface="Roboto Mono"/>
                <a:ea typeface="Roboto Mono"/>
                <a:cs typeface="Roboto Mono"/>
                <a:sym typeface="Roboto Mono"/>
              </a:rPr>
              <a:t>import</a:t>
            </a:r>
            <a:r>
              <a:rPr lang="en-US" sz="1200" b="0" i="0" u="none" strike="noStrike">
                <a:solidFill>
                  <a:srgbClr val="DCDCDC"/>
                </a:solidFill>
                <a:latin typeface="Roboto Mono"/>
                <a:ea typeface="Roboto Mono"/>
                <a:cs typeface="Roboto Mono"/>
                <a:sym typeface="Roboto Mono"/>
              </a:rPr>
              <a:t>AzureChatOpenAI</a:t>
            </a:r>
            <a:endParaRPr lang="en-US" sz="1200" b="0" i="0" u="none" strike="noStrike">
              <a:solidFill>
                <a:srgbClr val="DCDCDC"/>
              </a:solidFill>
              <a:latin typeface="Roboto Mono"/>
              <a:ea typeface="Roboto Mono"/>
              <a:cs typeface="Roboto Mono"/>
              <a:sym typeface="Roboto Mono"/>
            </a:endParaRPr>
          </a:p>
          <a:p>
            <a:pPr indent="0" algn="l">
              <a:lnSpc>
                <a:spcPct val="108000"/>
              </a:lnSpc>
            </a:pPr>
          </a:p>
          <a:p>
            <a:pPr indent="0" algn="l">
              <a:lnSpc>
                <a:spcPct val="108000"/>
              </a:lnSpc>
            </a:pPr>
            <a:r>
              <a:rPr lang="en-US" sz="1200" b="0" i="0" u="none" strike="noStrike">
                <a:solidFill>
                  <a:srgbClr val="DCDCDC"/>
                </a:solidFill>
                <a:latin typeface="Roboto Mono"/>
                <a:ea typeface="Roboto Mono"/>
                <a:cs typeface="Roboto Mono"/>
                <a:sym typeface="Roboto Mono"/>
              </a:rPr>
              <a:t># 初始化模型与工具</a:t>
            </a:r>
            <a:endParaRPr lang="en-US" sz="1200" b="0" i="0" u="none" strike="noStrike">
              <a:solidFill>
                <a:srgbClr val="DCDCDC"/>
              </a:solidFill>
              <a:latin typeface="Roboto Mono"/>
              <a:ea typeface="Roboto Mono"/>
              <a:cs typeface="Roboto Mono"/>
              <a:sym typeface="Roboto Mono"/>
            </a:endParaRPr>
          </a:p>
          <a:p>
            <a:pPr indent="0" algn="l">
              <a:lnSpc>
                <a:spcPct val="108000"/>
              </a:lnSpc>
            </a:pPr>
            <a:r>
              <a:rPr lang="en-US" sz="1200" b="0" i="0" u="none" strike="noStrike">
                <a:solidFill>
                  <a:srgbClr val="DCDCDC"/>
                </a:solidFill>
                <a:latin typeface="Roboto Mono"/>
                <a:ea typeface="Roboto Mono"/>
                <a:cs typeface="Roboto Mono"/>
                <a:sym typeface="Roboto Mono"/>
              </a:rPr>
              <a:t>llm = AzureChatOpenAI(...)</a:t>
            </a:r>
            <a:endParaRPr lang="en-US" sz="1200" b="0" i="0" u="none" strike="noStrike">
              <a:solidFill>
                <a:srgbClr val="DCDCDC"/>
              </a:solidFill>
              <a:latin typeface="Roboto Mono"/>
              <a:ea typeface="Roboto Mono"/>
              <a:cs typeface="Roboto Mono"/>
              <a:sym typeface="Roboto Mono"/>
            </a:endParaRPr>
          </a:p>
          <a:p>
            <a:pPr indent="0" algn="l">
              <a:lnSpc>
                <a:spcPct val="108000"/>
              </a:lnSpc>
            </a:pPr>
            <a:r>
              <a:rPr lang="en-US" sz="1200" b="0" i="0" u="none" strike="noStrike">
                <a:solidFill>
                  <a:srgbClr val="DCDCDC"/>
                </a:solidFill>
                <a:latin typeface="Roboto Mono"/>
                <a:ea typeface="Roboto Mono"/>
                <a:cs typeface="Roboto Mono"/>
                <a:sym typeface="Roboto Mono"/>
              </a:rPr>
              <a:t>tools = load_tools([</a:t>
            </a:r>
            <a:r>
              <a:rPr lang="en-US" sz="1200" b="0" i="0" u="none" strike="noStrike">
                <a:solidFill>
                  <a:srgbClr val="98C379"/>
                </a:solidFill>
                <a:latin typeface="Roboto Mono"/>
                <a:ea typeface="Roboto Mono"/>
                <a:cs typeface="Roboto Mono"/>
                <a:sym typeface="Roboto Mono"/>
              </a:rPr>
              <a:t>"serpapi"</a:t>
            </a:r>
            <a:r>
              <a:rPr lang="en-US" sz="1200" b="0" i="0" u="none" strike="noStrike">
                <a:solidFill>
                  <a:srgbClr val="DCDCDC"/>
                </a:solidFill>
                <a:latin typeface="Roboto Mono"/>
                <a:ea typeface="Roboto Mono"/>
                <a:cs typeface="Roboto Mono"/>
                <a:sym typeface="Roboto Mono"/>
              </a:rPr>
              <a:t>], llm=llm)</a:t>
            </a:r>
            <a:endParaRPr lang="en-US" sz="1200" b="0" i="0" u="none" strike="noStrike">
              <a:solidFill>
                <a:srgbClr val="DCDCDC"/>
              </a:solidFill>
              <a:latin typeface="Roboto Mono"/>
              <a:ea typeface="Roboto Mono"/>
              <a:cs typeface="Roboto Mono"/>
              <a:sym typeface="Roboto Mono"/>
            </a:endParaRPr>
          </a:p>
          <a:p>
            <a:pPr indent="0" algn="l">
              <a:lnSpc>
                <a:spcPct val="108000"/>
              </a:lnSpc>
            </a:pPr>
          </a:p>
          <a:p>
            <a:pPr indent="0" algn="l">
              <a:lnSpc>
                <a:spcPct val="108000"/>
              </a:lnSpc>
            </a:pPr>
            <a:r>
              <a:rPr lang="en-US" sz="1200" b="0" i="0" u="none" strike="noStrike">
                <a:solidFill>
                  <a:srgbClr val="DCDCDC"/>
                </a:solidFill>
                <a:latin typeface="Roboto Mono"/>
                <a:ea typeface="Roboto Mono"/>
                <a:cs typeface="Roboto Mono"/>
                <a:sym typeface="Roboto Mono"/>
              </a:rPr>
              <a:t># 创建 ReAct 智能体</a:t>
            </a:r>
            <a:endParaRPr lang="en-US" sz="1200" b="0" i="0" u="none" strike="noStrike">
              <a:solidFill>
                <a:srgbClr val="DCDCDC"/>
              </a:solidFill>
              <a:latin typeface="Roboto Mono"/>
              <a:ea typeface="Roboto Mono"/>
              <a:cs typeface="Roboto Mono"/>
              <a:sym typeface="Roboto Mono"/>
            </a:endParaRPr>
          </a:p>
          <a:p>
            <a:pPr indent="0" algn="l">
              <a:lnSpc>
                <a:spcPct val="108000"/>
              </a:lnSpc>
            </a:pPr>
            <a:r>
              <a:rPr lang="en-US" sz="1200" b="0" i="0" u="none" strike="noStrike">
                <a:solidFill>
                  <a:srgbClr val="DCDCDC"/>
                </a:solidFill>
                <a:latin typeface="Roboto Mono"/>
                <a:ea typeface="Roboto Mono"/>
                <a:cs typeface="Roboto Mono"/>
                <a:sym typeface="Roboto Mono"/>
              </a:rPr>
              <a:t>agent = initialize_agent(tools, llm, agent=AgentType.REACT_DOCSTORE)</a:t>
            </a:r>
            <a:endParaRPr lang="en-US" sz="1200" b="0" i="0" u="none" strike="noStrike">
              <a:solidFill>
                <a:srgbClr val="DCDCDC"/>
              </a:solidFill>
              <a:latin typeface="Roboto Mono"/>
              <a:ea typeface="Roboto Mono"/>
              <a:cs typeface="Roboto Mono"/>
              <a:sym typeface="Roboto Mono"/>
            </a:endParaRPr>
          </a:p>
          <a:p>
            <a:pPr indent="0" algn="l">
              <a:lnSpc>
                <a:spcPct val="108000"/>
              </a:lnSpc>
            </a:pPr>
          </a:p>
          <a:p>
            <a:pPr indent="0" algn="l">
              <a:lnSpc>
                <a:spcPct val="108000"/>
              </a:lnSpc>
            </a:pPr>
            <a:r>
              <a:rPr lang="en-US" sz="1200" b="0" i="0" u="none" strike="noStrike">
                <a:solidFill>
                  <a:srgbClr val="DCDCDC"/>
                </a:solidFill>
                <a:latin typeface="Roboto Mono"/>
                <a:ea typeface="Roboto Mono"/>
                <a:cs typeface="Roboto Mono"/>
                <a:sym typeface="Roboto Mono"/>
              </a:rPr>
              <a:t># 运行：查询2024世界杯冠军</a:t>
            </a:r>
            <a:endParaRPr lang="en-US" sz="1200" b="0" i="0" u="none" strike="noStrike">
              <a:solidFill>
                <a:srgbClr val="DCDCDC"/>
              </a:solidFill>
              <a:latin typeface="Roboto Mono"/>
              <a:ea typeface="Roboto Mono"/>
              <a:cs typeface="Roboto Mono"/>
              <a:sym typeface="Roboto Mono"/>
            </a:endParaRPr>
          </a:p>
          <a:p>
            <a:pPr indent="0" algn="l">
              <a:lnSpc>
                <a:spcPct val="108000"/>
              </a:lnSpc>
            </a:pPr>
            <a:r>
              <a:rPr lang="en-US" sz="1200" b="0" i="0" u="none" strike="noStrike">
                <a:solidFill>
                  <a:srgbClr val="DCDCDC"/>
                </a:solidFill>
                <a:latin typeface="Roboto Mono"/>
                <a:ea typeface="Roboto Mono"/>
                <a:cs typeface="Roboto Mono"/>
                <a:sym typeface="Roboto Mono"/>
              </a:rPr>
              <a:t>response = agent.run(</a:t>
            </a:r>
            <a:r>
              <a:rPr lang="en-US" sz="1200" b="0" i="0" u="none" strike="noStrike">
                <a:solidFill>
                  <a:srgbClr val="98C379"/>
                </a:solidFill>
                <a:latin typeface="Roboto Mono"/>
                <a:ea typeface="Roboto Mono"/>
                <a:cs typeface="Roboto Mono"/>
                <a:sym typeface="Roboto Mono"/>
              </a:rPr>
              <a:t>"2024年世界杯的冠军是哪个国家？"</a:t>
            </a:r>
            <a:r>
              <a:rPr lang="en-US" sz="1200" b="0" i="0" u="none" strike="noStrike">
                <a:solidFill>
                  <a:srgbClr val="DCDCDC"/>
                </a:solidFill>
                <a:latin typeface="Roboto Mono"/>
                <a:ea typeface="Roboto Mono"/>
                <a:cs typeface="Roboto Mono"/>
                <a:sym typeface="Roboto Mono"/>
              </a:rPr>
              <a:t>)</a:t>
            </a:r>
            <a:endParaRPr lang="en-US" sz="1200" b="0" i="0" u="none" strike="noStrike">
              <a:solidFill>
                <a:srgbClr val="DCDCDC"/>
              </a:solidFill>
              <a:latin typeface="Roboto Mono"/>
              <a:ea typeface="Roboto Mono"/>
              <a:cs typeface="Roboto Mono"/>
              <a:sym typeface="Roboto Mono"/>
            </a:endParaRPr>
          </a:p>
        </p:txBody>
      </p:sp>
      <p:sp>
        <p:nvSpPr>
          <p:cNvPr id="15" name="AutoShape 15"/>
          <p:cNvSpPr/>
          <p:nvPr/>
        </p:nvSpPr>
        <p:spPr>
          <a:xfrm>
            <a:off x="762000" y="5334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511800"/>
            <a:ext cx="406400" cy="406400"/>
          </a:xfrm>
          <a:prstGeom prst="rect">
            <a:avLst/>
          </a:prstGeom>
        </p:spPr>
      </p:pic>
      <p:sp>
        <p:nvSpPr>
          <p:cNvPr id="17" name="AutoShape 17"/>
          <p:cNvSpPr/>
          <p:nvPr/>
        </p:nvSpPr>
        <p:spPr>
          <a:xfrm>
            <a:off x="1524000" y="5461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关键优势：</a:t>
            </a:r>
            <a:r>
              <a:rPr lang="en-US" sz="1600" b="0" i="0" u="none" strike="noStrike">
                <a:solidFill>
                  <a:srgbClr val="0277BD"/>
                </a:solidFill>
                <a:latin typeface="Noto Sans SC"/>
                <a:ea typeface="Noto Sans SC"/>
                <a:cs typeface="Noto Sans SC"/>
                <a:sym typeface="Noto Sans SC"/>
              </a:rPr>
              <a:t>通过 ReAct 框架，智能体不再依赖单一的知识库，而是能够通过“思考”决定使用工具，从而具备了解决需要实时信息或复杂逻辑推理问题的能力。</a:t>
            </a:r>
            <a:endParaRPr lang="en-US" sz="11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508000"/>
            <a:ext cx="1524000" cy="15240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414000" y="5080000"/>
            <a:ext cx="2286000" cy="2286000"/>
          </a:xfrm>
          <a:prstGeom prst="ellipse">
            <a:avLst/>
          </a:prstGeom>
          <a:solidFill>
            <a:srgbClr val="FF9800">
              <a:alpha val="1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16000" y="1397000"/>
            <a:ext cx="10160000" cy="4064000"/>
          </a:xfrm>
          <a:prstGeom prst="roundRect">
            <a:avLst>
              <a:gd name="adj" fmla="val 6250"/>
            </a:avLst>
          </a:prstGeom>
          <a:solidFill>
            <a:srgbClr val="FFFFFF">
              <a:alpha val="100000"/>
            </a:srgbClr>
          </a:solidFill>
          <a:ln w="25400" cap="flat" cmpd="sng">
            <a:noFill/>
            <a:prstDash val="solid"/>
            <a:round/>
          </a:ln>
          <a:effectLst>
            <a:outerShdw blurRad="254000" dist="127000" dir="5400000" algn="tl" rotWithShape="0">
              <a:srgbClr val="0277BD">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1778000"/>
            <a:ext cx="812800" cy="812800"/>
          </a:xfrm>
          <a:prstGeom prst="rect">
            <a:avLst/>
          </a:prstGeom>
        </p:spPr>
      </p:pic>
      <p:sp>
        <p:nvSpPr>
          <p:cNvPr id="6" name="AutoShape 6"/>
          <p:cNvSpPr/>
          <p:nvPr/>
        </p:nvSpPr>
        <p:spPr>
          <a:xfrm>
            <a:off x="955040" y="2730500"/>
            <a:ext cx="1028192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1" i="0" u="none" strike="noStrike">
                <a:solidFill>
                  <a:srgbClr val="0277BD"/>
                </a:solidFill>
                <a:latin typeface="Noto Sans SC"/>
                <a:ea typeface="Noto Sans SC"/>
                <a:cs typeface="Noto Sans SC"/>
                <a:sym typeface="Noto Sans SC"/>
              </a:rPr>
              <a:t>8.7 回调处理器（Callbacks）</a:t>
            </a:r>
            <a:endParaRPr lang="en-US" sz="1100"/>
          </a:p>
        </p:txBody>
      </p:sp>
      <p:cxnSp>
        <p:nvCxnSpPr>
          <p:cNvPr id="7" name="Connector 7"/>
          <p:cNvCxnSpPr/>
          <p:nvPr/>
        </p:nvCxnSpPr>
        <p:spPr>
          <a:xfrm rot="-34376">
            <a:off x="5461032" y="3486150"/>
            <a:ext cx="1270000" cy="12700"/>
          </a:xfrm>
          <a:prstGeom prst="line">
            <a:avLst/>
          </a:prstGeom>
          <a:solidFill>
            <a:srgbClr val="DEE0E3">
              <a:alpha val="100000"/>
            </a:srgbClr>
          </a:solidFill>
          <a:ln w="25400" cap="flat" cmpd="sng">
            <a:solidFill>
              <a:srgbClr val="FF9800">
                <a:alpha val="100000"/>
              </a:srgbClr>
            </a:solidFill>
            <a:prstDash val="solid"/>
            <a:round/>
            <a:headEnd type="none" w="lg" len="lg"/>
            <a:tailEnd type="none" w="lg" len="lg"/>
          </a:ln>
        </p:spPr>
      </p:cxnSp>
      <p:sp>
        <p:nvSpPr>
          <p:cNvPr id="8" name="AutoShape 8"/>
          <p:cNvSpPr/>
          <p:nvPr/>
        </p:nvSpPr>
        <p:spPr>
          <a:xfrm>
            <a:off x="1651000" y="3746500"/>
            <a:ext cx="8890000" cy="762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800" b="0" i="0" u="none" strike="noStrike">
                <a:solidFill>
                  <a:srgbClr val="757575"/>
                </a:solidFill>
                <a:latin typeface="Noto Sans SC"/>
                <a:ea typeface="Noto Sans SC"/>
                <a:cs typeface="Noto Sans SC"/>
                <a:sym typeface="Noto Sans SC"/>
              </a:rPr>
              <a:t>学习如何监控和记录LLM应用的运行状态，掌握性能追踪与日志管理的关键技术。</a:t>
            </a:r>
            <a:endParaRPr lang="en-US" sz="1100"/>
          </a:p>
        </p:txBody>
      </p:sp>
      <p:sp>
        <p:nvSpPr>
          <p:cNvPr id="9" name="AutoShape 9"/>
          <p:cNvSpPr/>
          <p:nvPr/>
        </p:nvSpPr>
        <p:spPr>
          <a:xfrm>
            <a:off x="0" y="6781800"/>
            <a:ext cx="12192000" cy="762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62611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8.7.1 回调处理器的简介</a:t>
            </a:r>
            <a:endParaRPr lang="en-US" sz="1100"/>
          </a:p>
        </p:txBody>
      </p:sp>
      <p:sp>
        <p:nvSpPr>
          <p:cNvPr id="3" name="AutoShape 3"/>
          <p:cNvSpPr/>
          <p:nvPr/>
        </p:nvSpPr>
        <p:spPr>
          <a:xfrm>
            <a:off x="762000" y="1397000"/>
            <a:ext cx="10668000" cy="1270000"/>
          </a:xfrm>
          <a:prstGeom prst="roundRect">
            <a:avLst>
              <a:gd name="adj" fmla="val 10000"/>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016000" y="1651000"/>
            <a:ext cx="762000" cy="7620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68400" y="1803400"/>
            <a:ext cx="457200" cy="457200"/>
          </a:xfrm>
          <a:prstGeom prst="rect">
            <a:avLst/>
          </a:prstGeom>
        </p:spPr>
      </p:pic>
      <p:sp>
        <p:nvSpPr>
          <p:cNvPr id="6" name="AutoShape 6"/>
          <p:cNvSpPr/>
          <p:nvPr/>
        </p:nvSpPr>
        <p:spPr>
          <a:xfrm>
            <a:off x="2032000" y="1587500"/>
            <a:ext cx="9144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定义：钩子函数机制</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在LLM应用执行的各个阶段（如开始、结束、出错）触发的钩子函数，允许开发者插入自定义逻辑，实现对应用流程的精细控制。</a:t>
            </a:r>
            <a:endParaRPr lang="en-US" sz="1600" b="0" i="0" u="none" strike="noStrike">
              <a:solidFill>
                <a:srgbClr val="757575"/>
              </a:solidFill>
              <a:latin typeface="Noto Sans SC"/>
              <a:ea typeface="Noto Sans SC"/>
              <a:cs typeface="Noto Sans SC"/>
              <a:sym typeface="Noto Sans SC"/>
            </a:endParaRPr>
          </a:p>
        </p:txBody>
      </p:sp>
      <p:sp>
        <p:nvSpPr>
          <p:cNvPr id="7" name="AutoShape 7"/>
          <p:cNvSpPr/>
          <p:nvPr/>
        </p:nvSpPr>
        <p:spPr>
          <a:xfrm>
            <a:off x="762000" y="2921000"/>
            <a:ext cx="10668000" cy="1524000"/>
          </a:xfrm>
          <a:prstGeom prst="roundRect">
            <a:avLst>
              <a:gd name="adj" fmla="val 8333"/>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sp>
        <p:nvSpPr>
          <p:cNvPr id="8" name="AutoShape 8"/>
          <p:cNvSpPr/>
          <p:nvPr/>
        </p:nvSpPr>
        <p:spPr>
          <a:xfrm>
            <a:off x="1016000" y="3048000"/>
            <a:ext cx="1016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核心作用：监控与扩展</a:t>
            </a:r>
            <a:endParaRPr lang="en-US" sz="1100"/>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556000"/>
            <a:ext cx="304800" cy="304800"/>
          </a:xfrm>
          <a:prstGeom prst="rect">
            <a:avLst/>
          </a:prstGeom>
        </p:spPr>
      </p:pic>
      <p:sp>
        <p:nvSpPr>
          <p:cNvPr id="10" name="AutoShape 10"/>
          <p:cNvSpPr/>
          <p:nvPr/>
        </p:nvSpPr>
        <p:spPr>
          <a:xfrm>
            <a:off x="1397000" y="3530600"/>
            <a:ext cx="292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日志记录</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记录模型输入输出及耗时</a:t>
            </a:r>
            <a:endParaRPr lang="en-US" sz="1400" b="0" i="0" u="none" strike="noStrike">
              <a:solidFill>
                <a:srgbClr val="757575"/>
              </a:solidFill>
              <a:latin typeface="Noto Sans SC"/>
              <a:ea typeface="Noto Sans SC"/>
              <a:cs typeface="Noto Sans SC"/>
              <a:sym typeface="Noto Sans SC"/>
            </a:endParaR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445000" y="3556000"/>
            <a:ext cx="304800" cy="304800"/>
          </a:xfrm>
          <a:prstGeom prst="rect">
            <a:avLst/>
          </a:prstGeom>
        </p:spPr>
      </p:pic>
      <p:sp>
        <p:nvSpPr>
          <p:cNvPr id="12" name="AutoShape 12"/>
          <p:cNvSpPr/>
          <p:nvPr/>
        </p:nvSpPr>
        <p:spPr>
          <a:xfrm>
            <a:off x="4826000" y="3530600"/>
            <a:ext cx="292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监控报警</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实时监控性能，异常自动报警</a:t>
            </a:r>
            <a:endParaRPr lang="en-US" sz="1400" b="0" i="0" u="none" strike="noStrike">
              <a:solidFill>
                <a:srgbClr val="757575"/>
              </a:solidFill>
              <a:latin typeface="Noto Sans SC"/>
              <a:ea typeface="Noto Sans SC"/>
              <a:cs typeface="Noto Sans SC"/>
              <a:sym typeface="Noto Sans SC"/>
            </a:endParaR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874000" y="3556000"/>
            <a:ext cx="304800" cy="304800"/>
          </a:xfrm>
          <a:prstGeom prst="rect">
            <a:avLst/>
          </a:prstGeom>
        </p:spPr>
      </p:pic>
      <p:sp>
        <p:nvSpPr>
          <p:cNvPr id="14" name="AutoShape 14"/>
          <p:cNvSpPr/>
          <p:nvPr/>
        </p:nvSpPr>
        <p:spPr>
          <a:xfrm>
            <a:off x="8255000" y="3530600"/>
            <a:ext cx="292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流处理</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实时处理模型的流式输出数据</a:t>
            </a:r>
            <a:endParaRPr lang="en-US" sz="1400" b="0" i="0" u="none" strike="noStrike">
              <a:solidFill>
                <a:srgbClr val="757575"/>
              </a:solidFill>
              <a:latin typeface="Noto Sans SC"/>
              <a:ea typeface="Noto Sans SC"/>
              <a:cs typeface="Noto Sans SC"/>
              <a:sym typeface="Noto Sans SC"/>
            </a:endParaRPr>
          </a:p>
        </p:txBody>
      </p:sp>
      <p:sp>
        <p:nvSpPr>
          <p:cNvPr id="15" name="AutoShape 15"/>
          <p:cNvSpPr/>
          <p:nvPr/>
        </p:nvSpPr>
        <p:spPr>
          <a:xfrm>
            <a:off x="762000" y="4699000"/>
            <a:ext cx="10668000" cy="1270000"/>
          </a:xfrm>
          <a:prstGeom prst="roundRect">
            <a:avLst>
              <a:gd name="adj" fmla="val 10000"/>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sp>
        <p:nvSpPr>
          <p:cNvPr id="16" name="AutoShape 16"/>
          <p:cNvSpPr/>
          <p:nvPr/>
        </p:nvSpPr>
        <p:spPr>
          <a:xfrm>
            <a:off x="1016000" y="4826000"/>
            <a:ext cx="1016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常用回调处理器</a:t>
            </a:r>
            <a:endParaRPr lang="en-US" sz="1100"/>
          </a:p>
        </p:txBody>
      </p: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5334000"/>
            <a:ext cx="304800" cy="304800"/>
          </a:xfrm>
          <a:prstGeom prst="rect">
            <a:avLst/>
          </a:prstGeom>
        </p:spPr>
      </p:pic>
      <p:sp>
        <p:nvSpPr>
          <p:cNvPr id="18" name="AutoShape 18"/>
          <p:cNvSpPr/>
          <p:nvPr/>
        </p:nvSpPr>
        <p:spPr>
          <a:xfrm>
            <a:off x="1397000" y="53086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StdOutCallbackHandler</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将日志信息直接打印到控制台，便于快速调试。</a:t>
            </a:r>
            <a:endParaRPr lang="en-US" sz="1400" b="0" i="0" u="none" strike="noStrike">
              <a:solidFill>
                <a:srgbClr val="757575"/>
              </a:solidFill>
              <a:latin typeface="Noto Sans SC"/>
              <a:ea typeface="Noto Sans SC"/>
              <a:cs typeface="Noto Sans SC"/>
              <a:sym typeface="Noto Sans SC"/>
            </a:endParaRPr>
          </a:p>
        </p:txBody>
      </p:sp>
      <p:pic>
        <p:nvPicPr>
          <p:cNvPr id="19" name="Picture 19"/>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223000" y="5334000"/>
            <a:ext cx="304800" cy="304800"/>
          </a:xfrm>
          <a:prstGeom prst="rect">
            <a:avLst/>
          </a:prstGeom>
        </p:spPr>
      </p:pic>
      <p:sp>
        <p:nvSpPr>
          <p:cNvPr id="20" name="AutoShape 20"/>
          <p:cNvSpPr/>
          <p:nvPr/>
        </p:nvSpPr>
        <p:spPr>
          <a:xfrm>
            <a:off x="6604000" y="53086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LangChainTracer</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将日志发送至LangSmith平台，进行可视化调试和监控。</a:t>
            </a:r>
            <a:endParaRPr lang="en-US" sz="14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6705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StdOutCallbackHandler示例</a:t>
            </a:r>
            <a:endParaRPr lang="en-US" sz="1100"/>
          </a:p>
        </p:txBody>
      </p:sp>
      <p:sp>
        <p:nvSpPr>
          <p:cNvPr id="3" name="AutoShape 3"/>
          <p:cNvSpPr/>
          <p:nvPr/>
        </p:nvSpPr>
        <p:spPr>
          <a:xfrm>
            <a:off x="762000" y="1270000"/>
            <a:ext cx="5080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524000"/>
            <a:ext cx="406400" cy="406400"/>
          </a:xfrm>
          <a:prstGeom prst="rect">
            <a:avLst/>
          </a:prstGeom>
        </p:spPr>
      </p:pic>
      <p:sp>
        <p:nvSpPr>
          <p:cNvPr id="5" name="AutoShape 5"/>
          <p:cNvSpPr/>
          <p:nvPr/>
        </p:nvSpPr>
        <p:spPr>
          <a:xfrm>
            <a:off x="1524000" y="1460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核心作用</a:t>
            </a:r>
            <a:endParaRPr lang="en-US" sz="1100"/>
          </a:p>
        </p:txBody>
      </p:sp>
      <p:sp>
        <p:nvSpPr>
          <p:cNvPr id="6" name="AutoShape 6"/>
          <p:cNvSpPr/>
          <p:nvPr/>
        </p:nvSpPr>
        <p:spPr>
          <a:xfrm>
            <a:off x="1524000" y="1841500"/>
            <a:ext cx="406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将LLM应用在各个阶段的关键信息（如提示词、模型输出、执行时间）打印到标准输出，方便调试。</a:t>
            </a:r>
            <a:endParaRPr lang="en-US" sz="1100"/>
          </a:p>
        </p:txBody>
      </p:sp>
      <p:sp>
        <p:nvSpPr>
          <p:cNvPr id="7" name="AutoShape 7"/>
          <p:cNvSpPr/>
          <p:nvPr/>
        </p:nvSpPr>
        <p:spPr>
          <a:xfrm>
            <a:off x="762000" y="2921000"/>
            <a:ext cx="5080000" cy="2413000"/>
          </a:xfrm>
          <a:prstGeom prst="roundRect">
            <a:avLst>
              <a:gd name="adj" fmla="val 5263"/>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175000"/>
            <a:ext cx="406400" cy="406400"/>
          </a:xfrm>
          <a:prstGeom prst="rect">
            <a:avLst/>
          </a:prstGeom>
        </p:spPr>
      </p:pic>
      <p:sp>
        <p:nvSpPr>
          <p:cNvPr id="9" name="AutoShape 9"/>
          <p:cNvSpPr/>
          <p:nvPr/>
        </p:nvSpPr>
        <p:spPr>
          <a:xfrm>
            <a:off x="1524000" y="3111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代码实现</a:t>
            </a:r>
            <a:endParaRPr lang="en-US" sz="1100"/>
          </a:p>
        </p:txBody>
      </p:sp>
      <p:sp>
        <p:nvSpPr>
          <p:cNvPr id="10" name="AutoShape 10"/>
          <p:cNvSpPr/>
          <p:nvPr/>
        </p:nvSpPr>
        <p:spPr>
          <a:xfrm>
            <a:off x="1016000" y="3619500"/>
            <a:ext cx="4572000" cy="1460500"/>
          </a:xfrm>
          <a:prstGeom prst="roundRect">
            <a:avLst>
              <a:gd name="adj" fmla="val 0"/>
            </a:avLst>
          </a:prstGeom>
          <a:solidFill>
            <a:srgbClr val="F5F5F5">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1143000" y="3683000"/>
            <a:ext cx="4318000" cy="1333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555555"/>
                </a:solidFill>
                <a:latin typeface="Noto Sans SC"/>
                <a:ea typeface="Noto Sans SC"/>
                <a:cs typeface="Noto Sans SC"/>
                <a:sym typeface="Noto Sans SC"/>
              </a:rPr>
              <a:t># 导入必要的模块</a:t>
            </a:r>
            <a:endParaRPr lang="en-US" sz="1100"/>
          </a:p>
          <a:p>
            <a:pPr indent="0" algn="l">
              <a:lnSpc>
                <a:spcPct val="100000"/>
              </a:lnSpc>
            </a:pPr>
            <a:r>
              <a:rPr lang="en-US" sz="1200" b="0" i="0" u="none" strike="noStrike">
                <a:solidFill>
                  <a:srgbClr val="555555"/>
                </a:solidFill>
                <a:latin typeface="Noto Sans SC"/>
                <a:ea typeface="Noto Sans SC"/>
                <a:cs typeface="Noto Sans SC"/>
                <a:sym typeface="Noto Sans SC"/>
              </a:rPr>
              <a:t>from langchain.chains import LLMChain</a:t>
            </a:r>
            <a:endParaRPr lang="en-US" sz="1200" b="0" i="0" u="none" strike="noStrike">
              <a:solidFill>
                <a:srgbClr val="555555"/>
              </a:solidFill>
              <a:latin typeface="Noto Sans SC"/>
              <a:ea typeface="Noto Sans SC"/>
              <a:cs typeface="Noto Sans SC"/>
              <a:sym typeface="Noto Sans SC"/>
            </a:endParaRPr>
          </a:p>
          <a:p>
            <a:pPr indent="0" algn="l">
              <a:lnSpc>
                <a:spcPct val="100000"/>
              </a:lnSpc>
            </a:pPr>
            <a:r>
              <a:rPr lang="en-US" sz="1200" b="0" i="0" u="none" strike="noStrike">
                <a:solidFill>
                  <a:srgbClr val="555555"/>
                </a:solidFill>
                <a:latin typeface="Noto Sans SC"/>
                <a:ea typeface="Noto Sans SC"/>
                <a:cs typeface="Noto Sans SC"/>
                <a:sym typeface="Noto Sans SC"/>
              </a:rPr>
              <a:t>from langchain_core.callbacks import StdOutCallbackHandler</a:t>
            </a:r>
            <a:endParaRPr lang="en-US" sz="1200" b="0" i="0" u="none" strike="noStrike">
              <a:solidFill>
                <a:srgbClr val="555555"/>
              </a:solidFill>
              <a:latin typeface="Noto Sans SC"/>
              <a:ea typeface="Noto Sans SC"/>
              <a:cs typeface="Noto Sans SC"/>
              <a:sym typeface="Noto Sans SC"/>
            </a:endParaRPr>
          </a:p>
          <a:p>
            <a:pPr indent="0" algn="l">
              <a:lnSpc>
                <a:spcPct val="100000"/>
              </a:lnSpc>
            </a:pPr>
            <a:r>
              <a:rPr lang="en-US" sz="1200" b="0" i="0" u="none" strike="noStrike">
                <a:solidFill>
                  <a:srgbClr val="555555"/>
                </a:solidFill>
                <a:latin typeface="Noto Sans SC"/>
                <a:ea typeface="Noto Sans SC"/>
                <a:cs typeface="Noto Sans SC"/>
                <a:sym typeface="Noto Sans SC"/>
              </a:rPr>
              <a:t># 初始化链与模型...</a:t>
            </a:r>
            <a:endParaRPr lang="en-US" sz="1200" b="0" i="0" u="none" strike="noStrike">
              <a:solidFill>
                <a:srgbClr val="555555"/>
              </a:solidFill>
              <a:latin typeface="Noto Sans SC"/>
              <a:ea typeface="Noto Sans SC"/>
              <a:cs typeface="Noto Sans SC"/>
              <a:sym typeface="Noto Sans SC"/>
            </a:endParaRPr>
          </a:p>
          <a:p>
            <a:pPr indent="0" algn="l">
              <a:lnSpc>
                <a:spcPct val="100000"/>
              </a:lnSpc>
            </a:pPr>
            <a:r>
              <a:rPr lang="en-US" sz="1200" b="1" i="0" u="none" strike="noStrike">
                <a:solidFill>
                  <a:srgbClr val="FF9800"/>
                </a:solidFill>
                <a:latin typeface="Noto Sans SC"/>
                <a:ea typeface="Noto Sans SC"/>
                <a:cs typeface="Noto Sans SC"/>
                <a:sym typeface="Noto Sans SC"/>
              </a:rPr>
              <a:t>response = chain.run("文本", callbacks=[StdOutCallbackHandler()])</a:t>
            </a:r>
            <a:endParaRPr lang="en-US" sz="1200" b="1" i="0" u="none" strike="noStrike">
              <a:solidFill>
                <a:srgbClr val="FF9800"/>
              </a:solidFill>
              <a:latin typeface="Noto Sans SC"/>
              <a:ea typeface="Noto Sans SC"/>
              <a:cs typeface="Noto Sans SC"/>
              <a:sym typeface="Noto Sans SC"/>
            </a:endParaRPr>
          </a:p>
        </p:txBody>
      </p:sp>
      <p:sp>
        <p:nvSpPr>
          <p:cNvPr id="12" name="AutoShape 12"/>
          <p:cNvSpPr/>
          <p:nvPr/>
        </p:nvSpPr>
        <p:spPr>
          <a:xfrm>
            <a:off x="6350000" y="1270000"/>
            <a:ext cx="5080000" cy="4064000"/>
          </a:xfrm>
          <a:prstGeom prst="roundRect">
            <a:avLst>
              <a:gd name="adj" fmla="val 312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04000" y="1524000"/>
            <a:ext cx="406400" cy="406400"/>
          </a:xfrm>
          <a:prstGeom prst="rect">
            <a:avLst/>
          </a:prstGeom>
        </p:spPr>
      </p:pic>
      <p:sp>
        <p:nvSpPr>
          <p:cNvPr id="14" name="AutoShape 14"/>
          <p:cNvSpPr/>
          <p:nvPr/>
        </p:nvSpPr>
        <p:spPr>
          <a:xfrm>
            <a:off x="7112000" y="1460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控制台输出效果</a:t>
            </a:r>
            <a:endParaRPr lang="en-US" sz="1100"/>
          </a:p>
        </p:txBody>
      </p:sp>
      <p:sp>
        <p:nvSpPr>
          <p:cNvPr id="15" name="AutoShape 15"/>
          <p:cNvSpPr/>
          <p:nvPr/>
        </p:nvSpPr>
        <p:spPr>
          <a:xfrm>
            <a:off x="6604000" y="1968500"/>
            <a:ext cx="4572000" cy="3111500"/>
          </a:xfrm>
          <a:prstGeom prst="roundRect">
            <a:avLst>
              <a:gd name="adj" fmla="val 0"/>
            </a:avLst>
          </a:prstGeom>
          <a:solidFill>
            <a:srgbClr val="1E1E1E">
              <a:alpha val="100000"/>
            </a:srgbClr>
          </a:solidFill>
          <a:ln w="12700" cap="flat" cmpd="sng">
            <a:solidFill>
              <a:srgbClr val="424242">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6604000" y="1968500"/>
            <a:ext cx="4572000" cy="304800"/>
          </a:xfrm>
          <a:prstGeom prst="roundRect">
            <a:avLst>
              <a:gd name="adj" fmla="val 0"/>
            </a:avLst>
          </a:prstGeom>
          <a:solidFill>
            <a:srgbClr val="42424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731000" y="2070100"/>
            <a:ext cx="127000" cy="127000"/>
          </a:xfrm>
          <a:prstGeom prst="ellipse">
            <a:avLst/>
          </a:prstGeom>
          <a:solidFill>
            <a:srgbClr val="FF5F5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921500" y="2070100"/>
            <a:ext cx="127000" cy="127000"/>
          </a:xfrm>
          <a:prstGeom prst="ellipse">
            <a:avLst/>
          </a:prstGeom>
          <a:solidFill>
            <a:srgbClr val="FFBD2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7112000" y="2070100"/>
            <a:ext cx="127000" cy="127000"/>
          </a:xfrm>
          <a:prstGeom prst="ellipse">
            <a:avLst/>
          </a:prstGeom>
          <a:solidFill>
            <a:srgbClr val="27C93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6731000" y="2349500"/>
            <a:ext cx="4318000" cy="2603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B0B0B0"/>
                </a:solidFill>
                <a:latin typeface="Noto Sans SC"/>
                <a:ea typeface="Noto Sans SC"/>
                <a:cs typeface="Noto Sans SC"/>
                <a:sym typeface="Noto Sans SC"/>
              </a:rPr>
              <a:t>&gt; Entering new LLMChain chain...</a:t>
            </a:r>
            <a:endParaRPr lang="en-US" sz="1100"/>
          </a:p>
          <a:p>
            <a:pPr indent="0" algn="l">
              <a:lnSpc>
                <a:spcPct val="108000"/>
              </a:lnSpc>
            </a:pPr>
            <a:r>
              <a:rPr lang="en-US" sz="1300" b="0" i="0" u="none" strike="noStrike">
                <a:solidFill>
                  <a:srgbClr val="B0B0B0"/>
                </a:solidFill>
                <a:latin typeface="Noto Sans SC"/>
                <a:ea typeface="Noto Sans SC"/>
                <a:cs typeface="Noto Sans SC"/>
                <a:sym typeface="Noto Sans SC"/>
              </a:rPr>
              <a:t>Prompt after formatting:</a:t>
            </a:r>
            <a:endParaRPr lang="en-US" sz="1300" b="0" i="0" u="none" strike="noStrike">
              <a:solidFill>
                <a:srgbClr val="B0B0B0"/>
              </a:solidFill>
              <a:latin typeface="Noto Sans SC"/>
              <a:ea typeface="Noto Sans SC"/>
              <a:cs typeface="Noto Sans SC"/>
              <a:sym typeface="Noto Sans SC"/>
            </a:endParaRPr>
          </a:p>
          <a:p>
            <a:pPr indent="0" algn="l">
              <a:lnSpc>
                <a:spcPct val="108000"/>
              </a:lnSpc>
            </a:pPr>
            <a:r>
              <a:rPr lang="en-US" sz="1300" b="1" i="0" u="none" strike="noStrike">
                <a:solidFill>
                  <a:srgbClr val="FF9800"/>
                </a:solidFill>
                <a:latin typeface="Noto Sans SC"/>
                <a:ea typeface="Noto Sans SC"/>
                <a:cs typeface="Noto Sans SC"/>
                <a:sym typeface="Noto Sans SC"/>
              </a:rPr>
              <a:t>请总结：这是一段文本</a:t>
            </a:r>
            <a:endParaRPr lang="en-US" sz="1300" b="1" i="0" u="none" strike="noStrike">
              <a:solidFill>
                <a:srgbClr val="FF9800"/>
              </a:solidFill>
              <a:latin typeface="Noto Sans SC"/>
              <a:ea typeface="Noto Sans SC"/>
              <a:cs typeface="Noto Sans SC"/>
              <a:sym typeface="Noto Sans SC"/>
            </a:endParaRPr>
          </a:p>
          <a:p>
            <a:pPr indent="0" algn="l">
              <a:lnSpc>
                <a:spcPct val="108000"/>
              </a:lnSpc>
            </a:pPr>
          </a:p>
          <a:p>
            <a:pPr indent="0" algn="l">
              <a:lnSpc>
                <a:spcPct val="108000"/>
              </a:lnSpc>
            </a:pPr>
            <a:r>
              <a:rPr lang="en-US" sz="1300" b="0" i="0" u="none" strike="noStrike">
                <a:solidFill>
                  <a:srgbClr val="B0B0B0"/>
                </a:solidFill>
                <a:latin typeface="Noto Sans SC"/>
                <a:ea typeface="Noto Sans SC"/>
                <a:cs typeface="Noto Sans SC"/>
                <a:sym typeface="Noto Sans SC"/>
              </a:rPr>
              <a:t>&gt; Finished chain.</a:t>
            </a:r>
            <a:endParaRPr lang="en-US" sz="1300" b="0" i="0" u="none" strike="noStrike">
              <a:solidFill>
                <a:srgbClr val="B0B0B0"/>
              </a:solidFill>
              <a:latin typeface="Noto Sans SC"/>
              <a:ea typeface="Noto Sans SC"/>
              <a:cs typeface="Noto Sans SC"/>
              <a:sym typeface="Noto Sans SC"/>
            </a:endParaRPr>
          </a:p>
          <a:p>
            <a:pPr indent="0" algn="l">
              <a:lnSpc>
                <a:spcPct val="108000"/>
              </a:lnSpc>
            </a:pPr>
            <a:r>
              <a:rPr lang="en-US" sz="1300" b="0" i="0" u="none" strike="noStrike">
                <a:solidFill>
                  <a:srgbClr val="B0B0B0"/>
                </a:solidFill>
                <a:latin typeface="Noto Sans SC"/>
                <a:ea typeface="Noto Sans SC"/>
                <a:cs typeface="Noto Sans SC"/>
                <a:sym typeface="Noto Sans SC"/>
              </a:rPr>
              <a:t>输出结果：</a:t>
            </a:r>
            <a:r>
              <a:rPr lang="en-US" sz="1300" b="0" i="0" u="none" strike="noStrike">
                <a:solidFill>
                  <a:srgbClr val="4CAF50"/>
                </a:solidFill>
                <a:latin typeface="Noto Sans SC"/>
                <a:ea typeface="Noto Sans SC"/>
                <a:cs typeface="Noto Sans SC"/>
                <a:sym typeface="Noto Sans SC"/>
              </a:rPr>
              <a:t>这是一段需要总结的文本。</a:t>
            </a:r>
            <a:endParaRPr lang="en-US" sz="1300" b="0" i="0" u="none" strike="noStrike">
              <a:solidFill>
                <a:srgbClr val="4CAF50"/>
              </a:solidFill>
              <a:latin typeface="Noto Sans SC"/>
              <a:ea typeface="Noto Sans SC"/>
              <a:cs typeface="Noto Sans SC"/>
              <a:sym typeface="Noto Sans SC"/>
            </a:endParaRPr>
          </a:p>
        </p:txBody>
      </p:sp>
      <p:sp>
        <p:nvSpPr>
          <p:cNvPr id="21" name="AutoShape 21"/>
          <p:cNvSpPr/>
          <p:nvPr/>
        </p:nvSpPr>
        <p:spPr>
          <a:xfrm>
            <a:off x="762000" y="6096000"/>
            <a:ext cx="10668000" cy="508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359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自定义回调处理器示例</a:t>
            </a:r>
            <a:endParaRPr lang="en-US" sz="1100"/>
          </a:p>
        </p:txBody>
      </p:sp>
      <p:sp>
        <p:nvSpPr>
          <p:cNvPr id="3" name="AutoShape 3"/>
          <p:cNvSpPr/>
          <p:nvPr/>
        </p:nvSpPr>
        <p:spPr>
          <a:xfrm>
            <a:off x="762000" y="1270000"/>
            <a:ext cx="4572000" cy="3810000"/>
          </a:xfrm>
          <a:prstGeom prst="roundRect">
            <a:avLst>
              <a:gd name="adj" fmla="val 3333"/>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016000" y="15240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核心原理与步骤</a:t>
            </a:r>
            <a:endParaRPr lang="en-US" sz="1100"/>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095500"/>
            <a:ext cx="304800" cy="304800"/>
          </a:xfrm>
          <a:prstGeom prst="rect">
            <a:avLst/>
          </a:prstGeom>
        </p:spPr>
      </p:pic>
      <p:sp>
        <p:nvSpPr>
          <p:cNvPr id="6" name="AutoShape 6"/>
          <p:cNvSpPr/>
          <p:nvPr/>
        </p:nvSpPr>
        <p:spPr>
          <a:xfrm>
            <a:off x="1397000" y="2032000"/>
            <a:ext cx="3683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757575"/>
                </a:solidFill>
                <a:latin typeface="Noto Sans SC"/>
                <a:ea typeface="Noto Sans SC"/>
                <a:cs typeface="Noto Sans SC"/>
                <a:sym typeface="Noto Sans SC"/>
              </a:rPr>
              <a:t>继承基类</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继承</a:t>
            </a:r>
            <a:r>
              <a:rPr lang="en-US" sz="1400" b="0" i="0" u="none" strike="noStrike">
                <a:solidFill>
                  <a:srgbClr val="0277BD"/>
                </a:solidFill>
                <a:latin typeface="Noto Sans SC"/>
                <a:ea typeface="Noto Sans SC"/>
                <a:cs typeface="Noto Sans SC"/>
                <a:sym typeface="Noto Sans SC"/>
              </a:rPr>
              <a:t>BaseCallbackHandler</a:t>
            </a:r>
            <a:r>
              <a:rPr lang="en-US" sz="1400" b="0" i="0" u="none" strike="noStrike">
                <a:solidFill>
                  <a:srgbClr val="757575"/>
                </a:solidFill>
                <a:latin typeface="Noto Sans SC"/>
                <a:ea typeface="Noto Sans SC"/>
                <a:cs typeface="Noto Sans SC"/>
                <a:sym typeface="Noto Sans SC"/>
              </a:rPr>
              <a:t>类，这是所有自定义处理器的基础。</a:t>
            </a:r>
            <a:endParaRPr lang="en-US" sz="1400" b="0" i="0" u="none" strike="noStrike">
              <a:solidFill>
                <a:srgbClr val="757575"/>
              </a:solidFill>
              <a:latin typeface="Noto Sans SC"/>
              <a:ea typeface="Noto Sans SC"/>
              <a:cs typeface="Noto Sans SC"/>
              <a:sym typeface="Noto Sans SC"/>
            </a:endParaR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857500"/>
            <a:ext cx="304800" cy="304800"/>
          </a:xfrm>
          <a:prstGeom prst="rect">
            <a:avLst/>
          </a:prstGeom>
        </p:spPr>
      </p:pic>
      <p:sp>
        <p:nvSpPr>
          <p:cNvPr id="8" name="AutoShape 8"/>
          <p:cNvSpPr/>
          <p:nvPr/>
        </p:nvSpPr>
        <p:spPr>
          <a:xfrm>
            <a:off x="1397000" y="2794000"/>
            <a:ext cx="3683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757575"/>
                </a:solidFill>
                <a:latin typeface="Noto Sans SC"/>
                <a:ea typeface="Noto Sans SC"/>
                <a:cs typeface="Noto Sans SC"/>
                <a:sym typeface="Noto Sans SC"/>
              </a:rPr>
              <a:t>实现回调方法</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根据需求重写特定钩子，如</a:t>
            </a:r>
            <a:r>
              <a:rPr lang="en-US" sz="1400" b="0" i="0" u="none" strike="noStrike">
                <a:solidFill>
                  <a:srgbClr val="0277BD"/>
                </a:solidFill>
                <a:latin typeface="Noto Sans SC"/>
                <a:ea typeface="Noto Sans SC"/>
                <a:cs typeface="Noto Sans SC"/>
                <a:sym typeface="Noto Sans SC"/>
              </a:rPr>
              <a:t>on_llm_start</a:t>
            </a:r>
            <a:r>
              <a:rPr lang="en-US" sz="1400" b="0" i="0" u="none" strike="noStrike">
                <a:solidFill>
                  <a:srgbClr val="757575"/>
                </a:solidFill>
                <a:latin typeface="Noto Sans SC"/>
                <a:ea typeface="Noto Sans SC"/>
                <a:cs typeface="Noto Sans SC"/>
                <a:sym typeface="Noto Sans SC"/>
              </a:rPr>
              <a:t>或</a:t>
            </a:r>
            <a:r>
              <a:rPr lang="en-US" sz="1400" b="0" i="0" u="none" strike="noStrike">
                <a:solidFill>
                  <a:srgbClr val="0277BD"/>
                </a:solidFill>
                <a:latin typeface="Noto Sans SC"/>
                <a:ea typeface="Noto Sans SC"/>
                <a:cs typeface="Noto Sans SC"/>
                <a:sym typeface="Noto Sans SC"/>
              </a:rPr>
              <a:t>on_llm_end</a:t>
            </a:r>
            <a:r>
              <a:rPr lang="en-US" sz="1400" b="0" i="0" u="none" strike="noStrike">
                <a:solidFill>
                  <a:srgbClr val="757575"/>
                </a:solidFill>
                <a:latin typeface="Noto Sans SC"/>
                <a:ea typeface="Noto Sans SC"/>
                <a:cs typeface="Noto Sans SC"/>
                <a:sym typeface="Noto Sans SC"/>
              </a:rPr>
              <a:t>。</a:t>
            </a:r>
            <a:endParaRPr lang="en-US" sz="1400" b="0" i="0" u="none" strike="noStrike">
              <a:solidFill>
                <a:srgbClr val="757575"/>
              </a:solidFill>
              <a:latin typeface="Noto Sans SC"/>
              <a:ea typeface="Noto Sans SC"/>
              <a:cs typeface="Noto Sans SC"/>
              <a:sym typeface="Noto Sans SC"/>
            </a:endParaR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619500"/>
            <a:ext cx="304800" cy="304800"/>
          </a:xfrm>
          <a:prstGeom prst="rect">
            <a:avLst/>
          </a:prstGeom>
        </p:spPr>
      </p:pic>
      <p:sp>
        <p:nvSpPr>
          <p:cNvPr id="10" name="AutoShape 10"/>
          <p:cNvSpPr/>
          <p:nvPr/>
        </p:nvSpPr>
        <p:spPr>
          <a:xfrm>
            <a:off x="1397000" y="3556000"/>
            <a:ext cx="3683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757575"/>
                </a:solidFill>
                <a:latin typeface="Noto Sans SC"/>
                <a:ea typeface="Noto Sans SC"/>
                <a:cs typeface="Noto Sans SC"/>
                <a:sym typeface="Noto Sans SC"/>
              </a:rPr>
              <a:t>灵活扩展</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在方法中添加自定义逻辑，如日志记录、性能监控或数据统计。</a:t>
            </a:r>
            <a:endParaRPr lang="en-US" sz="1400" b="0" i="0" u="none" strike="noStrike">
              <a:solidFill>
                <a:srgbClr val="757575"/>
              </a:solidFill>
              <a:latin typeface="Noto Sans SC"/>
              <a:ea typeface="Noto Sans SC"/>
              <a:cs typeface="Noto Sans SC"/>
              <a:sym typeface="Noto Sans SC"/>
            </a:endParaRPr>
          </a:p>
        </p:txBody>
      </p:sp>
      <p:sp>
        <p:nvSpPr>
          <p:cNvPr id="11" name="AutoShape 11"/>
          <p:cNvSpPr/>
          <p:nvPr/>
        </p:nvSpPr>
        <p:spPr>
          <a:xfrm>
            <a:off x="5588000" y="1270000"/>
            <a:ext cx="5842000" cy="3810000"/>
          </a:xfrm>
          <a:prstGeom prst="roundRect">
            <a:avLst>
              <a:gd name="adj" fmla="val 3333"/>
            </a:avLst>
          </a:prstGeom>
          <a:solidFill>
            <a:srgbClr val="1E1E1E">
              <a:alpha val="100000"/>
            </a:srgbClr>
          </a:solidFill>
          <a:ln w="25400" cap="flat" cmpd="sng">
            <a:noFill/>
            <a:prstDash val="solid"/>
            <a:round/>
          </a:ln>
          <a:effectLst>
            <a:outerShdw blurRad="127000" dist="50800" dir="5400000" algn="tl" rotWithShape="0">
              <a:srgbClr val="000000">
                <a:alpha val="20000"/>
              </a:srgbClr>
            </a:outerShdw>
          </a:effectLst>
        </p:spPr>
        <p:txBody>
          <a:bodyPr vert="horz" wrap="square" lIns="63500" tIns="63500" rIns="63500" bIns="63500" rtlCol="0" anchor="ctr"/>
          <a:lstStyle/>
          <a:p>
            <a:pPr algn="ctr">
              <a:defRPr/>
            </a:pPr>
          </a:p>
        </p:txBody>
      </p:sp>
      <p:sp>
        <p:nvSpPr>
          <p:cNvPr id="12" name="AutoShape 12"/>
          <p:cNvSpPr/>
          <p:nvPr/>
        </p:nvSpPr>
        <p:spPr>
          <a:xfrm>
            <a:off x="5588000" y="1270000"/>
            <a:ext cx="5842000" cy="381000"/>
          </a:xfrm>
          <a:prstGeom prst="roundRect">
            <a:avLst>
              <a:gd name="adj" fmla="val 0"/>
            </a:avLst>
          </a:prstGeom>
          <a:solidFill>
            <a:srgbClr val="32323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5715000" y="1295400"/>
            <a:ext cx="5588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B4B4B4"/>
                </a:solidFill>
                <a:latin typeface="Noto Sans SC"/>
                <a:ea typeface="Noto Sans SC"/>
                <a:cs typeface="Noto Sans SC"/>
                <a:sym typeface="Noto Sans SC"/>
              </a:rPr>
              <a:t>custom_handler.py</a:t>
            </a:r>
            <a:endParaRPr lang="en-US" sz="1100"/>
          </a:p>
        </p:txBody>
      </p:sp>
      <p:sp>
        <p:nvSpPr>
          <p:cNvPr id="14" name="AutoShape 14"/>
          <p:cNvSpPr/>
          <p:nvPr/>
        </p:nvSpPr>
        <p:spPr>
          <a:xfrm>
            <a:off x="5778500" y="1778000"/>
            <a:ext cx="5461000" cy="304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C678DD"/>
                </a:solidFill>
                <a:latin typeface="Source Code Pro"/>
                <a:ea typeface="Source Code Pro"/>
                <a:cs typeface="Source Code Pro"/>
                <a:sym typeface="Source Code Pro"/>
              </a:rPr>
              <a:t>from</a:t>
            </a:r>
            <a:r>
              <a:rPr lang="en-US" sz="1300" b="0" i="0" u="none" strike="noStrike">
                <a:solidFill>
                  <a:srgbClr val="DCDFE4"/>
                </a:solidFill>
                <a:latin typeface="Source Code Pro"/>
                <a:ea typeface="Source Code Pro"/>
                <a:cs typeface="Source Code Pro"/>
                <a:sym typeface="Source Code Pro"/>
              </a:rPr>
              <a:t>langchain_core.callbacks</a:t>
            </a:r>
            <a:r>
              <a:rPr lang="en-US" sz="1300" b="0" i="0" u="none" strike="noStrike">
                <a:solidFill>
                  <a:srgbClr val="C678DD"/>
                </a:solidFill>
                <a:latin typeface="Source Code Pro"/>
                <a:ea typeface="Source Code Pro"/>
                <a:cs typeface="Source Code Pro"/>
                <a:sym typeface="Source Code Pro"/>
              </a:rPr>
              <a:t>import</a:t>
            </a:r>
            <a:r>
              <a:rPr lang="en-US" sz="1300" b="0" i="0" u="none" strike="noStrike">
                <a:solidFill>
                  <a:srgbClr val="DCDFE4"/>
                </a:solidFill>
                <a:latin typeface="Source Code Pro"/>
                <a:ea typeface="Source Code Pro"/>
                <a:cs typeface="Source Code Pro"/>
                <a:sym typeface="Source Code Pro"/>
              </a:rPr>
              <a:t>BaseCallbackHandler</a:t>
            </a:r>
            <a:endParaRPr lang="en-US" sz="1100"/>
          </a:p>
          <a:p>
            <a:pPr indent="0" algn="l">
              <a:lnSpc>
                <a:spcPct val="100000"/>
              </a:lnSpc>
            </a:pPr>
          </a:p>
          <a:p>
            <a:pPr indent="0" algn="l">
              <a:lnSpc>
                <a:spcPct val="100000"/>
              </a:lnSpc>
            </a:pPr>
            <a:r>
              <a:rPr lang="en-US" sz="1300" b="0" i="0" u="none" strike="noStrike">
                <a:solidFill>
                  <a:srgbClr val="C678DD"/>
                </a:solidFill>
                <a:latin typeface="Source Code Pro"/>
                <a:ea typeface="Source Code Pro"/>
                <a:cs typeface="Source Code Pro"/>
                <a:sym typeface="Source Code Pro"/>
              </a:rPr>
              <a:t>class</a:t>
            </a:r>
            <a:r>
              <a:rPr lang="en-US" sz="1300" b="0" i="0" u="none" strike="noStrike">
                <a:solidFill>
                  <a:srgbClr val="E5C07B"/>
                </a:solidFill>
                <a:latin typeface="Source Code Pro"/>
                <a:ea typeface="Source Code Pro"/>
                <a:cs typeface="Source Code Pro"/>
                <a:sym typeface="Source Code Pro"/>
              </a:rPr>
              <a:t>CustomCallbackHandler</a:t>
            </a:r>
            <a:r>
              <a:rPr lang="en-US" sz="1300" b="0" i="0" u="none" strike="noStrike">
                <a:solidFill>
                  <a:srgbClr val="DCDFE4"/>
                </a:solidFill>
                <a:latin typeface="Source Code Pro"/>
                <a:ea typeface="Source Code Pro"/>
                <a:cs typeface="Source Code Pro"/>
                <a:sym typeface="Source Code Pro"/>
              </a:rPr>
              <a:t>(BaseCallbackHandler):</a:t>
            </a:r>
            <a:endParaRPr lang="en-US" sz="1300" b="0" i="0" u="none" strike="noStrike">
              <a:solidFill>
                <a:srgbClr val="DCDFE4"/>
              </a:solidFill>
              <a:latin typeface="Source Code Pro"/>
              <a:ea typeface="Source Code Pro"/>
              <a:cs typeface="Source Code Pro"/>
              <a:sym typeface="Source Code Pro"/>
            </a:endParaRPr>
          </a:p>
          <a:p>
            <a:pPr indent="0" algn="l">
              <a:lnSpc>
                <a:spcPct val="100000"/>
              </a:lnSpc>
            </a:pPr>
            <a:r>
              <a:rPr lang="en-US" sz="1300" b="0" i="0" u="none" strike="noStrike">
                <a:solidFill>
                  <a:srgbClr val="C678DD"/>
                </a:solidFill>
                <a:latin typeface="Source Code Pro"/>
                <a:ea typeface="Source Code Pro"/>
                <a:cs typeface="Source Code Pro"/>
                <a:sym typeface="Source Code Pro"/>
              </a:rPr>
              <a:t>def</a:t>
            </a:r>
            <a:r>
              <a:rPr lang="en-US" sz="1300" b="0" i="0" u="none" strike="noStrike">
                <a:solidFill>
                  <a:srgbClr val="61AFEF"/>
                </a:solidFill>
                <a:latin typeface="Source Code Pro"/>
                <a:ea typeface="Source Code Pro"/>
                <a:cs typeface="Source Code Pro"/>
                <a:sym typeface="Source Code Pro"/>
              </a:rPr>
              <a:t>__init__</a:t>
            </a:r>
            <a:r>
              <a:rPr lang="en-US" sz="1300" b="0" i="0" u="none" strike="noStrike">
                <a:solidFill>
                  <a:srgbClr val="DCDFE4"/>
                </a:solidFill>
                <a:latin typeface="Source Code Pro"/>
                <a:ea typeface="Source Code Pro"/>
                <a:cs typeface="Source Code Pro"/>
                <a:sym typeface="Source Code Pro"/>
              </a:rPr>
              <a:t>(self):</a:t>
            </a:r>
            <a:endParaRPr lang="en-US" sz="1300" b="0" i="0" u="none" strike="noStrike">
              <a:solidFill>
                <a:srgbClr val="DCDFE4"/>
              </a:solidFill>
              <a:latin typeface="Source Code Pro"/>
              <a:ea typeface="Source Code Pro"/>
              <a:cs typeface="Source Code Pro"/>
              <a:sym typeface="Source Code Pro"/>
            </a:endParaRPr>
          </a:p>
          <a:p>
            <a:pPr indent="0" algn="l">
              <a:lnSpc>
                <a:spcPct val="100000"/>
              </a:lnSpc>
            </a:pPr>
            <a:r>
              <a:rPr lang="en-US" sz="1300" b="0" i="0" u="none" strike="noStrike">
                <a:solidFill>
                  <a:srgbClr val="DCDFE4"/>
                </a:solidFill>
                <a:latin typeface="Source Code Pro"/>
                <a:ea typeface="Source Code Pro"/>
                <a:cs typeface="Source Code Pro"/>
                <a:sym typeface="Source Code Pro"/>
              </a:rPr>
              <a:t>self.call_count =</a:t>
            </a:r>
            <a:r>
              <a:rPr lang="en-US" sz="1300" b="0" i="0" u="none" strike="noStrike">
                <a:solidFill>
                  <a:srgbClr val="D19A66"/>
                </a:solidFill>
                <a:latin typeface="Source Code Pro"/>
                <a:ea typeface="Source Code Pro"/>
                <a:cs typeface="Source Code Pro"/>
                <a:sym typeface="Source Code Pro"/>
              </a:rPr>
              <a:t>0</a:t>
            </a:r>
            <a:endParaRPr lang="en-US" sz="1300" b="0" i="0" u="none" strike="noStrike">
              <a:solidFill>
                <a:srgbClr val="D19A66"/>
              </a:solidFill>
              <a:latin typeface="Source Code Pro"/>
              <a:ea typeface="Source Code Pro"/>
              <a:cs typeface="Source Code Pro"/>
              <a:sym typeface="Source Code Pro"/>
            </a:endParaRPr>
          </a:p>
          <a:p>
            <a:pPr indent="0" algn="l">
              <a:lnSpc>
                <a:spcPct val="100000"/>
              </a:lnSpc>
            </a:pPr>
          </a:p>
          <a:p>
            <a:pPr indent="0" algn="l">
              <a:lnSpc>
                <a:spcPct val="100000"/>
              </a:lnSpc>
            </a:pPr>
            <a:r>
              <a:rPr lang="en-US" sz="1300" b="0" i="0" u="none" strike="noStrike">
                <a:solidFill>
                  <a:srgbClr val="C678DD"/>
                </a:solidFill>
                <a:latin typeface="Source Code Pro"/>
                <a:ea typeface="Source Code Pro"/>
                <a:cs typeface="Source Code Pro"/>
                <a:sym typeface="Source Code Pro"/>
              </a:rPr>
              <a:t>def</a:t>
            </a:r>
            <a:r>
              <a:rPr lang="en-US" sz="1300" b="0" i="0" u="none" strike="noStrike">
                <a:solidFill>
                  <a:srgbClr val="61AFEF"/>
                </a:solidFill>
                <a:latin typeface="Source Code Pro"/>
                <a:ea typeface="Source Code Pro"/>
                <a:cs typeface="Source Code Pro"/>
                <a:sym typeface="Source Code Pro"/>
              </a:rPr>
              <a:t>on_llm_start</a:t>
            </a:r>
            <a:r>
              <a:rPr lang="en-US" sz="1300" b="0" i="0" u="none" strike="noStrike">
                <a:solidFill>
                  <a:srgbClr val="DCDFE4"/>
                </a:solidFill>
                <a:latin typeface="Source Code Pro"/>
                <a:ea typeface="Source Code Pro"/>
                <a:cs typeface="Source Code Pro"/>
                <a:sym typeface="Source Code Pro"/>
              </a:rPr>
              <a:t>(self, serialized, prompts, **kwargs):</a:t>
            </a:r>
            <a:endParaRPr lang="en-US" sz="1300" b="0" i="0" u="none" strike="noStrike">
              <a:solidFill>
                <a:srgbClr val="DCDFE4"/>
              </a:solidFill>
              <a:latin typeface="Source Code Pro"/>
              <a:ea typeface="Source Code Pro"/>
              <a:cs typeface="Source Code Pro"/>
              <a:sym typeface="Source Code Pro"/>
            </a:endParaRPr>
          </a:p>
          <a:p>
            <a:pPr indent="0" algn="l">
              <a:lnSpc>
                <a:spcPct val="100000"/>
              </a:lnSpc>
            </a:pPr>
            <a:r>
              <a:rPr lang="en-US" sz="1300" b="0" i="0" u="none" strike="noStrike">
                <a:solidFill>
                  <a:srgbClr val="DCDFE4"/>
                </a:solidFill>
                <a:latin typeface="Source Code Pro"/>
                <a:ea typeface="Source Code Pro"/>
                <a:cs typeface="Source Code Pro"/>
                <a:sym typeface="Source Code Pro"/>
              </a:rPr>
              <a:t>self.call_count +=</a:t>
            </a:r>
            <a:r>
              <a:rPr lang="en-US" sz="1300" b="0" i="0" u="none" strike="noStrike">
                <a:solidFill>
                  <a:srgbClr val="D19A66"/>
                </a:solidFill>
                <a:latin typeface="Source Code Pro"/>
                <a:ea typeface="Source Code Pro"/>
                <a:cs typeface="Source Code Pro"/>
                <a:sym typeface="Source Code Pro"/>
              </a:rPr>
              <a:t>1</a:t>
            </a:r>
            <a:endParaRPr lang="en-US" sz="1300" b="0" i="0" u="none" strike="noStrike">
              <a:solidFill>
                <a:srgbClr val="D19A66"/>
              </a:solidFill>
              <a:latin typeface="Source Code Pro"/>
              <a:ea typeface="Source Code Pro"/>
              <a:cs typeface="Source Code Pro"/>
              <a:sym typeface="Source Code Pro"/>
            </a:endParaRPr>
          </a:p>
          <a:p>
            <a:pPr indent="0" algn="l">
              <a:lnSpc>
                <a:spcPct val="100000"/>
              </a:lnSpc>
            </a:pPr>
            <a:r>
              <a:rPr lang="en-US" sz="1300" b="0" i="0" u="none" strike="noStrike">
                <a:solidFill>
                  <a:srgbClr val="56B6C2"/>
                </a:solidFill>
                <a:latin typeface="Source Code Pro"/>
                <a:ea typeface="Source Code Pro"/>
                <a:cs typeface="Source Code Pro"/>
                <a:sym typeface="Source Code Pro"/>
              </a:rPr>
              <a:t>print</a:t>
            </a:r>
            <a:r>
              <a:rPr lang="en-US" sz="1300" b="0" i="0" u="none" strike="noStrike">
                <a:solidFill>
                  <a:srgbClr val="DCDFE4"/>
                </a:solidFill>
                <a:latin typeface="Source Code Pro"/>
                <a:ea typeface="Source Code Pro"/>
                <a:cs typeface="Source Code Pro"/>
                <a:sym typeface="Source Code Pro"/>
              </a:rPr>
              <a:t>(</a:t>
            </a:r>
            <a:r>
              <a:rPr lang="en-US" sz="1300" b="0" i="0" u="none" strike="noStrike">
                <a:solidFill>
                  <a:srgbClr val="98C379"/>
                </a:solidFill>
                <a:latin typeface="Source Code Pro"/>
                <a:ea typeface="Source Code Pro"/>
                <a:cs typeface="Source Code Pro"/>
                <a:sym typeface="Source Code Pro"/>
              </a:rPr>
              <a:t>f"LLM调用次数: {self.call_count}"</a:t>
            </a:r>
            <a:r>
              <a:rPr lang="en-US" sz="1300" b="0" i="0" u="none" strike="noStrike">
                <a:solidFill>
                  <a:srgbClr val="DCDFE4"/>
                </a:solidFill>
                <a:latin typeface="Source Code Pro"/>
                <a:ea typeface="Source Code Pro"/>
                <a:cs typeface="Source Code Pro"/>
                <a:sym typeface="Source Code Pro"/>
              </a:rPr>
              <a:t>)</a:t>
            </a:r>
            <a:endParaRPr lang="en-US" sz="1300" b="0" i="0" u="none" strike="noStrike">
              <a:solidFill>
                <a:srgbClr val="DCDFE4"/>
              </a:solidFill>
              <a:latin typeface="Source Code Pro"/>
              <a:ea typeface="Source Code Pro"/>
              <a:cs typeface="Source Code Pro"/>
              <a:sym typeface="Source Code Pro"/>
            </a:endParaRPr>
          </a:p>
          <a:p>
            <a:pPr indent="0" algn="l">
              <a:lnSpc>
                <a:spcPct val="100000"/>
              </a:lnSpc>
            </a:pPr>
          </a:p>
          <a:p>
            <a:pPr indent="0" algn="l">
              <a:lnSpc>
                <a:spcPct val="100000"/>
              </a:lnSpc>
            </a:pPr>
            <a:r>
              <a:rPr lang="en-US" sz="1300" b="0" i="0" u="none" strike="noStrike">
                <a:solidFill>
                  <a:srgbClr val="5C6370"/>
                </a:solidFill>
                <a:latin typeface="Source Code Pro"/>
                <a:ea typeface="Source Code Pro"/>
                <a:cs typeface="Source Code Pro"/>
                <a:sym typeface="Source Code Pro"/>
              </a:rPr>
              <a:t># 使用自定义处理器</a:t>
            </a:r>
            <a:endParaRPr lang="en-US" sz="1300" b="0" i="0" u="none" strike="noStrike">
              <a:solidFill>
                <a:srgbClr val="5C6370"/>
              </a:solidFill>
              <a:latin typeface="Source Code Pro"/>
              <a:ea typeface="Source Code Pro"/>
              <a:cs typeface="Source Code Pro"/>
              <a:sym typeface="Source Code Pro"/>
            </a:endParaRPr>
          </a:p>
          <a:p>
            <a:pPr indent="0" algn="l">
              <a:lnSpc>
                <a:spcPct val="100000"/>
              </a:lnSpc>
            </a:pPr>
            <a:r>
              <a:rPr lang="en-US" sz="1300" b="0" i="0" u="none" strike="noStrike">
                <a:solidFill>
                  <a:srgbClr val="DCDFE4"/>
                </a:solidFill>
                <a:latin typeface="Source Code Pro"/>
                <a:ea typeface="Source Code Pro"/>
                <a:cs typeface="Source Code Pro"/>
                <a:sym typeface="Source Code Pro"/>
              </a:rPr>
              <a:t>handler = CustomCallbackHandler()</a:t>
            </a:r>
            <a:endParaRPr lang="en-US" sz="1300" b="0" i="0" u="none" strike="noStrike">
              <a:solidFill>
                <a:srgbClr val="DCDFE4"/>
              </a:solidFill>
              <a:latin typeface="Source Code Pro"/>
              <a:ea typeface="Source Code Pro"/>
              <a:cs typeface="Source Code Pro"/>
              <a:sym typeface="Source Code Pro"/>
            </a:endParaRPr>
          </a:p>
          <a:p>
            <a:pPr indent="0" algn="l">
              <a:lnSpc>
                <a:spcPct val="100000"/>
              </a:lnSpc>
            </a:pPr>
            <a:r>
              <a:rPr lang="en-US" sz="1300" b="0" i="0" u="none" strike="noStrike">
                <a:solidFill>
                  <a:srgbClr val="DCDFE4"/>
                </a:solidFill>
                <a:latin typeface="Source Code Pro"/>
                <a:ea typeface="Source Code Pro"/>
                <a:cs typeface="Source Code Pro"/>
                <a:sym typeface="Source Code Pro"/>
              </a:rPr>
              <a:t>response = chain.run(</a:t>
            </a:r>
            <a:r>
              <a:rPr lang="en-US" sz="1300" b="0" i="0" u="none" strike="noStrike">
                <a:solidFill>
                  <a:srgbClr val="98C379"/>
                </a:solidFill>
                <a:latin typeface="Source Code Pro"/>
                <a:ea typeface="Source Code Pro"/>
                <a:cs typeface="Source Code Pro"/>
                <a:sym typeface="Source Code Pro"/>
              </a:rPr>
              <a:t>"这是一段文本"</a:t>
            </a:r>
            <a:r>
              <a:rPr lang="en-US" sz="1300" b="0" i="0" u="none" strike="noStrike">
                <a:solidFill>
                  <a:srgbClr val="DCDFE4"/>
                </a:solidFill>
                <a:latin typeface="Source Code Pro"/>
                <a:ea typeface="Source Code Pro"/>
                <a:cs typeface="Source Code Pro"/>
                <a:sym typeface="Source Code Pro"/>
              </a:rPr>
              <a:t>, callbacks=[handler])</a:t>
            </a:r>
            <a:endParaRPr lang="en-US" sz="1300" b="0" i="0" u="none" strike="noStrike">
              <a:solidFill>
                <a:srgbClr val="DCDFE4"/>
              </a:solidFill>
              <a:latin typeface="Source Code Pro"/>
              <a:ea typeface="Source Code Pro"/>
              <a:cs typeface="Source Code Pro"/>
              <a:sym typeface="Source Code Pro"/>
            </a:endParaRPr>
          </a:p>
        </p:txBody>
      </p:sp>
      <p:sp>
        <p:nvSpPr>
          <p:cNvPr id="15" name="AutoShape 15"/>
          <p:cNvSpPr/>
          <p:nvPr/>
        </p:nvSpPr>
        <p:spPr>
          <a:xfrm>
            <a:off x="762000" y="5334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524500"/>
            <a:ext cx="304800" cy="304800"/>
          </a:xfrm>
          <a:prstGeom prst="rect">
            <a:avLst/>
          </a:prstGeom>
        </p:spPr>
      </p:pic>
      <p:sp>
        <p:nvSpPr>
          <p:cNvPr id="17" name="AutoShape 17"/>
          <p:cNvSpPr/>
          <p:nvPr/>
        </p:nvSpPr>
        <p:spPr>
          <a:xfrm>
            <a:off x="1460500" y="5461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应用场景：</a:t>
            </a:r>
            <a:r>
              <a:rPr lang="en-US" sz="1600" b="0" i="0" u="none" strike="noStrike">
                <a:solidFill>
                  <a:srgbClr val="424242"/>
                </a:solidFill>
                <a:latin typeface="Noto Sans SC"/>
                <a:ea typeface="Noto Sans SC"/>
                <a:cs typeface="Noto Sans SC"/>
                <a:sym typeface="Noto Sans SC"/>
              </a:rPr>
              <a:t>通过自定义回调，开发者可以灵活实现对大模型调用过程的全链路监控，包括请求拦截、耗时统计、异常捕获等高级功能。</a:t>
            </a:r>
            <a:endParaRPr lang="en-US" sz="11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635000"/>
            <a:ext cx="2540000" cy="25400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9525000" y="4445000"/>
            <a:ext cx="3810000" cy="38100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2032000" y="1524000"/>
            <a:ext cx="8128000" cy="3810000"/>
          </a:xfrm>
          <a:prstGeom prst="roundRect">
            <a:avLst>
              <a:gd name="adj" fmla="val 3333"/>
            </a:avLst>
          </a:prstGeom>
          <a:solidFill>
            <a:srgbClr val="FFFFFF">
              <a:alpha val="100000"/>
            </a:srgbClr>
          </a:solidFill>
          <a:ln w="25400" cap="flat" cmpd="sng">
            <a:noFill/>
            <a:prstDash val="solid"/>
            <a:round/>
          </a:ln>
          <a:effectLst>
            <a:outerShdw blurRad="254000" dist="127000" dir="5400000" algn="tl" rotWithShape="0">
              <a:srgbClr val="0277BD">
                <a:alpha val="15000"/>
              </a:srgbClr>
            </a:outerShdw>
          </a:effectLst>
        </p:spPr>
        <p:txBody>
          <a:bodyPr vert="horz" wrap="square" lIns="63500" tIns="63500" rIns="63500" bIns="63500" rtlCol="0" anchor="ctr"/>
          <a:lstStyle/>
          <a:p>
            <a:pPr algn="ctr">
              <a:defRPr/>
            </a:pPr>
          </a:p>
        </p:txBody>
      </p:sp>
      <p:sp>
        <p:nvSpPr>
          <p:cNvPr id="5" name="AutoShape 5"/>
          <p:cNvSpPr/>
          <p:nvPr/>
        </p:nvSpPr>
        <p:spPr>
          <a:xfrm>
            <a:off x="2032000" y="1524000"/>
            <a:ext cx="8128000" cy="76200"/>
          </a:xfrm>
          <a:prstGeom prst="roundRect">
            <a:avLst>
              <a:gd name="adj" fmla="val 166666"/>
            </a:avLst>
          </a:prstGeom>
          <a:solidFill>
            <a:srgbClr val="FF98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91200" y="1905000"/>
            <a:ext cx="609600" cy="609600"/>
          </a:xfrm>
          <a:prstGeom prst="rect">
            <a:avLst/>
          </a:prstGeom>
        </p:spPr>
      </p:pic>
      <p:sp>
        <p:nvSpPr>
          <p:cNvPr id="7" name="AutoShape 7"/>
          <p:cNvSpPr/>
          <p:nvPr/>
        </p:nvSpPr>
        <p:spPr>
          <a:xfrm>
            <a:off x="2286000" y="2667000"/>
            <a:ext cx="7620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1" i="0" u="none" strike="noStrike">
                <a:solidFill>
                  <a:srgbClr val="0277BD"/>
                </a:solidFill>
                <a:latin typeface="Noto Sans SC"/>
                <a:ea typeface="Noto Sans SC"/>
                <a:cs typeface="Noto Sans SC"/>
                <a:sym typeface="Noto Sans SC"/>
              </a:rPr>
              <a:t>总结与展望</a:t>
            </a:r>
            <a:endParaRPr lang="en-US" sz="1100"/>
          </a:p>
        </p:txBody>
      </p:sp>
      <p:cxnSp>
        <p:nvCxnSpPr>
          <p:cNvPr id="8" name="Connector 8"/>
          <p:cNvCxnSpPr/>
          <p:nvPr/>
        </p:nvCxnSpPr>
        <p:spPr>
          <a:xfrm rot="-34376">
            <a:off x="5461032" y="3422650"/>
            <a:ext cx="1270000" cy="12700"/>
          </a:xfrm>
          <a:prstGeom prst="straightConnector1">
            <a:avLst/>
          </a:prstGeom>
          <a:solidFill>
            <a:srgbClr val="DEE0E3">
              <a:alpha val="100000"/>
            </a:srgbClr>
          </a:solidFill>
          <a:ln w="12700" cap="flat" cmpd="sng">
            <a:solidFill>
              <a:srgbClr val="E0E0E0">
                <a:alpha val="100000"/>
              </a:srgbClr>
            </a:solidFill>
            <a:prstDash val="solid"/>
            <a:round/>
            <a:headEnd type="none" w="med" len="med"/>
            <a:tailEnd type="none" w="med" len="med"/>
          </a:ln>
        </p:spPr>
      </p:cxnSp>
      <p:sp>
        <p:nvSpPr>
          <p:cNvPr id="9" name="AutoShape 9"/>
          <p:cNvSpPr/>
          <p:nvPr/>
        </p:nvSpPr>
        <p:spPr>
          <a:xfrm>
            <a:off x="2540000" y="3683000"/>
            <a:ext cx="7112000" cy="1016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600" b="0" i="0" u="none" strike="noStrike">
                <a:solidFill>
                  <a:srgbClr val="757575"/>
                </a:solidFill>
                <a:latin typeface="Noto Sans SC"/>
                <a:ea typeface="Noto Sans SC"/>
                <a:cs typeface="Noto Sans SC"/>
                <a:sym typeface="Noto Sans SC"/>
              </a:rPr>
              <a:t>回顾 LangChain 的核心知识点，梳理关键技术脉络，并对未来发展趋势进行展望。</a:t>
            </a:r>
            <a:endParaRPr lang="en-US" sz="1100"/>
          </a:p>
        </p:txBody>
      </p:sp>
      <p:sp>
        <p:nvSpPr>
          <p:cNvPr id="10" name="AutoShape 10"/>
          <p:cNvSpPr/>
          <p:nvPr/>
        </p:nvSpPr>
        <p:spPr>
          <a:xfrm>
            <a:off x="0" y="6096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0277BD">
                    <a:alpha val="60000"/>
                  </a:srgbClr>
                </a:solidFill>
                <a:latin typeface="Noto Sans SC"/>
                <a:ea typeface="Noto Sans SC"/>
                <a:cs typeface="Noto Sans SC"/>
                <a:sym typeface="Noto Sans SC"/>
              </a:rPr>
              <a:t>LangChain 进阶课程 · 课程总结</a:t>
            </a:r>
            <a:endParaRPr lang="en-US" sz="11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124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核心知识点回顾</a:t>
            </a:r>
            <a:endParaRPr lang="en-US" sz="1100"/>
          </a:p>
        </p:txBody>
      </p:sp>
      <p:sp>
        <p:nvSpPr>
          <p:cNvPr id="3" name="AutoShape 3"/>
          <p:cNvSpPr/>
          <p:nvPr/>
        </p:nvSpPr>
        <p:spPr>
          <a:xfrm>
            <a:off x="762000" y="1270000"/>
            <a:ext cx="2540000" cy="1397000"/>
          </a:xfrm>
          <a:prstGeom prst="roundRect">
            <a:avLst>
              <a:gd name="adj" fmla="val 9090"/>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460500"/>
            <a:ext cx="304800" cy="304800"/>
          </a:xfrm>
          <a:prstGeom prst="rect">
            <a:avLst/>
          </a:prstGeom>
        </p:spPr>
      </p:pic>
      <p:sp>
        <p:nvSpPr>
          <p:cNvPr id="5" name="AutoShape 5"/>
          <p:cNvSpPr/>
          <p:nvPr/>
        </p:nvSpPr>
        <p:spPr>
          <a:xfrm>
            <a:off x="1333500" y="1422400"/>
            <a:ext cx="18415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模型 I/O</a:t>
            </a:r>
            <a:endParaRPr lang="en-US" sz="1100"/>
          </a:p>
        </p:txBody>
      </p:sp>
      <p:sp>
        <p:nvSpPr>
          <p:cNvPr id="6" name="AutoShape 6"/>
          <p:cNvSpPr/>
          <p:nvPr/>
        </p:nvSpPr>
        <p:spPr>
          <a:xfrm>
            <a:off x="952500" y="1841500"/>
            <a:ext cx="2159000" cy="698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757575"/>
                </a:solidFill>
                <a:latin typeface="Noto Sans SC"/>
                <a:ea typeface="Noto Sans SC"/>
                <a:cs typeface="Noto Sans SC"/>
                <a:sym typeface="Noto Sans SC"/>
              </a:rPr>
              <a:t>掌握提示词模版、模型包装器和输出解析器的使用。</a:t>
            </a:r>
            <a:endParaRPr lang="en-US" sz="1100"/>
          </a:p>
        </p:txBody>
      </p:sp>
      <p:sp>
        <p:nvSpPr>
          <p:cNvPr id="7" name="AutoShape 7"/>
          <p:cNvSpPr/>
          <p:nvPr/>
        </p:nvSpPr>
        <p:spPr>
          <a:xfrm>
            <a:off x="3429000" y="1270000"/>
            <a:ext cx="2540000" cy="1397000"/>
          </a:xfrm>
          <a:prstGeom prst="roundRect">
            <a:avLst>
              <a:gd name="adj" fmla="val 9090"/>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19500" y="1460500"/>
            <a:ext cx="304800" cy="304800"/>
          </a:xfrm>
          <a:prstGeom prst="rect">
            <a:avLst/>
          </a:prstGeom>
        </p:spPr>
      </p:pic>
      <p:sp>
        <p:nvSpPr>
          <p:cNvPr id="9" name="AutoShape 9"/>
          <p:cNvSpPr/>
          <p:nvPr/>
        </p:nvSpPr>
        <p:spPr>
          <a:xfrm>
            <a:off x="4000500" y="1422400"/>
            <a:ext cx="18415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数据连接</a:t>
            </a:r>
            <a:endParaRPr lang="en-US" sz="1100"/>
          </a:p>
        </p:txBody>
      </p:sp>
      <p:sp>
        <p:nvSpPr>
          <p:cNvPr id="10" name="AutoShape 10"/>
          <p:cNvSpPr/>
          <p:nvPr/>
        </p:nvSpPr>
        <p:spPr>
          <a:xfrm>
            <a:off x="3619500" y="1841500"/>
            <a:ext cx="2159000" cy="698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757575"/>
                </a:solidFill>
                <a:latin typeface="Noto Sans SC"/>
                <a:ea typeface="Noto Sans SC"/>
                <a:cs typeface="Noto Sans SC"/>
                <a:sym typeface="Noto Sans SC"/>
              </a:rPr>
              <a:t>学习数据加载、切割、转换和向量检索的完整流程。</a:t>
            </a:r>
            <a:endParaRPr lang="en-US" sz="1100"/>
          </a:p>
        </p:txBody>
      </p:sp>
      <p:sp>
        <p:nvSpPr>
          <p:cNvPr id="11" name="AutoShape 11"/>
          <p:cNvSpPr/>
          <p:nvPr/>
        </p:nvSpPr>
        <p:spPr>
          <a:xfrm>
            <a:off x="762000" y="2857500"/>
            <a:ext cx="2540000" cy="1397000"/>
          </a:xfrm>
          <a:prstGeom prst="roundRect">
            <a:avLst>
              <a:gd name="adj" fmla="val 9090"/>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3048000"/>
            <a:ext cx="304800" cy="304800"/>
          </a:xfrm>
          <a:prstGeom prst="rect">
            <a:avLst/>
          </a:prstGeom>
        </p:spPr>
      </p:pic>
      <p:sp>
        <p:nvSpPr>
          <p:cNvPr id="13" name="AutoShape 13"/>
          <p:cNvSpPr/>
          <p:nvPr/>
        </p:nvSpPr>
        <p:spPr>
          <a:xfrm>
            <a:off x="1333500" y="3009900"/>
            <a:ext cx="18415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链 (Chains)</a:t>
            </a:r>
            <a:endParaRPr lang="en-US" sz="1100"/>
          </a:p>
        </p:txBody>
      </p:sp>
      <p:sp>
        <p:nvSpPr>
          <p:cNvPr id="14" name="AutoShape 14"/>
          <p:cNvSpPr/>
          <p:nvPr/>
        </p:nvSpPr>
        <p:spPr>
          <a:xfrm>
            <a:off x="952500" y="3429000"/>
            <a:ext cx="2159000" cy="698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757575"/>
                </a:solidFill>
                <a:latin typeface="Noto Sans SC"/>
                <a:ea typeface="Noto Sans SC"/>
                <a:cs typeface="Noto Sans SC"/>
                <a:sym typeface="Noto Sans SC"/>
              </a:rPr>
              <a:t>通过链组合多个组件，实现复杂任务的流水线处理。</a:t>
            </a:r>
            <a:endParaRPr lang="en-US" sz="1100"/>
          </a:p>
        </p:txBody>
      </p:sp>
      <p:sp>
        <p:nvSpPr>
          <p:cNvPr id="15" name="AutoShape 15"/>
          <p:cNvSpPr/>
          <p:nvPr/>
        </p:nvSpPr>
        <p:spPr>
          <a:xfrm>
            <a:off x="3429000" y="2857500"/>
            <a:ext cx="2540000" cy="1397000"/>
          </a:xfrm>
          <a:prstGeom prst="roundRect">
            <a:avLst>
              <a:gd name="adj" fmla="val 9090"/>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619500" y="3048000"/>
            <a:ext cx="304800" cy="304800"/>
          </a:xfrm>
          <a:prstGeom prst="rect">
            <a:avLst/>
          </a:prstGeom>
        </p:spPr>
      </p:pic>
      <p:sp>
        <p:nvSpPr>
          <p:cNvPr id="17" name="AutoShape 17"/>
          <p:cNvSpPr/>
          <p:nvPr/>
        </p:nvSpPr>
        <p:spPr>
          <a:xfrm>
            <a:off x="4000500" y="3009900"/>
            <a:ext cx="18415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记忆 (Memory)</a:t>
            </a:r>
            <a:endParaRPr lang="en-US" sz="1100"/>
          </a:p>
        </p:txBody>
      </p:sp>
      <p:sp>
        <p:nvSpPr>
          <p:cNvPr id="18" name="AutoShape 18"/>
          <p:cNvSpPr/>
          <p:nvPr/>
        </p:nvSpPr>
        <p:spPr>
          <a:xfrm>
            <a:off x="3619500" y="3429000"/>
            <a:ext cx="2159000" cy="698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757575"/>
                </a:solidFill>
                <a:latin typeface="Noto Sans SC"/>
                <a:ea typeface="Noto Sans SC"/>
                <a:cs typeface="Noto Sans SC"/>
                <a:sym typeface="Noto Sans SC"/>
              </a:rPr>
              <a:t>为应用添加记忆功能，支持上下文对话与历史回溯。</a:t>
            </a:r>
            <a:endParaRPr lang="en-US" sz="1100"/>
          </a:p>
        </p:txBody>
      </p:sp>
      <p:sp>
        <p:nvSpPr>
          <p:cNvPr id="19" name="AutoShape 19"/>
          <p:cNvSpPr/>
          <p:nvPr/>
        </p:nvSpPr>
        <p:spPr>
          <a:xfrm>
            <a:off x="762000" y="4445000"/>
            <a:ext cx="2540000" cy="1397000"/>
          </a:xfrm>
          <a:prstGeom prst="roundRect">
            <a:avLst>
              <a:gd name="adj" fmla="val 9090"/>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52500" y="4635500"/>
            <a:ext cx="304800" cy="304800"/>
          </a:xfrm>
          <a:prstGeom prst="rect">
            <a:avLst/>
          </a:prstGeom>
        </p:spPr>
      </p:pic>
      <p:sp>
        <p:nvSpPr>
          <p:cNvPr id="21" name="AutoShape 21"/>
          <p:cNvSpPr/>
          <p:nvPr/>
        </p:nvSpPr>
        <p:spPr>
          <a:xfrm>
            <a:off x="1333500" y="4597400"/>
            <a:ext cx="18415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智能体 (Agents)</a:t>
            </a:r>
            <a:endParaRPr lang="en-US" sz="1100"/>
          </a:p>
        </p:txBody>
      </p:sp>
      <p:sp>
        <p:nvSpPr>
          <p:cNvPr id="22" name="AutoShape 22"/>
          <p:cNvSpPr/>
          <p:nvPr/>
        </p:nvSpPr>
        <p:spPr>
          <a:xfrm>
            <a:off x="952500" y="5016500"/>
            <a:ext cx="2159000" cy="698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757575"/>
                </a:solidFill>
                <a:latin typeface="Noto Sans SC"/>
                <a:ea typeface="Noto Sans SC"/>
                <a:cs typeface="Noto Sans SC"/>
                <a:sym typeface="Noto Sans SC"/>
              </a:rPr>
              <a:t>了解智能体工作原理，构建简单的ReAct智能体。</a:t>
            </a:r>
            <a:endParaRPr lang="en-US" sz="1100"/>
          </a:p>
        </p:txBody>
      </p:sp>
      <p:sp>
        <p:nvSpPr>
          <p:cNvPr id="23" name="AutoShape 23"/>
          <p:cNvSpPr/>
          <p:nvPr/>
        </p:nvSpPr>
        <p:spPr>
          <a:xfrm>
            <a:off x="3429000" y="4445000"/>
            <a:ext cx="2540000" cy="1397000"/>
          </a:xfrm>
          <a:prstGeom prst="roundRect">
            <a:avLst>
              <a:gd name="adj" fmla="val 9090"/>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619500" y="4635500"/>
            <a:ext cx="304800" cy="304800"/>
          </a:xfrm>
          <a:prstGeom prst="rect">
            <a:avLst/>
          </a:prstGeom>
        </p:spPr>
      </p:pic>
      <p:sp>
        <p:nvSpPr>
          <p:cNvPr id="25" name="AutoShape 25"/>
          <p:cNvSpPr/>
          <p:nvPr/>
        </p:nvSpPr>
        <p:spPr>
          <a:xfrm>
            <a:off x="4000500" y="4597400"/>
            <a:ext cx="18415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回调处理器</a:t>
            </a:r>
            <a:endParaRPr lang="en-US" sz="1100"/>
          </a:p>
        </p:txBody>
      </p:sp>
      <p:sp>
        <p:nvSpPr>
          <p:cNvPr id="26" name="AutoShape 26"/>
          <p:cNvSpPr/>
          <p:nvPr/>
        </p:nvSpPr>
        <p:spPr>
          <a:xfrm>
            <a:off x="3619500" y="5016500"/>
            <a:ext cx="2159000" cy="698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757575"/>
                </a:solidFill>
                <a:latin typeface="Noto Sans SC"/>
                <a:ea typeface="Noto Sans SC"/>
                <a:cs typeface="Noto Sans SC"/>
                <a:sym typeface="Noto Sans SC"/>
              </a:rPr>
              <a:t>使用和自定义回调，实现应用的监控和扩展。</a:t>
            </a:r>
            <a:endParaRPr lang="en-US" sz="1100"/>
          </a:p>
        </p:txBody>
      </p:sp>
      <p:sp>
        <p:nvSpPr>
          <p:cNvPr id="27" name="AutoShape 27"/>
          <p:cNvSpPr/>
          <p:nvPr/>
        </p:nvSpPr>
        <p:spPr>
          <a:xfrm>
            <a:off x="6223000" y="1270000"/>
            <a:ext cx="5207000" cy="2921000"/>
          </a:xfrm>
          <a:prstGeom prst="roundRect">
            <a:avLst>
              <a:gd name="adj" fmla="val 4347"/>
            </a:avLst>
          </a:prstGeom>
          <a:solidFill>
            <a:srgbClr val="FFFFFF">
              <a:alpha val="10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13"/>
          <a:srcRect t="2136" b="2136"/>
          <a:stretch>
            <a:fillRect/>
          </a:stretch>
        </p:blipFill>
        <p:spPr>
          <a:xfrm>
            <a:off x="6350000" y="1397000"/>
            <a:ext cx="4953000" cy="2667000"/>
          </a:xfrm>
          <a:prstGeom prst="roundRect">
            <a:avLst>
              <a:gd name="adj" fmla="val 4761"/>
            </a:avLst>
          </a:prstGeom>
          <a:noFill/>
          <a:ln w="25400" cap="flat" cmpd="sng">
            <a:noFill/>
            <a:prstDash val="solid"/>
            <a:round/>
          </a:ln>
        </p:spPr>
      </p:pic>
      <p:sp>
        <p:nvSpPr>
          <p:cNvPr id="29" name="AutoShape 29"/>
          <p:cNvSpPr/>
          <p:nvPr/>
        </p:nvSpPr>
        <p:spPr>
          <a:xfrm>
            <a:off x="6223000" y="4318000"/>
            <a:ext cx="5207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757575"/>
                </a:solidFill>
                <a:latin typeface="Noto Sans SC"/>
                <a:ea typeface="Noto Sans SC"/>
                <a:cs typeface="Noto Sans SC"/>
                <a:sym typeface="Noto Sans SC"/>
              </a:rPr>
              <a:t>LangChain 核心知识点思维导图概览</a:t>
            </a:r>
            <a:endParaRPr lang="en-US" sz="1100"/>
          </a:p>
        </p:txBody>
      </p:sp>
      <p:sp>
        <p:nvSpPr>
          <p:cNvPr id="30" name="AutoShape 30"/>
          <p:cNvSpPr/>
          <p:nvPr/>
        </p:nvSpPr>
        <p:spPr>
          <a:xfrm>
            <a:off x="6223000" y="4826000"/>
            <a:ext cx="5207000" cy="1016000"/>
          </a:xfrm>
          <a:prstGeom prst="roundRect">
            <a:avLst>
              <a:gd name="adj" fmla="val 12500"/>
            </a:avLst>
          </a:prstGeom>
          <a:solidFill>
            <a:srgbClr val="0277BD">
              <a:alpha val="1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sp>
        <p:nvSpPr>
          <p:cNvPr id="31" name="AutoShape 31"/>
          <p:cNvSpPr/>
          <p:nvPr/>
        </p:nvSpPr>
        <p:spPr>
          <a:xfrm>
            <a:off x="6350000" y="4953000"/>
            <a:ext cx="4953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1" i="0" u="none" strike="noStrike">
                <a:solidFill>
                  <a:srgbClr val="0277BD"/>
                </a:solidFill>
                <a:latin typeface="Noto Sans SC"/>
                <a:ea typeface="Noto Sans SC"/>
                <a:cs typeface="Noto Sans SC"/>
                <a:sym typeface="Noto Sans SC"/>
              </a:rPr>
              <a:t>总结：</a:t>
            </a:r>
            <a:r>
              <a:rPr lang="en-US" sz="1300" b="0" i="0" u="none" strike="noStrike">
                <a:solidFill>
                  <a:srgbClr val="0277BD"/>
                </a:solidFill>
                <a:latin typeface="Noto Sans SC"/>
                <a:ea typeface="Noto Sans SC"/>
                <a:cs typeface="Noto Sans SC"/>
                <a:sym typeface="Noto Sans SC"/>
              </a:rPr>
              <a:t>这六个模块构成了 LangChain 的完整知识体系，从基础交互到复杂应用构建，是开发 LLM 应用的核心基石。</a:t>
            </a:r>
            <a:endParaRPr lang="en-US" sz="11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581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LangChain发展展望</a:t>
            </a:r>
            <a:endParaRPr lang="en-US" sz="1100"/>
          </a:p>
        </p:txBody>
      </p:sp>
      <p:sp>
        <p:nvSpPr>
          <p:cNvPr id="3" name="AutoShape 3"/>
          <p:cNvSpPr/>
          <p:nvPr/>
        </p:nvSpPr>
        <p:spPr>
          <a:xfrm>
            <a:off x="762000" y="1397000"/>
            <a:ext cx="5080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587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模型支持</a:t>
            </a:r>
            <a:endParaRPr lang="en-US" sz="1100"/>
          </a:p>
        </p:txBody>
      </p:sp>
      <p:sp>
        <p:nvSpPr>
          <p:cNvPr id="6" name="AutoShape 6"/>
          <p:cNvSpPr/>
          <p:nvPr/>
        </p:nvSpPr>
        <p:spPr>
          <a:xfrm>
            <a:off x="1016000" y="2095500"/>
            <a:ext cx="4572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将支持更多、更强大的开源和闭源大语言模型，降低接入门槛，提升开发灵活性。</a:t>
            </a:r>
            <a:endParaRPr lang="en-US" sz="1100"/>
          </a:p>
        </p:txBody>
      </p:sp>
      <p:sp>
        <p:nvSpPr>
          <p:cNvPr id="7" name="AutoShape 7"/>
          <p:cNvSpPr/>
          <p:nvPr/>
        </p:nvSpPr>
        <p:spPr>
          <a:xfrm>
            <a:off x="6350000" y="1397000"/>
            <a:ext cx="5080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1651000"/>
            <a:ext cx="406400" cy="406400"/>
          </a:xfrm>
          <a:prstGeom prst="rect">
            <a:avLst/>
          </a:prstGeom>
        </p:spPr>
      </p:pic>
      <p:sp>
        <p:nvSpPr>
          <p:cNvPr id="9" name="AutoShape 9"/>
          <p:cNvSpPr/>
          <p:nvPr/>
        </p:nvSpPr>
        <p:spPr>
          <a:xfrm>
            <a:off x="7112000" y="1587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功能扩展</a:t>
            </a:r>
            <a:endParaRPr lang="en-US" sz="1100"/>
          </a:p>
        </p:txBody>
      </p:sp>
      <p:sp>
        <p:nvSpPr>
          <p:cNvPr id="10" name="AutoShape 10"/>
          <p:cNvSpPr/>
          <p:nvPr/>
        </p:nvSpPr>
        <p:spPr>
          <a:xfrm>
            <a:off x="6604000" y="2095500"/>
            <a:ext cx="4572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持续集成更多第三方工具和服务，如数据库、API、云服务等，不断丰富应用生态。</a:t>
            </a:r>
            <a:endParaRPr lang="en-US" sz="1100"/>
          </a:p>
        </p:txBody>
      </p:sp>
      <p:sp>
        <p:nvSpPr>
          <p:cNvPr id="11" name="AutoShape 11"/>
          <p:cNvSpPr/>
          <p:nvPr/>
        </p:nvSpPr>
        <p:spPr>
          <a:xfrm>
            <a:off x="762000" y="3683000"/>
            <a:ext cx="5080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937000"/>
            <a:ext cx="406400" cy="406400"/>
          </a:xfrm>
          <a:prstGeom prst="rect">
            <a:avLst/>
          </a:prstGeom>
        </p:spPr>
      </p:pic>
      <p:sp>
        <p:nvSpPr>
          <p:cNvPr id="13" name="AutoShape 13"/>
          <p:cNvSpPr/>
          <p:nvPr/>
        </p:nvSpPr>
        <p:spPr>
          <a:xfrm>
            <a:off x="1524000" y="3873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性能优化</a:t>
            </a:r>
            <a:endParaRPr lang="en-US" sz="1100"/>
          </a:p>
        </p:txBody>
      </p:sp>
      <p:sp>
        <p:nvSpPr>
          <p:cNvPr id="14" name="AutoShape 14"/>
          <p:cNvSpPr/>
          <p:nvPr/>
        </p:nvSpPr>
        <p:spPr>
          <a:xfrm>
            <a:off x="1016000" y="4381500"/>
            <a:ext cx="4572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不断优化框架的运行效率和资源占用，提升应用的响应速度和系统稳定性。</a:t>
            </a:r>
            <a:endParaRPr lang="en-US" sz="1100"/>
          </a:p>
        </p:txBody>
      </p:sp>
      <p:sp>
        <p:nvSpPr>
          <p:cNvPr id="15" name="AutoShape 15"/>
          <p:cNvSpPr/>
          <p:nvPr/>
        </p:nvSpPr>
        <p:spPr>
          <a:xfrm>
            <a:off x="6350000" y="3683000"/>
            <a:ext cx="5080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3937000"/>
            <a:ext cx="406400" cy="406400"/>
          </a:xfrm>
          <a:prstGeom prst="rect">
            <a:avLst/>
          </a:prstGeom>
        </p:spPr>
      </p:pic>
      <p:sp>
        <p:nvSpPr>
          <p:cNvPr id="17" name="AutoShape 17"/>
          <p:cNvSpPr/>
          <p:nvPr/>
        </p:nvSpPr>
        <p:spPr>
          <a:xfrm>
            <a:off x="7112000" y="3873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社区生态</a:t>
            </a:r>
            <a:endParaRPr lang="en-US" sz="1100"/>
          </a:p>
        </p:txBody>
      </p:sp>
      <p:sp>
        <p:nvSpPr>
          <p:cNvPr id="18" name="AutoShape 18"/>
          <p:cNvSpPr/>
          <p:nvPr/>
        </p:nvSpPr>
        <p:spPr>
          <a:xfrm>
            <a:off x="6604000" y="4381500"/>
            <a:ext cx="4572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开发者社区持续壮大，涌现出更多优秀的应用案例和最佳实践，推动LangChain不断发展。</a:t>
            </a:r>
            <a:endParaRPr lang="en-US" sz="11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1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2286000" y="1651000"/>
            <a:ext cx="7620000" cy="3048000"/>
          </a:xfrm>
          <a:prstGeom prst="roundRect">
            <a:avLst>
              <a:gd name="adj" fmla="val 4166"/>
            </a:avLst>
          </a:prstGeom>
          <a:solidFill>
            <a:srgbClr val="FFFFFF">
              <a:alpha val="95000"/>
            </a:srgbClr>
          </a:solidFill>
          <a:ln w="25400" cap="flat" cmpd="sng">
            <a:noFill/>
            <a:prstDash val="solid"/>
            <a:round/>
          </a:ln>
          <a:effectLst>
            <a:outerShdw blurRad="254000" dist="127000" dir="5400000" algn="tl" rotWithShape="0">
              <a:srgbClr val="000000">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91200" y="1968500"/>
            <a:ext cx="609600" cy="609600"/>
          </a:xfrm>
          <a:prstGeom prst="rect">
            <a:avLst/>
          </a:prstGeom>
        </p:spPr>
      </p:pic>
      <p:sp>
        <p:nvSpPr>
          <p:cNvPr id="6" name="AutoShape 6"/>
          <p:cNvSpPr/>
          <p:nvPr/>
        </p:nvSpPr>
        <p:spPr>
          <a:xfrm>
            <a:off x="2540000" y="2667000"/>
            <a:ext cx="7112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000" b="1" i="0" u="none" strike="noStrike">
                <a:solidFill>
                  <a:srgbClr val="0277BD"/>
                </a:solidFill>
                <a:latin typeface="Noto Sans SC"/>
                <a:ea typeface="Noto Sans SC"/>
                <a:cs typeface="Noto Sans SC"/>
                <a:sym typeface="Noto Sans SC"/>
              </a:rPr>
              <a:t>感谢聆听</a:t>
            </a:r>
            <a:endParaRPr lang="en-US" sz="1100"/>
          </a:p>
        </p:txBody>
      </p:sp>
      <p:sp>
        <p:nvSpPr>
          <p:cNvPr id="7" name="AutoShape 7"/>
          <p:cNvSpPr/>
          <p:nvPr/>
        </p:nvSpPr>
        <p:spPr>
          <a:xfrm>
            <a:off x="2540000" y="3429000"/>
            <a:ext cx="7112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400" b="0" i="0" u="none" strike="noStrike">
                <a:solidFill>
                  <a:srgbClr val="757575"/>
                </a:solidFill>
                <a:latin typeface="Noto Sans SC"/>
                <a:ea typeface="Noto Sans SC"/>
                <a:cs typeface="Noto Sans SC"/>
                <a:sym typeface="Noto Sans SC"/>
              </a:rPr>
              <a:t>Q&amp;A 互动交流</a:t>
            </a:r>
            <a:endParaRPr lang="en-US" sz="1100"/>
          </a:p>
        </p:txBody>
      </p:sp>
      <p:sp>
        <p:nvSpPr>
          <p:cNvPr id="8" name="AutoShape 8"/>
          <p:cNvSpPr/>
          <p:nvPr/>
        </p:nvSpPr>
        <p:spPr>
          <a:xfrm>
            <a:off x="5715000" y="4064000"/>
            <a:ext cx="762000" cy="50800"/>
          </a:xfrm>
          <a:prstGeom prst="roundRect">
            <a:avLst>
              <a:gd name="adj" fmla="val 0"/>
            </a:avLst>
          </a:prstGeom>
          <a:solidFill>
            <a:srgbClr val="FF9800">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15188</Words>
  <Application>WPS 演示</Application>
  <PresentationFormat/>
  <Paragraphs>964</Paragraphs>
  <Slides>45</Slides>
  <Notes>0</Notes>
  <HiddenSlides>0</HiddenSlides>
  <MMClips>0</MMClips>
  <ScaleCrop>false</ScaleCrop>
  <HeadingPairs>
    <vt:vector size="6" baseType="variant">
      <vt:variant>
        <vt:lpstr>已用的字体</vt:lpstr>
      </vt:variant>
      <vt:variant>
        <vt:i4>21</vt:i4>
      </vt:variant>
      <vt:variant>
        <vt:lpstr>主题</vt:lpstr>
      </vt:variant>
      <vt:variant>
        <vt:i4>2</vt:i4>
      </vt:variant>
      <vt:variant>
        <vt:lpstr>幻灯片标题</vt:lpstr>
      </vt:variant>
      <vt:variant>
        <vt:i4>45</vt:i4>
      </vt:variant>
    </vt:vector>
  </HeadingPairs>
  <TitlesOfParts>
    <vt:vector size="68" baseType="lpstr">
      <vt:lpstr>Arial</vt:lpstr>
      <vt:lpstr>宋体</vt:lpstr>
      <vt:lpstr>Wingdings</vt:lpstr>
      <vt:lpstr>Arial</vt:lpstr>
      <vt:lpstr>Noto Sans SC</vt:lpstr>
      <vt:lpstr>Thonburi</vt:lpstr>
      <vt:lpstr>Menlo</vt:lpstr>
      <vt:lpstr>宋体</vt:lpstr>
      <vt:lpstr>汉仪书宋二KW</vt:lpstr>
      <vt:lpstr>微软雅黑</vt:lpstr>
      <vt:lpstr>汉仪旗黑</vt:lpstr>
      <vt:lpstr>Arial Unicode MS</vt:lpstr>
      <vt:lpstr>Source Code Pro</vt:lpstr>
      <vt:lpstr>Roboto Mono</vt:lpstr>
      <vt:lpstr>Consolas</vt:lpstr>
      <vt:lpstr>Consolas</vt:lpstr>
      <vt:lpstr>Menlo</vt:lpstr>
      <vt:lpstr>Noto Sans SC</vt:lpstr>
      <vt:lpstr>Roboto Mono</vt:lpstr>
      <vt:lpstr>Source Code Pro</vt:lpstr>
      <vt:lpstr>苹方-简</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Soyoger</cp:lastModifiedBy>
  <cp:revision>1</cp:revision>
  <dcterms:created xsi:type="dcterms:W3CDTF">2026-03-14T04:51:10Z</dcterms:created>
  <dcterms:modified xsi:type="dcterms:W3CDTF">2026-03-14T04:51:10Z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36524714011981B43EE9B46931B6D2E5_42</vt:lpwstr>
  </property>
  <property fmtid="{D5CDD505-2E9C-101B-9397-08002B2CF9AE}" pid="3" name="KSOProductBuildVer">
    <vt:lpwstr>2052-7.2.1.8947</vt:lpwstr>
  </property>
</Properties>
</file>