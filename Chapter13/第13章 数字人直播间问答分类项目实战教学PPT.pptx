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01.svg" ContentType="image/svg+xml"/>
  <Override PartName="/ppt/media/image103.svg" ContentType="image/svg+xml"/>
  <Override PartName="/ppt/media/image105.svg" ContentType="image/svg+xml"/>
  <Override PartName="/ppt/media/image108.svg" ContentType="image/svg+xml"/>
  <Override PartName="/ppt/media/image110.svg" ContentType="image/svg+xml"/>
  <Override PartName="/ppt/media/image112.svg" ContentType="image/svg+xml"/>
  <Override PartName="/ppt/media/image114.svg" ContentType="image/svg+xml"/>
  <Override PartName="/ppt/media/image116.svg" ContentType="image/svg+xml"/>
  <Override PartName="/ppt/media/image119.svg" ContentType="image/svg+xml"/>
  <Override PartName="/ppt/media/image121.svg" ContentType="image/svg+xml"/>
  <Override PartName="/ppt/media/image124.svg" ContentType="image/svg+xml"/>
  <Override PartName="/ppt/media/image126.svg" ContentType="image/svg+xml"/>
  <Override PartName="/ppt/media/image128.svg" ContentType="image/svg+xml"/>
  <Override PartName="/ppt/media/image13.svg" ContentType="image/svg+xml"/>
  <Override PartName="/ppt/media/image130.svg" ContentType="image/svg+xml"/>
  <Override PartName="/ppt/media/image132.svg" ContentType="image/svg+xml"/>
  <Override PartName="/ppt/media/image134.svg" ContentType="image/svg+xml"/>
  <Override PartName="/ppt/media/image136.svg" ContentType="image/svg+xml"/>
  <Override PartName="/ppt/media/image138.svg" ContentType="image/svg+xml"/>
  <Override PartName="/ppt/media/image140.svg" ContentType="image/svg+xml"/>
  <Override PartName="/ppt/media/image142.svg" ContentType="image/svg+xml"/>
  <Override PartName="/ppt/media/image144.svg" ContentType="image/svg+xml"/>
  <Override PartName="/ppt/media/image146.svg" ContentType="image/svg+xml"/>
  <Override PartName="/ppt/media/image149.svg" ContentType="image/svg+xml"/>
  <Override PartName="/ppt/media/image15.svg" ContentType="image/svg+xml"/>
  <Override PartName="/ppt/media/image151.svg" ContentType="image/svg+xml"/>
  <Override PartName="/ppt/media/image153.svg" ContentType="image/svg+xml"/>
  <Override PartName="/ppt/media/image155.svg" ContentType="image/svg+xml"/>
  <Override PartName="/ppt/media/image157.svg" ContentType="image/svg+xml"/>
  <Override PartName="/ppt/media/image159.svg" ContentType="image/svg+xml"/>
  <Override PartName="/ppt/media/image161.svg" ContentType="image/svg+xml"/>
  <Override PartName="/ppt/media/image163.svg" ContentType="image/svg+xml"/>
  <Override PartName="/ppt/media/image165.svg" ContentType="image/svg+xml"/>
  <Override PartName="/ppt/media/image167.svg" ContentType="image/svg+xml"/>
  <Override PartName="/ppt/media/image169.svg" ContentType="image/svg+xml"/>
  <Override PartName="/ppt/media/image17.svg" ContentType="image/svg+xml"/>
  <Override PartName="/ppt/media/image171.svg" ContentType="image/svg+xml"/>
  <Override PartName="/ppt/media/image173.svg" ContentType="image/svg+xml"/>
  <Override PartName="/ppt/media/image19.svg" ContentType="image/svg+xml"/>
  <Override PartName="/ppt/media/image2.svg" ContentType="image/svg+xml"/>
  <Override PartName="/ppt/media/image22.svg" ContentType="image/svg+xml"/>
  <Override PartName="/ppt/media/image24.svg" ContentType="image/svg+xml"/>
  <Override PartName="/ppt/media/image26.svg" ContentType="image/svg+xml"/>
  <Override PartName="/ppt/media/image29.svg" ContentType="image/svg+xml"/>
  <Override PartName="/ppt/media/image32.svg" ContentType="image/svg+xml"/>
  <Override PartName="/ppt/media/image34.svg" ContentType="image/svg+xml"/>
  <Override PartName="/ppt/media/image37.svg" ContentType="image/svg+xml"/>
  <Override PartName="/ppt/media/image39.svg" ContentType="image/svg+xml"/>
  <Override PartName="/ppt/media/image4.svg" ContentType="image/svg+xml"/>
  <Override PartName="/ppt/media/image42.svg" ContentType="image/svg+xml"/>
  <Override PartName="/ppt/media/image45.svg" ContentType="image/svg+xml"/>
  <Override PartName="/ppt/media/image47.svg" ContentType="image/svg+xml"/>
  <Override PartName="/ppt/media/image49.svg" ContentType="image/svg+xml"/>
  <Override PartName="/ppt/media/image51.svg" ContentType="image/svg+xml"/>
  <Override PartName="/ppt/media/image53.svg" ContentType="image/svg+xml"/>
  <Override PartName="/ppt/media/image55.svg" ContentType="image/svg+xml"/>
  <Override PartName="/ppt/media/image57.svg" ContentType="image/svg+xml"/>
  <Override PartName="/ppt/media/image59.svg" ContentType="image/svg+xml"/>
  <Override PartName="/ppt/media/image6.svg" ContentType="image/svg+xml"/>
  <Override PartName="/ppt/media/image61.svg" ContentType="image/svg+xml"/>
  <Override PartName="/ppt/media/image64.svg" ContentType="image/svg+xml"/>
  <Override PartName="/ppt/media/image66.svg" ContentType="image/svg+xml"/>
  <Override PartName="/ppt/media/image68.svg" ContentType="image/svg+xml"/>
  <Override PartName="/ppt/media/image70.svg" ContentType="image/svg+xml"/>
  <Override PartName="/ppt/media/image74.svg" ContentType="image/svg+xml"/>
  <Override PartName="/ppt/media/image76.svg" ContentType="image/svg+xml"/>
  <Override PartName="/ppt/media/image78.svg" ContentType="image/svg+xml"/>
  <Override PartName="/ppt/media/image8.svg" ContentType="image/svg+xml"/>
  <Override PartName="/ppt/media/image80.svg" ContentType="image/svg+xml"/>
  <Override PartName="/ppt/media/image84.svg" ContentType="image/svg+xml"/>
  <Override PartName="/ppt/media/image87.svg" ContentType="image/svg+xml"/>
  <Override PartName="/ppt/media/image89.svg" ContentType="image/svg+xml"/>
  <Override PartName="/ppt/media/image92.svg" ContentType="image/svg+xml"/>
  <Override PartName="/ppt/media/image95.svg" ContentType="image/svg+xml"/>
  <Override PartName="/ppt/media/image97.svg" ContentType="image/svg+xml"/>
  <Override PartName="/ppt/media/image9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2" Type="http://schemas.openxmlformats.org/officeDocument/2006/relationships/tableStyles" Target="tableStyles.xml"/><Relationship Id="rId51" Type="http://schemas.openxmlformats.org/officeDocument/2006/relationships/viewProps" Target="viewProps.xml"/><Relationship Id="rId50" Type="http://schemas.openxmlformats.org/officeDocument/2006/relationships/presProps" Target="presProps.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欢迎来到本次课程。今天我们将深入探讨第13章的内容——数字人直播间问答分类项目实战。这一章将结合理论与实践，系统介绍文本分类技术及其在实际项目中的应用，希望能帮助大家更好地理解和掌握这一重要的自然语言处理技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课程将分为三个部分。首先，我们会介绍文本分类的基本概念、方法和模型。接着，我们将详细讲解文本分类器的训练过程，包括传统方法和基于大语言模型的新方法。最后，我们将通过一个数字人直播间问答分类的实战项目，将所学知识应用到实际场景中。</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现在，我们进入第一章节——文本分类简介。在这一部分，我们将系统地了解文本分类的各种方法、常用模型及其特点，并探讨该领域的发展趋势和面临的挑战。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首先，我们来看文本分类的主要方法。根据训练数据的不同，文本分类方法主要可以分为有监督学习、无监督学习、半监督学习、弱监督学习和迁移学习五大类。接下来，我们将逐一介绍这些方法。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有监督学习是最常见的文本分类方法，它使用带有明确标签的数据集来训练模型。根据标签的数量和类型，又可以分为二分类、多分类和多标签分类。例如，判断邮件是否为垃圾邮件是典型的二分类问题，而分析评论的情感倾向则属于多分类问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与有监督学习不同，无监督学习不需要人工标注的标签。它通过算法自动发现数据中的模式和结构。常见的无监督学习方法包括聚类和主题建模。聚类将相似的文本聚在一起，而主题建模则试图从文本中提取出潜在的主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当标记数据稀缺时，半监督学习和弱监督学习就显得尤为重要。半监督学习结合了少量标记数据和大量未标记数据，而弱监督学习则使用质量不高的标记数据，例如基于规则或通过标签传播得到的伪标签。</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迁移学习是近年来非常热门的技术，尤其是在大语言模型领域。它的核心思想是利用在大规模数据上预训练好的模型，通过微调快速适应新的任务。这种方法极大地降低了对标注数据的依赖，使得模型能够在少量样本甚至没有样本的情况下完成任务。</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回顾一下文本分类模型的发展历程。从早期基于规则的简单方法，到依赖特征工程的传统机器学习，再到能够自动提取特征的神经网络，直到现在基于Transformer架构的强大的大语言模型，每一次技术革新都带来了性能的显著提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里我们列出了常见的文本分类算法模型及其优缺点。从基于规则的方法到传统的机器学习算法，如逻辑回归、贝叶斯、KNN、决策树、随机森林、SVM等，每种模型都有其适用场景和局限性。例如，逻辑回归简单高效，适合处理线性问题；而随机森林则通过集成学习提高了模型的准确性和稳定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表格的第二部分展示了无监督学习算法和深度学习模型。K-means是经典的聚类算法。而CNN、RNN、LSTM等深度学习模型则在处理复杂的文本特征方面表现出色。特别是基于Transformer架构的BERT、GPT等预训练模型，凭借其强大的语言理解和生成能力，成为了当前文本分类任务的主流选择。</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展望未来，文本分类技术正朝着多模态融合的方向发展，通过结合多种类型的数据来提升模型的性能。然而，随之而来的挑战也不容忽视，其中最主要的就是模型的可解释性问题。大语言模型虽然性能强大，但其决策过程如同一个“黑箱”，我们很难理解其做出判断的具体依据，这在一些对可靠性要求极高的应用场景中是一个亟待解决的问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张图展示了传统机器学习和神经网络进行文本分类的典型流程。整个过程非常繁琐，从数据收集开始，需要经过复杂的数据预处理和特征工程，然后才能进行模型训练和评估。每一个步骤都需要大量的人工干预和专业知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相比之下，大语言模型的文本分类流程则简单得多。我们只需要设计一个合适的提示词，将任务要求告诉模型，然后输入待分类的文本，模型就能直接给出分类结果。整个过程省去了繁琐的数据预处理和特征工程，大大降低了使用门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接下来，我们进入第二章节，详细探讨文本分类器的训练过程。我们将从传统的机器学习训练方法讲起，然后介绍基于大语言模型的提示词少样本学习，最后讨论预训练模型的微调技术。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首先，我们回顾一下传统分类器的训练流程。这是一个标准的机器学习流程，主要包括数据准备、预处理、特征工程、模型训练和模型评价五个步骤。接下来，我们将通过一个具体的例子来演示这个过程。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我们以一个外卖评论的情感分类任务为例。这里使用的是一个公开的数据集，包含了一万多条用户评论，其中约4000条是正面评价，8000条是负面评价。我们的目标是训练一个模型，能够自动区分评论的情感倾向。</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首先，我们需要导入必要的Python库，包括用于中文分词的jieba，用于数据处理的pandas，以及用于划分数据集的train_test_split。然后，我们使用pandas的read_csv函数加载数据集文件。</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接下来，我们将数据集划分为训练集和测试集。这里我们使用40%的数据作为测试集，60%作为训练集。random_state参数确保了每次运行代码时划分结果都是一致的，便于实验的复现。</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划分好数据集后，我们需要从DataFrame中提取出评论文本（review列）和对应的标签（label列），分别存入x_train, y_train, x_test, y_test四个列表中，为后续的处理做准备。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一步是数据预处理的核心。我们首先读取一个停用词表，这些词通常是没有实际意义的虚词。然后定义一个过滤函数，该函数使用jieba对文本进行分词，去除数字、空格和停用词，最后将处理后的词用空格连接成字符串。</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定义好过滤函数后，我们将其应用到训练集和测试集的文本数据上，得到处理后的干净文本数据，为下一步的特征提取做好准备。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接下来是特征工程。我们使用sklearn库中的CountVectorizer工具，将处理后的文本数据转换为词频矩阵。这里我们设置只保留出现频率最高的4000个词作为特征，以降低特征维度，提高计算效率。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特征提取完成后，我们就可以训练模型了。这里我们选择了朴素贝叶斯分类器，这是一种非常适合处理文本分类任务的算法。我们使用训练集的特征矩阵和对应的标签来训练这个分类器。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模型训练完成后，我们需要评估其性能。首先，我们用训练好的模型对测试集进行预测，然后计算预测的准确率。从结果来看，这个朴素贝叶斯模型在测试集上的准确率达到了约83.8%，表现还不错。</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除了准确率，我们还可以通过classification_report生成更详细的评估报告，包括精确率、召回率和F1得分。从报告中可以看到，模型在标签0（负面评论）上的表现优于标签1（正面评论），整体的加权平均F1得分为0.84。这为我们提供了更全面的模型性能视图。</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介绍一种基于大语言模型的新方法——提示词少样本学习。这种方法的核心是通过设计巧妙的提示词，让模型理解我们的分类意图，从而在很少的样本甚至没有样本的情况下完成任务。这极大地简化了传统的机器学习流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设计一个好的提示词是成功的关键。一个有效的提示词应该包含清晰的指令、必要的示例、规范的输出格式，以及可能的上下文信息。这些原则能够帮助模型更准确地理解我们的意图。</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这里是一个情感分类的提示词示例。我们首先明确任务是判断情感倾向，并指定了输出格式。然后提供了两个示例，帮助模型学习分类标准。最后给出待分类的评论，让模型进行预测。这种方式非常直观和高效。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这是一个主题分类的提示词示例。同样，我们明确了任务、类别和输出格式，并提供了示例。通过这种方式，我们可以轻松地将大语言模型应用于各种不同的分类任务，而无需重新训练模型。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除了提示词学习，另一种利用大语言模型的方法是微调。微调是指在预训练模型的基础上，使用我们自己的任务数据进行进一步的训练，让模型学习特定任务的特征。这个过程通常比训练一个全新的模型要快得多，并且效果更好。</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微调的优势在于能够充分利用预训练模型的强大能力，从而在特定任务上取得更好的性能。但它也面临一些挑战，比如需要大量的计算资源和标注数据，并且存在过拟合的风险。因此，在选择使用提示词学习还是微调时，需要根据具体的任务场景和资源条件来决定。</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现在，我们进入最后一个章节，也是最激动人心的部分——数字人直播间问答分类项目实战。在这一部分，我们将把前面学到的理论知识应用到一个真实的场景中，完整地体验一个文本分类项目的全过程。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我们来了解一下项目的背景和目标。随着数字人技术的发展，越来越多的企业开始使用数字人进行直播带货和客户服务。在直播间中，用户会提出各种各样的问题，如果完全依靠人工来回答，效率会非常低。因此，我们的目标是构建一个自动问答分类系统，能够自动识别用户问题的类型，并将其分配给合适的回答者，从而提升用户体验和运营效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了解数据的特点对于项目的成功至关重要。直播间的问答数据具有实时性、口语化、多样性、噪声多和意图明确性不一等特点。这些特点决定了我们在数据预处理和模型选择时需要采取相应的策略。</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来看一下项目的整体流程。这个流程和我们之前介绍的传统机器学习流程类似，但针对直播间的场景进行了调整。主要包括数据收集与标注、数据预处理、模型选择与训练、模型部署与集成以及效果评估与优化五个步骤。</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一步是数据收集与标注。我们需要从直播间的日志系统中收集用户的提问数据，并组织人员对这些数据进行人工标注。标注的关键是定义一个清晰合理的分类标签体系，比如将问题分为产品咨询、技术问题、售后问题等类别。</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数据预处理是提升模型性能的关键步骤。针对直播间数据口语化、噪声多的特点，我们需要进行数据清洗、分词、去停用词和标准化等操作，以获得干净、规范的文本数据。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在模型选择与训练阶段，我们可以尝试不同的方法。首先是传统的机器学习方法，我们可以使用TF-IDF提取特征，然后选择朴素贝叶斯、SVM等算法进行训练和评估。这与我们之前演示的外卖评论分类流程非常相似。</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除了传统方法，我们更应该尝试使用大语言模型。我们可以利用提示词少样本学习，在数据量较少的情况下快速构建模型；也可以使用标注数据对BERT等预训练模型进行微调，以获得更好的性能。通常情况下，大模型方法能够取得比传统方法更优的效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模型训练好之后，就需要将其部署到线上环境。我们通常会将模型封装成一个API服务，然后将这个API集成到直播间的后台系统中。这样，当用户提出问题时，系统就能实时调用API进行分类，并将问题分配给正确的回答者。</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项目上线后，效果评估和优化是一个持续的过程。我们需要监控模型的各项评估指标，并收集用户反馈。根据评估结果，我们可以通过调整提示词、增加训练数据、尝试不同模型等方式来不断优化模型性能，确保系统能够稳定、准确地运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通过这个实战项目，我们成功地将文本分类技术应用到了数字人直播间的场景中，完成了从理论到实践的跨越。展望未来，我们可以进一步探索多模态融合、模型压缩和个性化推荐等方向，让我们的系统变得更加智能和高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我们对本章内容进行一个总结。我们系统地学习了文本分类的各种方法和模型，掌握了分类器的训练过程，并通过一个实战项目将理论知识付诸实践。希望通过本章的学习，大家能够对文本分类技术有一个全面而深入的理解，并能够在实际工作中灵活运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本次课程到此结束，感谢大家的聆听！</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9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9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9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9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90204"/>
              <a:buNone/>
              <a:defRPr sz="3300" b="0" i="0" u="none" strike="noStrike" cap="none">
                <a:solidFill>
                  <a:schemeClr val="dk1"/>
                </a:solidFill>
                <a:latin typeface="Arial" panose="020B0604020202090204"/>
                <a:ea typeface="Arial" panose="020B0604020202090204"/>
                <a:cs typeface="Arial" panose="020B0604020202090204"/>
                <a:sym typeface="Arial" panose="020B060402020209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90204"/>
              <a:buChar char="•"/>
              <a:defRPr sz="2100" b="0" i="0" u="none" strike="noStrike" cap="none">
                <a:solidFill>
                  <a:schemeClr val="dk1"/>
                </a:solidFill>
                <a:latin typeface="Arial" panose="020B0604020202090204"/>
                <a:ea typeface="Arial" panose="020B0604020202090204"/>
                <a:cs typeface="Arial" panose="020B0604020202090204"/>
                <a:sym typeface="Arial" panose="020B0604020202090204"/>
              </a:defRPr>
            </a:lvl1pPr>
            <a:lvl2pPr marL="914400" marR="0" lvl="1" indent="-342900" algn="l" rtl="0">
              <a:lnSpc>
                <a:spcPct val="90000"/>
              </a:lnSpc>
              <a:spcBef>
                <a:spcPts val="400"/>
              </a:spcBef>
              <a:spcAft>
                <a:spcPts val="0"/>
              </a:spcAft>
              <a:buClr>
                <a:schemeClr val="dk1"/>
              </a:buClr>
              <a:buSzPts val="1800"/>
              <a:buFont typeface="Arial" panose="020B0604020202090204"/>
              <a:buChar char="•"/>
              <a:defRPr sz="18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L="1371600" marR="0" lvl="2" indent="-323850" algn="l" rtl="0">
              <a:lnSpc>
                <a:spcPct val="90000"/>
              </a:lnSpc>
              <a:spcBef>
                <a:spcPts val="400"/>
              </a:spcBef>
              <a:spcAft>
                <a:spcPts val="0"/>
              </a:spcAft>
              <a:buClr>
                <a:schemeClr val="dk1"/>
              </a:buClr>
              <a:buSzPts val="1500"/>
              <a:buFont typeface="Arial" panose="020B0604020202090204"/>
              <a:buChar char="•"/>
              <a:defRPr sz="15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L="1828800" marR="0" lvl="3"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L="2286000" marR="0" lvl="4"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L="2743200" marR="0" lvl="5"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L="3200400" marR="0" lvl="6"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L="3657600" marR="0" lvl="7"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L="4114800" marR="0" lvl="8"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R="0" lvl="1"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R="0" lvl="2"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R="0" lvl="3"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R="0" lvl="4"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R="0" lvl="5"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R="0" lvl="6"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R="0" lvl="7"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R="0" lvl="8"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R="0" lvl="1"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R="0" lvl="2"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R="0" lvl="3"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R="0" lvl="4"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R="0" lvl="5"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R="0" lvl="6"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R="0" lvl="7"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R="0" lvl="8"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L="0" marR="0" lvl="1"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2pPr>
            <a:lvl3pPr marL="0" marR="0" lvl="2"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3pPr>
            <a:lvl4pPr marL="0" marR="0" lvl="3"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4pPr>
            <a:lvl5pPr marL="0" marR="0" lvl="4"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5pPr>
            <a:lvl6pPr marL="0" marR="0" lvl="5"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6pPr>
            <a:lvl7pPr marL="0" marR="0" lvl="6"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7pPr>
            <a:lvl8pPr marL="0" marR="0" lvl="7"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8pPr>
            <a:lvl9pPr marL="0" marR="0" lvl="8"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notesSlide" Target="../notesSlides/notesSlide1.xml"/><Relationship Id="rId7" Type="http://schemas.openxmlformats.org/officeDocument/2006/relationships/slideLayout" Target="../slideLayouts/slideLayout12.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12.xml"/><Relationship Id="rId6" Type="http://schemas.openxmlformats.org/officeDocument/2006/relationships/image" Target="../media/image4.svg"/><Relationship Id="rId5" Type="http://schemas.openxmlformats.org/officeDocument/2006/relationships/image" Target="../media/image11.png"/><Relationship Id="rId4" Type="http://schemas.openxmlformats.org/officeDocument/2006/relationships/image" Target="../media/image10.svg"/><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12.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s>
</file>

<file path=ppt/slides/_rels/slide4.xml.rels><?xml version="1.0" encoding="UTF-8" standalone="yes"?>
<Relationships xmlns="http://schemas.openxmlformats.org/package/2006/relationships"><Relationship Id="rId9" Type="http://schemas.openxmlformats.org/officeDocument/2006/relationships/image" Target="../media/image25.png"/><Relationship Id="rId8" Type="http://schemas.openxmlformats.org/officeDocument/2006/relationships/image" Target="../media/image24.svg"/><Relationship Id="rId7" Type="http://schemas.openxmlformats.org/officeDocument/2006/relationships/image" Target="../media/image23.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6.svg"/><Relationship Id="rId3" Type="http://schemas.openxmlformats.org/officeDocument/2006/relationships/image" Target="../media/image20.png"/><Relationship Id="rId2" Type="http://schemas.openxmlformats.org/officeDocument/2006/relationships/image" Target="../media/image19.svg"/><Relationship Id="rId14" Type="http://schemas.openxmlformats.org/officeDocument/2006/relationships/notesSlide" Target="../notesSlides/notesSlide4.xml"/><Relationship Id="rId13" Type="http://schemas.openxmlformats.org/officeDocument/2006/relationships/slideLayout" Target="../slideLayouts/slideLayout12.xml"/><Relationship Id="rId12" Type="http://schemas.openxmlformats.org/officeDocument/2006/relationships/image" Target="../media/image15.svg"/><Relationship Id="rId11" Type="http://schemas.openxmlformats.org/officeDocument/2006/relationships/image" Target="../media/image27.png"/><Relationship Id="rId10" Type="http://schemas.openxmlformats.org/officeDocument/2006/relationships/image" Target="../media/image26.svg"/><Relationship Id="rId1" Type="http://schemas.openxmlformats.org/officeDocument/2006/relationships/image" Target="../media/image18.png"/></Relationships>
</file>

<file path=ppt/slides/_rels/slide5.xml.rels><?xml version="1.0" encoding="UTF-8" standalone="yes"?>
<Relationships xmlns="http://schemas.openxmlformats.org/package/2006/relationships"><Relationship Id="rId9" Type="http://schemas.openxmlformats.org/officeDocument/2006/relationships/image" Target="../media/image20.png"/><Relationship Id="rId8" Type="http://schemas.openxmlformats.org/officeDocument/2006/relationships/image" Target="../media/image32.svg"/><Relationship Id="rId7" Type="http://schemas.openxmlformats.org/officeDocument/2006/relationships/image" Target="../media/image31.png"/><Relationship Id="rId6" Type="http://schemas.openxmlformats.org/officeDocument/2006/relationships/image" Target="../media/image15.svg"/><Relationship Id="rId5" Type="http://schemas.openxmlformats.org/officeDocument/2006/relationships/image" Target="../media/image27.png"/><Relationship Id="rId4" Type="http://schemas.openxmlformats.org/officeDocument/2006/relationships/image" Target="../media/image26.svg"/><Relationship Id="rId3" Type="http://schemas.openxmlformats.org/officeDocument/2006/relationships/image" Target="../media/image30.png"/><Relationship Id="rId2" Type="http://schemas.openxmlformats.org/officeDocument/2006/relationships/image" Target="../media/image29.svg"/><Relationship Id="rId12" Type="http://schemas.openxmlformats.org/officeDocument/2006/relationships/notesSlide" Target="../notesSlides/notesSlide5.xml"/><Relationship Id="rId11" Type="http://schemas.openxmlformats.org/officeDocument/2006/relationships/slideLayout" Target="../slideLayouts/slideLayout12.xml"/><Relationship Id="rId10" Type="http://schemas.openxmlformats.org/officeDocument/2006/relationships/image" Target="../media/image6.svg"/><Relationship Id="rId1" Type="http://schemas.openxmlformats.org/officeDocument/2006/relationships/image" Target="../media/image28.png"/></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12.xml"/><Relationship Id="rId6" Type="http://schemas.openxmlformats.org/officeDocument/2006/relationships/image" Target="../media/image19.svg"/><Relationship Id="rId5" Type="http://schemas.openxmlformats.org/officeDocument/2006/relationships/image" Target="../media/image35.png"/><Relationship Id="rId4" Type="http://schemas.openxmlformats.org/officeDocument/2006/relationships/image" Target="../media/image34.svg"/><Relationship Id="rId3" Type="http://schemas.openxmlformats.org/officeDocument/2006/relationships/image" Target="../media/image33.png"/><Relationship Id="rId2" Type="http://schemas.openxmlformats.org/officeDocument/2006/relationships/image" Target="../media/image15.svg"/><Relationship Id="rId1" Type="http://schemas.openxmlformats.org/officeDocument/2006/relationships/image" Target="../media/image27.png"/></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7.xml"/><Relationship Id="rId7" Type="http://schemas.openxmlformats.org/officeDocument/2006/relationships/slideLayout" Target="../slideLayouts/slideLayout12.xml"/><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37.svg"/><Relationship Id="rId3" Type="http://schemas.openxmlformats.org/officeDocument/2006/relationships/image" Target="../media/image36.png"/><Relationship Id="rId2" Type="http://schemas.openxmlformats.org/officeDocument/2006/relationships/image" Target="../media/image26.svg"/><Relationship Id="rId1" Type="http://schemas.openxmlformats.org/officeDocument/2006/relationships/image" Target="../media/image30.png"/></Relationships>
</file>

<file path=ppt/slides/_rels/slide8.xml.rels><?xml version="1.0" encoding="UTF-8" standalone="yes"?>
<Relationships xmlns="http://schemas.openxmlformats.org/package/2006/relationships"><Relationship Id="rId9" Type="http://schemas.openxmlformats.org/officeDocument/2006/relationships/image" Target="../media/image46.png"/><Relationship Id="rId8" Type="http://schemas.openxmlformats.org/officeDocument/2006/relationships/image" Target="../media/image45.svg"/><Relationship Id="rId7" Type="http://schemas.openxmlformats.org/officeDocument/2006/relationships/image" Target="../media/image44.png"/><Relationship Id="rId6" Type="http://schemas.openxmlformats.org/officeDocument/2006/relationships/image" Target="../media/image10.svg"/><Relationship Id="rId5" Type="http://schemas.openxmlformats.org/officeDocument/2006/relationships/image" Target="../media/image43.png"/><Relationship Id="rId4" Type="http://schemas.openxmlformats.org/officeDocument/2006/relationships/image" Target="../media/image42.svg"/><Relationship Id="rId3" Type="http://schemas.openxmlformats.org/officeDocument/2006/relationships/image" Target="../media/image41.png"/><Relationship Id="rId2" Type="http://schemas.openxmlformats.org/officeDocument/2006/relationships/image" Target="../media/image29.svg"/><Relationship Id="rId12" Type="http://schemas.openxmlformats.org/officeDocument/2006/relationships/notesSlide" Target="../notesSlides/notesSlide8.xml"/><Relationship Id="rId11" Type="http://schemas.openxmlformats.org/officeDocument/2006/relationships/slideLayout" Target="../slideLayouts/slideLayout12.xml"/><Relationship Id="rId10" Type="http://schemas.openxmlformats.org/officeDocument/2006/relationships/image" Target="../media/image47.svg"/><Relationship Id="rId1" Type="http://schemas.openxmlformats.org/officeDocument/2006/relationships/image" Target="../media/image40.png"/></Relationships>
</file>

<file path=ppt/slides/_rels/slide9.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55.svg"/><Relationship Id="rId7" Type="http://schemas.openxmlformats.org/officeDocument/2006/relationships/image" Target="../media/image54.png"/><Relationship Id="rId6" Type="http://schemas.openxmlformats.org/officeDocument/2006/relationships/image" Target="../media/image53.svg"/><Relationship Id="rId5" Type="http://schemas.openxmlformats.org/officeDocument/2006/relationships/image" Target="../media/image52.png"/><Relationship Id="rId4" Type="http://schemas.openxmlformats.org/officeDocument/2006/relationships/image" Target="../media/image51.svg"/><Relationship Id="rId3" Type="http://schemas.openxmlformats.org/officeDocument/2006/relationships/image" Target="../media/image50.png"/><Relationship Id="rId2" Type="http://schemas.openxmlformats.org/officeDocument/2006/relationships/image" Target="../media/image49.svg"/><Relationship Id="rId10" Type="http://schemas.openxmlformats.org/officeDocument/2006/relationships/notesSlide" Target="../notesSlides/notesSlide9.xml"/><Relationship Id="rId1" Type="http://schemas.openxmlformats.org/officeDocument/2006/relationships/image" Target="../media/image4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12.xml"/><Relationship Id="rId7" Type="http://schemas.openxmlformats.org/officeDocument/2006/relationships/slideLayout" Target="../slideLayouts/slideLayout12.xml"/><Relationship Id="rId6" Type="http://schemas.openxmlformats.org/officeDocument/2006/relationships/image" Target="../media/image61.svg"/><Relationship Id="rId5" Type="http://schemas.openxmlformats.org/officeDocument/2006/relationships/image" Target="../media/image60.png"/><Relationship Id="rId4" Type="http://schemas.openxmlformats.org/officeDocument/2006/relationships/image" Target="../media/image59.svg"/><Relationship Id="rId3" Type="http://schemas.openxmlformats.org/officeDocument/2006/relationships/image" Target="../media/image58.png"/><Relationship Id="rId2" Type="http://schemas.openxmlformats.org/officeDocument/2006/relationships/image" Target="../media/image57.svg"/><Relationship Id="rId1" Type="http://schemas.openxmlformats.org/officeDocument/2006/relationships/image" Target="../media/image56.png"/></Relationships>
</file>

<file path=ppt/slides/_rels/slide13.xml.rels><?xml version="1.0" encoding="UTF-8" standalone="yes"?>
<Relationships xmlns="http://schemas.openxmlformats.org/package/2006/relationships"><Relationship Id="rId9" Type="http://schemas.openxmlformats.org/officeDocument/2006/relationships/image" Target="../media/image68.svg"/><Relationship Id="rId8" Type="http://schemas.openxmlformats.org/officeDocument/2006/relationships/image" Target="../media/image67.png"/><Relationship Id="rId7" Type="http://schemas.openxmlformats.org/officeDocument/2006/relationships/image" Target="../media/image15.svg"/><Relationship Id="rId6" Type="http://schemas.openxmlformats.org/officeDocument/2006/relationships/image" Target="../media/image27.png"/><Relationship Id="rId5" Type="http://schemas.openxmlformats.org/officeDocument/2006/relationships/image" Target="../media/image66.svg"/><Relationship Id="rId4" Type="http://schemas.openxmlformats.org/officeDocument/2006/relationships/image" Target="../media/image65.png"/><Relationship Id="rId3" Type="http://schemas.openxmlformats.org/officeDocument/2006/relationships/image" Target="../media/image64.svg"/><Relationship Id="rId2" Type="http://schemas.openxmlformats.org/officeDocument/2006/relationships/image" Target="../media/image63.png"/><Relationship Id="rId13" Type="http://schemas.openxmlformats.org/officeDocument/2006/relationships/notesSlide" Target="../notesSlides/notesSlide13.xml"/><Relationship Id="rId12" Type="http://schemas.openxmlformats.org/officeDocument/2006/relationships/slideLayout" Target="../slideLayouts/slideLayout12.xml"/><Relationship Id="rId11" Type="http://schemas.openxmlformats.org/officeDocument/2006/relationships/image" Target="../media/image70.svg"/><Relationship Id="rId10" Type="http://schemas.openxmlformats.org/officeDocument/2006/relationships/image" Target="../media/image69.png"/><Relationship Id="rId1" Type="http://schemas.openxmlformats.org/officeDocument/2006/relationships/image" Target="../media/image62.png"/></Relationships>
</file>

<file path=ppt/slides/_rels/slide14.xml.rels><?xml version="1.0" encoding="UTF-8" standalone="yes"?>
<Relationships xmlns="http://schemas.openxmlformats.org/package/2006/relationships"><Relationship Id="rId9" Type="http://schemas.openxmlformats.org/officeDocument/2006/relationships/notesSlide" Target="../notesSlides/notesSlide14.xml"/><Relationship Id="rId8" Type="http://schemas.openxmlformats.org/officeDocument/2006/relationships/slideLayout" Target="../slideLayouts/slideLayout12.xml"/><Relationship Id="rId7" Type="http://schemas.openxmlformats.org/officeDocument/2006/relationships/image" Target="../media/image76.svg"/><Relationship Id="rId6" Type="http://schemas.openxmlformats.org/officeDocument/2006/relationships/image" Target="../media/image75.png"/><Relationship Id="rId5" Type="http://schemas.openxmlformats.org/officeDocument/2006/relationships/image" Target="../media/image74.svg"/><Relationship Id="rId4" Type="http://schemas.openxmlformats.org/officeDocument/2006/relationships/image" Target="../media/image73.png"/><Relationship Id="rId3" Type="http://schemas.openxmlformats.org/officeDocument/2006/relationships/image" Target="../media/image8.svg"/><Relationship Id="rId2" Type="http://schemas.openxmlformats.org/officeDocument/2006/relationships/image" Target="../media/image72.png"/><Relationship Id="rId1" Type="http://schemas.openxmlformats.org/officeDocument/2006/relationships/image" Target="../media/image71.png"/></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15.xml"/><Relationship Id="rId7" Type="http://schemas.openxmlformats.org/officeDocument/2006/relationships/slideLayout" Target="../slideLayouts/slideLayout12.xml"/><Relationship Id="rId6" Type="http://schemas.openxmlformats.org/officeDocument/2006/relationships/image" Target="../media/image55.svg"/><Relationship Id="rId5" Type="http://schemas.openxmlformats.org/officeDocument/2006/relationships/image" Target="../media/image81.png"/><Relationship Id="rId4" Type="http://schemas.openxmlformats.org/officeDocument/2006/relationships/image" Target="../media/image80.svg"/><Relationship Id="rId3" Type="http://schemas.openxmlformats.org/officeDocument/2006/relationships/image" Target="../media/image79.png"/><Relationship Id="rId2" Type="http://schemas.openxmlformats.org/officeDocument/2006/relationships/image" Target="../media/image78.svg"/><Relationship Id="rId1" Type="http://schemas.openxmlformats.org/officeDocument/2006/relationships/image" Target="../media/image77.png"/></Relationships>
</file>

<file path=ppt/slides/_rels/slide16.xml.rels><?xml version="1.0" encoding="UTF-8" standalone="yes"?>
<Relationships xmlns="http://schemas.openxmlformats.org/package/2006/relationships"><Relationship Id="rId9" Type="http://schemas.openxmlformats.org/officeDocument/2006/relationships/image" Target="../media/image82.png"/><Relationship Id="rId8" Type="http://schemas.openxmlformats.org/officeDocument/2006/relationships/image" Target="../media/image74.svg"/><Relationship Id="rId7" Type="http://schemas.openxmlformats.org/officeDocument/2006/relationships/image" Target="../media/image73.png"/><Relationship Id="rId6" Type="http://schemas.openxmlformats.org/officeDocument/2006/relationships/image" Target="../media/image78.svg"/><Relationship Id="rId5" Type="http://schemas.openxmlformats.org/officeDocument/2006/relationships/image" Target="../media/image77.png"/><Relationship Id="rId4" Type="http://schemas.openxmlformats.org/officeDocument/2006/relationships/image" Target="../media/image66.svg"/><Relationship Id="rId3" Type="http://schemas.openxmlformats.org/officeDocument/2006/relationships/image" Target="../media/image65.png"/><Relationship Id="rId2" Type="http://schemas.openxmlformats.org/officeDocument/2006/relationships/image" Target="../media/image64.svg"/><Relationship Id="rId12" Type="http://schemas.openxmlformats.org/officeDocument/2006/relationships/notesSlide" Target="../notesSlides/notesSlide16.xml"/><Relationship Id="rId11" Type="http://schemas.openxmlformats.org/officeDocument/2006/relationships/slideLayout" Target="../slideLayouts/slideLayout12.xml"/><Relationship Id="rId10" Type="http://schemas.openxmlformats.org/officeDocument/2006/relationships/image" Target="../media/image45.svg"/><Relationship Id="rId1" Type="http://schemas.openxmlformats.org/officeDocument/2006/relationships/image" Target="../media/image63.png"/></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17.xml"/><Relationship Id="rId7" Type="http://schemas.openxmlformats.org/officeDocument/2006/relationships/slideLayout" Target="../slideLayouts/slideLayout12.xml"/><Relationship Id="rId6" Type="http://schemas.openxmlformats.org/officeDocument/2006/relationships/image" Target="../media/image24.svg"/><Relationship Id="rId5" Type="http://schemas.openxmlformats.org/officeDocument/2006/relationships/image" Target="../media/image85.png"/><Relationship Id="rId4" Type="http://schemas.openxmlformats.org/officeDocument/2006/relationships/image" Target="../media/image78.svg"/><Relationship Id="rId3" Type="http://schemas.openxmlformats.org/officeDocument/2006/relationships/image" Target="../media/image77.png"/><Relationship Id="rId2" Type="http://schemas.openxmlformats.org/officeDocument/2006/relationships/image" Target="../media/image84.svg"/><Relationship Id="rId1" Type="http://schemas.openxmlformats.org/officeDocument/2006/relationships/image" Target="../media/image83.png"/></Relationships>
</file>

<file path=ppt/slides/_rels/slide18.xml.rels><?xml version="1.0" encoding="UTF-8" standalone="yes"?>
<Relationships xmlns="http://schemas.openxmlformats.org/package/2006/relationships"><Relationship Id="rId9" Type="http://schemas.openxmlformats.org/officeDocument/2006/relationships/image" Target="../media/image93.png"/><Relationship Id="rId8" Type="http://schemas.openxmlformats.org/officeDocument/2006/relationships/image" Target="../media/image92.svg"/><Relationship Id="rId7" Type="http://schemas.openxmlformats.org/officeDocument/2006/relationships/image" Target="../media/image91.png"/><Relationship Id="rId6" Type="http://schemas.openxmlformats.org/officeDocument/2006/relationships/image" Target="../media/image13.svg"/><Relationship Id="rId5" Type="http://schemas.openxmlformats.org/officeDocument/2006/relationships/image" Target="../media/image90.png"/><Relationship Id="rId4" Type="http://schemas.openxmlformats.org/officeDocument/2006/relationships/image" Target="../media/image89.svg"/><Relationship Id="rId3" Type="http://schemas.openxmlformats.org/officeDocument/2006/relationships/image" Target="../media/image88.png"/><Relationship Id="rId2" Type="http://schemas.openxmlformats.org/officeDocument/2006/relationships/image" Target="../media/image87.svg"/><Relationship Id="rId12" Type="http://schemas.openxmlformats.org/officeDocument/2006/relationships/notesSlide" Target="../notesSlides/notesSlide18.xml"/><Relationship Id="rId11" Type="http://schemas.openxmlformats.org/officeDocument/2006/relationships/slideLayout" Target="../slideLayouts/slideLayout12.xml"/><Relationship Id="rId10" Type="http://schemas.openxmlformats.org/officeDocument/2006/relationships/image" Target="../media/image39.svg"/><Relationship Id="rId1" Type="http://schemas.openxmlformats.org/officeDocument/2006/relationships/image" Target="../media/image86.png"/></Relationships>
</file>

<file path=ppt/slides/_rels/slide19.xml.rels><?xml version="1.0" encoding="UTF-8" standalone="yes"?>
<Relationships xmlns="http://schemas.openxmlformats.org/package/2006/relationships"><Relationship Id="rId6" Type="http://schemas.openxmlformats.org/officeDocument/2006/relationships/notesSlide" Target="../notesSlides/notesSlide19.xml"/><Relationship Id="rId5" Type="http://schemas.openxmlformats.org/officeDocument/2006/relationships/slideLayout" Target="../slideLayouts/slideLayout12.xml"/><Relationship Id="rId4" Type="http://schemas.openxmlformats.org/officeDocument/2006/relationships/image" Target="../media/image39.svg"/><Relationship Id="rId3" Type="http://schemas.openxmlformats.org/officeDocument/2006/relationships/image" Target="../media/image93.png"/><Relationship Id="rId2" Type="http://schemas.openxmlformats.org/officeDocument/2006/relationships/image" Target="../media/image95.svg"/><Relationship Id="rId1" Type="http://schemas.openxmlformats.org/officeDocument/2006/relationships/image" Target="../media/image94.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2.xml"/><Relationship Id="rId2" Type="http://schemas.openxmlformats.org/officeDocument/2006/relationships/image" Target="../media/image84.svg"/><Relationship Id="rId1" Type="http://schemas.openxmlformats.org/officeDocument/2006/relationships/image" Target="../media/image83.png"/></Relationships>
</file>

<file path=ppt/slides/_rels/slide21.xml.rels><?xml version="1.0" encoding="UTF-8" standalone="yes"?>
<Relationships xmlns="http://schemas.openxmlformats.org/package/2006/relationships"><Relationship Id="rId8" Type="http://schemas.openxmlformats.org/officeDocument/2006/relationships/notesSlide" Target="../notesSlides/notesSlide21.xml"/><Relationship Id="rId7" Type="http://schemas.openxmlformats.org/officeDocument/2006/relationships/slideLayout" Target="../slideLayouts/slideLayout12.xml"/><Relationship Id="rId6" Type="http://schemas.openxmlformats.org/officeDocument/2006/relationships/image" Target="../media/image97.svg"/><Relationship Id="rId5" Type="http://schemas.openxmlformats.org/officeDocument/2006/relationships/image" Target="../media/image96.png"/><Relationship Id="rId4" Type="http://schemas.openxmlformats.org/officeDocument/2006/relationships/image" Target="../media/image66.svg"/><Relationship Id="rId3" Type="http://schemas.openxmlformats.org/officeDocument/2006/relationships/image" Target="../media/image65.png"/><Relationship Id="rId2" Type="http://schemas.openxmlformats.org/officeDocument/2006/relationships/image" Target="../media/image84.svg"/><Relationship Id="rId1" Type="http://schemas.openxmlformats.org/officeDocument/2006/relationships/image" Target="../media/image83.png"/></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22.xml"/><Relationship Id="rId5" Type="http://schemas.openxmlformats.org/officeDocument/2006/relationships/slideLayout" Target="../slideLayouts/slideLayout12.xml"/><Relationship Id="rId4" Type="http://schemas.openxmlformats.org/officeDocument/2006/relationships/image" Target="../media/image39.svg"/><Relationship Id="rId3" Type="http://schemas.openxmlformats.org/officeDocument/2006/relationships/image" Target="../media/image93.png"/><Relationship Id="rId2" Type="http://schemas.openxmlformats.org/officeDocument/2006/relationships/image" Target="../media/image84.svg"/><Relationship Id="rId1" Type="http://schemas.openxmlformats.org/officeDocument/2006/relationships/image" Target="../media/image83.png"/></Relationships>
</file>

<file path=ppt/slides/_rels/slide23.xml.rels><?xml version="1.0" encoding="UTF-8" standalone="yes"?>
<Relationships xmlns="http://schemas.openxmlformats.org/package/2006/relationships"><Relationship Id="rId6" Type="http://schemas.openxmlformats.org/officeDocument/2006/relationships/notesSlide" Target="../notesSlides/notesSlide23.xml"/><Relationship Id="rId5" Type="http://schemas.openxmlformats.org/officeDocument/2006/relationships/slideLayout" Target="../slideLayouts/slideLayout12.xml"/><Relationship Id="rId4" Type="http://schemas.openxmlformats.org/officeDocument/2006/relationships/image" Target="../media/image39.svg"/><Relationship Id="rId3" Type="http://schemas.openxmlformats.org/officeDocument/2006/relationships/image" Target="../media/image93.png"/><Relationship Id="rId2" Type="http://schemas.openxmlformats.org/officeDocument/2006/relationships/image" Target="../media/image78.svg"/><Relationship Id="rId1" Type="http://schemas.openxmlformats.org/officeDocument/2006/relationships/image" Target="../media/image77.png"/></Relationships>
</file>

<file path=ppt/slides/_rels/slide24.xml.rels><?xml version="1.0" encoding="UTF-8" standalone="yes"?>
<Relationships xmlns="http://schemas.openxmlformats.org/package/2006/relationships"><Relationship Id="rId6" Type="http://schemas.openxmlformats.org/officeDocument/2006/relationships/notesSlide" Target="../notesSlides/notesSlide24.xml"/><Relationship Id="rId5" Type="http://schemas.openxmlformats.org/officeDocument/2006/relationships/slideLayout" Target="../slideLayouts/slideLayout12.xml"/><Relationship Id="rId4" Type="http://schemas.openxmlformats.org/officeDocument/2006/relationships/image" Target="../media/image39.svg"/><Relationship Id="rId3" Type="http://schemas.openxmlformats.org/officeDocument/2006/relationships/image" Target="../media/image93.png"/><Relationship Id="rId2" Type="http://schemas.openxmlformats.org/officeDocument/2006/relationships/image" Target="../media/image68.svg"/><Relationship Id="rId1" Type="http://schemas.openxmlformats.org/officeDocument/2006/relationships/image" Target="../media/image67.png"/></Relationships>
</file>

<file path=ppt/slides/_rels/slide25.xml.rels><?xml version="1.0" encoding="UTF-8" standalone="yes"?>
<Relationships xmlns="http://schemas.openxmlformats.org/package/2006/relationships"><Relationship Id="rId6" Type="http://schemas.openxmlformats.org/officeDocument/2006/relationships/notesSlide" Target="../notesSlides/notesSlide25.xml"/><Relationship Id="rId5" Type="http://schemas.openxmlformats.org/officeDocument/2006/relationships/slideLayout" Target="../slideLayouts/slideLayout12.xml"/><Relationship Id="rId4" Type="http://schemas.openxmlformats.org/officeDocument/2006/relationships/image" Target="../media/image99.svg"/><Relationship Id="rId3" Type="http://schemas.openxmlformats.org/officeDocument/2006/relationships/image" Target="../media/image98.png"/><Relationship Id="rId2" Type="http://schemas.openxmlformats.org/officeDocument/2006/relationships/image" Target="../media/image6.svg"/><Relationship Id="rId1" Type="http://schemas.openxmlformats.org/officeDocument/2006/relationships/image" Target="../media/image20.png"/></Relationships>
</file>

<file path=ppt/slides/_rels/slide26.xml.rels><?xml version="1.0" encoding="UTF-8" standalone="yes"?>
<Relationships xmlns="http://schemas.openxmlformats.org/package/2006/relationships"><Relationship Id="rId8" Type="http://schemas.openxmlformats.org/officeDocument/2006/relationships/notesSlide" Target="../notesSlides/notesSlide26.xml"/><Relationship Id="rId7" Type="http://schemas.openxmlformats.org/officeDocument/2006/relationships/slideLayout" Target="../slideLayouts/slideLayout12.xml"/><Relationship Id="rId6" Type="http://schemas.openxmlformats.org/officeDocument/2006/relationships/image" Target="../media/image39.svg"/><Relationship Id="rId5" Type="http://schemas.openxmlformats.org/officeDocument/2006/relationships/image" Target="../media/image93.png"/><Relationship Id="rId4" Type="http://schemas.openxmlformats.org/officeDocument/2006/relationships/image" Target="../media/image101.svg"/><Relationship Id="rId3" Type="http://schemas.openxmlformats.org/officeDocument/2006/relationships/image" Target="../media/image100.png"/><Relationship Id="rId2" Type="http://schemas.openxmlformats.org/officeDocument/2006/relationships/image" Target="../media/image92.svg"/><Relationship Id="rId1" Type="http://schemas.openxmlformats.org/officeDocument/2006/relationships/image" Target="../media/image91.png"/></Relationships>
</file>

<file path=ppt/slides/_rels/slide27.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5.svg"/><Relationship Id="rId7" Type="http://schemas.openxmlformats.org/officeDocument/2006/relationships/image" Target="../media/image27.png"/><Relationship Id="rId6" Type="http://schemas.openxmlformats.org/officeDocument/2006/relationships/image" Target="../media/image6.svg"/><Relationship Id="rId5" Type="http://schemas.openxmlformats.org/officeDocument/2006/relationships/image" Target="../media/image20.png"/><Relationship Id="rId4" Type="http://schemas.openxmlformats.org/officeDocument/2006/relationships/image" Target="../media/image103.svg"/><Relationship Id="rId3" Type="http://schemas.openxmlformats.org/officeDocument/2006/relationships/image" Target="../media/image102.png"/><Relationship Id="rId2" Type="http://schemas.openxmlformats.org/officeDocument/2006/relationships/image" Target="../media/image29.svg"/><Relationship Id="rId10" Type="http://schemas.openxmlformats.org/officeDocument/2006/relationships/notesSlide" Target="../notesSlides/notesSlide27.xml"/><Relationship Id="rId1" Type="http://schemas.openxmlformats.org/officeDocument/2006/relationships/image" Target="../media/image40.png"/></Relationships>
</file>

<file path=ppt/slides/_rels/slide28.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3.svg"/><Relationship Id="rId7" Type="http://schemas.openxmlformats.org/officeDocument/2006/relationships/image" Target="../media/image90.png"/><Relationship Id="rId6" Type="http://schemas.openxmlformats.org/officeDocument/2006/relationships/image" Target="../media/image49.svg"/><Relationship Id="rId5" Type="http://schemas.openxmlformats.org/officeDocument/2006/relationships/image" Target="../media/image106.png"/><Relationship Id="rId4" Type="http://schemas.openxmlformats.org/officeDocument/2006/relationships/image" Target="../media/image8.svg"/><Relationship Id="rId3" Type="http://schemas.openxmlformats.org/officeDocument/2006/relationships/image" Target="../media/image72.png"/><Relationship Id="rId2" Type="http://schemas.openxmlformats.org/officeDocument/2006/relationships/image" Target="../media/image105.svg"/><Relationship Id="rId10" Type="http://schemas.openxmlformats.org/officeDocument/2006/relationships/notesSlide" Target="../notesSlides/notesSlide28.xml"/><Relationship Id="rId1" Type="http://schemas.openxmlformats.org/officeDocument/2006/relationships/image" Target="../media/image104.png"/></Relationships>
</file>

<file path=ppt/slides/_rels/slide29.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12.svg"/><Relationship Id="rId7" Type="http://schemas.openxmlformats.org/officeDocument/2006/relationships/image" Target="../media/image111.png"/><Relationship Id="rId6" Type="http://schemas.openxmlformats.org/officeDocument/2006/relationships/image" Target="../media/image110.svg"/><Relationship Id="rId5" Type="http://schemas.openxmlformats.org/officeDocument/2006/relationships/image" Target="../media/image109.png"/><Relationship Id="rId4" Type="http://schemas.openxmlformats.org/officeDocument/2006/relationships/image" Target="../media/image108.svg"/><Relationship Id="rId3" Type="http://schemas.openxmlformats.org/officeDocument/2006/relationships/image" Target="../media/image107.png"/><Relationship Id="rId2" Type="http://schemas.openxmlformats.org/officeDocument/2006/relationships/image" Target="../media/image105.svg"/><Relationship Id="rId10" Type="http://schemas.openxmlformats.org/officeDocument/2006/relationships/notesSlide" Target="../notesSlides/notesSlide29.xml"/><Relationship Id="rId1" Type="http://schemas.openxmlformats.org/officeDocument/2006/relationships/image" Target="../media/image104.png"/></Relationships>
</file>

<file path=ppt/slides/_rels/slide30.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39.svg"/><Relationship Id="rId7" Type="http://schemas.openxmlformats.org/officeDocument/2006/relationships/image" Target="../media/image93.png"/><Relationship Id="rId6" Type="http://schemas.openxmlformats.org/officeDocument/2006/relationships/image" Target="../media/image116.svg"/><Relationship Id="rId5" Type="http://schemas.openxmlformats.org/officeDocument/2006/relationships/image" Target="../media/image115.png"/><Relationship Id="rId4" Type="http://schemas.openxmlformats.org/officeDocument/2006/relationships/image" Target="../media/image114.svg"/><Relationship Id="rId3" Type="http://schemas.openxmlformats.org/officeDocument/2006/relationships/image" Target="../media/image113.png"/><Relationship Id="rId2" Type="http://schemas.openxmlformats.org/officeDocument/2006/relationships/image" Target="../media/image105.svg"/><Relationship Id="rId10" Type="http://schemas.openxmlformats.org/officeDocument/2006/relationships/notesSlide" Target="../notesSlides/notesSlide30.xml"/><Relationship Id="rId1" Type="http://schemas.openxmlformats.org/officeDocument/2006/relationships/image" Target="../media/image104.png"/></Relationships>
</file>

<file path=ppt/slides/_rels/slide31.xml.rels><?xml version="1.0" encoding="UTF-8" standalone="yes"?>
<Relationships xmlns="http://schemas.openxmlformats.org/package/2006/relationships"><Relationship Id="rId9" Type="http://schemas.openxmlformats.org/officeDocument/2006/relationships/image" Target="../media/image43.png"/><Relationship Id="rId8" Type="http://schemas.openxmlformats.org/officeDocument/2006/relationships/image" Target="../media/image119.svg"/><Relationship Id="rId7" Type="http://schemas.openxmlformats.org/officeDocument/2006/relationships/image" Target="../media/image118.png"/><Relationship Id="rId6" Type="http://schemas.openxmlformats.org/officeDocument/2006/relationships/image" Target="../media/image26.svg"/><Relationship Id="rId5" Type="http://schemas.openxmlformats.org/officeDocument/2006/relationships/image" Target="../media/image30.png"/><Relationship Id="rId4" Type="http://schemas.openxmlformats.org/officeDocument/2006/relationships/image" Target="../media/image42.svg"/><Relationship Id="rId3" Type="http://schemas.openxmlformats.org/officeDocument/2006/relationships/image" Target="../media/image117.png"/><Relationship Id="rId2" Type="http://schemas.openxmlformats.org/officeDocument/2006/relationships/image" Target="../media/image29.svg"/><Relationship Id="rId14" Type="http://schemas.openxmlformats.org/officeDocument/2006/relationships/notesSlide" Target="../notesSlides/notesSlide31.xml"/><Relationship Id="rId13" Type="http://schemas.openxmlformats.org/officeDocument/2006/relationships/slideLayout" Target="../slideLayouts/slideLayout12.xml"/><Relationship Id="rId12" Type="http://schemas.openxmlformats.org/officeDocument/2006/relationships/image" Target="../media/image45.svg"/><Relationship Id="rId11" Type="http://schemas.openxmlformats.org/officeDocument/2006/relationships/image" Target="../media/image82.png"/><Relationship Id="rId10" Type="http://schemas.openxmlformats.org/officeDocument/2006/relationships/image" Target="../media/image10.svg"/><Relationship Id="rId1" Type="http://schemas.openxmlformats.org/officeDocument/2006/relationships/image" Target="../media/image40.png"/></Relationships>
</file>

<file path=ppt/slides/_rels/slide32.xml.rels><?xml version="1.0" encoding="UTF-8" standalone="yes"?>
<Relationships xmlns="http://schemas.openxmlformats.org/package/2006/relationships"><Relationship Id="rId9" Type="http://schemas.openxmlformats.org/officeDocument/2006/relationships/image" Target="../media/image123.png"/><Relationship Id="rId8" Type="http://schemas.openxmlformats.org/officeDocument/2006/relationships/image" Target="../media/image24.svg"/><Relationship Id="rId7" Type="http://schemas.openxmlformats.org/officeDocument/2006/relationships/image" Target="../media/image85.png"/><Relationship Id="rId6" Type="http://schemas.openxmlformats.org/officeDocument/2006/relationships/image" Target="../media/image17.svg"/><Relationship Id="rId5" Type="http://schemas.openxmlformats.org/officeDocument/2006/relationships/image" Target="../media/image122.png"/><Relationship Id="rId4" Type="http://schemas.openxmlformats.org/officeDocument/2006/relationships/image" Target="../media/image55.svg"/><Relationship Id="rId3" Type="http://schemas.openxmlformats.org/officeDocument/2006/relationships/image" Target="../media/image81.png"/><Relationship Id="rId20" Type="http://schemas.openxmlformats.org/officeDocument/2006/relationships/notesSlide" Target="../notesSlides/notesSlide32.xml"/><Relationship Id="rId2" Type="http://schemas.openxmlformats.org/officeDocument/2006/relationships/image" Target="../media/image121.svg"/><Relationship Id="rId19" Type="http://schemas.openxmlformats.org/officeDocument/2006/relationships/slideLayout" Target="../slideLayouts/slideLayout12.xml"/><Relationship Id="rId18" Type="http://schemas.openxmlformats.org/officeDocument/2006/relationships/image" Target="../media/image39.svg"/><Relationship Id="rId17" Type="http://schemas.openxmlformats.org/officeDocument/2006/relationships/image" Target="../media/image93.png"/><Relationship Id="rId16" Type="http://schemas.openxmlformats.org/officeDocument/2006/relationships/image" Target="../media/image130.svg"/><Relationship Id="rId15" Type="http://schemas.openxmlformats.org/officeDocument/2006/relationships/image" Target="../media/image129.png"/><Relationship Id="rId14" Type="http://schemas.openxmlformats.org/officeDocument/2006/relationships/image" Target="../media/image128.svg"/><Relationship Id="rId13" Type="http://schemas.openxmlformats.org/officeDocument/2006/relationships/image" Target="../media/image127.png"/><Relationship Id="rId12" Type="http://schemas.openxmlformats.org/officeDocument/2006/relationships/image" Target="../media/image126.svg"/><Relationship Id="rId11" Type="http://schemas.openxmlformats.org/officeDocument/2006/relationships/image" Target="../media/image125.png"/><Relationship Id="rId10" Type="http://schemas.openxmlformats.org/officeDocument/2006/relationships/image" Target="../media/image124.svg"/><Relationship Id="rId1" Type="http://schemas.openxmlformats.org/officeDocument/2006/relationships/image" Target="../media/image120.png"/></Relationships>
</file>

<file path=ppt/slides/_rels/slide33.xml.rels><?xml version="1.0" encoding="UTF-8" standalone="yes"?>
<Relationships xmlns="http://schemas.openxmlformats.org/package/2006/relationships"><Relationship Id="rId8" Type="http://schemas.openxmlformats.org/officeDocument/2006/relationships/notesSlide" Target="../notesSlides/notesSlide33.xml"/><Relationship Id="rId7" Type="http://schemas.openxmlformats.org/officeDocument/2006/relationships/slideLayout" Target="../slideLayouts/slideLayout12.xml"/><Relationship Id="rId6" Type="http://schemas.openxmlformats.org/officeDocument/2006/relationships/image" Target="../media/image87.svg"/><Relationship Id="rId5" Type="http://schemas.openxmlformats.org/officeDocument/2006/relationships/image" Target="../media/image86.png"/><Relationship Id="rId4" Type="http://schemas.openxmlformats.org/officeDocument/2006/relationships/image" Target="../media/image103.svg"/><Relationship Id="rId3" Type="http://schemas.openxmlformats.org/officeDocument/2006/relationships/image" Target="../media/image102.png"/><Relationship Id="rId2" Type="http://schemas.openxmlformats.org/officeDocument/2006/relationships/image" Target="../media/image132.svg"/><Relationship Id="rId1" Type="http://schemas.openxmlformats.org/officeDocument/2006/relationships/image" Target="../media/image131.png"/></Relationships>
</file>

<file path=ppt/slides/_rels/slide34.xml.rels><?xml version="1.0" encoding="UTF-8" standalone="yes"?>
<Relationships xmlns="http://schemas.openxmlformats.org/package/2006/relationships"><Relationship Id="rId9" Type="http://schemas.openxmlformats.org/officeDocument/2006/relationships/image" Target="../media/image67.png"/><Relationship Id="rId8" Type="http://schemas.openxmlformats.org/officeDocument/2006/relationships/image" Target="../media/image138.svg"/><Relationship Id="rId7" Type="http://schemas.openxmlformats.org/officeDocument/2006/relationships/image" Target="../media/image137.png"/><Relationship Id="rId6" Type="http://schemas.openxmlformats.org/officeDocument/2006/relationships/image" Target="../media/image136.svg"/><Relationship Id="rId5" Type="http://schemas.openxmlformats.org/officeDocument/2006/relationships/image" Target="../media/image135.png"/><Relationship Id="rId4" Type="http://schemas.openxmlformats.org/officeDocument/2006/relationships/image" Target="../media/image134.svg"/><Relationship Id="rId3" Type="http://schemas.openxmlformats.org/officeDocument/2006/relationships/image" Target="../media/image133.png"/><Relationship Id="rId2" Type="http://schemas.openxmlformats.org/officeDocument/2006/relationships/image" Target="../media/image4.svg"/><Relationship Id="rId12" Type="http://schemas.openxmlformats.org/officeDocument/2006/relationships/notesSlide" Target="../notesSlides/notesSlide34.xml"/><Relationship Id="rId11" Type="http://schemas.openxmlformats.org/officeDocument/2006/relationships/slideLayout" Target="../slideLayouts/slideLayout12.xml"/><Relationship Id="rId10" Type="http://schemas.openxmlformats.org/officeDocument/2006/relationships/image" Target="../media/image68.svg"/><Relationship Id="rId1" Type="http://schemas.openxmlformats.org/officeDocument/2006/relationships/image" Target="../media/image11.png"/></Relationships>
</file>

<file path=ppt/slides/_rels/slide35.xml.rels><?xml version="1.0" encoding="UTF-8" standalone="yes"?>
<Relationships xmlns="http://schemas.openxmlformats.org/package/2006/relationships"><Relationship Id="rId9" Type="http://schemas.openxmlformats.org/officeDocument/2006/relationships/image" Target="../media/image85.png"/><Relationship Id="rId8" Type="http://schemas.openxmlformats.org/officeDocument/2006/relationships/image" Target="../media/image144.svg"/><Relationship Id="rId7" Type="http://schemas.openxmlformats.org/officeDocument/2006/relationships/image" Target="../media/image143.png"/><Relationship Id="rId6" Type="http://schemas.openxmlformats.org/officeDocument/2006/relationships/image" Target="../media/image15.svg"/><Relationship Id="rId5" Type="http://schemas.openxmlformats.org/officeDocument/2006/relationships/image" Target="../media/image27.png"/><Relationship Id="rId4" Type="http://schemas.openxmlformats.org/officeDocument/2006/relationships/image" Target="../media/image142.svg"/><Relationship Id="rId3" Type="http://schemas.openxmlformats.org/officeDocument/2006/relationships/image" Target="../media/image141.png"/><Relationship Id="rId2" Type="http://schemas.openxmlformats.org/officeDocument/2006/relationships/image" Target="../media/image140.svg"/><Relationship Id="rId14" Type="http://schemas.openxmlformats.org/officeDocument/2006/relationships/notesSlide" Target="../notesSlides/notesSlide35.xml"/><Relationship Id="rId13" Type="http://schemas.openxmlformats.org/officeDocument/2006/relationships/slideLayout" Target="../slideLayouts/slideLayout12.xml"/><Relationship Id="rId12" Type="http://schemas.openxmlformats.org/officeDocument/2006/relationships/image" Target="../media/image39.svg"/><Relationship Id="rId11" Type="http://schemas.openxmlformats.org/officeDocument/2006/relationships/image" Target="../media/image93.png"/><Relationship Id="rId10" Type="http://schemas.openxmlformats.org/officeDocument/2006/relationships/image" Target="../media/image24.svg"/><Relationship Id="rId1" Type="http://schemas.openxmlformats.org/officeDocument/2006/relationships/image" Target="../media/image139.png"/></Relationships>
</file>

<file path=ppt/slides/_rels/slide36.xml.rels><?xml version="1.0" encoding="UTF-8" standalone="yes"?>
<Relationships xmlns="http://schemas.openxmlformats.org/package/2006/relationships"><Relationship Id="rId9" Type="http://schemas.openxmlformats.org/officeDocument/2006/relationships/image" Target="../media/image82.png"/><Relationship Id="rId8" Type="http://schemas.openxmlformats.org/officeDocument/2006/relationships/image" Target="../media/image57.svg"/><Relationship Id="rId7" Type="http://schemas.openxmlformats.org/officeDocument/2006/relationships/image" Target="../media/image56.png"/><Relationship Id="rId6" Type="http://schemas.openxmlformats.org/officeDocument/2006/relationships/image" Target="../media/image55.svg"/><Relationship Id="rId5" Type="http://schemas.openxmlformats.org/officeDocument/2006/relationships/image" Target="../media/image81.png"/><Relationship Id="rId4" Type="http://schemas.openxmlformats.org/officeDocument/2006/relationships/image" Target="../media/image66.svg"/><Relationship Id="rId3" Type="http://schemas.openxmlformats.org/officeDocument/2006/relationships/image" Target="../media/image65.png"/><Relationship Id="rId2" Type="http://schemas.openxmlformats.org/officeDocument/2006/relationships/image" Target="../media/image119.svg"/><Relationship Id="rId12" Type="http://schemas.openxmlformats.org/officeDocument/2006/relationships/notesSlide" Target="../notesSlides/notesSlide36.xml"/><Relationship Id="rId11" Type="http://schemas.openxmlformats.org/officeDocument/2006/relationships/slideLayout" Target="../slideLayouts/slideLayout12.xml"/><Relationship Id="rId10" Type="http://schemas.openxmlformats.org/officeDocument/2006/relationships/image" Target="../media/image45.svg"/><Relationship Id="rId1" Type="http://schemas.openxmlformats.org/officeDocument/2006/relationships/image" Target="../media/image118.png"/></Relationships>
</file>

<file path=ppt/slides/_rels/slide37.xml.rels><?xml version="1.0" encoding="UTF-8" standalone="yes"?>
<Relationships xmlns="http://schemas.openxmlformats.org/package/2006/relationships"><Relationship Id="rId8" Type="http://schemas.openxmlformats.org/officeDocument/2006/relationships/notesSlide" Target="../notesSlides/notesSlide37.xml"/><Relationship Id="rId7" Type="http://schemas.openxmlformats.org/officeDocument/2006/relationships/slideLayout" Target="../slideLayouts/slideLayout12.xml"/><Relationship Id="rId6" Type="http://schemas.openxmlformats.org/officeDocument/2006/relationships/image" Target="../media/image15.svg"/><Relationship Id="rId5" Type="http://schemas.openxmlformats.org/officeDocument/2006/relationships/image" Target="../media/image27.png"/><Relationship Id="rId4" Type="http://schemas.openxmlformats.org/officeDocument/2006/relationships/image" Target="../media/image32.svg"/><Relationship Id="rId3" Type="http://schemas.openxmlformats.org/officeDocument/2006/relationships/image" Target="../media/image147.png"/><Relationship Id="rId2" Type="http://schemas.openxmlformats.org/officeDocument/2006/relationships/image" Target="../media/image146.svg"/><Relationship Id="rId1" Type="http://schemas.openxmlformats.org/officeDocument/2006/relationships/image" Target="../media/image145.png"/></Relationships>
</file>

<file path=ppt/slides/_rels/slide38.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49.svg"/><Relationship Id="rId7" Type="http://schemas.openxmlformats.org/officeDocument/2006/relationships/image" Target="../media/image106.png"/><Relationship Id="rId6" Type="http://schemas.openxmlformats.org/officeDocument/2006/relationships/image" Target="../media/image151.svg"/><Relationship Id="rId5" Type="http://schemas.openxmlformats.org/officeDocument/2006/relationships/image" Target="../media/image150.png"/><Relationship Id="rId4" Type="http://schemas.openxmlformats.org/officeDocument/2006/relationships/image" Target="../media/image149.svg"/><Relationship Id="rId3" Type="http://schemas.openxmlformats.org/officeDocument/2006/relationships/image" Target="../media/image148.png"/><Relationship Id="rId2" Type="http://schemas.openxmlformats.org/officeDocument/2006/relationships/image" Target="../media/image66.svg"/><Relationship Id="rId10" Type="http://schemas.openxmlformats.org/officeDocument/2006/relationships/notesSlide" Target="../notesSlides/notesSlide38.xml"/><Relationship Id="rId1" Type="http://schemas.openxmlformats.org/officeDocument/2006/relationships/image" Target="../media/image65.png"/></Relationships>
</file>

<file path=ppt/slides/_rels/slide39.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45.svg"/><Relationship Id="rId7" Type="http://schemas.openxmlformats.org/officeDocument/2006/relationships/image" Target="../media/image82.png"/><Relationship Id="rId6" Type="http://schemas.openxmlformats.org/officeDocument/2006/relationships/image" Target="../media/image74.svg"/><Relationship Id="rId5" Type="http://schemas.openxmlformats.org/officeDocument/2006/relationships/image" Target="../media/image73.png"/><Relationship Id="rId4" Type="http://schemas.openxmlformats.org/officeDocument/2006/relationships/image" Target="../media/image26.svg"/><Relationship Id="rId3" Type="http://schemas.openxmlformats.org/officeDocument/2006/relationships/image" Target="../media/image30.png"/><Relationship Id="rId2" Type="http://schemas.openxmlformats.org/officeDocument/2006/relationships/image" Target="../media/image6.svg"/><Relationship Id="rId10" Type="http://schemas.openxmlformats.org/officeDocument/2006/relationships/notesSlide" Target="../notesSlides/notesSlide39.xml"/><Relationship Id="rId1" Type="http://schemas.openxmlformats.org/officeDocument/2006/relationships/image" Target="../media/image20.png"/></Relationships>
</file>

<file path=ppt/slides/_rels/slide40.xml.rels><?xml version="1.0" encoding="UTF-8" standalone="yes"?>
<Relationships xmlns="http://schemas.openxmlformats.org/package/2006/relationships"><Relationship Id="rId8" Type="http://schemas.openxmlformats.org/officeDocument/2006/relationships/notesSlide" Target="../notesSlides/notesSlide40.xml"/><Relationship Id="rId7" Type="http://schemas.openxmlformats.org/officeDocument/2006/relationships/slideLayout" Target="../slideLayouts/slideLayout12.xml"/><Relationship Id="rId6" Type="http://schemas.openxmlformats.org/officeDocument/2006/relationships/image" Target="../media/image61.svg"/><Relationship Id="rId5" Type="http://schemas.openxmlformats.org/officeDocument/2006/relationships/image" Target="../media/image60.png"/><Relationship Id="rId4" Type="http://schemas.openxmlformats.org/officeDocument/2006/relationships/image" Target="../media/image55.svg"/><Relationship Id="rId3" Type="http://schemas.openxmlformats.org/officeDocument/2006/relationships/image" Target="../media/image81.png"/><Relationship Id="rId2" Type="http://schemas.openxmlformats.org/officeDocument/2006/relationships/image" Target="../media/image105.svg"/><Relationship Id="rId1" Type="http://schemas.openxmlformats.org/officeDocument/2006/relationships/image" Target="../media/image104.png"/></Relationships>
</file>

<file path=ppt/slides/_rels/slide41.xml.rels><?xml version="1.0" encoding="UTF-8" standalone="yes"?>
<Relationships xmlns="http://schemas.openxmlformats.org/package/2006/relationships"><Relationship Id="rId8" Type="http://schemas.openxmlformats.org/officeDocument/2006/relationships/notesSlide" Target="../notesSlides/notesSlide41.xml"/><Relationship Id="rId7" Type="http://schemas.openxmlformats.org/officeDocument/2006/relationships/slideLayout" Target="../slideLayouts/slideLayout12.xml"/><Relationship Id="rId6" Type="http://schemas.openxmlformats.org/officeDocument/2006/relationships/image" Target="../media/image157.svg"/><Relationship Id="rId5" Type="http://schemas.openxmlformats.org/officeDocument/2006/relationships/image" Target="../media/image156.png"/><Relationship Id="rId4" Type="http://schemas.openxmlformats.org/officeDocument/2006/relationships/image" Target="../media/image155.svg"/><Relationship Id="rId3" Type="http://schemas.openxmlformats.org/officeDocument/2006/relationships/image" Target="../media/image154.png"/><Relationship Id="rId2" Type="http://schemas.openxmlformats.org/officeDocument/2006/relationships/image" Target="../media/image153.svg"/><Relationship Id="rId1" Type="http://schemas.openxmlformats.org/officeDocument/2006/relationships/image" Target="../media/image152.png"/></Relationships>
</file>

<file path=ppt/slides/_rels/slide42.xml.rels><?xml version="1.0" encoding="UTF-8" standalone="yes"?>
<Relationships xmlns="http://schemas.openxmlformats.org/package/2006/relationships"><Relationship Id="rId9" Type="http://schemas.openxmlformats.org/officeDocument/2006/relationships/image" Target="../media/image160.png"/><Relationship Id="rId8" Type="http://schemas.openxmlformats.org/officeDocument/2006/relationships/image" Target="../media/image159.svg"/><Relationship Id="rId7" Type="http://schemas.openxmlformats.org/officeDocument/2006/relationships/image" Target="../media/image158.png"/><Relationship Id="rId6" Type="http://schemas.openxmlformats.org/officeDocument/2006/relationships/image" Target="../media/image64.svg"/><Relationship Id="rId5" Type="http://schemas.openxmlformats.org/officeDocument/2006/relationships/image" Target="../media/image63.png"/><Relationship Id="rId4" Type="http://schemas.openxmlformats.org/officeDocument/2006/relationships/image" Target="../media/image10.svg"/><Relationship Id="rId3" Type="http://schemas.openxmlformats.org/officeDocument/2006/relationships/image" Target="../media/image43.png"/><Relationship Id="rId2" Type="http://schemas.openxmlformats.org/officeDocument/2006/relationships/image" Target="../media/image6.svg"/><Relationship Id="rId16" Type="http://schemas.openxmlformats.org/officeDocument/2006/relationships/notesSlide" Target="../notesSlides/notesSlide42.xml"/><Relationship Id="rId15" Type="http://schemas.openxmlformats.org/officeDocument/2006/relationships/slideLayout" Target="../slideLayouts/slideLayout12.xml"/><Relationship Id="rId14" Type="http://schemas.openxmlformats.org/officeDocument/2006/relationships/image" Target="../media/image163.svg"/><Relationship Id="rId13" Type="http://schemas.openxmlformats.org/officeDocument/2006/relationships/image" Target="../media/image162.png"/><Relationship Id="rId12" Type="http://schemas.openxmlformats.org/officeDocument/2006/relationships/image" Target="../media/image76.svg"/><Relationship Id="rId11" Type="http://schemas.openxmlformats.org/officeDocument/2006/relationships/image" Target="../media/image75.png"/><Relationship Id="rId10" Type="http://schemas.openxmlformats.org/officeDocument/2006/relationships/image" Target="../media/image161.svg"/><Relationship Id="rId1" Type="http://schemas.openxmlformats.org/officeDocument/2006/relationships/image" Target="../media/image20.png"/></Relationships>
</file>

<file path=ppt/slides/_rels/slide43.xml.rels><?xml version="1.0" encoding="UTF-8" standalone="yes"?>
<Relationships xmlns="http://schemas.openxmlformats.org/package/2006/relationships"><Relationship Id="rId9" Type="http://schemas.openxmlformats.org/officeDocument/2006/relationships/image" Target="../media/image166.png"/><Relationship Id="rId8" Type="http://schemas.openxmlformats.org/officeDocument/2006/relationships/image" Target="../media/image165.svg"/><Relationship Id="rId7" Type="http://schemas.openxmlformats.org/officeDocument/2006/relationships/image" Target="../media/image164.png"/><Relationship Id="rId6" Type="http://schemas.openxmlformats.org/officeDocument/2006/relationships/image" Target="../media/image157.svg"/><Relationship Id="rId5" Type="http://schemas.openxmlformats.org/officeDocument/2006/relationships/image" Target="../media/image156.png"/><Relationship Id="rId4" Type="http://schemas.openxmlformats.org/officeDocument/2006/relationships/image" Target="../media/image4.svg"/><Relationship Id="rId3" Type="http://schemas.openxmlformats.org/officeDocument/2006/relationships/image" Target="../media/image11.png"/><Relationship Id="rId2" Type="http://schemas.openxmlformats.org/officeDocument/2006/relationships/image" Target="../media/image76.svg"/><Relationship Id="rId12" Type="http://schemas.openxmlformats.org/officeDocument/2006/relationships/notesSlide" Target="../notesSlides/notesSlide43.xml"/><Relationship Id="rId11" Type="http://schemas.openxmlformats.org/officeDocument/2006/relationships/slideLayout" Target="../slideLayouts/slideLayout12.xml"/><Relationship Id="rId10" Type="http://schemas.openxmlformats.org/officeDocument/2006/relationships/image" Target="../media/image167.svg"/><Relationship Id="rId1" Type="http://schemas.openxmlformats.org/officeDocument/2006/relationships/image" Target="../media/image75.png"/></Relationships>
</file>

<file path=ppt/slides/_rels/slide44.xml.rels><?xml version="1.0" encoding="UTF-8" standalone="yes"?>
<Relationships xmlns="http://schemas.openxmlformats.org/package/2006/relationships"><Relationship Id="rId8" Type="http://schemas.openxmlformats.org/officeDocument/2006/relationships/notesSlide" Target="../notesSlides/notesSlide44.xml"/><Relationship Id="rId7" Type="http://schemas.openxmlformats.org/officeDocument/2006/relationships/slideLayout" Target="../slideLayouts/slideLayout12.xml"/><Relationship Id="rId6" Type="http://schemas.openxmlformats.org/officeDocument/2006/relationships/image" Target="../media/image171.svg"/><Relationship Id="rId5" Type="http://schemas.openxmlformats.org/officeDocument/2006/relationships/image" Target="../media/image170.png"/><Relationship Id="rId4" Type="http://schemas.openxmlformats.org/officeDocument/2006/relationships/image" Target="../media/image10.svg"/><Relationship Id="rId3" Type="http://schemas.openxmlformats.org/officeDocument/2006/relationships/image" Target="../media/image43.png"/><Relationship Id="rId2" Type="http://schemas.openxmlformats.org/officeDocument/2006/relationships/image" Target="../media/image169.svg"/><Relationship Id="rId1" Type="http://schemas.openxmlformats.org/officeDocument/2006/relationships/image" Target="../media/image168.png"/></Relationships>
</file>

<file path=ppt/slides/_rels/slide45.xml.rels><?xml version="1.0" encoding="UTF-8" standalone="yes"?>
<Relationships xmlns="http://schemas.openxmlformats.org/package/2006/relationships"><Relationship Id="rId4" Type="http://schemas.openxmlformats.org/officeDocument/2006/relationships/notesSlide" Target="../notesSlides/notesSlide45.xml"/><Relationship Id="rId3" Type="http://schemas.openxmlformats.org/officeDocument/2006/relationships/slideLayout" Target="../slideLayouts/slideLayout12.xml"/><Relationship Id="rId2" Type="http://schemas.openxmlformats.org/officeDocument/2006/relationships/image" Target="../media/image173.svg"/><Relationship Id="rId1" Type="http://schemas.openxmlformats.org/officeDocument/2006/relationships/image" Target="../media/image17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524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635000" y="1016000"/>
            <a:ext cx="1092200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200" b="1" i="0" u="none" strike="noStrike">
                <a:solidFill>
                  <a:srgbClr val="0288D1"/>
                </a:solidFill>
                <a:latin typeface="Noto Sans SC"/>
                <a:ea typeface="Noto Sans SC"/>
                <a:cs typeface="Noto Sans SC"/>
                <a:sym typeface="Noto Sans SC"/>
              </a:rPr>
              <a:t>第13章 数字人直播间问答分类项目实战</a:t>
            </a:r>
            <a:endParaRPr lang="en-US" sz="1100"/>
          </a:p>
        </p:txBody>
      </p:sp>
      <p:sp>
        <p:nvSpPr>
          <p:cNvPr id="4" name="AutoShape 4"/>
          <p:cNvSpPr/>
          <p:nvPr/>
        </p:nvSpPr>
        <p:spPr>
          <a:xfrm>
            <a:off x="635000" y="1714500"/>
            <a:ext cx="10922000" cy="381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2000" b="0" i="0" u="none" strike="noStrike">
                <a:solidFill>
                  <a:srgbClr val="424242"/>
                </a:solidFill>
                <a:latin typeface="Noto Sans SC"/>
                <a:ea typeface="Noto Sans SC"/>
                <a:cs typeface="Noto Sans SC"/>
                <a:sym typeface="Noto Sans SC"/>
              </a:rPr>
              <a:t>文本分类技术与应用</a:t>
            </a:r>
            <a:endParaRPr lang="en-US" sz="1100"/>
          </a:p>
        </p:txBody>
      </p:sp>
      <p:cxnSp>
        <p:nvCxnSpPr>
          <p:cNvPr id="5" name="Connector 5"/>
          <p:cNvCxnSpPr/>
          <p:nvPr/>
        </p:nvCxnSpPr>
        <p:spPr>
          <a:xfrm rot="-34376">
            <a:off x="5461032" y="2279650"/>
            <a:ext cx="1270000" cy="12700"/>
          </a:xfrm>
          <a:prstGeom prst="line">
            <a:avLst/>
          </a:prstGeom>
          <a:solidFill>
            <a:srgbClr val="DEE0E3">
              <a:alpha val="100000"/>
            </a:srgbClr>
          </a:solidFill>
          <a:ln w="38100" cap="rnd" cmpd="sng">
            <a:solidFill>
              <a:srgbClr val="0288D1">
                <a:alpha val="100000"/>
              </a:srgbClr>
            </a:solidFill>
            <a:prstDash val="solid"/>
            <a:round/>
            <a:headEnd type="none" w="lg" len="lg"/>
            <a:tailEnd type="none" w="lg" len="lg"/>
          </a:ln>
        </p:spPr>
      </p:cxnSp>
      <p:sp>
        <p:nvSpPr>
          <p:cNvPr id="6" name="AutoShape 6"/>
          <p:cNvSpPr/>
          <p:nvPr/>
        </p:nvSpPr>
        <p:spPr>
          <a:xfrm>
            <a:off x="1016000" y="2667000"/>
            <a:ext cx="10160000" cy="2286000"/>
          </a:xfrm>
          <a:prstGeom prst="roundRect">
            <a:avLst>
              <a:gd name="adj" fmla="val 5555"/>
            </a:avLst>
          </a:prstGeom>
          <a:solidFill>
            <a:srgbClr val="FFFFFF">
              <a:alpha val="80000"/>
            </a:srgbClr>
          </a:solidFill>
          <a:ln w="25400" cap="flat" cmpd="sng">
            <a:noFill/>
            <a:prstDash val="solid"/>
            <a:round/>
          </a:ln>
          <a:effectLst>
            <a:outerShdw blurRad="254000" dist="127000" dir="2700000" algn="tl" rotWithShape="0">
              <a:srgbClr val="0288D1">
                <a:alpha val="15000"/>
              </a:srgbClr>
            </a:outerShdw>
          </a:effectLst>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32000" y="3048000"/>
            <a:ext cx="609600" cy="609600"/>
          </a:xfrm>
          <a:prstGeom prst="rect">
            <a:avLst/>
          </a:prstGeom>
        </p:spPr>
      </p:pic>
      <p:sp>
        <p:nvSpPr>
          <p:cNvPr id="8" name="AutoShape 8"/>
          <p:cNvSpPr/>
          <p:nvPr/>
        </p:nvSpPr>
        <p:spPr>
          <a:xfrm>
            <a:off x="1574800" y="3810000"/>
            <a:ext cx="228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424242"/>
                </a:solidFill>
                <a:latin typeface="Noto Sans SC"/>
                <a:ea typeface="Noto Sans SC"/>
                <a:cs typeface="Noto Sans SC"/>
                <a:sym typeface="Noto Sans SC"/>
              </a:rPr>
              <a:t>理论基础</a:t>
            </a:r>
            <a:endParaRPr lang="en-US" sz="1100"/>
          </a:p>
        </p:txBody>
      </p:sp>
      <p:sp>
        <p:nvSpPr>
          <p:cNvPr id="9" name="AutoShape 9"/>
          <p:cNvSpPr/>
          <p:nvPr/>
        </p:nvSpPr>
        <p:spPr>
          <a:xfrm>
            <a:off x="1574800" y="4191000"/>
            <a:ext cx="2286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757575"/>
                </a:solidFill>
                <a:latin typeface="Noto Sans SC"/>
                <a:ea typeface="Noto Sans SC"/>
                <a:cs typeface="Noto Sans SC"/>
                <a:sym typeface="Noto Sans SC"/>
              </a:rPr>
              <a:t>文本分类核心算法与原理</a:t>
            </a:r>
            <a:endParaRPr lang="en-US" sz="1100"/>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91200" y="3048000"/>
            <a:ext cx="609600" cy="609600"/>
          </a:xfrm>
          <a:prstGeom prst="rect">
            <a:avLst/>
          </a:prstGeom>
        </p:spPr>
      </p:pic>
      <p:sp>
        <p:nvSpPr>
          <p:cNvPr id="11" name="AutoShape 11"/>
          <p:cNvSpPr/>
          <p:nvPr/>
        </p:nvSpPr>
        <p:spPr>
          <a:xfrm>
            <a:off x="4953000" y="3810000"/>
            <a:ext cx="228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424242"/>
                </a:solidFill>
                <a:latin typeface="Noto Sans SC"/>
                <a:ea typeface="Noto Sans SC"/>
                <a:cs typeface="Noto Sans SC"/>
                <a:sym typeface="Noto Sans SC"/>
              </a:rPr>
              <a:t>实战项目</a:t>
            </a:r>
            <a:endParaRPr lang="en-US" sz="1100"/>
          </a:p>
        </p:txBody>
      </p:sp>
      <p:sp>
        <p:nvSpPr>
          <p:cNvPr id="12" name="AutoShape 12"/>
          <p:cNvSpPr/>
          <p:nvPr/>
        </p:nvSpPr>
        <p:spPr>
          <a:xfrm>
            <a:off x="4953000" y="4191000"/>
            <a:ext cx="2286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757575"/>
                </a:solidFill>
                <a:latin typeface="Noto Sans SC"/>
                <a:ea typeface="Noto Sans SC"/>
                <a:cs typeface="Noto Sans SC"/>
                <a:sym typeface="Noto Sans SC"/>
              </a:rPr>
              <a:t>数字人直播间问答系统搭建</a:t>
            </a:r>
            <a:endParaRPr lang="en-US" sz="1100"/>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50400" y="3048000"/>
            <a:ext cx="609600" cy="609600"/>
          </a:xfrm>
          <a:prstGeom prst="rect">
            <a:avLst/>
          </a:prstGeom>
        </p:spPr>
      </p:pic>
      <p:sp>
        <p:nvSpPr>
          <p:cNvPr id="14" name="AutoShape 14"/>
          <p:cNvSpPr/>
          <p:nvPr/>
        </p:nvSpPr>
        <p:spPr>
          <a:xfrm>
            <a:off x="8712200" y="3810000"/>
            <a:ext cx="228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424242"/>
                </a:solidFill>
                <a:latin typeface="Noto Sans SC"/>
                <a:ea typeface="Noto Sans SC"/>
                <a:cs typeface="Noto Sans SC"/>
                <a:sym typeface="Noto Sans SC"/>
              </a:rPr>
              <a:t>应用场景</a:t>
            </a:r>
            <a:endParaRPr lang="en-US" sz="1100"/>
          </a:p>
        </p:txBody>
      </p:sp>
      <p:sp>
        <p:nvSpPr>
          <p:cNvPr id="15" name="AutoShape 15"/>
          <p:cNvSpPr/>
          <p:nvPr/>
        </p:nvSpPr>
        <p:spPr>
          <a:xfrm>
            <a:off x="8712200" y="4191000"/>
            <a:ext cx="2286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757575"/>
                </a:solidFill>
                <a:latin typeface="Noto Sans SC"/>
                <a:ea typeface="Noto Sans SC"/>
                <a:cs typeface="Noto Sans SC"/>
                <a:sym typeface="Noto Sans SC"/>
              </a:rPr>
              <a:t>智能客服与舆情分析</a:t>
            </a:r>
            <a:endParaRPr lang="en-US" sz="1100"/>
          </a:p>
        </p:txBody>
      </p:sp>
      <p:sp>
        <p:nvSpPr>
          <p:cNvPr id="16" name="AutoShape 16"/>
          <p:cNvSpPr/>
          <p:nvPr/>
        </p:nvSpPr>
        <p:spPr>
          <a:xfrm>
            <a:off x="0" y="5842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424242"/>
                </a:solidFill>
                <a:latin typeface="Noto Sans SC"/>
                <a:ea typeface="Noto Sans SC"/>
                <a:cs typeface="Noto Sans SC"/>
                <a:sym typeface="Noto Sans SC"/>
              </a:rPr>
              <a:t>主讲人：大学教授</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889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目录</a:t>
            </a:r>
            <a:endParaRPr lang="en-US" sz="1100"/>
          </a:p>
        </p:txBody>
      </p:sp>
      <p:cxnSp>
        <p:nvCxnSpPr>
          <p:cNvPr id="3" name="Connector 3"/>
          <p:cNvCxnSpPr/>
          <p:nvPr/>
        </p:nvCxnSpPr>
        <p:spPr>
          <a:xfrm rot="-4092">
            <a:off x="762004" y="1073150"/>
            <a:ext cx="10668000" cy="12700"/>
          </a:xfrm>
          <a:prstGeom prst="line">
            <a:avLst/>
          </a:prstGeom>
          <a:solidFill>
            <a:srgbClr val="DEE0E3">
              <a:alpha val="100000"/>
            </a:srgbClr>
          </a:solidFill>
          <a:ln w="25400" cap="flat" cmpd="sng">
            <a:solidFill>
              <a:srgbClr val="0288D1">
                <a:alpha val="30000"/>
              </a:srgbClr>
            </a:solidFill>
            <a:prstDash val="solid"/>
            <a:round/>
            <a:headEnd type="none" w="lg" len="lg"/>
            <a:tailEnd type="none" w="lg" len="lg"/>
          </a:ln>
        </p:spPr>
      </p:cxnSp>
      <p:sp>
        <p:nvSpPr>
          <p:cNvPr id="4" name="AutoShape 4"/>
          <p:cNvSpPr/>
          <p:nvPr/>
        </p:nvSpPr>
        <p:spPr>
          <a:xfrm>
            <a:off x="762000" y="1397000"/>
            <a:ext cx="10668000" cy="1397000"/>
          </a:xfrm>
          <a:prstGeom prst="roundRect">
            <a:avLst>
              <a:gd name="adj" fmla="val 909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79500" y="1778000"/>
            <a:ext cx="609600" cy="609600"/>
          </a:xfrm>
          <a:prstGeom prst="rect">
            <a:avLst/>
          </a:prstGeom>
        </p:spPr>
      </p:pic>
      <p:sp>
        <p:nvSpPr>
          <p:cNvPr id="6" name="AutoShape 6"/>
          <p:cNvSpPr/>
          <p:nvPr/>
        </p:nvSpPr>
        <p:spPr>
          <a:xfrm>
            <a:off x="1905000" y="1587500"/>
            <a:ext cx="927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13.1 文本分类简介</a:t>
            </a:r>
            <a:endParaRPr lang="en-US" sz="1100"/>
          </a:p>
        </p:txBody>
      </p:sp>
      <p:sp>
        <p:nvSpPr>
          <p:cNvPr id="7" name="AutoShape 7"/>
          <p:cNvSpPr/>
          <p:nvPr/>
        </p:nvSpPr>
        <p:spPr>
          <a:xfrm>
            <a:off x="1905000" y="1968500"/>
            <a:ext cx="9271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424242"/>
                </a:solidFill>
                <a:latin typeface="Noto Sans SC"/>
                <a:ea typeface="Noto Sans SC"/>
                <a:cs typeface="Noto Sans SC"/>
                <a:sym typeface="Noto Sans SC"/>
              </a:rPr>
              <a:t>介绍文本分类的基本方法、模型及其特点，并对发展趋势和未来挑战进行展望。</a:t>
            </a:r>
            <a:endParaRPr lang="en-US" sz="1100"/>
          </a:p>
        </p:txBody>
      </p:sp>
      <p:sp>
        <p:nvSpPr>
          <p:cNvPr id="8" name="AutoShape 8"/>
          <p:cNvSpPr/>
          <p:nvPr/>
        </p:nvSpPr>
        <p:spPr>
          <a:xfrm>
            <a:off x="762000" y="3048000"/>
            <a:ext cx="10668000" cy="1397000"/>
          </a:xfrm>
          <a:prstGeom prst="roundRect">
            <a:avLst>
              <a:gd name="adj" fmla="val 909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79500" y="3429000"/>
            <a:ext cx="609600" cy="609600"/>
          </a:xfrm>
          <a:prstGeom prst="rect">
            <a:avLst/>
          </a:prstGeom>
        </p:spPr>
      </p:pic>
      <p:sp>
        <p:nvSpPr>
          <p:cNvPr id="10" name="AutoShape 10"/>
          <p:cNvSpPr/>
          <p:nvPr/>
        </p:nvSpPr>
        <p:spPr>
          <a:xfrm>
            <a:off x="1905000" y="3238500"/>
            <a:ext cx="927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13.2 文本分类器的训练过程</a:t>
            </a:r>
            <a:endParaRPr lang="en-US" sz="1100"/>
          </a:p>
        </p:txBody>
      </p:sp>
      <p:sp>
        <p:nvSpPr>
          <p:cNvPr id="11" name="AutoShape 11"/>
          <p:cNvSpPr/>
          <p:nvPr/>
        </p:nvSpPr>
        <p:spPr>
          <a:xfrm>
            <a:off x="1905000" y="3619500"/>
            <a:ext cx="9271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424242"/>
                </a:solidFill>
                <a:latin typeface="Noto Sans SC"/>
                <a:ea typeface="Noto Sans SC"/>
                <a:cs typeface="Noto Sans SC"/>
                <a:sym typeface="Noto Sans SC"/>
              </a:rPr>
              <a:t>从传统分类器训练，到提示词少样本学习，以及预训练模型的微调。</a:t>
            </a:r>
            <a:endParaRPr lang="en-US" sz="1100"/>
          </a:p>
        </p:txBody>
      </p:sp>
      <p:sp>
        <p:nvSpPr>
          <p:cNvPr id="12" name="AutoShape 12"/>
          <p:cNvSpPr/>
          <p:nvPr/>
        </p:nvSpPr>
        <p:spPr>
          <a:xfrm>
            <a:off x="762000" y="4699000"/>
            <a:ext cx="10668000" cy="1397000"/>
          </a:xfrm>
          <a:prstGeom prst="roundRect">
            <a:avLst>
              <a:gd name="adj" fmla="val 909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79500" y="5080000"/>
            <a:ext cx="609600" cy="609600"/>
          </a:xfrm>
          <a:prstGeom prst="rect">
            <a:avLst/>
          </a:prstGeom>
        </p:spPr>
      </p:pic>
      <p:sp>
        <p:nvSpPr>
          <p:cNvPr id="14" name="AutoShape 14"/>
          <p:cNvSpPr/>
          <p:nvPr/>
        </p:nvSpPr>
        <p:spPr>
          <a:xfrm>
            <a:off x="1905000" y="4889500"/>
            <a:ext cx="927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13.3 数字人直播间问答分类项目实战</a:t>
            </a:r>
            <a:endParaRPr lang="en-US" sz="1100"/>
          </a:p>
        </p:txBody>
      </p:sp>
      <p:sp>
        <p:nvSpPr>
          <p:cNvPr id="15" name="AutoShape 15"/>
          <p:cNvSpPr/>
          <p:nvPr/>
        </p:nvSpPr>
        <p:spPr>
          <a:xfrm>
            <a:off x="1905000" y="5270500"/>
            <a:ext cx="9271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424242"/>
                </a:solidFill>
                <a:latin typeface="Noto Sans SC"/>
                <a:ea typeface="Noto Sans SC"/>
                <a:cs typeface="Noto Sans SC"/>
                <a:sym typeface="Noto Sans SC"/>
              </a:rPr>
              <a:t>介绍直播间问答分类场景和基本流程，并进行实际项目实战。</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09600" y="508000"/>
            <a:ext cx="1097280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200" b="1" i="0" u="none" strike="noStrike">
                <a:solidFill>
                  <a:srgbClr val="0288D1"/>
                </a:solidFill>
                <a:latin typeface="Noto Sans SC"/>
                <a:ea typeface="Noto Sans SC"/>
                <a:cs typeface="Noto Sans SC"/>
                <a:sym typeface="Noto Sans SC"/>
              </a:rPr>
              <a:t>13.1 文本分类简介</a:t>
            </a:r>
            <a:endParaRPr lang="en-US" sz="1100"/>
          </a:p>
        </p:txBody>
      </p:sp>
      <p:sp>
        <p:nvSpPr>
          <p:cNvPr id="3" name="AutoShape 3"/>
          <p:cNvSpPr/>
          <p:nvPr/>
        </p:nvSpPr>
        <p:spPr>
          <a:xfrm>
            <a:off x="5715000" y="1270000"/>
            <a:ext cx="762000" cy="508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1016000" y="1524000"/>
            <a:ext cx="10160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424242"/>
                </a:solidFill>
                <a:latin typeface="Noto Sans SC"/>
                <a:ea typeface="Noto Sans SC"/>
                <a:cs typeface="Noto Sans SC"/>
                <a:sym typeface="Noto Sans SC"/>
              </a:rPr>
              <a:t>介绍文本分类的基本方法、模型及其特点，并对文本分类的发展趋势和未来挑战进行展望。</a:t>
            </a:r>
            <a:endParaRPr lang="en-US" sz="1100"/>
          </a:p>
        </p:txBody>
      </p:sp>
      <p:sp>
        <p:nvSpPr>
          <p:cNvPr id="5" name="AutoShape 5"/>
          <p:cNvSpPr/>
          <p:nvPr/>
        </p:nvSpPr>
        <p:spPr>
          <a:xfrm>
            <a:off x="1016000" y="2540000"/>
            <a:ext cx="3048000" cy="2286000"/>
          </a:xfrm>
          <a:prstGeom prst="roundRect">
            <a:avLst>
              <a:gd name="adj" fmla="val 5555"/>
            </a:avLst>
          </a:prstGeom>
          <a:solidFill>
            <a:srgbClr val="FFFFFF">
              <a:alpha val="100000"/>
            </a:srgbClr>
          </a:solidFill>
          <a:ln w="25400" cap="flat" cmpd="sng">
            <a:noFill/>
            <a:prstDash val="solid"/>
            <a:round/>
          </a:ln>
          <a:effectLst>
            <a:outerShdw blurRad="190500" dist="101600" dir="5400000" algn="tl" rotWithShape="0">
              <a:srgbClr val="0288D1">
                <a:alpha val="15000"/>
              </a:srgbClr>
            </a:outerShdw>
          </a:effectLst>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235200" y="2794000"/>
            <a:ext cx="609600" cy="609600"/>
          </a:xfrm>
          <a:prstGeom prst="rect">
            <a:avLst/>
          </a:prstGeom>
        </p:spPr>
      </p:pic>
      <p:sp>
        <p:nvSpPr>
          <p:cNvPr id="7" name="AutoShape 7"/>
          <p:cNvSpPr/>
          <p:nvPr/>
        </p:nvSpPr>
        <p:spPr>
          <a:xfrm>
            <a:off x="1143000" y="35560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424242"/>
                </a:solidFill>
                <a:latin typeface="Noto Sans SC"/>
                <a:ea typeface="Noto Sans SC"/>
                <a:cs typeface="Noto Sans SC"/>
                <a:sym typeface="Noto Sans SC"/>
              </a:rPr>
              <a:t>基本方法</a:t>
            </a:r>
            <a:endParaRPr lang="en-US" sz="1100"/>
          </a:p>
        </p:txBody>
      </p:sp>
      <p:sp>
        <p:nvSpPr>
          <p:cNvPr id="8" name="AutoShape 8"/>
          <p:cNvSpPr/>
          <p:nvPr/>
        </p:nvSpPr>
        <p:spPr>
          <a:xfrm>
            <a:off x="1270000" y="4000500"/>
            <a:ext cx="2540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757575"/>
                </a:solidFill>
                <a:latin typeface="Noto Sans SC"/>
                <a:ea typeface="Noto Sans SC"/>
                <a:cs typeface="Noto Sans SC"/>
                <a:sym typeface="Noto Sans SC"/>
              </a:rPr>
              <a:t>从传统机器学习到深度学习的演进路径与核心算法</a:t>
            </a:r>
            <a:endParaRPr lang="en-US" sz="1100"/>
          </a:p>
        </p:txBody>
      </p:sp>
      <p:sp>
        <p:nvSpPr>
          <p:cNvPr id="9" name="AutoShape 9"/>
          <p:cNvSpPr/>
          <p:nvPr/>
        </p:nvSpPr>
        <p:spPr>
          <a:xfrm>
            <a:off x="4572000" y="2540000"/>
            <a:ext cx="3048000" cy="2286000"/>
          </a:xfrm>
          <a:prstGeom prst="roundRect">
            <a:avLst>
              <a:gd name="adj" fmla="val 5555"/>
            </a:avLst>
          </a:prstGeom>
          <a:solidFill>
            <a:srgbClr val="FFFFFF">
              <a:alpha val="100000"/>
            </a:srgbClr>
          </a:solidFill>
          <a:ln w="25400" cap="flat" cmpd="sng">
            <a:noFill/>
            <a:prstDash val="solid"/>
            <a:round/>
          </a:ln>
          <a:effectLst>
            <a:outerShdw blurRad="190500" dist="101600" dir="5400000" algn="tl" rotWithShape="0">
              <a:srgbClr val="0288D1">
                <a:alpha val="15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91200" y="2794000"/>
            <a:ext cx="609600" cy="609600"/>
          </a:xfrm>
          <a:prstGeom prst="rect">
            <a:avLst/>
          </a:prstGeom>
        </p:spPr>
      </p:pic>
      <p:sp>
        <p:nvSpPr>
          <p:cNvPr id="11" name="AutoShape 11"/>
          <p:cNvSpPr/>
          <p:nvPr/>
        </p:nvSpPr>
        <p:spPr>
          <a:xfrm>
            <a:off x="4699000" y="35560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424242"/>
                </a:solidFill>
                <a:latin typeface="Noto Sans SC"/>
                <a:ea typeface="Noto Sans SC"/>
                <a:cs typeface="Noto Sans SC"/>
                <a:sym typeface="Noto Sans SC"/>
              </a:rPr>
              <a:t>模型特点</a:t>
            </a:r>
            <a:endParaRPr lang="en-US" sz="1100"/>
          </a:p>
        </p:txBody>
      </p:sp>
      <p:sp>
        <p:nvSpPr>
          <p:cNvPr id="12" name="AutoShape 12"/>
          <p:cNvSpPr/>
          <p:nvPr/>
        </p:nvSpPr>
        <p:spPr>
          <a:xfrm>
            <a:off x="4826000" y="4000500"/>
            <a:ext cx="2540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757575"/>
                </a:solidFill>
                <a:latin typeface="Noto Sans SC"/>
                <a:ea typeface="Noto Sans SC"/>
                <a:cs typeface="Noto Sans SC"/>
                <a:sym typeface="Noto Sans SC"/>
              </a:rPr>
              <a:t>分析不同模型在准确率、效率及适用场景上的差异</a:t>
            </a:r>
            <a:endParaRPr lang="en-US" sz="1100"/>
          </a:p>
        </p:txBody>
      </p:sp>
      <p:sp>
        <p:nvSpPr>
          <p:cNvPr id="13" name="AutoShape 13"/>
          <p:cNvSpPr/>
          <p:nvPr/>
        </p:nvSpPr>
        <p:spPr>
          <a:xfrm>
            <a:off x="8128000" y="2540000"/>
            <a:ext cx="3048000" cy="2286000"/>
          </a:xfrm>
          <a:prstGeom prst="roundRect">
            <a:avLst>
              <a:gd name="adj" fmla="val 5555"/>
            </a:avLst>
          </a:prstGeom>
          <a:solidFill>
            <a:srgbClr val="FFFFFF">
              <a:alpha val="100000"/>
            </a:srgbClr>
          </a:solidFill>
          <a:ln w="25400" cap="flat" cmpd="sng">
            <a:noFill/>
            <a:prstDash val="solid"/>
            <a:round/>
          </a:ln>
          <a:effectLst>
            <a:outerShdw blurRad="190500" dist="101600" dir="5400000" algn="tl" rotWithShape="0">
              <a:srgbClr val="0288D1">
                <a:alpha val="15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347200" y="2794000"/>
            <a:ext cx="609600" cy="609600"/>
          </a:xfrm>
          <a:prstGeom prst="rect">
            <a:avLst/>
          </a:prstGeom>
        </p:spPr>
      </p:pic>
      <p:sp>
        <p:nvSpPr>
          <p:cNvPr id="15" name="AutoShape 15"/>
          <p:cNvSpPr/>
          <p:nvPr/>
        </p:nvSpPr>
        <p:spPr>
          <a:xfrm>
            <a:off x="8255000" y="35560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424242"/>
                </a:solidFill>
                <a:latin typeface="Noto Sans SC"/>
                <a:ea typeface="Noto Sans SC"/>
                <a:cs typeface="Noto Sans SC"/>
                <a:sym typeface="Noto Sans SC"/>
              </a:rPr>
              <a:t>趋势与挑战</a:t>
            </a:r>
            <a:endParaRPr lang="en-US" sz="1100"/>
          </a:p>
        </p:txBody>
      </p:sp>
      <p:sp>
        <p:nvSpPr>
          <p:cNvPr id="16" name="AutoShape 16"/>
          <p:cNvSpPr/>
          <p:nvPr/>
        </p:nvSpPr>
        <p:spPr>
          <a:xfrm>
            <a:off x="8382000" y="4000500"/>
            <a:ext cx="2540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757575"/>
                </a:solidFill>
                <a:latin typeface="Noto Sans SC"/>
                <a:ea typeface="Noto Sans SC"/>
                <a:cs typeface="Noto Sans SC"/>
                <a:sym typeface="Noto Sans SC"/>
              </a:rPr>
              <a:t>探讨未来技术发展方向及面临的数据与算力挑战</a:t>
            </a:r>
            <a:endParaRPr lang="en-US" sz="1100"/>
          </a:p>
        </p:txBody>
      </p:sp>
      <p:sp>
        <p:nvSpPr>
          <p:cNvPr id="17" name="AutoShape 17"/>
          <p:cNvSpPr/>
          <p:nvPr/>
        </p:nvSpPr>
        <p:spPr>
          <a:xfrm>
            <a:off x="0" y="6705600"/>
            <a:ext cx="12192000" cy="1524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6248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13.1.1 文本分类的方法介绍</a:t>
            </a:r>
            <a:endParaRPr lang="en-US" sz="1100"/>
          </a:p>
        </p:txBody>
      </p:sp>
      <p:sp>
        <p:nvSpPr>
          <p:cNvPr id="3" name="AutoShape 3"/>
          <p:cNvSpPr/>
          <p:nvPr/>
        </p:nvSpPr>
        <p:spPr>
          <a:xfrm>
            <a:off x="762000" y="1397000"/>
            <a:ext cx="3302000" cy="1397000"/>
          </a:xfrm>
          <a:prstGeom prst="roundRect">
            <a:avLst>
              <a:gd name="adj" fmla="val 909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14500"/>
            <a:ext cx="508000" cy="508000"/>
          </a:xfrm>
          <a:prstGeom prst="rect">
            <a:avLst/>
          </a:prstGeom>
        </p:spPr>
      </p:pic>
      <p:sp>
        <p:nvSpPr>
          <p:cNvPr id="5" name="AutoShape 5"/>
          <p:cNvSpPr/>
          <p:nvPr/>
        </p:nvSpPr>
        <p:spPr>
          <a:xfrm>
            <a:off x="1651000" y="1587500"/>
            <a:ext cx="215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有监督学习</a:t>
            </a:r>
            <a:endParaRPr lang="en-US" sz="1100"/>
          </a:p>
        </p:txBody>
      </p:sp>
      <p:sp>
        <p:nvSpPr>
          <p:cNvPr id="6" name="AutoShape 6"/>
          <p:cNvSpPr/>
          <p:nvPr/>
        </p:nvSpPr>
        <p:spPr>
          <a:xfrm>
            <a:off x="1651000" y="1968500"/>
            <a:ext cx="215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424242"/>
                </a:solidFill>
                <a:latin typeface="Noto Sans SC"/>
                <a:ea typeface="Noto Sans SC"/>
                <a:cs typeface="Noto Sans SC"/>
                <a:sym typeface="Noto Sans SC"/>
              </a:rPr>
              <a:t>利用已标注数据训练模型，预测未知类别。</a:t>
            </a:r>
            <a:endParaRPr lang="en-US" sz="1100"/>
          </a:p>
        </p:txBody>
      </p:sp>
      <p:sp>
        <p:nvSpPr>
          <p:cNvPr id="7" name="AutoShape 7"/>
          <p:cNvSpPr/>
          <p:nvPr/>
        </p:nvSpPr>
        <p:spPr>
          <a:xfrm>
            <a:off x="4445000" y="1397000"/>
            <a:ext cx="3302000" cy="1397000"/>
          </a:xfrm>
          <a:prstGeom prst="roundRect">
            <a:avLst>
              <a:gd name="adj" fmla="val 909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1714500"/>
            <a:ext cx="508000" cy="508000"/>
          </a:xfrm>
          <a:prstGeom prst="rect">
            <a:avLst/>
          </a:prstGeom>
        </p:spPr>
      </p:pic>
      <p:sp>
        <p:nvSpPr>
          <p:cNvPr id="9" name="AutoShape 9"/>
          <p:cNvSpPr/>
          <p:nvPr/>
        </p:nvSpPr>
        <p:spPr>
          <a:xfrm>
            <a:off x="5334000" y="1587500"/>
            <a:ext cx="215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无监督学习</a:t>
            </a:r>
            <a:endParaRPr lang="en-US" sz="1100"/>
          </a:p>
        </p:txBody>
      </p:sp>
      <p:sp>
        <p:nvSpPr>
          <p:cNvPr id="10" name="AutoShape 10"/>
          <p:cNvSpPr/>
          <p:nvPr/>
        </p:nvSpPr>
        <p:spPr>
          <a:xfrm>
            <a:off x="5334000" y="1968500"/>
            <a:ext cx="215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424242"/>
                </a:solidFill>
                <a:latin typeface="Noto Sans SC"/>
                <a:ea typeface="Noto Sans SC"/>
                <a:cs typeface="Noto Sans SC"/>
                <a:sym typeface="Noto Sans SC"/>
              </a:rPr>
              <a:t>无需标注数据，通过数据内在特征进行聚类。</a:t>
            </a:r>
            <a:endParaRPr lang="en-US" sz="1100"/>
          </a:p>
        </p:txBody>
      </p:sp>
      <p:sp>
        <p:nvSpPr>
          <p:cNvPr id="11" name="AutoShape 11"/>
          <p:cNvSpPr/>
          <p:nvPr/>
        </p:nvSpPr>
        <p:spPr>
          <a:xfrm>
            <a:off x="8128000" y="1397000"/>
            <a:ext cx="3302000" cy="1397000"/>
          </a:xfrm>
          <a:prstGeom prst="roundRect">
            <a:avLst>
              <a:gd name="adj" fmla="val 909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1714500"/>
            <a:ext cx="508000" cy="508000"/>
          </a:xfrm>
          <a:prstGeom prst="rect">
            <a:avLst/>
          </a:prstGeom>
        </p:spPr>
      </p:pic>
      <p:sp>
        <p:nvSpPr>
          <p:cNvPr id="13" name="AutoShape 13"/>
          <p:cNvSpPr/>
          <p:nvPr/>
        </p:nvSpPr>
        <p:spPr>
          <a:xfrm>
            <a:off x="9017000" y="1587500"/>
            <a:ext cx="215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半监督学习</a:t>
            </a:r>
            <a:endParaRPr lang="en-US" sz="1100"/>
          </a:p>
        </p:txBody>
      </p:sp>
      <p:sp>
        <p:nvSpPr>
          <p:cNvPr id="14" name="AutoShape 14"/>
          <p:cNvSpPr/>
          <p:nvPr/>
        </p:nvSpPr>
        <p:spPr>
          <a:xfrm>
            <a:off x="9017000" y="1968500"/>
            <a:ext cx="215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424242"/>
                </a:solidFill>
                <a:latin typeface="Noto Sans SC"/>
                <a:ea typeface="Noto Sans SC"/>
                <a:cs typeface="Noto Sans SC"/>
                <a:sym typeface="Noto Sans SC"/>
              </a:rPr>
              <a:t>结合少量标注数据和大量未标注数据进行训练。</a:t>
            </a:r>
            <a:endParaRPr lang="en-US" sz="1100"/>
          </a:p>
        </p:txBody>
      </p:sp>
      <p:sp>
        <p:nvSpPr>
          <p:cNvPr id="15" name="AutoShape 15"/>
          <p:cNvSpPr/>
          <p:nvPr/>
        </p:nvSpPr>
        <p:spPr>
          <a:xfrm>
            <a:off x="762000" y="3048000"/>
            <a:ext cx="3302000" cy="1397000"/>
          </a:xfrm>
          <a:prstGeom prst="roundRect">
            <a:avLst>
              <a:gd name="adj" fmla="val 909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3365500"/>
            <a:ext cx="508000" cy="508000"/>
          </a:xfrm>
          <a:prstGeom prst="rect">
            <a:avLst/>
          </a:prstGeom>
        </p:spPr>
      </p:pic>
      <p:sp>
        <p:nvSpPr>
          <p:cNvPr id="17" name="AutoShape 17"/>
          <p:cNvSpPr/>
          <p:nvPr/>
        </p:nvSpPr>
        <p:spPr>
          <a:xfrm>
            <a:off x="1651000" y="3238500"/>
            <a:ext cx="215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弱监督学习</a:t>
            </a:r>
            <a:endParaRPr lang="en-US" sz="1100"/>
          </a:p>
        </p:txBody>
      </p:sp>
      <p:sp>
        <p:nvSpPr>
          <p:cNvPr id="18" name="AutoShape 18"/>
          <p:cNvSpPr/>
          <p:nvPr/>
        </p:nvSpPr>
        <p:spPr>
          <a:xfrm>
            <a:off x="1651000" y="3619500"/>
            <a:ext cx="215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424242"/>
                </a:solidFill>
                <a:latin typeface="Noto Sans SC"/>
                <a:ea typeface="Noto Sans SC"/>
                <a:cs typeface="Noto Sans SC"/>
                <a:sym typeface="Noto Sans SC"/>
              </a:rPr>
              <a:t>利用非精确标注或间接监督信息进行学习。</a:t>
            </a:r>
            <a:endParaRPr lang="en-US" sz="1100"/>
          </a:p>
        </p:txBody>
      </p:sp>
      <p:sp>
        <p:nvSpPr>
          <p:cNvPr id="19" name="AutoShape 19"/>
          <p:cNvSpPr/>
          <p:nvPr/>
        </p:nvSpPr>
        <p:spPr>
          <a:xfrm>
            <a:off x="4445000" y="3048000"/>
            <a:ext cx="3302000" cy="1397000"/>
          </a:xfrm>
          <a:prstGeom prst="roundRect">
            <a:avLst>
              <a:gd name="adj" fmla="val 909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699000" y="3365500"/>
            <a:ext cx="508000" cy="508000"/>
          </a:xfrm>
          <a:prstGeom prst="rect">
            <a:avLst/>
          </a:prstGeom>
        </p:spPr>
      </p:pic>
      <p:sp>
        <p:nvSpPr>
          <p:cNvPr id="21" name="AutoShape 21"/>
          <p:cNvSpPr/>
          <p:nvPr/>
        </p:nvSpPr>
        <p:spPr>
          <a:xfrm>
            <a:off x="5334000" y="3238500"/>
            <a:ext cx="215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迁移学习</a:t>
            </a:r>
            <a:endParaRPr lang="en-US" sz="1100"/>
          </a:p>
        </p:txBody>
      </p:sp>
      <p:sp>
        <p:nvSpPr>
          <p:cNvPr id="22" name="AutoShape 22"/>
          <p:cNvSpPr/>
          <p:nvPr/>
        </p:nvSpPr>
        <p:spPr>
          <a:xfrm>
            <a:off x="5334000" y="3619500"/>
            <a:ext cx="215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424242"/>
                </a:solidFill>
                <a:latin typeface="Noto Sans SC"/>
                <a:ea typeface="Noto Sans SC"/>
                <a:cs typeface="Noto Sans SC"/>
                <a:sym typeface="Noto Sans SC"/>
              </a:rPr>
              <a:t>将源领域知识迁移到目标领域，解决数据不足问题。</a:t>
            </a:r>
            <a:endParaRPr lang="en-US" sz="1100"/>
          </a:p>
        </p:txBody>
      </p:sp>
      <p:sp>
        <p:nvSpPr>
          <p:cNvPr id="23" name="AutoShape 23"/>
          <p:cNvSpPr/>
          <p:nvPr/>
        </p:nvSpPr>
        <p:spPr>
          <a:xfrm>
            <a:off x="8128000" y="3048000"/>
            <a:ext cx="3302000" cy="1397000"/>
          </a:xfrm>
          <a:prstGeom prst="roundRect">
            <a:avLst>
              <a:gd name="adj" fmla="val 9090"/>
            </a:avLst>
          </a:prstGeom>
          <a:solidFill>
            <a:srgbClr val="0288D1">
              <a:alpha val="10000"/>
            </a:srgbClr>
          </a:solidFill>
          <a:ln w="12700" cap="flat" cmpd="sng">
            <a:solidFill>
              <a:srgbClr val="0288D1">
                <a:alpha val="100000"/>
              </a:srgbClr>
            </a:solidFill>
            <a:prstDash val="dash"/>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382000" y="3365500"/>
            <a:ext cx="508000" cy="508000"/>
          </a:xfrm>
          <a:prstGeom prst="rect">
            <a:avLst/>
          </a:prstGeom>
        </p:spPr>
      </p:pic>
      <p:sp>
        <p:nvSpPr>
          <p:cNvPr id="25" name="AutoShape 25"/>
          <p:cNvSpPr/>
          <p:nvPr/>
        </p:nvSpPr>
        <p:spPr>
          <a:xfrm>
            <a:off x="9017000" y="3238500"/>
            <a:ext cx="215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方法选择依据</a:t>
            </a:r>
            <a:endParaRPr lang="en-US" sz="1100"/>
          </a:p>
        </p:txBody>
      </p:sp>
      <p:sp>
        <p:nvSpPr>
          <p:cNvPr id="26" name="AutoShape 26"/>
          <p:cNvSpPr/>
          <p:nvPr/>
        </p:nvSpPr>
        <p:spPr>
          <a:xfrm>
            <a:off x="9017000" y="3619500"/>
            <a:ext cx="215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424242"/>
                </a:solidFill>
                <a:latin typeface="Noto Sans SC"/>
                <a:ea typeface="Noto Sans SC"/>
                <a:cs typeface="Noto Sans SC"/>
                <a:sym typeface="Noto Sans SC"/>
              </a:rPr>
              <a:t>根据数据标注情况、计算资源及应用场景灵活选择。</a:t>
            </a:r>
            <a:endParaRPr lang="en-US" sz="1100"/>
          </a:p>
        </p:txBody>
      </p:sp>
      <p:sp>
        <p:nvSpPr>
          <p:cNvPr id="27" name="AutoShape 27"/>
          <p:cNvSpPr/>
          <p:nvPr/>
        </p:nvSpPr>
        <p:spPr>
          <a:xfrm>
            <a:off x="0" y="6350000"/>
            <a:ext cx="12192000" cy="5080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762000" y="64135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solidFill>
                <a:latin typeface="Noto Sans SC"/>
                <a:ea typeface="Noto Sans SC"/>
                <a:cs typeface="Noto Sans SC"/>
                <a:sym typeface="Noto Sans SC"/>
              </a:rPr>
              <a:t>核心目标：通过不同的学习范式，解决文本分类任务中的数据利用效率问题。</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有监督学习 (Supervised Learning)</a:t>
            </a:r>
            <a:endParaRPr lang="en-US" sz="1100"/>
          </a:p>
        </p:txBody>
      </p:sp>
      <p:sp>
        <p:nvSpPr>
          <p:cNvPr id="3" name="AutoShape 3"/>
          <p:cNvSpPr/>
          <p:nvPr/>
        </p:nvSpPr>
        <p:spPr>
          <a:xfrm>
            <a:off x="762000" y="1270000"/>
            <a:ext cx="10668000" cy="762000"/>
          </a:xfrm>
          <a:prstGeom prst="roundRect">
            <a:avLst>
              <a:gd name="adj" fmla="val 16666"/>
            </a:avLst>
          </a:prstGeom>
          <a:solidFill>
            <a:srgbClr val="FFFFFF">
              <a:alpha val="80000"/>
            </a:srgbClr>
          </a:solidFill>
          <a:ln cap="flat" cmpd="sng">
            <a:solidFill>
              <a:srgbClr val="E6CFCF">
                <a:alpha val="80000"/>
              </a:srgbClr>
            </a:solid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422400"/>
            <a:ext cx="457200" cy="457200"/>
          </a:xfrm>
          <a:prstGeom prst="rect">
            <a:avLst/>
          </a:prstGeom>
        </p:spPr>
      </p:pic>
      <p:sp>
        <p:nvSpPr>
          <p:cNvPr id="5" name="AutoShape 5"/>
          <p:cNvSpPr/>
          <p:nvPr/>
        </p:nvSpPr>
        <p:spPr>
          <a:xfrm>
            <a:off x="1651000" y="1397000"/>
            <a:ext cx="952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24242"/>
                </a:solidFill>
                <a:latin typeface="Noto Sans SC"/>
                <a:ea typeface="Noto Sans SC"/>
                <a:cs typeface="Noto Sans SC"/>
                <a:sym typeface="Noto Sans SC"/>
              </a:rPr>
              <a:t>核心定义：</a:t>
            </a:r>
            <a:r>
              <a:rPr lang="en-US" sz="1800" b="0" i="0" u="none" strike="noStrike">
                <a:solidFill>
                  <a:srgbClr val="424242"/>
                </a:solidFill>
                <a:latin typeface="Noto Sans SC"/>
                <a:ea typeface="Noto Sans SC"/>
                <a:cs typeface="Noto Sans SC"/>
                <a:sym typeface="Noto Sans SC"/>
              </a:rPr>
              <a:t>使用已经标记好的数据集进行训练，模型学习输入与输出之间的映射关系。</a:t>
            </a:r>
            <a:endParaRPr lang="en-US" sz="1100"/>
          </a:p>
        </p:txBody>
      </p:sp>
      <p:sp>
        <p:nvSpPr>
          <p:cNvPr id="6" name="AutoShape 6"/>
          <p:cNvSpPr/>
          <p:nvPr/>
        </p:nvSpPr>
        <p:spPr>
          <a:xfrm>
            <a:off x="762000" y="2286000"/>
            <a:ext cx="3378200" cy="2794000"/>
          </a:xfrm>
          <a:prstGeom prst="roundRect">
            <a:avLst>
              <a:gd name="adj" fmla="val 4545"/>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070100" y="2540000"/>
            <a:ext cx="762000" cy="762000"/>
          </a:xfrm>
          <a:prstGeom prst="rect">
            <a:avLst/>
          </a:prstGeom>
        </p:spPr>
      </p:pic>
      <p:sp>
        <p:nvSpPr>
          <p:cNvPr id="8" name="AutoShape 8"/>
          <p:cNvSpPr/>
          <p:nvPr/>
        </p:nvSpPr>
        <p:spPr>
          <a:xfrm>
            <a:off x="889000" y="3429000"/>
            <a:ext cx="31242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88D1"/>
                </a:solidFill>
                <a:latin typeface="Noto Sans SC"/>
                <a:ea typeface="Noto Sans SC"/>
                <a:cs typeface="Noto Sans SC"/>
                <a:sym typeface="Noto Sans SC"/>
              </a:rPr>
              <a:t>二分类</a:t>
            </a:r>
            <a:endParaRPr lang="en-US" sz="1100"/>
          </a:p>
          <a:p>
            <a:pPr indent="0" algn="ctr">
              <a:lnSpc>
                <a:spcPct val="125000"/>
              </a:lnSpc>
            </a:pPr>
            <a:r>
              <a:rPr lang="en-US" sz="1200" b="0" i="0" u="none" strike="noStrike">
                <a:solidFill>
                  <a:srgbClr val="9E9E9E"/>
                </a:solidFill>
                <a:latin typeface="Noto Sans SC"/>
                <a:ea typeface="Noto Sans SC"/>
                <a:cs typeface="Noto Sans SC"/>
                <a:sym typeface="Noto Sans SC"/>
              </a:rPr>
              <a:t>Binary Classification</a:t>
            </a:r>
            <a:endParaRPr lang="en-US" sz="1200" b="0" i="0" u="none" strike="noStrike">
              <a:solidFill>
                <a:srgbClr val="9E9E9E"/>
              </a:solidFill>
              <a:latin typeface="Noto Sans SC"/>
              <a:ea typeface="Noto Sans SC"/>
              <a:cs typeface="Noto Sans SC"/>
              <a:sym typeface="Noto Sans SC"/>
            </a:endParaRPr>
          </a:p>
        </p:txBody>
      </p:sp>
      <p:sp>
        <p:nvSpPr>
          <p:cNvPr id="9" name="AutoShape 9"/>
          <p:cNvSpPr/>
          <p:nvPr/>
        </p:nvSpPr>
        <p:spPr>
          <a:xfrm>
            <a:off x="889000" y="4127500"/>
            <a:ext cx="3124200" cy="762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400" b="0" i="0" u="none" strike="noStrike">
                <a:solidFill>
                  <a:srgbClr val="424242"/>
                </a:solidFill>
                <a:latin typeface="Noto Sans SC"/>
                <a:ea typeface="Noto Sans SC"/>
                <a:cs typeface="Noto Sans SC"/>
                <a:sym typeface="Noto Sans SC"/>
              </a:rPr>
              <a:t>标签只有两个类别。</a:t>
            </a:r>
            <a:endParaRPr lang="en-US" sz="1100"/>
          </a:p>
          <a:p>
            <a:pPr indent="0" algn="ctr">
              <a:lnSpc>
                <a:spcPct val="108000"/>
              </a:lnSpc>
            </a:pPr>
            <a:r>
              <a:rPr lang="en-US" sz="1200" b="0" i="0" u="none" strike="noStrike">
                <a:solidFill>
                  <a:srgbClr val="757575"/>
                </a:solidFill>
                <a:latin typeface="Noto Sans SC"/>
                <a:ea typeface="Noto Sans SC"/>
                <a:cs typeface="Noto Sans SC"/>
                <a:sym typeface="Noto Sans SC"/>
              </a:rPr>
              <a:t>示例：邮件是否为垃圾邮件</a:t>
            </a:r>
            <a:endParaRPr lang="en-US" sz="1200" b="0" i="0" u="none" strike="noStrike">
              <a:solidFill>
                <a:srgbClr val="757575"/>
              </a:solidFill>
              <a:latin typeface="Noto Sans SC"/>
              <a:ea typeface="Noto Sans SC"/>
              <a:cs typeface="Noto Sans SC"/>
              <a:sym typeface="Noto Sans SC"/>
            </a:endParaRPr>
          </a:p>
        </p:txBody>
      </p:sp>
      <p:sp>
        <p:nvSpPr>
          <p:cNvPr id="10" name="AutoShape 10"/>
          <p:cNvSpPr/>
          <p:nvPr/>
        </p:nvSpPr>
        <p:spPr>
          <a:xfrm>
            <a:off x="4394200" y="2286000"/>
            <a:ext cx="3378200" cy="2794000"/>
          </a:xfrm>
          <a:prstGeom prst="roundRect">
            <a:avLst>
              <a:gd name="adj" fmla="val 4545"/>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02300" y="2540000"/>
            <a:ext cx="762000" cy="762000"/>
          </a:xfrm>
          <a:prstGeom prst="rect">
            <a:avLst/>
          </a:prstGeom>
        </p:spPr>
      </p:pic>
      <p:sp>
        <p:nvSpPr>
          <p:cNvPr id="12" name="AutoShape 12"/>
          <p:cNvSpPr/>
          <p:nvPr/>
        </p:nvSpPr>
        <p:spPr>
          <a:xfrm>
            <a:off x="4521200" y="3429000"/>
            <a:ext cx="31242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88D1"/>
                </a:solidFill>
                <a:latin typeface="Noto Sans SC"/>
                <a:ea typeface="Noto Sans SC"/>
                <a:cs typeface="Noto Sans SC"/>
                <a:sym typeface="Noto Sans SC"/>
              </a:rPr>
              <a:t>多分类</a:t>
            </a:r>
            <a:endParaRPr lang="en-US" sz="1100"/>
          </a:p>
          <a:p>
            <a:pPr indent="0" algn="ctr">
              <a:lnSpc>
                <a:spcPct val="125000"/>
              </a:lnSpc>
            </a:pPr>
            <a:r>
              <a:rPr lang="en-US" sz="1200" b="0" i="0" u="none" strike="noStrike">
                <a:solidFill>
                  <a:srgbClr val="9E9E9E"/>
                </a:solidFill>
                <a:latin typeface="Noto Sans SC"/>
                <a:ea typeface="Noto Sans SC"/>
                <a:cs typeface="Noto Sans SC"/>
                <a:sym typeface="Noto Sans SC"/>
              </a:rPr>
              <a:t>Multiclass Classification</a:t>
            </a:r>
            <a:endParaRPr lang="en-US" sz="1200" b="0" i="0" u="none" strike="noStrike">
              <a:solidFill>
                <a:srgbClr val="9E9E9E"/>
              </a:solidFill>
              <a:latin typeface="Noto Sans SC"/>
              <a:ea typeface="Noto Sans SC"/>
              <a:cs typeface="Noto Sans SC"/>
              <a:sym typeface="Noto Sans SC"/>
            </a:endParaRPr>
          </a:p>
        </p:txBody>
      </p:sp>
      <p:sp>
        <p:nvSpPr>
          <p:cNvPr id="13" name="AutoShape 13"/>
          <p:cNvSpPr/>
          <p:nvPr/>
        </p:nvSpPr>
        <p:spPr>
          <a:xfrm>
            <a:off x="4521200" y="4127500"/>
            <a:ext cx="3124200" cy="762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400" b="0" i="0" u="none" strike="noStrike">
                <a:solidFill>
                  <a:srgbClr val="424242"/>
                </a:solidFill>
                <a:latin typeface="Noto Sans SC"/>
                <a:ea typeface="Noto Sans SC"/>
                <a:cs typeface="Noto Sans SC"/>
                <a:sym typeface="Noto Sans SC"/>
              </a:rPr>
              <a:t>标签为多个类别。</a:t>
            </a:r>
            <a:endParaRPr lang="en-US" sz="1100"/>
          </a:p>
          <a:p>
            <a:pPr indent="0" algn="ctr">
              <a:lnSpc>
                <a:spcPct val="108000"/>
              </a:lnSpc>
            </a:pPr>
            <a:r>
              <a:rPr lang="en-US" sz="1200" b="0" i="0" u="none" strike="noStrike">
                <a:solidFill>
                  <a:srgbClr val="757575"/>
                </a:solidFill>
                <a:latin typeface="Noto Sans SC"/>
                <a:ea typeface="Noto Sans SC"/>
                <a:cs typeface="Noto Sans SC"/>
                <a:sym typeface="Noto Sans SC"/>
              </a:rPr>
              <a:t>示例：评论情感（积极/中性/消极）</a:t>
            </a:r>
            <a:endParaRPr lang="en-US" sz="1200" b="0" i="0" u="none" strike="noStrike">
              <a:solidFill>
                <a:srgbClr val="757575"/>
              </a:solidFill>
              <a:latin typeface="Noto Sans SC"/>
              <a:ea typeface="Noto Sans SC"/>
              <a:cs typeface="Noto Sans SC"/>
              <a:sym typeface="Noto Sans SC"/>
            </a:endParaRPr>
          </a:p>
        </p:txBody>
      </p:sp>
      <p:sp>
        <p:nvSpPr>
          <p:cNvPr id="14" name="AutoShape 14"/>
          <p:cNvSpPr/>
          <p:nvPr/>
        </p:nvSpPr>
        <p:spPr>
          <a:xfrm>
            <a:off x="8026400" y="2286000"/>
            <a:ext cx="3378200" cy="2794000"/>
          </a:xfrm>
          <a:prstGeom prst="roundRect">
            <a:avLst>
              <a:gd name="adj" fmla="val 4545"/>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334500" y="2540000"/>
            <a:ext cx="762000" cy="762000"/>
          </a:xfrm>
          <a:prstGeom prst="rect">
            <a:avLst/>
          </a:prstGeom>
        </p:spPr>
      </p:pic>
      <p:sp>
        <p:nvSpPr>
          <p:cNvPr id="16" name="AutoShape 16"/>
          <p:cNvSpPr/>
          <p:nvPr/>
        </p:nvSpPr>
        <p:spPr>
          <a:xfrm>
            <a:off x="8153400" y="3429000"/>
            <a:ext cx="31242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88D1"/>
                </a:solidFill>
                <a:latin typeface="Noto Sans SC"/>
                <a:ea typeface="Noto Sans SC"/>
                <a:cs typeface="Noto Sans SC"/>
                <a:sym typeface="Noto Sans SC"/>
              </a:rPr>
              <a:t>多标签分类</a:t>
            </a:r>
            <a:endParaRPr lang="en-US" sz="1100"/>
          </a:p>
          <a:p>
            <a:pPr indent="0" algn="ctr">
              <a:lnSpc>
                <a:spcPct val="125000"/>
              </a:lnSpc>
            </a:pPr>
            <a:r>
              <a:rPr lang="en-US" sz="1200" b="0" i="0" u="none" strike="noStrike">
                <a:solidFill>
                  <a:srgbClr val="9E9E9E"/>
                </a:solidFill>
                <a:latin typeface="Noto Sans SC"/>
                <a:ea typeface="Noto Sans SC"/>
                <a:cs typeface="Noto Sans SC"/>
                <a:sym typeface="Noto Sans SC"/>
              </a:rPr>
              <a:t>Multilabel Classification</a:t>
            </a:r>
            <a:endParaRPr lang="en-US" sz="1200" b="0" i="0" u="none" strike="noStrike">
              <a:solidFill>
                <a:srgbClr val="9E9E9E"/>
              </a:solidFill>
              <a:latin typeface="Noto Sans SC"/>
              <a:ea typeface="Noto Sans SC"/>
              <a:cs typeface="Noto Sans SC"/>
              <a:sym typeface="Noto Sans SC"/>
            </a:endParaRPr>
          </a:p>
        </p:txBody>
      </p:sp>
      <p:sp>
        <p:nvSpPr>
          <p:cNvPr id="17" name="AutoShape 17"/>
          <p:cNvSpPr/>
          <p:nvPr/>
        </p:nvSpPr>
        <p:spPr>
          <a:xfrm>
            <a:off x="8153400" y="4127500"/>
            <a:ext cx="3124200" cy="762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400" b="0" i="0" u="none" strike="noStrike">
                <a:solidFill>
                  <a:srgbClr val="424242"/>
                </a:solidFill>
                <a:latin typeface="Noto Sans SC"/>
                <a:ea typeface="Noto Sans SC"/>
                <a:cs typeface="Noto Sans SC"/>
                <a:sym typeface="Noto Sans SC"/>
              </a:rPr>
              <a:t>每个文本可属于多个类别。</a:t>
            </a:r>
            <a:endParaRPr lang="en-US" sz="1100"/>
          </a:p>
          <a:p>
            <a:pPr indent="0" algn="ctr">
              <a:lnSpc>
                <a:spcPct val="108000"/>
              </a:lnSpc>
            </a:pPr>
            <a:r>
              <a:rPr lang="en-US" sz="1200" b="0" i="0" u="none" strike="noStrike">
                <a:solidFill>
                  <a:srgbClr val="757575"/>
                </a:solidFill>
                <a:latin typeface="Noto Sans SC"/>
                <a:ea typeface="Noto Sans SC"/>
                <a:cs typeface="Noto Sans SC"/>
                <a:sym typeface="Noto Sans SC"/>
              </a:rPr>
              <a:t>示例：文章同时归属科技和商业</a:t>
            </a:r>
            <a:endParaRPr lang="en-US" sz="1200" b="0" i="0" u="none" strike="noStrike">
              <a:solidFill>
                <a:srgbClr val="757575"/>
              </a:solidFill>
              <a:latin typeface="Noto Sans SC"/>
              <a:ea typeface="Noto Sans SC"/>
              <a:cs typeface="Noto Sans SC"/>
              <a:sym typeface="Noto Sans SC"/>
            </a:endParaRPr>
          </a:p>
        </p:txBody>
      </p:sp>
      <p:sp>
        <p:nvSpPr>
          <p:cNvPr id="18" name="AutoShape 18"/>
          <p:cNvSpPr/>
          <p:nvPr/>
        </p:nvSpPr>
        <p:spPr>
          <a:xfrm>
            <a:off x="762000" y="5334000"/>
            <a:ext cx="10668000" cy="762000"/>
          </a:xfrm>
          <a:prstGeom prst="roundRect">
            <a:avLst>
              <a:gd name="adj" fmla="val 16666"/>
            </a:avLst>
          </a:prstGeom>
          <a:solidFill>
            <a:srgbClr val="0288D1">
              <a:alpha val="10000"/>
            </a:srgbClr>
          </a:solidFill>
          <a:ln w="12700" cap="flat" cmpd="sng">
            <a:solidFill>
              <a:srgbClr val="0288D1">
                <a:alpha val="30000"/>
              </a:srgbClr>
            </a:solid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16000" y="5486400"/>
            <a:ext cx="457200" cy="457200"/>
          </a:xfrm>
          <a:prstGeom prst="rect">
            <a:avLst/>
          </a:prstGeom>
        </p:spPr>
      </p:pic>
      <p:sp>
        <p:nvSpPr>
          <p:cNvPr id="20" name="AutoShape 20"/>
          <p:cNvSpPr/>
          <p:nvPr/>
        </p:nvSpPr>
        <p:spPr>
          <a:xfrm>
            <a:off x="1651000" y="5461000"/>
            <a:ext cx="952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88D1"/>
                </a:solidFill>
                <a:latin typeface="Noto Sans SC"/>
                <a:ea typeface="Noto Sans SC"/>
                <a:cs typeface="Noto Sans SC"/>
                <a:sym typeface="Noto Sans SC"/>
              </a:rPr>
              <a:t>应用价值：</a:t>
            </a:r>
            <a:r>
              <a:rPr lang="en-US" sz="1600" b="0" i="0" u="none" strike="noStrike">
                <a:solidFill>
                  <a:srgbClr val="424242"/>
                </a:solidFill>
                <a:latin typeface="Noto Sans SC"/>
                <a:ea typeface="Noto Sans SC"/>
                <a:cs typeface="Noto Sans SC"/>
                <a:sym typeface="Noto Sans SC"/>
              </a:rPr>
              <a:t>广泛应用于垃圾邮件过滤、情感分析、新闻分类等场景，是解决实际问题的基础方法。</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无监督学习 (Unsupervised Learning)</a:t>
            </a:r>
            <a:endParaRPr lang="en-US" sz="1100"/>
          </a:p>
        </p:txBody>
      </p:sp>
      <p:sp>
        <p:nvSpPr>
          <p:cNvPr id="3" name="AutoShape 3"/>
          <p:cNvSpPr/>
          <p:nvPr/>
        </p:nvSpPr>
        <p:spPr>
          <a:xfrm>
            <a:off x="762000" y="1397000"/>
            <a:ext cx="10668000" cy="1016000"/>
          </a:xfrm>
          <a:prstGeom prst="roundRect">
            <a:avLst>
              <a:gd name="adj" fmla="val 1250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508000" cy="508000"/>
          </a:xfrm>
          <a:prstGeom prst="rect">
            <a:avLst/>
          </a:prstGeom>
        </p:spPr>
      </p:pic>
      <p:sp>
        <p:nvSpPr>
          <p:cNvPr id="5" name="AutoShape 5"/>
          <p:cNvSpPr/>
          <p:nvPr/>
        </p:nvSpPr>
        <p:spPr>
          <a:xfrm>
            <a:off x="1651000" y="1524000"/>
            <a:ext cx="952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24242"/>
                </a:solidFill>
                <a:latin typeface="Noto Sans SC"/>
                <a:ea typeface="Noto Sans SC"/>
                <a:cs typeface="Noto Sans SC"/>
                <a:sym typeface="Noto Sans SC"/>
              </a:rPr>
              <a:t>定义：</a:t>
            </a:r>
            <a:r>
              <a:rPr lang="en-US" sz="1800" b="0" i="0" u="none" strike="noStrike">
                <a:solidFill>
                  <a:srgbClr val="424242"/>
                </a:solidFill>
                <a:latin typeface="Noto Sans SC"/>
                <a:ea typeface="Noto Sans SC"/>
                <a:cs typeface="Noto Sans SC"/>
                <a:sym typeface="Noto Sans SC"/>
              </a:rPr>
              <a:t>基于“物以类聚”的理念，通过自动识别数据中的相似性进行分类和分组，无需人工标注标签。</a:t>
            </a:r>
            <a:endParaRPr lang="en-US" sz="1100"/>
          </a:p>
        </p:txBody>
      </p:sp>
      <p:sp>
        <p:nvSpPr>
          <p:cNvPr id="6" name="AutoShape 6"/>
          <p:cNvSpPr/>
          <p:nvPr/>
        </p:nvSpPr>
        <p:spPr>
          <a:xfrm>
            <a:off x="762000" y="2667000"/>
            <a:ext cx="52070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921000"/>
            <a:ext cx="457200" cy="457200"/>
          </a:xfrm>
          <a:prstGeom prst="rect">
            <a:avLst/>
          </a:prstGeom>
        </p:spPr>
      </p:pic>
      <p:sp>
        <p:nvSpPr>
          <p:cNvPr id="8" name="AutoShape 8"/>
          <p:cNvSpPr/>
          <p:nvPr/>
        </p:nvSpPr>
        <p:spPr>
          <a:xfrm>
            <a:off x="1587500" y="2895600"/>
            <a:ext cx="4127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聚类 (Clustering)</a:t>
            </a:r>
            <a:endParaRPr lang="en-US" sz="1100"/>
          </a:p>
        </p:txBody>
      </p:sp>
      <p:sp>
        <p:nvSpPr>
          <p:cNvPr id="9" name="AutoShape 9"/>
          <p:cNvSpPr/>
          <p:nvPr/>
        </p:nvSpPr>
        <p:spPr>
          <a:xfrm>
            <a:off x="1016000" y="3429000"/>
            <a:ext cx="4699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a:solidFill>
                  <a:srgbClr val="424242"/>
                </a:solidFill>
                <a:latin typeface="Noto Sans SC"/>
                <a:ea typeface="Noto Sans SC"/>
                <a:cs typeface="Noto Sans SC"/>
                <a:sym typeface="Noto Sans SC"/>
              </a:rPr>
              <a:t>将文本分为若干组，使得组内相似度高，组间相似度低。</a:t>
            </a:r>
            <a:endParaRPr lang="en-US" sz="1100"/>
          </a:p>
        </p:txBody>
      </p:sp>
      <p:sp>
        <p:nvSpPr>
          <p:cNvPr id="10" name="AutoShape 10"/>
          <p:cNvSpPr/>
          <p:nvPr/>
        </p:nvSpPr>
        <p:spPr>
          <a:xfrm>
            <a:off x="1016000" y="4254500"/>
            <a:ext cx="4699000" cy="508000"/>
          </a:xfrm>
          <a:prstGeom prst="roundRect">
            <a:avLst>
              <a:gd name="adj" fmla="val 12500"/>
            </a:avLst>
          </a:prstGeom>
          <a:solidFill>
            <a:srgbClr val="E0F7FA">
              <a:alpha val="5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143000" y="4318000"/>
            <a:ext cx="444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288D1"/>
                </a:solidFill>
                <a:latin typeface="Noto Sans SC"/>
                <a:ea typeface="Noto Sans SC"/>
                <a:cs typeface="Noto Sans SC"/>
                <a:sym typeface="Noto Sans SC"/>
              </a:rPr>
              <a:t>常用算法：</a:t>
            </a:r>
            <a:r>
              <a:rPr lang="en-US" sz="1400" b="0" i="0" u="none" strike="noStrike">
                <a:solidFill>
                  <a:srgbClr val="424242"/>
                </a:solidFill>
                <a:latin typeface="Noto Sans SC"/>
                <a:ea typeface="Noto Sans SC"/>
                <a:cs typeface="Noto Sans SC"/>
                <a:sym typeface="Noto Sans SC"/>
              </a:rPr>
              <a:t>K-means、层次聚类</a:t>
            </a:r>
            <a:endParaRPr lang="en-US" sz="1100"/>
          </a:p>
        </p:txBody>
      </p:sp>
      <p:sp>
        <p:nvSpPr>
          <p:cNvPr id="12" name="AutoShape 12"/>
          <p:cNvSpPr/>
          <p:nvPr/>
        </p:nvSpPr>
        <p:spPr>
          <a:xfrm>
            <a:off x="6223000" y="2667000"/>
            <a:ext cx="52070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77000" y="2921000"/>
            <a:ext cx="457200" cy="457200"/>
          </a:xfrm>
          <a:prstGeom prst="rect">
            <a:avLst/>
          </a:prstGeom>
        </p:spPr>
      </p:pic>
      <p:sp>
        <p:nvSpPr>
          <p:cNvPr id="14" name="AutoShape 14"/>
          <p:cNvSpPr/>
          <p:nvPr/>
        </p:nvSpPr>
        <p:spPr>
          <a:xfrm>
            <a:off x="7048500" y="2895600"/>
            <a:ext cx="4127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主题建模 (Topic Modeling)</a:t>
            </a:r>
            <a:endParaRPr lang="en-US" sz="1100"/>
          </a:p>
        </p:txBody>
      </p:sp>
      <p:sp>
        <p:nvSpPr>
          <p:cNvPr id="15" name="AutoShape 15"/>
          <p:cNvSpPr/>
          <p:nvPr/>
        </p:nvSpPr>
        <p:spPr>
          <a:xfrm>
            <a:off x="6477000" y="3429000"/>
            <a:ext cx="4699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a:solidFill>
                  <a:srgbClr val="424242"/>
                </a:solidFill>
                <a:latin typeface="Noto Sans SC"/>
                <a:ea typeface="Noto Sans SC"/>
                <a:cs typeface="Noto Sans SC"/>
                <a:sym typeface="Noto Sans SC"/>
              </a:rPr>
              <a:t>从大量文档中发现隐含的主题结构，揭示数据背后的语义信息。</a:t>
            </a:r>
            <a:endParaRPr lang="en-US" sz="1100"/>
          </a:p>
        </p:txBody>
      </p:sp>
      <p:sp>
        <p:nvSpPr>
          <p:cNvPr id="16" name="AutoShape 16"/>
          <p:cNvSpPr/>
          <p:nvPr/>
        </p:nvSpPr>
        <p:spPr>
          <a:xfrm>
            <a:off x="6477000" y="4254500"/>
            <a:ext cx="4699000" cy="508000"/>
          </a:xfrm>
          <a:prstGeom prst="roundRect">
            <a:avLst>
              <a:gd name="adj" fmla="val 12500"/>
            </a:avLst>
          </a:prstGeom>
          <a:solidFill>
            <a:srgbClr val="E0F7FA">
              <a:alpha val="5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6604000" y="4318000"/>
            <a:ext cx="444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288D1"/>
                </a:solidFill>
                <a:latin typeface="Noto Sans SC"/>
                <a:ea typeface="Noto Sans SC"/>
                <a:cs typeface="Noto Sans SC"/>
                <a:sym typeface="Noto Sans SC"/>
              </a:rPr>
              <a:t>常用算法：</a:t>
            </a:r>
            <a:r>
              <a:rPr lang="en-US" sz="1400" b="0" i="0" u="none" strike="noStrike">
                <a:solidFill>
                  <a:srgbClr val="424242"/>
                </a:solidFill>
                <a:latin typeface="Noto Sans SC"/>
                <a:ea typeface="Noto Sans SC"/>
                <a:cs typeface="Noto Sans SC"/>
                <a:sym typeface="Noto Sans SC"/>
              </a:rPr>
              <a:t>LDA (Latent Dirichlet Allocation)</a:t>
            </a:r>
            <a:endParaRPr lang="en-US" sz="1100"/>
          </a:p>
        </p:txBody>
      </p:sp>
      <p:sp>
        <p:nvSpPr>
          <p:cNvPr id="18" name="AutoShape 18"/>
          <p:cNvSpPr/>
          <p:nvPr/>
        </p:nvSpPr>
        <p:spPr>
          <a:xfrm>
            <a:off x="762000" y="5207000"/>
            <a:ext cx="10668000" cy="762000"/>
          </a:xfrm>
          <a:prstGeom prst="roundRect">
            <a:avLst>
              <a:gd name="adj" fmla="val 16666"/>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1016000" y="5334000"/>
            <a:ext cx="1016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0288D1"/>
                </a:solidFill>
                <a:latin typeface="Noto Sans SC"/>
                <a:ea typeface="Noto Sans SC"/>
                <a:cs typeface="Noto Sans SC"/>
                <a:sym typeface="Noto Sans SC"/>
              </a:rPr>
              <a:t>核心价值：</a:t>
            </a:r>
            <a:r>
              <a:rPr lang="en-US" sz="1600" b="0" i="0" u="none" strike="noStrike">
                <a:solidFill>
                  <a:srgbClr val="424242"/>
                </a:solidFill>
                <a:latin typeface="Noto Sans SC"/>
                <a:ea typeface="Noto Sans SC"/>
                <a:cs typeface="Noto Sans SC"/>
                <a:sym typeface="Noto Sans SC"/>
              </a:rPr>
              <a:t>无监督学习是探索性数据分析的关键，帮助我们在缺乏先验知识的情况下发现数据内在规律。</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半监督学习与弱监督学习</a:t>
            </a:r>
            <a:endParaRPr lang="en-US" sz="1100"/>
          </a:p>
        </p:txBody>
      </p:sp>
      <p:sp>
        <p:nvSpPr>
          <p:cNvPr id="3" name="AutoShape 3"/>
          <p:cNvSpPr/>
          <p:nvPr/>
        </p:nvSpPr>
        <p:spPr>
          <a:xfrm>
            <a:off x="762000" y="1397000"/>
            <a:ext cx="5080000" cy="3556000"/>
          </a:xfrm>
          <a:prstGeom prst="roundRect">
            <a:avLst>
              <a:gd name="adj" fmla="val 3571"/>
            </a:avLst>
          </a:prstGeom>
          <a:solidFill>
            <a:srgbClr val="FFFFFF">
              <a:alpha val="100000"/>
            </a:srgbClr>
          </a:solidFill>
          <a:ln w="25400" cap="flat" cmpd="sng">
            <a:no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algn="ctr">
              <a:defRPr/>
            </a:pPr>
          </a:p>
        </p:txBody>
      </p:sp>
      <p:sp>
        <p:nvSpPr>
          <p:cNvPr id="4" name="AutoShape 4"/>
          <p:cNvSpPr/>
          <p:nvPr/>
        </p:nvSpPr>
        <p:spPr>
          <a:xfrm>
            <a:off x="762000" y="1397000"/>
            <a:ext cx="5080000" cy="76200"/>
          </a:xfrm>
          <a:prstGeom prst="roundRect">
            <a:avLst>
              <a:gd name="adj" fmla="val 166666"/>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27200"/>
            <a:ext cx="406400" cy="406400"/>
          </a:xfrm>
          <a:prstGeom prst="rect">
            <a:avLst/>
          </a:prstGeom>
        </p:spPr>
      </p:pic>
      <p:sp>
        <p:nvSpPr>
          <p:cNvPr id="6" name="AutoShape 6"/>
          <p:cNvSpPr/>
          <p:nvPr/>
        </p:nvSpPr>
        <p:spPr>
          <a:xfrm>
            <a:off x="1524000" y="1676400"/>
            <a:ext cx="4064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半监督学习</a:t>
            </a:r>
            <a:endParaRPr lang="en-US" sz="1100"/>
          </a:p>
        </p:txBody>
      </p:sp>
      <p:sp>
        <p:nvSpPr>
          <p:cNvPr id="7" name="AutoShape 7"/>
          <p:cNvSpPr/>
          <p:nvPr/>
        </p:nvSpPr>
        <p:spPr>
          <a:xfrm>
            <a:off x="1524000" y="2057400"/>
            <a:ext cx="4064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757575"/>
                </a:solidFill>
                <a:latin typeface="Noto Sans SC"/>
                <a:ea typeface="Noto Sans SC"/>
                <a:cs typeface="Noto Sans SC"/>
                <a:sym typeface="Noto Sans SC"/>
              </a:rPr>
              <a:t>Semi-supervised Learning</a:t>
            </a:r>
            <a:endParaRPr lang="en-US" sz="1100"/>
          </a:p>
        </p:txBody>
      </p:sp>
      <p:cxnSp>
        <p:nvCxnSpPr>
          <p:cNvPr id="8" name="Connector 8"/>
          <p:cNvCxnSpPr/>
          <p:nvPr/>
        </p:nvCxnSpPr>
        <p:spPr>
          <a:xfrm rot="-9549">
            <a:off x="1016009" y="2406650"/>
            <a:ext cx="4572000" cy="12700"/>
          </a:xfrm>
          <a:prstGeom prst="straightConnector1">
            <a:avLst/>
          </a:prstGeom>
          <a:solidFill>
            <a:srgbClr val="DEE0E3">
              <a:alpha val="100000"/>
            </a:srgbClr>
          </a:solidFill>
          <a:ln w="12700" cap="flat" cmpd="sng">
            <a:solidFill>
              <a:srgbClr val="EEEEEE">
                <a:alpha val="100000"/>
              </a:srgbClr>
            </a:solidFill>
            <a:prstDash val="solid"/>
            <a:round/>
            <a:headEnd type="none" w="med" len="med"/>
            <a:tailEnd type="none" w="med" len="med"/>
          </a:ln>
        </p:spPr>
      </p:cxnSp>
      <p:sp>
        <p:nvSpPr>
          <p:cNvPr id="9" name="AutoShape 9"/>
          <p:cNvSpPr/>
          <p:nvPr/>
        </p:nvSpPr>
        <p:spPr>
          <a:xfrm>
            <a:off x="1016000" y="2540000"/>
            <a:ext cx="4572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424242"/>
                </a:solidFill>
                <a:latin typeface="Noto Sans SC"/>
                <a:ea typeface="Noto Sans SC"/>
                <a:cs typeface="Noto Sans SC"/>
                <a:sym typeface="Noto Sans SC"/>
              </a:rPr>
              <a:t>核心思想：同时利用标记数据和未标记数据进行训练，以解决标记数据稀缺的问题。</a:t>
            </a:r>
            <a:endParaRPr lang="en-US" sz="1100"/>
          </a:p>
        </p:txBody>
      </p:sp>
      <p:sp>
        <p:nvSpPr>
          <p:cNvPr id="10" name="AutoShape 10"/>
          <p:cNvSpPr/>
          <p:nvPr/>
        </p:nvSpPr>
        <p:spPr>
          <a:xfrm>
            <a:off x="1016000" y="3556000"/>
            <a:ext cx="4572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288D1"/>
                </a:solidFill>
                <a:latin typeface="Noto Sans SC"/>
                <a:ea typeface="Noto Sans SC"/>
                <a:cs typeface="Noto Sans SC"/>
                <a:sym typeface="Noto Sans SC"/>
              </a:rPr>
              <a:t>常用方法：</a:t>
            </a:r>
            <a:endParaRPr lang="en-US" sz="1100"/>
          </a:p>
        </p:txBody>
      </p:sp>
      <p:sp>
        <p:nvSpPr>
          <p:cNvPr id="11" name="AutoShape 11"/>
          <p:cNvSpPr/>
          <p:nvPr/>
        </p:nvSpPr>
        <p:spPr>
          <a:xfrm>
            <a:off x="1016000" y="3937000"/>
            <a:ext cx="2159000" cy="457200"/>
          </a:xfrm>
          <a:prstGeom prst="roundRect">
            <a:avLst>
              <a:gd name="adj" fmla="val 13888"/>
            </a:avLst>
          </a:prstGeom>
          <a:solidFill>
            <a:srgbClr val="0288D1">
              <a:alpha val="1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0288D1"/>
                </a:solidFill>
                <a:latin typeface="Noto Sans SC"/>
                <a:ea typeface="Noto Sans SC"/>
                <a:cs typeface="Noto Sans SC"/>
                <a:sym typeface="Noto Sans SC"/>
              </a:rPr>
              <a:t>自训练 (Self-training)</a:t>
            </a:r>
            <a:endParaRPr lang="en-US" sz="1100"/>
          </a:p>
        </p:txBody>
      </p:sp>
      <p:sp>
        <p:nvSpPr>
          <p:cNvPr id="12" name="AutoShape 12"/>
          <p:cNvSpPr/>
          <p:nvPr/>
        </p:nvSpPr>
        <p:spPr>
          <a:xfrm>
            <a:off x="3429000" y="3937000"/>
            <a:ext cx="2159000" cy="457200"/>
          </a:xfrm>
          <a:prstGeom prst="roundRect">
            <a:avLst>
              <a:gd name="adj" fmla="val 13888"/>
            </a:avLst>
          </a:prstGeom>
          <a:solidFill>
            <a:srgbClr val="0288D1">
              <a:alpha val="1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0288D1"/>
                </a:solidFill>
                <a:latin typeface="Noto Sans SC"/>
                <a:ea typeface="Noto Sans SC"/>
                <a:cs typeface="Noto Sans SC"/>
                <a:sym typeface="Noto Sans SC"/>
              </a:rPr>
              <a:t>协同训练 (Co-training)</a:t>
            </a:r>
            <a:endParaRPr lang="en-US" sz="1100"/>
          </a:p>
        </p:txBody>
      </p:sp>
      <p:sp>
        <p:nvSpPr>
          <p:cNvPr id="13" name="AutoShape 13"/>
          <p:cNvSpPr/>
          <p:nvPr/>
        </p:nvSpPr>
        <p:spPr>
          <a:xfrm>
            <a:off x="6350000" y="1397000"/>
            <a:ext cx="5080000" cy="3556000"/>
          </a:xfrm>
          <a:prstGeom prst="roundRect">
            <a:avLst>
              <a:gd name="adj" fmla="val 3571"/>
            </a:avLst>
          </a:prstGeom>
          <a:solidFill>
            <a:srgbClr val="FFFFFF">
              <a:alpha val="100000"/>
            </a:srgbClr>
          </a:solidFill>
          <a:ln w="25400" cap="flat" cmpd="sng">
            <a:no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algn="ctr">
              <a:defRPr/>
            </a:pPr>
          </a:p>
        </p:txBody>
      </p:sp>
      <p:sp>
        <p:nvSpPr>
          <p:cNvPr id="14" name="AutoShape 14"/>
          <p:cNvSpPr/>
          <p:nvPr/>
        </p:nvSpPr>
        <p:spPr>
          <a:xfrm>
            <a:off x="6350000" y="1397000"/>
            <a:ext cx="5080000" cy="76200"/>
          </a:xfrm>
          <a:prstGeom prst="roundRect">
            <a:avLst>
              <a:gd name="adj" fmla="val 166666"/>
            </a:avLst>
          </a:prstGeom>
          <a:solidFill>
            <a:srgbClr val="424242">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4000" y="1727200"/>
            <a:ext cx="406400" cy="406400"/>
          </a:xfrm>
          <a:prstGeom prst="rect">
            <a:avLst/>
          </a:prstGeom>
        </p:spPr>
      </p:pic>
      <p:sp>
        <p:nvSpPr>
          <p:cNvPr id="16" name="AutoShape 16"/>
          <p:cNvSpPr/>
          <p:nvPr/>
        </p:nvSpPr>
        <p:spPr>
          <a:xfrm>
            <a:off x="7112000" y="1676400"/>
            <a:ext cx="4064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24242"/>
                </a:solidFill>
                <a:latin typeface="Noto Sans SC"/>
                <a:ea typeface="Noto Sans SC"/>
                <a:cs typeface="Noto Sans SC"/>
                <a:sym typeface="Noto Sans SC"/>
              </a:rPr>
              <a:t>弱监督学习</a:t>
            </a:r>
            <a:endParaRPr lang="en-US" sz="1100"/>
          </a:p>
        </p:txBody>
      </p:sp>
      <p:sp>
        <p:nvSpPr>
          <p:cNvPr id="17" name="AutoShape 17"/>
          <p:cNvSpPr/>
          <p:nvPr/>
        </p:nvSpPr>
        <p:spPr>
          <a:xfrm>
            <a:off x="7112000" y="2057400"/>
            <a:ext cx="4064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757575"/>
                </a:solidFill>
                <a:latin typeface="Noto Sans SC"/>
                <a:ea typeface="Noto Sans SC"/>
                <a:cs typeface="Noto Sans SC"/>
                <a:sym typeface="Noto Sans SC"/>
              </a:rPr>
              <a:t>Weakly Supervised Learning</a:t>
            </a:r>
            <a:endParaRPr lang="en-US" sz="1100"/>
          </a:p>
        </p:txBody>
      </p:sp>
      <p:cxnSp>
        <p:nvCxnSpPr>
          <p:cNvPr id="18" name="Connector 18"/>
          <p:cNvCxnSpPr/>
          <p:nvPr/>
        </p:nvCxnSpPr>
        <p:spPr>
          <a:xfrm rot="-9549">
            <a:off x="6604009" y="2406650"/>
            <a:ext cx="4572000" cy="12700"/>
          </a:xfrm>
          <a:prstGeom prst="straightConnector1">
            <a:avLst/>
          </a:prstGeom>
          <a:solidFill>
            <a:srgbClr val="DEE0E3">
              <a:alpha val="100000"/>
            </a:srgbClr>
          </a:solidFill>
          <a:ln w="12700" cap="flat" cmpd="sng">
            <a:solidFill>
              <a:srgbClr val="EEEEEE">
                <a:alpha val="100000"/>
              </a:srgbClr>
            </a:solidFill>
            <a:prstDash val="solid"/>
            <a:round/>
            <a:headEnd type="none" w="med" len="med"/>
            <a:tailEnd type="none" w="med" len="med"/>
          </a:ln>
        </p:spPr>
      </p:cxnSp>
      <p:sp>
        <p:nvSpPr>
          <p:cNvPr id="19" name="AutoShape 19"/>
          <p:cNvSpPr/>
          <p:nvPr/>
        </p:nvSpPr>
        <p:spPr>
          <a:xfrm>
            <a:off x="6604000" y="2540000"/>
            <a:ext cx="4572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424242"/>
                </a:solidFill>
                <a:latin typeface="Noto Sans SC"/>
                <a:ea typeface="Noto Sans SC"/>
                <a:cs typeface="Noto Sans SC"/>
                <a:sym typeface="Noto Sans SC"/>
              </a:rPr>
              <a:t>核心思想：使用不完全、不准确或带有噪声的数据集（如伪标签）进行训练，降低标注成本。</a:t>
            </a:r>
            <a:endParaRPr lang="en-US" sz="1100"/>
          </a:p>
        </p:txBody>
      </p:sp>
      <p:sp>
        <p:nvSpPr>
          <p:cNvPr id="20" name="AutoShape 20"/>
          <p:cNvSpPr/>
          <p:nvPr/>
        </p:nvSpPr>
        <p:spPr>
          <a:xfrm>
            <a:off x="6604000" y="3556000"/>
            <a:ext cx="4572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424242"/>
                </a:solidFill>
                <a:latin typeface="Noto Sans SC"/>
                <a:ea typeface="Noto Sans SC"/>
                <a:cs typeface="Noto Sans SC"/>
                <a:sym typeface="Noto Sans SC"/>
              </a:rPr>
              <a:t>常用方法：</a:t>
            </a:r>
            <a:endParaRPr lang="en-US" sz="1100"/>
          </a:p>
        </p:txBody>
      </p:sp>
      <p:sp>
        <p:nvSpPr>
          <p:cNvPr id="21" name="AutoShape 21"/>
          <p:cNvSpPr/>
          <p:nvPr/>
        </p:nvSpPr>
        <p:spPr>
          <a:xfrm>
            <a:off x="6604000" y="3937000"/>
            <a:ext cx="2159000" cy="457200"/>
          </a:xfrm>
          <a:prstGeom prst="roundRect">
            <a:avLst>
              <a:gd name="adj" fmla="val 13888"/>
            </a:avLst>
          </a:prstGeom>
          <a:solidFill>
            <a:srgbClr val="424242">
              <a:alpha val="1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424242"/>
                </a:solidFill>
                <a:latin typeface="Noto Sans SC"/>
                <a:ea typeface="Noto Sans SC"/>
                <a:cs typeface="Noto Sans SC"/>
                <a:sym typeface="Noto Sans SC"/>
              </a:rPr>
              <a:t>规则基方法</a:t>
            </a:r>
            <a:endParaRPr lang="en-US" sz="1100"/>
          </a:p>
        </p:txBody>
      </p:sp>
      <p:sp>
        <p:nvSpPr>
          <p:cNvPr id="22" name="AutoShape 22"/>
          <p:cNvSpPr/>
          <p:nvPr/>
        </p:nvSpPr>
        <p:spPr>
          <a:xfrm>
            <a:off x="9017000" y="3937000"/>
            <a:ext cx="2159000" cy="457200"/>
          </a:xfrm>
          <a:prstGeom prst="roundRect">
            <a:avLst>
              <a:gd name="adj" fmla="val 13888"/>
            </a:avLst>
          </a:prstGeom>
          <a:solidFill>
            <a:srgbClr val="424242">
              <a:alpha val="1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424242"/>
                </a:solidFill>
                <a:latin typeface="Noto Sans SC"/>
                <a:ea typeface="Noto Sans SC"/>
                <a:cs typeface="Noto Sans SC"/>
                <a:sym typeface="Noto Sans SC"/>
              </a:rPr>
              <a:t>标签传播</a:t>
            </a:r>
            <a:endParaRPr lang="en-US" sz="1100"/>
          </a:p>
        </p:txBody>
      </p:sp>
      <p:sp>
        <p:nvSpPr>
          <p:cNvPr id="23" name="AutoShape 23"/>
          <p:cNvSpPr/>
          <p:nvPr/>
        </p:nvSpPr>
        <p:spPr>
          <a:xfrm>
            <a:off x="762000" y="5334000"/>
            <a:ext cx="10668000" cy="1016000"/>
          </a:xfrm>
          <a:prstGeom prst="roundRect">
            <a:avLst>
              <a:gd name="adj" fmla="val 12500"/>
            </a:avLst>
          </a:prstGeom>
          <a:solidFill>
            <a:srgbClr val="FFFFFF">
              <a:alpha val="60000"/>
            </a:srgbClr>
          </a:solidFill>
          <a:ln w="12700" cap="flat" cmpd="sng">
            <a:solidFill>
              <a:srgbClr val="0288D1">
                <a:alpha val="30000"/>
              </a:srgbClr>
            </a:solid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5588000"/>
            <a:ext cx="508000" cy="508000"/>
          </a:xfrm>
          <a:prstGeom prst="rect">
            <a:avLst/>
          </a:prstGeom>
        </p:spPr>
      </p:pic>
      <p:sp>
        <p:nvSpPr>
          <p:cNvPr id="25" name="AutoShape 25"/>
          <p:cNvSpPr/>
          <p:nvPr/>
        </p:nvSpPr>
        <p:spPr>
          <a:xfrm>
            <a:off x="1651000" y="5461000"/>
            <a:ext cx="9525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1" i="0" u="none" strike="noStrike">
                <a:solidFill>
                  <a:srgbClr val="424242"/>
                </a:solidFill>
                <a:latin typeface="Noto Sans SC"/>
                <a:ea typeface="Noto Sans SC"/>
                <a:cs typeface="Noto Sans SC"/>
                <a:sym typeface="Noto Sans SC"/>
              </a:rPr>
              <a:t>核心区别：</a:t>
            </a:r>
            <a:r>
              <a:rPr lang="en-US" sz="1400" b="0" i="0" u="none" strike="noStrike">
                <a:solidFill>
                  <a:srgbClr val="424242"/>
                </a:solidFill>
                <a:latin typeface="Noto Sans SC"/>
                <a:ea typeface="Noto Sans SC"/>
                <a:cs typeface="Noto Sans SC"/>
                <a:sym typeface="Noto Sans SC"/>
              </a:rPr>
              <a:t>半监督学习侧重于“量”的补充（利用未标记数据），而弱监督学习侧重于“质”的放宽（容忍不完美的标记数据）。两者都是为了降低对高质量标记数据的依赖。</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迁移学习 (Transfer Learning)</a:t>
            </a:r>
            <a:endParaRPr lang="en-US" sz="1100"/>
          </a:p>
        </p:txBody>
      </p:sp>
      <p:sp>
        <p:nvSpPr>
          <p:cNvPr id="3" name="AutoShape 3"/>
          <p:cNvSpPr/>
          <p:nvPr/>
        </p:nvSpPr>
        <p:spPr>
          <a:xfrm>
            <a:off x="762000" y="1270000"/>
            <a:ext cx="10668000" cy="762000"/>
          </a:xfrm>
          <a:prstGeom prst="roundRect">
            <a:avLst>
              <a:gd name="adj" fmla="val 16666"/>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460500"/>
            <a:ext cx="381000" cy="381000"/>
          </a:xfrm>
          <a:prstGeom prst="rect">
            <a:avLst/>
          </a:prstGeom>
        </p:spPr>
      </p:pic>
      <p:sp>
        <p:nvSpPr>
          <p:cNvPr id="5" name="AutoShape 5"/>
          <p:cNvSpPr/>
          <p:nvPr/>
        </p:nvSpPr>
        <p:spPr>
          <a:xfrm>
            <a:off x="1524000" y="1371600"/>
            <a:ext cx="9652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24242"/>
                </a:solidFill>
                <a:latin typeface="Noto Sans SC"/>
                <a:ea typeface="Noto Sans SC"/>
                <a:cs typeface="Noto Sans SC"/>
                <a:sym typeface="Noto Sans SC"/>
              </a:rPr>
              <a:t>定义：</a:t>
            </a:r>
            <a:r>
              <a:rPr lang="en-US" sz="1600" b="0" i="0" u="none" strike="noStrike">
                <a:solidFill>
                  <a:srgbClr val="424242"/>
                </a:solidFill>
                <a:latin typeface="Noto Sans SC"/>
                <a:ea typeface="Noto Sans SC"/>
                <a:cs typeface="Noto Sans SC"/>
                <a:sym typeface="Noto Sans SC"/>
              </a:rPr>
              <a:t>将预训练模型应用于新的文本分类任务，利用已有的知识解决新问题。</a:t>
            </a:r>
            <a:endParaRPr lang="en-US" sz="1100"/>
          </a:p>
        </p:txBody>
      </p:sp>
      <p:sp>
        <p:nvSpPr>
          <p:cNvPr id="6" name="AutoShape 6"/>
          <p:cNvSpPr/>
          <p:nvPr/>
        </p:nvSpPr>
        <p:spPr>
          <a:xfrm>
            <a:off x="762000" y="2286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核心思想：两阶段学习流程</a:t>
            </a:r>
            <a:endParaRPr lang="en-US" sz="1100"/>
          </a:p>
        </p:txBody>
      </p:sp>
      <p:sp>
        <p:nvSpPr>
          <p:cNvPr id="7" name="AutoShape 7"/>
          <p:cNvSpPr/>
          <p:nvPr/>
        </p:nvSpPr>
        <p:spPr>
          <a:xfrm>
            <a:off x="762000" y="2794000"/>
            <a:ext cx="5207000" cy="1270000"/>
          </a:xfrm>
          <a:prstGeom prst="roundRect">
            <a:avLst>
              <a:gd name="adj" fmla="val 10000"/>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111500"/>
            <a:ext cx="508000" cy="508000"/>
          </a:xfrm>
          <a:prstGeom prst="rect">
            <a:avLst/>
          </a:prstGeom>
        </p:spPr>
      </p:pic>
      <p:sp>
        <p:nvSpPr>
          <p:cNvPr id="9" name="AutoShape 9"/>
          <p:cNvSpPr/>
          <p:nvPr/>
        </p:nvSpPr>
        <p:spPr>
          <a:xfrm>
            <a:off x="1651000" y="2921000"/>
            <a:ext cx="4064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预训练阶段 (Pre-training)</a:t>
            </a:r>
            <a:endParaRPr lang="en-US" sz="1100"/>
          </a:p>
          <a:p>
            <a:pPr indent="0" algn="l">
              <a:lnSpc>
                <a:spcPct val="125000"/>
              </a:lnSpc>
            </a:pPr>
            <a:r>
              <a:rPr lang="en-US" sz="1400" b="0" i="0" u="none" strike="noStrike">
                <a:solidFill>
                  <a:srgbClr val="424242"/>
                </a:solidFill>
                <a:latin typeface="Noto Sans SC"/>
                <a:ea typeface="Noto Sans SC"/>
                <a:cs typeface="Noto Sans SC"/>
                <a:sym typeface="Noto Sans SC"/>
              </a:rPr>
              <a:t>模型在大规模通用语料上学习语言的基本结构和语义信息，打下坚实基础。</a:t>
            </a:r>
            <a:endParaRPr lang="en-US" sz="1400" b="0" i="0" u="none" strike="noStrike">
              <a:solidFill>
                <a:srgbClr val="424242"/>
              </a:solidFill>
              <a:latin typeface="Noto Sans SC"/>
              <a:ea typeface="Noto Sans SC"/>
              <a:cs typeface="Noto Sans SC"/>
              <a:sym typeface="Noto Sans SC"/>
            </a:endParaRPr>
          </a:p>
        </p:txBody>
      </p:sp>
      <p:sp>
        <p:nvSpPr>
          <p:cNvPr id="10" name="AutoShape 10"/>
          <p:cNvSpPr/>
          <p:nvPr/>
        </p:nvSpPr>
        <p:spPr>
          <a:xfrm>
            <a:off x="6223000" y="2794000"/>
            <a:ext cx="5207000" cy="1270000"/>
          </a:xfrm>
          <a:prstGeom prst="roundRect">
            <a:avLst>
              <a:gd name="adj" fmla="val 10000"/>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77000" y="3111500"/>
            <a:ext cx="508000" cy="508000"/>
          </a:xfrm>
          <a:prstGeom prst="rect">
            <a:avLst/>
          </a:prstGeom>
        </p:spPr>
      </p:pic>
      <p:sp>
        <p:nvSpPr>
          <p:cNvPr id="12" name="AutoShape 12"/>
          <p:cNvSpPr/>
          <p:nvPr/>
        </p:nvSpPr>
        <p:spPr>
          <a:xfrm>
            <a:off x="7112000" y="2921000"/>
            <a:ext cx="4064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微调阶段 (Fine-tuning)</a:t>
            </a:r>
            <a:endParaRPr lang="en-US" sz="1100"/>
          </a:p>
          <a:p>
            <a:pPr indent="0" algn="l">
              <a:lnSpc>
                <a:spcPct val="125000"/>
              </a:lnSpc>
            </a:pPr>
            <a:r>
              <a:rPr lang="en-US" sz="1400" b="0" i="0" u="none" strike="noStrike">
                <a:solidFill>
                  <a:srgbClr val="424242"/>
                </a:solidFill>
                <a:latin typeface="Noto Sans SC"/>
                <a:ea typeface="Noto Sans SC"/>
                <a:cs typeface="Noto Sans SC"/>
                <a:sym typeface="Noto Sans SC"/>
              </a:rPr>
              <a:t>使用特定任务的数据集对预训练模型进行进一步训练，使其快速适应新任务。</a:t>
            </a:r>
            <a:endParaRPr lang="en-US" sz="1400" b="0" i="0" u="none" strike="noStrike">
              <a:solidFill>
                <a:srgbClr val="424242"/>
              </a:solidFill>
              <a:latin typeface="Noto Sans SC"/>
              <a:ea typeface="Noto Sans SC"/>
              <a:cs typeface="Noto Sans SC"/>
              <a:sym typeface="Noto Sans SC"/>
            </a:endParaRPr>
          </a:p>
        </p:txBody>
      </p:sp>
      <p:sp>
        <p:nvSpPr>
          <p:cNvPr id="13" name="AutoShape 13"/>
          <p:cNvSpPr/>
          <p:nvPr/>
        </p:nvSpPr>
        <p:spPr>
          <a:xfrm>
            <a:off x="762000" y="4318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技术优势</a:t>
            </a:r>
            <a:endParaRPr lang="en-US" sz="1100"/>
          </a:p>
        </p:txBody>
      </p:sp>
      <p:sp>
        <p:nvSpPr>
          <p:cNvPr id="14" name="AutoShape 14"/>
          <p:cNvSpPr/>
          <p:nvPr/>
        </p:nvSpPr>
        <p:spPr>
          <a:xfrm>
            <a:off x="762000" y="4826000"/>
            <a:ext cx="5207000" cy="1016000"/>
          </a:xfrm>
          <a:prstGeom prst="roundRect">
            <a:avLst>
              <a:gd name="adj" fmla="val 12500"/>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5080000"/>
            <a:ext cx="508000" cy="508000"/>
          </a:xfrm>
          <a:prstGeom prst="rect">
            <a:avLst/>
          </a:prstGeom>
        </p:spPr>
      </p:pic>
      <p:sp>
        <p:nvSpPr>
          <p:cNvPr id="16" name="AutoShape 16"/>
          <p:cNvSpPr/>
          <p:nvPr/>
        </p:nvSpPr>
        <p:spPr>
          <a:xfrm>
            <a:off x="1651000" y="4953000"/>
            <a:ext cx="406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强大的泛化能力</a:t>
            </a:r>
            <a:endParaRPr lang="en-US" sz="1100"/>
          </a:p>
          <a:p>
            <a:pPr indent="0" algn="l">
              <a:lnSpc>
                <a:spcPct val="125000"/>
              </a:lnSpc>
            </a:pPr>
            <a:r>
              <a:rPr lang="en-US" sz="1400" b="0" i="0" u="none" strike="noStrike">
                <a:solidFill>
                  <a:srgbClr val="424242"/>
                </a:solidFill>
                <a:latin typeface="Noto Sans SC"/>
                <a:ea typeface="Noto Sans SC"/>
                <a:cs typeface="Noto Sans SC"/>
                <a:sym typeface="Noto Sans SC"/>
              </a:rPr>
              <a:t>能理解深层次语义，适应不同领域的文本分类需求。</a:t>
            </a:r>
            <a:endParaRPr lang="en-US" sz="1400" b="0" i="0" u="none" strike="noStrike">
              <a:solidFill>
                <a:srgbClr val="424242"/>
              </a:solidFill>
              <a:latin typeface="Noto Sans SC"/>
              <a:ea typeface="Noto Sans SC"/>
              <a:cs typeface="Noto Sans SC"/>
              <a:sym typeface="Noto Sans SC"/>
            </a:endParaRPr>
          </a:p>
        </p:txBody>
      </p:sp>
      <p:sp>
        <p:nvSpPr>
          <p:cNvPr id="17" name="AutoShape 17"/>
          <p:cNvSpPr/>
          <p:nvPr/>
        </p:nvSpPr>
        <p:spPr>
          <a:xfrm>
            <a:off x="6223000" y="4826000"/>
            <a:ext cx="5207000" cy="1016000"/>
          </a:xfrm>
          <a:prstGeom prst="roundRect">
            <a:avLst>
              <a:gd name="adj" fmla="val 12500"/>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477000" y="5080000"/>
            <a:ext cx="508000" cy="508000"/>
          </a:xfrm>
          <a:prstGeom prst="rect">
            <a:avLst/>
          </a:prstGeom>
        </p:spPr>
      </p:pic>
      <p:sp>
        <p:nvSpPr>
          <p:cNvPr id="19" name="AutoShape 19"/>
          <p:cNvSpPr/>
          <p:nvPr/>
        </p:nvSpPr>
        <p:spPr>
          <a:xfrm>
            <a:off x="7112000" y="4953000"/>
            <a:ext cx="406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少样本/零样本学习</a:t>
            </a:r>
            <a:endParaRPr lang="en-US" sz="1100"/>
          </a:p>
          <a:p>
            <a:pPr indent="0" algn="l">
              <a:lnSpc>
                <a:spcPct val="125000"/>
              </a:lnSpc>
            </a:pPr>
            <a:r>
              <a:rPr lang="en-US" sz="1400" b="0" i="0" u="none" strike="noStrike">
                <a:solidFill>
                  <a:srgbClr val="424242"/>
                </a:solidFill>
                <a:latin typeface="Noto Sans SC"/>
                <a:ea typeface="Noto Sans SC"/>
                <a:cs typeface="Noto Sans SC"/>
                <a:sym typeface="Noto Sans SC"/>
              </a:rPr>
              <a:t>降低对标注数据的依赖，支持 Few-shot 和 Zero-shot Learning。</a:t>
            </a:r>
            <a:endParaRPr lang="en-US" sz="1400" b="0" i="0" u="none" strike="noStrike">
              <a:solidFill>
                <a:srgbClr val="424242"/>
              </a:solidFill>
              <a:latin typeface="Noto Sans SC"/>
              <a:ea typeface="Noto Sans SC"/>
              <a:cs typeface="Noto Sans SC"/>
              <a:sym typeface="Noto Sans SC"/>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67056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13.1.2 文本分类的模型及特点</a:t>
            </a:r>
            <a:endParaRPr lang="en-US" sz="1100"/>
          </a:p>
        </p:txBody>
      </p:sp>
      <p:sp>
        <p:nvSpPr>
          <p:cNvPr id="3" name="AutoShape 3"/>
          <p:cNvSpPr/>
          <p:nvPr/>
        </p:nvSpPr>
        <p:spPr>
          <a:xfrm>
            <a:off x="762000" y="1651000"/>
            <a:ext cx="2476500" cy="3048000"/>
          </a:xfrm>
          <a:prstGeom prst="roundRect">
            <a:avLst>
              <a:gd name="adj" fmla="val 5128"/>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762000" y="1651000"/>
            <a:ext cx="2476500" cy="762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739900" y="1905000"/>
            <a:ext cx="508000" cy="508000"/>
          </a:xfrm>
          <a:prstGeom prst="rect">
            <a:avLst/>
          </a:prstGeom>
        </p:spPr>
      </p:pic>
      <p:sp>
        <p:nvSpPr>
          <p:cNvPr id="6" name="AutoShape 6"/>
          <p:cNvSpPr/>
          <p:nvPr/>
        </p:nvSpPr>
        <p:spPr>
          <a:xfrm>
            <a:off x="889000" y="2540000"/>
            <a:ext cx="2222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424242"/>
                </a:solidFill>
                <a:latin typeface="Noto Sans SC"/>
                <a:ea typeface="Noto Sans SC"/>
                <a:cs typeface="Noto Sans SC"/>
                <a:sym typeface="Noto Sans SC"/>
              </a:rPr>
              <a:t>基于规则的方法</a:t>
            </a:r>
            <a:endParaRPr lang="en-US" sz="1100"/>
          </a:p>
        </p:txBody>
      </p:sp>
      <p:sp>
        <p:nvSpPr>
          <p:cNvPr id="7" name="AutoShape 7"/>
          <p:cNvSpPr/>
          <p:nvPr/>
        </p:nvSpPr>
        <p:spPr>
          <a:xfrm>
            <a:off x="889000" y="3048000"/>
            <a:ext cx="2222500" cy="1270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400" b="0" i="0" u="none" strike="noStrike">
                <a:solidFill>
                  <a:srgbClr val="616161"/>
                </a:solidFill>
                <a:latin typeface="Noto Sans SC"/>
                <a:ea typeface="Noto Sans SC"/>
                <a:cs typeface="Noto Sans SC"/>
                <a:sym typeface="Noto Sans SC"/>
              </a:rPr>
              <a:t>通过匹配关键字和正则表达式进行分类，逻辑直观但灵活性差。</a:t>
            </a:r>
            <a:endParaRPr lang="en-US" sz="1100"/>
          </a:p>
        </p:txBody>
      </p:sp>
      <p:sp>
        <p:nvSpPr>
          <p:cNvPr id="8" name="AutoShape 8"/>
          <p:cNvSpPr/>
          <p:nvPr/>
        </p:nvSpPr>
        <p:spPr>
          <a:xfrm>
            <a:off x="3492500" y="1651000"/>
            <a:ext cx="2476500" cy="3048000"/>
          </a:xfrm>
          <a:prstGeom prst="roundRect">
            <a:avLst>
              <a:gd name="adj" fmla="val 5128"/>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sp>
        <p:nvSpPr>
          <p:cNvPr id="9" name="AutoShape 9"/>
          <p:cNvSpPr/>
          <p:nvPr/>
        </p:nvSpPr>
        <p:spPr>
          <a:xfrm>
            <a:off x="3492500" y="1651000"/>
            <a:ext cx="2476500" cy="762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470400" y="1905000"/>
            <a:ext cx="508000" cy="508000"/>
          </a:xfrm>
          <a:prstGeom prst="rect">
            <a:avLst/>
          </a:prstGeom>
        </p:spPr>
      </p:pic>
      <p:sp>
        <p:nvSpPr>
          <p:cNvPr id="11" name="AutoShape 11"/>
          <p:cNvSpPr/>
          <p:nvPr/>
        </p:nvSpPr>
        <p:spPr>
          <a:xfrm>
            <a:off x="3619500" y="2540000"/>
            <a:ext cx="2222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424242"/>
                </a:solidFill>
                <a:latin typeface="Noto Sans SC"/>
                <a:ea typeface="Noto Sans SC"/>
                <a:cs typeface="Noto Sans SC"/>
                <a:sym typeface="Noto Sans SC"/>
              </a:rPr>
              <a:t>传统机器学习</a:t>
            </a:r>
            <a:endParaRPr lang="en-US" sz="1100"/>
          </a:p>
        </p:txBody>
      </p:sp>
      <p:sp>
        <p:nvSpPr>
          <p:cNvPr id="12" name="AutoShape 12"/>
          <p:cNvSpPr/>
          <p:nvPr/>
        </p:nvSpPr>
        <p:spPr>
          <a:xfrm>
            <a:off x="3619500" y="3048000"/>
            <a:ext cx="2222500" cy="1270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400" b="0" i="0" u="none" strike="noStrike">
                <a:solidFill>
                  <a:srgbClr val="616161"/>
                </a:solidFill>
                <a:latin typeface="Noto Sans SC"/>
                <a:ea typeface="Noto Sans SC"/>
                <a:cs typeface="Noto Sans SC"/>
                <a:sym typeface="Noto Sans SC"/>
              </a:rPr>
              <a:t>依赖人工特征工程提取特征，如TF-IDF，代表算法有SVM、逻辑回归。</a:t>
            </a:r>
            <a:endParaRPr lang="en-US" sz="1100"/>
          </a:p>
        </p:txBody>
      </p:sp>
      <p:sp>
        <p:nvSpPr>
          <p:cNvPr id="13" name="AutoShape 13"/>
          <p:cNvSpPr/>
          <p:nvPr/>
        </p:nvSpPr>
        <p:spPr>
          <a:xfrm>
            <a:off x="6223000" y="1651000"/>
            <a:ext cx="2476500" cy="3048000"/>
          </a:xfrm>
          <a:prstGeom prst="roundRect">
            <a:avLst>
              <a:gd name="adj" fmla="val 5128"/>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sp>
        <p:nvSpPr>
          <p:cNvPr id="14" name="AutoShape 14"/>
          <p:cNvSpPr/>
          <p:nvPr/>
        </p:nvSpPr>
        <p:spPr>
          <a:xfrm>
            <a:off x="6223000" y="1651000"/>
            <a:ext cx="2476500" cy="762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200900" y="1905000"/>
            <a:ext cx="508000" cy="508000"/>
          </a:xfrm>
          <a:prstGeom prst="rect">
            <a:avLst/>
          </a:prstGeom>
        </p:spPr>
      </p:pic>
      <p:sp>
        <p:nvSpPr>
          <p:cNvPr id="16" name="AutoShape 16"/>
          <p:cNvSpPr/>
          <p:nvPr/>
        </p:nvSpPr>
        <p:spPr>
          <a:xfrm>
            <a:off x="6350000" y="2540000"/>
            <a:ext cx="2222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424242"/>
                </a:solidFill>
                <a:latin typeface="Noto Sans SC"/>
                <a:ea typeface="Noto Sans SC"/>
                <a:cs typeface="Noto Sans SC"/>
                <a:sym typeface="Noto Sans SC"/>
              </a:rPr>
              <a:t>神经网络</a:t>
            </a:r>
            <a:endParaRPr lang="en-US" sz="1100"/>
          </a:p>
        </p:txBody>
      </p:sp>
      <p:sp>
        <p:nvSpPr>
          <p:cNvPr id="17" name="AutoShape 17"/>
          <p:cNvSpPr/>
          <p:nvPr/>
        </p:nvSpPr>
        <p:spPr>
          <a:xfrm>
            <a:off x="6350000" y="3048000"/>
            <a:ext cx="2222500" cy="1270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400" b="0" i="0" u="none" strike="noStrike">
                <a:solidFill>
                  <a:srgbClr val="616161"/>
                </a:solidFill>
                <a:latin typeface="Noto Sans SC"/>
                <a:ea typeface="Noto Sans SC"/>
                <a:cs typeface="Noto Sans SC"/>
                <a:sym typeface="Noto Sans SC"/>
              </a:rPr>
              <a:t>自动提取深层语义特征，如CNN、RNN、LSTM，大幅提升分类效果。</a:t>
            </a:r>
            <a:endParaRPr lang="en-US" sz="1100"/>
          </a:p>
        </p:txBody>
      </p:sp>
      <p:sp>
        <p:nvSpPr>
          <p:cNvPr id="18" name="AutoShape 18"/>
          <p:cNvSpPr/>
          <p:nvPr/>
        </p:nvSpPr>
        <p:spPr>
          <a:xfrm>
            <a:off x="8953500" y="1651000"/>
            <a:ext cx="2476500" cy="3048000"/>
          </a:xfrm>
          <a:prstGeom prst="roundRect">
            <a:avLst>
              <a:gd name="adj" fmla="val 5128"/>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sp>
        <p:nvSpPr>
          <p:cNvPr id="19" name="AutoShape 19"/>
          <p:cNvSpPr/>
          <p:nvPr/>
        </p:nvSpPr>
        <p:spPr>
          <a:xfrm>
            <a:off x="8953500" y="1651000"/>
            <a:ext cx="2476500" cy="762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931400" y="1905000"/>
            <a:ext cx="508000" cy="508000"/>
          </a:xfrm>
          <a:prstGeom prst="rect">
            <a:avLst/>
          </a:prstGeom>
        </p:spPr>
      </p:pic>
      <p:sp>
        <p:nvSpPr>
          <p:cNvPr id="21" name="AutoShape 21"/>
          <p:cNvSpPr/>
          <p:nvPr/>
        </p:nvSpPr>
        <p:spPr>
          <a:xfrm>
            <a:off x="9080500" y="2540000"/>
            <a:ext cx="2222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424242"/>
                </a:solidFill>
                <a:latin typeface="Noto Sans SC"/>
                <a:ea typeface="Noto Sans SC"/>
                <a:cs typeface="Noto Sans SC"/>
                <a:sym typeface="Noto Sans SC"/>
              </a:rPr>
              <a:t>大语言模型</a:t>
            </a:r>
            <a:endParaRPr lang="en-US" sz="1100"/>
          </a:p>
        </p:txBody>
      </p:sp>
      <p:sp>
        <p:nvSpPr>
          <p:cNvPr id="22" name="AutoShape 22"/>
          <p:cNvSpPr/>
          <p:nvPr/>
        </p:nvSpPr>
        <p:spPr>
          <a:xfrm>
            <a:off x="9080500" y="3048000"/>
            <a:ext cx="2222500" cy="1270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400" b="0" i="0" u="none" strike="noStrike">
                <a:solidFill>
                  <a:srgbClr val="616161"/>
                </a:solidFill>
                <a:latin typeface="Noto Sans SC"/>
                <a:ea typeface="Noto Sans SC"/>
                <a:cs typeface="Noto Sans SC"/>
                <a:sym typeface="Noto Sans SC"/>
              </a:rPr>
              <a:t>基于Transformer架构，具备强大的上下文理解能力，如BERT、GPT系列。</a:t>
            </a:r>
            <a:endParaRPr lang="en-US" sz="1100"/>
          </a:p>
        </p:txBody>
      </p:sp>
      <p:sp>
        <p:nvSpPr>
          <p:cNvPr id="23" name="AutoShape 23"/>
          <p:cNvSpPr/>
          <p:nvPr/>
        </p:nvSpPr>
        <p:spPr>
          <a:xfrm>
            <a:off x="762000" y="5080000"/>
            <a:ext cx="10668000" cy="762000"/>
          </a:xfrm>
          <a:prstGeom prst="roundRect">
            <a:avLst>
              <a:gd name="adj" fmla="val 16666"/>
            </a:avLst>
          </a:prstGeom>
          <a:solidFill>
            <a:srgbClr val="0288D1">
              <a:alpha val="10000"/>
            </a:srgbClr>
          </a:solidFill>
          <a:ln w="12700" cap="flat" cmpd="sng">
            <a:solidFill>
              <a:srgbClr val="0288D1">
                <a:alpha val="100000"/>
              </a:srgbClr>
            </a:solidFill>
            <a:prstDash val="dash"/>
            <a:round/>
          </a:ln>
        </p:spPr>
        <p:txBody>
          <a:bodyPr vert="horz" wrap="square" lIns="63500" tIns="63500" rIns="63500" bIns="63500" rtlCol="0" anchor="ctr"/>
          <a:lstStyle/>
          <a:p>
            <a:pPr algn="ctr">
              <a:defRPr/>
            </a:pPr>
          </a:p>
        </p:txBody>
      </p:sp>
      <p:sp>
        <p:nvSpPr>
          <p:cNvPr id="24" name="AutoShape 24"/>
          <p:cNvSpPr/>
          <p:nvPr/>
        </p:nvSpPr>
        <p:spPr>
          <a:xfrm>
            <a:off x="1016000" y="5207000"/>
            <a:ext cx="1016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0288D1"/>
                </a:solidFill>
                <a:latin typeface="Noto Sans SC"/>
                <a:ea typeface="Noto Sans SC"/>
                <a:cs typeface="Noto Sans SC"/>
                <a:sym typeface="Noto Sans SC"/>
              </a:rPr>
              <a:t>技术演进趋势：从人工规则到自动特征提取，再到通用智能理解，分类精度不断突破。</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71501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常见文本分类算法模型对比（一）</a:t>
            </a:r>
            <a:endParaRPr lang="en-US" sz="1100"/>
          </a:p>
        </p:txBody>
      </p:sp>
      <p:sp>
        <p:nvSpPr>
          <p:cNvPr id="3" name="AutoShape 3"/>
          <p:cNvSpPr/>
          <p:nvPr/>
        </p:nvSpPr>
        <p:spPr>
          <a:xfrm>
            <a:off x="762000" y="1270000"/>
            <a:ext cx="10668000" cy="4572000"/>
          </a:xfrm>
          <a:prstGeom prst="roundRect">
            <a:avLst>
              <a:gd name="adj" fmla="val 2777"/>
            </a:avLst>
          </a:prstGeom>
          <a:solidFill>
            <a:srgbClr val="FFFFFF">
              <a:alpha val="8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graphicFrame>
        <p:nvGraphicFramePr>
          <p:cNvPr id="4" name="Table 4"/>
          <p:cNvGraphicFramePr>
            <a:graphicFrameLocks noGrp="1"/>
          </p:cNvGraphicFramePr>
          <p:nvPr/>
        </p:nvGraphicFramePr>
        <p:xfrm>
          <a:off x="762000" y="1270000"/>
          <a:ext cx="10668000" cy="4508500"/>
        </p:xfrm>
        <a:graphic>
          <a:graphicData uri="http://schemas.openxmlformats.org/drawingml/2006/table">
            <a:tbl>
              <a:tblPr>
                <a:effectLst/>
              </a:tblPr>
              <a:tblGrid>
                <a:gridCol w="1778000"/>
                <a:gridCol w="1524000"/>
                <a:gridCol w="3683000"/>
                <a:gridCol w="3683000"/>
              </a:tblGrid>
              <a:tr h="508000">
                <a:tc>
                  <a:txBody>
                    <a:bodyPr rtlCol="0"/>
                    <a:lstStyle/>
                    <a:p>
                      <a:pPr indent="0" algn="ctr">
                        <a:lnSpc>
                          <a:spcPct val="100000"/>
                        </a:lnSpc>
                        <a:defRPr/>
                      </a:pPr>
                      <a:r>
                        <a:rPr lang="en-US" sz="1600" b="1" i="0" u="none" strike="noStrike">
                          <a:solidFill>
                            <a:srgbClr val="FFFFFF"/>
                          </a:solidFill>
                          <a:latin typeface="Noto Sans SC"/>
                          <a:ea typeface="Noto Sans SC"/>
                          <a:cs typeface="Noto Sans SC"/>
                          <a:sym typeface="Noto Sans SC"/>
                        </a:rPr>
                        <a:t>模型名称</a:t>
                      </a:r>
                      <a:endParaRPr lang="en-US" sz="1100"/>
                    </a:p>
                  </a:txBody>
                  <a:tcPr marL="101600" marR="101600" marT="101600" marB="101600" anchor="t" anchorCtr="0">
                    <a:lnL>
                      <a:noFill/>
                    </a:lnL>
                    <a:lnR>
                      <a:noFill/>
                    </a:lnR>
                    <a:lnT>
                      <a:noFill/>
                    </a:lnT>
                    <a:lnB>
                      <a:noFill/>
                    </a:lnB>
                    <a:solidFill>
                      <a:srgbClr val="0288D1">
                        <a:alpha val="100000"/>
                      </a:srgbClr>
                    </a:solidFill>
                  </a:tcPr>
                </a:tc>
                <a:tc>
                  <a:txBody>
                    <a:bodyPr rtlCol="0"/>
                    <a:lstStyle/>
                    <a:p>
                      <a:pPr indent="0" algn="ctr">
                        <a:lnSpc>
                          <a:spcPct val="100000"/>
                        </a:lnSpc>
                        <a:defRPr/>
                      </a:pPr>
                      <a:r>
                        <a:rPr lang="en-US" sz="1600" b="1" i="0" u="none" strike="noStrike">
                          <a:solidFill>
                            <a:srgbClr val="FFFFFF"/>
                          </a:solidFill>
                          <a:latin typeface="Noto Sans SC"/>
                          <a:ea typeface="Noto Sans SC"/>
                          <a:cs typeface="Noto Sans SC"/>
                          <a:sym typeface="Noto Sans SC"/>
                        </a:rPr>
                        <a:t>学习类别</a:t>
                      </a:r>
                      <a:endParaRPr lang="en-US" sz="1100"/>
                    </a:p>
                  </a:txBody>
                  <a:tcPr marL="101600" marR="101600" marT="101600" marB="101600" anchor="t" anchorCtr="0">
                    <a:lnL>
                      <a:noFill/>
                    </a:lnL>
                    <a:lnR>
                      <a:noFill/>
                    </a:lnR>
                    <a:lnT>
                      <a:noFill/>
                    </a:lnT>
                    <a:lnB>
                      <a:noFill/>
                    </a:lnB>
                    <a:solidFill>
                      <a:srgbClr val="0288D1">
                        <a:alpha val="100000"/>
                      </a:srgbClr>
                    </a:solidFill>
                  </a:tcPr>
                </a:tc>
                <a:tc>
                  <a:txBody>
                    <a:bodyPr rtlCol="0"/>
                    <a:lstStyle/>
                    <a:p>
                      <a:pPr indent="0" algn="ctr">
                        <a:lnSpc>
                          <a:spcPct val="100000"/>
                        </a:lnSpc>
                        <a:defRPr/>
                      </a:pPr>
                      <a:r>
                        <a:rPr lang="en-US" sz="1600" b="1" i="0" u="none" strike="noStrike">
                          <a:solidFill>
                            <a:srgbClr val="FFFFFF"/>
                          </a:solidFill>
                          <a:latin typeface="Noto Sans SC"/>
                          <a:ea typeface="Noto Sans SC"/>
                          <a:cs typeface="Noto Sans SC"/>
                          <a:sym typeface="Noto Sans SC"/>
                        </a:rPr>
                        <a:t>优点</a:t>
                      </a:r>
                      <a:endParaRPr lang="en-US" sz="1100"/>
                    </a:p>
                  </a:txBody>
                  <a:tcPr marL="101600" marR="101600" marT="101600" marB="101600" anchor="t" anchorCtr="0">
                    <a:lnL>
                      <a:noFill/>
                    </a:lnL>
                    <a:lnR>
                      <a:noFill/>
                    </a:lnR>
                    <a:lnT>
                      <a:noFill/>
                    </a:lnT>
                    <a:lnB>
                      <a:noFill/>
                    </a:lnB>
                    <a:solidFill>
                      <a:srgbClr val="0288D1">
                        <a:alpha val="100000"/>
                      </a:srgbClr>
                    </a:solidFill>
                  </a:tcPr>
                </a:tc>
                <a:tc>
                  <a:txBody>
                    <a:bodyPr rtlCol="0"/>
                    <a:lstStyle/>
                    <a:p>
                      <a:pPr indent="0" algn="ctr">
                        <a:lnSpc>
                          <a:spcPct val="100000"/>
                        </a:lnSpc>
                        <a:defRPr/>
                      </a:pPr>
                      <a:r>
                        <a:rPr lang="en-US" sz="1600" b="1" i="0" u="none" strike="noStrike">
                          <a:solidFill>
                            <a:srgbClr val="FFFFFF"/>
                          </a:solidFill>
                          <a:latin typeface="Noto Sans SC"/>
                          <a:ea typeface="Noto Sans SC"/>
                          <a:cs typeface="Noto Sans SC"/>
                          <a:sym typeface="Noto Sans SC"/>
                        </a:rPr>
                        <a:t>缺点</a:t>
                      </a:r>
                      <a:endParaRPr lang="en-US" sz="1100"/>
                    </a:p>
                  </a:txBody>
                  <a:tcPr marL="101600" marR="101600" marT="101600" marB="101600" anchor="t" anchorCtr="0">
                    <a:lnL>
                      <a:noFill/>
                    </a:lnL>
                    <a:lnR>
                      <a:noFill/>
                    </a:lnR>
                    <a:lnT>
                      <a:noFill/>
                    </a:lnT>
                    <a:lnB>
                      <a:noFill/>
                    </a:lnB>
                    <a:solidFill>
                      <a:srgbClr val="0288D1">
                        <a:alpha val="100000"/>
                      </a:srgbClr>
                    </a:solidFill>
                  </a:tcPr>
                </a:tc>
              </a:tr>
              <a:tr h="444500">
                <a:tc>
                  <a:txBody>
                    <a:bodyPr rtlCol="0"/>
                    <a:lstStyle/>
                    <a:p>
                      <a:pPr indent="0" algn="ctr">
                        <a:lnSpc>
                          <a:spcPct val="100000"/>
                        </a:lnSpc>
                        <a:defRPr/>
                      </a:pPr>
                      <a:r>
                        <a:rPr lang="en-US" sz="1400" b="0" i="0" u="none" strike="noStrike">
                          <a:solidFill>
                            <a:srgbClr val="424242"/>
                          </a:solidFill>
                          <a:latin typeface="Noto Sans SC"/>
                          <a:ea typeface="Noto Sans SC"/>
                          <a:cs typeface="Noto Sans SC"/>
                          <a:sym typeface="Noto Sans SC"/>
                        </a:rPr>
                        <a:t>规则基方法</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indent="0" algn="ctr">
                        <a:lnSpc>
                          <a:spcPct val="100000"/>
                        </a:lnSpc>
                        <a:defRPr/>
                      </a:pPr>
                      <a:r>
                        <a:rPr lang="en-US" sz="1400" b="0" i="0" u="none" strike="noStrike">
                          <a:solidFill>
                            <a:srgbClr val="424242"/>
                          </a:solidFill>
                          <a:latin typeface="Noto Sans SC"/>
                          <a:ea typeface="Noto Sans SC"/>
                          <a:cs typeface="Noto Sans SC"/>
                          <a:sym typeface="Noto Sans SC"/>
                        </a:rPr>
                        <a:t>基于规则的学习</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indent="0" algn="l">
                        <a:lnSpc>
                          <a:spcPct val="100000"/>
                        </a:lnSpc>
                        <a:defRPr/>
                      </a:pPr>
                      <a:r>
                        <a:rPr lang="en-US" sz="1300" b="0" i="0" u="none" strike="noStrike">
                          <a:solidFill>
                            <a:srgbClr val="424242"/>
                          </a:solidFill>
                          <a:latin typeface="Noto Sans SC"/>
                          <a:ea typeface="Noto Sans SC"/>
                          <a:cs typeface="Noto Sans SC"/>
                          <a:sym typeface="Noto Sans SC"/>
                        </a:rPr>
                        <a:t>简单、易于解释，适用专家规则</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indent="0" algn="l">
                        <a:lnSpc>
                          <a:spcPct val="100000"/>
                        </a:lnSpc>
                        <a:defRPr/>
                      </a:pPr>
                      <a:r>
                        <a:rPr lang="en-US" sz="1300" b="0" i="0" u="none" strike="noStrike">
                          <a:solidFill>
                            <a:srgbClr val="424242"/>
                          </a:solidFill>
                          <a:latin typeface="Noto Sans SC"/>
                          <a:ea typeface="Noto Sans SC"/>
                          <a:cs typeface="Noto Sans SC"/>
                          <a:sym typeface="Noto Sans SC"/>
                        </a:rPr>
                        <a:t>依赖专家经验，维护成本高</a:t>
                      </a:r>
                      <a:endParaRPr lang="en-US" sz="1100"/>
                    </a:p>
                  </a:txBody>
                  <a:tcPr marL="101600" marR="101600" marT="101600" marB="101600" anchor="t" anchorCtr="0">
                    <a:lnL>
                      <a:noFill/>
                    </a:lnL>
                    <a:lnR>
                      <a:noFill/>
                    </a:lnR>
                    <a:lnT>
                      <a:noFill/>
                    </a:lnT>
                    <a:lnB>
                      <a:noFill/>
                    </a:lnB>
                    <a:solidFill>
                      <a:srgbClr val="FFFFFF">
                        <a:alpha val="100000"/>
                      </a:srgbClr>
                    </a:solidFill>
                  </a:tcPr>
                </a:tc>
              </a:tr>
              <a:tr h="444500">
                <a:tc>
                  <a:txBody>
                    <a:bodyPr rtlCol="0"/>
                    <a:lstStyle/>
                    <a:p>
                      <a:pPr indent="0" algn="ctr">
                        <a:lnSpc>
                          <a:spcPct val="100000"/>
                        </a:lnSpc>
                        <a:defRPr/>
                      </a:pPr>
                      <a:r>
                        <a:rPr lang="en-US" sz="1400" b="0" i="0" u="none" strike="noStrike">
                          <a:solidFill>
                            <a:srgbClr val="424242"/>
                          </a:solidFill>
                          <a:latin typeface="Noto Sans SC"/>
                          <a:ea typeface="Noto Sans SC"/>
                          <a:cs typeface="Noto Sans SC"/>
                          <a:sym typeface="Noto Sans SC"/>
                        </a:rPr>
                        <a:t>逻辑回归</a:t>
                      </a:r>
                      <a:endParaRPr lang="en-US" sz="1100"/>
                    </a:p>
                  </a:txBody>
                  <a:tcPr marL="101600" marR="101600" marT="101600" marB="101600" anchor="t" anchorCtr="0">
                    <a:lnL>
                      <a:noFill/>
                    </a:lnL>
                    <a:lnR>
                      <a:noFill/>
                    </a:lnR>
                    <a:lnT>
                      <a:noFill/>
                    </a:lnT>
                    <a:lnB>
                      <a:noFill/>
                    </a:lnB>
                    <a:solidFill>
                      <a:srgbClr val="E0F7FA">
                        <a:alpha val="50000"/>
                      </a:srgbClr>
                    </a:solidFill>
                  </a:tcPr>
                </a:tc>
                <a:tc>
                  <a:txBody>
                    <a:bodyPr rtlCol="0"/>
                    <a:lstStyle/>
                    <a:p>
                      <a:pPr indent="0" algn="ctr">
                        <a:lnSpc>
                          <a:spcPct val="100000"/>
                        </a:lnSpc>
                        <a:defRPr/>
                      </a:pPr>
                      <a:r>
                        <a:rPr lang="en-US" sz="1400" b="0" i="0" u="none" strike="noStrike">
                          <a:solidFill>
                            <a:srgbClr val="424242"/>
                          </a:solidFill>
                          <a:latin typeface="Noto Sans SC"/>
                          <a:ea typeface="Noto Sans SC"/>
                          <a:cs typeface="Noto Sans SC"/>
                          <a:sym typeface="Noto Sans SC"/>
                        </a:rPr>
                        <a:t>有监督算法</a:t>
                      </a:r>
                      <a:endParaRPr lang="en-US" sz="1100"/>
                    </a:p>
                  </a:txBody>
                  <a:tcPr marL="101600" marR="101600" marT="101600" marB="101600" anchor="t" anchorCtr="0">
                    <a:lnL>
                      <a:noFill/>
                    </a:lnL>
                    <a:lnR>
                      <a:noFill/>
                    </a:lnR>
                    <a:lnT>
                      <a:noFill/>
                    </a:lnT>
                    <a:lnB>
                      <a:noFill/>
                    </a:lnB>
                    <a:solidFill>
                      <a:srgbClr val="E0F7FA">
                        <a:alpha val="50000"/>
                      </a:srgbClr>
                    </a:solidFill>
                  </a:tcPr>
                </a:tc>
                <a:tc>
                  <a:txBody>
                    <a:bodyPr rtlCol="0"/>
                    <a:lstStyle/>
                    <a:p>
                      <a:pPr indent="0" algn="l">
                        <a:lnSpc>
                          <a:spcPct val="100000"/>
                        </a:lnSpc>
                        <a:defRPr/>
                      </a:pPr>
                      <a:r>
                        <a:rPr lang="en-US" sz="1300" b="0" i="0" u="none" strike="noStrike">
                          <a:solidFill>
                            <a:srgbClr val="424242"/>
                          </a:solidFill>
                          <a:latin typeface="Noto Sans SC"/>
                          <a:ea typeface="Noto Sans SC"/>
                          <a:cs typeface="Noto Sans SC"/>
                          <a:sym typeface="Noto Sans SC"/>
                        </a:rPr>
                        <a:t>简单易用，计算效率高，适合线性问题</a:t>
                      </a:r>
                      <a:endParaRPr lang="en-US" sz="1100"/>
                    </a:p>
                  </a:txBody>
                  <a:tcPr marL="101600" marR="101600" marT="101600" marB="101600" anchor="t" anchorCtr="0">
                    <a:lnL>
                      <a:noFill/>
                    </a:lnL>
                    <a:lnR>
                      <a:noFill/>
                    </a:lnR>
                    <a:lnT>
                      <a:noFill/>
                    </a:lnT>
                    <a:lnB>
                      <a:noFill/>
                    </a:lnB>
                    <a:solidFill>
                      <a:srgbClr val="E0F7FA">
                        <a:alpha val="50000"/>
                      </a:srgbClr>
                    </a:solidFill>
                  </a:tcPr>
                </a:tc>
                <a:tc>
                  <a:txBody>
                    <a:bodyPr rtlCol="0"/>
                    <a:lstStyle/>
                    <a:p>
                      <a:pPr indent="0" algn="l">
                        <a:lnSpc>
                          <a:spcPct val="100000"/>
                        </a:lnSpc>
                        <a:defRPr/>
                      </a:pPr>
                      <a:r>
                        <a:rPr lang="en-US" sz="1300" b="0" i="0" u="none" strike="noStrike">
                          <a:solidFill>
                            <a:srgbClr val="424242"/>
                          </a:solidFill>
                          <a:latin typeface="Noto Sans SC"/>
                          <a:ea typeface="Noto Sans SC"/>
                          <a:cs typeface="Noto Sans SC"/>
                          <a:sym typeface="Noto Sans SC"/>
                        </a:rPr>
                        <a:t>对非线性问题表现不佳，易受异常值影响</a:t>
                      </a:r>
                      <a:endParaRPr lang="en-US" sz="1100"/>
                    </a:p>
                  </a:txBody>
                  <a:tcPr marL="101600" marR="101600" marT="101600" marB="101600" anchor="t" anchorCtr="0">
                    <a:lnL>
                      <a:noFill/>
                    </a:lnL>
                    <a:lnR>
                      <a:noFill/>
                    </a:lnR>
                    <a:lnT>
                      <a:noFill/>
                    </a:lnT>
                    <a:lnB>
                      <a:noFill/>
                    </a:lnB>
                    <a:solidFill>
                      <a:srgbClr val="E0F7FA">
                        <a:alpha val="50000"/>
                      </a:srgbClr>
                    </a:solidFill>
                  </a:tcPr>
                </a:tc>
              </a:tr>
              <a:tr h="444500">
                <a:tc>
                  <a:txBody>
                    <a:bodyPr rtlCol="0"/>
                    <a:lstStyle/>
                    <a:p>
                      <a:pPr indent="0" algn="ctr">
                        <a:lnSpc>
                          <a:spcPct val="100000"/>
                        </a:lnSpc>
                        <a:defRPr/>
                      </a:pPr>
                      <a:r>
                        <a:rPr lang="en-US" sz="1400" b="0" i="0" u="none" strike="noStrike">
                          <a:solidFill>
                            <a:srgbClr val="424242"/>
                          </a:solidFill>
                          <a:latin typeface="Noto Sans SC"/>
                          <a:ea typeface="Noto Sans SC"/>
                          <a:cs typeface="Noto Sans SC"/>
                          <a:sym typeface="Noto Sans SC"/>
                        </a:rPr>
                        <a:t>贝叶斯算法</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indent="0" algn="ctr">
                        <a:lnSpc>
                          <a:spcPct val="100000"/>
                        </a:lnSpc>
                        <a:defRPr/>
                      </a:pPr>
                      <a:r>
                        <a:rPr lang="en-US" sz="1400" b="0" i="0" u="none" strike="noStrike">
                          <a:solidFill>
                            <a:srgbClr val="424242"/>
                          </a:solidFill>
                          <a:latin typeface="Noto Sans SC"/>
                          <a:ea typeface="Noto Sans SC"/>
                          <a:cs typeface="Noto Sans SC"/>
                          <a:sym typeface="Noto Sans SC"/>
                        </a:rPr>
                        <a:t>有监督算法</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indent="0" algn="l">
                        <a:lnSpc>
                          <a:spcPct val="100000"/>
                        </a:lnSpc>
                        <a:defRPr/>
                      </a:pPr>
                      <a:r>
                        <a:rPr lang="en-US" sz="1300" b="0" i="0" u="none" strike="noStrike">
                          <a:solidFill>
                            <a:srgbClr val="424242"/>
                          </a:solidFill>
                          <a:latin typeface="Noto Sans SC"/>
                          <a:ea typeface="Noto Sans SC"/>
                          <a:cs typeface="Noto Sans SC"/>
                          <a:sym typeface="Noto Sans SC"/>
                        </a:rPr>
                        <a:t>计算简单，推理快速，适合高维数据和小样本</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indent="0" algn="l">
                        <a:lnSpc>
                          <a:spcPct val="100000"/>
                        </a:lnSpc>
                        <a:defRPr/>
                      </a:pPr>
                      <a:r>
                        <a:rPr lang="en-US" sz="1300" b="0" i="0" u="none" strike="noStrike">
                          <a:solidFill>
                            <a:srgbClr val="424242"/>
                          </a:solidFill>
                          <a:latin typeface="Noto Sans SC"/>
                          <a:ea typeface="Noto Sans SC"/>
                          <a:cs typeface="Noto Sans SC"/>
                          <a:sym typeface="Noto Sans SC"/>
                        </a:rPr>
                        <a:t>依赖独立假设，对条件独立性敏感</a:t>
                      </a:r>
                      <a:endParaRPr lang="en-US" sz="1100"/>
                    </a:p>
                  </a:txBody>
                  <a:tcPr marL="101600" marR="101600" marT="101600" marB="101600" anchor="t" anchorCtr="0">
                    <a:lnL>
                      <a:noFill/>
                    </a:lnL>
                    <a:lnR>
                      <a:noFill/>
                    </a:lnR>
                    <a:lnT>
                      <a:noFill/>
                    </a:lnT>
                    <a:lnB>
                      <a:noFill/>
                    </a:lnB>
                    <a:solidFill>
                      <a:srgbClr val="FFFFFF">
                        <a:alpha val="100000"/>
                      </a:srgbClr>
                    </a:solidFill>
                  </a:tcPr>
                </a:tc>
              </a:tr>
              <a:tr h="444500">
                <a:tc>
                  <a:txBody>
                    <a:bodyPr rtlCol="0"/>
                    <a:lstStyle/>
                    <a:p>
                      <a:pPr indent="0" algn="ctr">
                        <a:lnSpc>
                          <a:spcPct val="100000"/>
                        </a:lnSpc>
                        <a:defRPr/>
                      </a:pPr>
                      <a:r>
                        <a:rPr lang="en-US" sz="1400" b="0" i="0" u="none" strike="noStrike">
                          <a:solidFill>
                            <a:srgbClr val="424242"/>
                          </a:solidFill>
                          <a:latin typeface="Noto Sans SC"/>
                          <a:ea typeface="Noto Sans SC"/>
                          <a:cs typeface="Noto Sans SC"/>
                          <a:sym typeface="Noto Sans SC"/>
                        </a:rPr>
                        <a:t>KNN</a:t>
                      </a:r>
                      <a:endParaRPr lang="en-US" sz="1100"/>
                    </a:p>
                  </a:txBody>
                  <a:tcPr marL="101600" marR="101600" marT="101600" marB="101600" anchor="t" anchorCtr="0">
                    <a:lnL>
                      <a:noFill/>
                    </a:lnL>
                    <a:lnR>
                      <a:noFill/>
                    </a:lnR>
                    <a:lnT>
                      <a:noFill/>
                    </a:lnT>
                    <a:lnB>
                      <a:noFill/>
                    </a:lnB>
                    <a:solidFill>
                      <a:srgbClr val="E0F7FA">
                        <a:alpha val="50000"/>
                      </a:srgbClr>
                    </a:solidFill>
                  </a:tcPr>
                </a:tc>
                <a:tc>
                  <a:txBody>
                    <a:bodyPr rtlCol="0"/>
                    <a:lstStyle/>
                    <a:p>
                      <a:pPr indent="0" algn="ctr">
                        <a:lnSpc>
                          <a:spcPct val="100000"/>
                        </a:lnSpc>
                        <a:defRPr/>
                      </a:pPr>
                      <a:r>
                        <a:rPr lang="en-US" sz="1400" b="0" i="0" u="none" strike="noStrike">
                          <a:solidFill>
                            <a:srgbClr val="424242"/>
                          </a:solidFill>
                          <a:latin typeface="Noto Sans SC"/>
                          <a:ea typeface="Noto Sans SC"/>
                          <a:cs typeface="Noto Sans SC"/>
                          <a:sym typeface="Noto Sans SC"/>
                        </a:rPr>
                        <a:t>有监督算法</a:t>
                      </a:r>
                      <a:endParaRPr lang="en-US" sz="1100"/>
                    </a:p>
                  </a:txBody>
                  <a:tcPr marL="101600" marR="101600" marT="101600" marB="101600" anchor="t" anchorCtr="0">
                    <a:lnL>
                      <a:noFill/>
                    </a:lnL>
                    <a:lnR>
                      <a:noFill/>
                    </a:lnR>
                    <a:lnT>
                      <a:noFill/>
                    </a:lnT>
                    <a:lnB>
                      <a:noFill/>
                    </a:lnB>
                    <a:solidFill>
                      <a:srgbClr val="E0F7FA">
                        <a:alpha val="50000"/>
                      </a:srgbClr>
                    </a:solidFill>
                  </a:tcPr>
                </a:tc>
                <a:tc>
                  <a:txBody>
                    <a:bodyPr rtlCol="0"/>
                    <a:lstStyle/>
                    <a:p>
                      <a:pPr indent="0" algn="l">
                        <a:lnSpc>
                          <a:spcPct val="100000"/>
                        </a:lnSpc>
                        <a:defRPr/>
                      </a:pPr>
                      <a:r>
                        <a:rPr lang="en-US" sz="1300" b="0" i="0" u="none" strike="noStrike">
                          <a:solidFill>
                            <a:srgbClr val="424242"/>
                          </a:solidFill>
                          <a:latin typeface="Noto Sans SC"/>
                          <a:ea typeface="Noto Sans SC"/>
                          <a:cs typeface="Noto Sans SC"/>
                          <a:sym typeface="Noto Sans SC"/>
                        </a:rPr>
                        <a:t>无需训练，适合多分类问题</a:t>
                      </a:r>
                      <a:endParaRPr lang="en-US" sz="1100"/>
                    </a:p>
                  </a:txBody>
                  <a:tcPr marL="101600" marR="101600" marT="101600" marB="101600" anchor="t" anchorCtr="0">
                    <a:lnL>
                      <a:noFill/>
                    </a:lnL>
                    <a:lnR>
                      <a:noFill/>
                    </a:lnR>
                    <a:lnT>
                      <a:noFill/>
                    </a:lnT>
                    <a:lnB>
                      <a:noFill/>
                    </a:lnB>
                    <a:solidFill>
                      <a:srgbClr val="E0F7FA">
                        <a:alpha val="50000"/>
                      </a:srgbClr>
                    </a:solidFill>
                  </a:tcPr>
                </a:tc>
                <a:tc>
                  <a:txBody>
                    <a:bodyPr rtlCol="0"/>
                    <a:lstStyle/>
                    <a:p>
                      <a:pPr indent="0" algn="l">
                        <a:lnSpc>
                          <a:spcPct val="100000"/>
                        </a:lnSpc>
                        <a:defRPr/>
                      </a:pPr>
                      <a:r>
                        <a:rPr lang="en-US" sz="1300" b="0" i="0" u="none" strike="noStrike">
                          <a:solidFill>
                            <a:srgbClr val="424242"/>
                          </a:solidFill>
                          <a:latin typeface="Noto Sans SC"/>
                          <a:ea typeface="Noto Sans SC"/>
                          <a:cs typeface="Noto Sans SC"/>
                          <a:sym typeface="Noto Sans SC"/>
                        </a:rPr>
                        <a:t>计算量大，对噪声敏感</a:t>
                      </a:r>
                      <a:endParaRPr lang="en-US" sz="1100"/>
                    </a:p>
                  </a:txBody>
                  <a:tcPr marL="101600" marR="101600" marT="101600" marB="101600" anchor="t" anchorCtr="0">
                    <a:lnL>
                      <a:noFill/>
                    </a:lnL>
                    <a:lnR>
                      <a:noFill/>
                    </a:lnR>
                    <a:lnT>
                      <a:noFill/>
                    </a:lnT>
                    <a:lnB>
                      <a:noFill/>
                    </a:lnB>
                    <a:solidFill>
                      <a:srgbClr val="E0F7FA">
                        <a:alpha val="50000"/>
                      </a:srgbClr>
                    </a:solidFill>
                  </a:tcPr>
                </a:tc>
              </a:tr>
              <a:tr h="444500">
                <a:tc>
                  <a:txBody>
                    <a:bodyPr rtlCol="0"/>
                    <a:lstStyle/>
                    <a:p>
                      <a:pPr indent="0" algn="ctr">
                        <a:lnSpc>
                          <a:spcPct val="100000"/>
                        </a:lnSpc>
                        <a:defRPr/>
                      </a:pPr>
                      <a:r>
                        <a:rPr lang="en-US" sz="1400" b="0" i="0" u="none" strike="noStrike">
                          <a:solidFill>
                            <a:srgbClr val="424242"/>
                          </a:solidFill>
                          <a:latin typeface="Noto Sans SC"/>
                          <a:ea typeface="Noto Sans SC"/>
                          <a:cs typeface="Noto Sans SC"/>
                          <a:sym typeface="Noto Sans SC"/>
                        </a:rPr>
                        <a:t>决策树</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indent="0" algn="ctr">
                        <a:lnSpc>
                          <a:spcPct val="100000"/>
                        </a:lnSpc>
                        <a:defRPr/>
                      </a:pPr>
                      <a:r>
                        <a:rPr lang="en-US" sz="1400" b="0" i="0" u="none" strike="noStrike">
                          <a:solidFill>
                            <a:srgbClr val="424242"/>
                          </a:solidFill>
                          <a:latin typeface="Noto Sans SC"/>
                          <a:ea typeface="Noto Sans SC"/>
                          <a:cs typeface="Noto Sans SC"/>
                          <a:sym typeface="Noto Sans SC"/>
                        </a:rPr>
                        <a:t>有监督算法</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indent="0" algn="l">
                        <a:lnSpc>
                          <a:spcPct val="100000"/>
                        </a:lnSpc>
                        <a:defRPr/>
                      </a:pPr>
                      <a:r>
                        <a:rPr lang="en-US" sz="1300" b="0" i="0" u="none" strike="noStrike">
                          <a:solidFill>
                            <a:srgbClr val="424242"/>
                          </a:solidFill>
                          <a:latin typeface="Noto Sans SC"/>
                          <a:ea typeface="Noto Sans SC"/>
                          <a:cs typeface="Noto Sans SC"/>
                          <a:sym typeface="Noto Sans SC"/>
                        </a:rPr>
                        <a:t>能处理分类和回归任务，无需特征归一化</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indent="0" algn="l">
                        <a:lnSpc>
                          <a:spcPct val="100000"/>
                        </a:lnSpc>
                        <a:defRPr/>
                      </a:pPr>
                      <a:r>
                        <a:rPr lang="en-US" sz="1300" b="0" i="0" u="none" strike="noStrike">
                          <a:solidFill>
                            <a:srgbClr val="424242"/>
                          </a:solidFill>
                          <a:latin typeface="Noto Sans SC"/>
                          <a:ea typeface="Noto Sans SC"/>
                          <a:cs typeface="Noto Sans SC"/>
                          <a:sym typeface="Noto Sans SC"/>
                        </a:rPr>
                        <a:t>容易过拟合，对噪声敏感</a:t>
                      </a:r>
                      <a:endParaRPr lang="en-US" sz="1100"/>
                    </a:p>
                  </a:txBody>
                  <a:tcPr marL="101600" marR="101600" marT="101600" marB="101600" anchor="t" anchorCtr="0">
                    <a:lnL>
                      <a:noFill/>
                    </a:lnL>
                    <a:lnR>
                      <a:noFill/>
                    </a:lnR>
                    <a:lnT>
                      <a:noFill/>
                    </a:lnT>
                    <a:lnB>
                      <a:noFill/>
                    </a:lnB>
                    <a:solidFill>
                      <a:srgbClr val="FFFFFF">
                        <a:alpha val="100000"/>
                      </a:srgbClr>
                    </a:solidFill>
                  </a:tcPr>
                </a:tc>
              </a:tr>
              <a:tr h="444500">
                <a:tc>
                  <a:txBody>
                    <a:bodyPr rtlCol="0"/>
                    <a:lstStyle/>
                    <a:p>
                      <a:pPr indent="0" algn="ctr">
                        <a:lnSpc>
                          <a:spcPct val="100000"/>
                        </a:lnSpc>
                        <a:defRPr/>
                      </a:pPr>
                      <a:r>
                        <a:rPr lang="en-US" sz="1400" b="0" i="0" u="none" strike="noStrike">
                          <a:solidFill>
                            <a:srgbClr val="424242"/>
                          </a:solidFill>
                          <a:latin typeface="Noto Sans SC"/>
                          <a:ea typeface="Noto Sans SC"/>
                          <a:cs typeface="Noto Sans SC"/>
                          <a:sym typeface="Noto Sans SC"/>
                        </a:rPr>
                        <a:t>随机森林</a:t>
                      </a:r>
                      <a:endParaRPr lang="en-US" sz="1100"/>
                    </a:p>
                  </a:txBody>
                  <a:tcPr marL="101600" marR="101600" marT="101600" marB="101600" anchor="t" anchorCtr="0">
                    <a:lnL>
                      <a:noFill/>
                    </a:lnL>
                    <a:lnR>
                      <a:noFill/>
                    </a:lnR>
                    <a:lnT>
                      <a:noFill/>
                    </a:lnT>
                    <a:lnB>
                      <a:noFill/>
                    </a:lnB>
                    <a:solidFill>
                      <a:srgbClr val="E0F7FA">
                        <a:alpha val="50000"/>
                      </a:srgbClr>
                    </a:solidFill>
                  </a:tcPr>
                </a:tc>
                <a:tc>
                  <a:txBody>
                    <a:bodyPr rtlCol="0"/>
                    <a:lstStyle/>
                    <a:p>
                      <a:pPr indent="0" algn="ctr">
                        <a:lnSpc>
                          <a:spcPct val="100000"/>
                        </a:lnSpc>
                        <a:defRPr/>
                      </a:pPr>
                      <a:r>
                        <a:rPr lang="en-US" sz="1400" b="0" i="0" u="none" strike="noStrike">
                          <a:solidFill>
                            <a:srgbClr val="424242"/>
                          </a:solidFill>
                          <a:latin typeface="Noto Sans SC"/>
                          <a:ea typeface="Noto Sans SC"/>
                          <a:cs typeface="Noto Sans SC"/>
                          <a:sym typeface="Noto Sans SC"/>
                        </a:rPr>
                        <a:t>有监督算法</a:t>
                      </a:r>
                      <a:endParaRPr lang="en-US" sz="1100"/>
                    </a:p>
                  </a:txBody>
                  <a:tcPr marL="101600" marR="101600" marT="101600" marB="101600" anchor="t" anchorCtr="0">
                    <a:lnL>
                      <a:noFill/>
                    </a:lnL>
                    <a:lnR>
                      <a:noFill/>
                    </a:lnR>
                    <a:lnT>
                      <a:noFill/>
                    </a:lnT>
                    <a:lnB>
                      <a:noFill/>
                    </a:lnB>
                    <a:solidFill>
                      <a:srgbClr val="E0F7FA">
                        <a:alpha val="50000"/>
                      </a:srgbClr>
                    </a:solidFill>
                  </a:tcPr>
                </a:tc>
                <a:tc>
                  <a:txBody>
                    <a:bodyPr rtlCol="0"/>
                    <a:lstStyle/>
                    <a:p>
                      <a:pPr indent="0" algn="l">
                        <a:lnSpc>
                          <a:spcPct val="100000"/>
                        </a:lnSpc>
                        <a:defRPr/>
                      </a:pPr>
                      <a:r>
                        <a:rPr lang="en-US" sz="1300" b="0" i="0" u="none" strike="noStrike">
                          <a:solidFill>
                            <a:srgbClr val="424242"/>
                          </a:solidFill>
                          <a:latin typeface="Noto Sans SC"/>
                          <a:ea typeface="Noto Sans SC"/>
                          <a:cs typeface="Noto Sans SC"/>
                          <a:sym typeface="Noto Sans SC"/>
                        </a:rPr>
                        <a:t>提升准确性，减少过拟合，能处理高维数据</a:t>
                      </a:r>
                      <a:endParaRPr lang="en-US" sz="1100"/>
                    </a:p>
                  </a:txBody>
                  <a:tcPr marL="101600" marR="101600" marT="101600" marB="101600" anchor="t" anchorCtr="0">
                    <a:lnL>
                      <a:noFill/>
                    </a:lnL>
                    <a:lnR>
                      <a:noFill/>
                    </a:lnR>
                    <a:lnT>
                      <a:noFill/>
                    </a:lnT>
                    <a:lnB>
                      <a:noFill/>
                    </a:lnB>
                    <a:solidFill>
                      <a:srgbClr val="E0F7FA">
                        <a:alpha val="50000"/>
                      </a:srgbClr>
                    </a:solidFill>
                  </a:tcPr>
                </a:tc>
                <a:tc>
                  <a:txBody>
                    <a:bodyPr rtlCol="0"/>
                    <a:lstStyle/>
                    <a:p>
                      <a:pPr indent="0" algn="l">
                        <a:lnSpc>
                          <a:spcPct val="100000"/>
                        </a:lnSpc>
                        <a:defRPr/>
                      </a:pPr>
                      <a:r>
                        <a:rPr lang="en-US" sz="1300" b="0" i="0" u="none" strike="noStrike">
                          <a:solidFill>
                            <a:srgbClr val="424242"/>
                          </a:solidFill>
                          <a:latin typeface="Noto Sans SC"/>
                          <a:ea typeface="Noto Sans SC"/>
                          <a:cs typeface="Noto Sans SC"/>
                          <a:sym typeface="Noto Sans SC"/>
                        </a:rPr>
                        <a:t>训练和预测时间长，难以解释</a:t>
                      </a:r>
                      <a:endParaRPr lang="en-US" sz="1100"/>
                    </a:p>
                  </a:txBody>
                  <a:tcPr marL="101600" marR="101600" marT="101600" marB="101600" anchor="t" anchorCtr="0">
                    <a:lnL>
                      <a:noFill/>
                    </a:lnL>
                    <a:lnR>
                      <a:noFill/>
                    </a:lnR>
                    <a:lnT>
                      <a:noFill/>
                    </a:lnT>
                    <a:lnB>
                      <a:noFill/>
                    </a:lnB>
                    <a:solidFill>
                      <a:srgbClr val="E0F7FA">
                        <a:alpha val="50000"/>
                      </a:srgbClr>
                    </a:solidFill>
                  </a:tcPr>
                </a:tc>
              </a:tr>
              <a:tr h="444500">
                <a:tc>
                  <a:txBody>
                    <a:bodyPr rtlCol="0"/>
                    <a:lstStyle/>
                    <a:p>
                      <a:pPr indent="0" algn="ctr">
                        <a:lnSpc>
                          <a:spcPct val="100000"/>
                        </a:lnSpc>
                        <a:defRPr/>
                      </a:pPr>
                      <a:r>
                        <a:rPr lang="en-US" sz="1400" b="0" i="0" u="none" strike="noStrike">
                          <a:solidFill>
                            <a:srgbClr val="424242"/>
                          </a:solidFill>
                          <a:latin typeface="Noto Sans SC"/>
                          <a:ea typeface="Noto Sans SC"/>
                          <a:cs typeface="Noto Sans SC"/>
                          <a:sym typeface="Noto Sans SC"/>
                        </a:rPr>
                        <a:t>支持向量机</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indent="0" algn="ctr">
                        <a:lnSpc>
                          <a:spcPct val="100000"/>
                        </a:lnSpc>
                        <a:defRPr/>
                      </a:pPr>
                      <a:r>
                        <a:rPr lang="en-US" sz="1400" b="0" i="0" u="none" strike="noStrike">
                          <a:solidFill>
                            <a:srgbClr val="424242"/>
                          </a:solidFill>
                          <a:latin typeface="Noto Sans SC"/>
                          <a:ea typeface="Noto Sans SC"/>
                          <a:cs typeface="Noto Sans SC"/>
                          <a:sym typeface="Noto Sans SC"/>
                        </a:rPr>
                        <a:t>有监督算法</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indent="0" algn="l">
                        <a:lnSpc>
                          <a:spcPct val="100000"/>
                        </a:lnSpc>
                        <a:defRPr/>
                      </a:pPr>
                      <a:r>
                        <a:rPr lang="en-US" sz="1300" b="0" i="0" u="none" strike="noStrike">
                          <a:solidFill>
                            <a:srgbClr val="424242"/>
                          </a:solidFill>
                          <a:latin typeface="Noto Sans SC"/>
                          <a:ea typeface="Noto Sans SC"/>
                          <a:cs typeface="Noto Sans SC"/>
                          <a:sym typeface="Noto Sans SC"/>
                        </a:rPr>
                        <a:t>对高维数据表现良好，能处理非线性分类</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indent="0" algn="l">
                        <a:lnSpc>
                          <a:spcPct val="100000"/>
                        </a:lnSpc>
                        <a:defRPr/>
                      </a:pPr>
                      <a:r>
                        <a:rPr lang="en-US" sz="1300" b="0" i="0" u="none" strike="noStrike">
                          <a:solidFill>
                            <a:srgbClr val="424242"/>
                          </a:solidFill>
                          <a:latin typeface="Noto Sans SC"/>
                          <a:ea typeface="Noto Sans SC"/>
                          <a:cs typeface="Noto Sans SC"/>
                          <a:sym typeface="Noto Sans SC"/>
                        </a:rPr>
                        <a:t>对大数据集效率低，对噪声敏感</a:t>
                      </a:r>
                      <a:endParaRPr lang="en-US" sz="1100"/>
                    </a:p>
                  </a:txBody>
                  <a:tcPr marL="101600" marR="101600" marT="101600" marB="101600" anchor="t" anchorCtr="0">
                    <a:lnL>
                      <a:noFill/>
                    </a:lnL>
                    <a:lnR>
                      <a:noFill/>
                    </a:lnR>
                    <a:lnT>
                      <a:noFill/>
                    </a:lnT>
                    <a:lnB>
                      <a:noFill/>
                    </a:lnB>
                    <a:solidFill>
                      <a:srgbClr val="FFFFFF">
                        <a:alpha val="100000"/>
                      </a:srgbClr>
                    </a:solidFill>
                  </a:tcPr>
                </a:tc>
              </a:tr>
              <a:tr h="444500">
                <a:tc>
                  <a:txBody>
                    <a:bodyPr rtlCol="0"/>
                    <a:lstStyle/>
                    <a:p>
                      <a:pPr indent="0" algn="ctr">
                        <a:lnSpc>
                          <a:spcPct val="100000"/>
                        </a:lnSpc>
                        <a:defRPr/>
                      </a:pPr>
                      <a:r>
                        <a:rPr lang="en-US" sz="1400" b="0" i="0" u="none" strike="noStrike">
                          <a:solidFill>
                            <a:srgbClr val="424242"/>
                          </a:solidFill>
                          <a:latin typeface="Noto Sans SC"/>
                          <a:ea typeface="Noto Sans SC"/>
                          <a:cs typeface="Noto Sans SC"/>
                          <a:sym typeface="Noto Sans SC"/>
                        </a:rPr>
                        <a:t>GBDT</a:t>
                      </a:r>
                      <a:endParaRPr lang="en-US" sz="1100"/>
                    </a:p>
                  </a:txBody>
                  <a:tcPr marL="101600" marR="101600" marT="101600" marB="101600" anchor="t" anchorCtr="0">
                    <a:lnL>
                      <a:noFill/>
                    </a:lnL>
                    <a:lnR>
                      <a:noFill/>
                    </a:lnR>
                    <a:lnT>
                      <a:noFill/>
                    </a:lnT>
                    <a:lnB>
                      <a:noFill/>
                    </a:lnB>
                    <a:solidFill>
                      <a:srgbClr val="E0F7FA">
                        <a:alpha val="50000"/>
                      </a:srgbClr>
                    </a:solidFill>
                  </a:tcPr>
                </a:tc>
                <a:tc>
                  <a:txBody>
                    <a:bodyPr rtlCol="0"/>
                    <a:lstStyle/>
                    <a:p>
                      <a:pPr indent="0" algn="ctr">
                        <a:lnSpc>
                          <a:spcPct val="100000"/>
                        </a:lnSpc>
                        <a:defRPr/>
                      </a:pPr>
                      <a:r>
                        <a:rPr lang="en-US" sz="1400" b="0" i="0" u="none" strike="noStrike">
                          <a:solidFill>
                            <a:srgbClr val="424242"/>
                          </a:solidFill>
                          <a:latin typeface="Noto Sans SC"/>
                          <a:ea typeface="Noto Sans SC"/>
                          <a:cs typeface="Noto Sans SC"/>
                          <a:sym typeface="Noto Sans SC"/>
                        </a:rPr>
                        <a:t>有监督算法</a:t>
                      </a:r>
                      <a:endParaRPr lang="en-US" sz="1100"/>
                    </a:p>
                  </a:txBody>
                  <a:tcPr marL="101600" marR="101600" marT="101600" marB="101600" anchor="t" anchorCtr="0">
                    <a:lnL>
                      <a:noFill/>
                    </a:lnL>
                    <a:lnR>
                      <a:noFill/>
                    </a:lnR>
                    <a:lnT>
                      <a:noFill/>
                    </a:lnT>
                    <a:lnB>
                      <a:noFill/>
                    </a:lnB>
                    <a:solidFill>
                      <a:srgbClr val="E0F7FA">
                        <a:alpha val="50000"/>
                      </a:srgbClr>
                    </a:solidFill>
                  </a:tcPr>
                </a:tc>
                <a:tc>
                  <a:txBody>
                    <a:bodyPr rtlCol="0"/>
                    <a:lstStyle/>
                    <a:p>
                      <a:pPr indent="0" algn="l">
                        <a:lnSpc>
                          <a:spcPct val="100000"/>
                        </a:lnSpc>
                        <a:defRPr/>
                      </a:pPr>
                      <a:r>
                        <a:rPr lang="en-US" sz="1300" b="0" i="0" u="none" strike="noStrike">
                          <a:solidFill>
                            <a:srgbClr val="424242"/>
                          </a:solidFill>
                          <a:latin typeface="Noto Sans SC"/>
                          <a:ea typeface="Noto Sans SC"/>
                          <a:cs typeface="Noto Sans SC"/>
                          <a:sym typeface="Noto Sans SC"/>
                        </a:rPr>
                        <a:t>强大的非线性建模能力，对缺失值有容忍度</a:t>
                      </a:r>
                      <a:endParaRPr lang="en-US" sz="1100"/>
                    </a:p>
                  </a:txBody>
                  <a:tcPr marL="101600" marR="101600" marT="101600" marB="101600" anchor="t" anchorCtr="0">
                    <a:lnL>
                      <a:noFill/>
                    </a:lnL>
                    <a:lnR>
                      <a:noFill/>
                    </a:lnR>
                    <a:lnT>
                      <a:noFill/>
                    </a:lnT>
                    <a:lnB>
                      <a:noFill/>
                    </a:lnB>
                    <a:solidFill>
                      <a:srgbClr val="E0F7FA">
                        <a:alpha val="50000"/>
                      </a:srgbClr>
                    </a:solidFill>
                  </a:tcPr>
                </a:tc>
                <a:tc>
                  <a:txBody>
                    <a:bodyPr rtlCol="0"/>
                    <a:lstStyle/>
                    <a:p>
                      <a:pPr indent="0" algn="l">
                        <a:lnSpc>
                          <a:spcPct val="100000"/>
                        </a:lnSpc>
                        <a:defRPr/>
                      </a:pPr>
                      <a:r>
                        <a:rPr lang="en-US" sz="1300" b="0" i="0" u="none" strike="noStrike">
                          <a:solidFill>
                            <a:srgbClr val="424242"/>
                          </a:solidFill>
                          <a:latin typeface="Noto Sans SC"/>
                          <a:ea typeface="Noto Sans SC"/>
                          <a:cs typeface="Noto Sans SC"/>
                          <a:sym typeface="Noto Sans SC"/>
                        </a:rPr>
                        <a:t>训练时间长，对超参数敏感</a:t>
                      </a:r>
                      <a:endParaRPr lang="en-US" sz="1100"/>
                    </a:p>
                  </a:txBody>
                  <a:tcPr marL="101600" marR="101600" marT="101600" marB="101600" anchor="t" anchorCtr="0">
                    <a:lnL>
                      <a:noFill/>
                    </a:lnL>
                    <a:lnR>
                      <a:noFill/>
                    </a:lnR>
                    <a:lnT>
                      <a:noFill/>
                    </a:lnT>
                    <a:lnB>
                      <a:noFill/>
                    </a:lnB>
                    <a:solidFill>
                      <a:srgbClr val="E0F7FA">
                        <a:alpha val="50000"/>
                      </a:srgbClr>
                    </a:solidFill>
                  </a:tcPr>
                </a:tc>
              </a:tr>
              <a:tr h="444500">
                <a:tc>
                  <a:txBody>
                    <a:bodyPr rtlCol="0"/>
                    <a:lstStyle/>
                    <a:p>
                      <a:pPr indent="0" algn="ctr">
                        <a:lnSpc>
                          <a:spcPct val="100000"/>
                        </a:lnSpc>
                        <a:defRPr/>
                      </a:pPr>
                      <a:r>
                        <a:rPr lang="en-US" sz="1400" b="0" i="0" u="none" strike="noStrike">
                          <a:solidFill>
                            <a:srgbClr val="424242"/>
                          </a:solidFill>
                          <a:latin typeface="Noto Sans SC"/>
                          <a:ea typeface="Noto Sans SC"/>
                          <a:cs typeface="Noto Sans SC"/>
                          <a:sym typeface="Noto Sans SC"/>
                        </a:rPr>
                        <a:t>XGBoost</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indent="0" algn="ctr">
                        <a:lnSpc>
                          <a:spcPct val="100000"/>
                        </a:lnSpc>
                        <a:defRPr/>
                      </a:pPr>
                      <a:r>
                        <a:rPr lang="en-US" sz="1400" b="0" i="0" u="none" strike="noStrike">
                          <a:solidFill>
                            <a:srgbClr val="424242"/>
                          </a:solidFill>
                          <a:latin typeface="Noto Sans SC"/>
                          <a:ea typeface="Noto Sans SC"/>
                          <a:cs typeface="Noto Sans SC"/>
                          <a:sym typeface="Noto Sans SC"/>
                        </a:rPr>
                        <a:t>有监督算法</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indent="0" algn="l">
                        <a:lnSpc>
                          <a:spcPct val="100000"/>
                        </a:lnSpc>
                        <a:defRPr/>
                      </a:pPr>
                      <a:r>
                        <a:rPr lang="en-US" sz="1300" b="0" i="0" u="none" strike="noStrike">
                          <a:solidFill>
                            <a:srgbClr val="424242"/>
                          </a:solidFill>
                          <a:latin typeface="Noto Sans SC"/>
                          <a:ea typeface="Noto Sans SC"/>
                          <a:cs typeface="Noto Sans SC"/>
                          <a:sym typeface="Noto Sans SC"/>
                        </a:rPr>
                        <a:t>性能优越，处理速度快，自动处理缺失值</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indent="0" algn="l">
                        <a:lnSpc>
                          <a:spcPct val="100000"/>
                        </a:lnSpc>
                        <a:defRPr/>
                      </a:pPr>
                      <a:r>
                        <a:rPr lang="en-US" sz="1300" b="0" i="0" u="none" strike="noStrike">
                          <a:solidFill>
                            <a:srgbClr val="424242"/>
                          </a:solidFill>
                          <a:latin typeface="Noto Sans SC"/>
                          <a:ea typeface="Noto Sans SC"/>
                          <a:cs typeface="Noto Sans SC"/>
                          <a:sym typeface="Noto Sans SC"/>
                        </a:rPr>
                        <a:t>超参数多，调参复杂</a:t>
                      </a:r>
                      <a:endParaRPr lang="en-US" sz="1100"/>
                    </a:p>
                  </a:txBody>
                  <a:tcPr marL="101600" marR="101600" marT="101600" marB="101600" anchor="t" anchorCtr="0">
                    <a:lnL>
                      <a:noFill/>
                    </a:lnL>
                    <a:lnR>
                      <a:noFill/>
                    </a:lnR>
                    <a:lnT>
                      <a:noFill/>
                    </a:lnT>
                    <a:lnB>
                      <a:noFill/>
                    </a:lnB>
                    <a:solidFill>
                      <a:srgbClr val="FFFFFF">
                        <a:alpha val="100000"/>
                      </a:srgbClr>
                    </a:solidFill>
                  </a:tcPr>
                </a:tc>
              </a:tr>
            </a:tbl>
          </a:graphicData>
        </a:graphic>
      </p:graphicFrame>
      <p:sp>
        <p:nvSpPr>
          <p:cNvPr id="5" name="AutoShape 5"/>
          <p:cNvSpPr/>
          <p:nvPr/>
        </p:nvSpPr>
        <p:spPr>
          <a:xfrm>
            <a:off x="762000" y="6096000"/>
            <a:ext cx="10668000" cy="508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71501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常见文本分类算法模型对比（二）</a:t>
            </a:r>
            <a:endParaRPr lang="en-US" sz="1100"/>
          </a:p>
        </p:txBody>
      </p:sp>
      <p:sp>
        <p:nvSpPr>
          <p:cNvPr id="3" name="AutoShape 3"/>
          <p:cNvSpPr/>
          <p:nvPr/>
        </p:nvSpPr>
        <p:spPr>
          <a:xfrm>
            <a:off x="762000" y="1270000"/>
            <a:ext cx="10668000" cy="4572000"/>
          </a:xfrm>
          <a:prstGeom prst="roundRect">
            <a:avLst>
              <a:gd name="adj" fmla="val 2777"/>
            </a:avLst>
          </a:prstGeom>
          <a:solidFill>
            <a:srgbClr val="FFFFFF">
              <a:alpha val="100000"/>
            </a:srgbClr>
          </a:solidFill>
          <a:ln w="25400" cap="flat" cmpd="sng">
            <a:noFill/>
            <a:prstDash val="solid"/>
            <a:round/>
          </a:ln>
          <a:effectLst>
            <a:outerShdw blurRad="127000" dist="50800" dir="5400000" algn="tl" rotWithShape="0">
              <a:srgbClr val="000000">
                <a:alpha val="5000"/>
              </a:srgbClr>
            </a:outerShdw>
          </a:effectLst>
        </p:spPr>
        <p:txBody>
          <a:bodyPr vert="horz" wrap="square" lIns="63500" tIns="63500" rIns="63500" bIns="63500" rtlCol="0" anchor="ctr"/>
          <a:lstStyle/>
          <a:p>
            <a:pPr algn="ctr">
              <a:defRPr/>
            </a:pPr>
          </a:p>
        </p:txBody>
      </p:sp>
      <p:graphicFrame>
        <p:nvGraphicFramePr>
          <p:cNvPr id="4" name="Table 4"/>
          <p:cNvGraphicFramePr>
            <a:graphicFrameLocks noGrp="1"/>
          </p:cNvGraphicFramePr>
          <p:nvPr/>
        </p:nvGraphicFramePr>
        <p:xfrm>
          <a:off x="762000" y="1270000"/>
          <a:ext cx="10668000" cy="4368800"/>
        </p:xfrm>
        <a:graphic>
          <a:graphicData uri="http://schemas.openxmlformats.org/drawingml/2006/table">
            <a:tbl>
              <a:tblPr>
                <a:effectLst/>
              </a:tblPr>
              <a:tblGrid>
                <a:gridCol w="1524000"/>
                <a:gridCol w="1651000"/>
                <a:gridCol w="3746500"/>
                <a:gridCol w="3746500"/>
              </a:tblGrid>
              <a:tr h="508000">
                <a:tc>
                  <a:txBody>
                    <a:bodyPr rtlCol="0"/>
                    <a:lstStyle/>
                    <a:p>
                      <a:pPr indent="0" algn="ctr">
                        <a:lnSpc>
                          <a:spcPct val="100000"/>
                        </a:lnSpc>
                        <a:defRPr/>
                      </a:pPr>
                      <a:r>
                        <a:rPr lang="en-US" sz="1600" b="1" i="0" u="none" strike="noStrike">
                          <a:solidFill>
                            <a:srgbClr val="FFFFFF"/>
                          </a:solidFill>
                          <a:latin typeface="Noto Sans SC"/>
                          <a:ea typeface="Noto Sans SC"/>
                          <a:cs typeface="Noto Sans SC"/>
                          <a:sym typeface="Noto Sans SC"/>
                        </a:rPr>
                        <a:t>模型名称</a:t>
                      </a:r>
                      <a:endParaRPr lang="en-US" sz="1100"/>
                    </a:p>
                  </a:txBody>
                  <a:tcPr marL="101600" marR="101600" marT="101600" marB="101600" anchor="t" anchorCtr="0">
                    <a:lnL>
                      <a:noFill/>
                    </a:lnL>
                    <a:lnR>
                      <a:noFill/>
                    </a:lnR>
                    <a:lnT>
                      <a:noFill/>
                    </a:lnT>
                    <a:lnB>
                      <a:noFill/>
                    </a:lnB>
                    <a:solidFill>
                      <a:srgbClr val="0288D1">
                        <a:alpha val="100000"/>
                      </a:srgbClr>
                    </a:solidFill>
                  </a:tcPr>
                </a:tc>
                <a:tc>
                  <a:txBody>
                    <a:bodyPr rtlCol="0"/>
                    <a:lstStyle/>
                    <a:p>
                      <a:pPr indent="0" algn="ctr">
                        <a:lnSpc>
                          <a:spcPct val="100000"/>
                        </a:lnSpc>
                        <a:defRPr/>
                      </a:pPr>
                      <a:r>
                        <a:rPr lang="en-US" sz="1600" b="1" i="0" u="none" strike="noStrike">
                          <a:solidFill>
                            <a:srgbClr val="FFFFFF"/>
                          </a:solidFill>
                          <a:latin typeface="Noto Sans SC"/>
                          <a:ea typeface="Noto Sans SC"/>
                          <a:cs typeface="Noto Sans SC"/>
                          <a:sym typeface="Noto Sans SC"/>
                        </a:rPr>
                        <a:t>模型学习类别</a:t>
                      </a:r>
                      <a:endParaRPr lang="en-US" sz="1100"/>
                    </a:p>
                  </a:txBody>
                  <a:tcPr marL="101600" marR="101600" marT="101600" marB="101600" anchor="t" anchorCtr="0">
                    <a:lnL>
                      <a:noFill/>
                    </a:lnL>
                    <a:lnR>
                      <a:noFill/>
                    </a:lnR>
                    <a:lnT>
                      <a:noFill/>
                    </a:lnT>
                    <a:lnB>
                      <a:noFill/>
                    </a:lnB>
                    <a:solidFill>
                      <a:srgbClr val="0288D1">
                        <a:alpha val="100000"/>
                      </a:srgbClr>
                    </a:solidFill>
                  </a:tcPr>
                </a:tc>
                <a:tc>
                  <a:txBody>
                    <a:bodyPr rtlCol="0"/>
                    <a:lstStyle/>
                    <a:p>
                      <a:pPr indent="0" algn="ctr">
                        <a:lnSpc>
                          <a:spcPct val="100000"/>
                        </a:lnSpc>
                        <a:defRPr/>
                      </a:pPr>
                      <a:r>
                        <a:rPr lang="en-US" sz="1600" b="1" i="0" u="none" strike="noStrike">
                          <a:solidFill>
                            <a:srgbClr val="FFFFFF"/>
                          </a:solidFill>
                          <a:latin typeface="Noto Sans SC"/>
                          <a:ea typeface="Noto Sans SC"/>
                          <a:cs typeface="Noto Sans SC"/>
                          <a:sym typeface="Noto Sans SC"/>
                        </a:rPr>
                        <a:t>优点</a:t>
                      </a:r>
                      <a:endParaRPr lang="en-US" sz="1100"/>
                    </a:p>
                  </a:txBody>
                  <a:tcPr marL="101600" marR="101600" marT="101600" marB="101600" anchor="t" anchorCtr="0">
                    <a:lnL>
                      <a:noFill/>
                    </a:lnL>
                    <a:lnR>
                      <a:noFill/>
                    </a:lnR>
                    <a:lnT>
                      <a:noFill/>
                    </a:lnT>
                    <a:lnB>
                      <a:noFill/>
                    </a:lnB>
                    <a:solidFill>
                      <a:srgbClr val="0288D1">
                        <a:alpha val="100000"/>
                      </a:srgbClr>
                    </a:solidFill>
                  </a:tcPr>
                </a:tc>
                <a:tc>
                  <a:txBody>
                    <a:bodyPr rtlCol="0"/>
                    <a:lstStyle/>
                    <a:p>
                      <a:pPr indent="0" algn="ctr">
                        <a:lnSpc>
                          <a:spcPct val="100000"/>
                        </a:lnSpc>
                        <a:defRPr/>
                      </a:pPr>
                      <a:r>
                        <a:rPr lang="en-US" sz="1600" b="1" i="0" u="none" strike="noStrike">
                          <a:solidFill>
                            <a:srgbClr val="FFFFFF"/>
                          </a:solidFill>
                          <a:latin typeface="Noto Sans SC"/>
                          <a:ea typeface="Noto Sans SC"/>
                          <a:cs typeface="Noto Sans SC"/>
                          <a:sym typeface="Noto Sans SC"/>
                        </a:rPr>
                        <a:t>缺点</a:t>
                      </a:r>
                      <a:endParaRPr lang="en-US" sz="1100"/>
                    </a:p>
                  </a:txBody>
                  <a:tcPr marL="101600" marR="101600" marT="101600" marB="101600" anchor="t" anchorCtr="0">
                    <a:lnL>
                      <a:noFill/>
                    </a:lnL>
                    <a:lnR>
                      <a:noFill/>
                    </a:lnR>
                    <a:lnT>
                      <a:noFill/>
                    </a:lnT>
                    <a:lnB>
                      <a:noFill/>
                    </a:lnB>
                    <a:solidFill>
                      <a:srgbClr val="0288D1">
                        <a:alpha val="100000"/>
                      </a:srgbClr>
                    </a:solidFill>
                  </a:tcPr>
                </a:tc>
              </a:tr>
              <a:tr h="482600">
                <a:tc>
                  <a:txBody>
                    <a:bodyPr rtlCol="0"/>
                    <a:lstStyle/>
                    <a:p>
                      <a:pPr indent="0" algn="ctr">
                        <a:lnSpc>
                          <a:spcPct val="100000"/>
                        </a:lnSpc>
                        <a:defRPr/>
                      </a:pPr>
                      <a:r>
                        <a:rPr lang="en-US" sz="1400" b="1" i="0" u="none" strike="noStrike">
                          <a:solidFill>
                            <a:srgbClr val="424242"/>
                          </a:solidFill>
                          <a:latin typeface="Noto Sans SC"/>
                          <a:ea typeface="Noto Sans SC"/>
                          <a:cs typeface="Noto Sans SC"/>
                          <a:sym typeface="Noto Sans SC"/>
                        </a:rPr>
                        <a:t>K-means</a:t>
                      </a:r>
                      <a:endParaRPr lang="en-US" sz="1100"/>
                    </a:p>
                  </a:txBody>
                  <a:tcPr marL="101600" marR="101600" marT="101600" marB="101600" anchor="t" anchorCtr="0">
                    <a:lnL>
                      <a:noFill/>
                    </a:lnL>
                    <a:lnR>
                      <a:noFill/>
                    </a:lnR>
                    <a:lnT>
                      <a:noFill/>
                    </a:lnT>
                    <a:lnB>
                      <a:noFill/>
                    </a:lnB>
                    <a:solidFill>
                      <a:srgbClr val="F0F9FF">
                        <a:alpha val="100000"/>
                      </a:srgbClr>
                    </a:solidFill>
                  </a:tcPr>
                </a:tc>
                <a:tc>
                  <a:txBody>
                    <a:bodyPr rtlCol="0"/>
                    <a:lstStyle/>
                    <a:p>
                      <a:pPr indent="0" algn="ctr">
                        <a:lnSpc>
                          <a:spcPct val="100000"/>
                        </a:lnSpc>
                        <a:defRPr/>
                      </a:pPr>
                      <a:r>
                        <a:rPr lang="en-US" sz="1400" b="0" i="0" u="none" strike="noStrike">
                          <a:solidFill>
                            <a:srgbClr val="424242"/>
                          </a:solidFill>
                          <a:latin typeface="Noto Sans SC"/>
                          <a:ea typeface="Noto Sans SC"/>
                          <a:cs typeface="Noto Sans SC"/>
                          <a:sym typeface="Noto Sans SC"/>
                        </a:rPr>
                        <a:t>无监督算法</a:t>
                      </a:r>
                      <a:endParaRPr lang="en-US" sz="1100"/>
                    </a:p>
                  </a:txBody>
                  <a:tcPr marL="101600" marR="101600" marT="101600" marB="101600" anchor="t" anchorCtr="0">
                    <a:lnL>
                      <a:noFill/>
                    </a:lnL>
                    <a:lnR>
                      <a:noFill/>
                    </a:lnR>
                    <a:lnT>
                      <a:noFill/>
                    </a:lnT>
                    <a:lnB>
                      <a:noFill/>
                    </a:lnB>
                    <a:solidFill>
                      <a:srgbClr val="F0F9FF">
                        <a:alpha val="100000"/>
                      </a:srgbClr>
                    </a:solidFill>
                  </a:tcPr>
                </a:tc>
                <a:tc>
                  <a:txBody>
                    <a:bodyPr rtlCol="0"/>
                    <a:lstStyle/>
                    <a:p>
                      <a:pPr indent="0" algn="l">
                        <a:lnSpc>
                          <a:spcPct val="100000"/>
                        </a:lnSpc>
                        <a:defRPr/>
                      </a:pPr>
                      <a:r>
                        <a:rPr lang="en-US" sz="1300" b="0" i="0" u="none" strike="noStrike">
                          <a:solidFill>
                            <a:srgbClr val="424242"/>
                          </a:solidFill>
                          <a:latin typeface="Noto Sans SC"/>
                          <a:ea typeface="Noto Sans SC"/>
                          <a:cs typeface="Noto Sans SC"/>
                          <a:sym typeface="Noto Sans SC"/>
                        </a:rPr>
                        <a:t>简单高效，易于实现，适合大规模数据集</a:t>
                      </a:r>
                      <a:endParaRPr lang="en-US" sz="1100"/>
                    </a:p>
                  </a:txBody>
                  <a:tcPr marL="127000" marR="101600" marT="101600" marB="101600" anchor="t" anchorCtr="0">
                    <a:lnL>
                      <a:noFill/>
                    </a:lnL>
                    <a:lnR>
                      <a:noFill/>
                    </a:lnR>
                    <a:lnT>
                      <a:noFill/>
                    </a:lnT>
                    <a:lnB>
                      <a:noFill/>
                    </a:lnB>
                    <a:solidFill>
                      <a:srgbClr val="F0F9FF">
                        <a:alpha val="100000"/>
                      </a:srgbClr>
                    </a:solidFill>
                  </a:tcPr>
                </a:tc>
                <a:tc>
                  <a:txBody>
                    <a:bodyPr rtlCol="0"/>
                    <a:lstStyle/>
                    <a:p>
                      <a:pPr indent="0" algn="l">
                        <a:lnSpc>
                          <a:spcPct val="100000"/>
                        </a:lnSpc>
                        <a:defRPr/>
                      </a:pPr>
                      <a:r>
                        <a:rPr lang="en-US" sz="1300" b="0" i="0" u="none" strike="noStrike">
                          <a:solidFill>
                            <a:srgbClr val="424242"/>
                          </a:solidFill>
                          <a:latin typeface="Noto Sans SC"/>
                          <a:ea typeface="Noto Sans SC"/>
                          <a:cs typeface="Noto Sans SC"/>
                          <a:sym typeface="Noto Sans SC"/>
                        </a:rPr>
                        <a:t>对初始聚类中心敏感，对噪声和离群点敏感</a:t>
                      </a:r>
                      <a:endParaRPr lang="en-US" sz="1100"/>
                    </a:p>
                  </a:txBody>
                  <a:tcPr marL="127000" marR="101600" marT="101600" marB="101600" anchor="t" anchorCtr="0">
                    <a:lnL>
                      <a:noFill/>
                    </a:lnL>
                    <a:lnR>
                      <a:noFill/>
                    </a:lnR>
                    <a:lnT>
                      <a:noFill/>
                    </a:lnT>
                    <a:lnB>
                      <a:noFill/>
                    </a:lnB>
                    <a:solidFill>
                      <a:srgbClr val="F0F9FF">
                        <a:alpha val="100000"/>
                      </a:srgbClr>
                    </a:solidFill>
                  </a:tcPr>
                </a:tc>
              </a:tr>
              <a:tr h="482600">
                <a:tc>
                  <a:txBody>
                    <a:bodyPr rtlCol="0"/>
                    <a:lstStyle/>
                    <a:p>
                      <a:pPr indent="0" algn="ctr">
                        <a:lnSpc>
                          <a:spcPct val="100000"/>
                        </a:lnSpc>
                        <a:defRPr/>
                      </a:pPr>
                      <a:r>
                        <a:rPr lang="en-US" sz="1400" b="1" i="0" u="none" strike="noStrike">
                          <a:solidFill>
                            <a:srgbClr val="424242"/>
                          </a:solidFill>
                          <a:latin typeface="Noto Sans SC"/>
                          <a:ea typeface="Noto Sans SC"/>
                          <a:cs typeface="Noto Sans SC"/>
                          <a:sym typeface="Noto Sans SC"/>
                        </a:rPr>
                        <a:t>CNN</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indent="0" algn="ctr">
                        <a:lnSpc>
                          <a:spcPct val="100000"/>
                        </a:lnSpc>
                        <a:defRPr/>
                      </a:pPr>
                      <a:r>
                        <a:rPr lang="en-US" sz="1400" b="0" i="0" u="none" strike="noStrike">
                          <a:solidFill>
                            <a:srgbClr val="424242"/>
                          </a:solidFill>
                          <a:latin typeface="Noto Sans SC"/>
                          <a:ea typeface="Noto Sans SC"/>
                          <a:cs typeface="Noto Sans SC"/>
                          <a:sym typeface="Noto Sans SC"/>
                        </a:rPr>
                        <a:t>深度学习算法</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indent="0" algn="l">
                        <a:lnSpc>
                          <a:spcPct val="100000"/>
                        </a:lnSpc>
                        <a:defRPr/>
                      </a:pPr>
                      <a:r>
                        <a:rPr lang="en-US" sz="1300" b="0" i="0" u="none" strike="noStrike">
                          <a:solidFill>
                            <a:srgbClr val="424242"/>
                          </a:solidFill>
                          <a:latin typeface="Noto Sans SC"/>
                          <a:ea typeface="Noto Sans SC"/>
                          <a:cs typeface="Noto Sans SC"/>
                          <a:sym typeface="Noto Sans SC"/>
                        </a:rPr>
                        <a:t>对图像处理效果优异，自动提取特征，减少人工干预</a:t>
                      </a:r>
                      <a:endParaRPr lang="en-US" sz="1100"/>
                    </a:p>
                  </a:txBody>
                  <a:tcPr marL="127000" marR="101600" marT="101600" marB="101600" anchor="t" anchorCtr="0">
                    <a:lnL>
                      <a:noFill/>
                    </a:lnL>
                    <a:lnR>
                      <a:noFill/>
                    </a:lnR>
                    <a:lnT>
                      <a:noFill/>
                    </a:lnT>
                    <a:lnB>
                      <a:noFill/>
                    </a:lnB>
                    <a:solidFill>
                      <a:srgbClr val="FFFFFF">
                        <a:alpha val="100000"/>
                      </a:srgbClr>
                    </a:solidFill>
                  </a:tcPr>
                </a:tc>
                <a:tc>
                  <a:txBody>
                    <a:bodyPr rtlCol="0"/>
                    <a:lstStyle/>
                    <a:p>
                      <a:pPr indent="0" algn="l">
                        <a:lnSpc>
                          <a:spcPct val="100000"/>
                        </a:lnSpc>
                        <a:defRPr/>
                      </a:pPr>
                      <a:r>
                        <a:rPr lang="en-US" sz="1300" b="0" i="0" u="none" strike="noStrike">
                          <a:solidFill>
                            <a:srgbClr val="424242"/>
                          </a:solidFill>
                          <a:latin typeface="Noto Sans SC"/>
                          <a:ea typeface="Noto Sans SC"/>
                          <a:cs typeface="Noto Sans SC"/>
                          <a:sym typeface="Noto Sans SC"/>
                        </a:rPr>
                        <a:t>对计算资源要求高</a:t>
                      </a:r>
                      <a:endParaRPr lang="en-US" sz="1100"/>
                    </a:p>
                  </a:txBody>
                  <a:tcPr marL="127000" marR="101600" marT="101600" marB="101600" anchor="t" anchorCtr="0">
                    <a:lnL>
                      <a:noFill/>
                    </a:lnL>
                    <a:lnR>
                      <a:noFill/>
                    </a:lnR>
                    <a:lnT>
                      <a:noFill/>
                    </a:lnT>
                    <a:lnB>
                      <a:noFill/>
                    </a:lnB>
                    <a:solidFill>
                      <a:srgbClr val="FFFFFF">
                        <a:alpha val="100000"/>
                      </a:srgbClr>
                    </a:solidFill>
                  </a:tcPr>
                </a:tc>
              </a:tr>
              <a:tr h="482600">
                <a:tc>
                  <a:txBody>
                    <a:bodyPr rtlCol="0"/>
                    <a:lstStyle/>
                    <a:p>
                      <a:pPr indent="0" algn="ctr">
                        <a:lnSpc>
                          <a:spcPct val="100000"/>
                        </a:lnSpc>
                        <a:defRPr/>
                      </a:pPr>
                      <a:r>
                        <a:rPr lang="en-US" sz="1400" b="1" i="0" u="none" strike="noStrike">
                          <a:solidFill>
                            <a:srgbClr val="424242"/>
                          </a:solidFill>
                          <a:latin typeface="Noto Sans SC"/>
                          <a:ea typeface="Noto Sans SC"/>
                          <a:cs typeface="Noto Sans SC"/>
                          <a:sym typeface="Noto Sans SC"/>
                        </a:rPr>
                        <a:t>RNN</a:t>
                      </a:r>
                      <a:endParaRPr lang="en-US" sz="1100"/>
                    </a:p>
                  </a:txBody>
                  <a:tcPr marL="101600" marR="101600" marT="101600" marB="101600" anchor="t" anchorCtr="0">
                    <a:lnL>
                      <a:noFill/>
                    </a:lnL>
                    <a:lnR>
                      <a:noFill/>
                    </a:lnR>
                    <a:lnT>
                      <a:noFill/>
                    </a:lnT>
                    <a:lnB>
                      <a:noFill/>
                    </a:lnB>
                    <a:solidFill>
                      <a:srgbClr val="F0F9FF">
                        <a:alpha val="100000"/>
                      </a:srgbClr>
                    </a:solidFill>
                  </a:tcPr>
                </a:tc>
                <a:tc>
                  <a:txBody>
                    <a:bodyPr rtlCol="0"/>
                    <a:lstStyle/>
                    <a:p>
                      <a:pPr indent="0" algn="ctr">
                        <a:lnSpc>
                          <a:spcPct val="100000"/>
                        </a:lnSpc>
                        <a:defRPr/>
                      </a:pPr>
                      <a:r>
                        <a:rPr lang="en-US" sz="1400" b="0" i="0" u="none" strike="noStrike">
                          <a:solidFill>
                            <a:srgbClr val="424242"/>
                          </a:solidFill>
                          <a:latin typeface="Noto Sans SC"/>
                          <a:ea typeface="Noto Sans SC"/>
                          <a:cs typeface="Noto Sans SC"/>
                          <a:sym typeface="Noto Sans SC"/>
                        </a:rPr>
                        <a:t>深度学习算法</a:t>
                      </a:r>
                      <a:endParaRPr lang="en-US" sz="1100"/>
                    </a:p>
                  </a:txBody>
                  <a:tcPr marL="101600" marR="101600" marT="101600" marB="101600" anchor="t" anchorCtr="0">
                    <a:lnL>
                      <a:noFill/>
                    </a:lnL>
                    <a:lnR>
                      <a:noFill/>
                    </a:lnR>
                    <a:lnT>
                      <a:noFill/>
                    </a:lnT>
                    <a:lnB>
                      <a:noFill/>
                    </a:lnB>
                    <a:solidFill>
                      <a:srgbClr val="F0F9FF">
                        <a:alpha val="100000"/>
                      </a:srgbClr>
                    </a:solidFill>
                  </a:tcPr>
                </a:tc>
                <a:tc>
                  <a:txBody>
                    <a:bodyPr rtlCol="0"/>
                    <a:lstStyle/>
                    <a:p>
                      <a:pPr indent="0" algn="l">
                        <a:lnSpc>
                          <a:spcPct val="100000"/>
                        </a:lnSpc>
                        <a:defRPr/>
                      </a:pPr>
                      <a:r>
                        <a:rPr lang="en-US" sz="1300" b="0" i="0" u="none" strike="noStrike">
                          <a:solidFill>
                            <a:srgbClr val="424242"/>
                          </a:solidFill>
                          <a:latin typeface="Noto Sans SC"/>
                          <a:ea typeface="Noto Sans SC"/>
                          <a:cs typeface="Noto Sans SC"/>
                          <a:sym typeface="Noto Sans SC"/>
                        </a:rPr>
                        <a:t>适合处理序列数据，能够记住历史信息</a:t>
                      </a:r>
                      <a:endParaRPr lang="en-US" sz="1100"/>
                    </a:p>
                  </a:txBody>
                  <a:tcPr marL="127000" marR="101600" marT="101600" marB="101600" anchor="t" anchorCtr="0">
                    <a:lnL>
                      <a:noFill/>
                    </a:lnL>
                    <a:lnR>
                      <a:noFill/>
                    </a:lnR>
                    <a:lnT>
                      <a:noFill/>
                    </a:lnT>
                    <a:lnB>
                      <a:noFill/>
                    </a:lnB>
                    <a:solidFill>
                      <a:srgbClr val="F0F9FF">
                        <a:alpha val="100000"/>
                      </a:srgbClr>
                    </a:solidFill>
                  </a:tcPr>
                </a:tc>
                <a:tc>
                  <a:txBody>
                    <a:bodyPr rtlCol="0"/>
                    <a:lstStyle/>
                    <a:p>
                      <a:pPr indent="0" algn="l">
                        <a:lnSpc>
                          <a:spcPct val="100000"/>
                        </a:lnSpc>
                        <a:defRPr/>
                      </a:pPr>
                      <a:r>
                        <a:rPr lang="en-US" sz="1300" b="0" i="0" u="none" strike="noStrike">
                          <a:solidFill>
                            <a:srgbClr val="424242"/>
                          </a:solidFill>
                          <a:latin typeface="Noto Sans SC"/>
                          <a:ea typeface="Noto Sans SC"/>
                          <a:cs typeface="Noto Sans SC"/>
                          <a:sym typeface="Noto Sans SC"/>
                        </a:rPr>
                        <a:t>训练困难，容易出现梯度消失，长时间依赖难以处理</a:t>
                      </a:r>
                      <a:endParaRPr lang="en-US" sz="1100"/>
                    </a:p>
                  </a:txBody>
                  <a:tcPr marL="127000" marR="101600" marT="101600" marB="101600" anchor="t" anchorCtr="0">
                    <a:lnL>
                      <a:noFill/>
                    </a:lnL>
                    <a:lnR>
                      <a:noFill/>
                    </a:lnR>
                    <a:lnT>
                      <a:noFill/>
                    </a:lnT>
                    <a:lnB>
                      <a:noFill/>
                    </a:lnB>
                    <a:solidFill>
                      <a:srgbClr val="F0F9FF">
                        <a:alpha val="100000"/>
                      </a:srgbClr>
                    </a:solidFill>
                  </a:tcPr>
                </a:tc>
              </a:tr>
              <a:tr h="482600">
                <a:tc>
                  <a:txBody>
                    <a:bodyPr rtlCol="0"/>
                    <a:lstStyle/>
                    <a:p>
                      <a:pPr indent="0" algn="ctr">
                        <a:lnSpc>
                          <a:spcPct val="100000"/>
                        </a:lnSpc>
                        <a:defRPr/>
                      </a:pPr>
                      <a:r>
                        <a:rPr lang="en-US" sz="1400" b="1" i="0" u="none" strike="noStrike">
                          <a:solidFill>
                            <a:srgbClr val="424242"/>
                          </a:solidFill>
                          <a:latin typeface="Noto Sans SC"/>
                          <a:ea typeface="Noto Sans SC"/>
                          <a:cs typeface="Noto Sans SC"/>
                          <a:sym typeface="Noto Sans SC"/>
                        </a:rPr>
                        <a:t>LSTM</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indent="0" algn="ctr">
                        <a:lnSpc>
                          <a:spcPct val="100000"/>
                        </a:lnSpc>
                        <a:defRPr/>
                      </a:pPr>
                      <a:r>
                        <a:rPr lang="en-US" sz="1400" b="0" i="0" u="none" strike="noStrike">
                          <a:solidFill>
                            <a:srgbClr val="424242"/>
                          </a:solidFill>
                          <a:latin typeface="Noto Sans SC"/>
                          <a:ea typeface="Noto Sans SC"/>
                          <a:cs typeface="Noto Sans SC"/>
                          <a:sym typeface="Noto Sans SC"/>
                        </a:rPr>
                        <a:t>深度学习算法</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indent="0" algn="l">
                        <a:lnSpc>
                          <a:spcPct val="100000"/>
                        </a:lnSpc>
                        <a:defRPr/>
                      </a:pPr>
                      <a:r>
                        <a:rPr lang="en-US" sz="1300" b="0" i="0" u="none" strike="noStrike">
                          <a:solidFill>
                            <a:srgbClr val="424242"/>
                          </a:solidFill>
                          <a:latin typeface="Noto Sans SC"/>
                          <a:ea typeface="Noto Sans SC"/>
                          <a:cs typeface="Noto Sans SC"/>
                          <a:sym typeface="Noto Sans SC"/>
                        </a:rPr>
                        <a:t>能有效解决长时间依赖问题，对序列数据表现优异</a:t>
                      </a:r>
                      <a:endParaRPr lang="en-US" sz="1100"/>
                    </a:p>
                  </a:txBody>
                  <a:tcPr marL="127000" marR="101600" marT="101600" marB="101600" anchor="t" anchorCtr="0">
                    <a:lnL>
                      <a:noFill/>
                    </a:lnL>
                    <a:lnR>
                      <a:noFill/>
                    </a:lnR>
                    <a:lnT>
                      <a:noFill/>
                    </a:lnT>
                    <a:lnB>
                      <a:noFill/>
                    </a:lnB>
                    <a:solidFill>
                      <a:srgbClr val="FFFFFF">
                        <a:alpha val="100000"/>
                      </a:srgbClr>
                    </a:solidFill>
                  </a:tcPr>
                </a:tc>
                <a:tc>
                  <a:txBody>
                    <a:bodyPr rtlCol="0"/>
                    <a:lstStyle/>
                    <a:p>
                      <a:pPr indent="0" algn="l">
                        <a:lnSpc>
                          <a:spcPct val="100000"/>
                        </a:lnSpc>
                        <a:defRPr/>
                      </a:pPr>
                      <a:r>
                        <a:rPr lang="en-US" sz="1300" b="0" i="0" u="none" strike="noStrike">
                          <a:solidFill>
                            <a:srgbClr val="424242"/>
                          </a:solidFill>
                          <a:latin typeface="Noto Sans SC"/>
                          <a:ea typeface="Noto Sans SC"/>
                          <a:cs typeface="Noto Sans SC"/>
                          <a:sym typeface="Noto Sans SC"/>
                        </a:rPr>
                        <a:t>训练时间长，计算复杂度高</a:t>
                      </a:r>
                      <a:endParaRPr lang="en-US" sz="1100"/>
                    </a:p>
                  </a:txBody>
                  <a:tcPr marL="127000" marR="101600" marT="101600" marB="101600" anchor="t" anchorCtr="0">
                    <a:lnL>
                      <a:noFill/>
                    </a:lnL>
                    <a:lnR>
                      <a:noFill/>
                    </a:lnR>
                    <a:lnT>
                      <a:noFill/>
                    </a:lnT>
                    <a:lnB>
                      <a:noFill/>
                    </a:lnB>
                    <a:solidFill>
                      <a:srgbClr val="FFFFFF">
                        <a:alpha val="100000"/>
                      </a:srgbClr>
                    </a:solidFill>
                  </a:tcPr>
                </a:tc>
              </a:tr>
              <a:tr h="482600">
                <a:tc>
                  <a:txBody>
                    <a:bodyPr rtlCol="0"/>
                    <a:lstStyle/>
                    <a:p>
                      <a:pPr indent="0" algn="ctr">
                        <a:lnSpc>
                          <a:spcPct val="100000"/>
                        </a:lnSpc>
                        <a:defRPr/>
                      </a:pPr>
                      <a:r>
                        <a:rPr lang="en-US" sz="1400" b="1" i="0" u="none" strike="noStrike">
                          <a:solidFill>
                            <a:srgbClr val="424242"/>
                          </a:solidFill>
                          <a:latin typeface="Noto Sans SC"/>
                          <a:ea typeface="Noto Sans SC"/>
                          <a:cs typeface="Noto Sans SC"/>
                          <a:sym typeface="Noto Sans SC"/>
                        </a:rPr>
                        <a:t>Transformer</a:t>
                      </a:r>
                      <a:endParaRPr lang="en-US" sz="1100"/>
                    </a:p>
                  </a:txBody>
                  <a:tcPr marL="101600" marR="101600" marT="101600" marB="101600" anchor="t" anchorCtr="0">
                    <a:lnL>
                      <a:noFill/>
                    </a:lnL>
                    <a:lnR>
                      <a:noFill/>
                    </a:lnR>
                    <a:lnT>
                      <a:noFill/>
                    </a:lnT>
                    <a:lnB>
                      <a:noFill/>
                    </a:lnB>
                    <a:solidFill>
                      <a:srgbClr val="F0F9FF">
                        <a:alpha val="100000"/>
                      </a:srgbClr>
                    </a:solidFill>
                  </a:tcPr>
                </a:tc>
                <a:tc>
                  <a:txBody>
                    <a:bodyPr rtlCol="0"/>
                    <a:lstStyle/>
                    <a:p>
                      <a:pPr indent="0" algn="ctr">
                        <a:lnSpc>
                          <a:spcPct val="100000"/>
                        </a:lnSpc>
                        <a:defRPr/>
                      </a:pPr>
                      <a:r>
                        <a:rPr lang="en-US" sz="1400" b="0" i="0" u="none" strike="noStrike">
                          <a:solidFill>
                            <a:srgbClr val="424242"/>
                          </a:solidFill>
                          <a:latin typeface="Noto Sans SC"/>
                          <a:ea typeface="Noto Sans SC"/>
                          <a:cs typeface="Noto Sans SC"/>
                          <a:sym typeface="Noto Sans SC"/>
                        </a:rPr>
                        <a:t>监督与自监督</a:t>
                      </a:r>
                      <a:endParaRPr lang="en-US" sz="1100"/>
                    </a:p>
                  </a:txBody>
                  <a:tcPr marL="101600" marR="101600" marT="101600" marB="101600" anchor="t" anchorCtr="0">
                    <a:lnL>
                      <a:noFill/>
                    </a:lnL>
                    <a:lnR>
                      <a:noFill/>
                    </a:lnR>
                    <a:lnT>
                      <a:noFill/>
                    </a:lnT>
                    <a:lnB>
                      <a:noFill/>
                    </a:lnB>
                    <a:solidFill>
                      <a:srgbClr val="F0F9FF">
                        <a:alpha val="100000"/>
                      </a:srgbClr>
                    </a:solidFill>
                  </a:tcPr>
                </a:tc>
                <a:tc>
                  <a:txBody>
                    <a:bodyPr rtlCol="0"/>
                    <a:lstStyle/>
                    <a:p>
                      <a:pPr indent="0" algn="l">
                        <a:lnSpc>
                          <a:spcPct val="100000"/>
                        </a:lnSpc>
                        <a:defRPr/>
                      </a:pPr>
                      <a:r>
                        <a:rPr lang="en-US" sz="1300" b="0" i="0" u="none" strike="noStrike">
                          <a:solidFill>
                            <a:srgbClr val="424242"/>
                          </a:solidFill>
                          <a:latin typeface="Noto Sans SC"/>
                          <a:ea typeface="Noto Sans SC"/>
                          <a:cs typeface="Noto Sans SC"/>
                          <a:sym typeface="Noto Sans SC"/>
                        </a:rPr>
                        <a:t>并行计算效率高，可扩展性好，能捕捉长距离依赖</a:t>
                      </a:r>
                      <a:endParaRPr lang="en-US" sz="1100"/>
                    </a:p>
                  </a:txBody>
                  <a:tcPr marL="127000" marR="101600" marT="101600" marB="101600" anchor="t" anchorCtr="0">
                    <a:lnL>
                      <a:noFill/>
                    </a:lnL>
                    <a:lnR>
                      <a:noFill/>
                    </a:lnR>
                    <a:lnT>
                      <a:noFill/>
                    </a:lnT>
                    <a:lnB>
                      <a:noFill/>
                    </a:lnB>
                    <a:solidFill>
                      <a:srgbClr val="F0F9FF">
                        <a:alpha val="100000"/>
                      </a:srgbClr>
                    </a:solidFill>
                  </a:tcPr>
                </a:tc>
                <a:tc>
                  <a:txBody>
                    <a:bodyPr rtlCol="0"/>
                    <a:lstStyle/>
                    <a:p>
                      <a:pPr indent="0" algn="l">
                        <a:lnSpc>
                          <a:spcPct val="100000"/>
                        </a:lnSpc>
                        <a:defRPr/>
                      </a:pPr>
                      <a:r>
                        <a:rPr lang="en-US" sz="1300" b="0" i="0" u="none" strike="noStrike">
                          <a:solidFill>
                            <a:srgbClr val="424242"/>
                          </a:solidFill>
                          <a:latin typeface="Noto Sans SC"/>
                          <a:ea typeface="Noto Sans SC"/>
                          <a:cs typeface="Noto Sans SC"/>
                          <a:sym typeface="Noto Sans SC"/>
                        </a:rPr>
                        <a:t>计算资源要求大，模型解释性差</a:t>
                      </a:r>
                      <a:endParaRPr lang="en-US" sz="1100"/>
                    </a:p>
                  </a:txBody>
                  <a:tcPr marL="127000" marR="101600" marT="101600" marB="101600" anchor="t" anchorCtr="0">
                    <a:lnL>
                      <a:noFill/>
                    </a:lnL>
                    <a:lnR>
                      <a:noFill/>
                    </a:lnR>
                    <a:lnT>
                      <a:noFill/>
                    </a:lnT>
                    <a:lnB>
                      <a:noFill/>
                    </a:lnB>
                    <a:solidFill>
                      <a:srgbClr val="F0F9FF">
                        <a:alpha val="100000"/>
                      </a:srgbClr>
                    </a:solidFill>
                  </a:tcPr>
                </a:tc>
              </a:tr>
              <a:tr h="482600">
                <a:tc>
                  <a:txBody>
                    <a:bodyPr rtlCol="0"/>
                    <a:lstStyle/>
                    <a:p>
                      <a:pPr indent="0" algn="ctr">
                        <a:lnSpc>
                          <a:spcPct val="100000"/>
                        </a:lnSpc>
                        <a:defRPr/>
                      </a:pPr>
                      <a:r>
                        <a:rPr lang="en-US" sz="1400" b="1" i="0" u="none" strike="noStrike">
                          <a:solidFill>
                            <a:srgbClr val="424242"/>
                          </a:solidFill>
                          <a:latin typeface="Noto Sans SC"/>
                          <a:ea typeface="Noto Sans SC"/>
                          <a:cs typeface="Noto Sans SC"/>
                          <a:sym typeface="Noto Sans SC"/>
                        </a:rPr>
                        <a:t>BERT</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indent="0" algn="ctr">
                        <a:lnSpc>
                          <a:spcPct val="100000"/>
                        </a:lnSpc>
                        <a:defRPr/>
                      </a:pPr>
                      <a:r>
                        <a:rPr lang="en-US" sz="1400" b="0" i="0" u="none" strike="noStrike">
                          <a:solidFill>
                            <a:srgbClr val="424242"/>
                          </a:solidFill>
                          <a:latin typeface="Noto Sans SC"/>
                          <a:ea typeface="Noto Sans SC"/>
                          <a:cs typeface="Noto Sans SC"/>
                          <a:sym typeface="Noto Sans SC"/>
                        </a:rPr>
                        <a:t>预训练模型</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indent="0" algn="l">
                        <a:lnSpc>
                          <a:spcPct val="100000"/>
                        </a:lnSpc>
                        <a:defRPr/>
                      </a:pPr>
                      <a:r>
                        <a:rPr lang="en-US" sz="1300" b="0" i="0" u="none" strike="noStrike">
                          <a:solidFill>
                            <a:srgbClr val="424242"/>
                          </a:solidFill>
                          <a:latin typeface="Noto Sans SC"/>
                          <a:ea typeface="Noto Sans SC"/>
                          <a:cs typeface="Noto Sans SC"/>
                          <a:sym typeface="Noto Sans SC"/>
                        </a:rPr>
                        <a:t>双向编码器，能更好地理解上下文</a:t>
                      </a:r>
                      <a:endParaRPr lang="en-US" sz="1100"/>
                    </a:p>
                  </a:txBody>
                  <a:tcPr marL="127000" marR="101600" marT="101600" marB="101600" anchor="t" anchorCtr="0">
                    <a:lnL>
                      <a:noFill/>
                    </a:lnL>
                    <a:lnR>
                      <a:noFill/>
                    </a:lnR>
                    <a:lnT>
                      <a:noFill/>
                    </a:lnT>
                    <a:lnB>
                      <a:noFill/>
                    </a:lnB>
                    <a:solidFill>
                      <a:srgbClr val="FFFFFF">
                        <a:alpha val="100000"/>
                      </a:srgbClr>
                    </a:solidFill>
                  </a:tcPr>
                </a:tc>
                <a:tc>
                  <a:txBody>
                    <a:bodyPr rtlCol="0"/>
                    <a:lstStyle/>
                    <a:p>
                      <a:pPr indent="0" algn="l">
                        <a:lnSpc>
                          <a:spcPct val="100000"/>
                        </a:lnSpc>
                        <a:defRPr/>
                      </a:pPr>
                      <a:r>
                        <a:rPr lang="en-US" sz="1300" b="0" i="0" u="none" strike="noStrike">
                          <a:solidFill>
                            <a:srgbClr val="424242"/>
                          </a:solidFill>
                          <a:latin typeface="Noto Sans SC"/>
                          <a:ea typeface="Noto Sans SC"/>
                          <a:cs typeface="Noto Sans SC"/>
                          <a:sym typeface="Noto Sans SC"/>
                        </a:rPr>
                        <a:t>训练时间长，对计算资源要求高</a:t>
                      </a:r>
                      <a:endParaRPr lang="en-US" sz="1100"/>
                    </a:p>
                  </a:txBody>
                  <a:tcPr marL="127000" marR="101600" marT="101600" marB="101600" anchor="t" anchorCtr="0">
                    <a:lnL>
                      <a:noFill/>
                    </a:lnL>
                    <a:lnR>
                      <a:noFill/>
                    </a:lnR>
                    <a:lnT>
                      <a:noFill/>
                    </a:lnT>
                    <a:lnB>
                      <a:noFill/>
                    </a:lnB>
                    <a:solidFill>
                      <a:srgbClr val="FFFFFF">
                        <a:alpha val="100000"/>
                      </a:srgbClr>
                    </a:solidFill>
                  </a:tcPr>
                </a:tc>
              </a:tr>
              <a:tr h="482600">
                <a:tc>
                  <a:txBody>
                    <a:bodyPr rtlCol="0"/>
                    <a:lstStyle/>
                    <a:p>
                      <a:pPr indent="0" algn="ctr">
                        <a:lnSpc>
                          <a:spcPct val="100000"/>
                        </a:lnSpc>
                        <a:defRPr/>
                      </a:pPr>
                      <a:r>
                        <a:rPr lang="en-US" sz="1400" b="1" i="0" u="none" strike="noStrike">
                          <a:solidFill>
                            <a:srgbClr val="424242"/>
                          </a:solidFill>
                          <a:latin typeface="Noto Sans SC"/>
                          <a:ea typeface="Noto Sans SC"/>
                          <a:cs typeface="Noto Sans SC"/>
                          <a:sym typeface="Noto Sans SC"/>
                        </a:rPr>
                        <a:t>T5</a:t>
                      </a:r>
                      <a:endParaRPr lang="en-US" sz="1100"/>
                    </a:p>
                  </a:txBody>
                  <a:tcPr marL="101600" marR="101600" marT="101600" marB="101600" anchor="t" anchorCtr="0">
                    <a:lnL>
                      <a:noFill/>
                    </a:lnL>
                    <a:lnR>
                      <a:noFill/>
                    </a:lnR>
                    <a:lnT>
                      <a:noFill/>
                    </a:lnT>
                    <a:lnB>
                      <a:noFill/>
                    </a:lnB>
                    <a:solidFill>
                      <a:srgbClr val="F0F9FF">
                        <a:alpha val="100000"/>
                      </a:srgbClr>
                    </a:solidFill>
                  </a:tcPr>
                </a:tc>
                <a:tc>
                  <a:txBody>
                    <a:bodyPr rtlCol="0"/>
                    <a:lstStyle/>
                    <a:p>
                      <a:pPr indent="0" algn="ctr">
                        <a:lnSpc>
                          <a:spcPct val="100000"/>
                        </a:lnSpc>
                        <a:defRPr/>
                      </a:pPr>
                      <a:r>
                        <a:rPr lang="en-US" sz="1400" b="0" i="0" u="none" strike="noStrike">
                          <a:solidFill>
                            <a:srgbClr val="424242"/>
                          </a:solidFill>
                          <a:latin typeface="Noto Sans SC"/>
                          <a:ea typeface="Noto Sans SC"/>
                          <a:cs typeface="Noto Sans SC"/>
                          <a:sym typeface="Noto Sans SC"/>
                        </a:rPr>
                        <a:t>预训练模型</a:t>
                      </a:r>
                      <a:endParaRPr lang="en-US" sz="1100"/>
                    </a:p>
                  </a:txBody>
                  <a:tcPr marL="101600" marR="101600" marT="101600" marB="101600" anchor="t" anchorCtr="0">
                    <a:lnL>
                      <a:noFill/>
                    </a:lnL>
                    <a:lnR>
                      <a:noFill/>
                    </a:lnR>
                    <a:lnT>
                      <a:noFill/>
                    </a:lnT>
                    <a:lnB>
                      <a:noFill/>
                    </a:lnB>
                    <a:solidFill>
                      <a:srgbClr val="F0F9FF">
                        <a:alpha val="100000"/>
                      </a:srgbClr>
                    </a:solidFill>
                  </a:tcPr>
                </a:tc>
                <a:tc>
                  <a:txBody>
                    <a:bodyPr rtlCol="0"/>
                    <a:lstStyle/>
                    <a:p>
                      <a:pPr indent="0" algn="l">
                        <a:lnSpc>
                          <a:spcPct val="100000"/>
                        </a:lnSpc>
                        <a:defRPr/>
                      </a:pPr>
                      <a:r>
                        <a:rPr lang="en-US" sz="1300" b="0" i="0" u="none" strike="noStrike">
                          <a:solidFill>
                            <a:srgbClr val="424242"/>
                          </a:solidFill>
                          <a:latin typeface="Noto Sans SC"/>
                          <a:ea typeface="Noto Sans SC"/>
                          <a:cs typeface="Noto Sans SC"/>
                          <a:sym typeface="Noto Sans SC"/>
                        </a:rPr>
                        <a:t>基于转换器架构，灵活性高，能处理多种文本生成任务</a:t>
                      </a:r>
                      <a:endParaRPr lang="en-US" sz="1100"/>
                    </a:p>
                  </a:txBody>
                  <a:tcPr marL="127000" marR="101600" marT="101600" marB="101600" anchor="t" anchorCtr="0">
                    <a:lnL>
                      <a:noFill/>
                    </a:lnL>
                    <a:lnR>
                      <a:noFill/>
                    </a:lnR>
                    <a:lnT>
                      <a:noFill/>
                    </a:lnT>
                    <a:lnB>
                      <a:noFill/>
                    </a:lnB>
                    <a:solidFill>
                      <a:srgbClr val="F0F9FF">
                        <a:alpha val="100000"/>
                      </a:srgbClr>
                    </a:solidFill>
                  </a:tcPr>
                </a:tc>
                <a:tc>
                  <a:txBody>
                    <a:bodyPr rtlCol="0"/>
                    <a:lstStyle/>
                    <a:p>
                      <a:pPr indent="0" algn="l">
                        <a:lnSpc>
                          <a:spcPct val="100000"/>
                        </a:lnSpc>
                        <a:defRPr/>
                      </a:pPr>
                      <a:r>
                        <a:rPr lang="en-US" sz="1300" b="0" i="0" u="none" strike="noStrike">
                          <a:solidFill>
                            <a:srgbClr val="424242"/>
                          </a:solidFill>
                          <a:latin typeface="Noto Sans SC"/>
                          <a:ea typeface="Noto Sans SC"/>
                          <a:cs typeface="Noto Sans SC"/>
                          <a:sym typeface="Noto Sans SC"/>
                        </a:rPr>
                        <a:t>对计算资源要求高，需要大量训练数据</a:t>
                      </a:r>
                      <a:endParaRPr lang="en-US" sz="1100"/>
                    </a:p>
                  </a:txBody>
                  <a:tcPr marL="127000" marR="101600" marT="101600" marB="101600" anchor="t" anchorCtr="0">
                    <a:lnL>
                      <a:noFill/>
                    </a:lnL>
                    <a:lnR>
                      <a:noFill/>
                    </a:lnR>
                    <a:lnT>
                      <a:noFill/>
                    </a:lnT>
                    <a:lnB>
                      <a:noFill/>
                    </a:lnB>
                    <a:solidFill>
                      <a:srgbClr val="F0F9FF">
                        <a:alpha val="100000"/>
                      </a:srgbClr>
                    </a:solidFill>
                  </a:tcPr>
                </a:tc>
              </a:tr>
              <a:tr h="482600">
                <a:tc>
                  <a:txBody>
                    <a:bodyPr rtlCol="0"/>
                    <a:lstStyle/>
                    <a:p>
                      <a:pPr indent="0" algn="ctr">
                        <a:lnSpc>
                          <a:spcPct val="100000"/>
                        </a:lnSpc>
                        <a:defRPr/>
                      </a:pPr>
                      <a:r>
                        <a:rPr lang="en-US" sz="1400" b="1" i="0" u="none" strike="noStrike">
                          <a:solidFill>
                            <a:srgbClr val="424242"/>
                          </a:solidFill>
                          <a:latin typeface="Noto Sans SC"/>
                          <a:ea typeface="Noto Sans SC"/>
                          <a:cs typeface="Noto Sans SC"/>
                          <a:sym typeface="Noto Sans SC"/>
                        </a:rPr>
                        <a:t>GPT系列</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indent="0" algn="ctr">
                        <a:lnSpc>
                          <a:spcPct val="100000"/>
                        </a:lnSpc>
                        <a:defRPr/>
                      </a:pPr>
                      <a:r>
                        <a:rPr lang="en-US" sz="1400" b="0" i="0" u="none" strike="noStrike">
                          <a:solidFill>
                            <a:srgbClr val="424242"/>
                          </a:solidFill>
                          <a:latin typeface="Noto Sans SC"/>
                          <a:ea typeface="Noto Sans SC"/>
                          <a:cs typeface="Noto Sans SC"/>
                          <a:sym typeface="Noto Sans SC"/>
                        </a:rPr>
                        <a:t>预训练模型</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indent="0" algn="l">
                        <a:lnSpc>
                          <a:spcPct val="100000"/>
                        </a:lnSpc>
                        <a:defRPr/>
                      </a:pPr>
                      <a:r>
                        <a:rPr lang="en-US" sz="1300" b="0" i="0" u="none" strike="noStrike">
                          <a:solidFill>
                            <a:srgbClr val="424242"/>
                          </a:solidFill>
                          <a:latin typeface="Noto Sans SC"/>
                          <a:ea typeface="Noto Sans SC"/>
                          <a:cs typeface="Noto Sans SC"/>
                          <a:sym typeface="Noto Sans SC"/>
                        </a:rPr>
                        <a:t>内容生成能力强，适合对话系统，能处理多种任务</a:t>
                      </a:r>
                      <a:endParaRPr lang="en-US" sz="1100"/>
                    </a:p>
                  </a:txBody>
                  <a:tcPr marL="127000" marR="101600" marT="101600" marB="101600" anchor="t" anchorCtr="0">
                    <a:lnL>
                      <a:noFill/>
                    </a:lnL>
                    <a:lnR>
                      <a:noFill/>
                    </a:lnR>
                    <a:lnT>
                      <a:noFill/>
                    </a:lnT>
                    <a:lnB>
                      <a:noFill/>
                    </a:lnB>
                    <a:solidFill>
                      <a:srgbClr val="FFFFFF">
                        <a:alpha val="100000"/>
                      </a:srgbClr>
                    </a:solidFill>
                  </a:tcPr>
                </a:tc>
                <a:tc>
                  <a:txBody>
                    <a:bodyPr rtlCol="0"/>
                    <a:lstStyle/>
                    <a:p>
                      <a:pPr indent="0" algn="l">
                        <a:lnSpc>
                          <a:spcPct val="100000"/>
                        </a:lnSpc>
                        <a:defRPr/>
                      </a:pPr>
                      <a:r>
                        <a:rPr lang="en-US" sz="1300" b="0" i="0" u="none" strike="noStrike">
                          <a:solidFill>
                            <a:srgbClr val="424242"/>
                          </a:solidFill>
                          <a:latin typeface="Noto Sans SC"/>
                          <a:ea typeface="Noto Sans SC"/>
                          <a:cs typeface="Noto Sans SC"/>
                          <a:sym typeface="Noto Sans SC"/>
                        </a:rPr>
                        <a:t>训练资源需求极高，存在幻觉问题</a:t>
                      </a:r>
                      <a:endParaRPr lang="en-US" sz="1100"/>
                    </a:p>
                  </a:txBody>
                  <a:tcPr marL="127000" marR="101600" marT="101600" marB="101600" anchor="t" anchorCtr="0">
                    <a:lnL>
                      <a:noFill/>
                    </a:lnL>
                    <a:lnR>
                      <a:noFill/>
                    </a:lnR>
                    <a:lnT>
                      <a:noFill/>
                    </a:lnT>
                    <a:lnB>
                      <a:noFill/>
                    </a:lnB>
                    <a:solidFill>
                      <a:srgbClr val="FFFFFF">
                        <a:alpha val="100000"/>
                      </a:srgbClr>
                    </a:solidFill>
                  </a:tcPr>
                </a:tc>
              </a:tr>
            </a:tbl>
          </a:graphicData>
        </a:graphic>
      </p:graphicFrame>
      <p:sp>
        <p:nvSpPr>
          <p:cNvPr id="5" name="AutoShape 5"/>
          <p:cNvSpPr/>
          <p:nvPr/>
        </p:nvSpPr>
        <p:spPr>
          <a:xfrm>
            <a:off x="762000" y="6096000"/>
            <a:ext cx="10668000" cy="508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2743200" y="508000"/>
            <a:ext cx="6705600" cy="508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200" b="1" i="0" u="none" strike="noStrike">
                <a:solidFill>
                  <a:srgbClr val="0288D1"/>
                </a:solidFill>
                <a:latin typeface="Noto Sans SC"/>
                <a:ea typeface="Noto Sans SC"/>
                <a:cs typeface="Noto Sans SC"/>
                <a:sym typeface="Noto Sans SC"/>
              </a:rPr>
              <a:t>13.1.3 文本分类的发展与挑战</a:t>
            </a:r>
            <a:endParaRPr lang="en-US" sz="1100"/>
          </a:p>
        </p:txBody>
      </p:sp>
      <p:sp>
        <p:nvSpPr>
          <p:cNvPr id="3" name="AutoShape 3"/>
          <p:cNvSpPr/>
          <p:nvPr/>
        </p:nvSpPr>
        <p:spPr>
          <a:xfrm>
            <a:off x="762000" y="1397000"/>
            <a:ext cx="5080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79500" y="1714500"/>
            <a:ext cx="406400" cy="406400"/>
          </a:xfrm>
          <a:prstGeom prst="rect">
            <a:avLst/>
          </a:prstGeom>
        </p:spPr>
      </p:pic>
      <p:sp>
        <p:nvSpPr>
          <p:cNvPr id="5" name="AutoShape 5"/>
          <p:cNvSpPr/>
          <p:nvPr/>
        </p:nvSpPr>
        <p:spPr>
          <a:xfrm>
            <a:off x="1587500" y="16764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发展趋势：多模态融合</a:t>
            </a:r>
            <a:endParaRPr lang="en-US" sz="1100"/>
          </a:p>
        </p:txBody>
      </p:sp>
      <p:sp>
        <p:nvSpPr>
          <p:cNvPr id="6" name="AutoShape 6"/>
          <p:cNvSpPr/>
          <p:nvPr/>
        </p:nvSpPr>
        <p:spPr>
          <a:xfrm>
            <a:off x="1079500" y="2222500"/>
            <a:ext cx="4445000" cy="1905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600" b="1" i="0" u="none" strike="noStrike">
                <a:solidFill>
                  <a:srgbClr val="424242"/>
                </a:solidFill>
                <a:latin typeface="Noto Sans SC"/>
                <a:ea typeface="Noto Sans SC"/>
                <a:cs typeface="Noto Sans SC"/>
                <a:sym typeface="Noto Sans SC"/>
              </a:rPr>
              <a:t>多模态文本分类</a:t>
            </a:r>
            <a:endParaRPr lang="en-US" sz="1100"/>
          </a:p>
          <a:p>
            <a:pPr indent="0" algn="l">
              <a:lnSpc>
                <a:spcPct val="117000"/>
              </a:lnSpc>
            </a:pPr>
            <a:r>
              <a:rPr lang="en-US" sz="1400" b="0" i="0" u="none" strike="noStrike">
                <a:solidFill>
                  <a:srgbClr val="616161"/>
                </a:solidFill>
                <a:latin typeface="Noto Sans SC"/>
                <a:ea typeface="Noto Sans SC"/>
                <a:cs typeface="Noto Sans SC"/>
                <a:sym typeface="Noto Sans SC"/>
              </a:rPr>
              <a:t>将文本数据与图像、音频、视频等多种模态数据深度结合，利用多源信息互补，显著提高分类任务的准确性和鲁棒性。</a:t>
            </a:r>
            <a:endParaRPr lang="en-US" sz="1400" b="0" i="0" u="none" strike="noStrike">
              <a:solidFill>
                <a:srgbClr val="616161"/>
              </a:solidFill>
              <a:latin typeface="Noto Sans SC"/>
              <a:ea typeface="Noto Sans SC"/>
              <a:cs typeface="Noto Sans SC"/>
              <a:sym typeface="Noto Sans SC"/>
            </a:endParaRPr>
          </a:p>
        </p:txBody>
      </p:sp>
      <p:sp>
        <p:nvSpPr>
          <p:cNvPr id="7" name="AutoShape 7"/>
          <p:cNvSpPr/>
          <p:nvPr/>
        </p:nvSpPr>
        <p:spPr>
          <a:xfrm>
            <a:off x="6350000" y="1397000"/>
            <a:ext cx="5080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67500" y="1714500"/>
            <a:ext cx="406400" cy="406400"/>
          </a:xfrm>
          <a:prstGeom prst="rect">
            <a:avLst/>
          </a:prstGeom>
        </p:spPr>
      </p:pic>
      <p:sp>
        <p:nvSpPr>
          <p:cNvPr id="9" name="AutoShape 9"/>
          <p:cNvSpPr/>
          <p:nvPr/>
        </p:nvSpPr>
        <p:spPr>
          <a:xfrm>
            <a:off x="7175500" y="16764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面临挑战：可解释性与黑箱</a:t>
            </a:r>
            <a:endParaRPr lang="en-US" sz="1100"/>
          </a:p>
        </p:txBody>
      </p:sp>
      <p:sp>
        <p:nvSpPr>
          <p:cNvPr id="10" name="AutoShape 10"/>
          <p:cNvSpPr/>
          <p:nvPr/>
        </p:nvSpPr>
        <p:spPr>
          <a:xfrm>
            <a:off x="6667500" y="2222500"/>
            <a:ext cx="4445000" cy="1905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600" b="1" i="0" u="none" strike="noStrike">
                <a:solidFill>
                  <a:srgbClr val="424242"/>
                </a:solidFill>
                <a:latin typeface="Noto Sans SC"/>
                <a:ea typeface="Noto Sans SC"/>
                <a:cs typeface="Noto Sans SC"/>
                <a:sym typeface="Noto Sans SC"/>
              </a:rPr>
              <a:t>模型可解释性不足</a:t>
            </a:r>
            <a:endParaRPr lang="en-US" sz="1100"/>
          </a:p>
          <a:p>
            <a:pPr indent="0" algn="l">
              <a:lnSpc>
                <a:spcPct val="117000"/>
              </a:lnSpc>
            </a:pPr>
            <a:r>
              <a:rPr lang="en-US" sz="1400" b="0" i="0" u="none" strike="noStrike">
                <a:solidFill>
                  <a:srgbClr val="616161"/>
                </a:solidFill>
                <a:latin typeface="Noto Sans SC"/>
                <a:ea typeface="Noto Sans SC"/>
                <a:cs typeface="Noto Sans SC"/>
                <a:sym typeface="Noto Sans SC"/>
              </a:rPr>
              <a:t>大语言模型决策过程呈“黑箱”特性，内部工作机制不透明，难以理解其判断依据，影响了模型在高可靠性场景中的应用。</a:t>
            </a:r>
            <a:endParaRPr lang="en-US" sz="1400" b="0" i="0" u="none" strike="noStrike">
              <a:solidFill>
                <a:srgbClr val="616161"/>
              </a:solidFill>
              <a:latin typeface="Noto Sans SC"/>
              <a:ea typeface="Noto Sans SC"/>
              <a:cs typeface="Noto Sans SC"/>
              <a:sym typeface="Noto Sans SC"/>
            </a:endParaRPr>
          </a:p>
        </p:txBody>
      </p:sp>
      <p:sp>
        <p:nvSpPr>
          <p:cNvPr id="11" name="AutoShape 11"/>
          <p:cNvSpPr/>
          <p:nvPr/>
        </p:nvSpPr>
        <p:spPr>
          <a:xfrm>
            <a:off x="762000" y="4699000"/>
            <a:ext cx="10668000" cy="1270000"/>
          </a:xfrm>
          <a:prstGeom prst="roundRect">
            <a:avLst>
              <a:gd name="adj" fmla="val 10000"/>
            </a:avLst>
          </a:prstGeom>
          <a:solidFill>
            <a:srgbClr val="0288D1">
              <a:alpha val="10000"/>
            </a:srgbClr>
          </a:solidFill>
          <a:ln w="12700" cap="flat" cmpd="sng">
            <a:solidFill>
              <a:srgbClr val="0288D1">
                <a:alpha val="100000"/>
              </a:srgbClr>
            </a:solidFill>
            <a:prstDash val="dash"/>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79500" y="5016500"/>
            <a:ext cx="508000" cy="508000"/>
          </a:xfrm>
          <a:prstGeom prst="rect">
            <a:avLst/>
          </a:prstGeom>
        </p:spPr>
      </p:pic>
      <p:sp>
        <p:nvSpPr>
          <p:cNvPr id="13" name="AutoShape 13"/>
          <p:cNvSpPr/>
          <p:nvPr/>
        </p:nvSpPr>
        <p:spPr>
          <a:xfrm>
            <a:off x="1778000" y="4889500"/>
            <a:ext cx="9398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500" b="1" i="0" u="none" strike="noStrike">
                <a:solidFill>
                  <a:srgbClr val="424242"/>
                </a:solidFill>
                <a:latin typeface="Noto Sans SC"/>
                <a:ea typeface="Noto Sans SC"/>
                <a:cs typeface="Noto Sans SC"/>
                <a:sym typeface="Noto Sans SC"/>
              </a:rPr>
              <a:t>总结：</a:t>
            </a:r>
            <a:r>
              <a:rPr lang="en-US" sz="1500" b="0" i="0" u="none" strike="noStrike">
                <a:solidFill>
                  <a:srgbClr val="424242"/>
                </a:solidFill>
                <a:latin typeface="Noto Sans SC"/>
                <a:ea typeface="Noto Sans SC"/>
                <a:cs typeface="Noto Sans SC"/>
                <a:sym typeface="Noto Sans SC"/>
              </a:rPr>
              <a:t>未来文本分类技术将在多模态融合的道路上持续演进，同时，攻克模型可解释性难题，打破“黑箱”限制，建立用户信任，将是推动技术落地应用的关键。</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传统机器学习 &amp; 神经网络文本分类流程</a:t>
            </a:r>
            <a:endParaRPr lang="en-US" sz="1100"/>
          </a:p>
        </p:txBody>
      </p:sp>
      <p:pic>
        <p:nvPicPr>
          <p:cNvPr id="3" name="Picture 3"/>
          <p:cNvPicPr>
            <a:picLocks noChangeAspect="1"/>
          </p:cNvPicPr>
          <p:nvPr/>
        </p:nvPicPr>
        <p:blipFill>
          <a:blip r:embed="rId1"/>
          <a:srcRect l="60" r="60"/>
          <a:stretch>
            <a:fillRect/>
          </a:stretch>
        </p:blipFill>
        <p:spPr>
          <a:xfrm>
            <a:off x="2286000" y="1270000"/>
            <a:ext cx="7620000" cy="2959100"/>
          </a:xfrm>
          <a:prstGeom prst="roundRect">
            <a:avLst>
              <a:gd name="adj" fmla="val 4291"/>
            </a:avLst>
          </a:prstGeom>
          <a:noFill/>
          <a:ln w="50800" cap="flat" cmpd="sng">
            <a:solidFill>
              <a:srgbClr val="FFFFFF">
                <a:alpha val="100000"/>
              </a:srgbClr>
            </a:solidFill>
            <a:prstDash val="solid"/>
            <a:round/>
          </a:ln>
          <a:effectLst>
            <a:outerShdw blurRad="127000" dist="50800" dir="5400000" algn="tl" rotWithShape="0">
              <a:srgbClr val="000000">
                <a:alpha val="15000"/>
              </a:srgbClr>
            </a:outerShdw>
          </a:effectLst>
        </p:spPr>
      </p:pic>
      <p:sp>
        <p:nvSpPr>
          <p:cNvPr id="4" name="AutoShape 4"/>
          <p:cNvSpPr/>
          <p:nvPr/>
        </p:nvSpPr>
        <p:spPr>
          <a:xfrm>
            <a:off x="762000" y="4445000"/>
            <a:ext cx="2032000" cy="1524000"/>
          </a:xfrm>
          <a:prstGeom prst="roundRect">
            <a:avLst>
              <a:gd name="adj" fmla="val 8333"/>
            </a:avLst>
          </a:prstGeom>
          <a:solidFill>
            <a:srgbClr val="FFFFFF">
              <a:alpha val="100000"/>
            </a:srgbClr>
          </a:solidFill>
          <a:ln w="25400" cap="flat" cmpd="sng">
            <a:noFill/>
            <a:prstDash val="solid"/>
            <a:round/>
          </a:ln>
          <a:effectLst>
            <a:outerShdw blurRad="101600" dist="25400" dir="5400000" algn="tl" rotWithShape="0">
              <a:srgbClr val="0288D1">
                <a:alpha val="10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98600" y="4635500"/>
            <a:ext cx="558800" cy="558800"/>
          </a:xfrm>
          <a:prstGeom prst="rect">
            <a:avLst/>
          </a:prstGeom>
        </p:spPr>
      </p:pic>
      <p:sp>
        <p:nvSpPr>
          <p:cNvPr id="6" name="AutoShape 6"/>
          <p:cNvSpPr/>
          <p:nvPr/>
        </p:nvSpPr>
        <p:spPr>
          <a:xfrm>
            <a:off x="762000" y="5270500"/>
            <a:ext cx="203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424242"/>
                </a:solidFill>
                <a:latin typeface="Noto Sans SC"/>
                <a:ea typeface="Noto Sans SC"/>
                <a:cs typeface="Noto Sans SC"/>
                <a:sym typeface="Noto Sans SC"/>
              </a:rPr>
              <a:t>数据收集</a:t>
            </a:r>
            <a:endParaRPr lang="en-US" sz="1100"/>
          </a:p>
          <a:p>
            <a:pPr indent="0" algn="ctr">
              <a:lnSpc>
                <a:spcPct val="125000"/>
              </a:lnSpc>
            </a:pPr>
            <a:r>
              <a:rPr lang="en-US" sz="1200" b="0" i="0" u="none" strike="noStrike">
                <a:solidFill>
                  <a:srgbClr val="757575"/>
                </a:solidFill>
                <a:latin typeface="Noto Sans SC"/>
                <a:ea typeface="Noto Sans SC"/>
                <a:cs typeface="Noto Sans SC"/>
                <a:sym typeface="Noto Sans SC"/>
              </a:rPr>
              <a:t>获取原始文本数据</a:t>
            </a:r>
            <a:endParaRPr lang="en-US" sz="1200" b="0" i="0" u="none" strike="noStrike">
              <a:solidFill>
                <a:srgbClr val="757575"/>
              </a:solidFill>
              <a:latin typeface="Noto Sans SC"/>
              <a:ea typeface="Noto Sans SC"/>
              <a:cs typeface="Noto Sans SC"/>
              <a:sym typeface="Noto Sans SC"/>
            </a:endParaRPr>
          </a:p>
        </p:txBody>
      </p:sp>
      <p:sp>
        <p:nvSpPr>
          <p:cNvPr id="7" name="AutoShape 7"/>
          <p:cNvSpPr/>
          <p:nvPr/>
        </p:nvSpPr>
        <p:spPr>
          <a:xfrm>
            <a:off x="2997200" y="4445000"/>
            <a:ext cx="2032000" cy="1524000"/>
          </a:xfrm>
          <a:prstGeom prst="roundRect">
            <a:avLst>
              <a:gd name="adj" fmla="val 8333"/>
            </a:avLst>
          </a:prstGeom>
          <a:solidFill>
            <a:srgbClr val="FFFFFF">
              <a:alpha val="100000"/>
            </a:srgbClr>
          </a:solidFill>
          <a:ln w="25400" cap="flat" cmpd="sng">
            <a:noFill/>
            <a:prstDash val="solid"/>
            <a:round/>
          </a:ln>
          <a:effectLst>
            <a:outerShdw blurRad="101600" dist="25400" dir="5400000" algn="tl" rotWithShape="0">
              <a:srgbClr val="0288D1">
                <a:alpha val="10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33800" y="4635500"/>
            <a:ext cx="558800" cy="558800"/>
          </a:xfrm>
          <a:prstGeom prst="rect">
            <a:avLst/>
          </a:prstGeom>
        </p:spPr>
      </p:pic>
      <p:sp>
        <p:nvSpPr>
          <p:cNvPr id="9" name="AutoShape 9"/>
          <p:cNvSpPr/>
          <p:nvPr/>
        </p:nvSpPr>
        <p:spPr>
          <a:xfrm>
            <a:off x="2997200" y="5270500"/>
            <a:ext cx="203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424242"/>
                </a:solidFill>
                <a:latin typeface="Noto Sans SC"/>
                <a:ea typeface="Noto Sans SC"/>
                <a:cs typeface="Noto Sans SC"/>
                <a:sym typeface="Noto Sans SC"/>
              </a:rPr>
              <a:t>数据预处理</a:t>
            </a:r>
            <a:endParaRPr lang="en-US" sz="1100"/>
          </a:p>
          <a:p>
            <a:pPr indent="0" algn="ctr">
              <a:lnSpc>
                <a:spcPct val="125000"/>
              </a:lnSpc>
            </a:pPr>
            <a:r>
              <a:rPr lang="en-US" sz="1200" b="0" i="0" u="none" strike="noStrike">
                <a:solidFill>
                  <a:srgbClr val="757575"/>
                </a:solidFill>
                <a:latin typeface="Noto Sans SC"/>
                <a:ea typeface="Noto Sans SC"/>
                <a:cs typeface="Noto Sans SC"/>
                <a:sym typeface="Noto Sans SC"/>
              </a:rPr>
              <a:t>标记化/去噪/清洗</a:t>
            </a:r>
            <a:endParaRPr lang="en-US" sz="1200" b="0" i="0" u="none" strike="noStrike">
              <a:solidFill>
                <a:srgbClr val="757575"/>
              </a:solidFill>
              <a:latin typeface="Noto Sans SC"/>
              <a:ea typeface="Noto Sans SC"/>
              <a:cs typeface="Noto Sans SC"/>
              <a:sym typeface="Noto Sans SC"/>
            </a:endParaRPr>
          </a:p>
        </p:txBody>
      </p:sp>
      <p:sp>
        <p:nvSpPr>
          <p:cNvPr id="10" name="AutoShape 10"/>
          <p:cNvSpPr/>
          <p:nvPr/>
        </p:nvSpPr>
        <p:spPr>
          <a:xfrm>
            <a:off x="5232400" y="4445000"/>
            <a:ext cx="2032000" cy="1524000"/>
          </a:xfrm>
          <a:prstGeom prst="roundRect">
            <a:avLst>
              <a:gd name="adj" fmla="val 8333"/>
            </a:avLst>
          </a:prstGeom>
          <a:solidFill>
            <a:srgbClr val="FFFFFF">
              <a:alpha val="100000"/>
            </a:srgbClr>
          </a:solidFill>
          <a:ln w="25400" cap="flat" cmpd="sng">
            <a:noFill/>
            <a:prstDash val="solid"/>
            <a:round/>
          </a:ln>
          <a:effectLst>
            <a:outerShdw blurRad="101600" dist="25400" dir="5400000" algn="tl" rotWithShape="0">
              <a:srgbClr val="0288D1">
                <a:alpha val="10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969000" y="4635500"/>
            <a:ext cx="558800" cy="558800"/>
          </a:xfrm>
          <a:prstGeom prst="rect">
            <a:avLst/>
          </a:prstGeom>
        </p:spPr>
      </p:pic>
      <p:sp>
        <p:nvSpPr>
          <p:cNvPr id="12" name="AutoShape 12"/>
          <p:cNvSpPr/>
          <p:nvPr/>
        </p:nvSpPr>
        <p:spPr>
          <a:xfrm>
            <a:off x="5232400" y="5270500"/>
            <a:ext cx="203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424242"/>
                </a:solidFill>
                <a:latin typeface="Noto Sans SC"/>
                <a:ea typeface="Noto Sans SC"/>
                <a:cs typeface="Noto Sans SC"/>
                <a:sym typeface="Noto Sans SC"/>
              </a:rPr>
              <a:t>特征提取</a:t>
            </a:r>
            <a:endParaRPr lang="en-US" sz="1100"/>
          </a:p>
          <a:p>
            <a:pPr indent="0" algn="ctr">
              <a:lnSpc>
                <a:spcPct val="125000"/>
              </a:lnSpc>
            </a:pPr>
            <a:r>
              <a:rPr lang="en-US" sz="1200" b="0" i="0" u="none" strike="noStrike">
                <a:solidFill>
                  <a:srgbClr val="757575"/>
                </a:solidFill>
                <a:latin typeface="Noto Sans SC"/>
                <a:ea typeface="Noto Sans SC"/>
                <a:cs typeface="Noto Sans SC"/>
                <a:sym typeface="Noto Sans SC"/>
              </a:rPr>
              <a:t>TF-IDF/词嵌入等</a:t>
            </a:r>
            <a:endParaRPr lang="en-US" sz="1200" b="0" i="0" u="none" strike="noStrike">
              <a:solidFill>
                <a:srgbClr val="757575"/>
              </a:solidFill>
              <a:latin typeface="Noto Sans SC"/>
              <a:ea typeface="Noto Sans SC"/>
              <a:cs typeface="Noto Sans SC"/>
              <a:sym typeface="Noto Sans SC"/>
            </a:endParaRPr>
          </a:p>
        </p:txBody>
      </p:sp>
      <p:sp>
        <p:nvSpPr>
          <p:cNvPr id="13" name="AutoShape 13"/>
          <p:cNvSpPr/>
          <p:nvPr/>
        </p:nvSpPr>
        <p:spPr>
          <a:xfrm>
            <a:off x="7467600" y="4445000"/>
            <a:ext cx="2032000" cy="1524000"/>
          </a:xfrm>
          <a:prstGeom prst="roundRect">
            <a:avLst>
              <a:gd name="adj" fmla="val 8333"/>
            </a:avLst>
          </a:prstGeom>
          <a:solidFill>
            <a:srgbClr val="FFFFFF">
              <a:alpha val="100000"/>
            </a:srgbClr>
          </a:solidFill>
          <a:ln w="25400" cap="flat" cmpd="sng">
            <a:noFill/>
            <a:prstDash val="solid"/>
            <a:round/>
          </a:ln>
          <a:effectLst>
            <a:outerShdw blurRad="101600" dist="25400" dir="5400000" algn="tl" rotWithShape="0">
              <a:srgbClr val="0288D1">
                <a:alpha val="10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204200" y="4635500"/>
            <a:ext cx="558800" cy="558800"/>
          </a:xfrm>
          <a:prstGeom prst="rect">
            <a:avLst/>
          </a:prstGeom>
        </p:spPr>
      </p:pic>
      <p:sp>
        <p:nvSpPr>
          <p:cNvPr id="15" name="AutoShape 15"/>
          <p:cNvSpPr/>
          <p:nvPr/>
        </p:nvSpPr>
        <p:spPr>
          <a:xfrm>
            <a:off x="7467600" y="5270500"/>
            <a:ext cx="203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424242"/>
                </a:solidFill>
                <a:latin typeface="Noto Sans SC"/>
                <a:ea typeface="Noto Sans SC"/>
                <a:cs typeface="Noto Sans SC"/>
                <a:sym typeface="Noto Sans SC"/>
              </a:rPr>
              <a:t>模型训练与评估</a:t>
            </a:r>
            <a:endParaRPr lang="en-US" sz="1100"/>
          </a:p>
          <a:p>
            <a:pPr indent="0" algn="ctr">
              <a:lnSpc>
                <a:spcPct val="125000"/>
              </a:lnSpc>
            </a:pPr>
            <a:r>
              <a:rPr lang="en-US" sz="1200" b="0" i="0" u="none" strike="noStrike">
                <a:solidFill>
                  <a:srgbClr val="757575"/>
                </a:solidFill>
                <a:latin typeface="Noto Sans SC"/>
                <a:ea typeface="Noto Sans SC"/>
                <a:cs typeface="Noto Sans SC"/>
                <a:sym typeface="Noto Sans SC"/>
              </a:rPr>
              <a:t>算法训练与性能调优</a:t>
            </a:r>
            <a:endParaRPr lang="en-US" sz="1200" b="0" i="0" u="none" strike="noStrike">
              <a:solidFill>
                <a:srgbClr val="757575"/>
              </a:solidFill>
              <a:latin typeface="Noto Sans SC"/>
              <a:ea typeface="Noto Sans SC"/>
              <a:cs typeface="Noto Sans SC"/>
              <a:sym typeface="Noto Sans SC"/>
            </a:endParaRPr>
          </a:p>
        </p:txBody>
      </p:sp>
      <p:sp>
        <p:nvSpPr>
          <p:cNvPr id="16" name="AutoShape 16"/>
          <p:cNvSpPr/>
          <p:nvPr/>
        </p:nvSpPr>
        <p:spPr>
          <a:xfrm>
            <a:off x="9702800" y="4445000"/>
            <a:ext cx="1727200" cy="1524000"/>
          </a:xfrm>
          <a:prstGeom prst="roundRect">
            <a:avLst>
              <a:gd name="adj" fmla="val 8333"/>
            </a:avLst>
          </a:prstGeom>
          <a:solidFill>
            <a:srgbClr val="FFFFFF">
              <a:alpha val="100000"/>
            </a:srgbClr>
          </a:solidFill>
          <a:ln w="25400" cap="flat" cmpd="sng">
            <a:noFill/>
            <a:prstDash val="solid"/>
            <a:round/>
          </a:ln>
          <a:effectLst>
            <a:outerShdw blurRad="101600" dist="25400" dir="5400000" algn="tl" rotWithShape="0">
              <a:srgbClr val="0288D1">
                <a:alpha val="10000"/>
              </a:srgbClr>
            </a:outerShdw>
          </a:effectLst>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287000" y="4635500"/>
            <a:ext cx="558800" cy="558800"/>
          </a:xfrm>
          <a:prstGeom prst="rect">
            <a:avLst/>
          </a:prstGeom>
        </p:spPr>
      </p:pic>
      <p:sp>
        <p:nvSpPr>
          <p:cNvPr id="18" name="AutoShape 18"/>
          <p:cNvSpPr/>
          <p:nvPr/>
        </p:nvSpPr>
        <p:spPr>
          <a:xfrm>
            <a:off x="9702800" y="5270500"/>
            <a:ext cx="17272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424242"/>
                </a:solidFill>
                <a:latin typeface="Noto Sans SC"/>
                <a:ea typeface="Noto Sans SC"/>
                <a:cs typeface="Noto Sans SC"/>
                <a:sym typeface="Noto Sans SC"/>
              </a:rPr>
              <a:t>推理</a:t>
            </a:r>
            <a:endParaRPr lang="en-US" sz="1100"/>
          </a:p>
          <a:p>
            <a:pPr indent="0" algn="ctr">
              <a:lnSpc>
                <a:spcPct val="125000"/>
              </a:lnSpc>
            </a:pPr>
            <a:r>
              <a:rPr lang="en-US" sz="1200" b="0" i="0" u="none" strike="noStrike">
                <a:solidFill>
                  <a:srgbClr val="757575"/>
                </a:solidFill>
                <a:latin typeface="Noto Sans SC"/>
                <a:ea typeface="Noto Sans SC"/>
                <a:cs typeface="Noto Sans SC"/>
                <a:sym typeface="Noto Sans SC"/>
              </a:rPr>
              <a:t>输出分类结果</a:t>
            </a:r>
            <a:endParaRPr lang="en-US" sz="1200" b="0" i="0" u="none" strike="noStrike">
              <a:solidFill>
                <a:srgbClr val="757575"/>
              </a:solidFill>
              <a:latin typeface="Noto Sans SC"/>
              <a:ea typeface="Noto Sans SC"/>
              <a:cs typeface="Noto Sans SC"/>
              <a:sym typeface="Noto Sans SC"/>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58166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大语言模型的文本分类流程</a:t>
            </a:r>
            <a:endParaRPr lang="en-US" sz="1100"/>
          </a:p>
        </p:txBody>
      </p:sp>
      <p:pic>
        <p:nvPicPr>
          <p:cNvPr id="3" name="Picture 3"/>
          <p:cNvPicPr>
            <a:picLocks noChangeAspect="1"/>
          </p:cNvPicPr>
          <p:nvPr/>
        </p:nvPicPr>
        <p:blipFill>
          <a:blip r:embed="rId1"/>
          <a:srcRect t="18" b="18"/>
          <a:stretch>
            <a:fillRect/>
          </a:stretch>
        </p:blipFill>
        <p:spPr>
          <a:xfrm>
            <a:off x="3606800" y="1270000"/>
            <a:ext cx="4978400" cy="1270000"/>
          </a:xfrm>
          <a:prstGeom prst="roundRect">
            <a:avLst>
              <a:gd name="adj" fmla="val 10000"/>
            </a:avLst>
          </a:prstGeom>
          <a:noFill/>
          <a:ln w="25400" cap="flat" cmpd="sng">
            <a:noFill/>
            <a:prstDash val="solid"/>
            <a:round/>
          </a:ln>
          <a:effectLst>
            <a:outerShdw blurRad="127000" dist="50800" dir="5400000" algn="tl" rotWithShape="0">
              <a:srgbClr val="000000">
                <a:alpha val="10000"/>
              </a:srgbClr>
            </a:outerShdw>
          </a:effectLst>
        </p:spPr>
      </p:pic>
      <p:sp>
        <p:nvSpPr>
          <p:cNvPr id="4" name="AutoShape 4"/>
          <p:cNvSpPr/>
          <p:nvPr/>
        </p:nvSpPr>
        <p:spPr>
          <a:xfrm>
            <a:off x="762000" y="2921000"/>
            <a:ext cx="3302000" cy="2286000"/>
          </a:xfrm>
          <a:prstGeom prst="roundRect">
            <a:avLst>
              <a:gd name="adj" fmla="val 5555"/>
            </a:avLst>
          </a:prstGeom>
          <a:solidFill>
            <a:srgbClr val="FFFFFF">
              <a:alpha val="100000"/>
            </a:srgbClr>
          </a:solidFill>
          <a:ln w="25400" cap="flat" cmpd="sng">
            <a:noFill/>
            <a:prstDash val="solid"/>
            <a:round/>
          </a:ln>
          <a:effectLst>
            <a:outerShdw blurRad="190500" dist="101600" dir="5400000" algn="tl" rotWithShape="0">
              <a:srgbClr val="0288D1">
                <a:alpha val="1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95500" y="3111500"/>
            <a:ext cx="609600" cy="609600"/>
          </a:xfrm>
          <a:prstGeom prst="rect">
            <a:avLst/>
          </a:prstGeom>
        </p:spPr>
      </p:pic>
      <p:sp>
        <p:nvSpPr>
          <p:cNvPr id="6" name="AutoShape 6"/>
          <p:cNvSpPr/>
          <p:nvPr/>
        </p:nvSpPr>
        <p:spPr>
          <a:xfrm>
            <a:off x="889000" y="3810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288D1"/>
                </a:solidFill>
                <a:latin typeface="Noto Sans SC"/>
                <a:ea typeface="Noto Sans SC"/>
                <a:cs typeface="Noto Sans SC"/>
                <a:sym typeface="Noto Sans SC"/>
              </a:rPr>
              <a:t>设计提示词 (Prompt)</a:t>
            </a:r>
            <a:endParaRPr lang="en-US" sz="1100"/>
          </a:p>
        </p:txBody>
      </p:sp>
      <p:sp>
        <p:nvSpPr>
          <p:cNvPr id="7" name="AutoShape 7"/>
          <p:cNvSpPr/>
          <p:nvPr/>
        </p:nvSpPr>
        <p:spPr>
          <a:xfrm>
            <a:off x="952500" y="4254500"/>
            <a:ext cx="2921000" cy="762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400" b="0" i="0" u="none" strike="noStrike">
                <a:solidFill>
                  <a:srgbClr val="424242"/>
                </a:solidFill>
                <a:latin typeface="Noto Sans SC"/>
                <a:ea typeface="Noto Sans SC"/>
                <a:cs typeface="Noto Sans SC"/>
                <a:sym typeface="Noto Sans SC"/>
              </a:rPr>
              <a:t>将分类任务描述为一个自然语言指令，明确告知模型分类目标和要求。</a:t>
            </a:r>
            <a:endParaRPr lang="en-US" sz="1100"/>
          </a:p>
        </p:txBody>
      </p:sp>
      <p:sp>
        <p:nvSpPr>
          <p:cNvPr id="8" name="AutoShape 8"/>
          <p:cNvSpPr/>
          <p:nvPr/>
        </p:nvSpPr>
        <p:spPr>
          <a:xfrm>
            <a:off x="4445000" y="2921000"/>
            <a:ext cx="3302000" cy="2286000"/>
          </a:xfrm>
          <a:prstGeom prst="roundRect">
            <a:avLst>
              <a:gd name="adj" fmla="val 5555"/>
            </a:avLst>
          </a:prstGeom>
          <a:solidFill>
            <a:srgbClr val="FFFFFF">
              <a:alpha val="100000"/>
            </a:srgbClr>
          </a:solidFill>
          <a:ln w="25400" cap="flat" cmpd="sng">
            <a:noFill/>
            <a:prstDash val="solid"/>
            <a:round/>
          </a:ln>
          <a:effectLst>
            <a:outerShdw blurRad="190500" dist="101600" dir="5400000" algn="tl" rotWithShape="0">
              <a:srgbClr val="0288D1">
                <a:alpha val="1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78500" y="3111500"/>
            <a:ext cx="609600" cy="609600"/>
          </a:xfrm>
          <a:prstGeom prst="rect">
            <a:avLst/>
          </a:prstGeom>
        </p:spPr>
      </p:pic>
      <p:sp>
        <p:nvSpPr>
          <p:cNvPr id="10" name="AutoShape 10"/>
          <p:cNvSpPr/>
          <p:nvPr/>
        </p:nvSpPr>
        <p:spPr>
          <a:xfrm>
            <a:off x="4572000" y="3810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288D1"/>
                </a:solidFill>
                <a:latin typeface="Noto Sans SC"/>
                <a:ea typeface="Noto Sans SC"/>
                <a:cs typeface="Noto Sans SC"/>
                <a:sym typeface="Noto Sans SC"/>
              </a:rPr>
              <a:t>输入大语言模型</a:t>
            </a:r>
            <a:endParaRPr lang="en-US" sz="1100"/>
          </a:p>
        </p:txBody>
      </p:sp>
      <p:sp>
        <p:nvSpPr>
          <p:cNvPr id="11" name="AutoShape 11"/>
          <p:cNvSpPr/>
          <p:nvPr/>
        </p:nvSpPr>
        <p:spPr>
          <a:xfrm>
            <a:off x="4635500" y="4254500"/>
            <a:ext cx="2921000" cy="762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400" b="0" i="0" u="none" strike="noStrike">
                <a:solidFill>
                  <a:srgbClr val="424242"/>
                </a:solidFill>
                <a:latin typeface="Noto Sans SC"/>
                <a:ea typeface="Noto Sans SC"/>
                <a:cs typeface="Noto Sans SC"/>
                <a:sym typeface="Noto Sans SC"/>
              </a:rPr>
              <a:t>将设计好的提示词与待分类的原始文本一起，直接输入预训练的大语言模型。</a:t>
            </a:r>
            <a:endParaRPr lang="en-US" sz="1100"/>
          </a:p>
        </p:txBody>
      </p:sp>
      <p:sp>
        <p:nvSpPr>
          <p:cNvPr id="12" name="AutoShape 12"/>
          <p:cNvSpPr/>
          <p:nvPr/>
        </p:nvSpPr>
        <p:spPr>
          <a:xfrm>
            <a:off x="8128000" y="2921000"/>
            <a:ext cx="3302000" cy="2286000"/>
          </a:xfrm>
          <a:prstGeom prst="roundRect">
            <a:avLst>
              <a:gd name="adj" fmla="val 5555"/>
            </a:avLst>
          </a:prstGeom>
          <a:solidFill>
            <a:srgbClr val="FFFFFF">
              <a:alpha val="100000"/>
            </a:srgbClr>
          </a:solidFill>
          <a:ln w="25400" cap="flat" cmpd="sng">
            <a:noFill/>
            <a:prstDash val="solid"/>
            <a:round/>
          </a:ln>
          <a:effectLst>
            <a:outerShdw blurRad="190500" dist="101600" dir="5400000" algn="tl" rotWithShape="0">
              <a:srgbClr val="0288D1">
                <a:alpha val="15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461500" y="3111500"/>
            <a:ext cx="609600" cy="609600"/>
          </a:xfrm>
          <a:prstGeom prst="rect">
            <a:avLst/>
          </a:prstGeom>
        </p:spPr>
      </p:pic>
      <p:sp>
        <p:nvSpPr>
          <p:cNvPr id="14" name="AutoShape 14"/>
          <p:cNvSpPr/>
          <p:nvPr/>
        </p:nvSpPr>
        <p:spPr>
          <a:xfrm>
            <a:off x="8255000" y="3810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288D1"/>
                </a:solidFill>
                <a:latin typeface="Noto Sans SC"/>
                <a:ea typeface="Noto Sans SC"/>
                <a:cs typeface="Noto Sans SC"/>
                <a:sym typeface="Noto Sans SC"/>
              </a:rPr>
              <a:t>返回分类结果</a:t>
            </a:r>
            <a:endParaRPr lang="en-US" sz="1100"/>
          </a:p>
        </p:txBody>
      </p:sp>
      <p:sp>
        <p:nvSpPr>
          <p:cNvPr id="15" name="AutoShape 15"/>
          <p:cNvSpPr/>
          <p:nvPr/>
        </p:nvSpPr>
        <p:spPr>
          <a:xfrm>
            <a:off x="8318500" y="4254500"/>
            <a:ext cx="2921000" cy="762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400" b="0" i="0" u="none" strike="noStrike">
                <a:solidFill>
                  <a:srgbClr val="424242"/>
                </a:solidFill>
                <a:latin typeface="Noto Sans SC"/>
                <a:ea typeface="Noto Sans SC"/>
                <a:cs typeface="Noto Sans SC"/>
                <a:sym typeface="Noto Sans SC"/>
              </a:rPr>
              <a:t>模型基于上下文理解和指令遵循能力，直接输出准确的分类标签或结果。</a:t>
            </a:r>
            <a:endParaRPr lang="en-US" sz="1100"/>
          </a:p>
        </p:txBody>
      </p:sp>
      <p:sp>
        <p:nvSpPr>
          <p:cNvPr id="16" name="AutoShape 16"/>
          <p:cNvSpPr/>
          <p:nvPr/>
        </p:nvSpPr>
        <p:spPr>
          <a:xfrm>
            <a:off x="762000" y="5588000"/>
            <a:ext cx="1066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1" u="none" strike="noStrike">
                <a:solidFill>
                  <a:srgbClr val="424242"/>
                </a:solidFill>
                <a:latin typeface="Noto Sans SC"/>
                <a:ea typeface="Noto Sans SC"/>
                <a:cs typeface="Noto Sans SC"/>
                <a:sym typeface="Noto Sans SC"/>
              </a:rPr>
              <a:t>“大语言模型极大地简化了传统分类流程，省去了繁琐的特征工程，降低了使用门槛。”</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508000"/>
            <a:ext cx="12192000" cy="508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200" b="1" i="0" u="none" strike="noStrike">
                <a:solidFill>
                  <a:srgbClr val="0288D1"/>
                </a:solidFill>
                <a:latin typeface="Noto Sans SC"/>
                <a:ea typeface="Noto Sans SC"/>
                <a:cs typeface="Noto Sans SC"/>
                <a:sym typeface="Noto Sans SC"/>
              </a:rPr>
              <a:t>13.2 文本分类器的训练过程</a:t>
            </a:r>
            <a:endParaRPr lang="en-US" sz="1100"/>
          </a:p>
        </p:txBody>
      </p:sp>
      <p:sp>
        <p:nvSpPr>
          <p:cNvPr id="3" name="AutoShape 3"/>
          <p:cNvSpPr/>
          <p:nvPr/>
        </p:nvSpPr>
        <p:spPr>
          <a:xfrm>
            <a:off x="1651000" y="1143000"/>
            <a:ext cx="889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424242"/>
                </a:solidFill>
                <a:latin typeface="Noto Sans SC"/>
                <a:ea typeface="Noto Sans SC"/>
                <a:cs typeface="Noto Sans SC"/>
                <a:sym typeface="Noto Sans SC"/>
              </a:rPr>
              <a:t>从传统分类器训练，到提示词少样本学习，以及预训练模型的微调，介绍不同场景下的选择与应用。</a:t>
            </a:r>
            <a:endParaRPr lang="en-US" sz="1100"/>
          </a:p>
        </p:txBody>
      </p:sp>
      <p:sp>
        <p:nvSpPr>
          <p:cNvPr id="4" name="AutoShape 4"/>
          <p:cNvSpPr/>
          <p:nvPr/>
        </p:nvSpPr>
        <p:spPr>
          <a:xfrm>
            <a:off x="1016000" y="2032000"/>
            <a:ext cx="3048000" cy="2794000"/>
          </a:xfrm>
          <a:prstGeom prst="roundRect">
            <a:avLst>
              <a:gd name="adj" fmla="val 4545"/>
            </a:avLst>
          </a:prstGeom>
          <a:solidFill>
            <a:srgbClr val="FFFFFF">
              <a:alpha val="100000"/>
            </a:srgbClr>
          </a:solidFill>
          <a:ln w="25400" cap="flat" cmpd="sng">
            <a:noFill/>
            <a:prstDash val="solid"/>
            <a:round/>
          </a:ln>
          <a:effectLst>
            <a:outerShdw blurRad="190500" dist="101600" dir="5400000" algn="tl" rotWithShape="0">
              <a:srgbClr val="0288D1">
                <a:alpha val="1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222500" y="2286000"/>
            <a:ext cx="635000" cy="635000"/>
          </a:xfrm>
          <a:prstGeom prst="rect">
            <a:avLst/>
          </a:prstGeom>
        </p:spPr>
      </p:pic>
      <p:sp>
        <p:nvSpPr>
          <p:cNvPr id="6" name="AutoShape 6"/>
          <p:cNvSpPr/>
          <p:nvPr/>
        </p:nvSpPr>
        <p:spPr>
          <a:xfrm>
            <a:off x="1143000" y="30480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288D1"/>
                </a:solidFill>
                <a:latin typeface="Noto Sans SC"/>
                <a:ea typeface="Noto Sans SC"/>
                <a:cs typeface="Noto Sans SC"/>
                <a:sym typeface="Noto Sans SC"/>
              </a:rPr>
              <a:t>传统分类器训练</a:t>
            </a:r>
            <a:endParaRPr lang="en-US" sz="1100"/>
          </a:p>
        </p:txBody>
      </p:sp>
      <p:sp>
        <p:nvSpPr>
          <p:cNvPr id="7" name="AutoShape 7"/>
          <p:cNvSpPr/>
          <p:nvPr/>
        </p:nvSpPr>
        <p:spPr>
          <a:xfrm>
            <a:off x="1270000" y="3556000"/>
            <a:ext cx="2540000" cy="10160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400" b="0" i="0" u="none" strike="noStrike">
                <a:solidFill>
                  <a:srgbClr val="616161"/>
                </a:solidFill>
                <a:latin typeface="Noto Sans SC"/>
                <a:ea typeface="Noto Sans SC"/>
                <a:cs typeface="Noto Sans SC"/>
                <a:sym typeface="Noto Sans SC"/>
              </a:rPr>
              <a:t>基于特征工程提取文本特征，使用SVM、LR等算法进行监督训练，适用于数据充足场景。</a:t>
            </a:r>
            <a:endParaRPr lang="en-US" sz="1100"/>
          </a:p>
        </p:txBody>
      </p:sp>
      <p:sp>
        <p:nvSpPr>
          <p:cNvPr id="8" name="AutoShape 8"/>
          <p:cNvSpPr/>
          <p:nvPr/>
        </p:nvSpPr>
        <p:spPr>
          <a:xfrm>
            <a:off x="4572000" y="2032000"/>
            <a:ext cx="3048000" cy="2794000"/>
          </a:xfrm>
          <a:prstGeom prst="roundRect">
            <a:avLst>
              <a:gd name="adj" fmla="val 4545"/>
            </a:avLst>
          </a:prstGeom>
          <a:solidFill>
            <a:srgbClr val="FFFFFF">
              <a:alpha val="100000"/>
            </a:srgbClr>
          </a:solidFill>
          <a:ln w="25400" cap="flat" cmpd="sng">
            <a:noFill/>
            <a:prstDash val="solid"/>
            <a:round/>
          </a:ln>
          <a:effectLst>
            <a:outerShdw blurRad="190500" dist="101600" dir="5400000" algn="tl" rotWithShape="0">
              <a:srgbClr val="0288D1">
                <a:alpha val="1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78500" y="2286000"/>
            <a:ext cx="635000" cy="635000"/>
          </a:xfrm>
          <a:prstGeom prst="rect">
            <a:avLst/>
          </a:prstGeom>
        </p:spPr>
      </p:pic>
      <p:sp>
        <p:nvSpPr>
          <p:cNvPr id="10" name="AutoShape 10"/>
          <p:cNvSpPr/>
          <p:nvPr/>
        </p:nvSpPr>
        <p:spPr>
          <a:xfrm>
            <a:off x="4699000" y="30480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288D1"/>
                </a:solidFill>
                <a:latin typeface="Noto Sans SC"/>
                <a:ea typeface="Noto Sans SC"/>
                <a:cs typeface="Noto Sans SC"/>
                <a:sym typeface="Noto Sans SC"/>
              </a:rPr>
              <a:t>提示词少样本学习</a:t>
            </a:r>
            <a:endParaRPr lang="en-US" sz="1100"/>
          </a:p>
        </p:txBody>
      </p:sp>
      <p:sp>
        <p:nvSpPr>
          <p:cNvPr id="11" name="AutoShape 11"/>
          <p:cNvSpPr/>
          <p:nvPr/>
        </p:nvSpPr>
        <p:spPr>
          <a:xfrm>
            <a:off x="4826000" y="3556000"/>
            <a:ext cx="2540000" cy="10160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400" b="0" i="0" u="none" strike="noStrike">
                <a:solidFill>
                  <a:srgbClr val="616161"/>
                </a:solidFill>
                <a:latin typeface="Noto Sans SC"/>
                <a:ea typeface="Noto Sans SC"/>
                <a:cs typeface="Noto Sans SC"/>
                <a:sym typeface="Noto Sans SC"/>
              </a:rPr>
              <a:t>利用大语言模型的上下文理解能力，通过构造Prompt，在少量样本下实现高效分类。</a:t>
            </a:r>
            <a:endParaRPr lang="en-US" sz="1100"/>
          </a:p>
        </p:txBody>
      </p:sp>
      <p:sp>
        <p:nvSpPr>
          <p:cNvPr id="12" name="AutoShape 12"/>
          <p:cNvSpPr/>
          <p:nvPr/>
        </p:nvSpPr>
        <p:spPr>
          <a:xfrm>
            <a:off x="8128000" y="2032000"/>
            <a:ext cx="3048000" cy="2794000"/>
          </a:xfrm>
          <a:prstGeom prst="roundRect">
            <a:avLst>
              <a:gd name="adj" fmla="val 4545"/>
            </a:avLst>
          </a:prstGeom>
          <a:solidFill>
            <a:srgbClr val="FFFFFF">
              <a:alpha val="100000"/>
            </a:srgbClr>
          </a:solidFill>
          <a:ln w="25400" cap="flat" cmpd="sng">
            <a:noFill/>
            <a:prstDash val="solid"/>
            <a:round/>
          </a:ln>
          <a:effectLst>
            <a:outerShdw blurRad="190500" dist="101600" dir="5400000" algn="tl" rotWithShape="0">
              <a:srgbClr val="0288D1">
                <a:alpha val="15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334500" y="2286000"/>
            <a:ext cx="635000" cy="635000"/>
          </a:xfrm>
          <a:prstGeom prst="rect">
            <a:avLst/>
          </a:prstGeom>
        </p:spPr>
      </p:pic>
      <p:sp>
        <p:nvSpPr>
          <p:cNvPr id="14" name="AutoShape 14"/>
          <p:cNvSpPr/>
          <p:nvPr/>
        </p:nvSpPr>
        <p:spPr>
          <a:xfrm>
            <a:off x="8255000" y="30480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288D1"/>
                </a:solidFill>
                <a:latin typeface="Noto Sans SC"/>
                <a:ea typeface="Noto Sans SC"/>
                <a:cs typeface="Noto Sans SC"/>
                <a:sym typeface="Noto Sans SC"/>
              </a:rPr>
              <a:t>预训练模型微调</a:t>
            </a:r>
            <a:endParaRPr lang="en-US" sz="1100"/>
          </a:p>
        </p:txBody>
      </p:sp>
      <p:sp>
        <p:nvSpPr>
          <p:cNvPr id="15" name="AutoShape 15"/>
          <p:cNvSpPr/>
          <p:nvPr/>
        </p:nvSpPr>
        <p:spPr>
          <a:xfrm>
            <a:off x="8382000" y="3556000"/>
            <a:ext cx="2540000" cy="10160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400" b="0" i="0" u="none" strike="noStrike">
                <a:solidFill>
                  <a:srgbClr val="616161"/>
                </a:solidFill>
                <a:latin typeface="Noto Sans SC"/>
                <a:ea typeface="Noto Sans SC"/>
                <a:cs typeface="Noto Sans SC"/>
                <a:sym typeface="Noto Sans SC"/>
              </a:rPr>
              <a:t>基于BERT等预训练模型，在特定任务数据上进行二次训练，兼顾通用性与任务适配性。</a:t>
            </a:r>
            <a:endParaRPr lang="en-US" sz="1100"/>
          </a:p>
        </p:txBody>
      </p:sp>
      <p:sp>
        <p:nvSpPr>
          <p:cNvPr id="16" name="AutoShape 16"/>
          <p:cNvSpPr/>
          <p:nvPr/>
        </p:nvSpPr>
        <p:spPr>
          <a:xfrm>
            <a:off x="1016000" y="5207000"/>
            <a:ext cx="10160000" cy="762000"/>
          </a:xfrm>
          <a:prstGeom prst="roundRect">
            <a:avLst>
              <a:gd name="adj" fmla="val 16666"/>
            </a:avLst>
          </a:prstGeom>
          <a:solidFill>
            <a:srgbClr val="0288D1">
              <a:alpha val="10000"/>
            </a:srgbClr>
          </a:solidFill>
          <a:ln w="12700" cap="flat" cmpd="sng">
            <a:solidFill>
              <a:srgbClr val="0288D1">
                <a:alpha val="10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1270000" y="5334000"/>
            <a:ext cx="965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500" b="1" i="0" u="none" strike="noStrike">
                <a:solidFill>
                  <a:srgbClr val="0288D1"/>
                </a:solidFill>
                <a:latin typeface="Noto Sans SC"/>
                <a:ea typeface="Noto Sans SC"/>
                <a:cs typeface="Noto Sans SC"/>
                <a:sym typeface="Noto Sans SC"/>
              </a:rPr>
              <a:t>核心策略：</a:t>
            </a:r>
            <a:r>
              <a:rPr lang="en-US" sz="1500" b="0" i="0" u="none" strike="noStrike">
                <a:solidFill>
                  <a:srgbClr val="424242"/>
                </a:solidFill>
                <a:latin typeface="Noto Sans SC"/>
                <a:ea typeface="Noto Sans SC"/>
                <a:cs typeface="Noto Sans SC"/>
                <a:sym typeface="Noto Sans SC"/>
              </a:rPr>
              <a:t>根据数据量大小、计算资源和任务需求，灵活选择最适合的训练范式。</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62611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13.2.1 传统分类器的训练</a:t>
            </a:r>
            <a:endParaRPr lang="en-US" sz="1100"/>
          </a:p>
        </p:txBody>
      </p:sp>
      <p:sp>
        <p:nvSpPr>
          <p:cNvPr id="3" name="AutoShape 3"/>
          <p:cNvSpPr/>
          <p:nvPr/>
        </p:nvSpPr>
        <p:spPr>
          <a:xfrm>
            <a:off x="762000" y="1397000"/>
            <a:ext cx="10668000" cy="762000"/>
          </a:xfrm>
          <a:prstGeom prst="roundRect">
            <a:avLst>
              <a:gd name="adj" fmla="val 16666"/>
            </a:avLst>
          </a:prstGeom>
          <a:solidFill>
            <a:srgbClr val="FFFFFF">
              <a:alpha val="100000"/>
            </a:srgbClr>
          </a:solidFill>
          <a:ln w="25400" cap="flat" cmpd="sng">
            <a:noFill/>
            <a:prstDash val="solid"/>
            <a:round/>
          </a:ln>
          <a:effectLst>
            <a:outerShdw blurRad="1016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549400"/>
            <a:ext cx="457200" cy="457200"/>
          </a:xfrm>
          <a:prstGeom prst="rect">
            <a:avLst/>
          </a:prstGeom>
        </p:spPr>
      </p:pic>
      <p:sp>
        <p:nvSpPr>
          <p:cNvPr id="5" name="AutoShape 5"/>
          <p:cNvSpPr/>
          <p:nvPr/>
        </p:nvSpPr>
        <p:spPr>
          <a:xfrm>
            <a:off x="1651000" y="1498600"/>
            <a:ext cx="190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准备数据集</a:t>
            </a:r>
            <a:endParaRPr lang="en-US" sz="1100"/>
          </a:p>
        </p:txBody>
      </p:sp>
      <p:sp>
        <p:nvSpPr>
          <p:cNvPr id="6" name="AutoShape 6"/>
          <p:cNvSpPr/>
          <p:nvPr/>
        </p:nvSpPr>
        <p:spPr>
          <a:xfrm>
            <a:off x="3683000" y="1524000"/>
            <a:ext cx="7493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424242"/>
                </a:solidFill>
                <a:latin typeface="Noto Sans SC"/>
                <a:ea typeface="Noto Sans SC"/>
                <a:cs typeface="Noto Sans SC"/>
                <a:sym typeface="Noto Sans SC"/>
              </a:rPr>
              <a:t>收集并整理带有标签的文本数据，确保数据质量与标注准确性。</a:t>
            </a:r>
            <a:endParaRPr lang="en-US" sz="1100"/>
          </a:p>
        </p:txBody>
      </p:sp>
      <p:sp>
        <p:nvSpPr>
          <p:cNvPr id="7" name="AutoShape 7"/>
          <p:cNvSpPr/>
          <p:nvPr/>
        </p:nvSpPr>
        <p:spPr>
          <a:xfrm>
            <a:off x="762000" y="2286000"/>
            <a:ext cx="10668000" cy="762000"/>
          </a:xfrm>
          <a:prstGeom prst="roundRect">
            <a:avLst>
              <a:gd name="adj" fmla="val 16666"/>
            </a:avLst>
          </a:prstGeom>
          <a:solidFill>
            <a:srgbClr val="FFFFFF">
              <a:alpha val="100000"/>
            </a:srgbClr>
          </a:solidFill>
          <a:ln w="25400" cap="flat" cmpd="sng">
            <a:noFill/>
            <a:prstDash val="solid"/>
            <a:round/>
          </a:ln>
          <a:effectLst>
            <a:outerShdw blurRad="1016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438400"/>
            <a:ext cx="457200" cy="457200"/>
          </a:xfrm>
          <a:prstGeom prst="rect">
            <a:avLst/>
          </a:prstGeom>
        </p:spPr>
      </p:pic>
      <p:sp>
        <p:nvSpPr>
          <p:cNvPr id="9" name="AutoShape 9"/>
          <p:cNvSpPr/>
          <p:nvPr/>
        </p:nvSpPr>
        <p:spPr>
          <a:xfrm>
            <a:off x="1651000" y="2387600"/>
            <a:ext cx="190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数据预处理</a:t>
            </a:r>
            <a:endParaRPr lang="en-US" sz="1100"/>
          </a:p>
        </p:txBody>
      </p:sp>
      <p:sp>
        <p:nvSpPr>
          <p:cNvPr id="10" name="AutoShape 10"/>
          <p:cNvSpPr/>
          <p:nvPr/>
        </p:nvSpPr>
        <p:spPr>
          <a:xfrm>
            <a:off x="3683000" y="2413000"/>
            <a:ext cx="7493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424242"/>
                </a:solidFill>
                <a:latin typeface="Noto Sans SC"/>
                <a:ea typeface="Noto Sans SC"/>
                <a:cs typeface="Noto Sans SC"/>
                <a:sym typeface="Noto Sans SC"/>
              </a:rPr>
              <a:t>对原始文本进行清洗、分词、去停用词等操作，降低噪声干扰。</a:t>
            </a:r>
            <a:endParaRPr lang="en-US" sz="1100"/>
          </a:p>
        </p:txBody>
      </p:sp>
      <p:sp>
        <p:nvSpPr>
          <p:cNvPr id="11" name="AutoShape 11"/>
          <p:cNvSpPr/>
          <p:nvPr/>
        </p:nvSpPr>
        <p:spPr>
          <a:xfrm>
            <a:off x="762000" y="3175000"/>
            <a:ext cx="10668000" cy="762000"/>
          </a:xfrm>
          <a:prstGeom prst="roundRect">
            <a:avLst>
              <a:gd name="adj" fmla="val 16666"/>
            </a:avLst>
          </a:prstGeom>
          <a:solidFill>
            <a:srgbClr val="FFFFFF">
              <a:alpha val="100000"/>
            </a:srgbClr>
          </a:solidFill>
          <a:ln w="25400" cap="flat" cmpd="sng">
            <a:noFill/>
            <a:prstDash val="solid"/>
            <a:round/>
          </a:ln>
          <a:effectLst>
            <a:outerShdw blurRad="1016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3327400"/>
            <a:ext cx="457200" cy="457200"/>
          </a:xfrm>
          <a:prstGeom prst="rect">
            <a:avLst/>
          </a:prstGeom>
        </p:spPr>
      </p:pic>
      <p:sp>
        <p:nvSpPr>
          <p:cNvPr id="13" name="AutoShape 13"/>
          <p:cNvSpPr/>
          <p:nvPr/>
        </p:nvSpPr>
        <p:spPr>
          <a:xfrm>
            <a:off x="1651000" y="3276600"/>
            <a:ext cx="190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特征工程</a:t>
            </a:r>
            <a:endParaRPr lang="en-US" sz="1100"/>
          </a:p>
        </p:txBody>
      </p:sp>
      <p:sp>
        <p:nvSpPr>
          <p:cNvPr id="14" name="AutoShape 14"/>
          <p:cNvSpPr/>
          <p:nvPr/>
        </p:nvSpPr>
        <p:spPr>
          <a:xfrm>
            <a:off x="3683000" y="3302000"/>
            <a:ext cx="7493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424242"/>
                </a:solidFill>
                <a:latin typeface="Noto Sans SC"/>
                <a:ea typeface="Noto Sans SC"/>
                <a:cs typeface="Noto Sans SC"/>
                <a:sym typeface="Noto Sans SC"/>
              </a:rPr>
              <a:t>将文本转换为计算机可理解的数值特征，常用方法如 TF-IDF、词袋模型。</a:t>
            </a:r>
            <a:endParaRPr lang="en-US" sz="1100"/>
          </a:p>
        </p:txBody>
      </p:sp>
      <p:sp>
        <p:nvSpPr>
          <p:cNvPr id="15" name="AutoShape 15"/>
          <p:cNvSpPr/>
          <p:nvPr/>
        </p:nvSpPr>
        <p:spPr>
          <a:xfrm>
            <a:off x="762000" y="4064000"/>
            <a:ext cx="10668000" cy="762000"/>
          </a:xfrm>
          <a:prstGeom prst="roundRect">
            <a:avLst>
              <a:gd name="adj" fmla="val 16666"/>
            </a:avLst>
          </a:prstGeom>
          <a:solidFill>
            <a:srgbClr val="FFFFFF">
              <a:alpha val="100000"/>
            </a:srgbClr>
          </a:solidFill>
          <a:ln w="25400" cap="flat" cmpd="sng">
            <a:noFill/>
            <a:prstDash val="solid"/>
            <a:round/>
          </a:ln>
          <a:effectLst>
            <a:outerShdw blurRad="1016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4216400"/>
            <a:ext cx="457200" cy="457200"/>
          </a:xfrm>
          <a:prstGeom prst="rect">
            <a:avLst/>
          </a:prstGeom>
        </p:spPr>
      </p:pic>
      <p:sp>
        <p:nvSpPr>
          <p:cNvPr id="17" name="AutoShape 17"/>
          <p:cNvSpPr/>
          <p:nvPr/>
        </p:nvSpPr>
        <p:spPr>
          <a:xfrm>
            <a:off x="1651000" y="4165600"/>
            <a:ext cx="190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模型训练</a:t>
            </a:r>
            <a:endParaRPr lang="en-US" sz="1100"/>
          </a:p>
        </p:txBody>
      </p:sp>
      <p:sp>
        <p:nvSpPr>
          <p:cNvPr id="18" name="AutoShape 18"/>
          <p:cNvSpPr/>
          <p:nvPr/>
        </p:nvSpPr>
        <p:spPr>
          <a:xfrm>
            <a:off x="3683000" y="4191000"/>
            <a:ext cx="7493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424242"/>
                </a:solidFill>
                <a:latin typeface="Noto Sans SC"/>
                <a:ea typeface="Noto Sans SC"/>
                <a:cs typeface="Noto Sans SC"/>
                <a:sym typeface="Noto Sans SC"/>
              </a:rPr>
              <a:t>选择合适的机器学习算法（如朴素贝叶斯、SVM）进行模型拟合。</a:t>
            </a:r>
            <a:endParaRPr lang="en-US" sz="1100"/>
          </a:p>
        </p:txBody>
      </p:sp>
      <p:sp>
        <p:nvSpPr>
          <p:cNvPr id="19" name="AutoShape 19"/>
          <p:cNvSpPr/>
          <p:nvPr/>
        </p:nvSpPr>
        <p:spPr>
          <a:xfrm>
            <a:off x="762000" y="4953000"/>
            <a:ext cx="10668000" cy="762000"/>
          </a:xfrm>
          <a:prstGeom prst="roundRect">
            <a:avLst>
              <a:gd name="adj" fmla="val 16666"/>
            </a:avLst>
          </a:prstGeom>
          <a:solidFill>
            <a:srgbClr val="FFFFFF">
              <a:alpha val="100000"/>
            </a:srgbClr>
          </a:solidFill>
          <a:ln w="25400" cap="flat" cmpd="sng">
            <a:noFill/>
            <a:prstDash val="solid"/>
            <a:round/>
          </a:ln>
          <a:effectLst>
            <a:outerShdw blurRad="1016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16000" y="5105400"/>
            <a:ext cx="457200" cy="457200"/>
          </a:xfrm>
          <a:prstGeom prst="rect">
            <a:avLst/>
          </a:prstGeom>
        </p:spPr>
      </p:pic>
      <p:sp>
        <p:nvSpPr>
          <p:cNvPr id="21" name="AutoShape 21"/>
          <p:cNvSpPr/>
          <p:nvPr/>
        </p:nvSpPr>
        <p:spPr>
          <a:xfrm>
            <a:off x="1651000" y="5054600"/>
            <a:ext cx="190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模型评价</a:t>
            </a:r>
            <a:endParaRPr lang="en-US" sz="1100"/>
          </a:p>
        </p:txBody>
      </p:sp>
      <p:sp>
        <p:nvSpPr>
          <p:cNvPr id="22" name="AutoShape 22"/>
          <p:cNvSpPr/>
          <p:nvPr/>
        </p:nvSpPr>
        <p:spPr>
          <a:xfrm>
            <a:off x="3683000" y="5080000"/>
            <a:ext cx="7493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424242"/>
                </a:solidFill>
                <a:latin typeface="Noto Sans SC"/>
                <a:ea typeface="Noto Sans SC"/>
                <a:cs typeface="Noto Sans SC"/>
                <a:sym typeface="Noto Sans SC"/>
              </a:rPr>
              <a:t>使用测试集评估模型性能，关注准确率、精确率、召回率等指标。</a:t>
            </a:r>
            <a:endParaRPr lang="en-US" sz="1100"/>
          </a:p>
        </p:txBody>
      </p:sp>
      <p:sp>
        <p:nvSpPr>
          <p:cNvPr id="23" name="AutoShape 23"/>
          <p:cNvSpPr/>
          <p:nvPr/>
        </p:nvSpPr>
        <p:spPr>
          <a:xfrm>
            <a:off x="762000" y="6096000"/>
            <a:ext cx="10668000" cy="508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3581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步骤1：准备数据集</a:t>
            </a:r>
            <a:endParaRPr lang="en-US" sz="1100"/>
          </a:p>
        </p:txBody>
      </p:sp>
      <p:sp>
        <p:nvSpPr>
          <p:cNvPr id="3" name="AutoShape 3"/>
          <p:cNvSpPr/>
          <p:nvPr/>
        </p:nvSpPr>
        <p:spPr>
          <a:xfrm>
            <a:off x="762000" y="1397000"/>
            <a:ext cx="3302000" cy="2794000"/>
          </a:xfrm>
          <a:prstGeom prst="roundRect">
            <a:avLst>
              <a:gd name="adj" fmla="val 4545"/>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95500" y="1651000"/>
            <a:ext cx="635000" cy="635000"/>
          </a:xfrm>
          <a:prstGeom prst="rect">
            <a:avLst/>
          </a:prstGeom>
        </p:spPr>
      </p:pic>
      <p:sp>
        <p:nvSpPr>
          <p:cNvPr id="5" name="AutoShape 5"/>
          <p:cNvSpPr/>
          <p:nvPr/>
        </p:nvSpPr>
        <p:spPr>
          <a:xfrm>
            <a:off x="889000" y="2413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288D1"/>
                </a:solidFill>
                <a:latin typeface="Noto Sans SC"/>
                <a:ea typeface="Noto Sans SC"/>
                <a:cs typeface="Noto Sans SC"/>
                <a:sym typeface="Noto Sans SC"/>
              </a:rPr>
              <a:t>数据集文件</a:t>
            </a:r>
            <a:endParaRPr lang="en-US" sz="1100"/>
          </a:p>
        </p:txBody>
      </p:sp>
      <p:sp>
        <p:nvSpPr>
          <p:cNvPr id="6" name="AutoShape 6"/>
          <p:cNvSpPr/>
          <p:nvPr/>
        </p:nvSpPr>
        <p:spPr>
          <a:xfrm>
            <a:off x="889000" y="2857500"/>
            <a:ext cx="3048000" cy="762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600" b="0" i="0" u="none" strike="noStrike">
                <a:solidFill>
                  <a:srgbClr val="424242"/>
                </a:solidFill>
                <a:latin typeface="Noto Sans SC"/>
                <a:ea typeface="Noto Sans SC"/>
                <a:cs typeface="Noto Sans SC"/>
                <a:sym typeface="Noto Sans SC"/>
              </a:rPr>
              <a:t>waimai_10k.csv</a:t>
            </a:r>
            <a:endParaRPr lang="en-US" sz="1100"/>
          </a:p>
          <a:p>
            <a:pPr indent="0" algn="ctr">
              <a:lnSpc>
                <a:spcPct val="108000"/>
              </a:lnSpc>
            </a:pPr>
            <a:r>
              <a:rPr lang="en-US" sz="1400" b="0" i="0" u="none" strike="noStrike">
                <a:solidFill>
                  <a:srgbClr val="757575"/>
                </a:solidFill>
                <a:latin typeface="Noto Sans SC"/>
                <a:ea typeface="Noto Sans SC"/>
                <a:cs typeface="Noto Sans SC"/>
                <a:sym typeface="Noto Sans SC"/>
              </a:rPr>
              <a:t>公开外卖评论数据集</a:t>
            </a:r>
            <a:endParaRPr lang="en-US" sz="1400" b="0" i="0" u="none" strike="noStrike">
              <a:solidFill>
                <a:srgbClr val="757575"/>
              </a:solidFill>
              <a:latin typeface="Noto Sans SC"/>
              <a:ea typeface="Noto Sans SC"/>
              <a:cs typeface="Noto Sans SC"/>
              <a:sym typeface="Noto Sans SC"/>
            </a:endParaRPr>
          </a:p>
        </p:txBody>
      </p:sp>
      <p:sp>
        <p:nvSpPr>
          <p:cNvPr id="7" name="AutoShape 7"/>
          <p:cNvSpPr/>
          <p:nvPr/>
        </p:nvSpPr>
        <p:spPr>
          <a:xfrm>
            <a:off x="4445000" y="1397000"/>
            <a:ext cx="3302000" cy="2794000"/>
          </a:xfrm>
          <a:prstGeom prst="roundRect">
            <a:avLst>
              <a:gd name="adj" fmla="val 4545"/>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78500" y="1651000"/>
            <a:ext cx="635000" cy="635000"/>
          </a:xfrm>
          <a:prstGeom prst="rect">
            <a:avLst/>
          </a:prstGeom>
        </p:spPr>
      </p:pic>
      <p:sp>
        <p:nvSpPr>
          <p:cNvPr id="9" name="AutoShape 9"/>
          <p:cNvSpPr/>
          <p:nvPr/>
        </p:nvSpPr>
        <p:spPr>
          <a:xfrm>
            <a:off x="4572000" y="2413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288D1"/>
                </a:solidFill>
                <a:latin typeface="Noto Sans SC"/>
                <a:ea typeface="Noto Sans SC"/>
                <a:cs typeface="Noto Sans SC"/>
                <a:sym typeface="Noto Sans SC"/>
              </a:rPr>
              <a:t>数据分布</a:t>
            </a:r>
            <a:endParaRPr lang="en-US" sz="1100"/>
          </a:p>
        </p:txBody>
      </p:sp>
      <p:sp>
        <p:nvSpPr>
          <p:cNvPr id="10" name="AutoShape 10"/>
          <p:cNvSpPr/>
          <p:nvPr/>
        </p:nvSpPr>
        <p:spPr>
          <a:xfrm>
            <a:off x="4572000" y="2857500"/>
            <a:ext cx="3048000" cy="762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600" b="0" i="0" u="none" strike="noStrike">
                <a:solidFill>
                  <a:srgbClr val="424242"/>
                </a:solidFill>
                <a:latin typeface="Noto Sans SC"/>
                <a:ea typeface="Noto Sans SC"/>
                <a:cs typeface="Noto Sans SC"/>
                <a:sym typeface="Noto Sans SC"/>
              </a:rPr>
              <a:t>正向约</a:t>
            </a:r>
            <a:r>
              <a:rPr lang="en-US" sz="1600" b="1" i="0" u="none" strike="noStrike">
                <a:solidFill>
                  <a:srgbClr val="0288D1"/>
                </a:solidFill>
                <a:latin typeface="Noto Sans SC"/>
                <a:ea typeface="Noto Sans SC"/>
                <a:cs typeface="Noto Sans SC"/>
                <a:sym typeface="Noto Sans SC"/>
              </a:rPr>
              <a:t>4000</a:t>
            </a:r>
            <a:r>
              <a:rPr lang="en-US" sz="1600" b="0" i="0" u="none" strike="noStrike">
                <a:solidFill>
                  <a:srgbClr val="424242"/>
                </a:solidFill>
                <a:latin typeface="Noto Sans SC"/>
                <a:ea typeface="Noto Sans SC"/>
                <a:cs typeface="Noto Sans SC"/>
                <a:sym typeface="Noto Sans SC"/>
              </a:rPr>
              <a:t>条</a:t>
            </a:r>
            <a:endParaRPr lang="en-US" sz="1100"/>
          </a:p>
          <a:p>
            <a:pPr indent="0" algn="ctr">
              <a:lnSpc>
                <a:spcPct val="108000"/>
              </a:lnSpc>
            </a:pPr>
            <a:r>
              <a:rPr lang="en-US" sz="1600" b="0" i="0" u="none" strike="noStrike">
                <a:solidFill>
                  <a:srgbClr val="424242"/>
                </a:solidFill>
                <a:latin typeface="Noto Sans SC"/>
                <a:ea typeface="Noto Sans SC"/>
                <a:cs typeface="Noto Sans SC"/>
                <a:sym typeface="Noto Sans SC"/>
              </a:rPr>
              <a:t>负向约</a:t>
            </a:r>
            <a:r>
              <a:rPr lang="en-US" sz="1600" b="1" i="0" u="none" strike="noStrike">
                <a:solidFill>
                  <a:srgbClr val="EF5350"/>
                </a:solidFill>
                <a:latin typeface="Noto Sans SC"/>
                <a:ea typeface="Noto Sans SC"/>
                <a:cs typeface="Noto Sans SC"/>
                <a:sym typeface="Noto Sans SC"/>
              </a:rPr>
              <a:t>8000</a:t>
            </a:r>
            <a:r>
              <a:rPr lang="en-US" sz="1600" b="0" i="0" u="none" strike="noStrike">
                <a:solidFill>
                  <a:srgbClr val="424242"/>
                </a:solidFill>
                <a:latin typeface="Noto Sans SC"/>
                <a:ea typeface="Noto Sans SC"/>
                <a:cs typeface="Noto Sans SC"/>
                <a:sym typeface="Noto Sans SC"/>
              </a:rPr>
              <a:t>条</a:t>
            </a:r>
            <a:endParaRPr lang="en-US" sz="1600" b="0" i="0" u="none" strike="noStrike">
              <a:solidFill>
                <a:srgbClr val="424242"/>
              </a:solidFill>
              <a:latin typeface="Noto Sans SC"/>
              <a:ea typeface="Noto Sans SC"/>
              <a:cs typeface="Noto Sans SC"/>
              <a:sym typeface="Noto Sans SC"/>
            </a:endParaRPr>
          </a:p>
        </p:txBody>
      </p:sp>
      <p:sp>
        <p:nvSpPr>
          <p:cNvPr id="11" name="AutoShape 11"/>
          <p:cNvSpPr/>
          <p:nvPr/>
        </p:nvSpPr>
        <p:spPr>
          <a:xfrm>
            <a:off x="8128000" y="1397000"/>
            <a:ext cx="3302000" cy="2794000"/>
          </a:xfrm>
          <a:prstGeom prst="roundRect">
            <a:avLst>
              <a:gd name="adj" fmla="val 4545"/>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461500" y="1651000"/>
            <a:ext cx="635000" cy="635000"/>
          </a:xfrm>
          <a:prstGeom prst="rect">
            <a:avLst/>
          </a:prstGeom>
        </p:spPr>
      </p:pic>
      <p:sp>
        <p:nvSpPr>
          <p:cNvPr id="13" name="AutoShape 13"/>
          <p:cNvSpPr/>
          <p:nvPr/>
        </p:nvSpPr>
        <p:spPr>
          <a:xfrm>
            <a:off x="8255000" y="2413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288D1"/>
                </a:solidFill>
                <a:latin typeface="Noto Sans SC"/>
                <a:ea typeface="Noto Sans SC"/>
                <a:cs typeface="Noto Sans SC"/>
                <a:sym typeface="Noto Sans SC"/>
              </a:rPr>
              <a:t>任务目标</a:t>
            </a:r>
            <a:endParaRPr lang="en-US" sz="1100"/>
          </a:p>
        </p:txBody>
      </p:sp>
      <p:sp>
        <p:nvSpPr>
          <p:cNvPr id="14" name="AutoShape 14"/>
          <p:cNvSpPr/>
          <p:nvPr/>
        </p:nvSpPr>
        <p:spPr>
          <a:xfrm>
            <a:off x="8255000" y="2857500"/>
            <a:ext cx="3048000" cy="762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600" b="0" i="0" u="none" strike="noStrike">
                <a:solidFill>
                  <a:srgbClr val="424242"/>
                </a:solidFill>
                <a:latin typeface="Noto Sans SC"/>
                <a:ea typeface="Noto Sans SC"/>
                <a:cs typeface="Noto Sans SC"/>
                <a:sym typeface="Noto Sans SC"/>
              </a:rPr>
              <a:t>构建情感分类模型</a:t>
            </a:r>
            <a:endParaRPr lang="en-US" sz="1100"/>
          </a:p>
          <a:p>
            <a:pPr indent="0" algn="ctr">
              <a:lnSpc>
                <a:spcPct val="108000"/>
              </a:lnSpc>
            </a:pPr>
            <a:r>
              <a:rPr lang="en-US" sz="1400" b="0" i="0" u="none" strike="noStrike">
                <a:solidFill>
                  <a:srgbClr val="757575"/>
                </a:solidFill>
                <a:latin typeface="Noto Sans SC"/>
                <a:ea typeface="Noto Sans SC"/>
                <a:cs typeface="Noto Sans SC"/>
                <a:sym typeface="Noto Sans SC"/>
              </a:rPr>
              <a:t>自动判断评论情感倾向</a:t>
            </a:r>
            <a:endParaRPr lang="en-US" sz="1400" b="0" i="0" u="none" strike="noStrike">
              <a:solidFill>
                <a:srgbClr val="757575"/>
              </a:solidFill>
              <a:latin typeface="Noto Sans SC"/>
              <a:ea typeface="Noto Sans SC"/>
              <a:cs typeface="Noto Sans SC"/>
              <a:sym typeface="Noto Sans SC"/>
            </a:endParaRPr>
          </a:p>
        </p:txBody>
      </p:sp>
      <p:sp>
        <p:nvSpPr>
          <p:cNvPr id="15" name="AutoShape 15"/>
          <p:cNvSpPr/>
          <p:nvPr/>
        </p:nvSpPr>
        <p:spPr>
          <a:xfrm>
            <a:off x="762000" y="4572000"/>
            <a:ext cx="10668000" cy="1270000"/>
          </a:xfrm>
          <a:prstGeom prst="roundRect">
            <a:avLst>
              <a:gd name="adj" fmla="val 10000"/>
            </a:avLst>
          </a:prstGeom>
          <a:solidFill>
            <a:srgbClr val="0288D1">
              <a:alpha val="10000"/>
            </a:srgbClr>
          </a:solidFill>
          <a:ln w="12700" cap="flat" cmpd="sng">
            <a:solidFill>
              <a:srgbClr val="0288D1">
                <a:alpha val="10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1016000" y="4762500"/>
            <a:ext cx="10160000" cy="889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600" b="1" i="0" u="none" strike="noStrike">
                <a:solidFill>
                  <a:srgbClr val="424242"/>
                </a:solidFill>
                <a:latin typeface="Noto Sans SC"/>
                <a:ea typeface="Noto Sans SC"/>
                <a:cs typeface="Noto Sans SC"/>
                <a:sym typeface="Noto Sans SC"/>
              </a:rPr>
              <a:t>核心任务说明：</a:t>
            </a:r>
            <a:endParaRPr lang="en-US" sz="1100"/>
          </a:p>
          <a:p>
            <a:pPr indent="0" algn="l">
              <a:lnSpc>
                <a:spcPct val="117000"/>
              </a:lnSpc>
            </a:pPr>
            <a:r>
              <a:rPr lang="en-US" sz="1500" b="0" i="0" u="none" strike="noStrike">
                <a:solidFill>
                  <a:srgbClr val="424242"/>
                </a:solidFill>
                <a:latin typeface="Noto Sans SC"/>
                <a:ea typeface="Noto Sans SC"/>
                <a:cs typeface="Noto Sans SC"/>
                <a:sym typeface="Noto Sans SC"/>
              </a:rPr>
              <a:t>本次实战使用公开的外卖评论数据集，包含约12000条用户评论。我们的目标是利用这些数据训练一个模型，使其能够自动识别并分类评论的情感倾向（正面或负面），从而实现对用户反馈的自动化分析。</a:t>
            </a:r>
            <a:endParaRPr lang="en-US" sz="1500" b="0" i="0" u="none" strike="noStrike">
              <a:solidFill>
                <a:srgbClr val="424242"/>
              </a:solidFill>
              <a:latin typeface="Noto Sans SC"/>
              <a:ea typeface="Noto Sans SC"/>
              <a:cs typeface="Noto Sans SC"/>
              <a:sym typeface="Noto Sans SC"/>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759968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步骤2：数据预处理（代码示例1）</a:t>
            </a:r>
            <a:endParaRPr lang="en-US" sz="1100"/>
          </a:p>
        </p:txBody>
      </p:sp>
      <p:sp>
        <p:nvSpPr>
          <p:cNvPr id="3" name="AutoShape 3"/>
          <p:cNvSpPr/>
          <p:nvPr/>
        </p:nvSpPr>
        <p:spPr>
          <a:xfrm>
            <a:off x="762000" y="1143000"/>
            <a:ext cx="10668000" cy="25400"/>
          </a:xfrm>
          <a:prstGeom prst="roundRect">
            <a:avLst>
              <a:gd name="adj" fmla="val 0"/>
            </a:avLst>
          </a:prstGeom>
          <a:solidFill>
            <a:srgbClr val="0288D1">
              <a:alpha val="3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524000"/>
            <a:ext cx="4572000" cy="3556000"/>
          </a:xfrm>
          <a:prstGeom prst="roundRect">
            <a:avLst>
              <a:gd name="adj" fmla="val 3571"/>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5" name="AutoShape 5"/>
          <p:cNvSpPr/>
          <p:nvPr/>
        </p:nvSpPr>
        <p:spPr>
          <a:xfrm>
            <a:off x="1016000" y="17780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核心操作解析</a:t>
            </a:r>
            <a:endParaRPr lang="en-US" sz="1100"/>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349500"/>
            <a:ext cx="304800" cy="304800"/>
          </a:xfrm>
          <a:prstGeom prst="rect">
            <a:avLst/>
          </a:prstGeom>
        </p:spPr>
      </p:pic>
      <p:sp>
        <p:nvSpPr>
          <p:cNvPr id="7" name="AutoShape 7"/>
          <p:cNvSpPr/>
          <p:nvPr/>
        </p:nvSpPr>
        <p:spPr>
          <a:xfrm>
            <a:off x="1397000" y="2311400"/>
            <a:ext cx="3683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24242"/>
                </a:solidFill>
                <a:latin typeface="Noto Sans SC"/>
                <a:ea typeface="Noto Sans SC"/>
                <a:cs typeface="Noto Sans SC"/>
                <a:sym typeface="Noto Sans SC"/>
              </a:rPr>
              <a:t>导入核心库</a:t>
            </a:r>
            <a:endParaRPr lang="en-US" sz="1100"/>
          </a:p>
          <a:p>
            <a:pPr indent="0" algn="l">
              <a:lnSpc>
                <a:spcPct val="125000"/>
              </a:lnSpc>
            </a:pPr>
            <a:r>
              <a:rPr lang="en-US" sz="1400" b="0" i="0" u="none" strike="noStrike">
                <a:solidFill>
                  <a:srgbClr val="616161"/>
                </a:solidFill>
                <a:latin typeface="Noto Sans SC"/>
                <a:ea typeface="Noto Sans SC"/>
                <a:cs typeface="Noto Sans SC"/>
                <a:sym typeface="Noto Sans SC"/>
              </a:rPr>
              <a:t>引入 jieba 进行分词，pandas 处理数据，sklearn 划分数据集。</a:t>
            </a:r>
            <a:endParaRPr lang="en-US" sz="1400" b="0" i="0" u="none" strike="noStrike">
              <a:solidFill>
                <a:srgbClr val="616161"/>
              </a:solidFill>
              <a:latin typeface="Noto Sans SC"/>
              <a:ea typeface="Noto Sans SC"/>
              <a:cs typeface="Noto Sans SC"/>
              <a:sym typeface="Noto Sans SC"/>
            </a:endParaR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111500"/>
            <a:ext cx="304800" cy="304800"/>
          </a:xfrm>
          <a:prstGeom prst="rect">
            <a:avLst/>
          </a:prstGeom>
        </p:spPr>
      </p:pic>
      <p:sp>
        <p:nvSpPr>
          <p:cNvPr id="9" name="AutoShape 9"/>
          <p:cNvSpPr/>
          <p:nvPr/>
        </p:nvSpPr>
        <p:spPr>
          <a:xfrm>
            <a:off x="1397000" y="3073400"/>
            <a:ext cx="3683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24242"/>
                </a:solidFill>
                <a:latin typeface="Noto Sans SC"/>
                <a:ea typeface="Noto Sans SC"/>
                <a:cs typeface="Noto Sans SC"/>
                <a:sym typeface="Noto Sans SC"/>
              </a:rPr>
              <a:t>加载数据集</a:t>
            </a:r>
            <a:endParaRPr lang="en-US" sz="1100"/>
          </a:p>
          <a:p>
            <a:pPr indent="0" algn="l">
              <a:lnSpc>
                <a:spcPct val="125000"/>
              </a:lnSpc>
            </a:pPr>
            <a:r>
              <a:rPr lang="en-US" sz="1400" b="0" i="0" u="none" strike="noStrike">
                <a:solidFill>
                  <a:srgbClr val="616161"/>
                </a:solidFill>
                <a:latin typeface="Noto Sans SC"/>
                <a:ea typeface="Noto Sans SC"/>
                <a:cs typeface="Noto Sans SC"/>
                <a:sym typeface="Noto Sans SC"/>
              </a:rPr>
              <a:t>使用 pandas 的 read_csv 函数读取 CSV 格式的外卖评论数据。</a:t>
            </a:r>
            <a:endParaRPr lang="en-US" sz="1400" b="0" i="0" u="none" strike="noStrike">
              <a:solidFill>
                <a:srgbClr val="616161"/>
              </a:solidFill>
              <a:latin typeface="Noto Sans SC"/>
              <a:ea typeface="Noto Sans SC"/>
              <a:cs typeface="Noto Sans SC"/>
              <a:sym typeface="Noto Sans SC"/>
            </a:endParaR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3873500"/>
            <a:ext cx="304800" cy="304800"/>
          </a:xfrm>
          <a:prstGeom prst="rect">
            <a:avLst/>
          </a:prstGeom>
        </p:spPr>
      </p:pic>
      <p:sp>
        <p:nvSpPr>
          <p:cNvPr id="11" name="AutoShape 11"/>
          <p:cNvSpPr/>
          <p:nvPr/>
        </p:nvSpPr>
        <p:spPr>
          <a:xfrm>
            <a:off x="1397000" y="3835400"/>
            <a:ext cx="3683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24242"/>
                </a:solidFill>
                <a:latin typeface="Noto Sans SC"/>
                <a:ea typeface="Noto Sans SC"/>
                <a:cs typeface="Noto Sans SC"/>
                <a:sym typeface="Noto Sans SC"/>
              </a:rPr>
              <a:t>数据预览</a:t>
            </a:r>
            <a:endParaRPr lang="en-US" sz="1100"/>
          </a:p>
          <a:p>
            <a:pPr indent="0" algn="l">
              <a:lnSpc>
                <a:spcPct val="125000"/>
              </a:lnSpc>
            </a:pPr>
            <a:r>
              <a:rPr lang="en-US" sz="1400" b="0" i="0" u="none" strike="noStrike">
                <a:solidFill>
                  <a:srgbClr val="616161"/>
                </a:solidFill>
                <a:latin typeface="Noto Sans SC"/>
                <a:ea typeface="Noto Sans SC"/>
                <a:cs typeface="Noto Sans SC"/>
                <a:sym typeface="Noto Sans SC"/>
              </a:rPr>
              <a:t>建议加载后使用 head() 查看数据结构，确保数据完整。</a:t>
            </a:r>
            <a:endParaRPr lang="en-US" sz="1400" b="0" i="0" u="none" strike="noStrike">
              <a:solidFill>
                <a:srgbClr val="616161"/>
              </a:solidFill>
              <a:latin typeface="Noto Sans SC"/>
              <a:ea typeface="Noto Sans SC"/>
              <a:cs typeface="Noto Sans SC"/>
              <a:sym typeface="Noto Sans SC"/>
            </a:endParaRPr>
          </a:p>
        </p:txBody>
      </p:sp>
      <p:sp>
        <p:nvSpPr>
          <p:cNvPr id="12" name="AutoShape 12"/>
          <p:cNvSpPr/>
          <p:nvPr/>
        </p:nvSpPr>
        <p:spPr>
          <a:xfrm>
            <a:off x="5588000" y="1524000"/>
            <a:ext cx="5842000" cy="3556000"/>
          </a:xfrm>
          <a:prstGeom prst="roundRect">
            <a:avLst>
              <a:gd name="adj" fmla="val 3571"/>
            </a:avLst>
          </a:prstGeom>
          <a:solidFill>
            <a:srgbClr val="21252B">
              <a:alpha val="100000"/>
            </a:srgbClr>
          </a:solidFill>
          <a:ln w="25400" cap="flat" cmpd="sng">
            <a:noFill/>
            <a:prstDash val="solid"/>
            <a:round/>
          </a:ln>
          <a:effectLst>
            <a:outerShdw blurRad="190500" dist="101600" dir="5400000" algn="tl" rotWithShape="0">
              <a:srgbClr val="000000">
                <a:alpha val="20000"/>
              </a:srgbClr>
            </a:outerShdw>
          </a:effectLst>
        </p:spPr>
        <p:txBody>
          <a:bodyPr vert="horz" wrap="square" lIns="63500" tIns="63500" rIns="63500" bIns="63500" rtlCol="0" anchor="ctr"/>
          <a:lstStyle/>
          <a:p>
            <a:pPr algn="ctr">
              <a:defRPr/>
            </a:pPr>
          </a:p>
        </p:txBody>
      </p:sp>
      <p:sp>
        <p:nvSpPr>
          <p:cNvPr id="13" name="AutoShape 13"/>
          <p:cNvSpPr/>
          <p:nvPr/>
        </p:nvSpPr>
        <p:spPr>
          <a:xfrm>
            <a:off x="5588000" y="1524000"/>
            <a:ext cx="5842000" cy="457200"/>
          </a:xfrm>
          <a:prstGeom prst="roundRect">
            <a:avLst>
              <a:gd name="adj" fmla="val 0"/>
            </a:avLst>
          </a:prstGeom>
          <a:solidFill>
            <a:srgbClr val="2C3138">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778500" y="1625600"/>
            <a:ext cx="254000" cy="254000"/>
          </a:xfrm>
          <a:prstGeom prst="rect">
            <a:avLst/>
          </a:prstGeom>
        </p:spPr>
      </p:pic>
      <p:sp>
        <p:nvSpPr>
          <p:cNvPr id="15" name="AutoShape 15"/>
          <p:cNvSpPr/>
          <p:nvPr/>
        </p:nvSpPr>
        <p:spPr>
          <a:xfrm>
            <a:off x="6096000" y="16002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solidFill>
                <a:latin typeface="Noto Sans SC"/>
                <a:ea typeface="Noto Sans SC"/>
                <a:cs typeface="Noto Sans SC"/>
                <a:sym typeface="Noto Sans SC"/>
              </a:rPr>
              <a:t>data_preprocessing.py</a:t>
            </a:r>
            <a:endParaRPr lang="en-US" sz="1100"/>
          </a:p>
        </p:txBody>
      </p:sp>
      <p:sp>
        <p:nvSpPr>
          <p:cNvPr id="16" name="AutoShape 16"/>
          <p:cNvSpPr/>
          <p:nvPr/>
        </p:nvSpPr>
        <p:spPr>
          <a:xfrm>
            <a:off x="5778500" y="2095500"/>
            <a:ext cx="5461000" cy="2794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C678DD"/>
                </a:solidFill>
                <a:latin typeface="Consolas"/>
                <a:ea typeface="Consolas"/>
                <a:cs typeface="Consolas"/>
                <a:sym typeface="Consolas"/>
              </a:rPr>
              <a:t>import</a:t>
            </a:r>
            <a:r>
              <a:rPr lang="en-US" sz="1400" b="0" i="0" u="none" strike="noStrike">
                <a:solidFill>
                  <a:srgbClr val="DCDFE4"/>
                </a:solidFill>
                <a:latin typeface="Consolas"/>
                <a:ea typeface="Consolas"/>
                <a:cs typeface="Consolas"/>
                <a:sym typeface="Consolas"/>
              </a:rPr>
              <a:t>jieba</a:t>
            </a:r>
            <a:endParaRPr lang="en-US" sz="1100"/>
          </a:p>
          <a:p>
            <a:pPr indent="0" algn="l">
              <a:lnSpc>
                <a:spcPct val="108000"/>
              </a:lnSpc>
            </a:pPr>
            <a:r>
              <a:rPr lang="en-US" sz="1400" b="0" i="0" u="none" strike="noStrike">
                <a:solidFill>
                  <a:srgbClr val="C678DD"/>
                </a:solidFill>
                <a:latin typeface="Consolas"/>
                <a:ea typeface="Consolas"/>
                <a:cs typeface="Consolas"/>
                <a:sym typeface="Consolas"/>
              </a:rPr>
              <a:t>import</a:t>
            </a:r>
            <a:r>
              <a:rPr lang="en-US" sz="1400" b="0" i="0" u="none" strike="noStrike">
                <a:solidFill>
                  <a:srgbClr val="DCDFE4"/>
                </a:solidFill>
                <a:latin typeface="Consolas"/>
                <a:ea typeface="Consolas"/>
                <a:cs typeface="Consolas"/>
                <a:sym typeface="Consolas"/>
              </a:rPr>
              <a:t>pandas</a:t>
            </a:r>
            <a:r>
              <a:rPr lang="en-US" sz="1400" b="0" i="0" u="none" strike="noStrike">
                <a:solidFill>
                  <a:srgbClr val="C678DD"/>
                </a:solidFill>
                <a:latin typeface="Consolas"/>
                <a:ea typeface="Consolas"/>
                <a:cs typeface="Consolas"/>
                <a:sym typeface="Consolas"/>
              </a:rPr>
              <a:t>as</a:t>
            </a:r>
            <a:r>
              <a:rPr lang="en-US" sz="1400" b="0" i="0" u="none" strike="noStrike">
                <a:solidFill>
                  <a:srgbClr val="DCDFE4"/>
                </a:solidFill>
                <a:latin typeface="Consolas"/>
                <a:ea typeface="Consolas"/>
                <a:cs typeface="Consolas"/>
                <a:sym typeface="Consolas"/>
              </a:rPr>
              <a:t>pd</a:t>
            </a:r>
            <a:endParaRPr lang="en-US" sz="1400" b="0" i="0" u="none" strike="noStrike">
              <a:solidFill>
                <a:srgbClr val="DCDFE4"/>
              </a:solidFill>
              <a:latin typeface="Consolas"/>
              <a:ea typeface="Consolas"/>
              <a:cs typeface="Consolas"/>
              <a:sym typeface="Consolas"/>
            </a:endParaRPr>
          </a:p>
          <a:p>
            <a:pPr indent="0" algn="l">
              <a:lnSpc>
                <a:spcPct val="108000"/>
              </a:lnSpc>
            </a:pPr>
            <a:r>
              <a:rPr lang="en-US" sz="1400" b="0" i="0" u="none" strike="noStrike">
                <a:solidFill>
                  <a:srgbClr val="C678DD"/>
                </a:solidFill>
                <a:latin typeface="Consolas"/>
                <a:ea typeface="Consolas"/>
                <a:cs typeface="Consolas"/>
                <a:sym typeface="Consolas"/>
              </a:rPr>
              <a:t>from</a:t>
            </a:r>
            <a:r>
              <a:rPr lang="en-US" sz="1400" b="0" i="0" u="none" strike="noStrike">
                <a:solidFill>
                  <a:srgbClr val="DCDFE4"/>
                </a:solidFill>
                <a:latin typeface="Consolas"/>
                <a:ea typeface="Consolas"/>
                <a:cs typeface="Consolas"/>
                <a:sym typeface="Consolas"/>
              </a:rPr>
              <a:t>sklearn.model_selection</a:t>
            </a:r>
            <a:r>
              <a:rPr lang="en-US" sz="1400" b="0" i="0" u="none" strike="noStrike">
                <a:solidFill>
                  <a:srgbClr val="C678DD"/>
                </a:solidFill>
                <a:latin typeface="Consolas"/>
                <a:ea typeface="Consolas"/>
                <a:cs typeface="Consolas"/>
                <a:sym typeface="Consolas"/>
              </a:rPr>
              <a:t>import</a:t>
            </a:r>
            <a:r>
              <a:rPr lang="en-US" sz="1400" b="0" i="0" u="none" strike="noStrike">
                <a:solidFill>
                  <a:srgbClr val="DCDFE4"/>
                </a:solidFill>
                <a:latin typeface="Consolas"/>
                <a:ea typeface="Consolas"/>
                <a:cs typeface="Consolas"/>
                <a:sym typeface="Consolas"/>
              </a:rPr>
              <a:t>train_test_split</a:t>
            </a:r>
            <a:endParaRPr lang="en-US" sz="1400" b="0" i="0" u="none" strike="noStrike">
              <a:solidFill>
                <a:srgbClr val="DCDFE4"/>
              </a:solidFill>
              <a:latin typeface="Consolas"/>
              <a:ea typeface="Consolas"/>
              <a:cs typeface="Consolas"/>
              <a:sym typeface="Consolas"/>
            </a:endParaRPr>
          </a:p>
          <a:p>
            <a:pPr indent="0" algn="l">
              <a:lnSpc>
                <a:spcPct val="108000"/>
              </a:lnSpc>
            </a:pPr>
            <a:r>
              <a:rPr lang="en-US" sz="1400" b="0" i="0" u="none" strike="noStrike">
                <a:solidFill>
                  <a:srgbClr val="5C6370"/>
                </a:solidFill>
                <a:latin typeface="Consolas"/>
                <a:ea typeface="Consolas"/>
                <a:cs typeface="Consolas"/>
                <a:sym typeface="Consolas"/>
              </a:rPr>
              <a:t># 加载外卖评论数据集</a:t>
            </a:r>
            <a:endParaRPr lang="en-US" sz="1400" b="0" i="0" u="none" strike="noStrike">
              <a:solidFill>
                <a:srgbClr val="5C6370"/>
              </a:solidFill>
              <a:latin typeface="Consolas"/>
              <a:ea typeface="Consolas"/>
              <a:cs typeface="Consolas"/>
              <a:sym typeface="Consolas"/>
            </a:endParaRPr>
          </a:p>
          <a:p>
            <a:pPr indent="0" algn="l">
              <a:lnSpc>
                <a:spcPct val="108000"/>
              </a:lnSpc>
            </a:pPr>
            <a:r>
              <a:rPr lang="en-US" sz="1400" b="0" i="0" u="none" strike="noStrike">
                <a:solidFill>
                  <a:srgbClr val="DCDFE4"/>
                </a:solidFill>
                <a:latin typeface="Consolas"/>
                <a:ea typeface="Consolas"/>
                <a:cs typeface="Consolas"/>
                <a:sym typeface="Consolas"/>
              </a:rPr>
              <a:t>waimai_10k_df = pd.read_csv(</a:t>
            </a:r>
            <a:r>
              <a:rPr lang="en-US" sz="1400" b="0" i="0" u="none" strike="noStrike">
                <a:solidFill>
                  <a:srgbClr val="98C379"/>
                </a:solidFill>
                <a:latin typeface="Consolas"/>
                <a:ea typeface="Consolas"/>
                <a:cs typeface="Consolas"/>
                <a:sym typeface="Consolas"/>
              </a:rPr>
              <a:t>'waimai_10k.csv'</a:t>
            </a:r>
            <a:r>
              <a:rPr lang="en-US" sz="1400" b="0" i="0" u="none" strike="noStrike">
                <a:solidFill>
                  <a:srgbClr val="DCDFE4"/>
                </a:solidFill>
                <a:latin typeface="Consolas"/>
                <a:ea typeface="Consolas"/>
                <a:cs typeface="Consolas"/>
                <a:sym typeface="Consolas"/>
              </a:rPr>
              <a:t>)</a:t>
            </a:r>
            <a:endParaRPr lang="en-US" sz="1400" b="0" i="0" u="none" strike="noStrike">
              <a:solidFill>
                <a:srgbClr val="DCDFE4"/>
              </a:solidFill>
              <a:latin typeface="Consolas"/>
              <a:ea typeface="Consolas"/>
              <a:cs typeface="Consolas"/>
              <a:sym typeface="Consolas"/>
            </a:endParaRPr>
          </a:p>
        </p:txBody>
      </p:sp>
      <p:sp>
        <p:nvSpPr>
          <p:cNvPr id="17" name="AutoShape 17"/>
          <p:cNvSpPr/>
          <p:nvPr/>
        </p:nvSpPr>
        <p:spPr>
          <a:xfrm>
            <a:off x="762000" y="5334000"/>
            <a:ext cx="10668000" cy="762000"/>
          </a:xfrm>
          <a:prstGeom prst="roundRect">
            <a:avLst>
              <a:gd name="adj" fmla="val 16666"/>
            </a:avLst>
          </a:prstGeom>
          <a:solidFill>
            <a:srgbClr val="0288D1">
              <a:alpha val="10000"/>
            </a:srgbClr>
          </a:solidFill>
          <a:ln w="12700" cap="flat" cmpd="sng">
            <a:solidFill>
              <a:srgbClr val="0288D1">
                <a:alpha val="100000"/>
              </a:srgbClr>
            </a:solidFill>
            <a:prstDash val="dash"/>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16000" y="5524500"/>
            <a:ext cx="355600" cy="355600"/>
          </a:xfrm>
          <a:prstGeom prst="rect">
            <a:avLst/>
          </a:prstGeom>
        </p:spPr>
      </p:pic>
      <p:sp>
        <p:nvSpPr>
          <p:cNvPr id="19" name="AutoShape 19"/>
          <p:cNvSpPr/>
          <p:nvPr/>
        </p:nvSpPr>
        <p:spPr>
          <a:xfrm>
            <a:off x="1524000" y="5461000"/>
            <a:ext cx="965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24242"/>
                </a:solidFill>
                <a:latin typeface="Noto Sans SC"/>
                <a:ea typeface="Noto Sans SC"/>
                <a:cs typeface="Noto Sans SC"/>
                <a:sym typeface="Noto Sans SC"/>
              </a:rPr>
              <a:t>关键提示：</a:t>
            </a:r>
            <a:r>
              <a:rPr lang="en-US" sz="1600" b="0" i="0" u="none" strike="noStrike">
                <a:solidFill>
                  <a:srgbClr val="424242"/>
                </a:solidFill>
                <a:latin typeface="Noto Sans SC"/>
                <a:ea typeface="Noto Sans SC"/>
                <a:cs typeface="Noto Sans SC"/>
                <a:sym typeface="Noto Sans SC"/>
              </a:rPr>
              <a:t>确保数据集文件路径正确，且 CSV 文件格式规范，避免因路径错误或编码问题导致加载失败。</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75946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步骤2：数据预处理（代码示例2）</a:t>
            </a:r>
            <a:endParaRPr lang="en-US" sz="1100"/>
          </a:p>
        </p:txBody>
      </p:sp>
      <p:cxnSp>
        <p:nvCxnSpPr>
          <p:cNvPr id="3" name="Connector 3"/>
          <p:cNvCxnSpPr/>
          <p:nvPr/>
        </p:nvCxnSpPr>
        <p:spPr>
          <a:xfrm rot="-4092">
            <a:off x="762004" y="1136650"/>
            <a:ext cx="10668000" cy="12700"/>
          </a:xfrm>
          <a:prstGeom prst="line">
            <a:avLst/>
          </a:prstGeom>
          <a:solidFill>
            <a:srgbClr val="DEE0E3">
              <a:alpha val="100000"/>
            </a:srgbClr>
          </a:solidFill>
          <a:ln w="25400" cap="flat" cmpd="sng">
            <a:solidFill>
              <a:srgbClr val="0288D1">
                <a:alpha val="30000"/>
              </a:srgbClr>
            </a:solidFill>
            <a:prstDash val="solid"/>
            <a:round/>
            <a:headEnd type="none" w="lg" len="lg"/>
            <a:tailEnd type="none" w="lg" len="lg"/>
          </a:ln>
        </p:spPr>
      </p:cxnSp>
      <p:sp>
        <p:nvSpPr>
          <p:cNvPr id="4" name="AutoShape 4"/>
          <p:cNvSpPr/>
          <p:nvPr/>
        </p:nvSpPr>
        <p:spPr>
          <a:xfrm>
            <a:off x="762000" y="1524000"/>
            <a:ext cx="3810000" cy="3302000"/>
          </a:xfrm>
          <a:prstGeom prst="roundRect">
            <a:avLst>
              <a:gd name="adj" fmla="val 3846"/>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78000"/>
            <a:ext cx="406400" cy="406400"/>
          </a:xfrm>
          <a:prstGeom prst="rect">
            <a:avLst/>
          </a:prstGeom>
        </p:spPr>
      </p:pic>
      <p:sp>
        <p:nvSpPr>
          <p:cNvPr id="6" name="AutoShape 6"/>
          <p:cNvSpPr/>
          <p:nvPr/>
        </p:nvSpPr>
        <p:spPr>
          <a:xfrm>
            <a:off x="1524000" y="17272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24242"/>
                </a:solidFill>
                <a:latin typeface="Noto Sans SC"/>
                <a:ea typeface="Noto Sans SC"/>
                <a:cs typeface="Noto Sans SC"/>
                <a:sym typeface="Noto Sans SC"/>
              </a:rPr>
              <a:t>划分训练集和测试集</a:t>
            </a:r>
            <a:endParaRPr lang="en-US" sz="1100"/>
          </a:p>
        </p:txBody>
      </p:sp>
      <p:sp>
        <p:nvSpPr>
          <p:cNvPr id="7" name="AutoShape 7"/>
          <p:cNvSpPr/>
          <p:nvPr/>
        </p:nvSpPr>
        <p:spPr>
          <a:xfrm>
            <a:off x="1016000" y="2286000"/>
            <a:ext cx="3302000" cy="228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0" i="0" u="none" strike="noStrike">
                <a:solidFill>
                  <a:srgbClr val="616161"/>
                </a:solidFill>
                <a:latin typeface="Noto Sans SC"/>
                <a:ea typeface="Noto Sans SC"/>
                <a:cs typeface="Noto Sans SC"/>
                <a:sym typeface="Noto Sans SC"/>
              </a:rPr>
              <a:t>在机器学习流程中，数据划分是至关重要的一步。</a:t>
            </a:r>
            <a:endParaRPr lang="en-US" sz="1100"/>
          </a:p>
          <a:p>
            <a:pPr indent="0" algn="l">
              <a:lnSpc>
                <a:spcPct val="125000"/>
              </a:lnSpc>
            </a:pPr>
            <a:r>
              <a:rPr lang="en-US" sz="1500" b="0" i="0" u="none" strike="noStrike">
                <a:solidFill>
                  <a:srgbClr val="616161"/>
                </a:solidFill>
                <a:latin typeface="Noto Sans SC"/>
                <a:ea typeface="Noto Sans SC"/>
                <a:cs typeface="Noto Sans SC"/>
                <a:sym typeface="Noto Sans SC"/>
              </a:rPr>
              <a:t>•</a:t>
            </a:r>
            <a:r>
              <a:rPr lang="en-US" sz="1500" b="1" i="0" u="none" strike="noStrike">
                <a:solidFill>
                  <a:srgbClr val="0288D1"/>
                </a:solidFill>
                <a:latin typeface="Noto Sans SC"/>
                <a:ea typeface="Noto Sans SC"/>
                <a:cs typeface="Noto Sans SC"/>
                <a:sym typeface="Noto Sans SC"/>
              </a:rPr>
              <a:t>训练集 (Training Set)</a:t>
            </a:r>
            <a:r>
              <a:rPr lang="en-US" sz="1500" b="0" i="0" u="none" strike="noStrike">
                <a:solidFill>
                  <a:srgbClr val="616161"/>
                </a:solidFill>
                <a:latin typeface="Noto Sans SC"/>
                <a:ea typeface="Noto Sans SC"/>
                <a:cs typeface="Noto Sans SC"/>
                <a:sym typeface="Noto Sans SC"/>
              </a:rPr>
              <a:t>：用于训练模型参数，占比通常较大。</a:t>
            </a:r>
            <a:endParaRPr lang="en-US" sz="1500" b="0" i="0" u="none" strike="noStrike">
              <a:solidFill>
                <a:srgbClr val="616161"/>
              </a:solidFill>
              <a:latin typeface="Noto Sans SC"/>
              <a:ea typeface="Noto Sans SC"/>
              <a:cs typeface="Noto Sans SC"/>
              <a:sym typeface="Noto Sans SC"/>
            </a:endParaRPr>
          </a:p>
          <a:p>
            <a:pPr indent="0" algn="l">
              <a:lnSpc>
                <a:spcPct val="125000"/>
              </a:lnSpc>
            </a:pPr>
            <a:r>
              <a:rPr lang="en-US" sz="1500" b="0" i="0" u="none" strike="noStrike">
                <a:solidFill>
                  <a:srgbClr val="616161"/>
                </a:solidFill>
                <a:latin typeface="Noto Sans SC"/>
                <a:ea typeface="Noto Sans SC"/>
                <a:cs typeface="Noto Sans SC"/>
                <a:sym typeface="Noto Sans SC"/>
              </a:rPr>
              <a:t>•</a:t>
            </a:r>
            <a:r>
              <a:rPr lang="en-US" sz="1500" b="1" i="0" u="none" strike="noStrike">
                <a:solidFill>
                  <a:srgbClr val="0288D1"/>
                </a:solidFill>
                <a:latin typeface="Noto Sans SC"/>
                <a:ea typeface="Noto Sans SC"/>
                <a:cs typeface="Noto Sans SC"/>
                <a:sym typeface="Noto Sans SC"/>
              </a:rPr>
              <a:t>测试集 (Test Set)</a:t>
            </a:r>
            <a:r>
              <a:rPr lang="en-US" sz="1500" b="0" i="0" u="none" strike="noStrike">
                <a:solidFill>
                  <a:srgbClr val="616161"/>
                </a:solidFill>
                <a:latin typeface="Noto Sans SC"/>
                <a:ea typeface="Noto Sans SC"/>
                <a:cs typeface="Noto Sans SC"/>
                <a:sym typeface="Noto Sans SC"/>
              </a:rPr>
              <a:t>：用于评估模型泛化能力，需保持独立性。</a:t>
            </a:r>
            <a:endParaRPr lang="en-US" sz="1500" b="0" i="0" u="none" strike="noStrike">
              <a:solidFill>
                <a:srgbClr val="616161"/>
              </a:solidFill>
              <a:latin typeface="Noto Sans SC"/>
              <a:ea typeface="Noto Sans SC"/>
              <a:cs typeface="Noto Sans SC"/>
              <a:sym typeface="Noto Sans SC"/>
            </a:endParaRPr>
          </a:p>
        </p:txBody>
      </p:sp>
      <p:sp>
        <p:nvSpPr>
          <p:cNvPr id="8" name="AutoShape 8"/>
          <p:cNvSpPr/>
          <p:nvPr/>
        </p:nvSpPr>
        <p:spPr>
          <a:xfrm>
            <a:off x="4953000" y="1524000"/>
            <a:ext cx="6096000" cy="3302000"/>
          </a:xfrm>
          <a:prstGeom prst="roundRect">
            <a:avLst>
              <a:gd name="adj" fmla="val 3846"/>
            </a:avLst>
          </a:prstGeom>
          <a:solidFill>
            <a:srgbClr val="212121">
              <a:alpha val="100000"/>
            </a:srgbClr>
          </a:solidFill>
          <a:ln w="25400" cap="flat" cmpd="sng">
            <a:noFill/>
            <a:prstDash val="solid"/>
            <a:round/>
          </a:ln>
          <a:effectLst>
            <a:outerShdw blurRad="190500" dist="63500" dir="2700000" algn="tl" rotWithShape="0">
              <a:srgbClr val="000000">
                <a:alpha val="20000"/>
              </a:srgbClr>
            </a:outerShdw>
          </a:effectLst>
        </p:spPr>
        <p:txBody>
          <a:bodyPr vert="horz" wrap="square" lIns="63500" tIns="63500" rIns="63500" bIns="63500" rtlCol="0" anchor="ctr"/>
          <a:lstStyle/>
          <a:p>
            <a:pPr algn="ctr">
              <a:defRPr/>
            </a:pPr>
          </a:p>
        </p:txBody>
      </p:sp>
      <p:sp>
        <p:nvSpPr>
          <p:cNvPr id="9" name="AutoShape 9"/>
          <p:cNvSpPr/>
          <p:nvPr/>
        </p:nvSpPr>
        <p:spPr>
          <a:xfrm>
            <a:off x="4953000" y="1524000"/>
            <a:ext cx="6096000" cy="457200"/>
          </a:xfrm>
          <a:prstGeom prst="roundRect">
            <a:avLst>
              <a:gd name="adj" fmla="val 0"/>
            </a:avLst>
          </a:prstGeom>
          <a:solidFill>
            <a:srgbClr val="424242">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5143500" y="1651000"/>
            <a:ext cx="152400" cy="152400"/>
          </a:xfrm>
          <a:prstGeom prst="ellipse">
            <a:avLst/>
          </a:prstGeom>
          <a:solidFill>
            <a:srgbClr val="FF5F57">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5397500" y="1651000"/>
            <a:ext cx="152400" cy="152400"/>
          </a:xfrm>
          <a:prstGeom prst="ellipse">
            <a:avLst/>
          </a:prstGeom>
          <a:solidFill>
            <a:srgbClr val="FFBD2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5651500" y="1651000"/>
            <a:ext cx="152400" cy="152400"/>
          </a:xfrm>
          <a:prstGeom prst="ellipse">
            <a:avLst/>
          </a:prstGeom>
          <a:solidFill>
            <a:srgbClr val="28C9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5969000" y="15748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FFFFFF">
                    <a:alpha val="70196"/>
                  </a:srgbClr>
                </a:solidFill>
                <a:latin typeface="Noto Sans SC"/>
                <a:ea typeface="Noto Sans SC"/>
                <a:cs typeface="Noto Sans SC"/>
                <a:sym typeface="Noto Sans SC"/>
              </a:rPr>
              <a:t>train_test_split.py</a:t>
            </a:r>
            <a:endParaRPr lang="en-US" sz="1100"/>
          </a:p>
        </p:txBody>
      </p:sp>
      <p:sp>
        <p:nvSpPr>
          <p:cNvPr id="14" name="AutoShape 14"/>
          <p:cNvSpPr/>
          <p:nvPr/>
        </p:nvSpPr>
        <p:spPr>
          <a:xfrm>
            <a:off x="5143500" y="2095500"/>
            <a:ext cx="5715000" cy="2540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9CA3AF"/>
                </a:solidFill>
                <a:latin typeface="Roboto Mono"/>
                <a:ea typeface="Roboto Mono"/>
                <a:cs typeface="Roboto Mono"/>
                <a:sym typeface="Roboto Mono"/>
              </a:rPr>
              <a:t># 将数据集切分为训练集和测试集</a:t>
            </a:r>
            <a:endParaRPr lang="en-US" sz="1100"/>
          </a:p>
          <a:p>
            <a:pPr indent="0" algn="l">
              <a:lnSpc>
                <a:spcPct val="108000"/>
              </a:lnSpc>
            </a:pPr>
            <a:r>
              <a:rPr lang="en-US" sz="1400" b="0" i="0" u="none" strike="noStrike">
                <a:solidFill>
                  <a:srgbClr val="E5C07B"/>
                </a:solidFill>
                <a:latin typeface="Roboto Mono"/>
                <a:ea typeface="Roboto Mono"/>
                <a:cs typeface="Roboto Mono"/>
                <a:sym typeface="Roboto Mono"/>
              </a:rPr>
              <a:t>train_df</a:t>
            </a:r>
            <a:r>
              <a:rPr lang="en-US" sz="1400" b="0" i="0" u="none" strike="noStrike">
                <a:solidFill>
                  <a:srgbClr val="FFFFFF"/>
                </a:solidFill>
                <a:latin typeface="Roboto Mono"/>
                <a:ea typeface="Roboto Mono"/>
                <a:cs typeface="Roboto Mono"/>
                <a:sym typeface="Roboto Mono"/>
              </a:rPr>
              <a:t>,</a:t>
            </a:r>
            <a:r>
              <a:rPr lang="en-US" sz="1400" b="0" i="0" u="none" strike="noStrike">
                <a:solidFill>
                  <a:srgbClr val="E5C07B"/>
                </a:solidFill>
                <a:latin typeface="Roboto Mono"/>
                <a:ea typeface="Roboto Mono"/>
                <a:cs typeface="Roboto Mono"/>
                <a:sym typeface="Roboto Mono"/>
              </a:rPr>
              <a:t>test_df</a:t>
            </a:r>
            <a:r>
              <a:rPr lang="en-US" sz="1400" b="0" i="0" u="none" strike="noStrike">
                <a:solidFill>
                  <a:srgbClr val="FFFFFF"/>
                </a:solidFill>
                <a:latin typeface="Roboto Mono"/>
                <a:ea typeface="Roboto Mono"/>
                <a:cs typeface="Roboto Mono"/>
                <a:sym typeface="Roboto Mono"/>
              </a:rPr>
              <a:t>=</a:t>
            </a:r>
            <a:r>
              <a:rPr lang="en-US" sz="1400" b="0" i="0" u="none" strike="noStrike">
                <a:solidFill>
                  <a:srgbClr val="61AFEF"/>
                </a:solidFill>
                <a:latin typeface="Roboto Mono"/>
                <a:ea typeface="Roboto Mono"/>
                <a:cs typeface="Roboto Mono"/>
                <a:sym typeface="Roboto Mono"/>
              </a:rPr>
              <a:t>train_test_split</a:t>
            </a:r>
            <a:r>
              <a:rPr lang="en-US" sz="1400" b="0" i="0" u="none" strike="noStrike">
                <a:solidFill>
                  <a:srgbClr val="FFFFFF"/>
                </a:solidFill>
                <a:latin typeface="Roboto Mono"/>
                <a:ea typeface="Roboto Mono"/>
                <a:cs typeface="Roboto Mono"/>
                <a:sym typeface="Roboto Mono"/>
              </a:rPr>
              <a:t>(waimai_10k_df,</a:t>
            </a:r>
            <a:endParaRPr lang="en-US" sz="1400" b="0" i="0" u="none" strike="noStrike">
              <a:solidFill>
                <a:srgbClr val="FFFFFF"/>
              </a:solidFill>
              <a:latin typeface="Roboto Mono"/>
              <a:ea typeface="Roboto Mono"/>
              <a:cs typeface="Roboto Mono"/>
              <a:sym typeface="Roboto Mono"/>
            </a:endParaRPr>
          </a:p>
          <a:p>
            <a:pPr marL="254000" indent="0" algn="l">
              <a:lnSpc>
                <a:spcPct val="108000"/>
              </a:lnSpc>
            </a:pPr>
            <a:r>
              <a:rPr lang="en-US" sz="1400" b="0" i="0" u="none" strike="noStrike">
                <a:solidFill>
                  <a:srgbClr val="FFFFFF"/>
                </a:solidFill>
                <a:latin typeface="Roboto Mono"/>
                <a:ea typeface="Roboto Mono"/>
                <a:cs typeface="Roboto Mono"/>
                <a:sym typeface="Roboto Mono"/>
              </a:rPr>
              <a:t>test_size=</a:t>
            </a:r>
            <a:r>
              <a:rPr lang="en-US" sz="1400" b="0" i="0" u="none" strike="noStrike">
                <a:solidFill>
                  <a:srgbClr val="B5CEA8"/>
                </a:solidFill>
                <a:latin typeface="Roboto Mono"/>
                <a:ea typeface="Roboto Mono"/>
                <a:cs typeface="Roboto Mono"/>
                <a:sym typeface="Roboto Mono"/>
              </a:rPr>
              <a:t>0.4</a:t>
            </a:r>
            <a:r>
              <a:rPr lang="en-US" sz="1400" b="0" i="0" u="none" strike="noStrike">
                <a:solidFill>
                  <a:srgbClr val="FFFFFF"/>
                </a:solidFill>
                <a:latin typeface="Roboto Mono"/>
                <a:ea typeface="Roboto Mono"/>
                <a:cs typeface="Roboto Mono"/>
                <a:sym typeface="Roboto Mono"/>
              </a:rPr>
              <a:t>, random_state=</a:t>
            </a:r>
            <a:r>
              <a:rPr lang="en-US" sz="1400" b="0" i="0" u="none" strike="noStrike">
                <a:solidFill>
                  <a:srgbClr val="B5CEA8"/>
                </a:solidFill>
                <a:latin typeface="Roboto Mono"/>
                <a:ea typeface="Roboto Mono"/>
                <a:cs typeface="Roboto Mono"/>
                <a:sym typeface="Roboto Mono"/>
              </a:rPr>
              <a:t>100</a:t>
            </a:r>
            <a:r>
              <a:rPr lang="en-US" sz="1400" b="0" i="0" u="none" strike="noStrike">
                <a:solidFill>
                  <a:srgbClr val="FFFFFF"/>
                </a:solidFill>
                <a:latin typeface="Roboto Mono"/>
                <a:ea typeface="Roboto Mono"/>
                <a:cs typeface="Roboto Mono"/>
                <a:sym typeface="Roboto Mono"/>
              </a:rPr>
              <a:t>)</a:t>
            </a:r>
            <a:endParaRPr lang="en-US" sz="1400" b="0" i="0" u="none" strike="noStrike">
              <a:solidFill>
                <a:srgbClr val="FFFFFF"/>
              </a:solidFill>
              <a:latin typeface="Roboto Mono"/>
              <a:ea typeface="Roboto Mono"/>
              <a:cs typeface="Roboto Mono"/>
              <a:sym typeface="Roboto Mono"/>
            </a:endParaRPr>
          </a:p>
          <a:p>
            <a:pPr indent="0" algn="l">
              <a:lnSpc>
                <a:spcPct val="108000"/>
              </a:lnSpc>
            </a:pPr>
          </a:p>
          <a:p>
            <a:pPr indent="0" algn="l">
              <a:lnSpc>
                <a:spcPct val="108000"/>
              </a:lnSpc>
            </a:pPr>
            <a:r>
              <a:rPr lang="en-US" sz="1400" b="0" i="0" u="none" strike="noStrike">
                <a:solidFill>
                  <a:srgbClr val="9CA3AF"/>
                </a:solidFill>
                <a:latin typeface="Roboto Mono"/>
                <a:ea typeface="Roboto Mono"/>
                <a:cs typeface="Roboto Mono"/>
                <a:sym typeface="Roboto Mono"/>
              </a:rPr>
              <a:t># 输出数据集的大小</a:t>
            </a:r>
            <a:endParaRPr lang="en-US" sz="1400" b="0" i="0" u="none" strike="noStrike">
              <a:solidFill>
                <a:srgbClr val="9CA3AF"/>
              </a:solidFill>
              <a:latin typeface="Roboto Mono"/>
              <a:ea typeface="Roboto Mono"/>
              <a:cs typeface="Roboto Mono"/>
              <a:sym typeface="Roboto Mono"/>
            </a:endParaRPr>
          </a:p>
          <a:p>
            <a:pPr indent="0" algn="l">
              <a:lnSpc>
                <a:spcPct val="108000"/>
              </a:lnSpc>
            </a:pPr>
            <a:r>
              <a:rPr lang="en-US" sz="1400" b="0" i="0" u="none" strike="noStrike">
                <a:solidFill>
                  <a:srgbClr val="61AFEF"/>
                </a:solidFill>
                <a:latin typeface="Roboto Mono"/>
                <a:ea typeface="Roboto Mono"/>
                <a:cs typeface="Roboto Mono"/>
                <a:sym typeface="Roboto Mono"/>
              </a:rPr>
              <a:t>print</a:t>
            </a:r>
            <a:r>
              <a:rPr lang="en-US" sz="1400" b="0" i="0" u="none" strike="noStrike">
                <a:solidFill>
                  <a:srgbClr val="FFFFFF"/>
                </a:solidFill>
                <a:latin typeface="Roboto Mono"/>
                <a:ea typeface="Roboto Mono"/>
                <a:cs typeface="Roboto Mono"/>
                <a:sym typeface="Roboto Mono"/>
              </a:rPr>
              <a:t>(</a:t>
            </a:r>
            <a:r>
              <a:rPr lang="en-US" sz="1400" b="0" i="0" u="none" strike="noStrike">
                <a:solidFill>
                  <a:srgbClr val="98C379"/>
                </a:solidFill>
                <a:latin typeface="Roboto Mono"/>
                <a:ea typeface="Roboto Mono"/>
                <a:cs typeface="Roboto Mono"/>
                <a:sym typeface="Roboto Mono"/>
              </a:rPr>
              <a:t>f'Training set size: {len(train_df)}'</a:t>
            </a:r>
            <a:r>
              <a:rPr lang="en-US" sz="1400" b="0" i="0" u="none" strike="noStrike">
                <a:solidFill>
                  <a:srgbClr val="FFFFFF"/>
                </a:solidFill>
                <a:latin typeface="Roboto Mono"/>
                <a:ea typeface="Roboto Mono"/>
                <a:cs typeface="Roboto Mono"/>
                <a:sym typeface="Roboto Mono"/>
              </a:rPr>
              <a:t>)</a:t>
            </a:r>
            <a:endParaRPr lang="en-US" sz="1400" b="0" i="0" u="none" strike="noStrike">
              <a:solidFill>
                <a:srgbClr val="FFFFFF"/>
              </a:solidFill>
              <a:latin typeface="Roboto Mono"/>
              <a:ea typeface="Roboto Mono"/>
              <a:cs typeface="Roboto Mono"/>
              <a:sym typeface="Roboto Mono"/>
            </a:endParaRPr>
          </a:p>
          <a:p>
            <a:pPr indent="0" algn="l">
              <a:lnSpc>
                <a:spcPct val="108000"/>
              </a:lnSpc>
            </a:pPr>
            <a:r>
              <a:rPr lang="en-US" sz="1400" b="0" i="0" u="none" strike="noStrike">
                <a:solidFill>
                  <a:srgbClr val="61AFEF"/>
                </a:solidFill>
                <a:latin typeface="Roboto Mono"/>
                <a:ea typeface="Roboto Mono"/>
                <a:cs typeface="Roboto Mono"/>
                <a:sym typeface="Roboto Mono"/>
              </a:rPr>
              <a:t>print</a:t>
            </a:r>
            <a:r>
              <a:rPr lang="en-US" sz="1400" b="0" i="0" u="none" strike="noStrike">
                <a:solidFill>
                  <a:srgbClr val="FFFFFF"/>
                </a:solidFill>
                <a:latin typeface="Roboto Mono"/>
                <a:ea typeface="Roboto Mono"/>
                <a:cs typeface="Roboto Mono"/>
                <a:sym typeface="Roboto Mono"/>
              </a:rPr>
              <a:t>(</a:t>
            </a:r>
            <a:r>
              <a:rPr lang="en-US" sz="1400" b="0" i="0" u="none" strike="noStrike">
                <a:solidFill>
                  <a:srgbClr val="98C379"/>
                </a:solidFill>
                <a:latin typeface="Roboto Mono"/>
                <a:ea typeface="Roboto Mono"/>
                <a:cs typeface="Roboto Mono"/>
                <a:sym typeface="Roboto Mono"/>
              </a:rPr>
              <a:t>f'Test set size: {len(test_df)}'</a:t>
            </a:r>
            <a:r>
              <a:rPr lang="en-US" sz="1400" b="0" i="0" u="none" strike="noStrike">
                <a:solidFill>
                  <a:srgbClr val="FFFFFF"/>
                </a:solidFill>
                <a:latin typeface="Roboto Mono"/>
                <a:ea typeface="Roboto Mono"/>
                <a:cs typeface="Roboto Mono"/>
                <a:sym typeface="Roboto Mono"/>
              </a:rPr>
              <a:t>)</a:t>
            </a:r>
            <a:endParaRPr lang="en-US" sz="1400" b="0" i="0" u="none" strike="noStrike">
              <a:solidFill>
                <a:srgbClr val="FFFFFF"/>
              </a:solidFill>
              <a:latin typeface="Roboto Mono"/>
              <a:ea typeface="Roboto Mono"/>
              <a:cs typeface="Roboto Mono"/>
              <a:sym typeface="Roboto Mono"/>
            </a:endParaRPr>
          </a:p>
        </p:txBody>
      </p:sp>
      <p:sp>
        <p:nvSpPr>
          <p:cNvPr id="15" name="AutoShape 15"/>
          <p:cNvSpPr/>
          <p:nvPr/>
        </p:nvSpPr>
        <p:spPr>
          <a:xfrm>
            <a:off x="762000" y="5207000"/>
            <a:ext cx="10287000" cy="1016000"/>
          </a:xfrm>
          <a:prstGeom prst="roundRect">
            <a:avLst>
              <a:gd name="adj" fmla="val 12500"/>
            </a:avLst>
          </a:prstGeom>
          <a:solidFill>
            <a:srgbClr val="0288D1">
              <a:alpha val="10000"/>
            </a:srgbClr>
          </a:solidFill>
          <a:ln w="12700" cap="flat" cmpd="sng">
            <a:solidFill>
              <a:srgbClr val="0288D1">
                <a:alpha val="3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5461000"/>
            <a:ext cx="406400" cy="406400"/>
          </a:xfrm>
          <a:prstGeom prst="rect">
            <a:avLst/>
          </a:prstGeom>
        </p:spPr>
      </p:pic>
      <p:sp>
        <p:nvSpPr>
          <p:cNvPr id="17" name="AutoShape 17"/>
          <p:cNvSpPr/>
          <p:nvPr/>
        </p:nvSpPr>
        <p:spPr>
          <a:xfrm>
            <a:off x="1524000" y="5334000"/>
            <a:ext cx="927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24242"/>
                </a:solidFill>
                <a:latin typeface="Noto Sans SC"/>
                <a:ea typeface="Noto Sans SC"/>
                <a:cs typeface="Noto Sans SC"/>
                <a:sym typeface="Noto Sans SC"/>
              </a:rPr>
              <a:t>关键参数说明：</a:t>
            </a:r>
            <a:endParaRPr lang="en-US" sz="1100"/>
          </a:p>
          <a:p>
            <a:pPr indent="0" algn="l">
              <a:lnSpc>
                <a:spcPct val="125000"/>
              </a:lnSpc>
            </a:pPr>
            <a:r>
              <a:rPr lang="en-US" sz="1400" b="0" i="0" u="none" strike="noStrike">
                <a:solidFill>
                  <a:srgbClr val="616161"/>
                </a:solidFill>
                <a:latin typeface="Noto Sans SC"/>
                <a:ea typeface="Noto Sans SC"/>
                <a:cs typeface="Noto Sans SC"/>
                <a:sym typeface="Noto Sans SC"/>
              </a:rPr>
              <a:t>•</a:t>
            </a:r>
            <a:r>
              <a:rPr lang="en-US" sz="1400" b="1" i="0" u="none" strike="noStrike">
                <a:solidFill>
                  <a:srgbClr val="0288D1"/>
                </a:solidFill>
                <a:latin typeface="Noto Sans SC"/>
                <a:ea typeface="Noto Sans SC"/>
                <a:cs typeface="Noto Sans SC"/>
                <a:sym typeface="Noto Sans SC"/>
              </a:rPr>
              <a:t>test_size=0.4</a:t>
            </a:r>
            <a:r>
              <a:rPr lang="en-US" sz="1400" b="0" i="0" u="none" strike="noStrike">
                <a:solidFill>
                  <a:srgbClr val="616161"/>
                </a:solidFill>
                <a:latin typeface="Noto Sans SC"/>
                <a:ea typeface="Noto Sans SC"/>
                <a:cs typeface="Noto Sans SC"/>
                <a:sym typeface="Noto Sans SC"/>
              </a:rPr>
              <a:t>：指定测试集占比为40%，训练集占比为60%。</a:t>
            </a:r>
            <a:endParaRPr lang="en-US" sz="1400" b="0" i="0" u="none" strike="noStrike">
              <a:solidFill>
                <a:srgbClr val="616161"/>
              </a:solidFill>
              <a:latin typeface="Noto Sans SC"/>
              <a:ea typeface="Noto Sans SC"/>
              <a:cs typeface="Noto Sans SC"/>
              <a:sym typeface="Noto Sans SC"/>
            </a:endParaRPr>
          </a:p>
          <a:p>
            <a:pPr indent="0" algn="l">
              <a:lnSpc>
                <a:spcPct val="125000"/>
              </a:lnSpc>
            </a:pPr>
            <a:r>
              <a:rPr lang="en-US" sz="1400" b="0" i="0" u="none" strike="noStrike">
                <a:solidFill>
                  <a:srgbClr val="616161"/>
                </a:solidFill>
                <a:latin typeface="Noto Sans SC"/>
                <a:ea typeface="Noto Sans SC"/>
                <a:cs typeface="Noto Sans SC"/>
                <a:sym typeface="Noto Sans SC"/>
              </a:rPr>
              <a:t>•</a:t>
            </a:r>
            <a:r>
              <a:rPr lang="en-US" sz="1400" b="1" i="0" u="none" strike="noStrike">
                <a:solidFill>
                  <a:srgbClr val="0288D1"/>
                </a:solidFill>
                <a:latin typeface="Noto Sans SC"/>
                <a:ea typeface="Noto Sans SC"/>
                <a:cs typeface="Noto Sans SC"/>
                <a:sym typeface="Noto Sans SC"/>
              </a:rPr>
              <a:t>random_state=100</a:t>
            </a:r>
            <a:r>
              <a:rPr lang="en-US" sz="1400" b="0" i="0" u="none" strike="noStrike">
                <a:solidFill>
                  <a:srgbClr val="616161"/>
                </a:solidFill>
                <a:latin typeface="Noto Sans SC"/>
                <a:ea typeface="Noto Sans SC"/>
                <a:cs typeface="Noto Sans SC"/>
                <a:sym typeface="Noto Sans SC"/>
              </a:rPr>
              <a:t>：设置随机种子，确保每次运行代码时划分结果一致，保证实验的可复现性。</a:t>
            </a:r>
            <a:endParaRPr lang="en-US" sz="1400" b="0" i="0" u="none" strike="noStrike">
              <a:solidFill>
                <a:srgbClr val="616161"/>
              </a:solidFill>
              <a:latin typeface="Noto Sans SC"/>
              <a:ea typeface="Noto Sans SC"/>
              <a:cs typeface="Noto Sans SC"/>
              <a:sym typeface="Noto Sans SC"/>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75946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步骤2：数据预处理（代码示例3）</a:t>
            </a:r>
            <a:endParaRPr lang="en-US" sz="1100"/>
          </a:p>
        </p:txBody>
      </p:sp>
      <p:cxnSp>
        <p:nvCxnSpPr>
          <p:cNvPr id="3" name="Connector 3"/>
          <p:cNvCxnSpPr/>
          <p:nvPr/>
        </p:nvCxnSpPr>
        <p:spPr>
          <a:xfrm rot="-4092">
            <a:off x="762004" y="1136650"/>
            <a:ext cx="10668000" cy="12700"/>
          </a:xfrm>
          <a:prstGeom prst="line">
            <a:avLst/>
          </a:prstGeom>
          <a:solidFill>
            <a:srgbClr val="DEE0E3">
              <a:alpha val="100000"/>
            </a:srgbClr>
          </a:solidFill>
          <a:ln w="25400" cap="flat" cmpd="sng">
            <a:solidFill>
              <a:srgbClr val="0288D1">
                <a:alpha val="100000"/>
              </a:srgbClr>
            </a:solidFill>
            <a:prstDash val="solid"/>
            <a:round/>
            <a:headEnd type="none" w="lg" len="lg"/>
            <a:tailEnd type="none" w="lg" len="lg"/>
          </a:ln>
        </p:spPr>
      </p:cxnSp>
      <p:sp>
        <p:nvSpPr>
          <p:cNvPr id="4" name="AutoShape 4"/>
          <p:cNvSpPr/>
          <p:nvPr/>
        </p:nvSpPr>
        <p:spPr>
          <a:xfrm>
            <a:off x="762000" y="1524000"/>
            <a:ext cx="10668000" cy="2794000"/>
          </a:xfrm>
          <a:prstGeom prst="roundRect">
            <a:avLst>
              <a:gd name="adj" fmla="val 4545"/>
            </a:avLst>
          </a:prstGeom>
          <a:solidFill>
            <a:srgbClr val="1E1E1E">
              <a:alpha val="100000"/>
            </a:srgbClr>
          </a:solidFill>
          <a:ln w="25400" cap="flat" cmpd="sng">
            <a:noFill/>
            <a:prstDash val="solid"/>
            <a:round/>
          </a:ln>
          <a:effectLst>
            <a:outerShdw blurRad="127000" dist="101600" dir="2700000" algn="tl" rotWithShape="0">
              <a:srgbClr val="000000">
                <a:alpha val="20000"/>
              </a:srgbClr>
            </a:outerShdw>
          </a:effectLst>
        </p:spPr>
        <p:txBody>
          <a:bodyPr vert="horz" wrap="square" lIns="63500" tIns="63500" rIns="63500" bIns="63500" rtlCol="0" anchor="ctr"/>
          <a:lstStyle/>
          <a:p>
            <a:pPr algn="ctr">
              <a:defRPr/>
            </a:pPr>
          </a:p>
        </p:txBody>
      </p:sp>
      <p:sp>
        <p:nvSpPr>
          <p:cNvPr id="5" name="AutoShape 5"/>
          <p:cNvSpPr/>
          <p:nvPr/>
        </p:nvSpPr>
        <p:spPr>
          <a:xfrm>
            <a:off x="762000" y="1524000"/>
            <a:ext cx="10668000" cy="381000"/>
          </a:xfrm>
          <a:prstGeom prst="roundRect">
            <a:avLst>
              <a:gd name="adj" fmla="val 0"/>
            </a:avLst>
          </a:prstGeom>
          <a:solidFill>
            <a:srgbClr val="323232">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625600"/>
            <a:ext cx="152400" cy="152400"/>
          </a:xfrm>
          <a:prstGeom prst="ellipse">
            <a:avLst/>
          </a:prstGeom>
          <a:solidFill>
            <a:srgbClr val="FF5F56">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206500" y="1625600"/>
            <a:ext cx="152400" cy="152400"/>
          </a:xfrm>
          <a:prstGeom prst="ellipse">
            <a:avLst/>
          </a:prstGeom>
          <a:solidFill>
            <a:srgbClr val="FFBD2E">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460500" y="1625600"/>
            <a:ext cx="152400" cy="152400"/>
          </a:xfrm>
          <a:prstGeom prst="ellipse">
            <a:avLst/>
          </a:prstGeom>
          <a:solidFill>
            <a:srgbClr val="27C93F">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952500" y="2032000"/>
            <a:ext cx="10287000" cy="215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a:solidFill>
                  <a:srgbClr val="C678DD"/>
                </a:solidFill>
                <a:latin typeface="Consolas"/>
                <a:ea typeface="Consolas"/>
                <a:cs typeface="Consolas"/>
                <a:sym typeface="Consolas"/>
              </a:rPr>
              <a:t>#</a:t>
            </a:r>
            <a:r>
              <a:rPr lang="en-US" sz="1600" b="0" i="0" u="none" strike="noStrike">
                <a:solidFill>
                  <a:srgbClr val="6A9955"/>
                </a:solidFill>
                <a:latin typeface="Consolas"/>
                <a:ea typeface="Consolas"/>
                <a:cs typeface="Consolas"/>
                <a:sym typeface="Consolas"/>
              </a:rPr>
              <a:t>从训练集和测试集中提取评论文本和标签</a:t>
            </a:r>
            <a:endParaRPr lang="en-US" sz="1100"/>
          </a:p>
          <a:p>
            <a:pPr indent="0" algn="l">
              <a:lnSpc>
                <a:spcPct val="108000"/>
              </a:lnSpc>
            </a:pPr>
            <a:r>
              <a:rPr lang="en-US" sz="1600" b="0" i="0" u="none" strike="noStrike">
                <a:solidFill>
                  <a:srgbClr val="E5C07B"/>
                </a:solidFill>
                <a:latin typeface="Consolas"/>
                <a:ea typeface="Consolas"/>
                <a:cs typeface="Consolas"/>
                <a:sym typeface="Consolas"/>
              </a:rPr>
              <a:t>x_train</a:t>
            </a:r>
            <a:r>
              <a:rPr lang="en-US" sz="1600" b="0" i="0" u="none" strike="noStrike">
                <a:solidFill>
                  <a:srgbClr val="ABB2BF"/>
                </a:solidFill>
                <a:latin typeface="Consolas"/>
                <a:ea typeface="Consolas"/>
                <a:cs typeface="Consolas"/>
                <a:sym typeface="Consolas"/>
              </a:rPr>
              <a:t>=</a:t>
            </a:r>
            <a:r>
              <a:rPr lang="en-US" sz="1600" b="0" i="0" u="none" strike="noStrike">
                <a:solidFill>
                  <a:srgbClr val="E5C07B"/>
                </a:solidFill>
                <a:latin typeface="Consolas"/>
                <a:ea typeface="Consolas"/>
                <a:cs typeface="Consolas"/>
                <a:sym typeface="Consolas"/>
              </a:rPr>
              <a:t>train_df</a:t>
            </a:r>
            <a:r>
              <a:rPr lang="en-US" sz="1600" b="0" i="0" u="none" strike="noStrike">
                <a:solidFill>
                  <a:srgbClr val="ABB2BF"/>
                </a:solidFill>
                <a:latin typeface="Consolas"/>
                <a:ea typeface="Consolas"/>
                <a:cs typeface="Consolas"/>
                <a:sym typeface="Consolas"/>
              </a:rPr>
              <a:t>[</a:t>
            </a:r>
            <a:r>
              <a:rPr lang="en-US" sz="1600" b="0" i="0" u="none" strike="noStrike">
                <a:solidFill>
                  <a:srgbClr val="98C379"/>
                </a:solidFill>
                <a:latin typeface="Consolas"/>
                <a:ea typeface="Consolas"/>
                <a:cs typeface="Consolas"/>
                <a:sym typeface="Consolas"/>
              </a:rPr>
              <a:t>'review'</a:t>
            </a:r>
            <a:r>
              <a:rPr lang="en-US" sz="1600" b="0" i="0" u="none" strike="noStrike">
                <a:solidFill>
                  <a:srgbClr val="ABB2BF"/>
                </a:solidFill>
                <a:latin typeface="Consolas"/>
                <a:ea typeface="Consolas"/>
                <a:cs typeface="Consolas"/>
                <a:sym typeface="Consolas"/>
              </a:rPr>
              <a:t>].</a:t>
            </a:r>
            <a:r>
              <a:rPr lang="en-US" sz="1600" b="0" i="0" u="none" strike="noStrike">
                <a:solidFill>
                  <a:srgbClr val="61AFEF"/>
                </a:solidFill>
                <a:latin typeface="Consolas"/>
                <a:ea typeface="Consolas"/>
                <a:cs typeface="Consolas"/>
                <a:sym typeface="Consolas"/>
              </a:rPr>
              <a:t>values</a:t>
            </a:r>
            <a:r>
              <a:rPr lang="en-US" sz="1600" b="0" i="0" u="none" strike="noStrike">
                <a:solidFill>
                  <a:srgbClr val="ABB2BF"/>
                </a:solidFill>
                <a:latin typeface="Consolas"/>
                <a:ea typeface="Consolas"/>
                <a:cs typeface="Consolas"/>
                <a:sym typeface="Consolas"/>
              </a:rPr>
              <a:t>.</a:t>
            </a:r>
            <a:r>
              <a:rPr lang="en-US" sz="1600" b="0" i="0" u="none" strike="noStrike">
                <a:solidFill>
                  <a:srgbClr val="61AFEF"/>
                </a:solidFill>
                <a:latin typeface="Consolas"/>
                <a:ea typeface="Consolas"/>
                <a:cs typeface="Consolas"/>
                <a:sym typeface="Consolas"/>
              </a:rPr>
              <a:t>tolist</a:t>
            </a:r>
            <a:r>
              <a:rPr lang="en-US" sz="1600" b="0" i="0" u="none" strike="noStrike">
                <a:solidFill>
                  <a:srgbClr val="ABB2BF"/>
                </a:solidFill>
                <a:latin typeface="Consolas"/>
                <a:ea typeface="Consolas"/>
                <a:cs typeface="Consolas"/>
                <a:sym typeface="Consolas"/>
              </a:rPr>
              <a:t>()</a:t>
            </a:r>
            <a:endParaRPr lang="en-US" sz="1600" b="0" i="0" u="none" strike="noStrike">
              <a:solidFill>
                <a:srgbClr val="ABB2BF"/>
              </a:solidFill>
              <a:latin typeface="Consolas"/>
              <a:ea typeface="Consolas"/>
              <a:cs typeface="Consolas"/>
              <a:sym typeface="Consolas"/>
            </a:endParaRPr>
          </a:p>
          <a:p>
            <a:pPr indent="0" algn="l">
              <a:lnSpc>
                <a:spcPct val="108000"/>
              </a:lnSpc>
            </a:pPr>
            <a:r>
              <a:rPr lang="en-US" sz="1600" b="0" i="0" u="none" strike="noStrike">
                <a:solidFill>
                  <a:srgbClr val="E5C07B"/>
                </a:solidFill>
                <a:latin typeface="Consolas"/>
                <a:ea typeface="Consolas"/>
                <a:cs typeface="Consolas"/>
                <a:sym typeface="Consolas"/>
              </a:rPr>
              <a:t>y_train</a:t>
            </a:r>
            <a:r>
              <a:rPr lang="en-US" sz="1600" b="0" i="0" u="none" strike="noStrike">
                <a:solidFill>
                  <a:srgbClr val="ABB2BF"/>
                </a:solidFill>
                <a:latin typeface="Consolas"/>
                <a:ea typeface="Consolas"/>
                <a:cs typeface="Consolas"/>
                <a:sym typeface="Consolas"/>
              </a:rPr>
              <a:t>=</a:t>
            </a:r>
            <a:r>
              <a:rPr lang="en-US" sz="1600" b="0" i="0" u="none" strike="noStrike">
                <a:solidFill>
                  <a:srgbClr val="E5C07B"/>
                </a:solidFill>
                <a:latin typeface="Consolas"/>
                <a:ea typeface="Consolas"/>
                <a:cs typeface="Consolas"/>
                <a:sym typeface="Consolas"/>
              </a:rPr>
              <a:t>train_df</a:t>
            </a:r>
            <a:r>
              <a:rPr lang="en-US" sz="1600" b="0" i="0" u="none" strike="noStrike">
                <a:solidFill>
                  <a:srgbClr val="ABB2BF"/>
                </a:solidFill>
                <a:latin typeface="Consolas"/>
                <a:ea typeface="Consolas"/>
                <a:cs typeface="Consolas"/>
                <a:sym typeface="Consolas"/>
              </a:rPr>
              <a:t>[</a:t>
            </a:r>
            <a:r>
              <a:rPr lang="en-US" sz="1600" b="0" i="0" u="none" strike="noStrike">
                <a:solidFill>
                  <a:srgbClr val="98C379"/>
                </a:solidFill>
                <a:latin typeface="Consolas"/>
                <a:ea typeface="Consolas"/>
                <a:cs typeface="Consolas"/>
                <a:sym typeface="Consolas"/>
              </a:rPr>
              <a:t>'label'</a:t>
            </a:r>
            <a:r>
              <a:rPr lang="en-US" sz="1600" b="0" i="0" u="none" strike="noStrike">
                <a:solidFill>
                  <a:srgbClr val="ABB2BF"/>
                </a:solidFill>
                <a:latin typeface="Consolas"/>
                <a:ea typeface="Consolas"/>
                <a:cs typeface="Consolas"/>
                <a:sym typeface="Consolas"/>
              </a:rPr>
              <a:t>].</a:t>
            </a:r>
            <a:r>
              <a:rPr lang="en-US" sz="1600" b="0" i="0" u="none" strike="noStrike">
                <a:solidFill>
                  <a:srgbClr val="61AFEF"/>
                </a:solidFill>
                <a:latin typeface="Consolas"/>
                <a:ea typeface="Consolas"/>
                <a:cs typeface="Consolas"/>
                <a:sym typeface="Consolas"/>
              </a:rPr>
              <a:t>values</a:t>
            </a:r>
            <a:r>
              <a:rPr lang="en-US" sz="1600" b="0" i="0" u="none" strike="noStrike">
                <a:solidFill>
                  <a:srgbClr val="ABB2BF"/>
                </a:solidFill>
                <a:latin typeface="Consolas"/>
                <a:ea typeface="Consolas"/>
                <a:cs typeface="Consolas"/>
                <a:sym typeface="Consolas"/>
              </a:rPr>
              <a:t>.</a:t>
            </a:r>
            <a:r>
              <a:rPr lang="en-US" sz="1600" b="0" i="0" u="none" strike="noStrike">
                <a:solidFill>
                  <a:srgbClr val="61AFEF"/>
                </a:solidFill>
                <a:latin typeface="Consolas"/>
                <a:ea typeface="Consolas"/>
                <a:cs typeface="Consolas"/>
                <a:sym typeface="Consolas"/>
              </a:rPr>
              <a:t>tolist</a:t>
            </a:r>
            <a:r>
              <a:rPr lang="en-US" sz="1600" b="0" i="0" u="none" strike="noStrike">
                <a:solidFill>
                  <a:srgbClr val="ABB2BF"/>
                </a:solidFill>
                <a:latin typeface="Consolas"/>
                <a:ea typeface="Consolas"/>
                <a:cs typeface="Consolas"/>
                <a:sym typeface="Consolas"/>
              </a:rPr>
              <a:t>()</a:t>
            </a:r>
            <a:endParaRPr lang="en-US" sz="1600" b="0" i="0" u="none" strike="noStrike">
              <a:solidFill>
                <a:srgbClr val="ABB2BF"/>
              </a:solidFill>
              <a:latin typeface="Consolas"/>
              <a:ea typeface="Consolas"/>
              <a:cs typeface="Consolas"/>
              <a:sym typeface="Consolas"/>
            </a:endParaRPr>
          </a:p>
          <a:p>
            <a:pPr indent="0" algn="l">
              <a:lnSpc>
                <a:spcPct val="108000"/>
              </a:lnSpc>
            </a:pPr>
            <a:r>
              <a:rPr lang="en-US" sz="1600" b="0" i="0" u="none" strike="noStrike">
                <a:solidFill>
                  <a:srgbClr val="E5C07B"/>
                </a:solidFill>
                <a:latin typeface="Consolas"/>
                <a:ea typeface="Consolas"/>
                <a:cs typeface="Consolas"/>
                <a:sym typeface="Consolas"/>
              </a:rPr>
              <a:t>x_test</a:t>
            </a:r>
            <a:r>
              <a:rPr lang="en-US" sz="1600" b="0" i="0" u="none" strike="noStrike">
                <a:solidFill>
                  <a:srgbClr val="ABB2BF"/>
                </a:solidFill>
                <a:latin typeface="Consolas"/>
                <a:ea typeface="Consolas"/>
                <a:cs typeface="Consolas"/>
                <a:sym typeface="Consolas"/>
              </a:rPr>
              <a:t>=</a:t>
            </a:r>
            <a:r>
              <a:rPr lang="en-US" sz="1600" b="0" i="0" u="none" strike="noStrike">
                <a:solidFill>
                  <a:srgbClr val="E5C07B"/>
                </a:solidFill>
                <a:latin typeface="Consolas"/>
                <a:ea typeface="Consolas"/>
                <a:cs typeface="Consolas"/>
                <a:sym typeface="Consolas"/>
              </a:rPr>
              <a:t>test_df</a:t>
            </a:r>
            <a:r>
              <a:rPr lang="en-US" sz="1600" b="0" i="0" u="none" strike="noStrike">
                <a:solidFill>
                  <a:srgbClr val="ABB2BF"/>
                </a:solidFill>
                <a:latin typeface="Consolas"/>
                <a:ea typeface="Consolas"/>
                <a:cs typeface="Consolas"/>
                <a:sym typeface="Consolas"/>
              </a:rPr>
              <a:t>[</a:t>
            </a:r>
            <a:r>
              <a:rPr lang="en-US" sz="1600" b="0" i="0" u="none" strike="noStrike">
                <a:solidFill>
                  <a:srgbClr val="98C379"/>
                </a:solidFill>
                <a:latin typeface="Consolas"/>
                <a:ea typeface="Consolas"/>
                <a:cs typeface="Consolas"/>
                <a:sym typeface="Consolas"/>
              </a:rPr>
              <a:t>'review'</a:t>
            </a:r>
            <a:r>
              <a:rPr lang="en-US" sz="1600" b="0" i="0" u="none" strike="noStrike">
                <a:solidFill>
                  <a:srgbClr val="ABB2BF"/>
                </a:solidFill>
                <a:latin typeface="Consolas"/>
                <a:ea typeface="Consolas"/>
                <a:cs typeface="Consolas"/>
                <a:sym typeface="Consolas"/>
              </a:rPr>
              <a:t>].</a:t>
            </a:r>
            <a:r>
              <a:rPr lang="en-US" sz="1600" b="0" i="0" u="none" strike="noStrike">
                <a:solidFill>
                  <a:srgbClr val="61AFEF"/>
                </a:solidFill>
                <a:latin typeface="Consolas"/>
                <a:ea typeface="Consolas"/>
                <a:cs typeface="Consolas"/>
                <a:sym typeface="Consolas"/>
              </a:rPr>
              <a:t>values</a:t>
            </a:r>
            <a:r>
              <a:rPr lang="en-US" sz="1600" b="0" i="0" u="none" strike="noStrike">
                <a:solidFill>
                  <a:srgbClr val="ABB2BF"/>
                </a:solidFill>
                <a:latin typeface="Consolas"/>
                <a:ea typeface="Consolas"/>
                <a:cs typeface="Consolas"/>
                <a:sym typeface="Consolas"/>
              </a:rPr>
              <a:t>.</a:t>
            </a:r>
            <a:r>
              <a:rPr lang="en-US" sz="1600" b="0" i="0" u="none" strike="noStrike">
                <a:solidFill>
                  <a:srgbClr val="61AFEF"/>
                </a:solidFill>
                <a:latin typeface="Consolas"/>
                <a:ea typeface="Consolas"/>
                <a:cs typeface="Consolas"/>
                <a:sym typeface="Consolas"/>
              </a:rPr>
              <a:t>tolist</a:t>
            </a:r>
            <a:r>
              <a:rPr lang="en-US" sz="1600" b="0" i="0" u="none" strike="noStrike">
                <a:solidFill>
                  <a:srgbClr val="ABB2BF"/>
                </a:solidFill>
                <a:latin typeface="Consolas"/>
                <a:ea typeface="Consolas"/>
                <a:cs typeface="Consolas"/>
                <a:sym typeface="Consolas"/>
              </a:rPr>
              <a:t>()</a:t>
            </a:r>
            <a:endParaRPr lang="en-US" sz="1600" b="0" i="0" u="none" strike="noStrike">
              <a:solidFill>
                <a:srgbClr val="ABB2BF"/>
              </a:solidFill>
              <a:latin typeface="Consolas"/>
              <a:ea typeface="Consolas"/>
              <a:cs typeface="Consolas"/>
              <a:sym typeface="Consolas"/>
            </a:endParaRPr>
          </a:p>
          <a:p>
            <a:pPr indent="0" algn="l">
              <a:lnSpc>
                <a:spcPct val="108000"/>
              </a:lnSpc>
            </a:pPr>
            <a:r>
              <a:rPr lang="en-US" sz="1600" b="0" i="0" u="none" strike="noStrike">
                <a:solidFill>
                  <a:srgbClr val="E5C07B"/>
                </a:solidFill>
                <a:latin typeface="Consolas"/>
                <a:ea typeface="Consolas"/>
                <a:cs typeface="Consolas"/>
                <a:sym typeface="Consolas"/>
              </a:rPr>
              <a:t>y_test</a:t>
            </a:r>
            <a:r>
              <a:rPr lang="en-US" sz="1600" b="0" i="0" u="none" strike="noStrike">
                <a:solidFill>
                  <a:srgbClr val="ABB2BF"/>
                </a:solidFill>
                <a:latin typeface="Consolas"/>
                <a:ea typeface="Consolas"/>
                <a:cs typeface="Consolas"/>
                <a:sym typeface="Consolas"/>
              </a:rPr>
              <a:t>=</a:t>
            </a:r>
            <a:r>
              <a:rPr lang="en-US" sz="1600" b="0" i="0" u="none" strike="noStrike">
                <a:solidFill>
                  <a:srgbClr val="E5C07B"/>
                </a:solidFill>
                <a:latin typeface="Consolas"/>
                <a:ea typeface="Consolas"/>
                <a:cs typeface="Consolas"/>
                <a:sym typeface="Consolas"/>
              </a:rPr>
              <a:t>test_df</a:t>
            </a:r>
            <a:r>
              <a:rPr lang="en-US" sz="1600" b="0" i="0" u="none" strike="noStrike">
                <a:solidFill>
                  <a:srgbClr val="ABB2BF"/>
                </a:solidFill>
                <a:latin typeface="Consolas"/>
                <a:ea typeface="Consolas"/>
                <a:cs typeface="Consolas"/>
                <a:sym typeface="Consolas"/>
              </a:rPr>
              <a:t>[</a:t>
            </a:r>
            <a:r>
              <a:rPr lang="en-US" sz="1600" b="0" i="0" u="none" strike="noStrike">
                <a:solidFill>
                  <a:srgbClr val="98C379"/>
                </a:solidFill>
                <a:latin typeface="Consolas"/>
                <a:ea typeface="Consolas"/>
                <a:cs typeface="Consolas"/>
                <a:sym typeface="Consolas"/>
              </a:rPr>
              <a:t>'label'</a:t>
            </a:r>
            <a:r>
              <a:rPr lang="en-US" sz="1600" b="0" i="0" u="none" strike="noStrike">
                <a:solidFill>
                  <a:srgbClr val="ABB2BF"/>
                </a:solidFill>
                <a:latin typeface="Consolas"/>
                <a:ea typeface="Consolas"/>
                <a:cs typeface="Consolas"/>
                <a:sym typeface="Consolas"/>
              </a:rPr>
              <a:t>].</a:t>
            </a:r>
            <a:r>
              <a:rPr lang="en-US" sz="1600" b="0" i="0" u="none" strike="noStrike">
                <a:solidFill>
                  <a:srgbClr val="61AFEF"/>
                </a:solidFill>
                <a:latin typeface="Consolas"/>
                <a:ea typeface="Consolas"/>
                <a:cs typeface="Consolas"/>
                <a:sym typeface="Consolas"/>
              </a:rPr>
              <a:t>values</a:t>
            </a:r>
            <a:r>
              <a:rPr lang="en-US" sz="1600" b="0" i="0" u="none" strike="noStrike">
                <a:solidFill>
                  <a:srgbClr val="ABB2BF"/>
                </a:solidFill>
                <a:latin typeface="Consolas"/>
                <a:ea typeface="Consolas"/>
                <a:cs typeface="Consolas"/>
                <a:sym typeface="Consolas"/>
              </a:rPr>
              <a:t>.</a:t>
            </a:r>
            <a:r>
              <a:rPr lang="en-US" sz="1600" b="0" i="0" u="none" strike="noStrike">
                <a:solidFill>
                  <a:srgbClr val="61AFEF"/>
                </a:solidFill>
                <a:latin typeface="Consolas"/>
                <a:ea typeface="Consolas"/>
                <a:cs typeface="Consolas"/>
                <a:sym typeface="Consolas"/>
              </a:rPr>
              <a:t>tolist</a:t>
            </a:r>
            <a:r>
              <a:rPr lang="en-US" sz="1600" b="0" i="0" u="none" strike="noStrike">
                <a:solidFill>
                  <a:srgbClr val="ABB2BF"/>
                </a:solidFill>
                <a:latin typeface="Consolas"/>
                <a:ea typeface="Consolas"/>
                <a:cs typeface="Consolas"/>
                <a:sym typeface="Consolas"/>
              </a:rPr>
              <a:t>()</a:t>
            </a:r>
            <a:endParaRPr lang="en-US" sz="1600" b="0" i="0" u="none" strike="noStrike">
              <a:solidFill>
                <a:srgbClr val="ABB2BF"/>
              </a:solidFill>
              <a:latin typeface="Consolas"/>
              <a:ea typeface="Consolas"/>
              <a:cs typeface="Consolas"/>
              <a:sym typeface="Consolas"/>
            </a:endParaRPr>
          </a:p>
        </p:txBody>
      </p:sp>
      <p:sp>
        <p:nvSpPr>
          <p:cNvPr id="10" name="AutoShape 10"/>
          <p:cNvSpPr/>
          <p:nvPr/>
        </p:nvSpPr>
        <p:spPr>
          <a:xfrm>
            <a:off x="762000" y="4572000"/>
            <a:ext cx="10668000" cy="1270000"/>
          </a:xfrm>
          <a:prstGeom prst="roundRect">
            <a:avLst>
              <a:gd name="adj" fmla="val 10000"/>
            </a:avLst>
          </a:prstGeom>
          <a:solidFill>
            <a:srgbClr val="FFFFFF">
              <a:alpha val="80000"/>
            </a:srgbClr>
          </a:solidFill>
          <a:ln w="12700" cap="flat" cmpd="sng">
            <a:solidFill>
              <a:srgbClr val="0288D1">
                <a:alpha val="10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4889500"/>
            <a:ext cx="508000" cy="508000"/>
          </a:xfrm>
          <a:prstGeom prst="rect">
            <a:avLst/>
          </a:prstGeom>
        </p:spPr>
      </p:pic>
      <p:sp>
        <p:nvSpPr>
          <p:cNvPr id="12" name="AutoShape 12"/>
          <p:cNvSpPr/>
          <p:nvPr/>
        </p:nvSpPr>
        <p:spPr>
          <a:xfrm>
            <a:off x="1651000" y="4699000"/>
            <a:ext cx="9525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代码功能解析</a:t>
            </a:r>
            <a:endParaRPr lang="en-US" sz="1100"/>
          </a:p>
          <a:p>
            <a:pPr indent="0" algn="l">
              <a:lnSpc>
                <a:spcPct val="100000"/>
              </a:lnSpc>
            </a:pPr>
            <a:r>
              <a:rPr lang="en-US" sz="1400" b="0" i="0" u="none" strike="noStrike">
                <a:solidFill>
                  <a:srgbClr val="424242"/>
                </a:solidFill>
                <a:latin typeface="Noto Sans SC"/>
                <a:ea typeface="Noto Sans SC"/>
                <a:cs typeface="Noto Sans SC"/>
                <a:sym typeface="Noto Sans SC"/>
              </a:rPr>
              <a:t>此段代码实现了从 Pandas DataFrame 中提取数据的核心步骤。通过 `.values.tolist()` 方法，我们将 DataFrame 中的特定列（'review' 和 'label'）转换为 Python 列表格式，分别存入 x_train, y_train, x_test, y_test 四个变量中，为后续的特征工程和模型训练做好数据准备。</a:t>
            </a:r>
            <a:endParaRPr lang="en-US" sz="1400" b="0" i="0" u="none" strike="noStrike">
              <a:solidFill>
                <a:srgbClr val="424242"/>
              </a:solidFill>
              <a:latin typeface="Noto Sans SC"/>
              <a:ea typeface="Noto Sans SC"/>
              <a:cs typeface="Noto Sans SC"/>
              <a:sym typeface="Noto Sans SC"/>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80391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步骤2：数据预处理（代码示例4）</a:t>
            </a:r>
            <a:endParaRPr lang="en-US" sz="1100"/>
          </a:p>
        </p:txBody>
      </p:sp>
      <p:sp>
        <p:nvSpPr>
          <p:cNvPr id="3" name="AutoShape 3"/>
          <p:cNvSpPr/>
          <p:nvPr/>
        </p:nvSpPr>
        <p:spPr>
          <a:xfrm>
            <a:off x="762000" y="1270000"/>
            <a:ext cx="10668000" cy="3810000"/>
          </a:xfrm>
          <a:prstGeom prst="roundRect">
            <a:avLst>
              <a:gd name="adj" fmla="val 3333"/>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762000" y="1270000"/>
            <a:ext cx="10668000" cy="457200"/>
          </a:xfrm>
          <a:prstGeom prst="roundRect">
            <a:avLst>
              <a:gd name="adj" fmla="val 27777"/>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889000" y="1270000"/>
            <a:ext cx="10414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FFFF"/>
                </a:solidFill>
                <a:latin typeface="Noto Sans SC"/>
                <a:ea typeface="Noto Sans SC"/>
                <a:cs typeface="Noto Sans SC"/>
                <a:sym typeface="Noto Sans SC"/>
              </a:rPr>
              <a:t>Python Code: 读取停用词并定义过滤函数</a:t>
            </a:r>
            <a:endParaRPr lang="en-US" sz="1100"/>
          </a:p>
        </p:txBody>
      </p:sp>
      <p:sp>
        <p:nvSpPr>
          <p:cNvPr id="6" name="AutoShape 6"/>
          <p:cNvSpPr/>
          <p:nvPr/>
        </p:nvSpPr>
        <p:spPr>
          <a:xfrm>
            <a:off x="952500" y="1841500"/>
            <a:ext cx="10287000" cy="304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0" i="0" u="none" strike="noStrike">
                <a:solidFill>
                  <a:srgbClr val="C7254E"/>
                </a:solidFill>
                <a:latin typeface="Roboto Mono"/>
                <a:ea typeface="Roboto Mono"/>
                <a:cs typeface="Roboto Mono"/>
                <a:sym typeface="Roboto Mono"/>
              </a:rPr>
              <a:t>def</a:t>
            </a:r>
            <a:r>
              <a:rPr lang="en-US" sz="1300" b="0" i="0" u="none" strike="noStrike">
                <a:solidFill>
                  <a:srgbClr val="D73A49"/>
                </a:solidFill>
                <a:latin typeface="Roboto Mono"/>
                <a:ea typeface="Roboto Mono"/>
                <a:cs typeface="Roboto Mono"/>
                <a:sym typeface="Roboto Mono"/>
              </a:rPr>
              <a:t>read_text_file</a:t>
            </a:r>
            <a:r>
              <a:rPr lang="en-US" sz="1300" b="0" i="0" u="none" strike="noStrike">
                <a:solidFill>
                  <a:srgbClr val="424242"/>
                </a:solidFill>
                <a:latin typeface="Roboto Mono"/>
                <a:ea typeface="Roboto Mono"/>
                <a:cs typeface="Roboto Mono"/>
                <a:sym typeface="Roboto Mono"/>
              </a:rPr>
              <a:t>(file_path):</a:t>
            </a:r>
            <a:endParaRPr lang="en-US" sz="1100"/>
          </a:p>
          <a:p>
            <a:pPr indent="0" algn="l">
              <a:lnSpc>
                <a:spcPct val="100000"/>
              </a:lnSpc>
            </a:pPr>
            <a:r>
              <a:rPr lang="en-US" sz="1300" b="0" i="0" u="none" strike="noStrike">
                <a:solidFill>
                  <a:srgbClr val="C7254E"/>
                </a:solidFill>
                <a:latin typeface="Roboto Mono"/>
                <a:ea typeface="Roboto Mono"/>
                <a:cs typeface="Roboto Mono"/>
                <a:sym typeface="Roboto Mono"/>
              </a:rPr>
              <a:t>with</a:t>
            </a:r>
            <a:r>
              <a:rPr lang="en-US" sz="1300" b="0" i="0" u="none" strike="noStrike">
                <a:solidFill>
                  <a:srgbClr val="424242"/>
                </a:solidFill>
                <a:latin typeface="Roboto Mono"/>
                <a:ea typeface="Roboto Mono"/>
                <a:cs typeface="Roboto Mono"/>
                <a:sym typeface="Roboto Mono"/>
              </a:rPr>
              <a:t>open(file_path,</a:t>
            </a:r>
            <a:r>
              <a:rPr lang="en-US" sz="1300" b="0" i="0" u="none" strike="noStrike">
                <a:solidFill>
                  <a:srgbClr val="0571A5"/>
                </a:solidFill>
                <a:latin typeface="Roboto Mono"/>
                <a:ea typeface="Roboto Mono"/>
                <a:cs typeface="Roboto Mono"/>
                <a:sym typeface="Roboto Mono"/>
              </a:rPr>
              <a:t>'r'</a:t>
            </a:r>
            <a:r>
              <a:rPr lang="en-US" sz="1300" b="0" i="0" u="none" strike="noStrike">
                <a:solidFill>
                  <a:srgbClr val="424242"/>
                </a:solidFill>
                <a:latin typeface="Roboto Mono"/>
                <a:ea typeface="Roboto Mono"/>
                <a:cs typeface="Roboto Mono"/>
                <a:sym typeface="Roboto Mono"/>
              </a:rPr>
              <a:t>, encoding=</a:t>
            </a:r>
            <a:r>
              <a:rPr lang="en-US" sz="1300" b="0" i="0" u="none" strike="noStrike">
                <a:solidFill>
                  <a:srgbClr val="0571A5"/>
                </a:solidFill>
                <a:latin typeface="Roboto Mono"/>
                <a:ea typeface="Roboto Mono"/>
                <a:cs typeface="Roboto Mono"/>
                <a:sym typeface="Roboto Mono"/>
              </a:rPr>
              <a:t>'utf-8'</a:t>
            </a:r>
            <a:r>
              <a:rPr lang="en-US" sz="1300" b="0" i="0" u="none" strike="noStrike">
                <a:solidFill>
                  <a:srgbClr val="424242"/>
                </a:solidFill>
                <a:latin typeface="Roboto Mono"/>
                <a:ea typeface="Roboto Mono"/>
                <a:cs typeface="Roboto Mono"/>
                <a:sym typeface="Roboto Mono"/>
              </a:rPr>
              <a:t>)</a:t>
            </a:r>
            <a:r>
              <a:rPr lang="en-US" sz="1300" b="0" i="0" u="none" strike="noStrike">
                <a:solidFill>
                  <a:srgbClr val="C7254E"/>
                </a:solidFill>
                <a:latin typeface="Roboto Mono"/>
                <a:ea typeface="Roboto Mono"/>
                <a:cs typeface="Roboto Mono"/>
                <a:sym typeface="Roboto Mono"/>
              </a:rPr>
              <a:t>as</a:t>
            </a:r>
            <a:r>
              <a:rPr lang="en-US" sz="1300" b="0" i="0" u="none" strike="noStrike">
                <a:solidFill>
                  <a:srgbClr val="424242"/>
                </a:solidFill>
                <a:latin typeface="Roboto Mono"/>
                <a:ea typeface="Roboto Mono"/>
                <a:cs typeface="Roboto Mono"/>
                <a:sym typeface="Roboto Mono"/>
              </a:rPr>
              <a:t>f:</a:t>
            </a:r>
            <a:endParaRPr lang="en-US" sz="1300" b="0" i="0" u="none" strike="noStrike">
              <a:solidFill>
                <a:srgbClr val="424242"/>
              </a:solidFill>
              <a:latin typeface="Roboto Mono"/>
              <a:ea typeface="Roboto Mono"/>
              <a:cs typeface="Roboto Mono"/>
              <a:sym typeface="Roboto Mono"/>
            </a:endParaRPr>
          </a:p>
          <a:p>
            <a:pPr indent="0" algn="l">
              <a:lnSpc>
                <a:spcPct val="100000"/>
              </a:lnSpc>
            </a:pPr>
            <a:r>
              <a:rPr lang="en-US" sz="1300" b="0" i="0" u="none" strike="noStrike">
                <a:solidFill>
                  <a:srgbClr val="424242"/>
                </a:solidFill>
                <a:latin typeface="Roboto Mono"/>
                <a:ea typeface="Roboto Mono"/>
                <a:cs typeface="Roboto Mono"/>
                <a:sym typeface="Roboto Mono"/>
              </a:rPr>
              <a:t>lines = f.readlines()</a:t>
            </a:r>
            <a:endParaRPr lang="en-US" sz="1300" b="0" i="0" u="none" strike="noStrike">
              <a:solidFill>
                <a:srgbClr val="424242"/>
              </a:solidFill>
              <a:latin typeface="Roboto Mono"/>
              <a:ea typeface="Roboto Mono"/>
              <a:cs typeface="Roboto Mono"/>
              <a:sym typeface="Roboto Mono"/>
            </a:endParaRPr>
          </a:p>
          <a:p>
            <a:pPr indent="0" algn="l">
              <a:lnSpc>
                <a:spcPct val="100000"/>
              </a:lnSpc>
            </a:pPr>
            <a:r>
              <a:rPr lang="en-US" sz="1300" b="0" i="0" u="none" strike="noStrike">
                <a:solidFill>
                  <a:srgbClr val="C7254E"/>
                </a:solidFill>
                <a:latin typeface="Roboto Mono"/>
                <a:ea typeface="Roboto Mono"/>
                <a:cs typeface="Roboto Mono"/>
                <a:sym typeface="Roboto Mono"/>
              </a:rPr>
              <a:t>return</a:t>
            </a:r>
            <a:r>
              <a:rPr lang="en-US" sz="1300" b="0" i="0" u="none" strike="noStrike">
                <a:solidFill>
                  <a:srgbClr val="424242"/>
                </a:solidFill>
                <a:latin typeface="Roboto Mono"/>
                <a:ea typeface="Roboto Mono"/>
                <a:cs typeface="Roboto Mono"/>
                <a:sym typeface="Roboto Mono"/>
              </a:rPr>
              <a:t>lines</a:t>
            </a:r>
            <a:endParaRPr lang="en-US" sz="1300" b="0" i="0" u="none" strike="noStrike">
              <a:solidFill>
                <a:srgbClr val="424242"/>
              </a:solidFill>
              <a:latin typeface="Roboto Mono"/>
              <a:ea typeface="Roboto Mono"/>
              <a:cs typeface="Roboto Mono"/>
              <a:sym typeface="Roboto Mono"/>
            </a:endParaRPr>
          </a:p>
          <a:p>
            <a:pPr indent="0" algn="l">
              <a:lnSpc>
                <a:spcPct val="100000"/>
              </a:lnSpc>
            </a:pPr>
            <a:r>
              <a:rPr lang="en-US" sz="1300" b="0" i="0" u="none" strike="noStrike">
                <a:solidFill>
                  <a:srgbClr val="424242"/>
                </a:solidFill>
                <a:latin typeface="Roboto Mono"/>
                <a:ea typeface="Roboto Mono"/>
                <a:cs typeface="Roboto Mono"/>
                <a:sym typeface="Roboto Mono"/>
              </a:rPr>
              <a:t>stop_words = read_text_file(</a:t>
            </a:r>
            <a:r>
              <a:rPr lang="en-US" sz="1300" b="0" i="0" u="none" strike="noStrike">
                <a:solidFill>
                  <a:srgbClr val="0571A5"/>
                </a:solidFill>
                <a:latin typeface="Roboto Mono"/>
                <a:ea typeface="Roboto Mono"/>
                <a:cs typeface="Roboto Mono"/>
                <a:sym typeface="Roboto Mono"/>
              </a:rPr>
              <a:t>"stopwords.txt"</a:t>
            </a:r>
            <a:r>
              <a:rPr lang="en-US" sz="1300" b="0" i="0" u="none" strike="noStrike">
                <a:solidFill>
                  <a:srgbClr val="424242"/>
                </a:solidFill>
                <a:latin typeface="Roboto Mono"/>
                <a:ea typeface="Roboto Mono"/>
                <a:cs typeface="Roboto Mono"/>
                <a:sym typeface="Roboto Mono"/>
              </a:rPr>
              <a:t>)</a:t>
            </a:r>
            <a:endParaRPr lang="en-US" sz="1300" b="0" i="0" u="none" strike="noStrike">
              <a:solidFill>
                <a:srgbClr val="424242"/>
              </a:solidFill>
              <a:latin typeface="Roboto Mono"/>
              <a:ea typeface="Roboto Mono"/>
              <a:cs typeface="Roboto Mono"/>
              <a:sym typeface="Roboto Mono"/>
            </a:endParaRPr>
          </a:p>
          <a:p>
            <a:pPr indent="0" algn="l">
              <a:lnSpc>
                <a:spcPct val="100000"/>
              </a:lnSpc>
            </a:pPr>
            <a:r>
              <a:rPr lang="en-US" sz="1300" b="0" i="0" u="none" strike="noStrike">
                <a:solidFill>
                  <a:srgbClr val="424242"/>
                </a:solidFill>
                <a:latin typeface="Roboto Mono"/>
                <a:ea typeface="Roboto Mono"/>
                <a:cs typeface="Roboto Mono"/>
                <a:sym typeface="Roboto Mono"/>
              </a:rPr>
              <a:t>stop_words = [word.replace(</a:t>
            </a:r>
            <a:r>
              <a:rPr lang="en-US" sz="1300" b="0" i="0" u="none" strike="noStrike">
                <a:solidFill>
                  <a:srgbClr val="0571A5"/>
                </a:solidFill>
                <a:latin typeface="Roboto Mono"/>
                <a:ea typeface="Roboto Mono"/>
                <a:cs typeface="Roboto Mono"/>
                <a:sym typeface="Roboto Mono"/>
              </a:rPr>
              <a:t>"\n"</a:t>
            </a:r>
            <a:r>
              <a:rPr lang="en-US" sz="1300" b="0" i="0" u="none" strike="noStrike">
                <a:solidFill>
                  <a:srgbClr val="424242"/>
                </a:solidFill>
                <a:latin typeface="Roboto Mono"/>
                <a:ea typeface="Roboto Mono"/>
                <a:cs typeface="Roboto Mono"/>
                <a:sym typeface="Roboto Mono"/>
              </a:rPr>
              <a:t>,</a:t>
            </a:r>
            <a:r>
              <a:rPr lang="en-US" sz="1300" b="0" i="0" u="none" strike="noStrike">
                <a:solidFill>
                  <a:srgbClr val="0571A5"/>
                </a:solidFill>
                <a:latin typeface="Roboto Mono"/>
                <a:ea typeface="Roboto Mono"/>
                <a:cs typeface="Roboto Mono"/>
                <a:sym typeface="Roboto Mono"/>
              </a:rPr>
              <a:t>''</a:t>
            </a:r>
            <a:r>
              <a:rPr lang="en-US" sz="1300" b="0" i="0" u="none" strike="noStrike">
                <a:solidFill>
                  <a:srgbClr val="424242"/>
                </a:solidFill>
                <a:latin typeface="Roboto Mono"/>
                <a:ea typeface="Roboto Mono"/>
                <a:cs typeface="Roboto Mono"/>
                <a:sym typeface="Roboto Mono"/>
              </a:rPr>
              <a:t>)</a:t>
            </a:r>
            <a:r>
              <a:rPr lang="en-US" sz="1300" b="0" i="0" u="none" strike="noStrike">
                <a:solidFill>
                  <a:srgbClr val="C7254E"/>
                </a:solidFill>
                <a:latin typeface="Roboto Mono"/>
                <a:ea typeface="Roboto Mono"/>
                <a:cs typeface="Roboto Mono"/>
                <a:sym typeface="Roboto Mono"/>
              </a:rPr>
              <a:t>for</a:t>
            </a:r>
            <a:r>
              <a:rPr lang="en-US" sz="1300" b="0" i="0" u="none" strike="noStrike">
                <a:solidFill>
                  <a:srgbClr val="424242"/>
                </a:solidFill>
                <a:latin typeface="Roboto Mono"/>
                <a:ea typeface="Roboto Mono"/>
                <a:cs typeface="Roboto Mono"/>
                <a:sym typeface="Roboto Mono"/>
              </a:rPr>
              <a:t>word</a:t>
            </a:r>
            <a:r>
              <a:rPr lang="en-US" sz="1300" b="0" i="0" u="none" strike="noStrike">
                <a:solidFill>
                  <a:srgbClr val="C7254E"/>
                </a:solidFill>
                <a:latin typeface="Roboto Mono"/>
                <a:ea typeface="Roboto Mono"/>
                <a:cs typeface="Roboto Mono"/>
                <a:sym typeface="Roboto Mono"/>
              </a:rPr>
              <a:t>in</a:t>
            </a:r>
            <a:r>
              <a:rPr lang="en-US" sz="1300" b="0" i="0" u="none" strike="noStrike">
                <a:solidFill>
                  <a:srgbClr val="424242"/>
                </a:solidFill>
                <a:latin typeface="Roboto Mono"/>
                <a:ea typeface="Roboto Mono"/>
                <a:cs typeface="Roboto Mono"/>
                <a:sym typeface="Roboto Mono"/>
              </a:rPr>
              <a:t>stop_words]</a:t>
            </a:r>
            <a:endParaRPr lang="en-US" sz="1300" b="0" i="0" u="none" strike="noStrike">
              <a:solidFill>
                <a:srgbClr val="424242"/>
              </a:solidFill>
              <a:latin typeface="Roboto Mono"/>
              <a:ea typeface="Roboto Mono"/>
              <a:cs typeface="Roboto Mono"/>
              <a:sym typeface="Roboto Mono"/>
            </a:endParaRPr>
          </a:p>
          <a:p>
            <a:pPr indent="0" algn="l">
              <a:lnSpc>
                <a:spcPct val="100000"/>
              </a:lnSpc>
            </a:pPr>
            <a:r>
              <a:rPr lang="en-US" sz="1300" b="0" i="0" u="none" strike="noStrike">
                <a:solidFill>
                  <a:srgbClr val="C7254E"/>
                </a:solidFill>
                <a:latin typeface="Roboto Mono"/>
                <a:ea typeface="Roboto Mono"/>
                <a:cs typeface="Roboto Mono"/>
                <a:sym typeface="Roboto Mono"/>
              </a:rPr>
              <a:t>def</a:t>
            </a:r>
            <a:r>
              <a:rPr lang="en-US" sz="1300" b="0" i="0" u="none" strike="noStrike">
                <a:solidFill>
                  <a:srgbClr val="D73A49"/>
                </a:solidFill>
                <a:latin typeface="Roboto Mono"/>
                <a:ea typeface="Roboto Mono"/>
                <a:cs typeface="Roboto Mono"/>
                <a:sym typeface="Roboto Mono"/>
              </a:rPr>
              <a:t>filter_stop_words</a:t>
            </a:r>
            <a:r>
              <a:rPr lang="en-US" sz="1300" b="0" i="0" u="none" strike="noStrike">
                <a:solidFill>
                  <a:srgbClr val="424242"/>
                </a:solidFill>
                <a:latin typeface="Roboto Mono"/>
                <a:ea typeface="Roboto Mono"/>
                <a:cs typeface="Roboto Mono"/>
                <a:sym typeface="Roboto Mono"/>
              </a:rPr>
              <a:t>(lines):</a:t>
            </a:r>
            <a:endParaRPr lang="en-US" sz="1300" b="0" i="0" u="none" strike="noStrike">
              <a:solidFill>
                <a:srgbClr val="424242"/>
              </a:solidFill>
              <a:latin typeface="Roboto Mono"/>
              <a:ea typeface="Roboto Mono"/>
              <a:cs typeface="Roboto Mono"/>
              <a:sym typeface="Roboto Mono"/>
            </a:endParaRPr>
          </a:p>
          <a:p>
            <a:pPr indent="0" algn="l">
              <a:lnSpc>
                <a:spcPct val="100000"/>
              </a:lnSpc>
            </a:pPr>
            <a:r>
              <a:rPr lang="en-US" sz="1300" b="0" i="0" u="none" strike="noStrike">
                <a:solidFill>
                  <a:srgbClr val="424242"/>
                </a:solidFill>
                <a:latin typeface="Roboto Mono"/>
                <a:ea typeface="Roboto Mono"/>
                <a:cs typeface="Roboto Mono"/>
                <a:sym typeface="Roboto Mono"/>
              </a:rPr>
              <a:t>new_lines = []</a:t>
            </a:r>
            <a:endParaRPr lang="en-US" sz="1300" b="0" i="0" u="none" strike="noStrike">
              <a:solidFill>
                <a:srgbClr val="424242"/>
              </a:solidFill>
              <a:latin typeface="Roboto Mono"/>
              <a:ea typeface="Roboto Mono"/>
              <a:cs typeface="Roboto Mono"/>
              <a:sym typeface="Roboto Mono"/>
            </a:endParaRPr>
          </a:p>
          <a:p>
            <a:pPr indent="0" algn="l">
              <a:lnSpc>
                <a:spcPct val="100000"/>
              </a:lnSpc>
            </a:pPr>
            <a:r>
              <a:rPr lang="en-US" sz="1300" b="0" i="0" u="none" strike="noStrike">
                <a:solidFill>
                  <a:srgbClr val="C7254E"/>
                </a:solidFill>
                <a:latin typeface="Roboto Mono"/>
                <a:ea typeface="Roboto Mono"/>
                <a:cs typeface="Roboto Mono"/>
                <a:sym typeface="Roboto Mono"/>
              </a:rPr>
              <a:t>for</a:t>
            </a:r>
            <a:r>
              <a:rPr lang="en-US" sz="1300" b="0" i="0" u="none" strike="noStrike">
                <a:solidFill>
                  <a:srgbClr val="424242"/>
                </a:solidFill>
                <a:latin typeface="Roboto Mono"/>
                <a:ea typeface="Roboto Mono"/>
                <a:cs typeface="Roboto Mono"/>
                <a:sym typeface="Roboto Mono"/>
              </a:rPr>
              <a:t>line</a:t>
            </a:r>
            <a:r>
              <a:rPr lang="en-US" sz="1300" b="0" i="0" u="none" strike="noStrike">
                <a:solidFill>
                  <a:srgbClr val="C7254E"/>
                </a:solidFill>
                <a:latin typeface="Roboto Mono"/>
                <a:ea typeface="Roboto Mono"/>
                <a:cs typeface="Roboto Mono"/>
                <a:sym typeface="Roboto Mono"/>
              </a:rPr>
              <a:t>in</a:t>
            </a:r>
            <a:r>
              <a:rPr lang="en-US" sz="1300" b="0" i="0" u="none" strike="noStrike">
                <a:solidFill>
                  <a:srgbClr val="424242"/>
                </a:solidFill>
                <a:latin typeface="Roboto Mono"/>
                <a:ea typeface="Roboto Mono"/>
                <a:cs typeface="Roboto Mono"/>
                <a:sym typeface="Roboto Mono"/>
              </a:rPr>
              <a:t>lines:</a:t>
            </a:r>
            <a:endParaRPr lang="en-US" sz="1300" b="0" i="0" u="none" strike="noStrike">
              <a:solidFill>
                <a:srgbClr val="424242"/>
              </a:solidFill>
              <a:latin typeface="Roboto Mono"/>
              <a:ea typeface="Roboto Mono"/>
              <a:cs typeface="Roboto Mono"/>
              <a:sym typeface="Roboto Mono"/>
            </a:endParaRPr>
          </a:p>
          <a:p>
            <a:pPr indent="0" algn="l">
              <a:lnSpc>
                <a:spcPct val="100000"/>
              </a:lnSpc>
            </a:pPr>
            <a:r>
              <a:rPr lang="en-US" sz="1300" b="0" i="0" u="none" strike="noStrike">
                <a:solidFill>
                  <a:srgbClr val="C7254E"/>
                </a:solidFill>
                <a:latin typeface="Roboto Mono"/>
                <a:ea typeface="Roboto Mono"/>
                <a:cs typeface="Roboto Mono"/>
                <a:sym typeface="Roboto Mono"/>
              </a:rPr>
              <a:t>try</a:t>
            </a:r>
            <a:r>
              <a:rPr lang="en-US" sz="1300" b="0" i="0" u="none" strike="noStrike">
                <a:solidFill>
                  <a:srgbClr val="424242"/>
                </a:solidFill>
                <a:latin typeface="Roboto Mono"/>
                <a:ea typeface="Roboto Mono"/>
                <a:cs typeface="Roboto Mono"/>
                <a:sym typeface="Roboto Mono"/>
              </a:rPr>
              <a:t>:</a:t>
            </a:r>
            <a:endParaRPr lang="en-US" sz="1300" b="0" i="0" u="none" strike="noStrike">
              <a:solidFill>
                <a:srgbClr val="424242"/>
              </a:solidFill>
              <a:latin typeface="Roboto Mono"/>
              <a:ea typeface="Roboto Mono"/>
              <a:cs typeface="Roboto Mono"/>
              <a:sym typeface="Roboto Mono"/>
            </a:endParaRPr>
          </a:p>
          <a:p>
            <a:pPr indent="0" algn="l">
              <a:lnSpc>
                <a:spcPct val="100000"/>
              </a:lnSpc>
            </a:pPr>
            <a:r>
              <a:rPr lang="en-US" sz="1300" b="0" i="0" u="none" strike="noStrike">
                <a:solidFill>
                  <a:srgbClr val="424242"/>
                </a:solidFill>
                <a:latin typeface="Roboto Mono"/>
                <a:ea typeface="Roboto Mono"/>
                <a:cs typeface="Roboto Mono"/>
                <a:sym typeface="Roboto Mono"/>
              </a:rPr>
              <a:t>segs = jieba.lcut(line)</a:t>
            </a:r>
            <a:endParaRPr lang="en-US" sz="1300" b="0" i="0" u="none" strike="noStrike">
              <a:solidFill>
                <a:srgbClr val="424242"/>
              </a:solidFill>
              <a:latin typeface="Roboto Mono"/>
              <a:ea typeface="Roboto Mono"/>
              <a:cs typeface="Roboto Mono"/>
              <a:sym typeface="Roboto Mono"/>
            </a:endParaRPr>
          </a:p>
          <a:p>
            <a:pPr indent="0" algn="l">
              <a:lnSpc>
                <a:spcPct val="100000"/>
              </a:lnSpc>
            </a:pPr>
            <a:r>
              <a:rPr lang="en-US" sz="1300" b="0" i="0" u="none" strike="noStrike">
                <a:solidFill>
                  <a:srgbClr val="424242"/>
                </a:solidFill>
                <a:latin typeface="Roboto Mono"/>
                <a:ea typeface="Roboto Mono"/>
                <a:cs typeface="Roboto Mono"/>
                <a:sym typeface="Roboto Mono"/>
              </a:rPr>
              <a:t>segs = [v</a:t>
            </a:r>
            <a:r>
              <a:rPr lang="en-US" sz="1300" b="0" i="0" u="none" strike="noStrike">
                <a:solidFill>
                  <a:srgbClr val="C7254E"/>
                </a:solidFill>
                <a:latin typeface="Roboto Mono"/>
                <a:ea typeface="Roboto Mono"/>
                <a:cs typeface="Roboto Mono"/>
                <a:sym typeface="Roboto Mono"/>
              </a:rPr>
              <a:t>for</a:t>
            </a:r>
            <a:r>
              <a:rPr lang="en-US" sz="1300" b="0" i="0" u="none" strike="noStrike">
                <a:solidFill>
                  <a:srgbClr val="424242"/>
                </a:solidFill>
                <a:latin typeface="Roboto Mono"/>
                <a:ea typeface="Roboto Mono"/>
                <a:cs typeface="Roboto Mono"/>
                <a:sym typeface="Roboto Mono"/>
              </a:rPr>
              <a:t>v</a:t>
            </a:r>
            <a:r>
              <a:rPr lang="en-US" sz="1300" b="0" i="0" u="none" strike="noStrike">
                <a:solidFill>
                  <a:srgbClr val="C7254E"/>
                </a:solidFill>
                <a:latin typeface="Roboto Mono"/>
                <a:ea typeface="Roboto Mono"/>
                <a:cs typeface="Roboto Mono"/>
                <a:sym typeface="Roboto Mono"/>
              </a:rPr>
              <a:t>in</a:t>
            </a:r>
            <a:r>
              <a:rPr lang="en-US" sz="1300" b="0" i="0" u="none" strike="noStrike">
                <a:solidFill>
                  <a:srgbClr val="424242"/>
                </a:solidFill>
                <a:latin typeface="Roboto Mono"/>
                <a:ea typeface="Roboto Mono"/>
                <a:cs typeface="Roboto Mono"/>
                <a:sym typeface="Roboto Mono"/>
              </a:rPr>
              <a:t>segs</a:t>
            </a:r>
            <a:r>
              <a:rPr lang="en-US" sz="1300" b="0" i="0" u="none" strike="noStrike">
                <a:solidFill>
                  <a:srgbClr val="C7254E"/>
                </a:solidFill>
                <a:latin typeface="Roboto Mono"/>
                <a:ea typeface="Roboto Mono"/>
                <a:cs typeface="Roboto Mono"/>
                <a:sym typeface="Roboto Mono"/>
              </a:rPr>
              <a:t>if not</a:t>
            </a:r>
            <a:r>
              <a:rPr lang="en-US" sz="1300" b="0" i="0" u="none" strike="noStrike">
                <a:solidFill>
                  <a:srgbClr val="424242"/>
                </a:solidFill>
                <a:latin typeface="Roboto Mono"/>
                <a:ea typeface="Roboto Mono"/>
                <a:cs typeface="Roboto Mono"/>
                <a:sym typeface="Roboto Mono"/>
              </a:rPr>
              <a:t>str(v).isdigit()]</a:t>
            </a:r>
            <a:endParaRPr lang="en-US" sz="1300" b="0" i="0" u="none" strike="noStrike">
              <a:solidFill>
                <a:srgbClr val="424242"/>
              </a:solidFill>
              <a:latin typeface="Roboto Mono"/>
              <a:ea typeface="Roboto Mono"/>
              <a:cs typeface="Roboto Mono"/>
              <a:sym typeface="Roboto Mono"/>
            </a:endParaRPr>
          </a:p>
          <a:p>
            <a:pPr indent="0" algn="l">
              <a:lnSpc>
                <a:spcPct val="100000"/>
              </a:lnSpc>
            </a:pPr>
            <a:r>
              <a:rPr lang="en-US" sz="1300" b="0" i="0" u="none" strike="noStrike">
                <a:solidFill>
                  <a:srgbClr val="424242"/>
                </a:solidFill>
                <a:latin typeface="Roboto Mono"/>
                <a:ea typeface="Roboto Mono"/>
                <a:cs typeface="Roboto Mono"/>
                <a:sym typeface="Roboto Mono"/>
              </a:rPr>
              <a:t>segs =</a:t>
            </a:r>
            <a:r>
              <a:rPr lang="en-US" sz="1300" b="0" i="0" u="none" strike="noStrike">
                <a:solidFill>
                  <a:srgbClr val="C7254E"/>
                </a:solidFill>
                <a:latin typeface="Roboto Mono"/>
                <a:ea typeface="Roboto Mono"/>
                <a:cs typeface="Roboto Mono"/>
                <a:sym typeface="Roboto Mono"/>
              </a:rPr>
              <a:t>list</a:t>
            </a:r>
            <a:r>
              <a:rPr lang="en-US" sz="1300" b="0" i="0" u="none" strike="noStrike">
                <a:solidFill>
                  <a:srgbClr val="424242"/>
                </a:solidFill>
                <a:latin typeface="Roboto Mono"/>
                <a:ea typeface="Roboto Mono"/>
                <a:cs typeface="Roboto Mono"/>
                <a:sym typeface="Roboto Mono"/>
              </a:rPr>
              <a:t>(filter(</a:t>
            </a:r>
            <a:r>
              <a:rPr lang="en-US" sz="1300" b="0" i="0" u="none" strike="noStrike">
                <a:solidFill>
                  <a:srgbClr val="C7254E"/>
                </a:solidFill>
                <a:latin typeface="Roboto Mono"/>
                <a:ea typeface="Roboto Mono"/>
                <a:cs typeface="Roboto Mono"/>
                <a:sym typeface="Roboto Mono"/>
              </a:rPr>
              <a:t>lambda</a:t>
            </a:r>
            <a:r>
              <a:rPr lang="en-US" sz="1300" b="0" i="0" u="none" strike="noStrike">
                <a:solidFill>
                  <a:srgbClr val="424242"/>
                </a:solidFill>
                <a:latin typeface="Roboto Mono"/>
                <a:ea typeface="Roboto Mono"/>
                <a:cs typeface="Roboto Mono"/>
                <a:sym typeface="Roboto Mono"/>
              </a:rPr>
              <a:t>x: x</a:t>
            </a:r>
            <a:r>
              <a:rPr lang="en-US" sz="1300" b="0" i="0" u="none" strike="noStrike">
                <a:solidFill>
                  <a:srgbClr val="C7254E"/>
                </a:solidFill>
                <a:latin typeface="Roboto Mono"/>
                <a:ea typeface="Roboto Mono"/>
                <a:cs typeface="Roboto Mono"/>
                <a:sym typeface="Roboto Mono"/>
              </a:rPr>
              <a:t>not in</a:t>
            </a:r>
            <a:r>
              <a:rPr lang="en-US" sz="1300" b="0" i="0" u="none" strike="noStrike">
                <a:solidFill>
                  <a:srgbClr val="424242"/>
                </a:solidFill>
                <a:latin typeface="Roboto Mono"/>
                <a:ea typeface="Roboto Mono"/>
                <a:cs typeface="Roboto Mono"/>
                <a:sym typeface="Roboto Mono"/>
              </a:rPr>
              <a:t>stop_words, segs))</a:t>
            </a:r>
            <a:endParaRPr lang="en-US" sz="1300" b="0" i="0" u="none" strike="noStrike">
              <a:solidFill>
                <a:srgbClr val="424242"/>
              </a:solidFill>
              <a:latin typeface="Roboto Mono"/>
              <a:ea typeface="Roboto Mono"/>
              <a:cs typeface="Roboto Mono"/>
              <a:sym typeface="Roboto Mono"/>
            </a:endParaRPr>
          </a:p>
          <a:p>
            <a:pPr indent="0" algn="l">
              <a:lnSpc>
                <a:spcPct val="100000"/>
              </a:lnSpc>
            </a:pPr>
            <a:r>
              <a:rPr lang="en-US" sz="1300" b="0" i="0" u="none" strike="noStrike">
                <a:solidFill>
                  <a:srgbClr val="424242"/>
                </a:solidFill>
                <a:latin typeface="Roboto Mono"/>
                <a:ea typeface="Roboto Mono"/>
                <a:cs typeface="Roboto Mono"/>
                <a:sym typeface="Roboto Mono"/>
              </a:rPr>
              <a:t>new_lines.append(</a:t>
            </a:r>
            <a:r>
              <a:rPr lang="en-US" sz="1300" b="0" i="0" u="none" strike="noStrike">
                <a:solidFill>
                  <a:srgbClr val="0571A5"/>
                </a:solidFill>
                <a:latin typeface="Roboto Mono"/>
                <a:ea typeface="Roboto Mono"/>
                <a:cs typeface="Roboto Mono"/>
                <a:sym typeface="Roboto Mono"/>
              </a:rPr>
              <a:t>" "</a:t>
            </a:r>
            <a:r>
              <a:rPr lang="en-US" sz="1300" b="0" i="0" u="none" strike="noStrike">
                <a:solidFill>
                  <a:srgbClr val="424242"/>
                </a:solidFill>
                <a:latin typeface="Roboto Mono"/>
                <a:ea typeface="Roboto Mono"/>
                <a:cs typeface="Roboto Mono"/>
                <a:sym typeface="Roboto Mono"/>
              </a:rPr>
              <a:t>.join(segs))</a:t>
            </a:r>
            <a:endParaRPr lang="en-US" sz="1300" b="0" i="0" u="none" strike="noStrike">
              <a:solidFill>
                <a:srgbClr val="424242"/>
              </a:solidFill>
              <a:latin typeface="Roboto Mono"/>
              <a:ea typeface="Roboto Mono"/>
              <a:cs typeface="Roboto Mono"/>
              <a:sym typeface="Roboto Mono"/>
            </a:endParaRPr>
          </a:p>
          <a:p>
            <a:pPr indent="0" algn="l">
              <a:lnSpc>
                <a:spcPct val="100000"/>
              </a:lnSpc>
            </a:pPr>
            <a:r>
              <a:rPr lang="en-US" sz="1300" b="0" i="0" u="none" strike="noStrike">
                <a:solidFill>
                  <a:srgbClr val="C7254E"/>
                </a:solidFill>
                <a:latin typeface="Roboto Mono"/>
                <a:ea typeface="Roboto Mono"/>
                <a:cs typeface="Roboto Mono"/>
                <a:sym typeface="Roboto Mono"/>
              </a:rPr>
              <a:t>except</a:t>
            </a:r>
            <a:r>
              <a:rPr lang="en-US" sz="1300" b="0" i="0" u="none" strike="noStrike">
                <a:solidFill>
                  <a:srgbClr val="424242"/>
                </a:solidFill>
                <a:latin typeface="Roboto Mono"/>
                <a:ea typeface="Roboto Mono"/>
                <a:cs typeface="Roboto Mono"/>
                <a:sym typeface="Roboto Mono"/>
              </a:rPr>
              <a:t>Exception:</a:t>
            </a:r>
            <a:endParaRPr lang="en-US" sz="1300" b="0" i="0" u="none" strike="noStrike">
              <a:solidFill>
                <a:srgbClr val="424242"/>
              </a:solidFill>
              <a:latin typeface="Roboto Mono"/>
              <a:ea typeface="Roboto Mono"/>
              <a:cs typeface="Roboto Mono"/>
              <a:sym typeface="Roboto Mono"/>
            </a:endParaRPr>
          </a:p>
          <a:p>
            <a:pPr indent="0" algn="l">
              <a:lnSpc>
                <a:spcPct val="100000"/>
              </a:lnSpc>
            </a:pPr>
            <a:r>
              <a:rPr lang="en-US" sz="1300" b="0" i="0" u="none" strike="noStrike">
                <a:solidFill>
                  <a:srgbClr val="C7254E"/>
                </a:solidFill>
                <a:latin typeface="Roboto Mono"/>
                <a:ea typeface="Roboto Mono"/>
                <a:cs typeface="Roboto Mono"/>
                <a:sym typeface="Roboto Mono"/>
              </a:rPr>
              <a:t>print</a:t>
            </a:r>
            <a:r>
              <a:rPr lang="en-US" sz="1300" b="0" i="0" u="none" strike="noStrike">
                <a:solidFill>
                  <a:srgbClr val="424242"/>
                </a:solidFill>
                <a:latin typeface="Roboto Mono"/>
                <a:ea typeface="Roboto Mono"/>
                <a:cs typeface="Roboto Mono"/>
                <a:sym typeface="Roboto Mono"/>
              </a:rPr>
              <a:t>(line)</a:t>
            </a:r>
            <a:endParaRPr lang="en-US" sz="1300" b="0" i="0" u="none" strike="noStrike">
              <a:solidFill>
                <a:srgbClr val="424242"/>
              </a:solidFill>
              <a:latin typeface="Roboto Mono"/>
              <a:ea typeface="Roboto Mono"/>
              <a:cs typeface="Roboto Mono"/>
              <a:sym typeface="Roboto Mono"/>
            </a:endParaRPr>
          </a:p>
          <a:p>
            <a:pPr indent="0" algn="l">
              <a:lnSpc>
                <a:spcPct val="100000"/>
              </a:lnSpc>
            </a:pPr>
            <a:r>
              <a:rPr lang="en-US" sz="1300" b="0" i="0" u="none" strike="noStrike">
                <a:solidFill>
                  <a:srgbClr val="C7254E"/>
                </a:solidFill>
                <a:latin typeface="Roboto Mono"/>
                <a:ea typeface="Roboto Mono"/>
                <a:cs typeface="Roboto Mono"/>
                <a:sym typeface="Roboto Mono"/>
              </a:rPr>
              <a:t>continue</a:t>
            </a:r>
            <a:endParaRPr lang="en-US" sz="1300" b="0" i="0" u="none" strike="noStrike">
              <a:solidFill>
                <a:srgbClr val="C7254E"/>
              </a:solidFill>
              <a:latin typeface="Roboto Mono"/>
              <a:ea typeface="Roboto Mono"/>
              <a:cs typeface="Roboto Mono"/>
              <a:sym typeface="Roboto Mono"/>
            </a:endParaRPr>
          </a:p>
          <a:p>
            <a:pPr indent="0" algn="l">
              <a:lnSpc>
                <a:spcPct val="100000"/>
              </a:lnSpc>
            </a:pPr>
            <a:r>
              <a:rPr lang="en-US" sz="1300" b="0" i="0" u="none" strike="noStrike">
                <a:solidFill>
                  <a:srgbClr val="C7254E"/>
                </a:solidFill>
                <a:latin typeface="Roboto Mono"/>
                <a:ea typeface="Roboto Mono"/>
                <a:cs typeface="Roboto Mono"/>
                <a:sym typeface="Roboto Mono"/>
              </a:rPr>
              <a:t>return</a:t>
            </a:r>
            <a:r>
              <a:rPr lang="en-US" sz="1300" b="0" i="0" u="none" strike="noStrike">
                <a:solidFill>
                  <a:srgbClr val="424242"/>
                </a:solidFill>
                <a:latin typeface="Roboto Mono"/>
                <a:ea typeface="Roboto Mono"/>
                <a:cs typeface="Roboto Mono"/>
                <a:sym typeface="Roboto Mono"/>
              </a:rPr>
              <a:t>new_lines</a:t>
            </a:r>
            <a:endParaRPr lang="en-US" sz="1300" b="0" i="0" u="none" strike="noStrike">
              <a:solidFill>
                <a:srgbClr val="424242"/>
              </a:solidFill>
              <a:latin typeface="Roboto Mono"/>
              <a:ea typeface="Roboto Mono"/>
              <a:cs typeface="Roboto Mono"/>
              <a:sym typeface="Roboto Mono"/>
            </a:endParaRPr>
          </a:p>
        </p:txBody>
      </p:sp>
      <p:sp>
        <p:nvSpPr>
          <p:cNvPr id="7" name="AutoShape 7"/>
          <p:cNvSpPr/>
          <p:nvPr/>
        </p:nvSpPr>
        <p:spPr>
          <a:xfrm>
            <a:off x="762000" y="5334000"/>
            <a:ext cx="10668000" cy="1016000"/>
          </a:xfrm>
          <a:prstGeom prst="roundRect">
            <a:avLst>
              <a:gd name="adj" fmla="val 12500"/>
            </a:avLst>
          </a:prstGeom>
          <a:solidFill>
            <a:srgbClr val="FFFFFF">
              <a:alpha val="60000"/>
            </a:srgbClr>
          </a:solidFill>
          <a:ln w="12700" cap="flat" cmpd="sng">
            <a:solidFill>
              <a:srgbClr val="0288D1">
                <a:alpha val="100000"/>
              </a:srgbClr>
            </a:solid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5524500"/>
            <a:ext cx="304800" cy="304800"/>
          </a:xfrm>
          <a:prstGeom prst="rect">
            <a:avLst/>
          </a:prstGeom>
        </p:spPr>
      </p:pic>
      <p:sp>
        <p:nvSpPr>
          <p:cNvPr id="9" name="AutoShape 9"/>
          <p:cNvSpPr/>
          <p:nvPr/>
        </p:nvSpPr>
        <p:spPr>
          <a:xfrm>
            <a:off x="1397000" y="5486400"/>
            <a:ext cx="304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24242"/>
                </a:solidFill>
                <a:latin typeface="Noto Sans SC"/>
                <a:ea typeface="Noto Sans SC"/>
                <a:cs typeface="Noto Sans SC"/>
                <a:sym typeface="Noto Sans SC"/>
              </a:rPr>
              <a:t>读取停用词表</a:t>
            </a:r>
            <a:endParaRPr lang="en-US" sz="1100"/>
          </a:p>
        </p:txBody>
      </p:sp>
      <p:sp>
        <p:nvSpPr>
          <p:cNvPr id="10" name="AutoShape 10"/>
          <p:cNvSpPr/>
          <p:nvPr/>
        </p:nvSpPr>
        <p:spPr>
          <a:xfrm>
            <a:off x="1397000" y="5842000"/>
            <a:ext cx="3048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616161"/>
                </a:solidFill>
                <a:latin typeface="Noto Sans SC"/>
                <a:ea typeface="Noto Sans SC"/>
                <a:cs typeface="Noto Sans SC"/>
                <a:sym typeface="Noto Sans SC"/>
              </a:rPr>
              <a:t>加载停用词文件，去除换行符，构建过滤列表</a:t>
            </a:r>
            <a:endParaRPr lang="en-US" sz="1100"/>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72000" y="5524500"/>
            <a:ext cx="304800" cy="304800"/>
          </a:xfrm>
          <a:prstGeom prst="rect">
            <a:avLst/>
          </a:prstGeom>
        </p:spPr>
      </p:pic>
      <p:sp>
        <p:nvSpPr>
          <p:cNvPr id="12" name="AutoShape 12"/>
          <p:cNvSpPr/>
          <p:nvPr/>
        </p:nvSpPr>
        <p:spPr>
          <a:xfrm>
            <a:off x="4953000" y="5486400"/>
            <a:ext cx="304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24242"/>
                </a:solidFill>
                <a:latin typeface="Noto Sans SC"/>
                <a:ea typeface="Noto Sans SC"/>
                <a:cs typeface="Noto Sans SC"/>
                <a:sym typeface="Noto Sans SC"/>
              </a:rPr>
              <a:t>分词与清洗</a:t>
            </a:r>
            <a:endParaRPr lang="en-US" sz="1100"/>
          </a:p>
        </p:txBody>
      </p:sp>
      <p:sp>
        <p:nvSpPr>
          <p:cNvPr id="13" name="AutoShape 13"/>
          <p:cNvSpPr/>
          <p:nvPr/>
        </p:nvSpPr>
        <p:spPr>
          <a:xfrm>
            <a:off x="4953000" y="5842000"/>
            <a:ext cx="3048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616161"/>
                </a:solidFill>
                <a:latin typeface="Noto Sans SC"/>
                <a:ea typeface="Noto Sans SC"/>
                <a:cs typeface="Noto Sans SC"/>
                <a:sym typeface="Noto Sans SC"/>
              </a:rPr>
              <a:t>使用Jieba分词，去除数字、空格及停用词</a:t>
            </a:r>
            <a:endParaRPr lang="en-US" sz="1100"/>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28000" y="5524500"/>
            <a:ext cx="304800" cy="304800"/>
          </a:xfrm>
          <a:prstGeom prst="rect">
            <a:avLst/>
          </a:prstGeom>
        </p:spPr>
      </p:pic>
      <p:sp>
        <p:nvSpPr>
          <p:cNvPr id="15" name="AutoShape 15"/>
          <p:cNvSpPr/>
          <p:nvPr/>
        </p:nvSpPr>
        <p:spPr>
          <a:xfrm>
            <a:off x="8509000" y="5486400"/>
            <a:ext cx="2667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24242"/>
                </a:solidFill>
                <a:latin typeface="Noto Sans SC"/>
                <a:ea typeface="Noto Sans SC"/>
                <a:cs typeface="Noto Sans SC"/>
                <a:sym typeface="Noto Sans SC"/>
              </a:rPr>
              <a:t>结构化输出</a:t>
            </a:r>
            <a:endParaRPr lang="en-US" sz="1100"/>
          </a:p>
        </p:txBody>
      </p:sp>
      <p:sp>
        <p:nvSpPr>
          <p:cNvPr id="16" name="AutoShape 16"/>
          <p:cNvSpPr/>
          <p:nvPr/>
        </p:nvSpPr>
        <p:spPr>
          <a:xfrm>
            <a:off x="8509000" y="5842000"/>
            <a:ext cx="2667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616161"/>
                </a:solidFill>
                <a:latin typeface="Noto Sans SC"/>
                <a:ea typeface="Noto Sans SC"/>
                <a:cs typeface="Noto Sans SC"/>
                <a:sym typeface="Noto Sans SC"/>
              </a:rPr>
              <a:t>将处理后的词语用空格连接，生成新文本</a:t>
            </a:r>
            <a:endParaRPr lang="en-US" sz="11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步骤2：数据预处理（代码示例5）</a:t>
            </a:r>
            <a:endParaRPr lang="en-US" sz="1100"/>
          </a:p>
        </p:txBody>
      </p:sp>
      <p:sp>
        <p:nvSpPr>
          <p:cNvPr id="3" name="AutoShape 3"/>
          <p:cNvSpPr/>
          <p:nvPr/>
        </p:nvSpPr>
        <p:spPr>
          <a:xfrm>
            <a:off x="762000" y="1397000"/>
            <a:ext cx="10668000" cy="3302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43000" y="1651000"/>
            <a:ext cx="304800" cy="304800"/>
          </a:xfrm>
          <a:prstGeom prst="rect">
            <a:avLst/>
          </a:prstGeom>
        </p:spPr>
      </p:pic>
      <p:sp>
        <p:nvSpPr>
          <p:cNvPr id="5" name="AutoShape 5"/>
          <p:cNvSpPr/>
          <p:nvPr/>
        </p:nvSpPr>
        <p:spPr>
          <a:xfrm>
            <a:off x="1574800" y="1600200"/>
            <a:ext cx="889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24242"/>
                </a:solidFill>
                <a:latin typeface="Noto Sans SC"/>
                <a:ea typeface="Noto Sans SC"/>
                <a:cs typeface="Noto Sans SC"/>
                <a:sym typeface="Noto Sans SC"/>
              </a:rPr>
              <a:t>应用过滤函数</a:t>
            </a:r>
            <a:endParaRPr lang="en-US" sz="1100"/>
          </a:p>
        </p:txBody>
      </p:sp>
      <p:sp>
        <p:nvSpPr>
          <p:cNvPr id="6" name="AutoShape 6"/>
          <p:cNvSpPr/>
          <p:nvPr/>
        </p:nvSpPr>
        <p:spPr>
          <a:xfrm>
            <a:off x="1143000" y="2159000"/>
            <a:ext cx="9906000" cy="1524000"/>
          </a:xfrm>
          <a:prstGeom prst="roundRect">
            <a:avLst>
              <a:gd name="adj" fmla="val 4166"/>
            </a:avLst>
          </a:prstGeom>
          <a:solidFill>
            <a:srgbClr val="1E1E1E">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397000" y="2286000"/>
            <a:ext cx="9398000" cy="1270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a:solidFill>
                  <a:srgbClr val="C792EA"/>
                </a:solidFill>
                <a:latin typeface="Source Code Pro"/>
                <a:ea typeface="Source Code Pro"/>
                <a:cs typeface="Source Code Pro"/>
                <a:sym typeface="Source Code Pro"/>
              </a:rPr>
              <a:t>#</a:t>
            </a:r>
            <a:r>
              <a:rPr lang="en-US" sz="1600" b="0" i="0" u="none" strike="noStrike">
                <a:solidFill>
                  <a:srgbClr val="888888"/>
                </a:solidFill>
                <a:latin typeface="Source Code Pro"/>
                <a:ea typeface="Source Code Pro"/>
                <a:cs typeface="Source Code Pro"/>
                <a:sym typeface="Source Code Pro"/>
              </a:rPr>
              <a:t>对训练集和测试集的文本数据应用过滤函数</a:t>
            </a:r>
            <a:endParaRPr lang="en-US" sz="1100"/>
          </a:p>
          <a:p>
            <a:pPr indent="0" algn="l">
              <a:lnSpc>
                <a:spcPct val="108000"/>
              </a:lnSpc>
            </a:pPr>
            <a:r>
              <a:rPr lang="en-US" sz="1600" b="0" i="0" u="none" strike="noStrike">
                <a:solidFill>
                  <a:srgbClr val="DCDCAA"/>
                </a:solidFill>
                <a:latin typeface="Source Code Pro"/>
                <a:ea typeface="Source Code Pro"/>
                <a:cs typeface="Source Code Pro"/>
                <a:sym typeface="Source Code Pro"/>
              </a:rPr>
              <a:t>x_train</a:t>
            </a:r>
            <a:r>
              <a:rPr lang="en-US" sz="1600" b="0" i="0" u="none" strike="noStrike">
                <a:solidFill>
                  <a:srgbClr val="FFFFFF"/>
                </a:solidFill>
                <a:latin typeface="Source Code Pro"/>
                <a:ea typeface="Source Code Pro"/>
                <a:cs typeface="Source Code Pro"/>
                <a:sym typeface="Source Code Pro"/>
              </a:rPr>
              <a:t>=</a:t>
            </a:r>
            <a:r>
              <a:rPr lang="en-US" sz="1600" b="0" i="0" u="none" strike="noStrike">
                <a:solidFill>
                  <a:srgbClr val="98C379"/>
                </a:solidFill>
                <a:latin typeface="Source Code Pro"/>
                <a:ea typeface="Source Code Pro"/>
                <a:cs typeface="Source Code Pro"/>
                <a:sym typeface="Source Code Pro"/>
              </a:rPr>
              <a:t>filter_stop_words</a:t>
            </a:r>
            <a:r>
              <a:rPr lang="en-US" sz="1600" b="0" i="0" u="none" strike="noStrike">
                <a:solidFill>
                  <a:srgbClr val="FFFFFF"/>
                </a:solidFill>
                <a:latin typeface="Source Code Pro"/>
                <a:ea typeface="Source Code Pro"/>
                <a:cs typeface="Source Code Pro"/>
                <a:sym typeface="Source Code Pro"/>
              </a:rPr>
              <a:t>(x_train)</a:t>
            </a:r>
            <a:endParaRPr lang="en-US" sz="1600" b="0" i="0" u="none" strike="noStrike">
              <a:solidFill>
                <a:srgbClr val="FFFFFF"/>
              </a:solidFill>
              <a:latin typeface="Source Code Pro"/>
              <a:ea typeface="Source Code Pro"/>
              <a:cs typeface="Source Code Pro"/>
              <a:sym typeface="Source Code Pro"/>
            </a:endParaRPr>
          </a:p>
          <a:p>
            <a:pPr indent="0" algn="l">
              <a:lnSpc>
                <a:spcPct val="108000"/>
              </a:lnSpc>
            </a:pPr>
            <a:r>
              <a:rPr lang="en-US" sz="1600" b="0" i="0" u="none" strike="noStrike">
                <a:solidFill>
                  <a:srgbClr val="DCDCAA"/>
                </a:solidFill>
                <a:latin typeface="Source Code Pro"/>
                <a:ea typeface="Source Code Pro"/>
                <a:cs typeface="Source Code Pro"/>
                <a:sym typeface="Source Code Pro"/>
              </a:rPr>
              <a:t>x_test</a:t>
            </a:r>
            <a:r>
              <a:rPr lang="en-US" sz="1600" b="0" i="0" u="none" strike="noStrike">
                <a:solidFill>
                  <a:srgbClr val="FFFFFF"/>
                </a:solidFill>
                <a:latin typeface="Source Code Pro"/>
                <a:ea typeface="Source Code Pro"/>
                <a:cs typeface="Source Code Pro"/>
                <a:sym typeface="Source Code Pro"/>
              </a:rPr>
              <a:t>=</a:t>
            </a:r>
            <a:r>
              <a:rPr lang="en-US" sz="1600" b="0" i="0" u="none" strike="noStrike">
                <a:solidFill>
                  <a:srgbClr val="98C379"/>
                </a:solidFill>
                <a:latin typeface="Source Code Pro"/>
                <a:ea typeface="Source Code Pro"/>
                <a:cs typeface="Source Code Pro"/>
                <a:sym typeface="Source Code Pro"/>
              </a:rPr>
              <a:t>filter_stop_words</a:t>
            </a:r>
            <a:r>
              <a:rPr lang="en-US" sz="1600" b="0" i="0" u="none" strike="noStrike">
                <a:solidFill>
                  <a:srgbClr val="FFFFFF"/>
                </a:solidFill>
                <a:latin typeface="Source Code Pro"/>
                <a:ea typeface="Source Code Pro"/>
                <a:cs typeface="Source Code Pro"/>
                <a:sym typeface="Source Code Pro"/>
              </a:rPr>
              <a:t>(x_test)</a:t>
            </a:r>
            <a:endParaRPr lang="en-US" sz="1600" b="0" i="0" u="none" strike="noStrike">
              <a:solidFill>
                <a:srgbClr val="FFFFFF"/>
              </a:solidFill>
              <a:latin typeface="Source Code Pro"/>
              <a:ea typeface="Source Code Pro"/>
              <a:cs typeface="Source Code Pro"/>
              <a:sym typeface="Source Code Pro"/>
            </a:endParaRPr>
          </a:p>
        </p:txBody>
      </p:sp>
      <p:sp>
        <p:nvSpPr>
          <p:cNvPr id="8" name="AutoShape 8"/>
          <p:cNvSpPr/>
          <p:nvPr/>
        </p:nvSpPr>
        <p:spPr>
          <a:xfrm>
            <a:off x="762000" y="4953000"/>
            <a:ext cx="10668000" cy="1270000"/>
          </a:xfrm>
          <a:prstGeom prst="roundRect">
            <a:avLst>
              <a:gd name="adj" fmla="val 10000"/>
            </a:avLst>
          </a:prstGeom>
          <a:solidFill>
            <a:srgbClr val="0288D1">
              <a:alpha val="10000"/>
            </a:srgbClr>
          </a:solidFill>
          <a:ln w="12700" cap="flat" cmpd="sng">
            <a:solidFill>
              <a:srgbClr val="0288D1">
                <a:alpha val="3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5207000"/>
            <a:ext cx="304800" cy="304800"/>
          </a:xfrm>
          <a:prstGeom prst="rect">
            <a:avLst/>
          </a:prstGeom>
        </p:spPr>
      </p:pic>
      <p:sp>
        <p:nvSpPr>
          <p:cNvPr id="10" name="AutoShape 10"/>
          <p:cNvSpPr/>
          <p:nvPr/>
        </p:nvSpPr>
        <p:spPr>
          <a:xfrm>
            <a:off x="1447800" y="5143500"/>
            <a:ext cx="9779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24242"/>
                </a:solidFill>
                <a:latin typeface="Noto Sans SC"/>
                <a:ea typeface="Noto Sans SC"/>
                <a:cs typeface="Noto Sans SC"/>
                <a:sym typeface="Noto Sans SC"/>
              </a:rPr>
              <a:t>操作说明：</a:t>
            </a:r>
            <a:endParaRPr lang="en-US" sz="1100"/>
          </a:p>
          <a:p>
            <a:pPr indent="0" algn="l">
              <a:lnSpc>
                <a:spcPct val="125000"/>
              </a:lnSpc>
            </a:pPr>
            <a:r>
              <a:rPr lang="en-US" sz="1400" b="0" i="0" u="none" strike="noStrike">
                <a:solidFill>
                  <a:srgbClr val="616161"/>
                </a:solidFill>
                <a:latin typeface="Noto Sans SC"/>
                <a:ea typeface="Noto Sans SC"/>
                <a:cs typeface="Noto Sans SC"/>
                <a:sym typeface="Noto Sans SC"/>
              </a:rPr>
              <a:t>定义好过滤函数后，我们将其应用到训练集和测试集的文本数据上，得到处理后的干净文本数据，为下一步的特征提取做好准备。</a:t>
            </a:r>
            <a:endParaRPr lang="en-US" sz="1400" b="0" i="0" u="none" strike="noStrike">
              <a:solidFill>
                <a:srgbClr val="616161"/>
              </a:solidFill>
              <a:latin typeface="Noto Sans SC"/>
              <a:ea typeface="Noto Sans SC"/>
              <a:cs typeface="Noto Sans SC"/>
              <a:sym typeface="Noto Sans SC"/>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31242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步骤3：特征工程</a:t>
            </a:r>
            <a:endParaRPr lang="en-US" sz="1100"/>
          </a:p>
        </p:txBody>
      </p:sp>
      <p:sp>
        <p:nvSpPr>
          <p:cNvPr id="3" name="AutoShape 3"/>
          <p:cNvSpPr/>
          <p:nvPr/>
        </p:nvSpPr>
        <p:spPr>
          <a:xfrm>
            <a:off x="762000" y="1079500"/>
            <a:ext cx="762000" cy="508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1651000"/>
            <a:ext cx="609600" cy="609600"/>
          </a:xfrm>
          <a:prstGeom prst="rect">
            <a:avLst/>
          </a:prstGeom>
        </p:spPr>
      </p:pic>
      <p:sp>
        <p:nvSpPr>
          <p:cNvPr id="5" name="AutoShape 5"/>
          <p:cNvSpPr/>
          <p:nvPr/>
        </p:nvSpPr>
        <p:spPr>
          <a:xfrm>
            <a:off x="1524000" y="16256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24242"/>
                </a:solidFill>
                <a:latin typeface="Noto Sans SC"/>
                <a:ea typeface="Noto Sans SC"/>
                <a:cs typeface="Noto Sans SC"/>
                <a:sym typeface="Noto Sans SC"/>
              </a:rPr>
              <a:t>使用CountVectorizer进行特征提取</a:t>
            </a:r>
            <a:endParaRPr lang="en-US" sz="1100"/>
          </a:p>
        </p:txBody>
      </p:sp>
      <p:sp>
        <p:nvSpPr>
          <p:cNvPr id="6" name="AutoShape 6"/>
          <p:cNvSpPr/>
          <p:nvPr/>
        </p:nvSpPr>
        <p:spPr>
          <a:xfrm>
            <a:off x="762000" y="2413000"/>
            <a:ext cx="4572000" cy="152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616161"/>
                </a:solidFill>
                <a:latin typeface="Noto Sans SC"/>
                <a:ea typeface="Noto Sans SC"/>
                <a:cs typeface="Noto Sans SC"/>
                <a:sym typeface="Noto Sans SC"/>
              </a:rPr>
              <a:t>将处理后的文本数据转换为数值化的词频矩阵，是机器学习模型训练的必要步骤。</a:t>
            </a:r>
            <a:endParaRPr lang="en-US" sz="1100"/>
          </a:p>
          <a:p>
            <a:pPr indent="0" algn="l">
              <a:lnSpc>
                <a:spcPct val="125000"/>
              </a:lnSpc>
            </a:pPr>
            <a:r>
              <a:rPr lang="en-US" sz="1600" b="0" i="0" u="none" strike="noStrike">
                <a:solidFill>
                  <a:srgbClr val="616161"/>
                </a:solidFill>
                <a:latin typeface="Noto Sans SC"/>
                <a:ea typeface="Noto Sans SC"/>
                <a:cs typeface="Noto Sans SC"/>
                <a:sym typeface="Noto Sans SC"/>
              </a:rPr>
              <a:t>通过限制最大特征数（max_features），我们可以有效降低维度，避免过拟合并提升计算效率。</a:t>
            </a:r>
            <a:endParaRPr lang="en-US" sz="1600" b="0" i="0" u="none" strike="noStrike">
              <a:solidFill>
                <a:srgbClr val="616161"/>
              </a:solidFill>
              <a:latin typeface="Noto Sans SC"/>
              <a:ea typeface="Noto Sans SC"/>
              <a:cs typeface="Noto Sans SC"/>
              <a:sym typeface="Noto Sans SC"/>
            </a:endParaRPr>
          </a:p>
        </p:txBody>
      </p:sp>
      <p:sp>
        <p:nvSpPr>
          <p:cNvPr id="7" name="AutoShape 7"/>
          <p:cNvSpPr/>
          <p:nvPr/>
        </p:nvSpPr>
        <p:spPr>
          <a:xfrm>
            <a:off x="5842000" y="1524000"/>
            <a:ext cx="5588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algn="ctr">
              <a:defRPr/>
            </a:pPr>
          </a:p>
        </p:txBody>
      </p:sp>
      <p:sp>
        <p:nvSpPr>
          <p:cNvPr id="8" name="AutoShape 8"/>
          <p:cNvSpPr/>
          <p:nvPr/>
        </p:nvSpPr>
        <p:spPr>
          <a:xfrm>
            <a:off x="5842000" y="1524000"/>
            <a:ext cx="5588000" cy="406400"/>
          </a:xfrm>
          <a:prstGeom prst="roundRect">
            <a:avLst>
              <a:gd name="adj" fmla="val 0"/>
            </a:avLst>
          </a:prstGeom>
          <a:solidFill>
            <a:srgbClr val="EEEEEE">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6032500" y="1651000"/>
            <a:ext cx="127000" cy="127000"/>
          </a:xfrm>
          <a:prstGeom prst="ellipse">
            <a:avLst/>
          </a:prstGeom>
          <a:solidFill>
            <a:srgbClr val="FF5F5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6248400" y="1651000"/>
            <a:ext cx="127000" cy="127000"/>
          </a:xfrm>
          <a:prstGeom prst="ellipse">
            <a:avLst/>
          </a:prstGeom>
          <a:solidFill>
            <a:srgbClr val="FFBD2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6464300" y="1651000"/>
            <a:ext cx="127000" cy="127000"/>
          </a:xfrm>
          <a:prstGeom prst="ellipse">
            <a:avLst/>
          </a:prstGeom>
          <a:solidFill>
            <a:srgbClr val="27C93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6731000" y="15748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757575"/>
                </a:solidFill>
                <a:latin typeface="Noto Sans SC"/>
                <a:ea typeface="Noto Sans SC"/>
                <a:cs typeface="Noto Sans SC"/>
                <a:sym typeface="Noto Sans SC"/>
              </a:rPr>
              <a:t>vectorization.py</a:t>
            </a:r>
            <a:endParaRPr lang="en-US" sz="1100"/>
          </a:p>
        </p:txBody>
      </p:sp>
      <p:sp>
        <p:nvSpPr>
          <p:cNvPr id="13" name="AutoShape 13"/>
          <p:cNvSpPr/>
          <p:nvPr/>
        </p:nvSpPr>
        <p:spPr>
          <a:xfrm>
            <a:off x="6032500" y="2032000"/>
            <a:ext cx="5207000" cy="2413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C7254E"/>
                </a:solidFill>
                <a:latin typeface="Source Code Pro"/>
                <a:ea typeface="Source Code Pro"/>
                <a:cs typeface="Source Code Pro"/>
                <a:sym typeface="Source Code Pro"/>
              </a:rPr>
              <a:t>from</a:t>
            </a:r>
            <a:r>
              <a:rPr lang="en-US" sz="1400" b="0" i="0" u="none" strike="noStrike">
                <a:solidFill>
                  <a:srgbClr val="424242"/>
                </a:solidFill>
                <a:latin typeface="Source Code Pro"/>
                <a:ea typeface="Source Code Pro"/>
                <a:cs typeface="Source Code Pro"/>
                <a:sym typeface="Source Code Pro"/>
              </a:rPr>
              <a:t>sklearn.feature_extraction.text</a:t>
            </a:r>
            <a:r>
              <a:rPr lang="en-US" sz="1400" b="0" i="0" u="none" strike="noStrike">
                <a:solidFill>
                  <a:srgbClr val="C7254E"/>
                </a:solidFill>
                <a:latin typeface="Source Code Pro"/>
                <a:ea typeface="Source Code Pro"/>
                <a:cs typeface="Source Code Pro"/>
                <a:sym typeface="Source Code Pro"/>
              </a:rPr>
              <a:t>import</a:t>
            </a:r>
            <a:r>
              <a:rPr lang="en-US" sz="1400" b="0" i="0" u="none" strike="noStrike">
                <a:solidFill>
                  <a:srgbClr val="424242"/>
                </a:solidFill>
                <a:latin typeface="Source Code Pro"/>
                <a:ea typeface="Source Code Pro"/>
                <a:cs typeface="Source Code Pro"/>
                <a:sym typeface="Source Code Pro"/>
              </a:rPr>
              <a:t>CountVectorizer</a:t>
            </a:r>
            <a:endParaRPr lang="en-US" sz="1100"/>
          </a:p>
          <a:p>
            <a:pPr indent="0" algn="l">
              <a:lnSpc>
                <a:spcPct val="100000"/>
              </a:lnSpc>
            </a:pPr>
            <a:r>
              <a:rPr lang="en-US" sz="1400" b="0" i="0" u="none" strike="noStrike">
                <a:solidFill>
                  <a:srgbClr val="9E9E9E"/>
                </a:solidFill>
                <a:latin typeface="Source Code Pro"/>
                <a:ea typeface="Source Code Pro"/>
                <a:cs typeface="Source Code Pro"/>
                <a:sym typeface="Source Code Pro"/>
              </a:rPr>
              <a:t># 创建CountVectorizer实例，提取词频特征</a:t>
            </a:r>
            <a:endParaRPr lang="en-US" sz="1400" b="0" i="0" u="none" strike="noStrike">
              <a:solidFill>
                <a:srgbClr val="9E9E9E"/>
              </a:solidFill>
              <a:latin typeface="Source Code Pro"/>
              <a:ea typeface="Source Code Pro"/>
              <a:cs typeface="Source Code Pro"/>
              <a:sym typeface="Source Code Pro"/>
            </a:endParaRPr>
          </a:p>
          <a:p>
            <a:pPr indent="0" algn="l">
              <a:lnSpc>
                <a:spcPct val="100000"/>
              </a:lnSpc>
            </a:pPr>
            <a:r>
              <a:rPr lang="en-US" sz="1400" b="0" i="0" u="none" strike="noStrike">
                <a:solidFill>
                  <a:srgbClr val="424242"/>
                </a:solidFill>
                <a:latin typeface="Source Code Pro"/>
                <a:ea typeface="Source Code Pro"/>
                <a:cs typeface="Source Code Pro"/>
                <a:sym typeface="Source Code Pro"/>
              </a:rPr>
              <a:t>vec = CountVectorizer(</a:t>
            </a:r>
            <a:endParaRPr lang="en-US" sz="1400" b="0" i="0" u="none" strike="noStrike">
              <a:solidFill>
                <a:srgbClr val="424242"/>
              </a:solidFill>
              <a:latin typeface="Source Code Pro"/>
              <a:ea typeface="Source Code Pro"/>
              <a:cs typeface="Source Code Pro"/>
              <a:sym typeface="Source Code Pro"/>
            </a:endParaRPr>
          </a:p>
          <a:p>
            <a:pPr indent="0" algn="l">
              <a:lnSpc>
                <a:spcPct val="100000"/>
              </a:lnSpc>
            </a:pPr>
            <a:r>
              <a:rPr lang="en-US" sz="1400" b="0" i="0" u="none" strike="noStrike">
                <a:solidFill>
                  <a:srgbClr val="424242"/>
                </a:solidFill>
                <a:latin typeface="Source Code Pro"/>
                <a:ea typeface="Source Code Pro"/>
                <a:cs typeface="Source Code Pro"/>
                <a:sym typeface="Source Code Pro"/>
              </a:rPr>
              <a:t>analyzer=</a:t>
            </a:r>
            <a:r>
              <a:rPr lang="en-US" sz="1400" b="0" i="0" u="none" strike="noStrike">
                <a:solidFill>
                  <a:srgbClr val="42B981"/>
                </a:solidFill>
                <a:latin typeface="Source Code Pro"/>
                <a:ea typeface="Source Code Pro"/>
                <a:cs typeface="Source Code Pro"/>
                <a:sym typeface="Source Code Pro"/>
              </a:rPr>
              <a:t>'word'</a:t>
            </a:r>
            <a:r>
              <a:rPr lang="en-US" sz="1400" b="0" i="0" u="none" strike="noStrike">
                <a:solidFill>
                  <a:srgbClr val="9E9E9E"/>
                </a:solidFill>
                <a:latin typeface="Source Code Pro"/>
                <a:ea typeface="Source Code Pro"/>
                <a:cs typeface="Source Code Pro"/>
                <a:sym typeface="Source Code Pro"/>
              </a:rPr>
              <a:t>, # 基于词进行特征提取</a:t>
            </a:r>
            <a:endParaRPr lang="en-US" sz="1400" b="0" i="0" u="none" strike="noStrike">
              <a:solidFill>
                <a:srgbClr val="9E9E9E"/>
              </a:solidFill>
              <a:latin typeface="Source Code Pro"/>
              <a:ea typeface="Source Code Pro"/>
              <a:cs typeface="Source Code Pro"/>
              <a:sym typeface="Source Code Pro"/>
            </a:endParaRPr>
          </a:p>
          <a:p>
            <a:pPr indent="0" algn="l">
              <a:lnSpc>
                <a:spcPct val="100000"/>
              </a:lnSpc>
            </a:pPr>
            <a:r>
              <a:rPr lang="en-US" sz="1400" b="0" i="0" u="none" strike="noStrike">
                <a:solidFill>
                  <a:srgbClr val="424242"/>
                </a:solidFill>
                <a:latin typeface="Source Code Pro"/>
                <a:ea typeface="Source Code Pro"/>
                <a:cs typeface="Source Code Pro"/>
                <a:sym typeface="Source Code Pro"/>
              </a:rPr>
              <a:t>max_features=</a:t>
            </a:r>
            <a:r>
              <a:rPr lang="en-US" sz="1400" b="0" i="0" u="none" strike="noStrike">
                <a:solidFill>
                  <a:srgbClr val="0471A8"/>
                </a:solidFill>
                <a:latin typeface="Source Code Pro"/>
                <a:ea typeface="Source Code Pro"/>
                <a:cs typeface="Source Code Pro"/>
                <a:sym typeface="Source Code Pro"/>
              </a:rPr>
              <a:t>4000</a:t>
            </a:r>
            <a:r>
              <a:rPr lang="en-US" sz="1400" b="0" i="0" u="none" strike="noStrike">
                <a:solidFill>
                  <a:srgbClr val="9E9E9E"/>
                </a:solidFill>
                <a:latin typeface="Source Code Pro"/>
                <a:ea typeface="Source Code Pro"/>
                <a:cs typeface="Source Code Pro"/>
                <a:sym typeface="Source Code Pro"/>
              </a:rPr>
              <a:t>, # 只保留最常出现的4000个词</a:t>
            </a:r>
            <a:endParaRPr lang="en-US" sz="1400" b="0" i="0" u="none" strike="noStrike">
              <a:solidFill>
                <a:srgbClr val="9E9E9E"/>
              </a:solidFill>
              <a:latin typeface="Source Code Pro"/>
              <a:ea typeface="Source Code Pro"/>
              <a:cs typeface="Source Code Pro"/>
              <a:sym typeface="Source Code Pro"/>
            </a:endParaRPr>
          </a:p>
          <a:p>
            <a:pPr indent="0" algn="l">
              <a:lnSpc>
                <a:spcPct val="100000"/>
              </a:lnSpc>
            </a:pPr>
            <a:r>
              <a:rPr lang="en-US" sz="1400" b="0" i="0" u="none" strike="noStrike">
                <a:solidFill>
                  <a:srgbClr val="424242"/>
                </a:solidFill>
                <a:latin typeface="Source Code Pro"/>
                <a:ea typeface="Source Code Pro"/>
                <a:cs typeface="Source Code Pro"/>
                <a:sym typeface="Source Code Pro"/>
              </a:rPr>
              <a:t>)</a:t>
            </a:r>
            <a:endParaRPr lang="en-US" sz="1400" b="0" i="0" u="none" strike="noStrike">
              <a:solidFill>
                <a:srgbClr val="424242"/>
              </a:solidFill>
              <a:latin typeface="Source Code Pro"/>
              <a:ea typeface="Source Code Pro"/>
              <a:cs typeface="Source Code Pro"/>
              <a:sym typeface="Source Code Pro"/>
            </a:endParaRPr>
          </a:p>
          <a:p>
            <a:pPr indent="0" algn="l">
              <a:lnSpc>
                <a:spcPct val="100000"/>
              </a:lnSpc>
            </a:pPr>
            <a:r>
              <a:rPr lang="en-US" sz="1400" b="0" i="0" u="none" strike="noStrike">
                <a:solidFill>
                  <a:srgbClr val="424242"/>
                </a:solidFill>
                <a:latin typeface="Source Code Pro"/>
                <a:ea typeface="Source Code Pro"/>
                <a:cs typeface="Source Code Pro"/>
                <a:sym typeface="Source Code Pro"/>
              </a:rPr>
              <a:t>vec.fit(x_train)</a:t>
            </a:r>
            <a:r>
              <a:rPr lang="en-US" sz="1400" b="0" i="0" u="none" strike="noStrike">
                <a:solidFill>
                  <a:srgbClr val="9E9E9E"/>
                </a:solidFill>
                <a:latin typeface="Source Code Pro"/>
                <a:ea typeface="Source Code Pro"/>
                <a:cs typeface="Source Code Pro"/>
                <a:sym typeface="Source Code Pro"/>
              </a:rPr>
              <a:t># 在训练数据上拟合</a:t>
            </a:r>
            <a:endParaRPr lang="en-US" sz="1400" b="0" i="0" u="none" strike="noStrike">
              <a:solidFill>
                <a:srgbClr val="9E9E9E"/>
              </a:solidFill>
              <a:latin typeface="Source Code Pro"/>
              <a:ea typeface="Source Code Pro"/>
              <a:cs typeface="Source Code Pro"/>
              <a:sym typeface="Source Code Pro"/>
            </a:endParaRPr>
          </a:p>
        </p:txBody>
      </p:sp>
      <p:sp>
        <p:nvSpPr>
          <p:cNvPr id="14" name="AutoShape 14"/>
          <p:cNvSpPr/>
          <p:nvPr/>
        </p:nvSpPr>
        <p:spPr>
          <a:xfrm>
            <a:off x="762000" y="4826000"/>
            <a:ext cx="10668000" cy="1016000"/>
          </a:xfrm>
          <a:prstGeom prst="roundRect">
            <a:avLst>
              <a:gd name="adj" fmla="val 12500"/>
            </a:avLst>
          </a:prstGeom>
          <a:solidFill>
            <a:srgbClr val="0288D1">
              <a:alpha val="10000"/>
            </a:srgbClr>
          </a:solidFill>
          <a:ln w="12700" cap="flat" cmpd="sng">
            <a:solidFill>
              <a:srgbClr val="0288D1">
                <a:alpha val="100000"/>
              </a:srgbClr>
            </a:solidFill>
            <a:prstDash val="dash"/>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5080000"/>
            <a:ext cx="508000" cy="508000"/>
          </a:xfrm>
          <a:prstGeom prst="rect">
            <a:avLst/>
          </a:prstGeom>
        </p:spPr>
      </p:pic>
      <p:sp>
        <p:nvSpPr>
          <p:cNvPr id="16" name="AutoShape 16"/>
          <p:cNvSpPr/>
          <p:nvPr/>
        </p:nvSpPr>
        <p:spPr>
          <a:xfrm>
            <a:off x="1651000" y="4953000"/>
            <a:ext cx="952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88D1"/>
                </a:solidFill>
                <a:latin typeface="Noto Sans SC"/>
                <a:ea typeface="Noto Sans SC"/>
                <a:cs typeface="Noto Sans SC"/>
                <a:sym typeface="Noto Sans SC"/>
              </a:rPr>
              <a:t>关键参数说明：</a:t>
            </a:r>
            <a:endParaRPr lang="en-US" sz="1100"/>
          </a:p>
          <a:p>
            <a:pPr indent="0" algn="l">
              <a:lnSpc>
                <a:spcPct val="125000"/>
              </a:lnSpc>
            </a:pPr>
            <a:r>
              <a:rPr lang="en-US" sz="1400" b="1" i="0" u="none" strike="noStrike">
                <a:solidFill>
                  <a:srgbClr val="424242"/>
                </a:solidFill>
                <a:latin typeface="Noto Sans SC"/>
                <a:ea typeface="Noto Sans SC"/>
                <a:cs typeface="Noto Sans SC"/>
                <a:sym typeface="Noto Sans SC"/>
              </a:rPr>
              <a:t>max_features=4000</a:t>
            </a:r>
            <a:r>
              <a:rPr lang="en-US" sz="1400" b="0" i="0" u="none" strike="noStrike">
                <a:solidFill>
                  <a:srgbClr val="424242"/>
                </a:solidFill>
                <a:latin typeface="Noto Sans SC"/>
                <a:ea typeface="Noto Sans SC"/>
                <a:cs typeface="Noto Sans SC"/>
                <a:sym typeface="Noto Sans SC"/>
              </a:rPr>
              <a:t>：仅保留语料库中出现频率最高的4000个词汇作为特征。这是一种有效的降维手段，能够过滤掉长尾低频词汇，减少噪声，提升模型训练速度。</a:t>
            </a:r>
            <a:endParaRPr lang="en-US" sz="1400" b="0" i="0" u="none" strike="noStrike">
              <a:solidFill>
                <a:srgbClr val="424242"/>
              </a:solidFill>
              <a:latin typeface="Noto Sans SC"/>
              <a:ea typeface="Noto Sans SC"/>
              <a:cs typeface="Noto Sans SC"/>
              <a:sym typeface="Noto Sans SC"/>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31242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步骤4：模型训练</a:t>
            </a:r>
            <a:endParaRPr lang="en-US" sz="1100"/>
          </a:p>
        </p:txBody>
      </p:sp>
      <p:sp>
        <p:nvSpPr>
          <p:cNvPr id="3" name="AutoShape 3"/>
          <p:cNvSpPr/>
          <p:nvPr/>
        </p:nvSpPr>
        <p:spPr>
          <a:xfrm>
            <a:off x="762000" y="1079500"/>
            <a:ext cx="762000" cy="508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524000"/>
            <a:ext cx="4064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78000"/>
            <a:ext cx="406400" cy="406400"/>
          </a:xfrm>
          <a:prstGeom prst="rect">
            <a:avLst/>
          </a:prstGeom>
        </p:spPr>
      </p:pic>
      <p:sp>
        <p:nvSpPr>
          <p:cNvPr id="6" name="AutoShape 6"/>
          <p:cNvSpPr/>
          <p:nvPr/>
        </p:nvSpPr>
        <p:spPr>
          <a:xfrm>
            <a:off x="1524000" y="1727200"/>
            <a:ext cx="304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24242"/>
                </a:solidFill>
                <a:latin typeface="Noto Sans SC"/>
                <a:ea typeface="Noto Sans SC"/>
                <a:cs typeface="Noto Sans SC"/>
                <a:sym typeface="Noto Sans SC"/>
              </a:rPr>
              <a:t>算法选择：朴素贝叶斯</a:t>
            </a:r>
            <a:endParaRPr lang="en-US" sz="1100"/>
          </a:p>
        </p:txBody>
      </p:sp>
      <p:sp>
        <p:nvSpPr>
          <p:cNvPr id="7" name="AutoShape 7"/>
          <p:cNvSpPr/>
          <p:nvPr/>
        </p:nvSpPr>
        <p:spPr>
          <a:xfrm>
            <a:off x="1016000" y="2286000"/>
            <a:ext cx="3556000" cy="190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16161"/>
                </a:solidFill>
                <a:latin typeface="Noto Sans SC"/>
                <a:ea typeface="Noto Sans SC"/>
                <a:cs typeface="Noto Sans SC"/>
                <a:sym typeface="Noto Sans SC"/>
              </a:rPr>
              <a:t>朴素贝叶斯分类器是一种基于贝叶斯定理的简单概率分类器。它特别适合处理文本分类任务，因为它计算效率高，且在高维稀疏数据上表现优异。</a:t>
            </a:r>
            <a:endParaRPr lang="en-US" sz="1100"/>
          </a:p>
          <a:p>
            <a:pPr indent="0" algn="l">
              <a:lnSpc>
                <a:spcPct val="125000"/>
              </a:lnSpc>
            </a:pPr>
            <a:r>
              <a:rPr lang="en-US" sz="1400" b="0" i="0" u="none" strike="noStrike">
                <a:solidFill>
                  <a:srgbClr val="616161"/>
                </a:solidFill>
                <a:latin typeface="Noto Sans SC"/>
                <a:ea typeface="Noto Sans SC"/>
                <a:cs typeface="Noto Sans SC"/>
                <a:sym typeface="Noto Sans SC"/>
              </a:rPr>
              <a:t>在本案例中，我们使用多项式朴素贝叶斯(MultinomialNB)来处理词频特征。</a:t>
            </a:r>
            <a:endParaRPr lang="en-US" sz="1400" b="0" i="0" u="none" strike="noStrike">
              <a:solidFill>
                <a:srgbClr val="616161"/>
              </a:solidFill>
              <a:latin typeface="Noto Sans SC"/>
              <a:ea typeface="Noto Sans SC"/>
              <a:cs typeface="Noto Sans SC"/>
              <a:sym typeface="Noto Sans SC"/>
            </a:endParaRPr>
          </a:p>
        </p:txBody>
      </p:sp>
      <p:sp>
        <p:nvSpPr>
          <p:cNvPr id="8" name="AutoShape 8"/>
          <p:cNvSpPr/>
          <p:nvPr/>
        </p:nvSpPr>
        <p:spPr>
          <a:xfrm>
            <a:off x="5080000" y="1524000"/>
            <a:ext cx="6350000" cy="3048000"/>
          </a:xfrm>
          <a:prstGeom prst="roundRect">
            <a:avLst>
              <a:gd name="adj" fmla="val 4166"/>
            </a:avLst>
          </a:prstGeom>
          <a:solidFill>
            <a:srgbClr val="1E1E1E">
              <a:alpha val="100000"/>
            </a:srgbClr>
          </a:solidFill>
          <a:ln w="25400" cap="flat" cmpd="sng">
            <a:noFill/>
            <a:prstDash val="solid"/>
            <a:round/>
          </a:ln>
          <a:effectLst>
            <a:outerShdw blurRad="190500" dist="76200" dir="5400000" algn="tl" rotWithShape="0">
              <a:srgbClr val="000000">
                <a:alpha val="20000"/>
              </a:srgbClr>
            </a:outerShdw>
          </a:effectLst>
        </p:spPr>
        <p:txBody>
          <a:bodyPr vert="horz" wrap="square" lIns="63500" tIns="63500" rIns="63500" bIns="63500" rtlCol="0" anchor="ctr"/>
          <a:lstStyle/>
          <a:p>
            <a:pPr algn="ctr">
              <a:defRPr/>
            </a:pPr>
          </a:p>
        </p:txBody>
      </p:sp>
      <p:sp>
        <p:nvSpPr>
          <p:cNvPr id="9" name="AutoShape 9"/>
          <p:cNvSpPr/>
          <p:nvPr/>
        </p:nvSpPr>
        <p:spPr>
          <a:xfrm>
            <a:off x="5080000" y="1524000"/>
            <a:ext cx="6350000" cy="381000"/>
          </a:xfrm>
          <a:prstGeom prst="roundRect">
            <a:avLst>
              <a:gd name="adj" fmla="val 0"/>
            </a:avLst>
          </a:prstGeom>
          <a:solidFill>
            <a:srgbClr val="2D2D2D">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5270500" y="1625600"/>
            <a:ext cx="152400" cy="152400"/>
          </a:xfrm>
          <a:prstGeom prst="ellipse">
            <a:avLst/>
          </a:prstGeom>
          <a:solidFill>
            <a:srgbClr val="FF5F5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5524500" y="1625600"/>
            <a:ext cx="152400" cy="152400"/>
          </a:xfrm>
          <a:prstGeom prst="ellipse">
            <a:avLst/>
          </a:prstGeom>
          <a:solidFill>
            <a:srgbClr val="FFBD2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5778500" y="1625600"/>
            <a:ext cx="152400" cy="152400"/>
          </a:xfrm>
          <a:prstGeom prst="ellipse">
            <a:avLst/>
          </a:prstGeom>
          <a:solidFill>
            <a:srgbClr val="27C93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5270500" y="2032000"/>
            <a:ext cx="5969000" cy="228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C792EA"/>
                </a:solidFill>
                <a:latin typeface="Consolas"/>
                <a:ea typeface="Consolas"/>
                <a:cs typeface="Consolas"/>
                <a:sym typeface="Consolas"/>
              </a:rPr>
              <a:t>from</a:t>
            </a:r>
            <a:r>
              <a:rPr lang="en-US" sz="1400" b="0" i="0" u="none" strike="noStrike">
                <a:solidFill>
                  <a:srgbClr val="F8F8F2"/>
                </a:solidFill>
                <a:latin typeface="Consolas"/>
                <a:ea typeface="Consolas"/>
                <a:cs typeface="Consolas"/>
                <a:sym typeface="Consolas"/>
              </a:rPr>
              <a:t>sklearn.naive_bayes</a:t>
            </a:r>
            <a:r>
              <a:rPr lang="en-US" sz="1400" b="0" i="0" u="none" strike="noStrike">
                <a:solidFill>
                  <a:srgbClr val="C792EA"/>
                </a:solidFill>
                <a:latin typeface="Consolas"/>
                <a:ea typeface="Consolas"/>
                <a:cs typeface="Consolas"/>
                <a:sym typeface="Consolas"/>
              </a:rPr>
              <a:t>import</a:t>
            </a:r>
            <a:r>
              <a:rPr lang="en-US" sz="1400" b="0" i="0" u="none" strike="noStrike">
                <a:solidFill>
                  <a:srgbClr val="F8F8F2"/>
                </a:solidFill>
                <a:latin typeface="Consolas"/>
                <a:ea typeface="Consolas"/>
                <a:cs typeface="Consolas"/>
                <a:sym typeface="Consolas"/>
              </a:rPr>
              <a:t>MultinomialNB</a:t>
            </a:r>
            <a:endParaRPr lang="en-US" sz="1100"/>
          </a:p>
          <a:p>
            <a:pPr indent="0" algn="l">
              <a:lnSpc>
                <a:spcPct val="108000"/>
              </a:lnSpc>
            </a:pPr>
            <a:r>
              <a:rPr lang="en-US" sz="1400" b="0" i="0" u="none" strike="noStrike">
                <a:solidFill>
                  <a:srgbClr val="5C6370"/>
                </a:solidFill>
                <a:latin typeface="Consolas"/>
                <a:ea typeface="Consolas"/>
                <a:cs typeface="Consolas"/>
                <a:sym typeface="Consolas"/>
              </a:rPr>
              <a:t># 创建朴素贝叶斯分类器实例</a:t>
            </a:r>
            <a:endParaRPr lang="en-US" sz="1400" b="0" i="0" u="none" strike="noStrike">
              <a:solidFill>
                <a:srgbClr val="5C6370"/>
              </a:solidFill>
              <a:latin typeface="Consolas"/>
              <a:ea typeface="Consolas"/>
              <a:cs typeface="Consolas"/>
              <a:sym typeface="Consolas"/>
            </a:endParaRPr>
          </a:p>
          <a:p>
            <a:pPr indent="0" algn="l">
              <a:lnSpc>
                <a:spcPct val="108000"/>
              </a:lnSpc>
            </a:pPr>
            <a:r>
              <a:rPr lang="en-US" sz="1400" b="0" i="0" u="none" strike="noStrike">
                <a:solidFill>
                  <a:srgbClr val="F8F8F2"/>
                </a:solidFill>
                <a:latin typeface="Consolas"/>
                <a:ea typeface="Consolas"/>
                <a:cs typeface="Consolas"/>
                <a:sym typeface="Consolas"/>
              </a:rPr>
              <a:t>classifier =</a:t>
            </a:r>
            <a:r>
              <a:rPr lang="en-US" sz="1400" b="0" i="0" u="none" strike="noStrike">
                <a:solidFill>
                  <a:srgbClr val="FFCB6B"/>
                </a:solidFill>
                <a:latin typeface="Consolas"/>
                <a:ea typeface="Consolas"/>
                <a:cs typeface="Consolas"/>
                <a:sym typeface="Consolas"/>
              </a:rPr>
              <a:t>MultinomialNB</a:t>
            </a:r>
            <a:r>
              <a:rPr lang="en-US" sz="1400" b="0" i="0" u="none" strike="noStrike">
                <a:solidFill>
                  <a:srgbClr val="F8F8F2"/>
                </a:solidFill>
                <a:latin typeface="Consolas"/>
                <a:ea typeface="Consolas"/>
                <a:cs typeface="Consolas"/>
                <a:sym typeface="Consolas"/>
              </a:rPr>
              <a:t>()</a:t>
            </a:r>
            <a:endParaRPr lang="en-US" sz="1400" b="0" i="0" u="none" strike="noStrike">
              <a:solidFill>
                <a:srgbClr val="F8F8F2"/>
              </a:solidFill>
              <a:latin typeface="Consolas"/>
              <a:ea typeface="Consolas"/>
              <a:cs typeface="Consolas"/>
              <a:sym typeface="Consolas"/>
            </a:endParaRPr>
          </a:p>
          <a:p>
            <a:pPr indent="0" algn="l">
              <a:lnSpc>
                <a:spcPct val="108000"/>
              </a:lnSpc>
            </a:pPr>
            <a:r>
              <a:rPr lang="en-US" sz="1400" b="0" i="0" u="none" strike="noStrike">
                <a:solidFill>
                  <a:srgbClr val="5C6370"/>
                </a:solidFill>
                <a:latin typeface="Consolas"/>
                <a:ea typeface="Consolas"/>
                <a:cs typeface="Consolas"/>
                <a:sym typeface="Consolas"/>
              </a:rPr>
              <a:t># 使用训练数据的特征矩阵和标签进行训练</a:t>
            </a:r>
            <a:endParaRPr lang="en-US" sz="1400" b="0" i="0" u="none" strike="noStrike">
              <a:solidFill>
                <a:srgbClr val="5C6370"/>
              </a:solidFill>
              <a:latin typeface="Consolas"/>
              <a:ea typeface="Consolas"/>
              <a:cs typeface="Consolas"/>
              <a:sym typeface="Consolas"/>
            </a:endParaRPr>
          </a:p>
          <a:p>
            <a:pPr indent="0" algn="l">
              <a:lnSpc>
                <a:spcPct val="108000"/>
              </a:lnSpc>
            </a:pPr>
            <a:r>
              <a:rPr lang="en-US" sz="1400" b="0" i="0" u="none" strike="noStrike">
                <a:solidFill>
                  <a:srgbClr val="F8F8F2"/>
                </a:solidFill>
                <a:latin typeface="Consolas"/>
                <a:ea typeface="Consolas"/>
                <a:cs typeface="Consolas"/>
                <a:sym typeface="Consolas"/>
              </a:rPr>
              <a:t>classifier.</a:t>
            </a:r>
            <a:r>
              <a:rPr lang="en-US" sz="1400" b="0" i="0" u="none" strike="noStrike">
                <a:solidFill>
                  <a:srgbClr val="50FA7B"/>
                </a:solidFill>
                <a:latin typeface="Consolas"/>
                <a:ea typeface="Consolas"/>
                <a:cs typeface="Consolas"/>
                <a:sym typeface="Consolas"/>
              </a:rPr>
              <a:t>fit</a:t>
            </a:r>
            <a:r>
              <a:rPr lang="en-US" sz="1400" b="0" i="0" u="none" strike="noStrike">
                <a:solidFill>
                  <a:srgbClr val="F8F8F2"/>
                </a:solidFill>
                <a:latin typeface="Consolas"/>
                <a:ea typeface="Consolas"/>
                <a:cs typeface="Consolas"/>
                <a:sym typeface="Consolas"/>
              </a:rPr>
              <a:t>(vec.transform(x_train), y_train)</a:t>
            </a:r>
            <a:endParaRPr lang="en-US" sz="1400" b="0" i="0" u="none" strike="noStrike">
              <a:solidFill>
                <a:srgbClr val="F8F8F2"/>
              </a:solidFill>
              <a:latin typeface="Consolas"/>
              <a:ea typeface="Consolas"/>
              <a:cs typeface="Consolas"/>
              <a:sym typeface="Consolas"/>
            </a:endParaRPr>
          </a:p>
        </p:txBody>
      </p:sp>
      <p:sp>
        <p:nvSpPr>
          <p:cNvPr id="14" name="AutoShape 14"/>
          <p:cNvSpPr/>
          <p:nvPr/>
        </p:nvSpPr>
        <p:spPr>
          <a:xfrm>
            <a:off x="762000" y="4953000"/>
            <a:ext cx="10668000" cy="762000"/>
          </a:xfrm>
          <a:prstGeom prst="roundRect">
            <a:avLst>
              <a:gd name="adj" fmla="val 16666"/>
            </a:avLst>
          </a:prstGeom>
          <a:solidFill>
            <a:srgbClr val="0288D1">
              <a:alpha val="10000"/>
            </a:srgbClr>
          </a:solidFill>
          <a:ln w="12700" cap="flat" cmpd="sng">
            <a:solidFill>
              <a:srgbClr val="0288D1">
                <a:alpha val="100000"/>
              </a:srgbClr>
            </a:solidFill>
            <a:prstDash val="dash"/>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5130800"/>
            <a:ext cx="406400" cy="406400"/>
          </a:xfrm>
          <a:prstGeom prst="rect">
            <a:avLst/>
          </a:prstGeom>
        </p:spPr>
      </p:pic>
      <p:sp>
        <p:nvSpPr>
          <p:cNvPr id="16" name="AutoShape 16"/>
          <p:cNvSpPr/>
          <p:nvPr/>
        </p:nvSpPr>
        <p:spPr>
          <a:xfrm>
            <a:off x="1524000" y="5105400"/>
            <a:ext cx="9652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88D1"/>
                </a:solidFill>
                <a:latin typeface="Noto Sans SC"/>
                <a:ea typeface="Noto Sans SC"/>
                <a:cs typeface="Noto Sans SC"/>
                <a:sym typeface="Noto Sans SC"/>
              </a:rPr>
              <a:t>关键提示：</a:t>
            </a:r>
            <a:r>
              <a:rPr lang="en-US" sz="1600" b="0" i="0" u="none" strike="noStrike">
                <a:solidFill>
                  <a:srgbClr val="424242"/>
                </a:solidFill>
                <a:latin typeface="Noto Sans SC"/>
                <a:ea typeface="Noto Sans SC"/>
                <a:cs typeface="Noto Sans SC"/>
                <a:sym typeface="Noto Sans SC"/>
              </a:rPr>
              <a:t>训练过程依赖于之前步骤提取的特征矩阵（vec.transform(x_train)）和对应的标签（y_train）。</a:t>
            </a:r>
            <a:endParaRPr lang="en-US" sz="11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67056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步骤5：模型评价（代码示例1）</a:t>
            </a:r>
            <a:endParaRPr lang="en-US" sz="1100"/>
          </a:p>
        </p:txBody>
      </p:sp>
      <p:sp>
        <p:nvSpPr>
          <p:cNvPr id="3" name="AutoShape 3"/>
          <p:cNvSpPr/>
          <p:nvPr/>
        </p:nvSpPr>
        <p:spPr>
          <a:xfrm>
            <a:off x="762000" y="1397000"/>
            <a:ext cx="6350000" cy="3048000"/>
          </a:xfrm>
          <a:prstGeom prst="roundRect">
            <a:avLst>
              <a:gd name="adj" fmla="val 4166"/>
            </a:avLst>
          </a:prstGeom>
          <a:solidFill>
            <a:srgbClr val="1E1E1E">
              <a:alpha val="100000"/>
            </a:srgbClr>
          </a:solidFill>
          <a:ln w="25400" cap="flat" cmpd="sng">
            <a:noFill/>
            <a:prstDash val="solid"/>
            <a:round/>
          </a:ln>
          <a:effectLst>
            <a:outerShdw blurRad="127000" dist="63500" dir="5400000" algn="tl" rotWithShape="0">
              <a:srgbClr val="000000">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1016000" y="1587500"/>
            <a:ext cx="152400" cy="152400"/>
          </a:xfrm>
          <a:prstGeom prst="ellipse">
            <a:avLst/>
          </a:prstGeom>
          <a:solidFill>
            <a:srgbClr val="FF5F56">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270000" y="1587500"/>
            <a:ext cx="152400" cy="152400"/>
          </a:xfrm>
          <a:prstGeom prst="ellipse">
            <a:avLst/>
          </a:prstGeom>
          <a:solidFill>
            <a:srgbClr val="FFBD2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524000" y="1587500"/>
            <a:ext cx="152400" cy="152400"/>
          </a:xfrm>
          <a:prstGeom prst="ellipse">
            <a:avLst/>
          </a:prstGeom>
          <a:solidFill>
            <a:srgbClr val="27C93F">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016000" y="1905000"/>
            <a:ext cx="5842000" cy="228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C678DD"/>
                </a:solidFill>
                <a:latin typeface="Consolas"/>
                <a:ea typeface="Consolas"/>
                <a:cs typeface="Consolas"/>
                <a:sym typeface="Consolas"/>
              </a:rPr>
              <a:t># 使用训练好的分类器对测试集进行预测</a:t>
            </a:r>
            <a:endParaRPr lang="en-US" sz="1100"/>
          </a:p>
          <a:p>
            <a:pPr indent="0" algn="l">
              <a:lnSpc>
                <a:spcPct val="108000"/>
              </a:lnSpc>
            </a:pPr>
            <a:r>
              <a:rPr lang="en-US" sz="1400" b="0" i="0" u="none" strike="noStrike">
                <a:solidFill>
                  <a:srgbClr val="E5C07B"/>
                </a:solidFill>
                <a:latin typeface="Consolas"/>
                <a:ea typeface="Consolas"/>
                <a:cs typeface="Consolas"/>
                <a:sym typeface="Consolas"/>
              </a:rPr>
              <a:t>pre</a:t>
            </a:r>
            <a:r>
              <a:rPr lang="en-US" sz="1400" b="0" i="0" u="none" strike="noStrike">
                <a:solidFill>
                  <a:srgbClr val="ABB2BF"/>
                </a:solidFill>
                <a:latin typeface="Consolas"/>
                <a:ea typeface="Consolas"/>
                <a:cs typeface="Consolas"/>
                <a:sym typeface="Consolas"/>
              </a:rPr>
              <a:t>=</a:t>
            </a:r>
            <a:r>
              <a:rPr lang="en-US" sz="1400" b="0" i="0" u="none" strike="noStrike">
                <a:solidFill>
                  <a:srgbClr val="E5C07B"/>
                </a:solidFill>
                <a:latin typeface="Consolas"/>
                <a:ea typeface="Consolas"/>
                <a:cs typeface="Consolas"/>
                <a:sym typeface="Consolas"/>
              </a:rPr>
              <a:t>classifier</a:t>
            </a:r>
            <a:r>
              <a:rPr lang="en-US" sz="1400" b="0" i="0" u="none" strike="noStrike">
                <a:solidFill>
                  <a:srgbClr val="ABB2BF"/>
                </a:solidFill>
                <a:latin typeface="Consolas"/>
                <a:ea typeface="Consolas"/>
                <a:cs typeface="Consolas"/>
                <a:sym typeface="Consolas"/>
              </a:rPr>
              <a:t>.</a:t>
            </a:r>
            <a:r>
              <a:rPr lang="en-US" sz="1400" b="0" i="0" u="none" strike="noStrike">
                <a:solidFill>
                  <a:srgbClr val="61AFEF"/>
                </a:solidFill>
                <a:latin typeface="Consolas"/>
                <a:ea typeface="Consolas"/>
                <a:cs typeface="Consolas"/>
                <a:sym typeface="Consolas"/>
              </a:rPr>
              <a:t>predict</a:t>
            </a:r>
            <a:r>
              <a:rPr lang="en-US" sz="1400" b="0" i="0" u="none" strike="noStrike">
                <a:solidFill>
                  <a:srgbClr val="ABB2BF"/>
                </a:solidFill>
                <a:latin typeface="Consolas"/>
                <a:ea typeface="Consolas"/>
                <a:cs typeface="Consolas"/>
                <a:sym typeface="Consolas"/>
              </a:rPr>
              <a:t>(</a:t>
            </a:r>
            <a:r>
              <a:rPr lang="en-US" sz="1400" b="0" i="0" u="none" strike="noStrike">
                <a:solidFill>
                  <a:srgbClr val="E5C07B"/>
                </a:solidFill>
                <a:latin typeface="Consolas"/>
                <a:ea typeface="Consolas"/>
                <a:cs typeface="Consolas"/>
                <a:sym typeface="Consolas"/>
              </a:rPr>
              <a:t>vec</a:t>
            </a:r>
            <a:r>
              <a:rPr lang="en-US" sz="1400" b="0" i="0" u="none" strike="noStrike">
                <a:solidFill>
                  <a:srgbClr val="ABB2BF"/>
                </a:solidFill>
                <a:latin typeface="Consolas"/>
                <a:ea typeface="Consolas"/>
                <a:cs typeface="Consolas"/>
                <a:sym typeface="Consolas"/>
              </a:rPr>
              <a:t>.</a:t>
            </a:r>
            <a:r>
              <a:rPr lang="en-US" sz="1400" b="0" i="0" u="none" strike="noStrike">
                <a:solidFill>
                  <a:srgbClr val="61AFEF"/>
                </a:solidFill>
                <a:latin typeface="Consolas"/>
                <a:ea typeface="Consolas"/>
                <a:cs typeface="Consolas"/>
                <a:sym typeface="Consolas"/>
              </a:rPr>
              <a:t>transform</a:t>
            </a:r>
            <a:r>
              <a:rPr lang="en-US" sz="1400" b="0" i="0" u="none" strike="noStrike">
                <a:solidFill>
                  <a:srgbClr val="ABB2BF"/>
                </a:solidFill>
                <a:latin typeface="Consolas"/>
                <a:ea typeface="Consolas"/>
                <a:cs typeface="Consolas"/>
                <a:sym typeface="Consolas"/>
              </a:rPr>
              <a:t>(</a:t>
            </a:r>
            <a:r>
              <a:rPr lang="en-US" sz="1400" b="0" i="0" u="none" strike="noStrike">
                <a:solidFill>
                  <a:srgbClr val="E5C07B"/>
                </a:solidFill>
                <a:latin typeface="Consolas"/>
                <a:ea typeface="Consolas"/>
                <a:cs typeface="Consolas"/>
                <a:sym typeface="Consolas"/>
              </a:rPr>
              <a:t>x_test</a:t>
            </a:r>
            <a:r>
              <a:rPr lang="en-US" sz="1400" b="0" i="0" u="none" strike="noStrike">
                <a:solidFill>
                  <a:srgbClr val="ABB2BF"/>
                </a:solidFill>
                <a:latin typeface="Consolas"/>
                <a:ea typeface="Consolas"/>
                <a:cs typeface="Consolas"/>
                <a:sym typeface="Consolas"/>
              </a:rPr>
              <a:t>))</a:t>
            </a:r>
            <a:endParaRPr lang="en-US" sz="1400" b="0" i="0" u="none" strike="noStrike">
              <a:solidFill>
                <a:srgbClr val="ABB2BF"/>
              </a:solidFill>
              <a:latin typeface="Consolas"/>
              <a:ea typeface="Consolas"/>
              <a:cs typeface="Consolas"/>
              <a:sym typeface="Consolas"/>
            </a:endParaRPr>
          </a:p>
          <a:p>
            <a:pPr indent="0" algn="l">
              <a:lnSpc>
                <a:spcPct val="108000"/>
              </a:lnSpc>
            </a:pPr>
          </a:p>
          <a:p>
            <a:pPr indent="0" algn="l">
              <a:lnSpc>
                <a:spcPct val="108000"/>
              </a:lnSpc>
            </a:pPr>
            <a:r>
              <a:rPr lang="en-US" sz="1400" b="0" i="0" u="none" strike="noStrike">
                <a:solidFill>
                  <a:srgbClr val="C678DD"/>
                </a:solidFill>
                <a:latin typeface="Consolas"/>
                <a:ea typeface="Consolas"/>
                <a:cs typeface="Consolas"/>
                <a:sym typeface="Consolas"/>
              </a:rPr>
              <a:t># 计算并打印分类器在测试集上的准确率</a:t>
            </a:r>
            <a:endParaRPr lang="en-US" sz="1400" b="0" i="0" u="none" strike="noStrike">
              <a:solidFill>
                <a:srgbClr val="C678DD"/>
              </a:solidFill>
              <a:latin typeface="Consolas"/>
              <a:ea typeface="Consolas"/>
              <a:cs typeface="Consolas"/>
              <a:sym typeface="Consolas"/>
            </a:endParaRPr>
          </a:p>
          <a:p>
            <a:pPr indent="0" algn="l">
              <a:lnSpc>
                <a:spcPct val="108000"/>
              </a:lnSpc>
            </a:pPr>
            <a:r>
              <a:rPr lang="en-US" sz="1400" b="0" i="0" u="none" strike="noStrike">
                <a:solidFill>
                  <a:srgbClr val="61AFEF"/>
                </a:solidFill>
                <a:latin typeface="Consolas"/>
                <a:ea typeface="Consolas"/>
                <a:cs typeface="Consolas"/>
                <a:sym typeface="Consolas"/>
              </a:rPr>
              <a:t>print</a:t>
            </a:r>
            <a:r>
              <a:rPr lang="en-US" sz="1400" b="0" i="0" u="none" strike="noStrike">
                <a:solidFill>
                  <a:srgbClr val="ABB2BF"/>
                </a:solidFill>
                <a:latin typeface="Consolas"/>
                <a:ea typeface="Consolas"/>
                <a:cs typeface="Consolas"/>
                <a:sym typeface="Consolas"/>
              </a:rPr>
              <a:t>(</a:t>
            </a:r>
            <a:r>
              <a:rPr lang="en-US" sz="1400" b="0" i="0" u="none" strike="noStrike">
                <a:solidFill>
                  <a:srgbClr val="E5C07B"/>
                </a:solidFill>
                <a:latin typeface="Consolas"/>
                <a:ea typeface="Consolas"/>
                <a:cs typeface="Consolas"/>
                <a:sym typeface="Consolas"/>
              </a:rPr>
              <a:t>classifier</a:t>
            </a:r>
            <a:r>
              <a:rPr lang="en-US" sz="1400" b="0" i="0" u="none" strike="noStrike">
                <a:solidFill>
                  <a:srgbClr val="ABB2BF"/>
                </a:solidFill>
                <a:latin typeface="Consolas"/>
                <a:ea typeface="Consolas"/>
                <a:cs typeface="Consolas"/>
                <a:sym typeface="Consolas"/>
              </a:rPr>
              <a:t>.</a:t>
            </a:r>
            <a:r>
              <a:rPr lang="en-US" sz="1400" b="0" i="0" u="none" strike="noStrike">
                <a:solidFill>
                  <a:srgbClr val="61AFEF"/>
                </a:solidFill>
                <a:latin typeface="Consolas"/>
                <a:ea typeface="Consolas"/>
                <a:cs typeface="Consolas"/>
                <a:sym typeface="Consolas"/>
              </a:rPr>
              <a:t>score</a:t>
            </a:r>
            <a:r>
              <a:rPr lang="en-US" sz="1400" b="0" i="0" u="none" strike="noStrike">
                <a:solidFill>
                  <a:srgbClr val="ABB2BF"/>
                </a:solidFill>
                <a:latin typeface="Consolas"/>
                <a:ea typeface="Consolas"/>
                <a:cs typeface="Consolas"/>
                <a:sym typeface="Consolas"/>
              </a:rPr>
              <a:t>(</a:t>
            </a:r>
            <a:r>
              <a:rPr lang="en-US" sz="1400" b="0" i="0" u="none" strike="noStrike">
                <a:solidFill>
                  <a:srgbClr val="E5C07B"/>
                </a:solidFill>
                <a:latin typeface="Consolas"/>
                <a:ea typeface="Consolas"/>
                <a:cs typeface="Consolas"/>
                <a:sym typeface="Consolas"/>
              </a:rPr>
              <a:t>vec</a:t>
            </a:r>
            <a:r>
              <a:rPr lang="en-US" sz="1400" b="0" i="0" u="none" strike="noStrike">
                <a:solidFill>
                  <a:srgbClr val="ABB2BF"/>
                </a:solidFill>
                <a:latin typeface="Consolas"/>
                <a:ea typeface="Consolas"/>
                <a:cs typeface="Consolas"/>
                <a:sym typeface="Consolas"/>
              </a:rPr>
              <a:t>.</a:t>
            </a:r>
            <a:r>
              <a:rPr lang="en-US" sz="1400" b="0" i="0" u="none" strike="noStrike">
                <a:solidFill>
                  <a:srgbClr val="61AFEF"/>
                </a:solidFill>
                <a:latin typeface="Consolas"/>
                <a:ea typeface="Consolas"/>
                <a:cs typeface="Consolas"/>
                <a:sym typeface="Consolas"/>
              </a:rPr>
              <a:t>transform</a:t>
            </a:r>
            <a:r>
              <a:rPr lang="en-US" sz="1400" b="0" i="0" u="none" strike="noStrike">
                <a:solidFill>
                  <a:srgbClr val="ABB2BF"/>
                </a:solidFill>
                <a:latin typeface="Consolas"/>
                <a:ea typeface="Consolas"/>
                <a:cs typeface="Consolas"/>
                <a:sym typeface="Consolas"/>
              </a:rPr>
              <a:t>(</a:t>
            </a:r>
            <a:r>
              <a:rPr lang="en-US" sz="1400" b="0" i="0" u="none" strike="noStrike">
                <a:solidFill>
                  <a:srgbClr val="E5C07B"/>
                </a:solidFill>
                <a:latin typeface="Consolas"/>
                <a:ea typeface="Consolas"/>
                <a:cs typeface="Consolas"/>
                <a:sym typeface="Consolas"/>
              </a:rPr>
              <a:t>x_test</a:t>
            </a:r>
            <a:r>
              <a:rPr lang="en-US" sz="1400" b="0" i="0" u="none" strike="noStrike">
                <a:solidFill>
                  <a:srgbClr val="ABB2BF"/>
                </a:solidFill>
                <a:latin typeface="Consolas"/>
                <a:ea typeface="Consolas"/>
                <a:cs typeface="Consolas"/>
                <a:sym typeface="Consolas"/>
              </a:rPr>
              <a:t>),</a:t>
            </a:r>
            <a:r>
              <a:rPr lang="en-US" sz="1400" b="0" i="0" u="none" strike="noStrike">
                <a:solidFill>
                  <a:srgbClr val="E5C07B"/>
                </a:solidFill>
                <a:latin typeface="Consolas"/>
                <a:ea typeface="Consolas"/>
                <a:cs typeface="Consolas"/>
                <a:sym typeface="Consolas"/>
              </a:rPr>
              <a:t>y_test</a:t>
            </a:r>
            <a:r>
              <a:rPr lang="en-US" sz="1400" b="0" i="0" u="none" strike="noStrike">
                <a:solidFill>
                  <a:srgbClr val="ABB2BF"/>
                </a:solidFill>
                <a:latin typeface="Consolas"/>
                <a:ea typeface="Consolas"/>
                <a:cs typeface="Consolas"/>
                <a:sym typeface="Consolas"/>
              </a:rPr>
              <a:t>))</a:t>
            </a:r>
            <a:endParaRPr lang="en-US" sz="1400" b="0" i="0" u="none" strike="noStrike">
              <a:solidFill>
                <a:srgbClr val="ABB2BF"/>
              </a:solidFill>
              <a:latin typeface="Consolas"/>
              <a:ea typeface="Consolas"/>
              <a:cs typeface="Consolas"/>
              <a:sym typeface="Consolas"/>
            </a:endParaRPr>
          </a:p>
        </p:txBody>
      </p:sp>
      <p:sp>
        <p:nvSpPr>
          <p:cNvPr id="8" name="AutoShape 8"/>
          <p:cNvSpPr/>
          <p:nvPr/>
        </p:nvSpPr>
        <p:spPr>
          <a:xfrm>
            <a:off x="7493000" y="1397000"/>
            <a:ext cx="3937000" cy="3048000"/>
          </a:xfrm>
          <a:prstGeom prst="roundRect">
            <a:avLst>
              <a:gd name="adj" fmla="val 4166"/>
            </a:avLst>
          </a:prstGeom>
          <a:solidFill>
            <a:srgbClr val="FFFFFF">
              <a:alpha val="100000"/>
            </a:srgbClr>
          </a:solidFill>
          <a:ln w="25400" cap="flat" cmpd="sng">
            <a:noFill/>
            <a:prstDash val="solid"/>
            <a:round/>
          </a:ln>
          <a:effectLst>
            <a:outerShdw blurRad="127000" dist="63500" dir="5400000" algn="tl" rotWithShape="0">
              <a:srgbClr val="000000">
                <a:alpha val="10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080500" y="1651000"/>
            <a:ext cx="762000" cy="762000"/>
          </a:xfrm>
          <a:prstGeom prst="rect">
            <a:avLst/>
          </a:prstGeom>
        </p:spPr>
      </p:pic>
      <p:sp>
        <p:nvSpPr>
          <p:cNvPr id="10" name="AutoShape 10"/>
          <p:cNvSpPr/>
          <p:nvPr/>
        </p:nvSpPr>
        <p:spPr>
          <a:xfrm>
            <a:off x="7493000" y="2540000"/>
            <a:ext cx="3937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424242"/>
                </a:solidFill>
                <a:latin typeface="Noto Sans SC"/>
                <a:ea typeface="Noto Sans SC"/>
                <a:cs typeface="Noto Sans SC"/>
                <a:sym typeface="Noto Sans SC"/>
              </a:rPr>
              <a:t>模型测试准确率</a:t>
            </a:r>
            <a:endParaRPr lang="en-US" sz="1100"/>
          </a:p>
        </p:txBody>
      </p:sp>
      <p:sp>
        <p:nvSpPr>
          <p:cNvPr id="11" name="AutoShape 11"/>
          <p:cNvSpPr/>
          <p:nvPr/>
        </p:nvSpPr>
        <p:spPr>
          <a:xfrm>
            <a:off x="7493000" y="2984500"/>
            <a:ext cx="3937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0288D1"/>
                </a:solidFill>
                <a:latin typeface="Noto Sans SC"/>
                <a:ea typeface="Noto Sans SC"/>
                <a:cs typeface="Noto Sans SC"/>
                <a:sym typeface="Noto Sans SC"/>
              </a:rPr>
              <a:t>0.838</a:t>
            </a:r>
            <a:endParaRPr lang="en-US" sz="1100"/>
          </a:p>
        </p:txBody>
      </p:sp>
      <p:sp>
        <p:nvSpPr>
          <p:cNvPr id="12" name="AutoShape 12"/>
          <p:cNvSpPr/>
          <p:nvPr/>
        </p:nvSpPr>
        <p:spPr>
          <a:xfrm>
            <a:off x="7747000" y="3683000"/>
            <a:ext cx="3429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757575"/>
                </a:solidFill>
                <a:latin typeface="Noto Sans SC"/>
                <a:ea typeface="Noto Sans SC"/>
                <a:cs typeface="Noto Sans SC"/>
                <a:sym typeface="Noto Sans SC"/>
              </a:rPr>
              <a:t>朴素贝叶斯模型在测试集上表现良好，达到预期目标。</a:t>
            </a:r>
            <a:endParaRPr lang="en-US" sz="1100"/>
          </a:p>
        </p:txBody>
      </p:sp>
      <p:sp>
        <p:nvSpPr>
          <p:cNvPr id="13" name="AutoShape 13"/>
          <p:cNvSpPr/>
          <p:nvPr/>
        </p:nvSpPr>
        <p:spPr>
          <a:xfrm>
            <a:off x="762000" y="4826000"/>
            <a:ext cx="10668000" cy="1270000"/>
          </a:xfrm>
          <a:prstGeom prst="roundRect">
            <a:avLst>
              <a:gd name="adj" fmla="val 10000"/>
            </a:avLst>
          </a:prstGeom>
          <a:solidFill>
            <a:srgbClr val="FFFFFF">
              <a:alpha val="60000"/>
            </a:srgbClr>
          </a:solidFill>
          <a:ln w="12700" cap="flat" cmpd="sng">
            <a:solidFill>
              <a:srgbClr val="0288D1">
                <a:alpha val="100000"/>
              </a:srgbClr>
            </a:solidFill>
            <a:prstDash val="dash"/>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5080000"/>
            <a:ext cx="406400" cy="406400"/>
          </a:xfrm>
          <a:prstGeom prst="rect">
            <a:avLst/>
          </a:prstGeom>
        </p:spPr>
      </p:pic>
      <p:sp>
        <p:nvSpPr>
          <p:cNvPr id="15" name="AutoShape 15"/>
          <p:cNvSpPr/>
          <p:nvPr/>
        </p:nvSpPr>
        <p:spPr>
          <a:xfrm>
            <a:off x="1524000" y="5016500"/>
            <a:ext cx="9652000" cy="889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600" b="1" i="0" u="none" strike="noStrike">
                <a:solidFill>
                  <a:srgbClr val="424242"/>
                </a:solidFill>
                <a:latin typeface="Noto Sans SC"/>
                <a:ea typeface="Noto Sans SC"/>
                <a:cs typeface="Noto Sans SC"/>
                <a:sym typeface="Noto Sans SC"/>
              </a:rPr>
              <a:t>关键步骤解析：</a:t>
            </a:r>
            <a:endParaRPr lang="en-US" sz="1100"/>
          </a:p>
          <a:p>
            <a:pPr indent="0" algn="l">
              <a:lnSpc>
                <a:spcPct val="117000"/>
              </a:lnSpc>
            </a:pPr>
            <a:r>
              <a:rPr lang="en-US" sz="1400" b="0" i="0" u="none" strike="noStrike">
                <a:solidFill>
                  <a:srgbClr val="616161"/>
                </a:solidFill>
                <a:latin typeface="Noto Sans SC"/>
                <a:ea typeface="Noto Sans SC"/>
                <a:cs typeface="Noto Sans SC"/>
                <a:sym typeface="Noto Sans SC"/>
              </a:rPr>
              <a:t>1.</a:t>
            </a:r>
            <a:r>
              <a:rPr lang="en-US" sz="1400" b="1" i="0" u="none" strike="noStrike">
                <a:solidFill>
                  <a:srgbClr val="616161"/>
                </a:solidFill>
                <a:latin typeface="Noto Sans SC"/>
                <a:ea typeface="Noto Sans SC"/>
                <a:cs typeface="Noto Sans SC"/>
                <a:sym typeface="Noto Sans SC"/>
              </a:rPr>
              <a:t>预测 (predict)：</a:t>
            </a:r>
            <a:r>
              <a:rPr lang="en-US" sz="1400" b="0" i="0" u="none" strike="noStrike">
                <a:solidFill>
                  <a:srgbClr val="616161"/>
                </a:solidFill>
                <a:latin typeface="Noto Sans SC"/>
                <a:ea typeface="Noto Sans SC"/>
                <a:cs typeface="Noto Sans SC"/>
                <a:sym typeface="Noto Sans SC"/>
              </a:rPr>
              <a:t>使用训练好的模型对未知数据进行分类预测。</a:t>
            </a:r>
            <a:endParaRPr lang="en-US" sz="1400" b="0" i="0" u="none" strike="noStrike">
              <a:solidFill>
                <a:srgbClr val="616161"/>
              </a:solidFill>
              <a:latin typeface="Noto Sans SC"/>
              <a:ea typeface="Noto Sans SC"/>
              <a:cs typeface="Noto Sans SC"/>
              <a:sym typeface="Noto Sans SC"/>
            </a:endParaRPr>
          </a:p>
          <a:p>
            <a:pPr indent="0" algn="l">
              <a:lnSpc>
                <a:spcPct val="117000"/>
              </a:lnSpc>
            </a:pPr>
            <a:r>
              <a:rPr lang="en-US" sz="1400" b="0" i="0" u="none" strike="noStrike">
                <a:solidFill>
                  <a:srgbClr val="616161"/>
                </a:solidFill>
                <a:latin typeface="Noto Sans SC"/>
                <a:ea typeface="Noto Sans SC"/>
                <a:cs typeface="Noto Sans SC"/>
                <a:sym typeface="Noto Sans SC"/>
              </a:rPr>
              <a:t>2.</a:t>
            </a:r>
            <a:r>
              <a:rPr lang="en-US" sz="1400" b="1" i="0" u="none" strike="noStrike">
                <a:solidFill>
                  <a:srgbClr val="616161"/>
                </a:solidFill>
                <a:latin typeface="Noto Sans SC"/>
                <a:ea typeface="Noto Sans SC"/>
                <a:cs typeface="Noto Sans SC"/>
                <a:sym typeface="Noto Sans SC"/>
              </a:rPr>
              <a:t>评分 (score)：</a:t>
            </a:r>
            <a:r>
              <a:rPr lang="en-US" sz="1400" b="0" i="0" u="none" strike="noStrike">
                <a:solidFill>
                  <a:srgbClr val="616161"/>
                </a:solidFill>
                <a:latin typeface="Noto Sans SC"/>
                <a:ea typeface="Noto Sans SC"/>
                <a:cs typeface="Noto Sans SC"/>
                <a:sym typeface="Noto Sans SC"/>
              </a:rPr>
              <a:t>通过对比预测结果与真实标签，计算模型的整体准确率。</a:t>
            </a:r>
            <a:endParaRPr lang="en-US" sz="1400" b="0" i="0" u="none" strike="noStrike">
              <a:solidFill>
                <a:srgbClr val="616161"/>
              </a:solidFill>
              <a:latin typeface="Noto Sans SC"/>
              <a:ea typeface="Noto Sans SC"/>
              <a:cs typeface="Noto Sans SC"/>
              <a:sym typeface="Noto Sans SC"/>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71501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步骤5：模型评价（代码示例2）</a:t>
            </a:r>
            <a:endParaRPr lang="en-US" sz="1100"/>
          </a:p>
        </p:txBody>
      </p:sp>
      <p:sp>
        <p:nvSpPr>
          <p:cNvPr id="3" name="AutoShape 3"/>
          <p:cNvSpPr/>
          <p:nvPr/>
        </p:nvSpPr>
        <p:spPr>
          <a:xfrm>
            <a:off x="762000" y="1397000"/>
            <a:ext cx="5080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4" name="AutoShape 4"/>
          <p:cNvSpPr/>
          <p:nvPr/>
        </p:nvSpPr>
        <p:spPr>
          <a:xfrm>
            <a:off x="762000" y="1397000"/>
            <a:ext cx="5080000" cy="4572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14400" y="1473200"/>
            <a:ext cx="304800" cy="304800"/>
          </a:xfrm>
          <a:prstGeom prst="rect">
            <a:avLst/>
          </a:prstGeom>
        </p:spPr>
      </p:pic>
      <p:sp>
        <p:nvSpPr>
          <p:cNvPr id="6" name="AutoShape 6"/>
          <p:cNvSpPr/>
          <p:nvPr/>
        </p:nvSpPr>
        <p:spPr>
          <a:xfrm>
            <a:off x="1320800" y="1397000"/>
            <a:ext cx="3810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代码实现：生成分类报告</a:t>
            </a:r>
            <a:endParaRPr lang="en-US" sz="1100"/>
          </a:p>
        </p:txBody>
      </p:sp>
      <p:sp>
        <p:nvSpPr>
          <p:cNvPr id="7" name="AutoShape 7"/>
          <p:cNvSpPr/>
          <p:nvPr/>
        </p:nvSpPr>
        <p:spPr>
          <a:xfrm>
            <a:off x="952500" y="1968500"/>
            <a:ext cx="4699000" cy="2286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400" b="0" i="0" u="none" strike="noStrike">
                <a:solidFill>
                  <a:srgbClr val="C00000"/>
                </a:solidFill>
                <a:latin typeface="Consolas"/>
                <a:ea typeface="Consolas"/>
                <a:cs typeface="Consolas"/>
                <a:sym typeface="Consolas"/>
              </a:rPr>
              <a:t>from</a:t>
            </a:r>
            <a:r>
              <a:rPr lang="en-US" sz="1400" b="0" i="0" u="none" strike="noStrike">
                <a:solidFill>
                  <a:srgbClr val="424242"/>
                </a:solidFill>
                <a:latin typeface="Consolas"/>
                <a:ea typeface="Consolas"/>
                <a:cs typeface="Consolas"/>
                <a:sym typeface="Consolas"/>
              </a:rPr>
              <a:t>sklearn.metrics</a:t>
            </a:r>
            <a:r>
              <a:rPr lang="en-US" sz="1400" b="0" i="0" u="none" strike="noStrike">
                <a:solidFill>
                  <a:srgbClr val="C00000"/>
                </a:solidFill>
                <a:latin typeface="Consolas"/>
                <a:ea typeface="Consolas"/>
                <a:cs typeface="Consolas"/>
                <a:sym typeface="Consolas"/>
              </a:rPr>
              <a:t>import</a:t>
            </a:r>
            <a:r>
              <a:rPr lang="en-US" sz="1400" b="0" i="0" u="none" strike="noStrike">
                <a:solidFill>
                  <a:srgbClr val="424242"/>
                </a:solidFill>
                <a:latin typeface="Consolas"/>
                <a:ea typeface="Consolas"/>
                <a:cs typeface="Consolas"/>
                <a:sym typeface="Consolas"/>
              </a:rPr>
              <a:t>classification_report</a:t>
            </a:r>
            <a:endParaRPr lang="en-US" sz="1100"/>
          </a:p>
          <a:p>
            <a:pPr indent="0" algn="l">
              <a:lnSpc>
                <a:spcPct val="108000"/>
              </a:lnSpc>
            </a:pPr>
          </a:p>
          <a:p>
            <a:pPr indent="0" algn="l">
              <a:lnSpc>
                <a:spcPct val="108000"/>
              </a:lnSpc>
            </a:pPr>
            <a:r>
              <a:rPr lang="en-US" sz="1400" b="0" i="0" u="none" strike="noStrike">
                <a:solidFill>
                  <a:srgbClr val="6A9955"/>
                </a:solidFill>
                <a:latin typeface="Consolas"/>
                <a:ea typeface="Consolas"/>
                <a:cs typeface="Consolas"/>
                <a:sym typeface="Consolas"/>
              </a:rPr>
              <a:t># 生成并打印详细的分类报告</a:t>
            </a:r>
            <a:endParaRPr lang="en-US" sz="1400" b="0" i="0" u="none" strike="noStrike">
              <a:solidFill>
                <a:srgbClr val="6A9955"/>
              </a:solidFill>
              <a:latin typeface="Consolas"/>
              <a:ea typeface="Consolas"/>
              <a:cs typeface="Consolas"/>
              <a:sym typeface="Consolas"/>
            </a:endParaRPr>
          </a:p>
          <a:p>
            <a:pPr indent="0" algn="l">
              <a:lnSpc>
                <a:spcPct val="108000"/>
              </a:lnSpc>
            </a:pPr>
            <a:r>
              <a:rPr lang="en-US" sz="1400" b="0" i="0" u="none" strike="noStrike">
                <a:solidFill>
                  <a:srgbClr val="424242"/>
                </a:solidFill>
                <a:latin typeface="Consolas"/>
                <a:ea typeface="Consolas"/>
                <a:cs typeface="Consolas"/>
                <a:sym typeface="Consolas"/>
              </a:rPr>
              <a:t>report = classification_report(y_test, pre)</a:t>
            </a:r>
            <a:endParaRPr lang="en-US" sz="1400" b="0" i="0" u="none" strike="noStrike">
              <a:solidFill>
                <a:srgbClr val="424242"/>
              </a:solidFill>
              <a:latin typeface="Consolas"/>
              <a:ea typeface="Consolas"/>
              <a:cs typeface="Consolas"/>
              <a:sym typeface="Consolas"/>
            </a:endParaRPr>
          </a:p>
          <a:p>
            <a:pPr indent="0" algn="l">
              <a:lnSpc>
                <a:spcPct val="108000"/>
              </a:lnSpc>
            </a:pPr>
            <a:r>
              <a:rPr lang="en-US" sz="1400" b="0" i="0" u="none" strike="noStrike">
                <a:solidFill>
                  <a:srgbClr val="424242"/>
                </a:solidFill>
                <a:latin typeface="Consolas"/>
                <a:ea typeface="Consolas"/>
                <a:cs typeface="Consolas"/>
                <a:sym typeface="Consolas"/>
              </a:rPr>
              <a:t>print(report)</a:t>
            </a:r>
            <a:endParaRPr lang="en-US" sz="1400" b="0" i="0" u="none" strike="noStrike">
              <a:solidFill>
                <a:srgbClr val="424242"/>
              </a:solidFill>
              <a:latin typeface="Consolas"/>
              <a:ea typeface="Consolas"/>
              <a:cs typeface="Consolas"/>
              <a:sym typeface="Consolas"/>
            </a:endParaRPr>
          </a:p>
        </p:txBody>
      </p:sp>
      <p:sp>
        <p:nvSpPr>
          <p:cNvPr id="8" name="AutoShape 8"/>
          <p:cNvSpPr/>
          <p:nvPr/>
        </p:nvSpPr>
        <p:spPr>
          <a:xfrm>
            <a:off x="6350000" y="1397000"/>
            <a:ext cx="5080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9" name="AutoShape 9"/>
          <p:cNvSpPr/>
          <p:nvPr/>
        </p:nvSpPr>
        <p:spPr>
          <a:xfrm>
            <a:off x="6350000" y="1397000"/>
            <a:ext cx="5080000" cy="4572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02400" y="1473200"/>
            <a:ext cx="304800" cy="304800"/>
          </a:xfrm>
          <a:prstGeom prst="rect">
            <a:avLst/>
          </a:prstGeom>
        </p:spPr>
      </p:pic>
      <p:sp>
        <p:nvSpPr>
          <p:cNvPr id="11" name="AutoShape 11"/>
          <p:cNvSpPr/>
          <p:nvPr/>
        </p:nvSpPr>
        <p:spPr>
          <a:xfrm>
            <a:off x="6908800" y="1397000"/>
            <a:ext cx="3810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输出结果：详细指标评估</a:t>
            </a:r>
            <a:endParaRPr lang="en-US" sz="1100"/>
          </a:p>
        </p:txBody>
      </p:sp>
      <p:sp>
        <p:nvSpPr>
          <p:cNvPr id="12" name="AutoShape 12"/>
          <p:cNvSpPr/>
          <p:nvPr/>
        </p:nvSpPr>
        <p:spPr>
          <a:xfrm>
            <a:off x="6540500" y="1968500"/>
            <a:ext cx="4699000" cy="2286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300" b="0" i="0" u="none" strike="noStrike">
                <a:solidFill>
                  <a:srgbClr val="424242"/>
                </a:solidFill>
                <a:latin typeface="Consolas"/>
                <a:ea typeface="Consolas"/>
                <a:cs typeface="Consolas"/>
                <a:sym typeface="Consolas"/>
              </a:rPr>
              <a:t>precision recall f1-score support</a:t>
            </a:r>
            <a:endParaRPr lang="en-US" sz="1100"/>
          </a:p>
          <a:p>
            <a:pPr indent="0" algn="l">
              <a:lnSpc>
                <a:spcPct val="100000"/>
              </a:lnSpc>
            </a:pPr>
          </a:p>
          <a:p>
            <a:pPr indent="0" algn="l">
              <a:lnSpc>
                <a:spcPct val="100000"/>
              </a:lnSpc>
            </a:pPr>
            <a:r>
              <a:rPr lang="en-US" sz="1300" b="0" i="0" u="none" strike="noStrike">
                <a:solidFill>
                  <a:srgbClr val="424242"/>
                </a:solidFill>
                <a:latin typeface="Consolas"/>
                <a:ea typeface="Consolas"/>
                <a:cs typeface="Consolas"/>
                <a:sym typeface="Consolas"/>
              </a:rPr>
              <a:t>0 0.88 0.88 0.88 3225</a:t>
            </a:r>
            <a:endParaRPr lang="en-US" sz="1300" b="0" i="0" u="none" strike="noStrike">
              <a:solidFill>
                <a:srgbClr val="424242"/>
              </a:solidFill>
              <a:latin typeface="Consolas"/>
              <a:ea typeface="Consolas"/>
              <a:cs typeface="Consolas"/>
              <a:sym typeface="Consolas"/>
            </a:endParaRPr>
          </a:p>
          <a:p>
            <a:pPr indent="0" algn="l">
              <a:lnSpc>
                <a:spcPct val="100000"/>
              </a:lnSpc>
            </a:pPr>
            <a:r>
              <a:rPr lang="en-US" sz="1300" b="0" i="0" u="none" strike="noStrike">
                <a:solidFill>
                  <a:srgbClr val="424242"/>
                </a:solidFill>
                <a:latin typeface="Consolas"/>
                <a:ea typeface="Consolas"/>
                <a:cs typeface="Consolas"/>
                <a:sym typeface="Consolas"/>
              </a:rPr>
              <a:t>1 0.75 0.76 0.75 1570</a:t>
            </a:r>
            <a:endParaRPr lang="en-US" sz="1300" b="0" i="0" u="none" strike="noStrike">
              <a:solidFill>
                <a:srgbClr val="424242"/>
              </a:solidFill>
              <a:latin typeface="Consolas"/>
              <a:ea typeface="Consolas"/>
              <a:cs typeface="Consolas"/>
              <a:sym typeface="Consolas"/>
            </a:endParaRPr>
          </a:p>
          <a:p>
            <a:pPr indent="0" algn="l">
              <a:lnSpc>
                <a:spcPct val="100000"/>
              </a:lnSpc>
            </a:pPr>
          </a:p>
          <a:p>
            <a:pPr indent="0" algn="l">
              <a:lnSpc>
                <a:spcPct val="100000"/>
              </a:lnSpc>
            </a:pPr>
            <a:r>
              <a:rPr lang="en-US" sz="1300" b="0" i="0" u="none" strike="noStrike">
                <a:solidFill>
                  <a:srgbClr val="424242"/>
                </a:solidFill>
                <a:latin typeface="Consolas"/>
                <a:ea typeface="Consolas"/>
                <a:cs typeface="Consolas"/>
                <a:sym typeface="Consolas"/>
              </a:rPr>
              <a:t>accuracy 0.84 4795</a:t>
            </a:r>
            <a:endParaRPr lang="en-US" sz="1300" b="0" i="0" u="none" strike="noStrike">
              <a:solidFill>
                <a:srgbClr val="424242"/>
              </a:solidFill>
              <a:latin typeface="Consolas"/>
              <a:ea typeface="Consolas"/>
              <a:cs typeface="Consolas"/>
              <a:sym typeface="Consolas"/>
            </a:endParaRPr>
          </a:p>
          <a:p>
            <a:pPr indent="0" algn="l">
              <a:lnSpc>
                <a:spcPct val="100000"/>
              </a:lnSpc>
            </a:pPr>
            <a:r>
              <a:rPr lang="en-US" sz="1300" b="0" i="0" u="none" strike="noStrike">
                <a:solidFill>
                  <a:srgbClr val="424242"/>
                </a:solidFill>
                <a:latin typeface="Consolas"/>
                <a:ea typeface="Consolas"/>
                <a:cs typeface="Consolas"/>
                <a:sym typeface="Consolas"/>
              </a:rPr>
              <a:t>macro avg 0.82 0.82 0.82 4795</a:t>
            </a:r>
            <a:endParaRPr lang="en-US" sz="1300" b="0" i="0" u="none" strike="noStrike">
              <a:solidFill>
                <a:srgbClr val="424242"/>
              </a:solidFill>
              <a:latin typeface="Consolas"/>
              <a:ea typeface="Consolas"/>
              <a:cs typeface="Consolas"/>
              <a:sym typeface="Consolas"/>
            </a:endParaRPr>
          </a:p>
          <a:p>
            <a:pPr indent="0" algn="l">
              <a:lnSpc>
                <a:spcPct val="100000"/>
              </a:lnSpc>
            </a:pPr>
            <a:r>
              <a:rPr lang="en-US" sz="1300" b="0" i="0" u="none" strike="noStrike">
                <a:solidFill>
                  <a:srgbClr val="424242"/>
                </a:solidFill>
                <a:latin typeface="Consolas"/>
                <a:ea typeface="Consolas"/>
                <a:cs typeface="Consolas"/>
                <a:sym typeface="Consolas"/>
              </a:rPr>
              <a:t>weighted avg 0.84 0.84 0.84 4795</a:t>
            </a:r>
            <a:endParaRPr lang="en-US" sz="1300" b="0" i="0" u="none" strike="noStrike">
              <a:solidFill>
                <a:srgbClr val="424242"/>
              </a:solidFill>
              <a:latin typeface="Consolas"/>
              <a:ea typeface="Consolas"/>
              <a:cs typeface="Consolas"/>
              <a:sym typeface="Consolas"/>
            </a:endParaRPr>
          </a:p>
        </p:txBody>
      </p:sp>
      <p:sp>
        <p:nvSpPr>
          <p:cNvPr id="13" name="AutoShape 13"/>
          <p:cNvSpPr/>
          <p:nvPr/>
        </p:nvSpPr>
        <p:spPr>
          <a:xfrm>
            <a:off x="762000" y="4699000"/>
            <a:ext cx="10668000" cy="1270000"/>
          </a:xfrm>
          <a:prstGeom prst="roundRect">
            <a:avLst>
              <a:gd name="adj" fmla="val 10000"/>
            </a:avLst>
          </a:prstGeom>
          <a:solidFill>
            <a:srgbClr val="FFFFFF">
              <a:alpha val="80000"/>
            </a:srgbClr>
          </a:solidFill>
          <a:ln w="12700" cap="flat" cmpd="sng">
            <a:solidFill>
              <a:srgbClr val="0288D1">
                <a:alpha val="10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953000"/>
            <a:ext cx="406400" cy="406400"/>
          </a:xfrm>
          <a:prstGeom prst="rect">
            <a:avLst/>
          </a:prstGeom>
        </p:spPr>
      </p:pic>
      <p:sp>
        <p:nvSpPr>
          <p:cNvPr id="15" name="AutoShape 15"/>
          <p:cNvSpPr/>
          <p:nvPr/>
        </p:nvSpPr>
        <p:spPr>
          <a:xfrm>
            <a:off x="1524000" y="4826000"/>
            <a:ext cx="9652000" cy="101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600" b="1" i="0" u="none" strike="noStrike">
                <a:solidFill>
                  <a:srgbClr val="424242"/>
                </a:solidFill>
                <a:latin typeface="Noto Sans SC"/>
                <a:ea typeface="Noto Sans SC"/>
                <a:cs typeface="Noto Sans SC"/>
                <a:sym typeface="Noto Sans SC"/>
              </a:rPr>
              <a:t>关键结论：</a:t>
            </a:r>
            <a:r>
              <a:rPr lang="en-US" sz="1600" b="0" i="0" u="none" strike="noStrike">
                <a:solidFill>
                  <a:srgbClr val="424242"/>
                </a:solidFill>
                <a:latin typeface="Noto Sans SC"/>
                <a:ea typeface="Noto Sans SC"/>
                <a:cs typeface="Noto Sans SC"/>
                <a:sym typeface="Noto Sans SC"/>
              </a:rPr>
              <a:t>模型在标签0（负面评论）上的表现优于标签1（正面评论），整体的加权平均F1得分为</a:t>
            </a:r>
            <a:r>
              <a:rPr lang="en-US" sz="1600" b="1" i="0" u="none" strike="noStrike">
                <a:solidFill>
                  <a:srgbClr val="0288D1"/>
                </a:solidFill>
                <a:latin typeface="Noto Sans SC"/>
                <a:ea typeface="Noto Sans SC"/>
                <a:cs typeface="Noto Sans SC"/>
                <a:sym typeface="Noto Sans SC"/>
              </a:rPr>
              <a:t>0.84</a:t>
            </a:r>
            <a:r>
              <a:rPr lang="en-US" sz="1600" b="0" i="0" u="none" strike="noStrike">
                <a:solidFill>
                  <a:srgbClr val="424242"/>
                </a:solidFill>
                <a:latin typeface="Noto Sans SC"/>
                <a:ea typeface="Noto Sans SC"/>
                <a:cs typeface="Noto Sans SC"/>
                <a:sym typeface="Noto Sans SC"/>
              </a:rPr>
              <a:t>。这表明模型具备良好的整体分类能力，但在少数类（正面评论）上仍有提升空间。</a:t>
            </a:r>
            <a:endParaRPr lang="en-US" sz="11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6248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13.2.2 提示词少样本学习</a:t>
            </a:r>
            <a:endParaRPr lang="en-US" sz="1100"/>
          </a:p>
        </p:txBody>
      </p:sp>
      <p:sp>
        <p:nvSpPr>
          <p:cNvPr id="3" name="AutoShape 3"/>
          <p:cNvSpPr/>
          <p:nvPr/>
        </p:nvSpPr>
        <p:spPr>
          <a:xfrm>
            <a:off x="762000" y="1270000"/>
            <a:ext cx="10668000" cy="1270000"/>
          </a:xfrm>
          <a:prstGeom prst="roundRect">
            <a:avLst>
              <a:gd name="adj" fmla="val 1000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587500"/>
            <a:ext cx="609600" cy="609600"/>
          </a:xfrm>
          <a:prstGeom prst="rect">
            <a:avLst/>
          </a:prstGeom>
        </p:spPr>
      </p:pic>
      <p:sp>
        <p:nvSpPr>
          <p:cNvPr id="5" name="AutoShape 5"/>
          <p:cNvSpPr/>
          <p:nvPr/>
        </p:nvSpPr>
        <p:spPr>
          <a:xfrm>
            <a:off x="1778000" y="1397000"/>
            <a:ext cx="9398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定义：</a:t>
            </a:r>
            <a:r>
              <a:rPr lang="en-US" sz="1600" b="0" i="0" u="none" strike="noStrike">
                <a:solidFill>
                  <a:srgbClr val="424242"/>
                </a:solidFill>
                <a:latin typeface="Noto Sans SC"/>
                <a:ea typeface="Noto Sans SC"/>
                <a:cs typeface="Noto Sans SC"/>
                <a:sym typeface="Noto Sans SC"/>
              </a:rPr>
              <a:t>通过精心设计的自然语言提示词（Prompt），引导大语言模型在仅有少量样本甚至没有样本的情况下完成文本分类任务。</a:t>
            </a:r>
            <a:endParaRPr lang="en-US" sz="1100"/>
          </a:p>
        </p:txBody>
      </p:sp>
      <p:sp>
        <p:nvSpPr>
          <p:cNvPr id="6" name="AutoShape 6"/>
          <p:cNvSpPr/>
          <p:nvPr/>
        </p:nvSpPr>
        <p:spPr>
          <a:xfrm>
            <a:off x="762000" y="2921000"/>
            <a:ext cx="33782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070100" y="3175000"/>
            <a:ext cx="762000" cy="762000"/>
          </a:xfrm>
          <a:prstGeom prst="rect">
            <a:avLst/>
          </a:prstGeom>
        </p:spPr>
      </p:pic>
      <p:sp>
        <p:nvSpPr>
          <p:cNvPr id="8" name="AutoShape 8"/>
          <p:cNvSpPr/>
          <p:nvPr/>
        </p:nvSpPr>
        <p:spPr>
          <a:xfrm>
            <a:off x="889000" y="4064000"/>
            <a:ext cx="31242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288D1"/>
                </a:solidFill>
                <a:latin typeface="Noto Sans SC"/>
                <a:ea typeface="Noto Sans SC"/>
                <a:cs typeface="Noto Sans SC"/>
                <a:sym typeface="Noto Sans SC"/>
              </a:rPr>
              <a:t>简化流程</a:t>
            </a:r>
            <a:endParaRPr lang="en-US" sz="1100"/>
          </a:p>
        </p:txBody>
      </p:sp>
      <p:sp>
        <p:nvSpPr>
          <p:cNvPr id="9" name="AutoShape 9"/>
          <p:cNvSpPr/>
          <p:nvPr/>
        </p:nvSpPr>
        <p:spPr>
          <a:xfrm>
            <a:off x="889000" y="4445000"/>
            <a:ext cx="31242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616161"/>
                </a:solidFill>
                <a:latin typeface="Noto Sans SC"/>
                <a:ea typeface="Noto Sans SC"/>
                <a:cs typeface="Noto Sans SC"/>
                <a:sym typeface="Noto Sans SC"/>
              </a:rPr>
              <a:t>无需复杂的数据预处理和特征工程，直接利用提示词驱动。</a:t>
            </a:r>
            <a:endParaRPr lang="en-US" sz="1100"/>
          </a:p>
        </p:txBody>
      </p:sp>
      <p:sp>
        <p:nvSpPr>
          <p:cNvPr id="10" name="AutoShape 10"/>
          <p:cNvSpPr/>
          <p:nvPr/>
        </p:nvSpPr>
        <p:spPr>
          <a:xfrm>
            <a:off x="4394200" y="2921000"/>
            <a:ext cx="33782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02300" y="3175000"/>
            <a:ext cx="762000" cy="762000"/>
          </a:xfrm>
          <a:prstGeom prst="rect">
            <a:avLst/>
          </a:prstGeom>
        </p:spPr>
      </p:pic>
      <p:sp>
        <p:nvSpPr>
          <p:cNvPr id="12" name="AutoShape 12"/>
          <p:cNvSpPr/>
          <p:nvPr/>
        </p:nvSpPr>
        <p:spPr>
          <a:xfrm>
            <a:off x="4521200" y="4064000"/>
            <a:ext cx="31242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288D1"/>
                </a:solidFill>
                <a:latin typeface="Noto Sans SC"/>
                <a:ea typeface="Noto Sans SC"/>
                <a:cs typeface="Noto Sans SC"/>
                <a:sym typeface="Noto Sans SC"/>
              </a:rPr>
              <a:t>降低门槛</a:t>
            </a:r>
            <a:endParaRPr lang="en-US" sz="1100"/>
          </a:p>
        </p:txBody>
      </p:sp>
      <p:sp>
        <p:nvSpPr>
          <p:cNvPr id="13" name="AutoShape 13"/>
          <p:cNvSpPr/>
          <p:nvPr/>
        </p:nvSpPr>
        <p:spPr>
          <a:xfrm>
            <a:off x="4521200" y="4445000"/>
            <a:ext cx="31242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616161"/>
                </a:solidFill>
                <a:latin typeface="Noto Sans SC"/>
                <a:ea typeface="Noto Sans SC"/>
                <a:cs typeface="Noto Sans SC"/>
                <a:sym typeface="Noto Sans SC"/>
              </a:rPr>
              <a:t>大幅减少对大量标注数据的依赖，降低数据获取成本。</a:t>
            </a:r>
            <a:endParaRPr lang="en-US" sz="1100"/>
          </a:p>
        </p:txBody>
      </p:sp>
      <p:sp>
        <p:nvSpPr>
          <p:cNvPr id="14" name="AutoShape 14"/>
          <p:cNvSpPr/>
          <p:nvPr/>
        </p:nvSpPr>
        <p:spPr>
          <a:xfrm>
            <a:off x="8026400" y="2921000"/>
            <a:ext cx="33782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334500" y="3175000"/>
            <a:ext cx="762000" cy="762000"/>
          </a:xfrm>
          <a:prstGeom prst="rect">
            <a:avLst/>
          </a:prstGeom>
        </p:spPr>
      </p:pic>
      <p:sp>
        <p:nvSpPr>
          <p:cNvPr id="16" name="AutoShape 16"/>
          <p:cNvSpPr/>
          <p:nvPr/>
        </p:nvSpPr>
        <p:spPr>
          <a:xfrm>
            <a:off x="8153400" y="4064000"/>
            <a:ext cx="31242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288D1"/>
                </a:solidFill>
                <a:latin typeface="Noto Sans SC"/>
                <a:ea typeface="Noto Sans SC"/>
                <a:cs typeface="Noto Sans SC"/>
                <a:sym typeface="Noto Sans SC"/>
              </a:rPr>
              <a:t>灵活性高</a:t>
            </a:r>
            <a:endParaRPr lang="en-US" sz="1100"/>
          </a:p>
        </p:txBody>
      </p:sp>
      <p:sp>
        <p:nvSpPr>
          <p:cNvPr id="17" name="AutoShape 17"/>
          <p:cNvSpPr/>
          <p:nvPr/>
        </p:nvSpPr>
        <p:spPr>
          <a:xfrm>
            <a:off x="8153400" y="4445000"/>
            <a:ext cx="31242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616161"/>
                </a:solidFill>
                <a:latin typeface="Noto Sans SC"/>
                <a:ea typeface="Noto Sans SC"/>
                <a:cs typeface="Noto Sans SC"/>
                <a:sym typeface="Noto Sans SC"/>
              </a:rPr>
              <a:t>通过简单修改提示词即可快速适应不同的分类任务场景。</a:t>
            </a:r>
            <a:endParaRPr lang="en-US" sz="1100"/>
          </a:p>
        </p:txBody>
      </p:sp>
      <p:sp>
        <p:nvSpPr>
          <p:cNvPr id="18" name="AutoShape 18"/>
          <p:cNvSpPr/>
          <p:nvPr/>
        </p:nvSpPr>
        <p:spPr>
          <a:xfrm>
            <a:off x="762000" y="5588000"/>
            <a:ext cx="10668000" cy="25400"/>
          </a:xfrm>
          <a:prstGeom prst="roundRect">
            <a:avLst>
              <a:gd name="adj" fmla="val 0"/>
            </a:avLst>
          </a:prstGeom>
          <a:solidFill>
            <a:srgbClr val="0288D1">
              <a:alpha val="3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762000" y="5715000"/>
            <a:ext cx="1066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757575"/>
                </a:solidFill>
                <a:latin typeface="Noto Sans SC"/>
                <a:ea typeface="Noto Sans SC"/>
                <a:cs typeface="Noto Sans SC"/>
                <a:sym typeface="Noto Sans SC"/>
              </a:rPr>
              <a:t>核心价值：利用大语言模型的涌现能力，以自然语言交互方式解决传统机器学习痛点。</a:t>
            </a:r>
            <a:endParaRPr lang="en-US" sz="11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31242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提示词设计原则</a:t>
            </a:r>
            <a:endParaRPr lang="en-US" sz="1100"/>
          </a:p>
        </p:txBody>
      </p:sp>
      <p:sp>
        <p:nvSpPr>
          <p:cNvPr id="3" name="AutoShape 3"/>
          <p:cNvSpPr/>
          <p:nvPr/>
        </p:nvSpPr>
        <p:spPr>
          <a:xfrm>
            <a:off x="762000" y="1079500"/>
            <a:ext cx="762000" cy="508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524000"/>
            <a:ext cx="50800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79500" y="1841500"/>
            <a:ext cx="508000" cy="508000"/>
          </a:xfrm>
          <a:prstGeom prst="rect">
            <a:avLst/>
          </a:prstGeom>
        </p:spPr>
      </p:pic>
      <p:sp>
        <p:nvSpPr>
          <p:cNvPr id="6" name="AutoShape 6"/>
          <p:cNvSpPr/>
          <p:nvPr/>
        </p:nvSpPr>
        <p:spPr>
          <a:xfrm>
            <a:off x="1778000" y="17780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清晰明确的指令</a:t>
            </a:r>
            <a:endParaRPr lang="en-US" sz="1100"/>
          </a:p>
        </p:txBody>
      </p:sp>
      <p:sp>
        <p:nvSpPr>
          <p:cNvPr id="7" name="AutoShape 7"/>
          <p:cNvSpPr/>
          <p:nvPr/>
        </p:nvSpPr>
        <p:spPr>
          <a:xfrm>
            <a:off x="1778000" y="2222500"/>
            <a:ext cx="3810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424242"/>
                </a:solidFill>
                <a:latin typeface="Noto Sans SC"/>
                <a:ea typeface="Noto Sans SC"/>
                <a:cs typeface="Noto Sans SC"/>
                <a:sym typeface="Noto Sans SC"/>
              </a:rPr>
              <a:t>明确告诉模型要完成什么任务，避免模糊不清的表述，确保模型理解核心目标。</a:t>
            </a:r>
            <a:endParaRPr lang="en-US" sz="1100"/>
          </a:p>
        </p:txBody>
      </p:sp>
      <p:sp>
        <p:nvSpPr>
          <p:cNvPr id="8" name="AutoShape 8"/>
          <p:cNvSpPr/>
          <p:nvPr/>
        </p:nvSpPr>
        <p:spPr>
          <a:xfrm>
            <a:off x="6350000" y="1524000"/>
            <a:ext cx="50800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67500" y="1841500"/>
            <a:ext cx="508000" cy="508000"/>
          </a:xfrm>
          <a:prstGeom prst="rect">
            <a:avLst/>
          </a:prstGeom>
        </p:spPr>
      </p:pic>
      <p:sp>
        <p:nvSpPr>
          <p:cNvPr id="10" name="AutoShape 10"/>
          <p:cNvSpPr/>
          <p:nvPr/>
        </p:nvSpPr>
        <p:spPr>
          <a:xfrm>
            <a:off x="7366000" y="17780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提供示例（少样本）</a:t>
            </a:r>
            <a:endParaRPr lang="en-US" sz="1100"/>
          </a:p>
        </p:txBody>
      </p:sp>
      <p:sp>
        <p:nvSpPr>
          <p:cNvPr id="11" name="AutoShape 11"/>
          <p:cNvSpPr/>
          <p:nvPr/>
        </p:nvSpPr>
        <p:spPr>
          <a:xfrm>
            <a:off x="7366000" y="2222500"/>
            <a:ext cx="3810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424242"/>
                </a:solidFill>
                <a:latin typeface="Noto Sans SC"/>
                <a:ea typeface="Noto Sans SC"/>
                <a:cs typeface="Noto Sans SC"/>
                <a:sym typeface="Noto Sans SC"/>
              </a:rPr>
              <a:t>给出少量标注好的示例，帮助模型理解分类标准和预期的输出风格。</a:t>
            </a:r>
            <a:endParaRPr lang="en-US" sz="1100"/>
          </a:p>
        </p:txBody>
      </p:sp>
      <p:sp>
        <p:nvSpPr>
          <p:cNvPr id="12" name="AutoShape 12"/>
          <p:cNvSpPr/>
          <p:nvPr/>
        </p:nvSpPr>
        <p:spPr>
          <a:xfrm>
            <a:off x="762000" y="3683000"/>
            <a:ext cx="50800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79500" y="4000500"/>
            <a:ext cx="508000" cy="508000"/>
          </a:xfrm>
          <a:prstGeom prst="rect">
            <a:avLst/>
          </a:prstGeom>
        </p:spPr>
      </p:pic>
      <p:sp>
        <p:nvSpPr>
          <p:cNvPr id="14" name="AutoShape 14"/>
          <p:cNvSpPr/>
          <p:nvPr/>
        </p:nvSpPr>
        <p:spPr>
          <a:xfrm>
            <a:off x="1778000" y="39370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格式规范</a:t>
            </a:r>
            <a:endParaRPr lang="en-US" sz="1100"/>
          </a:p>
        </p:txBody>
      </p:sp>
      <p:sp>
        <p:nvSpPr>
          <p:cNvPr id="15" name="AutoShape 15"/>
          <p:cNvSpPr/>
          <p:nvPr/>
        </p:nvSpPr>
        <p:spPr>
          <a:xfrm>
            <a:off x="1778000" y="4381500"/>
            <a:ext cx="3810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424242"/>
                </a:solidFill>
                <a:latin typeface="Noto Sans SC"/>
                <a:ea typeface="Noto Sans SC"/>
                <a:cs typeface="Noto Sans SC"/>
                <a:sym typeface="Noto Sans SC"/>
              </a:rPr>
              <a:t>指定输出格式（如JSON、列表、表格等），方便后续自动化解析和处理。</a:t>
            </a:r>
            <a:endParaRPr lang="en-US" sz="1100"/>
          </a:p>
        </p:txBody>
      </p:sp>
      <p:sp>
        <p:nvSpPr>
          <p:cNvPr id="16" name="AutoShape 16"/>
          <p:cNvSpPr/>
          <p:nvPr/>
        </p:nvSpPr>
        <p:spPr>
          <a:xfrm>
            <a:off x="6350000" y="3683000"/>
            <a:ext cx="50800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67500" y="4000500"/>
            <a:ext cx="508000" cy="508000"/>
          </a:xfrm>
          <a:prstGeom prst="rect">
            <a:avLst/>
          </a:prstGeom>
        </p:spPr>
      </p:pic>
      <p:sp>
        <p:nvSpPr>
          <p:cNvPr id="18" name="AutoShape 18"/>
          <p:cNvSpPr/>
          <p:nvPr/>
        </p:nvSpPr>
        <p:spPr>
          <a:xfrm>
            <a:off x="7366000" y="39370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上下文信息</a:t>
            </a:r>
            <a:endParaRPr lang="en-US" sz="1100"/>
          </a:p>
        </p:txBody>
      </p:sp>
      <p:sp>
        <p:nvSpPr>
          <p:cNvPr id="19" name="AutoShape 19"/>
          <p:cNvSpPr/>
          <p:nvPr/>
        </p:nvSpPr>
        <p:spPr>
          <a:xfrm>
            <a:off x="7366000" y="4381500"/>
            <a:ext cx="3810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424242"/>
                </a:solidFill>
                <a:latin typeface="Noto Sans SC"/>
                <a:ea typeface="Noto Sans SC"/>
                <a:cs typeface="Noto Sans SC"/>
                <a:sym typeface="Noto Sans SC"/>
              </a:rPr>
              <a:t>必要时提供额外的背景信息或上下文，让模型在特定语境下生成更准确的回答。</a:t>
            </a:r>
            <a:endParaRPr lang="en-US" sz="11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5359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提示词示例：情感分类</a:t>
            </a:r>
            <a:endParaRPr lang="en-US" sz="1100"/>
          </a:p>
        </p:txBody>
      </p:sp>
      <p:sp>
        <p:nvSpPr>
          <p:cNvPr id="3" name="AutoShape 3"/>
          <p:cNvSpPr/>
          <p:nvPr/>
        </p:nvSpPr>
        <p:spPr>
          <a:xfrm>
            <a:off x="762000" y="1270000"/>
            <a:ext cx="10668000" cy="889000"/>
          </a:xfrm>
          <a:prstGeom prst="roundRect">
            <a:avLst>
              <a:gd name="adj" fmla="val 14285"/>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460500"/>
            <a:ext cx="508000" cy="508000"/>
          </a:xfrm>
          <a:prstGeom prst="rect">
            <a:avLst/>
          </a:prstGeom>
        </p:spPr>
      </p:pic>
      <p:sp>
        <p:nvSpPr>
          <p:cNvPr id="5" name="AutoShape 5"/>
          <p:cNvSpPr/>
          <p:nvPr/>
        </p:nvSpPr>
        <p:spPr>
          <a:xfrm>
            <a:off x="1651000" y="1397000"/>
            <a:ext cx="9525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24242"/>
                </a:solidFill>
                <a:latin typeface="Noto Sans SC"/>
                <a:ea typeface="Noto Sans SC"/>
                <a:cs typeface="Noto Sans SC"/>
                <a:sym typeface="Noto Sans SC"/>
              </a:rPr>
              <a:t>指令任务：</a:t>
            </a:r>
            <a:r>
              <a:rPr lang="en-US" sz="1800" b="0" i="0" u="none" strike="noStrike">
                <a:solidFill>
                  <a:srgbClr val="424242"/>
                </a:solidFill>
                <a:latin typeface="Noto Sans SC"/>
                <a:ea typeface="Noto Sans SC"/>
                <a:cs typeface="Noto Sans SC"/>
                <a:sym typeface="Noto Sans SC"/>
              </a:rPr>
              <a:t>请判断以下评论的情感倾向，是正面还是负面？只需要回答“正面”或“负面”。</a:t>
            </a:r>
            <a:endParaRPr lang="en-US" sz="1100"/>
          </a:p>
        </p:txBody>
      </p:sp>
      <p:sp>
        <p:nvSpPr>
          <p:cNvPr id="6" name="AutoShape 6"/>
          <p:cNvSpPr/>
          <p:nvPr/>
        </p:nvSpPr>
        <p:spPr>
          <a:xfrm>
            <a:off x="762000" y="2413000"/>
            <a:ext cx="10668000" cy="1016000"/>
          </a:xfrm>
          <a:prstGeom prst="roundRect">
            <a:avLst>
              <a:gd name="adj" fmla="val 12500"/>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667000"/>
            <a:ext cx="508000" cy="508000"/>
          </a:xfrm>
          <a:prstGeom prst="rect">
            <a:avLst/>
          </a:prstGeom>
        </p:spPr>
      </p:pic>
      <p:sp>
        <p:nvSpPr>
          <p:cNvPr id="8" name="AutoShape 8"/>
          <p:cNvSpPr/>
          <p:nvPr/>
        </p:nvSpPr>
        <p:spPr>
          <a:xfrm>
            <a:off x="1651000" y="2540000"/>
            <a:ext cx="787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评论：</a:t>
            </a:r>
            <a:r>
              <a:rPr lang="en-US" sz="1600" b="0" i="0" u="none" strike="noStrike">
                <a:solidFill>
                  <a:srgbClr val="424242"/>
                </a:solidFill>
                <a:latin typeface="Noto Sans SC"/>
                <a:ea typeface="Noto Sans SC"/>
                <a:cs typeface="Noto Sans SC"/>
                <a:sym typeface="Noto Sans SC"/>
              </a:rPr>
              <a:t>“这家店的外卖太好吃了，下次还点！”</a:t>
            </a:r>
            <a:endParaRPr lang="en-US" sz="1100"/>
          </a:p>
        </p:txBody>
      </p:sp>
      <p:sp>
        <p:nvSpPr>
          <p:cNvPr id="9" name="AutoShape 9"/>
          <p:cNvSpPr/>
          <p:nvPr/>
        </p:nvSpPr>
        <p:spPr>
          <a:xfrm>
            <a:off x="9652000" y="2667000"/>
            <a:ext cx="1270000" cy="508000"/>
          </a:xfrm>
          <a:prstGeom prst="roundRect">
            <a:avLst>
              <a:gd name="adj" fmla="val 125000"/>
            </a:avLst>
          </a:prstGeom>
          <a:solidFill>
            <a:srgbClr val="4CAF50">
              <a:alpha val="1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4CAF50"/>
                </a:solidFill>
                <a:latin typeface="Noto Sans SC"/>
                <a:ea typeface="Noto Sans SC"/>
                <a:cs typeface="Noto Sans SC"/>
                <a:sym typeface="Noto Sans SC"/>
              </a:rPr>
              <a:t>正面</a:t>
            </a:r>
            <a:endParaRPr lang="en-US" sz="1100"/>
          </a:p>
        </p:txBody>
      </p:sp>
      <p:sp>
        <p:nvSpPr>
          <p:cNvPr id="10" name="AutoShape 10"/>
          <p:cNvSpPr/>
          <p:nvPr/>
        </p:nvSpPr>
        <p:spPr>
          <a:xfrm>
            <a:off x="762000" y="3683000"/>
            <a:ext cx="10668000" cy="1016000"/>
          </a:xfrm>
          <a:prstGeom prst="roundRect">
            <a:avLst>
              <a:gd name="adj" fmla="val 12500"/>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3937000"/>
            <a:ext cx="508000" cy="508000"/>
          </a:xfrm>
          <a:prstGeom prst="rect">
            <a:avLst/>
          </a:prstGeom>
        </p:spPr>
      </p:pic>
      <p:sp>
        <p:nvSpPr>
          <p:cNvPr id="12" name="AutoShape 12"/>
          <p:cNvSpPr/>
          <p:nvPr/>
        </p:nvSpPr>
        <p:spPr>
          <a:xfrm>
            <a:off x="1651000" y="3810000"/>
            <a:ext cx="787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评论：</a:t>
            </a:r>
            <a:r>
              <a:rPr lang="en-US" sz="1600" b="0" i="0" u="none" strike="noStrike">
                <a:solidFill>
                  <a:srgbClr val="424242"/>
                </a:solidFill>
                <a:latin typeface="Noto Sans SC"/>
                <a:ea typeface="Noto Sans SC"/>
                <a:cs typeface="Noto Sans SC"/>
                <a:sym typeface="Noto Sans SC"/>
              </a:rPr>
              <a:t>“送餐速度太慢了，等了一个小时才到。”</a:t>
            </a:r>
            <a:endParaRPr lang="en-US" sz="1100"/>
          </a:p>
        </p:txBody>
      </p:sp>
      <p:sp>
        <p:nvSpPr>
          <p:cNvPr id="13" name="AutoShape 13"/>
          <p:cNvSpPr/>
          <p:nvPr/>
        </p:nvSpPr>
        <p:spPr>
          <a:xfrm>
            <a:off x="9652000" y="3937000"/>
            <a:ext cx="1270000" cy="508000"/>
          </a:xfrm>
          <a:prstGeom prst="roundRect">
            <a:avLst>
              <a:gd name="adj" fmla="val 125000"/>
            </a:avLst>
          </a:prstGeom>
          <a:solidFill>
            <a:srgbClr val="F44336">
              <a:alpha val="1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44336"/>
                </a:solidFill>
                <a:latin typeface="Noto Sans SC"/>
                <a:ea typeface="Noto Sans SC"/>
                <a:cs typeface="Noto Sans SC"/>
                <a:sym typeface="Noto Sans SC"/>
              </a:rPr>
              <a:t>负面</a:t>
            </a:r>
            <a:endParaRPr lang="en-US" sz="1100"/>
          </a:p>
        </p:txBody>
      </p:sp>
      <p:sp>
        <p:nvSpPr>
          <p:cNvPr id="14" name="AutoShape 14"/>
          <p:cNvSpPr/>
          <p:nvPr/>
        </p:nvSpPr>
        <p:spPr>
          <a:xfrm>
            <a:off x="762000" y="4953000"/>
            <a:ext cx="10668000" cy="1016000"/>
          </a:xfrm>
          <a:prstGeom prst="roundRect">
            <a:avLst>
              <a:gd name="adj" fmla="val 12500"/>
            </a:avLst>
          </a:prstGeom>
          <a:solidFill>
            <a:srgbClr val="FFFFFF">
              <a:alpha val="100000"/>
            </a:srgbClr>
          </a:solidFill>
          <a:ln w="25400" cap="flat" cmpd="sng">
            <a:solidFill>
              <a:srgbClr val="0288D1">
                <a:alpha val="100000"/>
              </a:srgbClr>
            </a:solidFill>
            <a:prstDash val="dash"/>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5207000"/>
            <a:ext cx="508000" cy="508000"/>
          </a:xfrm>
          <a:prstGeom prst="rect">
            <a:avLst/>
          </a:prstGeom>
        </p:spPr>
      </p:pic>
      <p:sp>
        <p:nvSpPr>
          <p:cNvPr id="16" name="AutoShape 16"/>
          <p:cNvSpPr/>
          <p:nvPr/>
        </p:nvSpPr>
        <p:spPr>
          <a:xfrm>
            <a:off x="1651000" y="5080000"/>
            <a:ext cx="787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现在请判断：</a:t>
            </a:r>
            <a:r>
              <a:rPr lang="en-US" sz="1600" b="0" i="0" u="none" strike="noStrike">
                <a:solidFill>
                  <a:srgbClr val="424242"/>
                </a:solidFill>
                <a:latin typeface="Noto Sans SC"/>
                <a:ea typeface="Noto Sans SC"/>
                <a:cs typeface="Noto Sans SC"/>
                <a:sym typeface="Noto Sans SC"/>
              </a:rPr>
              <a:t>“这家餐厅的菜品很一般，没什么特色。”</a:t>
            </a:r>
            <a:endParaRPr lang="en-US" sz="1100"/>
          </a:p>
        </p:txBody>
      </p:sp>
      <p:sp>
        <p:nvSpPr>
          <p:cNvPr id="17" name="AutoShape 17"/>
          <p:cNvSpPr/>
          <p:nvPr/>
        </p:nvSpPr>
        <p:spPr>
          <a:xfrm>
            <a:off x="9652000" y="5207000"/>
            <a:ext cx="1270000" cy="508000"/>
          </a:xfrm>
          <a:prstGeom prst="roundRect">
            <a:avLst>
              <a:gd name="adj" fmla="val 125000"/>
            </a:avLst>
          </a:prstGeom>
          <a:solidFill>
            <a:srgbClr val="0288D1">
              <a:alpha val="1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0288D1"/>
                </a:solidFill>
                <a:latin typeface="Noto Sans SC"/>
                <a:ea typeface="Noto Sans SC"/>
                <a:cs typeface="Noto Sans SC"/>
                <a:sym typeface="Noto Sans SC"/>
              </a:rPr>
              <a:t>待判断</a:t>
            </a:r>
            <a:endParaRPr lang="en-US" sz="11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5359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提示词示例：主题分类</a:t>
            </a:r>
            <a:endParaRPr lang="en-US" sz="1100"/>
          </a:p>
        </p:txBody>
      </p:sp>
      <p:sp>
        <p:nvSpPr>
          <p:cNvPr id="3" name="AutoShape 3"/>
          <p:cNvSpPr/>
          <p:nvPr/>
        </p:nvSpPr>
        <p:spPr>
          <a:xfrm>
            <a:off x="762000" y="1270000"/>
            <a:ext cx="10668000" cy="4064000"/>
          </a:xfrm>
          <a:prstGeom prst="roundRect">
            <a:avLst>
              <a:gd name="adj" fmla="val 3125"/>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524000"/>
            <a:ext cx="304800" cy="304800"/>
          </a:xfrm>
          <a:prstGeom prst="rect">
            <a:avLst/>
          </a:prstGeom>
        </p:spPr>
      </p:pic>
      <p:sp>
        <p:nvSpPr>
          <p:cNvPr id="5" name="AutoShape 5"/>
          <p:cNvSpPr/>
          <p:nvPr/>
        </p:nvSpPr>
        <p:spPr>
          <a:xfrm>
            <a:off x="1397000" y="1473200"/>
            <a:ext cx="965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24242"/>
                </a:solidFill>
                <a:latin typeface="Noto Sans SC"/>
                <a:ea typeface="Noto Sans SC"/>
                <a:cs typeface="Noto Sans SC"/>
                <a:sym typeface="Noto Sans SC"/>
              </a:rPr>
              <a:t>任务指令：</a:t>
            </a:r>
            <a:r>
              <a:rPr lang="en-US" sz="1800" b="0" i="0" u="none" strike="noStrike">
                <a:solidFill>
                  <a:srgbClr val="424242"/>
                </a:solidFill>
                <a:latin typeface="Noto Sans SC"/>
                <a:ea typeface="Noto Sans SC"/>
                <a:cs typeface="Noto Sans SC"/>
                <a:sym typeface="Noto Sans SC"/>
              </a:rPr>
              <a:t>请将以下新闻标题分类到指定的类别中：科技、体育、娱乐、财经。只需要回答类别名称。</a:t>
            </a:r>
            <a:endParaRPr lang="en-US" sz="1100"/>
          </a:p>
        </p:txBody>
      </p:sp>
      <p:cxnSp>
        <p:nvCxnSpPr>
          <p:cNvPr id="6" name="Connector 6"/>
          <p:cNvCxnSpPr/>
          <p:nvPr/>
        </p:nvCxnSpPr>
        <p:spPr>
          <a:xfrm rot="-4297">
            <a:off x="1016004" y="2025650"/>
            <a:ext cx="10160000" cy="12700"/>
          </a:xfrm>
          <a:prstGeom prst="line">
            <a:avLst/>
          </a:prstGeom>
          <a:solidFill>
            <a:srgbClr val="DEE0E3">
              <a:alpha val="100000"/>
            </a:srgbClr>
          </a:solidFill>
          <a:ln w="25400" cap="flat" cmpd="sng">
            <a:solidFill>
              <a:srgbClr val="E0F7FA">
                <a:alpha val="100000"/>
              </a:srgbClr>
            </a:solidFill>
            <a:prstDash val="solid"/>
            <a:round/>
            <a:headEnd type="none" w="lg" len="lg"/>
            <a:tailEnd type="none" w="lg" len="lg"/>
          </a:ln>
        </p:spPr>
      </p:cxn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286000"/>
            <a:ext cx="254000" cy="254000"/>
          </a:xfrm>
          <a:prstGeom prst="rect">
            <a:avLst/>
          </a:prstGeom>
        </p:spPr>
      </p:pic>
      <p:sp>
        <p:nvSpPr>
          <p:cNvPr id="8" name="AutoShape 8"/>
          <p:cNvSpPr/>
          <p:nvPr/>
        </p:nvSpPr>
        <p:spPr>
          <a:xfrm>
            <a:off x="1397000" y="2235200"/>
            <a:ext cx="965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757575"/>
                </a:solidFill>
                <a:latin typeface="Noto Sans SC"/>
                <a:ea typeface="Noto Sans SC"/>
                <a:cs typeface="Noto Sans SC"/>
                <a:sym typeface="Noto Sans SC"/>
              </a:rPr>
              <a:t>示例 1：</a:t>
            </a:r>
            <a:r>
              <a:rPr lang="en-US" sz="1600" b="0" i="0" u="none" strike="noStrike">
                <a:solidFill>
                  <a:srgbClr val="424242"/>
                </a:solidFill>
                <a:latin typeface="Noto Sans SC"/>
                <a:ea typeface="Noto Sans SC"/>
                <a:cs typeface="Noto Sans SC"/>
                <a:sym typeface="Noto Sans SC"/>
              </a:rPr>
              <a:t>标题：新款智能手机发布，拍照功能大幅提升</a:t>
            </a:r>
            <a:endParaRPr lang="en-US" sz="1100"/>
          </a:p>
        </p:txBody>
      </p:sp>
      <p:sp>
        <p:nvSpPr>
          <p:cNvPr id="9" name="AutoShape 9"/>
          <p:cNvSpPr/>
          <p:nvPr/>
        </p:nvSpPr>
        <p:spPr>
          <a:xfrm>
            <a:off x="1397000" y="2603500"/>
            <a:ext cx="889000" cy="304800"/>
          </a:xfrm>
          <a:prstGeom prst="roundRect">
            <a:avLst>
              <a:gd name="adj" fmla="val 20833"/>
            </a:avLst>
          </a:prstGeom>
          <a:solidFill>
            <a:srgbClr val="0288D1">
              <a:alpha val="1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0288D1"/>
                </a:solidFill>
                <a:latin typeface="Noto Sans SC"/>
                <a:ea typeface="Noto Sans SC"/>
                <a:cs typeface="Noto Sans SC"/>
                <a:sym typeface="Noto Sans SC"/>
              </a:rPr>
              <a:t>科技</a:t>
            </a:r>
            <a:endParaRPr lang="en-US" sz="1100"/>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048000"/>
            <a:ext cx="254000" cy="254000"/>
          </a:xfrm>
          <a:prstGeom prst="rect">
            <a:avLst/>
          </a:prstGeom>
        </p:spPr>
      </p:pic>
      <p:sp>
        <p:nvSpPr>
          <p:cNvPr id="11" name="AutoShape 11"/>
          <p:cNvSpPr/>
          <p:nvPr/>
        </p:nvSpPr>
        <p:spPr>
          <a:xfrm>
            <a:off x="1397000" y="2997200"/>
            <a:ext cx="965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757575"/>
                </a:solidFill>
                <a:latin typeface="Noto Sans SC"/>
                <a:ea typeface="Noto Sans SC"/>
                <a:cs typeface="Noto Sans SC"/>
                <a:sym typeface="Noto Sans SC"/>
              </a:rPr>
              <a:t>示例 2：</a:t>
            </a:r>
            <a:r>
              <a:rPr lang="en-US" sz="1600" b="0" i="0" u="none" strike="noStrike">
                <a:solidFill>
                  <a:srgbClr val="424242"/>
                </a:solidFill>
                <a:latin typeface="Noto Sans SC"/>
                <a:ea typeface="Noto Sans SC"/>
                <a:cs typeface="Noto Sans SC"/>
                <a:sym typeface="Noto Sans SC"/>
              </a:rPr>
              <a:t>标题：国家队在世界杯预选赛中取得关键胜利</a:t>
            </a:r>
            <a:endParaRPr lang="en-US" sz="1100"/>
          </a:p>
        </p:txBody>
      </p:sp>
      <p:sp>
        <p:nvSpPr>
          <p:cNvPr id="12" name="AutoShape 12"/>
          <p:cNvSpPr/>
          <p:nvPr/>
        </p:nvSpPr>
        <p:spPr>
          <a:xfrm>
            <a:off x="1397000" y="3365500"/>
            <a:ext cx="889000" cy="304800"/>
          </a:xfrm>
          <a:prstGeom prst="roundRect">
            <a:avLst>
              <a:gd name="adj" fmla="val 20833"/>
            </a:avLst>
          </a:prstGeom>
          <a:solidFill>
            <a:srgbClr val="0288D1">
              <a:alpha val="1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0288D1"/>
                </a:solidFill>
                <a:latin typeface="Noto Sans SC"/>
                <a:ea typeface="Noto Sans SC"/>
                <a:cs typeface="Noto Sans SC"/>
                <a:sym typeface="Noto Sans SC"/>
              </a:rPr>
              <a:t>体育</a:t>
            </a:r>
            <a:endParaRPr lang="en-US" sz="1100"/>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3810000"/>
            <a:ext cx="254000" cy="254000"/>
          </a:xfrm>
          <a:prstGeom prst="rect">
            <a:avLst/>
          </a:prstGeom>
        </p:spPr>
      </p:pic>
      <p:sp>
        <p:nvSpPr>
          <p:cNvPr id="14" name="AutoShape 14"/>
          <p:cNvSpPr/>
          <p:nvPr/>
        </p:nvSpPr>
        <p:spPr>
          <a:xfrm>
            <a:off x="1397000" y="3759200"/>
            <a:ext cx="965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88D1"/>
                </a:solidFill>
                <a:latin typeface="Noto Sans SC"/>
                <a:ea typeface="Noto Sans SC"/>
                <a:cs typeface="Noto Sans SC"/>
                <a:sym typeface="Noto Sans SC"/>
              </a:rPr>
              <a:t>实战任务：</a:t>
            </a:r>
            <a:r>
              <a:rPr lang="en-US" sz="1600" b="0" i="0" u="none" strike="noStrike">
                <a:solidFill>
                  <a:srgbClr val="424242"/>
                </a:solidFill>
                <a:latin typeface="Noto Sans SC"/>
                <a:ea typeface="Noto Sans SC"/>
                <a:cs typeface="Noto Sans SC"/>
                <a:sym typeface="Noto Sans SC"/>
              </a:rPr>
              <a:t>标题：知名演员宣布将出演一部新的科幻电影</a:t>
            </a:r>
            <a:endParaRPr lang="en-US" sz="1100"/>
          </a:p>
        </p:txBody>
      </p:sp>
      <p:sp>
        <p:nvSpPr>
          <p:cNvPr id="15" name="AutoShape 15"/>
          <p:cNvSpPr/>
          <p:nvPr/>
        </p:nvSpPr>
        <p:spPr>
          <a:xfrm>
            <a:off x="1397000" y="4127500"/>
            <a:ext cx="889000" cy="304800"/>
          </a:xfrm>
          <a:prstGeom prst="roundRect">
            <a:avLst>
              <a:gd name="adj" fmla="val 20833"/>
            </a:avLst>
          </a:prstGeom>
          <a:solidFill>
            <a:srgbClr val="F5F5F5">
              <a:alpha val="100000"/>
            </a:srgbClr>
          </a:solidFill>
          <a:ln w="12700" cap="flat" cmpd="sng">
            <a:solidFill>
              <a:srgbClr val="BDBDBD">
                <a:alpha val="100000"/>
              </a:srgbClr>
            </a:solidFill>
            <a:prstDash val="dash"/>
            <a:round/>
          </a:ln>
        </p:spPr>
        <p:txBody>
          <a:bodyPr vert="horz" wrap="square" lIns="0" tIns="0" rIns="0" bIns="0" rtlCol="0" anchor="ctr" anchorCtr="0"/>
          <a:lstStyle/>
          <a:p>
            <a:pPr indent="0" algn="ctr">
              <a:lnSpc>
                <a:spcPct val="125000"/>
              </a:lnSpc>
              <a:defRPr/>
            </a:pPr>
            <a:r>
              <a:rPr lang="en-US" sz="1400" b="0" i="0" u="none" strike="noStrike">
                <a:solidFill>
                  <a:srgbClr val="9E9E9E"/>
                </a:solidFill>
                <a:latin typeface="Noto Sans SC"/>
                <a:ea typeface="Noto Sans SC"/>
                <a:cs typeface="Noto Sans SC"/>
                <a:sym typeface="Noto Sans SC"/>
              </a:rPr>
              <a:t>？</a:t>
            </a:r>
            <a:endParaRPr lang="en-US" sz="1100"/>
          </a:p>
        </p:txBody>
      </p:sp>
      <p:sp>
        <p:nvSpPr>
          <p:cNvPr id="16" name="AutoShape 16"/>
          <p:cNvSpPr/>
          <p:nvPr/>
        </p:nvSpPr>
        <p:spPr>
          <a:xfrm>
            <a:off x="762000" y="5588000"/>
            <a:ext cx="10668000" cy="762000"/>
          </a:xfrm>
          <a:prstGeom prst="roundRect">
            <a:avLst>
              <a:gd name="adj" fmla="val 16666"/>
            </a:avLst>
          </a:prstGeom>
          <a:solidFill>
            <a:srgbClr val="0288D1">
              <a:alpha val="8000"/>
            </a:srgbClr>
          </a:solidFill>
          <a:ln w="25400" cap="flat" cmpd="sng">
            <a:no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5778500"/>
            <a:ext cx="304800" cy="304800"/>
          </a:xfrm>
          <a:prstGeom prst="rect">
            <a:avLst/>
          </a:prstGeom>
        </p:spPr>
      </p:pic>
      <p:sp>
        <p:nvSpPr>
          <p:cNvPr id="18" name="AutoShape 18"/>
          <p:cNvSpPr/>
          <p:nvPr/>
        </p:nvSpPr>
        <p:spPr>
          <a:xfrm>
            <a:off x="1460500" y="5689600"/>
            <a:ext cx="9779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24242"/>
                </a:solidFill>
                <a:latin typeface="Noto Sans SC"/>
                <a:ea typeface="Noto Sans SC"/>
                <a:cs typeface="Noto Sans SC"/>
                <a:sym typeface="Noto Sans SC"/>
              </a:rPr>
              <a:t>核心技巧：</a:t>
            </a:r>
            <a:r>
              <a:rPr lang="en-US" sz="1600" b="0" i="0" u="none" strike="noStrike">
                <a:solidFill>
                  <a:srgbClr val="424242"/>
                </a:solidFill>
                <a:latin typeface="Noto Sans SC"/>
                <a:ea typeface="Noto Sans SC"/>
                <a:cs typeface="Noto Sans SC"/>
                <a:sym typeface="Noto Sans SC"/>
              </a:rPr>
              <a:t>通过明确任务目标、限定输出类别并提供高质量示例（Few-shot Learning），可以显著提升模型分类的准确性。</a:t>
            </a:r>
            <a:endParaRPr lang="en-US" sz="11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58039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13.2.3 预训练模型的微调</a:t>
            </a:r>
            <a:endParaRPr lang="en-US" sz="1100"/>
          </a:p>
        </p:txBody>
      </p:sp>
      <p:sp>
        <p:nvSpPr>
          <p:cNvPr id="3" name="AutoShape 3"/>
          <p:cNvSpPr/>
          <p:nvPr/>
        </p:nvSpPr>
        <p:spPr>
          <a:xfrm>
            <a:off x="762000" y="1270000"/>
            <a:ext cx="10668000" cy="889000"/>
          </a:xfrm>
          <a:prstGeom prst="roundRect">
            <a:avLst>
              <a:gd name="adj" fmla="val 14285"/>
            </a:avLst>
          </a:prstGeom>
          <a:solidFill>
            <a:srgbClr val="FFFFFF">
              <a:alpha val="80000"/>
            </a:srgbClr>
          </a:solidFill>
          <a:ln w="12700" cap="flat" cmpd="sng">
            <a:solidFill>
              <a:srgbClr val="0288D1">
                <a:alpha val="30000"/>
              </a:srgbClr>
            </a:solidFill>
            <a:prstDash val="solid"/>
            <a:round/>
          </a:ln>
          <a:effectLst>
            <a:outerShdw blurRad="101600" dist="50800" dir="5400000" algn="tl" rotWithShape="0">
              <a:srgbClr val="0288D1">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460500"/>
            <a:ext cx="406400" cy="406400"/>
          </a:xfrm>
          <a:prstGeom prst="rect">
            <a:avLst/>
          </a:prstGeom>
        </p:spPr>
      </p:pic>
      <p:sp>
        <p:nvSpPr>
          <p:cNvPr id="5" name="AutoShape 5"/>
          <p:cNvSpPr/>
          <p:nvPr/>
        </p:nvSpPr>
        <p:spPr>
          <a:xfrm>
            <a:off x="1587500" y="1397000"/>
            <a:ext cx="9525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24242"/>
                </a:solidFill>
                <a:latin typeface="Noto Sans SC"/>
                <a:ea typeface="Noto Sans SC"/>
                <a:cs typeface="Noto Sans SC"/>
                <a:sym typeface="Noto Sans SC"/>
              </a:rPr>
              <a:t>定义：</a:t>
            </a:r>
            <a:r>
              <a:rPr lang="en-US" sz="1600" b="0" i="0" u="none" strike="noStrike">
                <a:solidFill>
                  <a:srgbClr val="424242"/>
                </a:solidFill>
                <a:latin typeface="Noto Sans SC"/>
                <a:ea typeface="Noto Sans SC"/>
                <a:cs typeface="Noto Sans SC"/>
                <a:sym typeface="Noto Sans SC"/>
              </a:rPr>
              <a:t>基于一个在大规模通用语料上预训练好的模型，使用特定任务的数据集进行进一步的训练，以使其更好地适应该特定任务。</a:t>
            </a:r>
            <a:endParaRPr lang="en-US" sz="1100"/>
          </a:p>
        </p:txBody>
      </p:sp>
      <p:sp>
        <p:nvSpPr>
          <p:cNvPr id="6" name="AutoShape 6"/>
          <p:cNvSpPr/>
          <p:nvPr/>
        </p:nvSpPr>
        <p:spPr>
          <a:xfrm>
            <a:off x="762000" y="2413000"/>
            <a:ext cx="1981200" cy="2540000"/>
          </a:xfrm>
          <a:prstGeom prst="roundRect">
            <a:avLst>
              <a:gd name="adj" fmla="val 6410"/>
            </a:avLst>
          </a:prstGeom>
          <a:solidFill>
            <a:srgbClr val="FFFFFF">
              <a:alpha val="100000"/>
            </a:srgbClr>
          </a:solidFill>
          <a:ln w="25400" cap="flat" cmpd="sng">
            <a:noFill/>
            <a:prstDash val="solid"/>
            <a:round/>
          </a:ln>
          <a:effectLst>
            <a:outerShdw blurRad="101600" dist="50800" dir="5400000" algn="tl" rotWithShape="0">
              <a:srgbClr val="000000">
                <a:alpha val="5000"/>
              </a:srgbClr>
            </a:outerShdw>
          </a:effectLst>
        </p:spPr>
        <p:txBody>
          <a:bodyPr vert="horz" wrap="square" lIns="63500" tIns="63500" rIns="63500" bIns="63500" rtlCol="0" anchor="ctr"/>
          <a:lstStyle/>
          <a:p>
            <a:pPr algn="ctr">
              <a:defRPr/>
            </a:pPr>
          </a:p>
        </p:txBody>
      </p:sp>
      <p:sp>
        <p:nvSpPr>
          <p:cNvPr id="7" name="AutoShape 7"/>
          <p:cNvSpPr/>
          <p:nvPr/>
        </p:nvSpPr>
        <p:spPr>
          <a:xfrm>
            <a:off x="762000" y="2413000"/>
            <a:ext cx="1981200" cy="762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473200" y="2667000"/>
            <a:ext cx="558800" cy="558800"/>
          </a:xfrm>
          <a:prstGeom prst="rect">
            <a:avLst/>
          </a:prstGeom>
        </p:spPr>
      </p:pic>
      <p:sp>
        <p:nvSpPr>
          <p:cNvPr id="9" name="AutoShape 9"/>
          <p:cNvSpPr/>
          <p:nvPr/>
        </p:nvSpPr>
        <p:spPr>
          <a:xfrm>
            <a:off x="762000" y="3302000"/>
            <a:ext cx="19812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288D1"/>
                </a:solidFill>
                <a:latin typeface="Noto Sans SC"/>
                <a:ea typeface="Noto Sans SC"/>
                <a:cs typeface="Noto Sans SC"/>
                <a:sym typeface="Noto Sans SC"/>
              </a:rPr>
              <a:t>加载模型</a:t>
            </a:r>
            <a:endParaRPr lang="en-US" sz="1100"/>
          </a:p>
        </p:txBody>
      </p:sp>
      <p:sp>
        <p:nvSpPr>
          <p:cNvPr id="10" name="AutoShape 10"/>
          <p:cNvSpPr/>
          <p:nvPr/>
        </p:nvSpPr>
        <p:spPr>
          <a:xfrm>
            <a:off x="889000" y="3746500"/>
            <a:ext cx="1727200" cy="1016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400" b="0" i="0" u="none" strike="noStrike">
                <a:solidFill>
                  <a:srgbClr val="616161"/>
                </a:solidFill>
                <a:latin typeface="Noto Sans SC"/>
                <a:ea typeface="Noto Sans SC"/>
                <a:cs typeface="Noto Sans SC"/>
                <a:sym typeface="Noto Sans SC"/>
              </a:rPr>
              <a:t>加载预训练模型（如BERT、RoBERTa等）作为基础架构。</a:t>
            </a:r>
            <a:endParaRPr lang="en-US" sz="1100"/>
          </a:p>
        </p:txBody>
      </p:sp>
      <p:sp>
        <p:nvSpPr>
          <p:cNvPr id="11" name="AutoShape 11"/>
          <p:cNvSpPr/>
          <p:nvPr/>
        </p:nvSpPr>
        <p:spPr>
          <a:xfrm>
            <a:off x="2933700" y="2413000"/>
            <a:ext cx="1981200" cy="2540000"/>
          </a:xfrm>
          <a:prstGeom prst="roundRect">
            <a:avLst>
              <a:gd name="adj" fmla="val 6410"/>
            </a:avLst>
          </a:prstGeom>
          <a:solidFill>
            <a:srgbClr val="FFFFFF">
              <a:alpha val="100000"/>
            </a:srgbClr>
          </a:solidFill>
          <a:ln w="25400" cap="flat" cmpd="sng">
            <a:noFill/>
            <a:prstDash val="solid"/>
            <a:round/>
          </a:ln>
          <a:effectLst>
            <a:outerShdw blurRad="101600" dist="50800" dir="5400000" algn="tl" rotWithShape="0">
              <a:srgbClr val="000000">
                <a:alpha val="5000"/>
              </a:srgbClr>
            </a:outerShdw>
          </a:effectLst>
        </p:spPr>
        <p:txBody>
          <a:bodyPr vert="horz" wrap="square" lIns="63500" tIns="63500" rIns="63500" bIns="63500" rtlCol="0" anchor="ctr"/>
          <a:lstStyle/>
          <a:p>
            <a:pPr algn="ctr">
              <a:defRPr/>
            </a:pPr>
          </a:p>
        </p:txBody>
      </p:sp>
      <p:sp>
        <p:nvSpPr>
          <p:cNvPr id="12" name="AutoShape 12"/>
          <p:cNvSpPr/>
          <p:nvPr/>
        </p:nvSpPr>
        <p:spPr>
          <a:xfrm>
            <a:off x="2933700" y="2413000"/>
            <a:ext cx="1981200" cy="762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44900" y="2667000"/>
            <a:ext cx="558800" cy="558800"/>
          </a:xfrm>
          <a:prstGeom prst="rect">
            <a:avLst/>
          </a:prstGeom>
        </p:spPr>
      </p:pic>
      <p:sp>
        <p:nvSpPr>
          <p:cNvPr id="14" name="AutoShape 14"/>
          <p:cNvSpPr/>
          <p:nvPr/>
        </p:nvSpPr>
        <p:spPr>
          <a:xfrm>
            <a:off x="2933700" y="3302000"/>
            <a:ext cx="19812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288D1"/>
                </a:solidFill>
                <a:latin typeface="Noto Sans SC"/>
                <a:ea typeface="Noto Sans SC"/>
                <a:cs typeface="Noto Sans SC"/>
                <a:sym typeface="Noto Sans SC"/>
              </a:rPr>
              <a:t>添加分类层</a:t>
            </a:r>
            <a:endParaRPr lang="en-US" sz="1100"/>
          </a:p>
        </p:txBody>
      </p:sp>
      <p:sp>
        <p:nvSpPr>
          <p:cNvPr id="15" name="AutoShape 15"/>
          <p:cNvSpPr/>
          <p:nvPr/>
        </p:nvSpPr>
        <p:spPr>
          <a:xfrm>
            <a:off x="3060700" y="3746500"/>
            <a:ext cx="1727200" cy="1016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400" b="0" i="0" u="none" strike="noStrike">
                <a:solidFill>
                  <a:srgbClr val="616161"/>
                </a:solidFill>
                <a:latin typeface="Noto Sans SC"/>
                <a:ea typeface="Noto Sans SC"/>
                <a:cs typeface="Noto Sans SC"/>
                <a:sym typeface="Noto Sans SC"/>
              </a:rPr>
              <a:t>在预训练模型顶部添加全连接层，适配特定任务的分类输出。</a:t>
            </a:r>
            <a:endParaRPr lang="en-US" sz="1100"/>
          </a:p>
        </p:txBody>
      </p:sp>
      <p:sp>
        <p:nvSpPr>
          <p:cNvPr id="16" name="AutoShape 16"/>
          <p:cNvSpPr/>
          <p:nvPr/>
        </p:nvSpPr>
        <p:spPr>
          <a:xfrm>
            <a:off x="5105400" y="2413000"/>
            <a:ext cx="1981200" cy="2540000"/>
          </a:xfrm>
          <a:prstGeom prst="roundRect">
            <a:avLst>
              <a:gd name="adj" fmla="val 6410"/>
            </a:avLst>
          </a:prstGeom>
          <a:solidFill>
            <a:srgbClr val="FFFFFF">
              <a:alpha val="100000"/>
            </a:srgbClr>
          </a:solidFill>
          <a:ln w="25400" cap="flat" cmpd="sng">
            <a:noFill/>
            <a:prstDash val="solid"/>
            <a:round/>
          </a:ln>
          <a:effectLst>
            <a:outerShdw blurRad="101600" dist="50800" dir="5400000" algn="tl" rotWithShape="0">
              <a:srgbClr val="000000">
                <a:alpha val="5000"/>
              </a:srgbClr>
            </a:outerShdw>
          </a:effectLst>
        </p:spPr>
        <p:txBody>
          <a:bodyPr vert="horz" wrap="square" lIns="63500" tIns="63500" rIns="63500" bIns="63500" rtlCol="0" anchor="ctr"/>
          <a:lstStyle/>
          <a:p>
            <a:pPr algn="ctr">
              <a:defRPr/>
            </a:pPr>
          </a:p>
        </p:txBody>
      </p:sp>
      <p:sp>
        <p:nvSpPr>
          <p:cNvPr id="17" name="AutoShape 17"/>
          <p:cNvSpPr/>
          <p:nvPr/>
        </p:nvSpPr>
        <p:spPr>
          <a:xfrm>
            <a:off x="5105400" y="2413000"/>
            <a:ext cx="1981200" cy="762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816600" y="2667000"/>
            <a:ext cx="558800" cy="558800"/>
          </a:xfrm>
          <a:prstGeom prst="rect">
            <a:avLst/>
          </a:prstGeom>
        </p:spPr>
      </p:pic>
      <p:sp>
        <p:nvSpPr>
          <p:cNvPr id="19" name="AutoShape 19"/>
          <p:cNvSpPr/>
          <p:nvPr/>
        </p:nvSpPr>
        <p:spPr>
          <a:xfrm>
            <a:off x="5105400" y="3302000"/>
            <a:ext cx="19812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288D1"/>
                </a:solidFill>
                <a:latin typeface="Noto Sans SC"/>
                <a:ea typeface="Noto Sans SC"/>
                <a:cs typeface="Noto Sans SC"/>
                <a:sym typeface="Noto Sans SC"/>
              </a:rPr>
              <a:t>准备数据集</a:t>
            </a:r>
            <a:endParaRPr lang="en-US" sz="1100"/>
          </a:p>
        </p:txBody>
      </p:sp>
      <p:sp>
        <p:nvSpPr>
          <p:cNvPr id="20" name="AutoShape 20"/>
          <p:cNvSpPr/>
          <p:nvPr/>
        </p:nvSpPr>
        <p:spPr>
          <a:xfrm>
            <a:off x="5232400" y="3746500"/>
            <a:ext cx="1727200" cy="1016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400" b="0" i="0" u="none" strike="noStrike">
                <a:solidFill>
                  <a:srgbClr val="616161"/>
                </a:solidFill>
                <a:latin typeface="Noto Sans SC"/>
                <a:ea typeface="Noto Sans SC"/>
                <a:cs typeface="Noto Sans SC"/>
                <a:sym typeface="Noto Sans SC"/>
              </a:rPr>
              <a:t>准备带有标签的特定任务数据，用于模型的微调训练。</a:t>
            </a:r>
            <a:endParaRPr lang="en-US" sz="1100"/>
          </a:p>
        </p:txBody>
      </p:sp>
      <p:sp>
        <p:nvSpPr>
          <p:cNvPr id="21" name="AutoShape 21"/>
          <p:cNvSpPr/>
          <p:nvPr/>
        </p:nvSpPr>
        <p:spPr>
          <a:xfrm>
            <a:off x="7277100" y="2413000"/>
            <a:ext cx="1981200" cy="2540000"/>
          </a:xfrm>
          <a:prstGeom prst="roundRect">
            <a:avLst>
              <a:gd name="adj" fmla="val 6410"/>
            </a:avLst>
          </a:prstGeom>
          <a:solidFill>
            <a:srgbClr val="FFFFFF">
              <a:alpha val="100000"/>
            </a:srgbClr>
          </a:solidFill>
          <a:ln w="25400" cap="flat" cmpd="sng">
            <a:noFill/>
            <a:prstDash val="solid"/>
            <a:round/>
          </a:ln>
          <a:effectLst>
            <a:outerShdw blurRad="101600" dist="50800" dir="5400000" algn="tl" rotWithShape="0">
              <a:srgbClr val="000000">
                <a:alpha val="5000"/>
              </a:srgbClr>
            </a:outerShdw>
          </a:effectLst>
        </p:spPr>
        <p:txBody>
          <a:bodyPr vert="horz" wrap="square" lIns="63500" tIns="63500" rIns="63500" bIns="63500" rtlCol="0" anchor="ctr"/>
          <a:lstStyle/>
          <a:p>
            <a:pPr algn="ctr">
              <a:defRPr/>
            </a:pPr>
          </a:p>
        </p:txBody>
      </p:sp>
      <p:sp>
        <p:nvSpPr>
          <p:cNvPr id="22" name="AutoShape 22"/>
          <p:cNvSpPr/>
          <p:nvPr/>
        </p:nvSpPr>
        <p:spPr>
          <a:xfrm>
            <a:off x="7277100" y="2413000"/>
            <a:ext cx="1981200" cy="762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3" name="Picture 23"/>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988300" y="2667000"/>
            <a:ext cx="558800" cy="558800"/>
          </a:xfrm>
          <a:prstGeom prst="rect">
            <a:avLst/>
          </a:prstGeom>
        </p:spPr>
      </p:pic>
      <p:sp>
        <p:nvSpPr>
          <p:cNvPr id="24" name="AutoShape 24"/>
          <p:cNvSpPr/>
          <p:nvPr/>
        </p:nvSpPr>
        <p:spPr>
          <a:xfrm>
            <a:off x="7277100" y="3302000"/>
            <a:ext cx="19812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288D1"/>
                </a:solidFill>
                <a:latin typeface="Noto Sans SC"/>
                <a:ea typeface="Noto Sans SC"/>
                <a:cs typeface="Noto Sans SC"/>
                <a:sym typeface="Noto Sans SC"/>
              </a:rPr>
              <a:t>模型训练</a:t>
            </a:r>
            <a:endParaRPr lang="en-US" sz="1100"/>
          </a:p>
        </p:txBody>
      </p:sp>
      <p:sp>
        <p:nvSpPr>
          <p:cNvPr id="25" name="AutoShape 25"/>
          <p:cNvSpPr/>
          <p:nvPr/>
        </p:nvSpPr>
        <p:spPr>
          <a:xfrm>
            <a:off x="7404100" y="3746500"/>
            <a:ext cx="1727200" cy="1016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400" b="0" i="0" u="none" strike="noStrike">
                <a:solidFill>
                  <a:srgbClr val="616161"/>
                </a:solidFill>
                <a:latin typeface="Noto Sans SC"/>
                <a:ea typeface="Noto Sans SC"/>
                <a:cs typeface="Noto Sans SC"/>
                <a:sym typeface="Noto Sans SC"/>
              </a:rPr>
              <a:t>使用任务数据集训练模型，更新参数以适应特定任务。</a:t>
            </a:r>
            <a:endParaRPr lang="en-US" sz="1100"/>
          </a:p>
        </p:txBody>
      </p:sp>
      <p:sp>
        <p:nvSpPr>
          <p:cNvPr id="26" name="AutoShape 26"/>
          <p:cNvSpPr/>
          <p:nvPr/>
        </p:nvSpPr>
        <p:spPr>
          <a:xfrm>
            <a:off x="9448800" y="2413000"/>
            <a:ext cx="1981200" cy="2540000"/>
          </a:xfrm>
          <a:prstGeom prst="roundRect">
            <a:avLst>
              <a:gd name="adj" fmla="val 6410"/>
            </a:avLst>
          </a:prstGeom>
          <a:solidFill>
            <a:srgbClr val="FFFFFF">
              <a:alpha val="100000"/>
            </a:srgbClr>
          </a:solidFill>
          <a:ln w="25400" cap="flat" cmpd="sng">
            <a:noFill/>
            <a:prstDash val="solid"/>
            <a:round/>
          </a:ln>
          <a:effectLst>
            <a:outerShdw blurRad="101600" dist="50800" dir="5400000" algn="tl" rotWithShape="0">
              <a:srgbClr val="000000">
                <a:alpha val="5000"/>
              </a:srgbClr>
            </a:outerShdw>
          </a:effectLst>
        </p:spPr>
        <p:txBody>
          <a:bodyPr vert="horz" wrap="square" lIns="63500" tIns="63500" rIns="63500" bIns="63500" rtlCol="0" anchor="ctr"/>
          <a:lstStyle/>
          <a:p>
            <a:pPr algn="ctr">
              <a:defRPr/>
            </a:pPr>
          </a:p>
        </p:txBody>
      </p:sp>
      <p:sp>
        <p:nvSpPr>
          <p:cNvPr id="27" name="AutoShape 27"/>
          <p:cNvSpPr/>
          <p:nvPr/>
        </p:nvSpPr>
        <p:spPr>
          <a:xfrm>
            <a:off x="9448800" y="2413000"/>
            <a:ext cx="1981200" cy="762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8" name="Picture 28"/>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160000" y="2667000"/>
            <a:ext cx="558800" cy="558800"/>
          </a:xfrm>
          <a:prstGeom prst="rect">
            <a:avLst/>
          </a:prstGeom>
        </p:spPr>
      </p:pic>
      <p:sp>
        <p:nvSpPr>
          <p:cNvPr id="29" name="AutoShape 29"/>
          <p:cNvSpPr/>
          <p:nvPr/>
        </p:nvSpPr>
        <p:spPr>
          <a:xfrm>
            <a:off x="9448800" y="3302000"/>
            <a:ext cx="19812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288D1"/>
                </a:solidFill>
                <a:latin typeface="Noto Sans SC"/>
                <a:ea typeface="Noto Sans SC"/>
                <a:cs typeface="Noto Sans SC"/>
                <a:sym typeface="Noto Sans SC"/>
              </a:rPr>
              <a:t>模型评估</a:t>
            </a:r>
            <a:endParaRPr lang="en-US" sz="1100"/>
          </a:p>
        </p:txBody>
      </p:sp>
      <p:sp>
        <p:nvSpPr>
          <p:cNvPr id="30" name="AutoShape 30"/>
          <p:cNvSpPr/>
          <p:nvPr/>
        </p:nvSpPr>
        <p:spPr>
          <a:xfrm>
            <a:off x="9575800" y="3746500"/>
            <a:ext cx="1727200" cy="1016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400" b="0" i="0" u="none" strike="noStrike">
                <a:solidFill>
                  <a:srgbClr val="616161"/>
                </a:solidFill>
                <a:latin typeface="Noto Sans SC"/>
                <a:ea typeface="Noto Sans SC"/>
                <a:cs typeface="Noto Sans SC"/>
                <a:sym typeface="Noto Sans SC"/>
              </a:rPr>
              <a:t>在独立的测试集上评估微调后模型的性能表现。</a:t>
            </a:r>
            <a:endParaRPr lang="en-US" sz="1100"/>
          </a:p>
        </p:txBody>
      </p:sp>
      <p:sp>
        <p:nvSpPr>
          <p:cNvPr id="31" name="AutoShape 31"/>
          <p:cNvSpPr/>
          <p:nvPr/>
        </p:nvSpPr>
        <p:spPr>
          <a:xfrm>
            <a:off x="762000" y="5334000"/>
            <a:ext cx="10668000" cy="762000"/>
          </a:xfrm>
          <a:prstGeom prst="roundRect">
            <a:avLst>
              <a:gd name="adj" fmla="val 16666"/>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sp>
        <p:nvSpPr>
          <p:cNvPr id="32" name="AutoShape 32"/>
          <p:cNvSpPr/>
          <p:nvPr/>
        </p:nvSpPr>
        <p:spPr>
          <a:xfrm>
            <a:off x="1016000" y="5461000"/>
            <a:ext cx="1016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0288D1"/>
                </a:solidFill>
                <a:latin typeface="Noto Sans SC"/>
                <a:ea typeface="Noto Sans SC"/>
                <a:cs typeface="Noto Sans SC"/>
                <a:sym typeface="Noto Sans SC"/>
              </a:rPr>
              <a:t>关键优势：</a:t>
            </a:r>
            <a:r>
              <a:rPr lang="en-US" sz="1600" b="0" i="0" u="none" strike="noStrike">
                <a:solidFill>
                  <a:srgbClr val="424242"/>
                </a:solidFill>
                <a:latin typeface="Noto Sans SC"/>
                <a:ea typeface="Noto Sans SC"/>
                <a:cs typeface="Noto Sans SC"/>
                <a:sym typeface="Noto Sans SC"/>
              </a:rPr>
              <a:t>微调利用预训练模型的通用知识，相比从头训练，具有收敛速度快、数据需求量小、效果更优的特点。</a:t>
            </a:r>
            <a:endParaRPr lang="en-US" sz="11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微调的优势与挑战</a:t>
            </a:r>
            <a:endParaRPr lang="en-US" sz="1100"/>
          </a:p>
        </p:txBody>
      </p:sp>
      <p:sp>
        <p:nvSpPr>
          <p:cNvPr id="3" name="AutoShape 3"/>
          <p:cNvSpPr/>
          <p:nvPr/>
        </p:nvSpPr>
        <p:spPr>
          <a:xfrm>
            <a:off x="762000" y="1397000"/>
            <a:ext cx="5080000" cy="4191000"/>
          </a:xfrm>
          <a:prstGeom prst="roundRect">
            <a:avLst>
              <a:gd name="adj" fmla="val 303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355600" cy="355600"/>
          </a:xfrm>
          <a:prstGeom prst="rect">
            <a:avLst/>
          </a:prstGeom>
        </p:spPr>
      </p:pic>
      <p:sp>
        <p:nvSpPr>
          <p:cNvPr id="5" name="AutoShape 5"/>
          <p:cNvSpPr/>
          <p:nvPr/>
        </p:nvSpPr>
        <p:spPr>
          <a:xfrm>
            <a:off x="1460500" y="1600200"/>
            <a:ext cx="3810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288D1"/>
                </a:solidFill>
                <a:latin typeface="Noto Sans SC"/>
                <a:ea typeface="Noto Sans SC"/>
                <a:cs typeface="Noto Sans SC"/>
                <a:sym typeface="Noto Sans SC"/>
              </a:rPr>
              <a:t>核心优势</a:t>
            </a:r>
            <a:endParaRPr lang="en-US" sz="1100"/>
          </a:p>
        </p:txBody>
      </p:sp>
      <p:cxnSp>
        <p:nvCxnSpPr>
          <p:cNvPr id="6" name="Connector 6"/>
          <p:cNvCxnSpPr/>
          <p:nvPr/>
        </p:nvCxnSpPr>
        <p:spPr>
          <a:xfrm rot="-9549">
            <a:off x="1016009" y="2089150"/>
            <a:ext cx="4572000" cy="12700"/>
          </a:xfrm>
          <a:prstGeom prst="straightConnector1">
            <a:avLst/>
          </a:prstGeom>
          <a:solidFill>
            <a:srgbClr val="DEE0E3">
              <a:alpha val="100000"/>
            </a:srgbClr>
          </a:solidFill>
          <a:ln w="25400" cap="flat" cmpd="sng">
            <a:solidFill>
              <a:srgbClr val="E0F7FA">
                <a:alpha val="100000"/>
              </a:srgbClr>
            </a:solidFill>
            <a:prstDash val="solid"/>
            <a:round/>
            <a:headEnd type="none" w="lg" len="lg"/>
            <a:tailEnd type="none" w="lg" len="lg"/>
          </a:ln>
        </p:spPr>
      </p:cxn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349500"/>
            <a:ext cx="254000" cy="254000"/>
          </a:xfrm>
          <a:prstGeom prst="rect">
            <a:avLst/>
          </a:prstGeom>
        </p:spPr>
      </p:pic>
      <p:sp>
        <p:nvSpPr>
          <p:cNvPr id="8" name="AutoShape 8"/>
          <p:cNvSpPr/>
          <p:nvPr/>
        </p:nvSpPr>
        <p:spPr>
          <a:xfrm>
            <a:off x="1397000" y="2311400"/>
            <a:ext cx="419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24242"/>
                </a:solidFill>
                <a:latin typeface="Noto Sans SC"/>
                <a:ea typeface="Noto Sans SC"/>
                <a:cs typeface="Noto Sans SC"/>
                <a:sym typeface="Noto Sans SC"/>
              </a:rPr>
              <a:t>利用预训练知识</a:t>
            </a:r>
            <a:endParaRPr lang="en-US" sz="1100"/>
          </a:p>
          <a:p>
            <a:pPr indent="0" algn="l">
              <a:lnSpc>
                <a:spcPct val="125000"/>
              </a:lnSpc>
            </a:pPr>
            <a:r>
              <a:rPr lang="en-US" sz="1300" b="0" i="0" u="none" strike="noStrike">
                <a:solidFill>
                  <a:srgbClr val="616161"/>
                </a:solidFill>
                <a:latin typeface="Noto Sans SC"/>
                <a:ea typeface="Noto Sans SC"/>
                <a:cs typeface="Noto Sans SC"/>
                <a:sym typeface="Noto Sans SC"/>
              </a:rPr>
              <a:t>充分利用模型在大规模数据上学到的语言知识，无需从零开始。</a:t>
            </a:r>
            <a:endParaRPr lang="en-US" sz="1300" b="0" i="0" u="none" strike="noStrike">
              <a:solidFill>
                <a:srgbClr val="616161"/>
              </a:solidFill>
              <a:latin typeface="Noto Sans SC"/>
              <a:ea typeface="Noto Sans SC"/>
              <a:cs typeface="Noto Sans SC"/>
              <a:sym typeface="Noto Sans SC"/>
            </a:endParaRPr>
          </a:p>
        </p:txBody>
      </p:sp>
      <p:pic>
        <p:nvPicPr>
          <p:cNvPr id="9" name="Picture 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3111500"/>
            <a:ext cx="254000" cy="254000"/>
          </a:xfrm>
          <a:prstGeom prst="rect">
            <a:avLst/>
          </a:prstGeom>
        </p:spPr>
      </p:pic>
      <p:sp>
        <p:nvSpPr>
          <p:cNvPr id="10" name="AutoShape 10"/>
          <p:cNvSpPr/>
          <p:nvPr/>
        </p:nvSpPr>
        <p:spPr>
          <a:xfrm>
            <a:off x="1397000" y="3073400"/>
            <a:ext cx="419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24242"/>
                </a:solidFill>
                <a:latin typeface="Noto Sans SC"/>
                <a:ea typeface="Noto Sans SC"/>
                <a:cs typeface="Noto Sans SC"/>
                <a:sym typeface="Noto Sans SC"/>
              </a:rPr>
              <a:t>提高性能上限</a:t>
            </a:r>
            <a:endParaRPr lang="en-US" sz="1100"/>
          </a:p>
          <a:p>
            <a:pPr indent="0" algn="l">
              <a:lnSpc>
                <a:spcPct val="125000"/>
              </a:lnSpc>
            </a:pPr>
            <a:r>
              <a:rPr lang="en-US" sz="1300" b="0" i="0" u="none" strike="noStrike">
                <a:solidFill>
                  <a:srgbClr val="616161"/>
                </a:solidFill>
                <a:latin typeface="Noto Sans SC"/>
                <a:ea typeface="Noto Sans SC"/>
                <a:cs typeface="Noto Sans SC"/>
                <a:sym typeface="Noto Sans SC"/>
              </a:rPr>
              <a:t>通常能获得比传统方法更好的分类效果，尤其在复杂任务上。</a:t>
            </a:r>
            <a:endParaRPr lang="en-US" sz="1300" b="0" i="0" u="none" strike="noStrike">
              <a:solidFill>
                <a:srgbClr val="616161"/>
              </a:solidFill>
              <a:latin typeface="Noto Sans SC"/>
              <a:ea typeface="Noto Sans SC"/>
              <a:cs typeface="Noto Sans SC"/>
              <a:sym typeface="Noto Sans SC"/>
            </a:endParaRPr>
          </a:p>
        </p:txBody>
      </p:sp>
      <p:pic>
        <p:nvPicPr>
          <p:cNvPr id="11" name="Picture 1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3873500"/>
            <a:ext cx="254000" cy="254000"/>
          </a:xfrm>
          <a:prstGeom prst="rect">
            <a:avLst/>
          </a:prstGeom>
        </p:spPr>
      </p:pic>
      <p:sp>
        <p:nvSpPr>
          <p:cNvPr id="12" name="AutoShape 12"/>
          <p:cNvSpPr/>
          <p:nvPr/>
        </p:nvSpPr>
        <p:spPr>
          <a:xfrm>
            <a:off x="1397000" y="3835400"/>
            <a:ext cx="419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24242"/>
                </a:solidFill>
                <a:latin typeface="Noto Sans SC"/>
                <a:ea typeface="Noto Sans SC"/>
                <a:cs typeface="Noto Sans SC"/>
                <a:sym typeface="Noto Sans SC"/>
              </a:rPr>
              <a:t>适应特定任务</a:t>
            </a:r>
            <a:endParaRPr lang="en-US" sz="1100"/>
          </a:p>
          <a:p>
            <a:pPr indent="0" algn="l">
              <a:lnSpc>
                <a:spcPct val="125000"/>
              </a:lnSpc>
            </a:pPr>
            <a:r>
              <a:rPr lang="en-US" sz="1300" b="0" i="0" u="none" strike="noStrike">
                <a:solidFill>
                  <a:srgbClr val="616161"/>
                </a:solidFill>
                <a:latin typeface="Noto Sans SC"/>
                <a:ea typeface="Noto Sans SC"/>
                <a:cs typeface="Noto Sans SC"/>
                <a:sym typeface="Noto Sans SC"/>
              </a:rPr>
              <a:t>能够针对特定领域或任务进行深度优化，适配垂直场景需求。</a:t>
            </a:r>
            <a:endParaRPr lang="en-US" sz="1300" b="0" i="0" u="none" strike="noStrike">
              <a:solidFill>
                <a:srgbClr val="616161"/>
              </a:solidFill>
              <a:latin typeface="Noto Sans SC"/>
              <a:ea typeface="Noto Sans SC"/>
              <a:cs typeface="Noto Sans SC"/>
              <a:sym typeface="Noto Sans SC"/>
            </a:endParaRPr>
          </a:p>
        </p:txBody>
      </p:sp>
      <p:sp>
        <p:nvSpPr>
          <p:cNvPr id="13" name="AutoShape 13"/>
          <p:cNvSpPr/>
          <p:nvPr/>
        </p:nvSpPr>
        <p:spPr>
          <a:xfrm>
            <a:off x="6350000" y="1397000"/>
            <a:ext cx="5080000" cy="4191000"/>
          </a:xfrm>
          <a:prstGeom prst="roundRect">
            <a:avLst>
              <a:gd name="adj" fmla="val 3030"/>
            </a:avLst>
          </a:prstGeom>
          <a:solidFill>
            <a:srgbClr val="FFFFFF">
              <a:alpha val="100000"/>
            </a:srgbClr>
          </a:solidFill>
          <a:ln w="25400" cap="flat" cmpd="sng">
            <a:noFill/>
            <a:prstDash val="solid"/>
            <a:round/>
          </a:ln>
          <a:effectLst>
            <a:outerShdw blurRad="127000" dist="50800" dir="5400000" algn="tl" rotWithShape="0">
              <a:srgbClr val="424242">
                <a:alpha val="15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604000" y="1651000"/>
            <a:ext cx="355600" cy="355600"/>
          </a:xfrm>
          <a:prstGeom prst="rect">
            <a:avLst/>
          </a:prstGeom>
        </p:spPr>
      </p:pic>
      <p:sp>
        <p:nvSpPr>
          <p:cNvPr id="15" name="AutoShape 15"/>
          <p:cNvSpPr/>
          <p:nvPr/>
        </p:nvSpPr>
        <p:spPr>
          <a:xfrm>
            <a:off x="7048500" y="1600200"/>
            <a:ext cx="3810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F57C00"/>
                </a:solidFill>
                <a:latin typeface="Noto Sans SC"/>
                <a:ea typeface="Noto Sans SC"/>
                <a:cs typeface="Noto Sans SC"/>
                <a:sym typeface="Noto Sans SC"/>
              </a:rPr>
              <a:t>面临挑战</a:t>
            </a:r>
            <a:endParaRPr lang="en-US" sz="1100"/>
          </a:p>
        </p:txBody>
      </p:sp>
      <p:cxnSp>
        <p:nvCxnSpPr>
          <p:cNvPr id="16" name="Connector 16"/>
          <p:cNvCxnSpPr/>
          <p:nvPr/>
        </p:nvCxnSpPr>
        <p:spPr>
          <a:xfrm rot="-9549">
            <a:off x="6604009" y="2089150"/>
            <a:ext cx="4572000" cy="12700"/>
          </a:xfrm>
          <a:prstGeom prst="straightConnector1">
            <a:avLst/>
          </a:prstGeom>
          <a:solidFill>
            <a:srgbClr val="DEE0E3">
              <a:alpha val="100000"/>
            </a:srgbClr>
          </a:solidFill>
          <a:ln w="25400" cap="flat" cmpd="sng">
            <a:solidFill>
              <a:srgbClr val="E0F7FA">
                <a:alpha val="100000"/>
              </a:srgbClr>
            </a:solidFill>
            <a:prstDash val="solid"/>
            <a:round/>
            <a:headEnd type="none" w="lg" len="lg"/>
            <a:tailEnd type="none" w="lg" len="lg"/>
          </a:ln>
        </p:spPr>
      </p:cxnSp>
      <p:pic>
        <p:nvPicPr>
          <p:cNvPr id="17" name="Picture 17"/>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604000" y="2349500"/>
            <a:ext cx="254000" cy="254000"/>
          </a:xfrm>
          <a:prstGeom prst="rect">
            <a:avLst/>
          </a:prstGeom>
        </p:spPr>
      </p:pic>
      <p:sp>
        <p:nvSpPr>
          <p:cNvPr id="18" name="AutoShape 18"/>
          <p:cNvSpPr/>
          <p:nvPr/>
        </p:nvSpPr>
        <p:spPr>
          <a:xfrm>
            <a:off x="6985000" y="2311400"/>
            <a:ext cx="419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24242"/>
                </a:solidFill>
                <a:latin typeface="Noto Sans SC"/>
                <a:ea typeface="Noto Sans SC"/>
                <a:cs typeface="Noto Sans SC"/>
                <a:sym typeface="Noto Sans SC"/>
              </a:rPr>
              <a:t>计算资源需求高</a:t>
            </a:r>
            <a:endParaRPr lang="en-US" sz="1100"/>
          </a:p>
          <a:p>
            <a:pPr indent="0" algn="l">
              <a:lnSpc>
                <a:spcPct val="125000"/>
              </a:lnSpc>
            </a:pPr>
            <a:r>
              <a:rPr lang="en-US" sz="1300" b="0" i="0" u="none" strike="noStrike">
                <a:solidFill>
                  <a:srgbClr val="616161"/>
                </a:solidFill>
                <a:latin typeface="Noto Sans SC"/>
                <a:ea typeface="Noto Sans SC"/>
                <a:cs typeface="Noto Sans SC"/>
                <a:sym typeface="Noto Sans SC"/>
              </a:rPr>
              <a:t>微调大型模型需要强大的GPU支持，成本较高。</a:t>
            </a:r>
            <a:endParaRPr lang="en-US" sz="1300" b="0" i="0" u="none" strike="noStrike">
              <a:solidFill>
                <a:srgbClr val="616161"/>
              </a:solidFill>
              <a:latin typeface="Noto Sans SC"/>
              <a:ea typeface="Noto Sans SC"/>
              <a:cs typeface="Noto Sans SC"/>
              <a:sym typeface="Noto Sans SC"/>
            </a:endParaRPr>
          </a:p>
        </p:txBody>
      </p:sp>
      <p:pic>
        <p:nvPicPr>
          <p:cNvPr id="19" name="Picture 19"/>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604000" y="3111500"/>
            <a:ext cx="254000" cy="254000"/>
          </a:xfrm>
          <a:prstGeom prst="rect">
            <a:avLst/>
          </a:prstGeom>
        </p:spPr>
      </p:pic>
      <p:sp>
        <p:nvSpPr>
          <p:cNvPr id="20" name="AutoShape 20"/>
          <p:cNvSpPr/>
          <p:nvPr/>
        </p:nvSpPr>
        <p:spPr>
          <a:xfrm>
            <a:off x="6985000" y="3073400"/>
            <a:ext cx="419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24242"/>
                </a:solidFill>
                <a:latin typeface="Noto Sans SC"/>
                <a:ea typeface="Noto Sans SC"/>
                <a:cs typeface="Noto Sans SC"/>
                <a:sym typeface="Noto Sans SC"/>
              </a:rPr>
              <a:t>过拟合风险</a:t>
            </a:r>
            <a:endParaRPr lang="en-US" sz="1100"/>
          </a:p>
          <a:p>
            <a:pPr indent="0" algn="l">
              <a:lnSpc>
                <a:spcPct val="125000"/>
              </a:lnSpc>
            </a:pPr>
            <a:r>
              <a:rPr lang="en-US" sz="1300" b="0" i="0" u="none" strike="noStrike">
                <a:solidFill>
                  <a:srgbClr val="616161"/>
                </a:solidFill>
                <a:latin typeface="Noto Sans SC"/>
                <a:ea typeface="Noto Sans SC"/>
                <a:cs typeface="Noto Sans SC"/>
                <a:sym typeface="Noto Sans SC"/>
              </a:rPr>
              <a:t>如果任务数据量较小，模型容易过度拟合训练数据，泛化能力差。</a:t>
            </a:r>
            <a:endParaRPr lang="en-US" sz="1300" b="0" i="0" u="none" strike="noStrike">
              <a:solidFill>
                <a:srgbClr val="616161"/>
              </a:solidFill>
              <a:latin typeface="Noto Sans SC"/>
              <a:ea typeface="Noto Sans SC"/>
              <a:cs typeface="Noto Sans SC"/>
              <a:sym typeface="Noto Sans SC"/>
            </a:endParaRPr>
          </a:p>
        </p:txBody>
      </p:sp>
      <p:pic>
        <p:nvPicPr>
          <p:cNvPr id="21" name="Picture 21"/>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604000" y="3873500"/>
            <a:ext cx="254000" cy="254000"/>
          </a:xfrm>
          <a:prstGeom prst="rect">
            <a:avLst/>
          </a:prstGeom>
        </p:spPr>
      </p:pic>
      <p:sp>
        <p:nvSpPr>
          <p:cNvPr id="22" name="AutoShape 22"/>
          <p:cNvSpPr/>
          <p:nvPr/>
        </p:nvSpPr>
        <p:spPr>
          <a:xfrm>
            <a:off x="6985000" y="3835400"/>
            <a:ext cx="419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24242"/>
                </a:solidFill>
                <a:latin typeface="Noto Sans SC"/>
                <a:ea typeface="Noto Sans SC"/>
                <a:cs typeface="Noto Sans SC"/>
                <a:sym typeface="Noto Sans SC"/>
              </a:rPr>
              <a:t>需要标注数据</a:t>
            </a:r>
            <a:endParaRPr lang="en-US" sz="1100"/>
          </a:p>
          <a:p>
            <a:pPr indent="0" algn="l">
              <a:lnSpc>
                <a:spcPct val="125000"/>
              </a:lnSpc>
            </a:pPr>
            <a:r>
              <a:rPr lang="en-US" sz="1300" b="0" i="0" u="none" strike="noStrike">
                <a:solidFill>
                  <a:srgbClr val="616161"/>
                </a:solidFill>
                <a:latin typeface="Noto Sans SC"/>
                <a:ea typeface="Noto Sans SC"/>
                <a:cs typeface="Noto Sans SC"/>
                <a:sym typeface="Noto Sans SC"/>
              </a:rPr>
              <a:t>依赖高质量的标注数据，数据获取和清洗成本较高。</a:t>
            </a:r>
            <a:endParaRPr lang="en-US" sz="1300" b="0" i="0" u="none" strike="noStrike">
              <a:solidFill>
                <a:srgbClr val="616161"/>
              </a:solidFill>
              <a:latin typeface="Noto Sans SC"/>
              <a:ea typeface="Noto Sans SC"/>
              <a:cs typeface="Noto Sans SC"/>
              <a:sym typeface="Noto Sans SC"/>
            </a:endParaRPr>
          </a:p>
        </p:txBody>
      </p:sp>
      <p:sp>
        <p:nvSpPr>
          <p:cNvPr id="23" name="AutoShape 23"/>
          <p:cNvSpPr/>
          <p:nvPr/>
        </p:nvSpPr>
        <p:spPr>
          <a:xfrm>
            <a:off x="762000" y="5842000"/>
            <a:ext cx="10668000" cy="635000"/>
          </a:xfrm>
          <a:prstGeom prst="roundRect">
            <a:avLst>
              <a:gd name="adj" fmla="val 20000"/>
            </a:avLst>
          </a:prstGeom>
          <a:solidFill>
            <a:srgbClr val="0288D1">
              <a:alpha val="10000"/>
            </a:srgbClr>
          </a:solidFill>
          <a:ln w="12700" cap="flat" cmpd="sng">
            <a:solidFill>
              <a:srgbClr val="0288D1">
                <a:alpha val="100000"/>
              </a:srgbClr>
            </a:solidFill>
            <a:prstDash val="dash"/>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016000" y="5981700"/>
            <a:ext cx="304800" cy="304800"/>
          </a:xfrm>
          <a:prstGeom prst="rect">
            <a:avLst/>
          </a:prstGeom>
        </p:spPr>
      </p:pic>
      <p:sp>
        <p:nvSpPr>
          <p:cNvPr id="25" name="AutoShape 25"/>
          <p:cNvSpPr/>
          <p:nvPr/>
        </p:nvSpPr>
        <p:spPr>
          <a:xfrm>
            <a:off x="1460500" y="5943600"/>
            <a:ext cx="9652000" cy="431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424242"/>
                </a:solidFill>
                <a:latin typeface="Noto Sans SC"/>
                <a:ea typeface="Noto Sans SC"/>
                <a:cs typeface="Noto Sans SC"/>
                <a:sym typeface="Noto Sans SC"/>
              </a:rPr>
              <a:t>总结：</a:t>
            </a:r>
            <a:r>
              <a:rPr lang="en-US" sz="1400" b="0" i="0" u="none" strike="noStrike">
                <a:solidFill>
                  <a:srgbClr val="424242"/>
                </a:solidFill>
                <a:latin typeface="Noto Sans SC"/>
                <a:ea typeface="Noto Sans SC"/>
                <a:cs typeface="Noto Sans SC"/>
                <a:sym typeface="Noto Sans SC"/>
              </a:rPr>
              <a:t>在选择微调时，需权衡资源投入与性能提升，根据具体任务场景决定策略。</a:t>
            </a:r>
            <a:endParaRPr lang="en-US" sz="11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35000" y="-635000"/>
            <a:ext cx="3810000" cy="3810000"/>
          </a:xfrm>
          <a:prstGeom prst="ellipse">
            <a:avLst/>
          </a:prstGeom>
          <a:solidFill>
            <a:srgbClr val="0288D1">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287000" y="4953000"/>
            <a:ext cx="2540000" cy="2540000"/>
          </a:xfrm>
          <a:prstGeom prst="ellipse">
            <a:avLst/>
          </a:prstGeom>
          <a:solidFill>
            <a:srgbClr val="0288D1">
              <a:alpha val="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1016000" y="1397000"/>
            <a:ext cx="10160000" cy="4064000"/>
          </a:xfrm>
          <a:prstGeom prst="roundRect">
            <a:avLst>
              <a:gd name="adj" fmla="val 3125"/>
            </a:avLst>
          </a:prstGeom>
          <a:solidFill>
            <a:srgbClr val="FFFFFF">
              <a:alpha val="100000"/>
            </a:srgbClr>
          </a:solidFill>
          <a:ln w="25400" cap="flat" cmpd="sng">
            <a:noFill/>
            <a:prstDash val="solid"/>
            <a:round/>
          </a:ln>
          <a:effectLst>
            <a:outerShdw blurRad="254000" dist="127000" dir="5400000" algn="tl" rotWithShape="0">
              <a:srgbClr val="0288D1">
                <a:alpha val="15000"/>
              </a:srgbClr>
            </a:outerShdw>
          </a:effectLst>
        </p:spPr>
        <p:txBody>
          <a:bodyPr vert="horz" wrap="square" lIns="63500" tIns="63500" rIns="63500" bIns="63500" rtlCol="0" anchor="ctr"/>
          <a:lstStyle/>
          <a:p>
            <a:pPr algn="ctr">
              <a:defRPr/>
            </a:pPr>
          </a:p>
        </p:txBody>
      </p:sp>
      <p:sp>
        <p:nvSpPr>
          <p:cNvPr id="5" name="AutoShape 5"/>
          <p:cNvSpPr/>
          <p:nvPr/>
        </p:nvSpPr>
        <p:spPr>
          <a:xfrm>
            <a:off x="1397000" y="1778000"/>
            <a:ext cx="1778000" cy="406400"/>
          </a:xfrm>
          <a:prstGeom prst="roundRect">
            <a:avLst>
              <a:gd name="adj" fmla="val 50000"/>
            </a:avLst>
          </a:prstGeom>
          <a:solidFill>
            <a:srgbClr val="0288D1">
              <a:alpha val="1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0288D1"/>
                </a:solidFill>
                <a:latin typeface="Noto Sans SC"/>
                <a:ea typeface="Noto Sans SC"/>
                <a:cs typeface="Noto Sans SC"/>
                <a:sym typeface="Noto Sans SC"/>
              </a:rPr>
              <a:t>CHAPTER 13.3</a:t>
            </a:r>
            <a:endParaRPr lang="en-US" sz="1100"/>
          </a:p>
        </p:txBody>
      </p:sp>
      <p:sp>
        <p:nvSpPr>
          <p:cNvPr id="6" name="AutoShape 6"/>
          <p:cNvSpPr/>
          <p:nvPr/>
        </p:nvSpPr>
        <p:spPr>
          <a:xfrm>
            <a:off x="1841500" y="2286000"/>
            <a:ext cx="8496300" cy="508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200" b="1" i="0" u="none" strike="noStrike">
                <a:solidFill>
                  <a:srgbClr val="0288D1"/>
                </a:solidFill>
                <a:latin typeface="Noto Sans SC"/>
                <a:ea typeface="Noto Sans SC"/>
                <a:cs typeface="Noto Sans SC"/>
                <a:sym typeface="Noto Sans SC"/>
              </a:rPr>
              <a:t>数字人直播间问答分类项目实战</a:t>
            </a:r>
            <a:endParaRPr lang="en-US" sz="1100"/>
          </a:p>
        </p:txBody>
      </p:sp>
      <p:cxnSp>
        <p:nvCxnSpPr>
          <p:cNvPr id="7" name="Connector 7"/>
          <p:cNvCxnSpPr/>
          <p:nvPr/>
        </p:nvCxnSpPr>
        <p:spPr>
          <a:xfrm rot="-5729">
            <a:off x="2286005" y="2978150"/>
            <a:ext cx="7620000" cy="12700"/>
          </a:xfrm>
          <a:prstGeom prst="straightConnector1">
            <a:avLst/>
          </a:prstGeom>
          <a:solidFill>
            <a:srgbClr val="DEE0E3">
              <a:alpha val="100000"/>
            </a:srgbClr>
          </a:solidFill>
          <a:ln w="25400" cap="flat" cmpd="sng">
            <a:solidFill>
              <a:srgbClr val="E0F7FA">
                <a:alpha val="100000"/>
              </a:srgbClr>
            </a:solidFill>
            <a:prstDash val="solid"/>
            <a:round/>
            <a:headEnd type="none" w="lg" len="lg"/>
            <a:tailEnd type="none" w="lg" len="lg"/>
          </a:ln>
        </p:spPr>
      </p:cxnSp>
      <p:sp>
        <p:nvSpPr>
          <p:cNvPr id="8" name="AutoShape 8"/>
          <p:cNvSpPr/>
          <p:nvPr/>
        </p:nvSpPr>
        <p:spPr>
          <a:xfrm>
            <a:off x="1524000" y="3238500"/>
            <a:ext cx="9144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a:solidFill>
                  <a:srgbClr val="424242"/>
                </a:solidFill>
                <a:latin typeface="Noto Sans SC"/>
                <a:ea typeface="Noto Sans SC"/>
                <a:cs typeface="Noto Sans SC"/>
                <a:sym typeface="Noto Sans SC"/>
              </a:rPr>
              <a:t>介绍直播间问答分类场景和基本流程，并对直播间的问答数据进行实际项目实战，巩固和应用前述原理和方法。</a:t>
            </a:r>
            <a:endParaRPr lang="en-US" sz="1100"/>
          </a:p>
        </p:txBody>
      </p:sp>
      <p:pic>
        <p:nvPicPr>
          <p:cNvPr id="9" name="Picture 9"/>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683000" y="4445000"/>
            <a:ext cx="406400" cy="406400"/>
          </a:xfrm>
          <a:prstGeom prst="rect">
            <a:avLst/>
          </a:prstGeom>
        </p:spPr>
      </p:pic>
      <p:sp>
        <p:nvSpPr>
          <p:cNvPr id="10" name="AutoShape 10"/>
          <p:cNvSpPr/>
          <p:nvPr/>
        </p:nvSpPr>
        <p:spPr>
          <a:xfrm>
            <a:off x="3251200" y="4953000"/>
            <a:ext cx="1270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424242"/>
                </a:solidFill>
                <a:latin typeface="Noto Sans SC"/>
                <a:ea typeface="Noto Sans SC"/>
                <a:cs typeface="Noto Sans SC"/>
                <a:sym typeface="Noto Sans SC"/>
              </a:rPr>
              <a:t>场景解析</a:t>
            </a:r>
            <a:endParaRPr lang="en-US" sz="1100"/>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892800" y="4445000"/>
            <a:ext cx="406400" cy="406400"/>
          </a:xfrm>
          <a:prstGeom prst="rect">
            <a:avLst/>
          </a:prstGeom>
        </p:spPr>
      </p:pic>
      <p:sp>
        <p:nvSpPr>
          <p:cNvPr id="12" name="AutoShape 12"/>
          <p:cNvSpPr/>
          <p:nvPr/>
        </p:nvSpPr>
        <p:spPr>
          <a:xfrm>
            <a:off x="5461000" y="4953000"/>
            <a:ext cx="1270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424242"/>
                </a:solidFill>
                <a:latin typeface="Noto Sans SC"/>
                <a:ea typeface="Noto Sans SC"/>
                <a:cs typeface="Noto Sans SC"/>
                <a:sym typeface="Noto Sans SC"/>
              </a:rPr>
              <a:t>流程梳理</a:t>
            </a:r>
            <a:endParaRPr lang="en-US" sz="1100"/>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02600" y="4445000"/>
            <a:ext cx="406400" cy="406400"/>
          </a:xfrm>
          <a:prstGeom prst="rect">
            <a:avLst/>
          </a:prstGeom>
        </p:spPr>
      </p:pic>
      <p:sp>
        <p:nvSpPr>
          <p:cNvPr id="14" name="AutoShape 14"/>
          <p:cNvSpPr/>
          <p:nvPr/>
        </p:nvSpPr>
        <p:spPr>
          <a:xfrm>
            <a:off x="7670800" y="4953000"/>
            <a:ext cx="1270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424242"/>
                </a:solidFill>
                <a:latin typeface="Noto Sans SC"/>
                <a:ea typeface="Noto Sans SC"/>
                <a:cs typeface="Noto Sans SC"/>
                <a:sym typeface="Noto Sans SC"/>
              </a:rPr>
              <a:t>项目实战</a:t>
            </a:r>
            <a:endParaRPr lang="en-US" sz="11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35687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项目背景与目标</a:t>
            </a:r>
            <a:endParaRPr lang="en-US" sz="1100"/>
          </a:p>
        </p:txBody>
      </p:sp>
      <p:sp>
        <p:nvSpPr>
          <p:cNvPr id="3" name="AutoShape 3"/>
          <p:cNvSpPr/>
          <p:nvPr/>
        </p:nvSpPr>
        <p:spPr>
          <a:xfrm>
            <a:off x="762000" y="1397000"/>
            <a:ext cx="5080000" cy="2032000"/>
          </a:xfrm>
          <a:prstGeom prst="roundRect">
            <a:avLst>
              <a:gd name="adj" fmla="val 625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406400" cy="406400"/>
          </a:xfrm>
          <a:prstGeom prst="rect">
            <a:avLst/>
          </a:prstGeom>
        </p:spPr>
      </p:pic>
      <p:sp>
        <p:nvSpPr>
          <p:cNvPr id="5" name="AutoShape 5"/>
          <p:cNvSpPr/>
          <p:nvPr/>
        </p:nvSpPr>
        <p:spPr>
          <a:xfrm>
            <a:off x="1524000" y="16002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项目背景</a:t>
            </a:r>
            <a:endParaRPr lang="en-US" sz="1100"/>
          </a:p>
        </p:txBody>
      </p:sp>
      <p:sp>
        <p:nvSpPr>
          <p:cNvPr id="6" name="AutoShape 6"/>
          <p:cNvSpPr/>
          <p:nvPr/>
        </p:nvSpPr>
        <p:spPr>
          <a:xfrm>
            <a:off x="1016000" y="2095500"/>
            <a:ext cx="4572000" cy="1143000"/>
          </a:xfrm>
          <a:prstGeom prst="rect">
            <a:avLst/>
          </a:prstGeom>
          <a:noFill/>
          <a:ln w="12700" cap="flat" cmpd="sng">
            <a:noFill/>
            <a:prstDash val="solid"/>
            <a:round/>
          </a:ln>
        </p:spPr>
        <p:txBody>
          <a:bodyPr vert="horz" wrap="square" lIns="0" tIns="0" rIns="0" bIns="0" rtlCol="0" anchor="ctr" anchorCtr="0"/>
          <a:lstStyle/>
          <a:p>
            <a:pPr marL="190500" indent="-190500" algn="l">
              <a:lnSpc>
                <a:spcPct val="108000"/>
              </a:lnSpc>
              <a:buClr>
                <a:srgbClr val="424242"/>
              </a:buClr>
              <a:buChar char="•"/>
              <a:defRPr/>
            </a:pPr>
            <a:r>
              <a:rPr lang="en-US" sz="1500" b="0" i="0" u="none" strike="noStrike">
                <a:solidFill>
                  <a:srgbClr val="424242"/>
                </a:solidFill>
                <a:latin typeface="Noto Sans SC"/>
                <a:ea typeface="Noto Sans SC"/>
                <a:cs typeface="Noto Sans SC"/>
                <a:sym typeface="Noto Sans SC"/>
              </a:rPr>
              <a:t>数字人直播间已成为重要的营销和互动平台。</a:t>
            </a:r>
            <a:endParaRPr lang="en-US" sz="1100"/>
          </a:p>
          <a:p>
            <a:pPr marL="190500" indent="-190500" algn="l">
              <a:lnSpc>
                <a:spcPct val="108000"/>
              </a:lnSpc>
              <a:buClr>
                <a:srgbClr val="424242"/>
              </a:buClr>
              <a:buChar char="•"/>
            </a:pPr>
            <a:r>
              <a:rPr lang="en-US" sz="1500" b="0" i="0" u="none" strike="noStrike">
                <a:solidFill>
                  <a:srgbClr val="424242"/>
                </a:solidFill>
                <a:latin typeface="Noto Sans SC"/>
                <a:ea typeface="Noto Sans SC"/>
                <a:cs typeface="Noto Sans SC"/>
                <a:sym typeface="Noto Sans SC"/>
              </a:rPr>
              <a:t>用户在直播间会提出大量问题，人工处理效率低。</a:t>
            </a:r>
            <a:endParaRPr lang="en-US" sz="1500" b="0" i="0" u="none" strike="noStrike">
              <a:solidFill>
                <a:srgbClr val="424242"/>
              </a:solidFill>
              <a:latin typeface="Noto Sans SC"/>
              <a:ea typeface="Noto Sans SC"/>
              <a:cs typeface="Noto Sans SC"/>
              <a:sym typeface="Noto Sans SC"/>
            </a:endParaRPr>
          </a:p>
        </p:txBody>
      </p:sp>
      <p:sp>
        <p:nvSpPr>
          <p:cNvPr id="7" name="AutoShape 7"/>
          <p:cNvSpPr/>
          <p:nvPr/>
        </p:nvSpPr>
        <p:spPr>
          <a:xfrm>
            <a:off x="762000" y="3683000"/>
            <a:ext cx="5080000" cy="2413000"/>
          </a:xfrm>
          <a:prstGeom prst="roundRect">
            <a:avLst>
              <a:gd name="adj" fmla="val 5263"/>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937000"/>
            <a:ext cx="406400" cy="406400"/>
          </a:xfrm>
          <a:prstGeom prst="rect">
            <a:avLst/>
          </a:prstGeom>
        </p:spPr>
      </p:pic>
      <p:sp>
        <p:nvSpPr>
          <p:cNvPr id="9" name="AutoShape 9"/>
          <p:cNvSpPr/>
          <p:nvPr/>
        </p:nvSpPr>
        <p:spPr>
          <a:xfrm>
            <a:off x="1524000" y="38862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项目目标</a:t>
            </a:r>
            <a:endParaRPr lang="en-US" sz="1100"/>
          </a:p>
        </p:txBody>
      </p:sp>
      <p:sp>
        <p:nvSpPr>
          <p:cNvPr id="10" name="AutoShape 10"/>
          <p:cNvSpPr/>
          <p:nvPr/>
        </p:nvSpPr>
        <p:spPr>
          <a:xfrm>
            <a:off x="1016000" y="4381500"/>
            <a:ext cx="4572000" cy="1524000"/>
          </a:xfrm>
          <a:prstGeom prst="rect">
            <a:avLst/>
          </a:prstGeom>
          <a:noFill/>
          <a:ln w="12700" cap="flat" cmpd="sng">
            <a:noFill/>
            <a:prstDash val="solid"/>
            <a:round/>
          </a:ln>
        </p:spPr>
        <p:txBody>
          <a:bodyPr vert="horz" wrap="square" lIns="0" tIns="0" rIns="0" bIns="0" rtlCol="0" anchor="ctr" anchorCtr="0"/>
          <a:lstStyle/>
          <a:p>
            <a:pPr marL="190500" indent="-190500" algn="l">
              <a:lnSpc>
                <a:spcPct val="108000"/>
              </a:lnSpc>
              <a:buClr>
                <a:srgbClr val="424242"/>
              </a:buClr>
              <a:buChar char="•"/>
              <a:defRPr/>
            </a:pPr>
            <a:r>
              <a:rPr lang="en-US" sz="1500" b="1" i="0" u="none" strike="noStrike">
                <a:solidFill>
                  <a:srgbClr val="424242"/>
                </a:solidFill>
                <a:latin typeface="Noto Sans SC"/>
                <a:ea typeface="Noto Sans SC"/>
                <a:cs typeface="Noto Sans SC"/>
                <a:sym typeface="Noto Sans SC"/>
              </a:rPr>
              <a:t>构建自动问答分类系统：</a:t>
            </a:r>
            <a:r>
              <a:rPr lang="en-US" sz="1500" b="0" i="0" u="none" strike="noStrike">
                <a:solidFill>
                  <a:srgbClr val="424242"/>
                </a:solidFill>
                <a:latin typeface="Noto Sans SC"/>
                <a:ea typeface="Noto Sans SC"/>
                <a:cs typeface="Noto Sans SC"/>
                <a:sym typeface="Noto Sans SC"/>
              </a:rPr>
              <a:t>实时识别用户问题类别。</a:t>
            </a:r>
            <a:endParaRPr lang="en-US" sz="1100"/>
          </a:p>
          <a:p>
            <a:pPr marL="190500" indent="-190500" algn="l">
              <a:lnSpc>
                <a:spcPct val="108000"/>
              </a:lnSpc>
              <a:buClr>
                <a:srgbClr val="424242"/>
              </a:buClr>
              <a:buChar char="•"/>
            </a:pPr>
            <a:r>
              <a:rPr lang="en-US" sz="1500" b="1" i="0" u="none" strike="noStrike">
                <a:solidFill>
                  <a:srgbClr val="424242"/>
                </a:solidFill>
                <a:latin typeface="Noto Sans SC"/>
                <a:ea typeface="Noto Sans SC"/>
                <a:cs typeface="Noto Sans SC"/>
                <a:sym typeface="Noto Sans SC"/>
              </a:rPr>
              <a:t>提升用户体验：</a:t>
            </a:r>
            <a:r>
              <a:rPr lang="en-US" sz="1500" b="0" i="0" u="none" strike="noStrike">
                <a:solidFill>
                  <a:srgbClr val="424242"/>
                </a:solidFill>
                <a:latin typeface="Noto Sans SC"/>
                <a:ea typeface="Noto Sans SC"/>
                <a:cs typeface="Noto Sans SC"/>
                <a:sym typeface="Noto Sans SC"/>
              </a:rPr>
              <a:t>快速分配问题给对应客服/数字人。</a:t>
            </a:r>
            <a:endParaRPr lang="en-US" sz="1500" b="0" i="0" u="none" strike="noStrike">
              <a:solidFill>
                <a:srgbClr val="424242"/>
              </a:solidFill>
              <a:latin typeface="Noto Sans SC"/>
              <a:ea typeface="Noto Sans SC"/>
              <a:cs typeface="Noto Sans SC"/>
              <a:sym typeface="Noto Sans SC"/>
            </a:endParaRPr>
          </a:p>
          <a:p>
            <a:pPr marL="190500" indent="-190500" algn="l">
              <a:lnSpc>
                <a:spcPct val="108000"/>
              </a:lnSpc>
              <a:buClr>
                <a:srgbClr val="424242"/>
              </a:buClr>
              <a:buChar char="•"/>
            </a:pPr>
            <a:r>
              <a:rPr lang="en-US" sz="1500" b="1" i="0" u="none" strike="noStrike">
                <a:solidFill>
                  <a:srgbClr val="424242"/>
                </a:solidFill>
                <a:latin typeface="Noto Sans SC"/>
                <a:ea typeface="Noto Sans SC"/>
                <a:cs typeface="Noto Sans SC"/>
                <a:sym typeface="Noto Sans SC"/>
              </a:rPr>
              <a:t>优化运营效率：</a:t>
            </a:r>
            <a:r>
              <a:rPr lang="en-US" sz="1500" b="0" i="0" u="none" strike="noStrike">
                <a:solidFill>
                  <a:srgbClr val="424242"/>
                </a:solidFill>
                <a:latin typeface="Noto Sans SC"/>
                <a:ea typeface="Noto Sans SC"/>
                <a:cs typeface="Noto Sans SC"/>
                <a:sym typeface="Noto Sans SC"/>
              </a:rPr>
              <a:t>减少人工干预，降低成本。</a:t>
            </a:r>
            <a:endParaRPr lang="en-US" sz="1500" b="0" i="0" u="none" strike="noStrike">
              <a:solidFill>
                <a:srgbClr val="424242"/>
              </a:solidFill>
              <a:latin typeface="Noto Sans SC"/>
              <a:ea typeface="Noto Sans SC"/>
              <a:cs typeface="Noto Sans SC"/>
              <a:sym typeface="Noto Sans SC"/>
            </a:endParaRPr>
          </a:p>
        </p:txBody>
      </p:sp>
      <p:sp>
        <p:nvSpPr>
          <p:cNvPr id="11" name="AutoShape 11"/>
          <p:cNvSpPr/>
          <p:nvPr/>
        </p:nvSpPr>
        <p:spPr>
          <a:xfrm>
            <a:off x="6223000" y="1397000"/>
            <a:ext cx="4826000" cy="4699000"/>
          </a:xfrm>
          <a:prstGeom prst="roundRect">
            <a:avLst>
              <a:gd name="adj" fmla="val 2702"/>
            </a:avLst>
          </a:prstGeom>
          <a:solidFill>
            <a:srgbClr val="FFFFFF">
              <a:alpha val="60000"/>
            </a:srgbClr>
          </a:solidFill>
          <a:ln w="12700" cap="flat" cmpd="sng">
            <a:solidFill>
              <a:srgbClr val="0288D1">
                <a:alpha val="100000"/>
              </a:srgbClr>
            </a:solidFill>
            <a:prstDash val="dash"/>
            <a:round/>
          </a:ln>
        </p:spPr>
        <p:txBody>
          <a:bodyPr vert="horz" wrap="square" lIns="63500" tIns="63500" rIns="63500" bIns="63500" rtlCol="0" anchor="ctr"/>
          <a:lstStyle/>
          <a:p>
            <a:pPr algn="ctr">
              <a:defRPr/>
            </a:pPr>
          </a:p>
        </p:txBody>
      </p:sp>
      <p:sp>
        <p:nvSpPr>
          <p:cNvPr id="12" name="AutoShape 12"/>
          <p:cNvSpPr/>
          <p:nvPr/>
        </p:nvSpPr>
        <p:spPr>
          <a:xfrm>
            <a:off x="6477000" y="1651000"/>
            <a:ext cx="4318000" cy="1016000"/>
          </a:xfrm>
          <a:prstGeom prst="roundRect">
            <a:avLst>
              <a:gd name="adj" fmla="val 12500"/>
            </a:avLst>
          </a:prstGeom>
          <a:solidFill>
            <a:srgbClr val="FFFFFF">
              <a:alpha val="100000"/>
            </a:srgbClr>
          </a:solidFill>
          <a:ln w="25400" cap="flat" cmpd="sng">
            <a:noFill/>
            <a:prstDash val="solid"/>
            <a:round/>
          </a:ln>
          <a:effectLst>
            <a:outerShdw blurRad="63500" dist="25400" dir="2700000" algn="tl" rotWithShape="0">
              <a:srgbClr val="000000">
                <a:alpha val="5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731000" y="1905000"/>
            <a:ext cx="508000" cy="508000"/>
          </a:xfrm>
          <a:prstGeom prst="rect">
            <a:avLst/>
          </a:prstGeom>
        </p:spPr>
      </p:pic>
      <p:sp>
        <p:nvSpPr>
          <p:cNvPr id="14" name="AutoShape 14"/>
          <p:cNvSpPr/>
          <p:nvPr/>
        </p:nvSpPr>
        <p:spPr>
          <a:xfrm>
            <a:off x="7366000" y="1778000"/>
            <a:ext cx="317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24242"/>
                </a:solidFill>
                <a:latin typeface="Noto Sans SC"/>
                <a:ea typeface="Noto Sans SC"/>
                <a:cs typeface="Noto Sans SC"/>
                <a:sym typeface="Noto Sans SC"/>
              </a:rPr>
              <a:t>海量用户提问</a:t>
            </a:r>
            <a:endParaRPr lang="en-US" sz="1100"/>
          </a:p>
          <a:p>
            <a:pPr indent="0" algn="l">
              <a:lnSpc>
                <a:spcPct val="125000"/>
              </a:lnSpc>
            </a:pPr>
            <a:r>
              <a:rPr lang="en-US" sz="1300" b="0" i="0" u="none" strike="noStrike">
                <a:solidFill>
                  <a:srgbClr val="757575"/>
                </a:solidFill>
                <a:latin typeface="Noto Sans SC"/>
                <a:ea typeface="Noto Sans SC"/>
                <a:cs typeface="Noto Sans SC"/>
                <a:sym typeface="Noto Sans SC"/>
              </a:rPr>
              <a:t>直播间高频互动，问题类型多样</a:t>
            </a:r>
            <a:endParaRPr lang="en-US" sz="1300" b="0" i="0" u="none" strike="noStrike">
              <a:solidFill>
                <a:srgbClr val="757575"/>
              </a:solidFill>
              <a:latin typeface="Noto Sans SC"/>
              <a:ea typeface="Noto Sans SC"/>
              <a:cs typeface="Noto Sans SC"/>
              <a:sym typeface="Noto Sans SC"/>
            </a:endParaRPr>
          </a:p>
        </p:txBody>
      </p:sp>
      <p:pic>
        <p:nvPicPr>
          <p:cNvPr id="15" name="Picture 1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509000" y="2730500"/>
            <a:ext cx="304800" cy="304800"/>
          </a:xfrm>
          <a:prstGeom prst="rect">
            <a:avLst/>
          </a:prstGeom>
        </p:spPr>
      </p:pic>
      <p:sp>
        <p:nvSpPr>
          <p:cNvPr id="16" name="AutoShape 16"/>
          <p:cNvSpPr/>
          <p:nvPr/>
        </p:nvSpPr>
        <p:spPr>
          <a:xfrm>
            <a:off x="6477000" y="3111500"/>
            <a:ext cx="4318000" cy="1016000"/>
          </a:xfrm>
          <a:prstGeom prst="roundRect">
            <a:avLst>
              <a:gd name="adj" fmla="val 12500"/>
            </a:avLst>
          </a:prstGeom>
          <a:solidFill>
            <a:srgbClr val="FFFFFF">
              <a:alpha val="100000"/>
            </a:srgbClr>
          </a:solidFill>
          <a:ln w="25400" cap="flat" cmpd="sng">
            <a:noFill/>
            <a:prstDash val="solid"/>
            <a:round/>
          </a:ln>
          <a:effectLst>
            <a:outerShdw blurRad="63500" dist="25400" dir="2700000" algn="tl" rotWithShape="0">
              <a:srgbClr val="000000">
                <a:alpha val="5000"/>
              </a:srgbClr>
            </a:outerShdw>
          </a:effectLst>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731000" y="3365500"/>
            <a:ext cx="508000" cy="508000"/>
          </a:xfrm>
          <a:prstGeom prst="rect">
            <a:avLst/>
          </a:prstGeom>
        </p:spPr>
      </p:pic>
      <p:sp>
        <p:nvSpPr>
          <p:cNvPr id="18" name="AutoShape 18"/>
          <p:cNvSpPr/>
          <p:nvPr/>
        </p:nvSpPr>
        <p:spPr>
          <a:xfrm>
            <a:off x="7366000" y="3238500"/>
            <a:ext cx="317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24242"/>
                </a:solidFill>
                <a:latin typeface="Noto Sans SC"/>
                <a:ea typeface="Noto Sans SC"/>
                <a:cs typeface="Noto Sans SC"/>
                <a:sym typeface="Noto Sans SC"/>
              </a:rPr>
              <a:t>AI 智能分类系统</a:t>
            </a:r>
            <a:endParaRPr lang="en-US" sz="1100"/>
          </a:p>
          <a:p>
            <a:pPr indent="0" algn="l">
              <a:lnSpc>
                <a:spcPct val="125000"/>
              </a:lnSpc>
            </a:pPr>
            <a:r>
              <a:rPr lang="en-US" sz="1300" b="0" i="0" u="none" strike="noStrike">
                <a:solidFill>
                  <a:srgbClr val="757575"/>
                </a:solidFill>
                <a:latin typeface="Noto Sans SC"/>
                <a:ea typeface="Noto Sans SC"/>
                <a:cs typeface="Noto Sans SC"/>
                <a:sym typeface="Noto Sans SC"/>
              </a:rPr>
              <a:t>实时识别意图，精准匹配类别</a:t>
            </a:r>
            <a:endParaRPr lang="en-US" sz="1300" b="0" i="0" u="none" strike="noStrike">
              <a:solidFill>
                <a:srgbClr val="757575"/>
              </a:solidFill>
              <a:latin typeface="Noto Sans SC"/>
              <a:ea typeface="Noto Sans SC"/>
              <a:cs typeface="Noto Sans SC"/>
              <a:sym typeface="Noto Sans SC"/>
            </a:endParaRPr>
          </a:p>
        </p:txBody>
      </p:sp>
      <p:pic>
        <p:nvPicPr>
          <p:cNvPr id="19" name="Picture 1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509000" y="4191000"/>
            <a:ext cx="304800" cy="304800"/>
          </a:xfrm>
          <a:prstGeom prst="rect">
            <a:avLst/>
          </a:prstGeom>
        </p:spPr>
      </p:pic>
      <p:sp>
        <p:nvSpPr>
          <p:cNvPr id="20" name="AutoShape 20"/>
          <p:cNvSpPr/>
          <p:nvPr/>
        </p:nvSpPr>
        <p:spPr>
          <a:xfrm>
            <a:off x="6477000" y="4572000"/>
            <a:ext cx="4318000" cy="1016000"/>
          </a:xfrm>
          <a:prstGeom prst="roundRect">
            <a:avLst>
              <a:gd name="adj" fmla="val 12500"/>
            </a:avLst>
          </a:prstGeom>
          <a:solidFill>
            <a:srgbClr val="FFFFFF">
              <a:alpha val="100000"/>
            </a:srgbClr>
          </a:solidFill>
          <a:ln w="25400" cap="flat" cmpd="sng">
            <a:noFill/>
            <a:prstDash val="solid"/>
            <a:round/>
          </a:ln>
          <a:effectLst>
            <a:outerShdw blurRad="63500" dist="25400" dir="2700000" algn="tl" rotWithShape="0">
              <a:srgbClr val="000000">
                <a:alpha val="5000"/>
              </a:srgbClr>
            </a:outerShdw>
          </a:effectLst>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731000" y="4826000"/>
            <a:ext cx="508000" cy="508000"/>
          </a:xfrm>
          <a:prstGeom prst="rect">
            <a:avLst/>
          </a:prstGeom>
        </p:spPr>
      </p:pic>
      <p:sp>
        <p:nvSpPr>
          <p:cNvPr id="22" name="AutoShape 22"/>
          <p:cNvSpPr/>
          <p:nvPr/>
        </p:nvSpPr>
        <p:spPr>
          <a:xfrm>
            <a:off x="7366000" y="4699000"/>
            <a:ext cx="317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24242"/>
                </a:solidFill>
                <a:latin typeface="Noto Sans SC"/>
                <a:ea typeface="Noto Sans SC"/>
                <a:cs typeface="Noto Sans SC"/>
                <a:sym typeface="Noto Sans SC"/>
              </a:rPr>
              <a:t>自动分发与回复</a:t>
            </a:r>
            <a:endParaRPr lang="en-US" sz="1100"/>
          </a:p>
          <a:p>
            <a:pPr indent="0" algn="l">
              <a:lnSpc>
                <a:spcPct val="125000"/>
              </a:lnSpc>
            </a:pPr>
            <a:r>
              <a:rPr lang="en-US" sz="1300" b="0" i="0" u="none" strike="noStrike">
                <a:solidFill>
                  <a:srgbClr val="757575"/>
                </a:solidFill>
                <a:latin typeface="Noto Sans SC"/>
                <a:ea typeface="Noto Sans SC"/>
                <a:cs typeface="Noto Sans SC"/>
                <a:sym typeface="Noto Sans SC"/>
              </a:rPr>
              <a:t>快速分配给客服或数字人，降低成本</a:t>
            </a:r>
            <a:endParaRPr lang="en-US" sz="1300" b="0" i="0" u="none" strike="noStrike">
              <a:solidFill>
                <a:srgbClr val="757575"/>
              </a:solidFill>
              <a:latin typeface="Noto Sans SC"/>
              <a:ea typeface="Noto Sans SC"/>
              <a:cs typeface="Noto Sans SC"/>
              <a:sym typeface="Noto Sans SC"/>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402336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直播间问答数据特点</a:t>
            </a:r>
            <a:endParaRPr lang="en-US" sz="1100"/>
          </a:p>
        </p:txBody>
      </p:sp>
      <p:sp>
        <p:nvSpPr>
          <p:cNvPr id="3" name="AutoShape 3"/>
          <p:cNvSpPr/>
          <p:nvPr/>
        </p:nvSpPr>
        <p:spPr>
          <a:xfrm>
            <a:off x="762000" y="1397000"/>
            <a:ext cx="3302000" cy="1524000"/>
          </a:xfrm>
          <a:prstGeom prst="roundRect">
            <a:avLst>
              <a:gd name="adj" fmla="val 8333"/>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406400" cy="406400"/>
          </a:xfrm>
          <a:prstGeom prst="rect">
            <a:avLst/>
          </a:prstGeom>
        </p:spPr>
      </p:pic>
      <p:sp>
        <p:nvSpPr>
          <p:cNvPr id="5" name="AutoShape 5"/>
          <p:cNvSpPr/>
          <p:nvPr/>
        </p:nvSpPr>
        <p:spPr>
          <a:xfrm>
            <a:off x="1524000" y="1600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实时性</a:t>
            </a:r>
            <a:endParaRPr lang="en-US" sz="1100"/>
          </a:p>
        </p:txBody>
      </p:sp>
      <p:sp>
        <p:nvSpPr>
          <p:cNvPr id="6" name="AutoShape 6"/>
          <p:cNvSpPr/>
          <p:nvPr/>
        </p:nvSpPr>
        <p:spPr>
          <a:xfrm>
            <a:off x="1016000" y="2159000"/>
            <a:ext cx="279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424242"/>
                </a:solidFill>
                <a:latin typeface="Noto Sans SC"/>
                <a:ea typeface="Noto Sans SC"/>
                <a:cs typeface="Noto Sans SC"/>
                <a:sym typeface="Noto Sans SC"/>
              </a:rPr>
              <a:t>问题产生和回答都需要快速响应，对时效性要求极高。</a:t>
            </a:r>
            <a:endParaRPr lang="en-US" sz="1100"/>
          </a:p>
        </p:txBody>
      </p:sp>
      <p:sp>
        <p:nvSpPr>
          <p:cNvPr id="7" name="AutoShape 7"/>
          <p:cNvSpPr/>
          <p:nvPr/>
        </p:nvSpPr>
        <p:spPr>
          <a:xfrm>
            <a:off x="4445000" y="1397000"/>
            <a:ext cx="3302000" cy="1524000"/>
          </a:xfrm>
          <a:prstGeom prst="roundRect">
            <a:avLst>
              <a:gd name="adj" fmla="val 8333"/>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1651000"/>
            <a:ext cx="406400" cy="406400"/>
          </a:xfrm>
          <a:prstGeom prst="rect">
            <a:avLst/>
          </a:prstGeom>
        </p:spPr>
      </p:pic>
      <p:sp>
        <p:nvSpPr>
          <p:cNvPr id="9" name="AutoShape 9"/>
          <p:cNvSpPr/>
          <p:nvPr/>
        </p:nvSpPr>
        <p:spPr>
          <a:xfrm>
            <a:off x="5207000" y="1600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口语化</a:t>
            </a:r>
            <a:endParaRPr lang="en-US" sz="1100"/>
          </a:p>
        </p:txBody>
      </p:sp>
      <p:sp>
        <p:nvSpPr>
          <p:cNvPr id="10" name="AutoShape 10"/>
          <p:cNvSpPr/>
          <p:nvPr/>
        </p:nvSpPr>
        <p:spPr>
          <a:xfrm>
            <a:off x="4699000" y="2159000"/>
            <a:ext cx="279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424242"/>
                </a:solidFill>
                <a:latin typeface="Noto Sans SC"/>
                <a:ea typeface="Noto Sans SC"/>
                <a:cs typeface="Noto Sans SC"/>
                <a:sym typeface="Noto Sans SC"/>
              </a:rPr>
              <a:t>用户提问通常比较随意，口语化严重，语法结构不严谨。</a:t>
            </a:r>
            <a:endParaRPr lang="en-US" sz="1100"/>
          </a:p>
        </p:txBody>
      </p:sp>
      <p:sp>
        <p:nvSpPr>
          <p:cNvPr id="11" name="AutoShape 11"/>
          <p:cNvSpPr/>
          <p:nvPr/>
        </p:nvSpPr>
        <p:spPr>
          <a:xfrm>
            <a:off x="8128000" y="1397000"/>
            <a:ext cx="3302000" cy="1524000"/>
          </a:xfrm>
          <a:prstGeom prst="roundRect">
            <a:avLst>
              <a:gd name="adj" fmla="val 8333"/>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1651000"/>
            <a:ext cx="406400" cy="406400"/>
          </a:xfrm>
          <a:prstGeom prst="rect">
            <a:avLst/>
          </a:prstGeom>
        </p:spPr>
      </p:pic>
      <p:sp>
        <p:nvSpPr>
          <p:cNvPr id="13" name="AutoShape 13"/>
          <p:cNvSpPr/>
          <p:nvPr/>
        </p:nvSpPr>
        <p:spPr>
          <a:xfrm>
            <a:off x="8890000" y="1600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多样性</a:t>
            </a:r>
            <a:endParaRPr lang="en-US" sz="1100"/>
          </a:p>
        </p:txBody>
      </p:sp>
      <p:sp>
        <p:nvSpPr>
          <p:cNvPr id="14" name="AutoShape 14"/>
          <p:cNvSpPr/>
          <p:nvPr/>
        </p:nvSpPr>
        <p:spPr>
          <a:xfrm>
            <a:off x="8382000" y="2159000"/>
            <a:ext cx="279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424242"/>
                </a:solidFill>
                <a:latin typeface="Noto Sans SC"/>
                <a:ea typeface="Noto Sans SC"/>
                <a:cs typeface="Noto Sans SC"/>
                <a:sym typeface="Noto Sans SC"/>
              </a:rPr>
              <a:t>内容覆盖产品、技术、售后、闲聊等多个方面，范围广泛。</a:t>
            </a:r>
            <a:endParaRPr lang="en-US" sz="1100"/>
          </a:p>
        </p:txBody>
      </p:sp>
      <p:sp>
        <p:nvSpPr>
          <p:cNvPr id="15" name="AutoShape 15"/>
          <p:cNvSpPr/>
          <p:nvPr/>
        </p:nvSpPr>
        <p:spPr>
          <a:xfrm>
            <a:off x="762000" y="3175000"/>
            <a:ext cx="3302000" cy="1524000"/>
          </a:xfrm>
          <a:prstGeom prst="roundRect">
            <a:avLst>
              <a:gd name="adj" fmla="val 8333"/>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3429000"/>
            <a:ext cx="406400" cy="406400"/>
          </a:xfrm>
          <a:prstGeom prst="rect">
            <a:avLst/>
          </a:prstGeom>
        </p:spPr>
      </p:pic>
      <p:sp>
        <p:nvSpPr>
          <p:cNvPr id="17" name="AutoShape 17"/>
          <p:cNvSpPr/>
          <p:nvPr/>
        </p:nvSpPr>
        <p:spPr>
          <a:xfrm>
            <a:off x="1524000" y="3378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噪声多</a:t>
            </a:r>
            <a:endParaRPr lang="en-US" sz="1100"/>
          </a:p>
        </p:txBody>
      </p:sp>
      <p:sp>
        <p:nvSpPr>
          <p:cNvPr id="18" name="AutoShape 18"/>
          <p:cNvSpPr/>
          <p:nvPr/>
        </p:nvSpPr>
        <p:spPr>
          <a:xfrm>
            <a:off x="1016000" y="3937000"/>
            <a:ext cx="279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424242"/>
                </a:solidFill>
                <a:latin typeface="Noto Sans SC"/>
                <a:ea typeface="Noto Sans SC"/>
                <a:cs typeface="Noto Sans SC"/>
                <a:sym typeface="Noto Sans SC"/>
              </a:rPr>
              <a:t>存在大量无意义、重复或无关的问题，数据清洗难度大。</a:t>
            </a:r>
            <a:endParaRPr lang="en-US" sz="1100"/>
          </a:p>
        </p:txBody>
      </p:sp>
      <p:sp>
        <p:nvSpPr>
          <p:cNvPr id="19" name="AutoShape 19"/>
          <p:cNvSpPr/>
          <p:nvPr/>
        </p:nvSpPr>
        <p:spPr>
          <a:xfrm>
            <a:off x="4445000" y="3175000"/>
            <a:ext cx="3302000" cy="1524000"/>
          </a:xfrm>
          <a:prstGeom prst="roundRect">
            <a:avLst>
              <a:gd name="adj" fmla="val 8333"/>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699000" y="3429000"/>
            <a:ext cx="406400" cy="406400"/>
          </a:xfrm>
          <a:prstGeom prst="rect">
            <a:avLst/>
          </a:prstGeom>
        </p:spPr>
      </p:pic>
      <p:sp>
        <p:nvSpPr>
          <p:cNvPr id="21" name="AutoShape 21"/>
          <p:cNvSpPr/>
          <p:nvPr/>
        </p:nvSpPr>
        <p:spPr>
          <a:xfrm>
            <a:off x="5207000" y="3378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意图明确性不一</a:t>
            </a:r>
            <a:endParaRPr lang="en-US" sz="1100"/>
          </a:p>
        </p:txBody>
      </p:sp>
      <p:sp>
        <p:nvSpPr>
          <p:cNvPr id="22" name="AutoShape 22"/>
          <p:cNvSpPr/>
          <p:nvPr/>
        </p:nvSpPr>
        <p:spPr>
          <a:xfrm>
            <a:off x="4699000" y="3937000"/>
            <a:ext cx="279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424242"/>
                </a:solidFill>
                <a:latin typeface="Noto Sans SC"/>
                <a:ea typeface="Noto Sans SC"/>
                <a:cs typeface="Noto Sans SC"/>
                <a:sym typeface="Noto Sans SC"/>
              </a:rPr>
              <a:t>部分问题意图清晰，部分则比较模糊，需要结合上下文理解。</a:t>
            </a:r>
            <a:endParaRPr lang="en-US" sz="1100"/>
          </a:p>
        </p:txBody>
      </p:sp>
      <p:sp>
        <p:nvSpPr>
          <p:cNvPr id="23" name="AutoShape 23"/>
          <p:cNvSpPr/>
          <p:nvPr/>
        </p:nvSpPr>
        <p:spPr>
          <a:xfrm>
            <a:off x="8128000" y="3175000"/>
            <a:ext cx="3302000" cy="1524000"/>
          </a:xfrm>
          <a:prstGeom prst="roundRect">
            <a:avLst>
              <a:gd name="adj" fmla="val 8333"/>
            </a:avLst>
          </a:prstGeom>
          <a:solidFill>
            <a:srgbClr val="0288D1">
              <a:alpha val="10000"/>
            </a:srgbClr>
          </a:solidFill>
          <a:ln w="12700" cap="flat" cmpd="sng">
            <a:solidFill>
              <a:srgbClr val="0288D1">
                <a:alpha val="100000"/>
              </a:srgbClr>
            </a:solidFill>
            <a:prstDash val="dash"/>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382000" y="3429000"/>
            <a:ext cx="406400" cy="406400"/>
          </a:xfrm>
          <a:prstGeom prst="rect">
            <a:avLst/>
          </a:prstGeom>
        </p:spPr>
      </p:pic>
      <p:sp>
        <p:nvSpPr>
          <p:cNvPr id="25" name="AutoShape 25"/>
          <p:cNvSpPr/>
          <p:nvPr/>
        </p:nvSpPr>
        <p:spPr>
          <a:xfrm>
            <a:off x="8890000" y="3378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应对策略</a:t>
            </a:r>
            <a:endParaRPr lang="en-US" sz="1100"/>
          </a:p>
        </p:txBody>
      </p:sp>
      <p:sp>
        <p:nvSpPr>
          <p:cNvPr id="26" name="AutoShape 26"/>
          <p:cNvSpPr/>
          <p:nvPr/>
        </p:nvSpPr>
        <p:spPr>
          <a:xfrm>
            <a:off x="8382000" y="3937000"/>
            <a:ext cx="279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424242"/>
                </a:solidFill>
                <a:latin typeface="Noto Sans SC"/>
                <a:ea typeface="Noto Sans SC"/>
                <a:cs typeface="Noto Sans SC"/>
                <a:sym typeface="Noto Sans SC"/>
              </a:rPr>
              <a:t>针对上述特点，需采用实时流处理、NLP语义理解及降噪算法。</a:t>
            </a:r>
            <a:endParaRPr lang="en-US" sz="1100"/>
          </a:p>
        </p:txBody>
      </p:sp>
      <p:sp>
        <p:nvSpPr>
          <p:cNvPr id="27" name="AutoShape 27"/>
          <p:cNvSpPr/>
          <p:nvPr/>
        </p:nvSpPr>
        <p:spPr>
          <a:xfrm>
            <a:off x="762000" y="5334000"/>
            <a:ext cx="10668000" cy="25400"/>
          </a:xfrm>
          <a:prstGeom prst="roundRect">
            <a:avLst>
              <a:gd name="adj" fmla="val 0"/>
            </a:avLst>
          </a:prstGeom>
          <a:solidFill>
            <a:srgbClr val="0288D1">
              <a:alpha val="3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762000" y="5524500"/>
            <a:ext cx="1066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757575"/>
                </a:solidFill>
                <a:latin typeface="Noto Sans SC"/>
                <a:ea typeface="Noto Sans SC"/>
                <a:cs typeface="Noto Sans SC"/>
                <a:sym typeface="Noto Sans SC"/>
              </a:rPr>
              <a:t>数据特点决定了预处理策略：快速响应机制 + 口语化语义模型 + 智能降噪过滤</a:t>
            </a:r>
            <a:endParaRPr lang="en-US" sz="11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35687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项目流程（概述）</a:t>
            </a:r>
            <a:endParaRPr lang="en-US" sz="1100"/>
          </a:p>
        </p:txBody>
      </p:sp>
      <p:sp>
        <p:nvSpPr>
          <p:cNvPr id="3" name="AutoShape 3"/>
          <p:cNvSpPr/>
          <p:nvPr/>
        </p:nvSpPr>
        <p:spPr>
          <a:xfrm>
            <a:off x="762000" y="1397000"/>
            <a:ext cx="10668000" cy="812800"/>
          </a:xfrm>
          <a:prstGeom prst="roundRect">
            <a:avLst>
              <a:gd name="adj" fmla="val 15625"/>
            </a:avLst>
          </a:prstGeom>
          <a:solidFill>
            <a:srgbClr val="FFFFFF">
              <a:alpha val="100000"/>
            </a:srgbClr>
          </a:solidFill>
          <a:ln w="25400" cap="flat" cmpd="sng">
            <a:noFill/>
            <a:prstDash val="solid"/>
            <a:round/>
          </a:ln>
          <a:effectLst>
            <a:outerShdw blurRad="1016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00200"/>
            <a:ext cx="406400" cy="406400"/>
          </a:xfrm>
          <a:prstGeom prst="rect">
            <a:avLst/>
          </a:prstGeom>
        </p:spPr>
      </p:pic>
      <p:sp>
        <p:nvSpPr>
          <p:cNvPr id="5" name="AutoShape 5"/>
          <p:cNvSpPr/>
          <p:nvPr/>
        </p:nvSpPr>
        <p:spPr>
          <a:xfrm>
            <a:off x="1651000" y="1473200"/>
            <a:ext cx="952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数据收集与标注</a:t>
            </a:r>
            <a:endParaRPr lang="en-US" sz="1100"/>
          </a:p>
        </p:txBody>
      </p:sp>
      <p:sp>
        <p:nvSpPr>
          <p:cNvPr id="6" name="AutoShape 6"/>
          <p:cNvSpPr/>
          <p:nvPr/>
        </p:nvSpPr>
        <p:spPr>
          <a:xfrm>
            <a:off x="1651000" y="1803400"/>
            <a:ext cx="9525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424242"/>
                </a:solidFill>
                <a:latin typeface="Noto Sans SC"/>
                <a:ea typeface="Noto Sans SC"/>
                <a:cs typeface="Noto Sans SC"/>
                <a:sym typeface="Noto Sans SC"/>
              </a:rPr>
              <a:t>采集直播间问答数据，并进行人工标注，确保数据质量。</a:t>
            </a:r>
            <a:endParaRPr lang="en-US" sz="1100"/>
          </a:p>
        </p:txBody>
      </p:sp>
      <p:sp>
        <p:nvSpPr>
          <p:cNvPr id="7" name="AutoShape 7"/>
          <p:cNvSpPr/>
          <p:nvPr/>
        </p:nvSpPr>
        <p:spPr>
          <a:xfrm>
            <a:off x="762000" y="2336800"/>
            <a:ext cx="10668000" cy="812800"/>
          </a:xfrm>
          <a:prstGeom prst="roundRect">
            <a:avLst>
              <a:gd name="adj" fmla="val 15625"/>
            </a:avLst>
          </a:prstGeom>
          <a:solidFill>
            <a:srgbClr val="FFFFFF">
              <a:alpha val="100000"/>
            </a:srgbClr>
          </a:solidFill>
          <a:ln w="25400" cap="flat" cmpd="sng">
            <a:noFill/>
            <a:prstDash val="solid"/>
            <a:round/>
          </a:ln>
          <a:effectLst>
            <a:outerShdw blurRad="1016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540000"/>
            <a:ext cx="406400" cy="406400"/>
          </a:xfrm>
          <a:prstGeom prst="rect">
            <a:avLst/>
          </a:prstGeom>
        </p:spPr>
      </p:pic>
      <p:sp>
        <p:nvSpPr>
          <p:cNvPr id="9" name="AutoShape 9"/>
          <p:cNvSpPr/>
          <p:nvPr/>
        </p:nvSpPr>
        <p:spPr>
          <a:xfrm>
            <a:off x="1651000" y="2413000"/>
            <a:ext cx="952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数据预处理</a:t>
            </a:r>
            <a:endParaRPr lang="en-US" sz="1100"/>
          </a:p>
        </p:txBody>
      </p:sp>
      <p:sp>
        <p:nvSpPr>
          <p:cNvPr id="10" name="AutoShape 10"/>
          <p:cNvSpPr/>
          <p:nvPr/>
        </p:nvSpPr>
        <p:spPr>
          <a:xfrm>
            <a:off x="1651000" y="2743200"/>
            <a:ext cx="9525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424242"/>
                </a:solidFill>
                <a:latin typeface="Noto Sans SC"/>
                <a:ea typeface="Noto Sans SC"/>
                <a:cs typeface="Noto Sans SC"/>
                <a:sym typeface="Noto Sans SC"/>
              </a:rPr>
              <a:t>对数据进行清洗、去噪、分词及标准化处理，提升数据可用性。</a:t>
            </a:r>
            <a:endParaRPr lang="en-US" sz="1100"/>
          </a:p>
        </p:txBody>
      </p:sp>
      <p:sp>
        <p:nvSpPr>
          <p:cNvPr id="11" name="AutoShape 11"/>
          <p:cNvSpPr/>
          <p:nvPr/>
        </p:nvSpPr>
        <p:spPr>
          <a:xfrm>
            <a:off x="762000" y="3276600"/>
            <a:ext cx="10668000" cy="812800"/>
          </a:xfrm>
          <a:prstGeom prst="roundRect">
            <a:avLst>
              <a:gd name="adj" fmla="val 15625"/>
            </a:avLst>
          </a:prstGeom>
          <a:solidFill>
            <a:srgbClr val="FFFFFF">
              <a:alpha val="100000"/>
            </a:srgbClr>
          </a:solidFill>
          <a:ln w="25400" cap="flat" cmpd="sng">
            <a:noFill/>
            <a:prstDash val="solid"/>
            <a:round/>
          </a:ln>
          <a:effectLst>
            <a:outerShdw blurRad="1016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3479800"/>
            <a:ext cx="406400" cy="406400"/>
          </a:xfrm>
          <a:prstGeom prst="rect">
            <a:avLst/>
          </a:prstGeom>
        </p:spPr>
      </p:pic>
      <p:sp>
        <p:nvSpPr>
          <p:cNvPr id="13" name="AutoShape 13"/>
          <p:cNvSpPr/>
          <p:nvPr/>
        </p:nvSpPr>
        <p:spPr>
          <a:xfrm>
            <a:off x="1651000" y="3352800"/>
            <a:ext cx="952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模型选择与训练</a:t>
            </a:r>
            <a:endParaRPr lang="en-US" sz="1100"/>
          </a:p>
        </p:txBody>
      </p:sp>
      <p:sp>
        <p:nvSpPr>
          <p:cNvPr id="14" name="AutoShape 14"/>
          <p:cNvSpPr/>
          <p:nvPr/>
        </p:nvSpPr>
        <p:spPr>
          <a:xfrm>
            <a:off x="1651000" y="3683000"/>
            <a:ext cx="9525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424242"/>
                </a:solidFill>
                <a:latin typeface="Noto Sans SC"/>
                <a:ea typeface="Noto Sans SC"/>
                <a:cs typeface="Noto Sans SC"/>
                <a:sym typeface="Noto Sans SC"/>
              </a:rPr>
              <a:t>对比传统机器学习方法和大语言模型方法，选择最优模型进行训练。</a:t>
            </a:r>
            <a:endParaRPr lang="en-US" sz="1100"/>
          </a:p>
        </p:txBody>
      </p:sp>
      <p:sp>
        <p:nvSpPr>
          <p:cNvPr id="15" name="AutoShape 15"/>
          <p:cNvSpPr/>
          <p:nvPr/>
        </p:nvSpPr>
        <p:spPr>
          <a:xfrm>
            <a:off x="762000" y="4216400"/>
            <a:ext cx="10668000" cy="812800"/>
          </a:xfrm>
          <a:prstGeom prst="roundRect">
            <a:avLst>
              <a:gd name="adj" fmla="val 15625"/>
            </a:avLst>
          </a:prstGeom>
          <a:solidFill>
            <a:srgbClr val="FFFFFF">
              <a:alpha val="100000"/>
            </a:srgbClr>
          </a:solidFill>
          <a:ln w="25400" cap="flat" cmpd="sng">
            <a:noFill/>
            <a:prstDash val="solid"/>
            <a:round/>
          </a:ln>
          <a:effectLst>
            <a:outerShdw blurRad="1016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4419600"/>
            <a:ext cx="406400" cy="406400"/>
          </a:xfrm>
          <a:prstGeom prst="rect">
            <a:avLst/>
          </a:prstGeom>
        </p:spPr>
      </p:pic>
      <p:sp>
        <p:nvSpPr>
          <p:cNvPr id="17" name="AutoShape 17"/>
          <p:cNvSpPr/>
          <p:nvPr/>
        </p:nvSpPr>
        <p:spPr>
          <a:xfrm>
            <a:off x="1651000" y="4292600"/>
            <a:ext cx="952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模型部署与集成</a:t>
            </a:r>
            <a:endParaRPr lang="en-US" sz="1100"/>
          </a:p>
        </p:txBody>
      </p:sp>
      <p:sp>
        <p:nvSpPr>
          <p:cNvPr id="18" name="AutoShape 18"/>
          <p:cNvSpPr/>
          <p:nvPr/>
        </p:nvSpPr>
        <p:spPr>
          <a:xfrm>
            <a:off x="1651000" y="4622800"/>
            <a:ext cx="9525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424242"/>
                </a:solidFill>
                <a:latin typeface="Noto Sans SC"/>
                <a:ea typeface="Noto Sans SC"/>
                <a:cs typeface="Noto Sans SC"/>
                <a:sym typeface="Noto Sans SC"/>
              </a:rPr>
              <a:t>将训练好的模型部署到线上环境，并与直播间系统无缝集成。</a:t>
            </a:r>
            <a:endParaRPr lang="en-US" sz="1100"/>
          </a:p>
        </p:txBody>
      </p:sp>
      <p:sp>
        <p:nvSpPr>
          <p:cNvPr id="19" name="AutoShape 19"/>
          <p:cNvSpPr/>
          <p:nvPr/>
        </p:nvSpPr>
        <p:spPr>
          <a:xfrm>
            <a:off x="762000" y="5156200"/>
            <a:ext cx="10668000" cy="812800"/>
          </a:xfrm>
          <a:prstGeom prst="roundRect">
            <a:avLst>
              <a:gd name="adj" fmla="val 15625"/>
            </a:avLst>
          </a:prstGeom>
          <a:solidFill>
            <a:srgbClr val="FFFFFF">
              <a:alpha val="100000"/>
            </a:srgbClr>
          </a:solidFill>
          <a:ln w="25400" cap="flat" cmpd="sng">
            <a:noFill/>
            <a:prstDash val="solid"/>
            <a:round/>
          </a:ln>
          <a:effectLst>
            <a:outerShdw blurRad="1016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16000" y="5359400"/>
            <a:ext cx="406400" cy="406400"/>
          </a:xfrm>
          <a:prstGeom prst="rect">
            <a:avLst/>
          </a:prstGeom>
        </p:spPr>
      </p:pic>
      <p:sp>
        <p:nvSpPr>
          <p:cNvPr id="21" name="AutoShape 21"/>
          <p:cNvSpPr/>
          <p:nvPr/>
        </p:nvSpPr>
        <p:spPr>
          <a:xfrm>
            <a:off x="1651000" y="5232400"/>
            <a:ext cx="952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效果评估与优化</a:t>
            </a:r>
            <a:endParaRPr lang="en-US" sz="1100"/>
          </a:p>
        </p:txBody>
      </p:sp>
      <p:sp>
        <p:nvSpPr>
          <p:cNvPr id="22" name="AutoShape 22"/>
          <p:cNvSpPr/>
          <p:nvPr/>
        </p:nvSpPr>
        <p:spPr>
          <a:xfrm>
            <a:off x="1651000" y="5562600"/>
            <a:ext cx="9525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424242"/>
                </a:solidFill>
                <a:latin typeface="Noto Sans SC"/>
                <a:ea typeface="Noto Sans SC"/>
                <a:cs typeface="Noto Sans SC"/>
                <a:sym typeface="Noto Sans SC"/>
              </a:rPr>
              <a:t>持续监控模型在实际场景中的表现，基于反馈进行迭代优化。</a:t>
            </a:r>
            <a:endParaRPr lang="en-US" sz="11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5359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步骤1：数据收集与标注</a:t>
            </a:r>
            <a:endParaRPr lang="en-US" sz="1100"/>
          </a:p>
        </p:txBody>
      </p:sp>
      <p:sp>
        <p:nvSpPr>
          <p:cNvPr id="3" name="AutoShape 3"/>
          <p:cNvSpPr/>
          <p:nvPr/>
        </p:nvSpPr>
        <p:spPr>
          <a:xfrm>
            <a:off x="762000" y="1397000"/>
            <a:ext cx="5080000" cy="2794000"/>
          </a:xfrm>
          <a:prstGeom prst="roundRect">
            <a:avLst>
              <a:gd name="adj" fmla="val 4545"/>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762000" y="1397000"/>
            <a:ext cx="5080000" cy="609600"/>
          </a:xfrm>
          <a:prstGeom prst="roundRect">
            <a:avLst>
              <a:gd name="adj" fmla="val 0"/>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524000"/>
            <a:ext cx="355600" cy="355600"/>
          </a:xfrm>
          <a:prstGeom prst="rect">
            <a:avLst/>
          </a:prstGeom>
        </p:spPr>
      </p:pic>
      <p:sp>
        <p:nvSpPr>
          <p:cNvPr id="6" name="AutoShape 6"/>
          <p:cNvSpPr/>
          <p:nvPr/>
        </p:nvSpPr>
        <p:spPr>
          <a:xfrm>
            <a:off x="1473200" y="1498600"/>
            <a:ext cx="3810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数据收集策略</a:t>
            </a:r>
            <a:endParaRPr lang="en-US" sz="1100"/>
          </a:p>
        </p:txBody>
      </p:sp>
      <p:sp>
        <p:nvSpPr>
          <p:cNvPr id="7" name="AutoShape 7"/>
          <p:cNvSpPr/>
          <p:nvPr/>
        </p:nvSpPr>
        <p:spPr>
          <a:xfrm>
            <a:off x="1016000" y="2159000"/>
            <a:ext cx="4572000" cy="1778000"/>
          </a:xfrm>
          <a:prstGeom prst="rect">
            <a:avLst/>
          </a:prstGeom>
          <a:noFill/>
          <a:ln w="12700" cap="flat" cmpd="sng">
            <a:noFill/>
            <a:prstDash val="solid"/>
            <a:round/>
          </a:ln>
        </p:spPr>
        <p:txBody>
          <a:bodyPr vert="horz" wrap="square" lIns="0" tIns="0" rIns="0" bIns="0" rtlCol="0" anchor="ctr" anchorCtr="0"/>
          <a:lstStyle/>
          <a:p>
            <a:pPr marL="190500" indent="-190500" algn="l">
              <a:lnSpc>
                <a:spcPct val="108000"/>
              </a:lnSpc>
              <a:buClr>
                <a:srgbClr val="424242"/>
              </a:buClr>
              <a:buChar char="•"/>
              <a:defRPr/>
            </a:pPr>
            <a:r>
              <a:rPr lang="en-US" sz="1500" b="1" i="0" u="none" strike="noStrike">
                <a:solidFill>
                  <a:srgbClr val="424242"/>
                </a:solidFill>
                <a:latin typeface="Noto Sans SC"/>
                <a:ea typeface="Noto Sans SC"/>
                <a:cs typeface="Noto Sans SC"/>
                <a:sym typeface="Noto Sans SC"/>
              </a:rPr>
              <a:t>来源渠道：</a:t>
            </a:r>
            <a:r>
              <a:rPr lang="en-US" sz="1500" b="0" i="0" u="none" strike="noStrike">
                <a:solidFill>
                  <a:srgbClr val="424242"/>
                </a:solidFill>
                <a:latin typeface="Noto Sans SC"/>
                <a:ea typeface="Noto Sans SC"/>
                <a:cs typeface="Noto Sans SC"/>
                <a:sym typeface="Noto Sans SC"/>
              </a:rPr>
              <a:t>接入直播间日志系统，实时采集用户在互动过程中的提问数据。</a:t>
            </a:r>
            <a:endParaRPr lang="en-US" sz="1100"/>
          </a:p>
          <a:p>
            <a:pPr marL="190500" indent="-190500" algn="l">
              <a:lnSpc>
                <a:spcPct val="108000"/>
              </a:lnSpc>
              <a:buClr>
                <a:srgbClr val="424242"/>
              </a:buClr>
              <a:buChar char="•"/>
            </a:pPr>
            <a:r>
              <a:rPr lang="en-US" sz="1500" b="1" i="0" u="none" strike="noStrike">
                <a:solidFill>
                  <a:srgbClr val="424242"/>
                </a:solidFill>
                <a:latin typeface="Noto Sans SC"/>
                <a:ea typeface="Noto Sans SC"/>
                <a:cs typeface="Noto Sans SC"/>
                <a:sym typeface="Noto Sans SC"/>
              </a:rPr>
              <a:t>样本要求：</a:t>
            </a:r>
            <a:r>
              <a:rPr lang="en-US" sz="1500" b="0" i="0" u="none" strike="noStrike">
                <a:solidFill>
                  <a:srgbClr val="424242"/>
                </a:solidFill>
                <a:latin typeface="Noto Sans SC"/>
                <a:ea typeface="Noto Sans SC"/>
                <a:cs typeface="Noto Sans SC"/>
                <a:sym typeface="Noto Sans SC"/>
              </a:rPr>
              <a:t>收集至少一个完整周期的历史数据，确保数据量充足且覆盖各类场景，具有代表性。</a:t>
            </a:r>
            <a:endParaRPr lang="en-US" sz="1500" b="0" i="0" u="none" strike="noStrike">
              <a:solidFill>
                <a:srgbClr val="424242"/>
              </a:solidFill>
              <a:latin typeface="Noto Sans SC"/>
              <a:ea typeface="Noto Sans SC"/>
              <a:cs typeface="Noto Sans SC"/>
              <a:sym typeface="Noto Sans SC"/>
            </a:endParaRPr>
          </a:p>
        </p:txBody>
      </p:sp>
      <p:sp>
        <p:nvSpPr>
          <p:cNvPr id="8" name="AutoShape 8"/>
          <p:cNvSpPr/>
          <p:nvPr/>
        </p:nvSpPr>
        <p:spPr>
          <a:xfrm>
            <a:off x="6350000" y="1397000"/>
            <a:ext cx="5080000" cy="2794000"/>
          </a:xfrm>
          <a:prstGeom prst="roundRect">
            <a:avLst>
              <a:gd name="adj" fmla="val 4545"/>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sp>
        <p:nvSpPr>
          <p:cNvPr id="9" name="AutoShape 9"/>
          <p:cNvSpPr/>
          <p:nvPr/>
        </p:nvSpPr>
        <p:spPr>
          <a:xfrm>
            <a:off x="6350000" y="1397000"/>
            <a:ext cx="5080000" cy="609600"/>
          </a:xfrm>
          <a:prstGeom prst="roundRect">
            <a:avLst>
              <a:gd name="adj" fmla="val 0"/>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4000" y="1524000"/>
            <a:ext cx="355600" cy="355600"/>
          </a:xfrm>
          <a:prstGeom prst="rect">
            <a:avLst/>
          </a:prstGeom>
        </p:spPr>
      </p:pic>
      <p:sp>
        <p:nvSpPr>
          <p:cNvPr id="11" name="AutoShape 11"/>
          <p:cNvSpPr/>
          <p:nvPr/>
        </p:nvSpPr>
        <p:spPr>
          <a:xfrm>
            <a:off x="7061200" y="1498600"/>
            <a:ext cx="3810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数据标注规范</a:t>
            </a:r>
            <a:endParaRPr lang="en-US" sz="1100"/>
          </a:p>
        </p:txBody>
      </p:sp>
      <p:sp>
        <p:nvSpPr>
          <p:cNvPr id="12" name="AutoShape 12"/>
          <p:cNvSpPr/>
          <p:nvPr/>
        </p:nvSpPr>
        <p:spPr>
          <a:xfrm>
            <a:off x="6604000" y="2159000"/>
            <a:ext cx="4572000" cy="1778000"/>
          </a:xfrm>
          <a:prstGeom prst="rect">
            <a:avLst/>
          </a:prstGeom>
          <a:noFill/>
          <a:ln w="12700" cap="flat" cmpd="sng">
            <a:noFill/>
            <a:prstDash val="solid"/>
            <a:round/>
          </a:ln>
        </p:spPr>
        <p:txBody>
          <a:bodyPr vert="horz" wrap="square" lIns="0" tIns="0" rIns="0" bIns="0" rtlCol="0" anchor="ctr" anchorCtr="0"/>
          <a:lstStyle/>
          <a:p>
            <a:pPr marL="190500" indent="-190500" algn="l">
              <a:lnSpc>
                <a:spcPct val="108000"/>
              </a:lnSpc>
              <a:buClr>
                <a:srgbClr val="424242"/>
              </a:buClr>
              <a:buChar char="•"/>
              <a:defRPr/>
            </a:pPr>
            <a:r>
              <a:rPr lang="en-US" sz="1500" b="1" i="0" u="none" strike="noStrike">
                <a:solidFill>
                  <a:srgbClr val="424242"/>
                </a:solidFill>
                <a:latin typeface="Noto Sans SC"/>
                <a:ea typeface="Noto Sans SC"/>
                <a:cs typeface="Noto Sans SC"/>
                <a:sym typeface="Noto Sans SC"/>
              </a:rPr>
              <a:t>定义体系：</a:t>
            </a:r>
            <a:r>
              <a:rPr lang="en-US" sz="1500" b="0" i="0" u="none" strike="noStrike">
                <a:solidFill>
                  <a:srgbClr val="424242"/>
                </a:solidFill>
                <a:latin typeface="Noto Sans SC"/>
                <a:ea typeface="Noto Sans SC"/>
                <a:cs typeface="Noto Sans SC"/>
                <a:sym typeface="Noto Sans SC"/>
              </a:rPr>
              <a:t>建立标准分类标签，如产品咨询、技术问题、售后问题、闲聊、其他等。</a:t>
            </a:r>
            <a:endParaRPr lang="en-US" sz="1100"/>
          </a:p>
          <a:p>
            <a:pPr marL="190500" indent="-190500" algn="l">
              <a:lnSpc>
                <a:spcPct val="108000"/>
              </a:lnSpc>
              <a:buClr>
                <a:srgbClr val="424242"/>
              </a:buClr>
              <a:buChar char="•"/>
            </a:pPr>
            <a:r>
              <a:rPr lang="en-US" sz="1500" b="1" i="0" u="none" strike="noStrike">
                <a:solidFill>
                  <a:srgbClr val="424242"/>
                </a:solidFill>
                <a:latin typeface="Noto Sans SC"/>
                <a:ea typeface="Noto Sans SC"/>
                <a:cs typeface="Noto Sans SC"/>
                <a:sym typeface="Noto Sans SC"/>
              </a:rPr>
              <a:t>人工标注：</a:t>
            </a:r>
            <a:r>
              <a:rPr lang="en-US" sz="1500" b="0" i="0" u="none" strike="noStrike">
                <a:solidFill>
                  <a:srgbClr val="424242"/>
                </a:solidFill>
                <a:latin typeface="Noto Sans SC"/>
                <a:ea typeface="Noto Sans SC"/>
                <a:cs typeface="Noto Sans SC"/>
                <a:sym typeface="Noto Sans SC"/>
              </a:rPr>
              <a:t>组织专业人员进行分类标注，通过多人复核机制确保标签的准确性和一致性。</a:t>
            </a:r>
            <a:endParaRPr lang="en-US" sz="1500" b="0" i="0" u="none" strike="noStrike">
              <a:solidFill>
                <a:srgbClr val="424242"/>
              </a:solidFill>
              <a:latin typeface="Noto Sans SC"/>
              <a:ea typeface="Noto Sans SC"/>
              <a:cs typeface="Noto Sans SC"/>
              <a:sym typeface="Noto Sans SC"/>
            </a:endParaRPr>
          </a:p>
        </p:txBody>
      </p:sp>
      <p:sp>
        <p:nvSpPr>
          <p:cNvPr id="13" name="AutoShape 13"/>
          <p:cNvSpPr/>
          <p:nvPr/>
        </p:nvSpPr>
        <p:spPr>
          <a:xfrm>
            <a:off x="762000" y="4445000"/>
            <a:ext cx="10668000" cy="1397000"/>
          </a:xfrm>
          <a:prstGeom prst="roundRect">
            <a:avLst>
              <a:gd name="adj" fmla="val 9090"/>
            </a:avLst>
          </a:prstGeom>
          <a:solidFill>
            <a:srgbClr val="FFFFFF">
              <a:alpha val="80000"/>
            </a:srgbClr>
          </a:solidFill>
          <a:ln w="12700" cap="flat" cmpd="sng">
            <a:solidFill>
              <a:srgbClr val="0288D1">
                <a:alpha val="100000"/>
              </a:srgbClr>
            </a:solidFill>
            <a:prstDash val="dash"/>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762500"/>
            <a:ext cx="508000" cy="508000"/>
          </a:xfrm>
          <a:prstGeom prst="rect">
            <a:avLst/>
          </a:prstGeom>
        </p:spPr>
      </p:pic>
      <p:sp>
        <p:nvSpPr>
          <p:cNvPr id="15" name="AutoShape 15"/>
          <p:cNvSpPr/>
          <p:nvPr/>
        </p:nvSpPr>
        <p:spPr>
          <a:xfrm>
            <a:off x="1651000" y="4635500"/>
            <a:ext cx="9525000" cy="101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600" b="1" i="0" u="none" strike="noStrike">
                <a:solidFill>
                  <a:srgbClr val="424242"/>
                </a:solidFill>
                <a:latin typeface="Noto Sans SC"/>
                <a:ea typeface="Noto Sans SC"/>
                <a:cs typeface="Noto Sans SC"/>
                <a:sym typeface="Noto Sans SC"/>
              </a:rPr>
              <a:t>核心目标：</a:t>
            </a:r>
            <a:r>
              <a:rPr lang="en-US" sz="1600" b="0" i="0" u="none" strike="noStrike">
                <a:solidFill>
                  <a:srgbClr val="424242"/>
                </a:solidFill>
                <a:latin typeface="Noto Sans SC"/>
                <a:ea typeface="Noto Sans SC"/>
                <a:cs typeface="Noto Sans SC"/>
                <a:sym typeface="Noto Sans SC"/>
              </a:rPr>
              <a:t>通过高质量的数据收集与标准化的人工标注，构建可靠的训练数据集，为后续模型训练提供坚实基础，确保智能客服能准确识别用户意图。</a:t>
            </a:r>
            <a:endParaRPr lang="en-US" sz="11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31242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步骤2：数据预处理</a:t>
            </a:r>
            <a:endParaRPr lang="en-US" sz="1100"/>
          </a:p>
        </p:txBody>
      </p:sp>
      <p:sp>
        <p:nvSpPr>
          <p:cNvPr id="3" name="AutoShape 3"/>
          <p:cNvSpPr/>
          <p:nvPr/>
        </p:nvSpPr>
        <p:spPr>
          <a:xfrm>
            <a:off x="762000" y="1524000"/>
            <a:ext cx="50800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78000"/>
            <a:ext cx="609600" cy="609600"/>
          </a:xfrm>
          <a:prstGeom prst="rect">
            <a:avLst/>
          </a:prstGeom>
        </p:spPr>
      </p:pic>
      <p:sp>
        <p:nvSpPr>
          <p:cNvPr id="5" name="AutoShape 5"/>
          <p:cNvSpPr/>
          <p:nvPr/>
        </p:nvSpPr>
        <p:spPr>
          <a:xfrm>
            <a:off x="1778000" y="17145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数据清洗</a:t>
            </a:r>
            <a:endParaRPr lang="en-US" sz="1100"/>
          </a:p>
        </p:txBody>
      </p:sp>
      <p:sp>
        <p:nvSpPr>
          <p:cNvPr id="6" name="AutoShape 6"/>
          <p:cNvSpPr/>
          <p:nvPr/>
        </p:nvSpPr>
        <p:spPr>
          <a:xfrm>
            <a:off x="1778000" y="2159000"/>
            <a:ext cx="3683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424242"/>
                </a:solidFill>
                <a:latin typeface="Noto Sans SC"/>
                <a:ea typeface="Noto Sans SC"/>
                <a:cs typeface="Noto Sans SC"/>
                <a:sym typeface="Noto Sans SC"/>
              </a:rPr>
              <a:t>去除重复问题、无意义的字符和表情符号，确保数据的纯净度。</a:t>
            </a:r>
            <a:endParaRPr lang="en-US" sz="1100"/>
          </a:p>
        </p:txBody>
      </p:sp>
      <p:sp>
        <p:nvSpPr>
          <p:cNvPr id="7" name="AutoShape 7"/>
          <p:cNvSpPr/>
          <p:nvPr/>
        </p:nvSpPr>
        <p:spPr>
          <a:xfrm>
            <a:off x="6350000" y="1524000"/>
            <a:ext cx="50800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4000" y="1778000"/>
            <a:ext cx="609600" cy="609600"/>
          </a:xfrm>
          <a:prstGeom prst="rect">
            <a:avLst/>
          </a:prstGeom>
        </p:spPr>
      </p:pic>
      <p:sp>
        <p:nvSpPr>
          <p:cNvPr id="9" name="AutoShape 9"/>
          <p:cNvSpPr/>
          <p:nvPr/>
        </p:nvSpPr>
        <p:spPr>
          <a:xfrm>
            <a:off x="7366000" y="17145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中文分词</a:t>
            </a:r>
            <a:endParaRPr lang="en-US" sz="1100"/>
          </a:p>
        </p:txBody>
      </p:sp>
      <p:sp>
        <p:nvSpPr>
          <p:cNvPr id="10" name="AutoShape 10"/>
          <p:cNvSpPr/>
          <p:nvPr/>
        </p:nvSpPr>
        <p:spPr>
          <a:xfrm>
            <a:off x="7366000" y="2159000"/>
            <a:ext cx="3683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424242"/>
                </a:solidFill>
                <a:latin typeface="Noto Sans SC"/>
                <a:ea typeface="Noto Sans SC"/>
                <a:cs typeface="Noto Sans SC"/>
                <a:sym typeface="Noto Sans SC"/>
              </a:rPr>
              <a:t>使用jieba等专业工具进行中文分词处理，将连续的文本序列切分为独立的词语。</a:t>
            </a:r>
            <a:endParaRPr lang="en-US" sz="1100"/>
          </a:p>
        </p:txBody>
      </p:sp>
      <p:sp>
        <p:nvSpPr>
          <p:cNvPr id="11" name="AutoShape 11"/>
          <p:cNvSpPr/>
          <p:nvPr/>
        </p:nvSpPr>
        <p:spPr>
          <a:xfrm>
            <a:off x="762000" y="3683000"/>
            <a:ext cx="50800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3937000"/>
            <a:ext cx="609600" cy="609600"/>
          </a:xfrm>
          <a:prstGeom prst="rect">
            <a:avLst/>
          </a:prstGeom>
        </p:spPr>
      </p:pic>
      <p:sp>
        <p:nvSpPr>
          <p:cNvPr id="13" name="AutoShape 13"/>
          <p:cNvSpPr/>
          <p:nvPr/>
        </p:nvSpPr>
        <p:spPr>
          <a:xfrm>
            <a:off x="1778000" y="38735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去除停用词</a:t>
            </a:r>
            <a:endParaRPr lang="en-US" sz="1100"/>
          </a:p>
        </p:txBody>
      </p:sp>
      <p:sp>
        <p:nvSpPr>
          <p:cNvPr id="14" name="AutoShape 14"/>
          <p:cNvSpPr/>
          <p:nvPr/>
        </p:nvSpPr>
        <p:spPr>
          <a:xfrm>
            <a:off x="1778000" y="4318000"/>
            <a:ext cx="3683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424242"/>
                </a:solidFill>
                <a:latin typeface="Noto Sans SC"/>
                <a:ea typeface="Noto Sans SC"/>
                <a:cs typeface="Noto Sans SC"/>
                <a:sym typeface="Noto Sans SC"/>
              </a:rPr>
              <a:t>过滤掉“的”、“了”、“啊”等无实际意义的虚词，降低特征维度。</a:t>
            </a:r>
            <a:endParaRPr lang="en-US" sz="1100"/>
          </a:p>
        </p:txBody>
      </p:sp>
      <p:sp>
        <p:nvSpPr>
          <p:cNvPr id="15" name="AutoShape 15"/>
          <p:cNvSpPr/>
          <p:nvPr/>
        </p:nvSpPr>
        <p:spPr>
          <a:xfrm>
            <a:off x="6350000" y="3683000"/>
            <a:ext cx="50800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04000" y="3937000"/>
            <a:ext cx="609600" cy="609600"/>
          </a:xfrm>
          <a:prstGeom prst="rect">
            <a:avLst/>
          </a:prstGeom>
        </p:spPr>
      </p:pic>
      <p:sp>
        <p:nvSpPr>
          <p:cNvPr id="17" name="AutoShape 17"/>
          <p:cNvSpPr/>
          <p:nvPr/>
        </p:nvSpPr>
        <p:spPr>
          <a:xfrm>
            <a:off x="7366000" y="38735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文本标准化</a:t>
            </a:r>
            <a:endParaRPr lang="en-US" sz="1100"/>
          </a:p>
        </p:txBody>
      </p:sp>
      <p:sp>
        <p:nvSpPr>
          <p:cNvPr id="18" name="AutoShape 18"/>
          <p:cNvSpPr/>
          <p:nvPr/>
        </p:nvSpPr>
        <p:spPr>
          <a:xfrm>
            <a:off x="7366000" y="4318000"/>
            <a:ext cx="3683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424242"/>
                </a:solidFill>
                <a:latin typeface="Noto Sans SC"/>
                <a:ea typeface="Noto Sans SC"/>
                <a:cs typeface="Noto Sans SC"/>
                <a:sym typeface="Noto Sans SC"/>
              </a:rPr>
              <a:t>统一口语表达，例如将“咋样”统一为“怎么样”，提升模型识别准确率。</a:t>
            </a:r>
            <a:endParaRPr lang="en-US" sz="11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80518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步骤3：模型选择与训练（传统方法）</a:t>
            </a:r>
            <a:endParaRPr lang="en-US" sz="1100"/>
          </a:p>
        </p:txBody>
      </p:sp>
      <p:sp>
        <p:nvSpPr>
          <p:cNvPr id="3" name="AutoShape 3"/>
          <p:cNvSpPr/>
          <p:nvPr/>
        </p:nvSpPr>
        <p:spPr>
          <a:xfrm>
            <a:off x="762000" y="1143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424242"/>
                </a:solidFill>
                <a:latin typeface="Noto Sans SC"/>
                <a:ea typeface="Noto Sans SC"/>
                <a:cs typeface="Noto Sans SC"/>
                <a:sym typeface="Noto Sans SC"/>
              </a:rPr>
              <a:t>传统机器学习方法是处理文本分类任务的经典途径，其核心流程包含以下四个关键环节：</a:t>
            </a:r>
            <a:endParaRPr lang="en-US" sz="1100"/>
          </a:p>
        </p:txBody>
      </p:sp>
      <p:sp>
        <p:nvSpPr>
          <p:cNvPr id="4" name="AutoShape 4"/>
          <p:cNvSpPr/>
          <p:nvPr/>
        </p:nvSpPr>
        <p:spPr>
          <a:xfrm>
            <a:off x="762000" y="1778000"/>
            <a:ext cx="2476500" cy="3048000"/>
          </a:xfrm>
          <a:prstGeom prst="roundRect">
            <a:avLst>
              <a:gd name="adj" fmla="val 5128"/>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739900" y="2032000"/>
            <a:ext cx="508000" cy="508000"/>
          </a:xfrm>
          <a:prstGeom prst="rect">
            <a:avLst/>
          </a:prstGeom>
        </p:spPr>
      </p:pic>
      <p:sp>
        <p:nvSpPr>
          <p:cNvPr id="6" name="AutoShape 6"/>
          <p:cNvSpPr/>
          <p:nvPr/>
        </p:nvSpPr>
        <p:spPr>
          <a:xfrm>
            <a:off x="889000" y="2667000"/>
            <a:ext cx="2222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288D1"/>
                </a:solidFill>
                <a:latin typeface="Noto Sans SC"/>
                <a:ea typeface="Noto Sans SC"/>
                <a:cs typeface="Noto Sans SC"/>
                <a:sym typeface="Noto Sans SC"/>
              </a:rPr>
              <a:t>特征提取</a:t>
            </a:r>
            <a:endParaRPr lang="en-US" sz="1100"/>
          </a:p>
        </p:txBody>
      </p:sp>
      <p:sp>
        <p:nvSpPr>
          <p:cNvPr id="7" name="AutoShape 7"/>
          <p:cNvSpPr/>
          <p:nvPr/>
        </p:nvSpPr>
        <p:spPr>
          <a:xfrm>
            <a:off x="889000" y="3111500"/>
            <a:ext cx="2222500" cy="1524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400" b="0" i="0" u="none" strike="noStrike">
                <a:solidFill>
                  <a:srgbClr val="424242"/>
                </a:solidFill>
                <a:latin typeface="Noto Sans SC"/>
                <a:ea typeface="Noto Sans SC"/>
                <a:cs typeface="Noto Sans SC"/>
                <a:sym typeface="Noto Sans SC"/>
              </a:rPr>
              <a:t>使用TF-IDF或词袋模型（Bag of Words）将原始文本数据转换为机器可理解的数值特征向量。</a:t>
            </a:r>
            <a:endParaRPr lang="en-US" sz="1100"/>
          </a:p>
        </p:txBody>
      </p:sp>
      <p:sp>
        <p:nvSpPr>
          <p:cNvPr id="8" name="AutoShape 8"/>
          <p:cNvSpPr/>
          <p:nvPr/>
        </p:nvSpPr>
        <p:spPr>
          <a:xfrm>
            <a:off x="3492500" y="1778000"/>
            <a:ext cx="2476500" cy="3048000"/>
          </a:xfrm>
          <a:prstGeom prst="roundRect">
            <a:avLst>
              <a:gd name="adj" fmla="val 5128"/>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470400" y="2032000"/>
            <a:ext cx="508000" cy="508000"/>
          </a:xfrm>
          <a:prstGeom prst="rect">
            <a:avLst/>
          </a:prstGeom>
        </p:spPr>
      </p:pic>
      <p:sp>
        <p:nvSpPr>
          <p:cNvPr id="10" name="AutoShape 10"/>
          <p:cNvSpPr/>
          <p:nvPr/>
        </p:nvSpPr>
        <p:spPr>
          <a:xfrm>
            <a:off x="3619500" y="2667000"/>
            <a:ext cx="2222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288D1"/>
                </a:solidFill>
                <a:latin typeface="Noto Sans SC"/>
                <a:ea typeface="Noto Sans SC"/>
                <a:cs typeface="Noto Sans SC"/>
                <a:sym typeface="Noto Sans SC"/>
              </a:rPr>
              <a:t>模型选择</a:t>
            </a:r>
            <a:endParaRPr lang="en-US" sz="1100"/>
          </a:p>
        </p:txBody>
      </p:sp>
      <p:sp>
        <p:nvSpPr>
          <p:cNvPr id="11" name="AutoShape 11"/>
          <p:cNvSpPr/>
          <p:nvPr/>
        </p:nvSpPr>
        <p:spPr>
          <a:xfrm>
            <a:off x="3619500" y="3111500"/>
            <a:ext cx="2222500" cy="1524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400" b="0" i="0" u="none" strike="noStrike">
                <a:solidFill>
                  <a:srgbClr val="424242"/>
                </a:solidFill>
                <a:latin typeface="Noto Sans SC"/>
                <a:ea typeface="Noto Sans SC"/>
                <a:cs typeface="Noto Sans SC"/>
                <a:sym typeface="Noto Sans SC"/>
              </a:rPr>
              <a:t>根据任务需求选择合适的分类算法，如朴素贝叶斯、支持向量机(SVM)或随机森林等。</a:t>
            </a:r>
            <a:endParaRPr lang="en-US" sz="1100"/>
          </a:p>
        </p:txBody>
      </p:sp>
      <p:sp>
        <p:nvSpPr>
          <p:cNvPr id="12" name="AutoShape 12"/>
          <p:cNvSpPr/>
          <p:nvPr/>
        </p:nvSpPr>
        <p:spPr>
          <a:xfrm>
            <a:off x="6223000" y="1778000"/>
            <a:ext cx="2476500" cy="3048000"/>
          </a:xfrm>
          <a:prstGeom prst="roundRect">
            <a:avLst>
              <a:gd name="adj" fmla="val 5128"/>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200900" y="2032000"/>
            <a:ext cx="508000" cy="508000"/>
          </a:xfrm>
          <a:prstGeom prst="rect">
            <a:avLst/>
          </a:prstGeom>
        </p:spPr>
      </p:pic>
      <p:sp>
        <p:nvSpPr>
          <p:cNvPr id="14" name="AutoShape 14"/>
          <p:cNvSpPr/>
          <p:nvPr/>
        </p:nvSpPr>
        <p:spPr>
          <a:xfrm>
            <a:off x="6350000" y="2667000"/>
            <a:ext cx="2222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288D1"/>
                </a:solidFill>
                <a:latin typeface="Noto Sans SC"/>
                <a:ea typeface="Noto Sans SC"/>
                <a:cs typeface="Noto Sans SC"/>
                <a:sym typeface="Noto Sans SC"/>
              </a:rPr>
              <a:t>模型训练</a:t>
            </a:r>
            <a:endParaRPr lang="en-US" sz="1100"/>
          </a:p>
        </p:txBody>
      </p:sp>
      <p:sp>
        <p:nvSpPr>
          <p:cNvPr id="15" name="AutoShape 15"/>
          <p:cNvSpPr/>
          <p:nvPr/>
        </p:nvSpPr>
        <p:spPr>
          <a:xfrm>
            <a:off x="6350000" y="3111500"/>
            <a:ext cx="2222500" cy="1524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400" b="0" i="0" u="none" strike="noStrike">
                <a:solidFill>
                  <a:srgbClr val="424242"/>
                </a:solidFill>
                <a:latin typeface="Noto Sans SC"/>
                <a:ea typeface="Noto Sans SC"/>
                <a:cs typeface="Noto Sans SC"/>
                <a:sym typeface="Noto Sans SC"/>
              </a:rPr>
              <a:t>利用标注好的训练数据集，对选定的模型进行参数学习和拟合，建立分类决策边界。</a:t>
            </a:r>
            <a:endParaRPr lang="en-US" sz="1100"/>
          </a:p>
        </p:txBody>
      </p:sp>
      <p:sp>
        <p:nvSpPr>
          <p:cNvPr id="16" name="AutoShape 16"/>
          <p:cNvSpPr/>
          <p:nvPr/>
        </p:nvSpPr>
        <p:spPr>
          <a:xfrm>
            <a:off x="8953500" y="1778000"/>
            <a:ext cx="2476500" cy="3048000"/>
          </a:xfrm>
          <a:prstGeom prst="roundRect">
            <a:avLst>
              <a:gd name="adj" fmla="val 5128"/>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931400" y="2032000"/>
            <a:ext cx="508000" cy="508000"/>
          </a:xfrm>
          <a:prstGeom prst="rect">
            <a:avLst/>
          </a:prstGeom>
        </p:spPr>
      </p:pic>
      <p:sp>
        <p:nvSpPr>
          <p:cNvPr id="18" name="AutoShape 18"/>
          <p:cNvSpPr/>
          <p:nvPr/>
        </p:nvSpPr>
        <p:spPr>
          <a:xfrm>
            <a:off x="9080500" y="2667000"/>
            <a:ext cx="2222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288D1"/>
                </a:solidFill>
                <a:latin typeface="Noto Sans SC"/>
                <a:ea typeface="Noto Sans SC"/>
                <a:cs typeface="Noto Sans SC"/>
                <a:sym typeface="Noto Sans SC"/>
              </a:rPr>
              <a:t>模型评估</a:t>
            </a:r>
            <a:endParaRPr lang="en-US" sz="1100"/>
          </a:p>
        </p:txBody>
      </p:sp>
      <p:sp>
        <p:nvSpPr>
          <p:cNvPr id="19" name="AutoShape 19"/>
          <p:cNvSpPr/>
          <p:nvPr/>
        </p:nvSpPr>
        <p:spPr>
          <a:xfrm>
            <a:off x="9080500" y="3111500"/>
            <a:ext cx="2222500" cy="1524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400" b="0" i="0" u="none" strike="noStrike">
                <a:solidFill>
                  <a:srgbClr val="424242"/>
                </a:solidFill>
                <a:latin typeface="Noto Sans SC"/>
                <a:ea typeface="Noto Sans SC"/>
                <a:cs typeface="Noto Sans SC"/>
                <a:sym typeface="Noto Sans SC"/>
              </a:rPr>
              <a:t>在独立的测试集上验证模型性能，计算准确率、召回率等指标，并进行参数调优。</a:t>
            </a:r>
            <a:endParaRPr lang="en-US" sz="1100"/>
          </a:p>
        </p:txBody>
      </p:sp>
      <p:sp>
        <p:nvSpPr>
          <p:cNvPr id="20" name="AutoShape 20"/>
          <p:cNvSpPr/>
          <p:nvPr/>
        </p:nvSpPr>
        <p:spPr>
          <a:xfrm>
            <a:off x="762000" y="5207000"/>
            <a:ext cx="10668000" cy="889000"/>
          </a:xfrm>
          <a:prstGeom prst="roundRect">
            <a:avLst>
              <a:gd name="adj" fmla="val 14285"/>
            </a:avLst>
          </a:prstGeom>
          <a:solidFill>
            <a:srgbClr val="0288D1">
              <a:alpha val="10000"/>
            </a:srgbClr>
          </a:solidFill>
          <a:ln w="12700" cap="flat" cmpd="sng">
            <a:solidFill>
              <a:srgbClr val="0288D1">
                <a:alpha val="30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1016000" y="5334000"/>
            <a:ext cx="10160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500" b="1" i="0" u="none" strike="noStrike">
                <a:solidFill>
                  <a:srgbClr val="0288D1"/>
                </a:solidFill>
                <a:latin typeface="Noto Sans SC"/>
                <a:ea typeface="Noto Sans SC"/>
                <a:cs typeface="Noto Sans SC"/>
                <a:sym typeface="Noto Sans SC"/>
              </a:rPr>
              <a:t>核心优势：</a:t>
            </a:r>
            <a:r>
              <a:rPr lang="en-US" sz="1500" b="0" i="0" u="none" strike="noStrike">
                <a:solidFill>
                  <a:srgbClr val="424242"/>
                </a:solidFill>
                <a:latin typeface="Noto Sans SC"/>
                <a:ea typeface="Noto Sans SC"/>
                <a:cs typeface="Noto Sans SC"/>
                <a:sym typeface="Noto Sans SC"/>
              </a:rPr>
              <a:t>传统方法通常计算成本较低，可解释性强，对于中小规模数据集或特定领域任务，往往能达到不错的效果，是深度学习方法的重要补充。</a:t>
            </a:r>
            <a:endParaRPr lang="en-US" sz="11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98298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步骤3：模型选择与训练（大模型方法）</a:t>
            </a:r>
            <a:endParaRPr lang="en-US" sz="1100"/>
          </a:p>
        </p:txBody>
      </p:sp>
      <p:sp>
        <p:nvSpPr>
          <p:cNvPr id="3" name="AutoShape 3"/>
          <p:cNvSpPr/>
          <p:nvPr/>
        </p:nvSpPr>
        <p:spPr>
          <a:xfrm>
            <a:off x="762000" y="1651000"/>
            <a:ext cx="5080000" cy="2540000"/>
          </a:xfrm>
          <a:prstGeom prst="roundRect">
            <a:avLst>
              <a:gd name="adj" fmla="val 500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1066800" y="1955800"/>
            <a:ext cx="609600" cy="609600"/>
          </a:xfrm>
          <a:prstGeom prst="ellipse">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68400" y="2057400"/>
            <a:ext cx="406400" cy="406400"/>
          </a:xfrm>
          <a:prstGeom prst="rect">
            <a:avLst/>
          </a:prstGeom>
        </p:spPr>
      </p:pic>
      <p:sp>
        <p:nvSpPr>
          <p:cNvPr id="6" name="AutoShape 6"/>
          <p:cNvSpPr/>
          <p:nvPr/>
        </p:nvSpPr>
        <p:spPr>
          <a:xfrm>
            <a:off x="1828800" y="19558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提示词少样本学习</a:t>
            </a:r>
            <a:endParaRPr lang="en-US" sz="1100"/>
          </a:p>
        </p:txBody>
      </p:sp>
      <p:sp>
        <p:nvSpPr>
          <p:cNvPr id="7" name="AutoShape 7"/>
          <p:cNvSpPr/>
          <p:nvPr/>
        </p:nvSpPr>
        <p:spPr>
          <a:xfrm>
            <a:off x="1066800" y="2667000"/>
            <a:ext cx="4470400" cy="1270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500" b="0" i="0" u="none" strike="noStrike">
                <a:solidFill>
                  <a:srgbClr val="424242"/>
                </a:solidFill>
                <a:latin typeface="Noto Sans SC"/>
                <a:ea typeface="Noto Sans SC"/>
                <a:cs typeface="Noto Sans SC"/>
                <a:sym typeface="Noto Sans SC"/>
              </a:rPr>
              <a:t>设计合适的提示词，利用少量标注样本让模型完成分类任务。这种方法在数据稀缺场景下尤为高效，能快速构建可用模型。</a:t>
            </a:r>
            <a:endParaRPr lang="en-US" sz="1100"/>
          </a:p>
        </p:txBody>
      </p:sp>
      <p:sp>
        <p:nvSpPr>
          <p:cNvPr id="8" name="AutoShape 8"/>
          <p:cNvSpPr/>
          <p:nvPr/>
        </p:nvSpPr>
        <p:spPr>
          <a:xfrm>
            <a:off x="6350000" y="1651000"/>
            <a:ext cx="5080000" cy="2540000"/>
          </a:xfrm>
          <a:prstGeom prst="roundRect">
            <a:avLst>
              <a:gd name="adj" fmla="val 500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sp>
        <p:nvSpPr>
          <p:cNvPr id="9" name="AutoShape 9"/>
          <p:cNvSpPr/>
          <p:nvPr/>
        </p:nvSpPr>
        <p:spPr>
          <a:xfrm>
            <a:off x="6654800" y="1955800"/>
            <a:ext cx="609600" cy="609600"/>
          </a:xfrm>
          <a:prstGeom prst="ellipse">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56400" y="2057400"/>
            <a:ext cx="406400" cy="406400"/>
          </a:xfrm>
          <a:prstGeom prst="rect">
            <a:avLst/>
          </a:prstGeom>
        </p:spPr>
      </p:pic>
      <p:sp>
        <p:nvSpPr>
          <p:cNvPr id="11" name="AutoShape 11"/>
          <p:cNvSpPr/>
          <p:nvPr/>
        </p:nvSpPr>
        <p:spPr>
          <a:xfrm>
            <a:off x="7416800" y="19558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预训练模型微调</a:t>
            </a:r>
            <a:endParaRPr lang="en-US" sz="1100"/>
          </a:p>
        </p:txBody>
      </p:sp>
      <p:sp>
        <p:nvSpPr>
          <p:cNvPr id="12" name="AutoShape 12"/>
          <p:cNvSpPr/>
          <p:nvPr/>
        </p:nvSpPr>
        <p:spPr>
          <a:xfrm>
            <a:off x="6654800" y="2667000"/>
            <a:ext cx="4470400" cy="1270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500" b="0" i="0" u="none" strike="noStrike">
                <a:solidFill>
                  <a:srgbClr val="424242"/>
                </a:solidFill>
                <a:latin typeface="Noto Sans SC"/>
                <a:ea typeface="Noto Sans SC"/>
                <a:cs typeface="Noto Sans SC"/>
                <a:sym typeface="Noto Sans SC"/>
              </a:rPr>
              <a:t>使用标注数据集对BERT、RoBERTa等预训练模型进行微调，使其充分适应直播间问答分类任务，通常能取得比传统方法更优的效果。</a:t>
            </a:r>
            <a:endParaRPr lang="en-US" sz="1100"/>
          </a:p>
        </p:txBody>
      </p:sp>
      <p:sp>
        <p:nvSpPr>
          <p:cNvPr id="13" name="AutoShape 13"/>
          <p:cNvSpPr/>
          <p:nvPr/>
        </p:nvSpPr>
        <p:spPr>
          <a:xfrm>
            <a:off x="762000" y="4572000"/>
            <a:ext cx="10668000" cy="1016000"/>
          </a:xfrm>
          <a:prstGeom prst="roundRect">
            <a:avLst>
              <a:gd name="adj" fmla="val 12500"/>
            </a:avLst>
          </a:prstGeom>
          <a:solidFill>
            <a:srgbClr val="0288D1">
              <a:alpha val="8000"/>
            </a:srgbClr>
          </a:solidFill>
          <a:ln w="12700" cap="flat" cmpd="sng">
            <a:solidFill>
              <a:srgbClr val="0288D1">
                <a:alpha val="3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826000"/>
            <a:ext cx="508000" cy="508000"/>
          </a:xfrm>
          <a:prstGeom prst="rect">
            <a:avLst/>
          </a:prstGeom>
        </p:spPr>
      </p:pic>
      <p:sp>
        <p:nvSpPr>
          <p:cNvPr id="15" name="AutoShape 15"/>
          <p:cNvSpPr/>
          <p:nvPr/>
        </p:nvSpPr>
        <p:spPr>
          <a:xfrm>
            <a:off x="1651000" y="4762500"/>
            <a:ext cx="9525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24242"/>
                </a:solidFill>
                <a:latin typeface="Noto Sans SC"/>
                <a:ea typeface="Noto Sans SC"/>
                <a:cs typeface="Noto Sans SC"/>
                <a:sym typeface="Noto Sans SC"/>
              </a:rPr>
              <a:t>核心优势：</a:t>
            </a:r>
            <a:r>
              <a:rPr lang="en-US" sz="1600" b="0" i="0" u="none" strike="noStrike">
                <a:solidFill>
                  <a:srgbClr val="424242"/>
                </a:solidFill>
                <a:latin typeface="Noto Sans SC"/>
                <a:ea typeface="Noto Sans SC"/>
                <a:cs typeface="Noto Sans SC"/>
                <a:sym typeface="Noto Sans SC"/>
              </a:rPr>
              <a:t>大模型方法通过迁移学习和少样本学习能力，能够显著降低对大规模标注数据的依赖，同时提升分类任务的准确性和泛化能力。</a:t>
            </a:r>
            <a:endParaRPr lang="en-US" sz="11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49149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步骤4：模型部署与集成</a:t>
            </a:r>
            <a:endParaRPr lang="en-US" sz="1100"/>
          </a:p>
        </p:txBody>
      </p:sp>
      <p:sp>
        <p:nvSpPr>
          <p:cNvPr id="3" name="AutoShape 3"/>
          <p:cNvSpPr/>
          <p:nvPr/>
        </p:nvSpPr>
        <p:spPr>
          <a:xfrm>
            <a:off x="762000" y="1524000"/>
            <a:ext cx="3302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968500" y="1778000"/>
            <a:ext cx="889000" cy="889000"/>
          </a:xfrm>
          <a:prstGeom prst="rect">
            <a:avLst/>
          </a:prstGeom>
        </p:spPr>
      </p:pic>
      <p:sp>
        <p:nvSpPr>
          <p:cNvPr id="5" name="AutoShape 5"/>
          <p:cNvSpPr/>
          <p:nvPr/>
        </p:nvSpPr>
        <p:spPr>
          <a:xfrm>
            <a:off x="889000" y="2794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88D1"/>
                </a:solidFill>
                <a:latin typeface="Noto Sans SC"/>
                <a:ea typeface="Noto Sans SC"/>
                <a:cs typeface="Noto Sans SC"/>
                <a:sym typeface="Noto Sans SC"/>
              </a:rPr>
              <a:t>模型部署</a:t>
            </a:r>
            <a:endParaRPr lang="en-US" sz="1100"/>
          </a:p>
        </p:txBody>
      </p:sp>
      <p:sp>
        <p:nvSpPr>
          <p:cNvPr id="6" name="AutoShape 6"/>
          <p:cNvSpPr/>
          <p:nvPr/>
        </p:nvSpPr>
        <p:spPr>
          <a:xfrm>
            <a:off x="952500" y="3302000"/>
            <a:ext cx="2921000" cy="1016000"/>
          </a:xfrm>
          <a:prstGeom prst="rect">
            <a:avLst/>
          </a:prstGeom>
          <a:noFill/>
          <a:ln w="12700" cap="flat" cmpd="sng">
            <a:noFill/>
            <a:prstDash val="solid"/>
            <a:round/>
          </a:ln>
        </p:spPr>
        <p:txBody>
          <a:bodyPr vert="horz" wrap="square" lIns="0" tIns="0" rIns="0" bIns="0" rtlCol="0" anchor="t" anchorCtr="0"/>
          <a:lstStyle/>
          <a:p>
            <a:pPr indent="0" algn="ctr">
              <a:lnSpc>
                <a:spcPct val="108000"/>
              </a:lnSpc>
              <a:defRPr/>
            </a:pPr>
            <a:r>
              <a:rPr lang="en-US" sz="1400" b="0" i="0" u="none" strike="noStrike">
                <a:solidFill>
                  <a:srgbClr val="424242"/>
                </a:solidFill>
                <a:latin typeface="Noto Sans SC"/>
                <a:ea typeface="Noto Sans SC"/>
                <a:cs typeface="Noto Sans SC"/>
                <a:sym typeface="Noto Sans SC"/>
              </a:rPr>
              <a:t>将训练好的模型封装成API服务，提供实时的分类接口，确保模型能力的高效调用。</a:t>
            </a:r>
            <a:endParaRPr lang="en-US" sz="1100"/>
          </a:p>
        </p:txBody>
      </p:sp>
      <p:sp>
        <p:nvSpPr>
          <p:cNvPr id="7" name="AutoShape 7"/>
          <p:cNvSpPr/>
          <p:nvPr/>
        </p:nvSpPr>
        <p:spPr>
          <a:xfrm>
            <a:off x="4445000" y="1524000"/>
            <a:ext cx="3302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51500" y="1778000"/>
            <a:ext cx="889000" cy="889000"/>
          </a:xfrm>
          <a:prstGeom prst="rect">
            <a:avLst/>
          </a:prstGeom>
        </p:spPr>
      </p:pic>
      <p:sp>
        <p:nvSpPr>
          <p:cNvPr id="9" name="AutoShape 9"/>
          <p:cNvSpPr/>
          <p:nvPr/>
        </p:nvSpPr>
        <p:spPr>
          <a:xfrm>
            <a:off x="4572000" y="2794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88D1"/>
                </a:solidFill>
                <a:latin typeface="Noto Sans SC"/>
                <a:ea typeface="Noto Sans SC"/>
                <a:cs typeface="Noto Sans SC"/>
                <a:sym typeface="Noto Sans SC"/>
              </a:rPr>
              <a:t>系统集成</a:t>
            </a:r>
            <a:endParaRPr lang="en-US" sz="1100"/>
          </a:p>
        </p:txBody>
      </p:sp>
      <p:sp>
        <p:nvSpPr>
          <p:cNvPr id="10" name="AutoShape 10"/>
          <p:cNvSpPr/>
          <p:nvPr/>
        </p:nvSpPr>
        <p:spPr>
          <a:xfrm>
            <a:off x="4635500" y="3302000"/>
            <a:ext cx="2921000" cy="1016000"/>
          </a:xfrm>
          <a:prstGeom prst="rect">
            <a:avLst/>
          </a:prstGeom>
          <a:noFill/>
          <a:ln w="12700" cap="flat" cmpd="sng">
            <a:noFill/>
            <a:prstDash val="solid"/>
            <a:round/>
          </a:ln>
        </p:spPr>
        <p:txBody>
          <a:bodyPr vert="horz" wrap="square" lIns="0" tIns="0" rIns="0" bIns="0" rtlCol="0" anchor="t" anchorCtr="0"/>
          <a:lstStyle/>
          <a:p>
            <a:pPr indent="0" algn="ctr">
              <a:lnSpc>
                <a:spcPct val="108000"/>
              </a:lnSpc>
              <a:defRPr/>
            </a:pPr>
            <a:r>
              <a:rPr lang="en-US" sz="1400" b="0" i="0" u="none" strike="noStrike">
                <a:solidFill>
                  <a:srgbClr val="424242"/>
                </a:solidFill>
                <a:latin typeface="Noto Sans SC"/>
                <a:ea typeface="Noto Sans SC"/>
                <a:cs typeface="Noto Sans SC"/>
                <a:sym typeface="Noto Sans SC"/>
              </a:rPr>
              <a:t>将分类API无缝集成到直播间后台系统中，打通业务流程，实现技术与业务的融合。</a:t>
            </a:r>
            <a:endParaRPr lang="en-US" sz="1100"/>
          </a:p>
        </p:txBody>
      </p:sp>
      <p:sp>
        <p:nvSpPr>
          <p:cNvPr id="11" name="AutoShape 11"/>
          <p:cNvSpPr/>
          <p:nvPr/>
        </p:nvSpPr>
        <p:spPr>
          <a:xfrm>
            <a:off x="8128000" y="1524000"/>
            <a:ext cx="3302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334500" y="1778000"/>
            <a:ext cx="889000" cy="889000"/>
          </a:xfrm>
          <a:prstGeom prst="rect">
            <a:avLst/>
          </a:prstGeom>
        </p:spPr>
      </p:pic>
      <p:sp>
        <p:nvSpPr>
          <p:cNvPr id="13" name="AutoShape 13"/>
          <p:cNvSpPr/>
          <p:nvPr/>
        </p:nvSpPr>
        <p:spPr>
          <a:xfrm>
            <a:off x="8255000" y="2794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88D1"/>
                </a:solidFill>
                <a:latin typeface="Noto Sans SC"/>
                <a:ea typeface="Noto Sans SC"/>
                <a:cs typeface="Noto Sans SC"/>
                <a:sym typeface="Noto Sans SC"/>
              </a:rPr>
              <a:t>实时处理</a:t>
            </a:r>
            <a:endParaRPr lang="en-US" sz="1100"/>
          </a:p>
        </p:txBody>
      </p:sp>
      <p:sp>
        <p:nvSpPr>
          <p:cNvPr id="14" name="AutoShape 14"/>
          <p:cNvSpPr/>
          <p:nvPr/>
        </p:nvSpPr>
        <p:spPr>
          <a:xfrm>
            <a:off x="8318500" y="3302000"/>
            <a:ext cx="2921000" cy="1016000"/>
          </a:xfrm>
          <a:prstGeom prst="rect">
            <a:avLst/>
          </a:prstGeom>
          <a:noFill/>
          <a:ln w="12700" cap="flat" cmpd="sng">
            <a:noFill/>
            <a:prstDash val="solid"/>
            <a:round/>
          </a:ln>
        </p:spPr>
        <p:txBody>
          <a:bodyPr vert="horz" wrap="square" lIns="0" tIns="0" rIns="0" bIns="0" rtlCol="0" anchor="t" anchorCtr="0"/>
          <a:lstStyle/>
          <a:p>
            <a:pPr indent="0" algn="ctr">
              <a:lnSpc>
                <a:spcPct val="108000"/>
              </a:lnSpc>
              <a:defRPr/>
            </a:pPr>
            <a:r>
              <a:rPr lang="en-US" sz="1400" b="0" i="0" u="none" strike="noStrike">
                <a:solidFill>
                  <a:srgbClr val="424242"/>
                </a:solidFill>
                <a:latin typeface="Noto Sans SC"/>
                <a:ea typeface="Noto Sans SC"/>
                <a:cs typeface="Noto Sans SC"/>
                <a:sym typeface="Noto Sans SC"/>
              </a:rPr>
              <a:t>用户提问时，系统实时调用API分类，自动路由给相应回答者，提升响应速度。</a:t>
            </a:r>
            <a:endParaRPr lang="en-US" sz="1100"/>
          </a:p>
        </p:txBody>
      </p:sp>
      <p:sp>
        <p:nvSpPr>
          <p:cNvPr id="15" name="AutoShape 15"/>
          <p:cNvSpPr/>
          <p:nvPr/>
        </p:nvSpPr>
        <p:spPr>
          <a:xfrm>
            <a:off x="762000" y="4953000"/>
            <a:ext cx="10668000" cy="1143000"/>
          </a:xfrm>
          <a:prstGeom prst="roundRect">
            <a:avLst>
              <a:gd name="adj" fmla="val 11111"/>
            </a:avLst>
          </a:prstGeom>
          <a:solidFill>
            <a:srgbClr val="0288D1">
              <a:alpha val="10000"/>
            </a:srgbClr>
          </a:solidFill>
          <a:ln w="12700" cap="flat" cmpd="sng">
            <a:solidFill>
              <a:srgbClr val="0288D1">
                <a:alpha val="100000"/>
              </a:srgbClr>
            </a:solidFill>
            <a:prstDash val="dash"/>
            <a:round/>
          </a:ln>
        </p:spPr>
        <p:txBody>
          <a:bodyPr vert="horz" wrap="square" lIns="63500" tIns="63500" rIns="63500" bIns="63500" rtlCol="0" anchor="ctr"/>
          <a:lstStyle/>
          <a:p>
            <a:pPr algn="ctr">
              <a:defRPr/>
            </a:pPr>
          </a:p>
        </p:txBody>
      </p:sp>
      <p:sp>
        <p:nvSpPr>
          <p:cNvPr id="16" name="AutoShape 16"/>
          <p:cNvSpPr/>
          <p:nvPr/>
        </p:nvSpPr>
        <p:spPr>
          <a:xfrm>
            <a:off x="1016000" y="5143500"/>
            <a:ext cx="10160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424242"/>
                </a:solidFill>
                <a:latin typeface="Noto Sans SC"/>
                <a:ea typeface="Noto Sans SC"/>
                <a:cs typeface="Noto Sans SC"/>
                <a:sym typeface="Noto Sans SC"/>
              </a:rPr>
              <a:t>核心价值：</a:t>
            </a:r>
            <a:r>
              <a:rPr lang="en-US" sz="1600" b="0" i="0" u="none" strike="noStrike">
                <a:solidFill>
                  <a:srgbClr val="424242"/>
                </a:solidFill>
                <a:latin typeface="Noto Sans SC"/>
                <a:ea typeface="Noto Sans SC"/>
                <a:cs typeface="Noto Sans SC"/>
                <a:sym typeface="Noto Sans SC"/>
              </a:rPr>
              <a:t>通过高效的部署与集成，实现从模型能力到业务价值的转化，确保系统稳定、快速地服务用户。</a:t>
            </a:r>
            <a:endParaRPr lang="en-US" sz="11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4470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步骤5：效果评估与优化</a:t>
            </a:r>
            <a:endParaRPr lang="en-US" sz="1100"/>
          </a:p>
        </p:txBody>
      </p:sp>
      <p:sp>
        <p:nvSpPr>
          <p:cNvPr id="3" name="AutoShape 3"/>
          <p:cNvSpPr/>
          <p:nvPr/>
        </p:nvSpPr>
        <p:spPr>
          <a:xfrm>
            <a:off x="762000" y="1397000"/>
            <a:ext cx="5080000" cy="2159000"/>
          </a:xfrm>
          <a:prstGeom prst="roundRect">
            <a:avLst>
              <a:gd name="adj" fmla="val 5882"/>
            </a:avLst>
          </a:prstGeom>
          <a:solidFill>
            <a:srgbClr val="FFFFFF">
              <a:alpha val="100000"/>
            </a:srgbClr>
          </a:solidFill>
          <a:ln w="25400" cap="flat" cmpd="sng">
            <a:noFill/>
            <a:prstDash val="solid"/>
            <a:round/>
          </a:ln>
          <a:effectLst>
            <a:outerShdw blurRad="101600" dist="50800" dir="5400000" algn="tl" rotWithShape="0">
              <a:srgbClr val="000000">
                <a:alpha val="5000"/>
              </a:srgbClr>
            </a:outerShdw>
          </a:effectLst>
        </p:spPr>
        <p:txBody>
          <a:bodyPr vert="horz" wrap="square" lIns="63500" tIns="63500" rIns="63500" bIns="63500" rtlCol="0" anchor="ctr"/>
          <a:lstStyle/>
          <a:p>
            <a:pPr algn="ctr">
              <a:defRPr/>
            </a:pPr>
          </a:p>
        </p:txBody>
      </p:sp>
      <p:sp>
        <p:nvSpPr>
          <p:cNvPr id="4" name="AutoShape 4"/>
          <p:cNvSpPr/>
          <p:nvPr/>
        </p:nvSpPr>
        <p:spPr>
          <a:xfrm>
            <a:off x="762000" y="1397000"/>
            <a:ext cx="5080000" cy="558800"/>
          </a:xfrm>
          <a:prstGeom prst="roundRect">
            <a:avLst>
              <a:gd name="adj" fmla="val 22727"/>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1498600"/>
            <a:ext cx="355600" cy="355600"/>
          </a:xfrm>
          <a:prstGeom prst="rect">
            <a:avLst/>
          </a:prstGeom>
        </p:spPr>
      </p:pic>
      <p:sp>
        <p:nvSpPr>
          <p:cNvPr id="6" name="AutoShape 6"/>
          <p:cNvSpPr/>
          <p:nvPr/>
        </p:nvSpPr>
        <p:spPr>
          <a:xfrm>
            <a:off x="1397000" y="14478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效果评估</a:t>
            </a:r>
            <a:endParaRPr lang="en-US" sz="1100"/>
          </a:p>
        </p:txBody>
      </p:sp>
      <p:sp>
        <p:nvSpPr>
          <p:cNvPr id="7" name="AutoShape 7"/>
          <p:cNvSpPr/>
          <p:nvPr/>
        </p:nvSpPr>
        <p:spPr>
          <a:xfrm>
            <a:off x="952500" y="2032000"/>
            <a:ext cx="4699000" cy="1270000"/>
          </a:xfrm>
          <a:prstGeom prst="rect">
            <a:avLst/>
          </a:prstGeom>
          <a:noFill/>
          <a:ln w="12700" cap="flat" cmpd="sng">
            <a:noFill/>
            <a:prstDash val="solid"/>
            <a:round/>
          </a:ln>
        </p:spPr>
        <p:txBody>
          <a:bodyPr vert="horz" wrap="square" lIns="0" tIns="0" rIns="0" bIns="0" rtlCol="0" anchor="ctr" anchorCtr="0"/>
          <a:lstStyle/>
          <a:p>
            <a:pPr marL="190500" indent="-190500" algn="l">
              <a:lnSpc>
                <a:spcPct val="108000"/>
              </a:lnSpc>
              <a:buClr>
                <a:srgbClr val="424242"/>
              </a:buClr>
              <a:buChar char="•"/>
              <a:defRPr/>
            </a:pPr>
            <a:r>
              <a:rPr lang="en-US" sz="1500" b="0" i="0" u="none" strike="noStrike">
                <a:solidFill>
                  <a:srgbClr val="424242"/>
                </a:solidFill>
                <a:latin typeface="Noto Sans SC"/>
                <a:ea typeface="Noto Sans SC"/>
                <a:cs typeface="Noto Sans SC"/>
                <a:sym typeface="Noto Sans SC"/>
              </a:rPr>
              <a:t>指标评估：使用准确率、精确率、召回率、F1得分等指标评估模型性能。</a:t>
            </a:r>
            <a:endParaRPr lang="en-US" sz="1100"/>
          </a:p>
          <a:p>
            <a:pPr marL="190500" indent="-190500" algn="l">
              <a:lnSpc>
                <a:spcPct val="108000"/>
              </a:lnSpc>
              <a:buClr>
                <a:srgbClr val="424242"/>
              </a:buClr>
              <a:buChar char="•"/>
            </a:pPr>
            <a:r>
              <a:rPr lang="en-US" sz="1500" b="0" i="0" u="none" strike="noStrike">
                <a:solidFill>
                  <a:srgbClr val="424242"/>
                </a:solidFill>
                <a:latin typeface="Noto Sans SC"/>
                <a:ea typeface="Noto Sans SC"/>
                <a:cs typeface="Noto Sans SC"/>
                <a:sym typeface="Noto Sans SC"/>
              </a:rPr>
              <a:t>用户反馈：收集用户反馈，了解分类结果的准确性和实用性。</a:t>
            </a:r>
            <a:endParaRPr lang="en-US" sz="1500" b="0" i="0" u="none" strike="noStrike">
              <a:solidFill>
                <a:srgbClr val="424242"/>
              </a:solidFill>
              <a:latin typeface="Noto Sans SC"/>
              <a:ea typeface="Noto Sans SC"/>
              <a:cs typeface="Noto Sans SC"/>
              <a:sym typeface="Noto Sans SC"/>
            </a:endParaRPr>
          </a:p>
        </p:txBody>
      </p:sp>
      <p:sp>
        <p:nvSpPr>
          <p:cNvPr id="8" name="AutoShape 8"/>
          <p:cNvSpPr/>
          <p:nvPr/>
        </p:nvSpPr>
        <p:spPr>
          <a:xfrm>
            <a:off x="6350000" y="1397000"/>
            <a:ext cx="5080000" cy="2159000"/>
          </a:xfrm>
          <a:prstGeom prst="roundRect">
            <a:avLst>
              <a:gd name="adj" fmla="val 5882"/>
            </a:avLst>
          </a:prstGeom>
          <a:solidFill>
            <a:srgbClr val="FFFFFF">
              <a:alpha val="100000"/>
            </a:srgbClr>
          </a:solidFill>
          <a:ln w="25400" cap="flat" cmpd="sng">
            <a:noFill/>
            <a:prstDash val="solid"/>
            <a:round/>
          </a:ln>
          <a:effectLst>
            <a:outerShdw blurRad="101600" dist="50800" dir="5400000" algn="tl" rotWithShape="0">
              <a:srgbClr val="000000">
                <a:alpha val="5000"/>
              </a:srgbClr>
            </a:outerShdw>
          </a:effectLst>
        </p:spPr>
        <p:txBody>
          <a:bodyPr vert="horz" wrap="square" lIns="63500" tIns="63500" rIns="63500" bIns="63500" rtlCol="0" anchor="ctr"/>
          <a:lstStyle/>
          <a:p>
            <a:pPr algn="ctr">
              <a:defRPr/>
            </a:pPr>
          </a:p>
        </p:txBody>
      </p:sp>
      <p:sp>
        <p:nvSpPr>
          <p:cNvPr id="9" name="AutoShape 9"/>
          <p:cNvSpPr/>
          <p:nvPr/>
        </p:nvSpPr>
        <p:spPr>
          <a:xfrm>
            <a:off x="6350000" y="1397000"/>
            <a:ext cx="5080000" cy="558800"/>
          </a:xfrm>
          <a:prstGeom prst="roundRect">
            <a:avLst>
              <a:gd name="adj" fmla="val 22727"/>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40500" y="1498600"/>
            <a:ext cx="355600" cy="355600"/>
          </a:xfrm>
          <a:prstGeom prst="rect">
            <a:avLst/>
          </a:prstGeom>
        </p:spPr>
      </p:pic>
      <p:sp>
        <p:nvSpPr>
          <p:cNvPr id="11" name="AutoShape 11"/>
          <p:cNvSpPr/>
          <p:nvPr/>
        </p:nvSpPr>
        <p:spPr>
          <a:xfrm>
            <a:off x="6985000" y="14478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模型优化策略</a:t>
            </a:r>
            <a:endParaRPr lang="en-US" sz="1100"/>
          </a:p>
        </p:txBody>
      </p:sp>
      <p:sp>
        <p:nvSpPr>
          <p:cNvPr id="12" name="AutoShape 12"/>
          <p:cNvSpPr/>
          <p:nvPr/>
        </p:nvSpPr>
        <p:spPr>
          <a:xfrm>
            <a:off x="6540500" y="2032000"/>
            <a:ext cx="4699000" cy="1270000"/>
          </a:xfrm>
          <a:prstGeom prst="rect">
            <a:avLst/>
          </a:prstGeom>
          <a:noFill/>
          <a:ln w="12700" cap="flat" cmpd="sng">
            <a:noFill/>
            <a:prstDash val="solid"/>
            <a:round/>
          </a:ln>
        </p:spPr>
        <p:txBody>
          <a:bodyPr vert="horz" wrap="square" lIns="0" tIns="0" rIns="0" bIns="0" rtlCol="0" anchor="ctr" anchorCtr="0"/>
          <a:lstStyle/>
          <a:p>
            <a:pPr marL="190500" indent="-190500" algn="l">
              <a:lnSpc>
                <a:spcPct val="108000"/>
              </a:lnSpc>
              <a:buClr>
                <a:srgbClr val="424242"/>
              </a:buClr>
              <a:buChar char="•"/>
              <a:defRPr/>
            </a:pPr>
            <a:r>
              <a:rPr lang="en-US" sz="1500" b="1" i="0" u="none" strike="noStrike">
                <a:solidFill>
                  <a:srgbClr val="424242"/>
                </a:solidFill>
                <a:latin typeface="Noto Sans SC"/>
                <a:ea typeface="Noto Sans SC"/>
                <a:cs typeface="Noto Sans SC"/>
                <a:sym typeface="Noto Sans SC"/>
              </a:rPr>
              <a:t>调整提示词：</a:t>
            </a:r>
            <a:r>
              <a:rPr lang="en-US" sz="1500" b="0" i="0" u="none" strike="noStrike">
                <a:solidFill>
                  <a:srgbClr val="424242"/>
                </a:solidFill>
                <a:latin typeface="Noto Sans SC"/>
                <a:ea typeface="Noto Sans SC"/>
                <a:cs typeface="Noto Sans SC"/>
                <a:sym typeface="Noto Sans SC"/>
              </a:rPr>
              <a:t>优化提示词以提高大模型分类准确性。</a:t>
            </a:r>
            <a:endParaRPr lang="en-US" sz="1100"/>
          </a:p>
          <a:p>
            <a:pPr marL="190500" indent="-190500" algn="l">
              <a:lnSpc>
                <a:spcPct val="108000"/>
              </a:lnSpc>
              <a:buClr>
                <a:srgbClr val="424242"/>
              </a:buClr>
              <a:buChar char="•"/>
            </a:pPr>
            <a:r>
              <a:rPr lang="en-US" sz="1500" b="1" i="0" u="none" strike="noStrike">
                <a:solidFill>
                  <a:srgbClr val="424242"/>
                </a:solidFill>
                <a:latin typeface="Noto Sans SC"/>
                <a:ea typeface="Noto Sans SC"/>
                <a:cs typeface="Noto Sans SC"/>
                <a:sym typeface="Noto Sans SC"/>
              </a:rPr>
              <a:t>增加数据：</a:t>
            </a:r>
            <a:r>
              <a:rPr lang="en-US" sz="1500" b="0" i="0" u="none" strike="noStrike">
                <a:solidFill>
                  <a:srgbClr val="424242"/>
                </a:solidFill>
                <a:latin typeface="Noto Sans SC"/>
                <a:ea typeface="Noto Sans SC"/>
                <a:cs typeface="Noto Sans SC"/>
                <a:sym typeface="Noto Sans SC"/>
              </a:rPr>
              <a:t>持续收集新的标注数据，扩充训练集。</a:t>
            </a:r>
            <a:endParaRPr lang="en-US" sz="1500" b="0" i="0" u="none" strike="noStrike">
              <a:solidFill>
                <a:srgbClr val="424242"/>
              </a:solidFill>
              <a:latin typeface="Noto Sans SC"/>
              <a:ea typeface="Noto Sans SC"/>
              <a:cs typeface="Noto Sans SC"/>
              <a:sym typeface="Noto Sans SC"/>
            </a:endParaRPr>
          </a:p>
          <a:p>
            <a:pPr marL="190500" indent="-190500" algn="l">
              <a:lnSpc>
                <a:spcPct val="108000"/>
              </a:lnSpc>
              <a:buClr>
                <a:srgbClr val="424242"/>
              </a:buClr>
              <a:buChar char="•"/>
            </a:pPr>
            <a:r>
              <a:rPr lang="en-US" sz="1500" b="1" i="0" u="none" strike="noStrike">
                <a:solidFill>
                  <a:srgbClr val="424242"/>
                </a:solidFill>
                <a:latin typeface="Noto Sans SC"/>
                <a:ea typeface="Noto Sans SC"/>
                <a:cs typeface="Noto Sans SC"/>
                <a:sym typeface="Noto Sans SC"/>
              </a:rPr>
              <a:t>模型融合：</a:t>
            </a:r>
            <a:r>
              <a:rPr lang="en-US" sz="1500" b="0" i="0" u="none" strike="noStrike">
                <a:solidFill>
                  <a:srgbClr val="424242"/>
                </a:solidFill>
                <a:latin typeface="Noto Sans SC"/>
                <a:ea typeface="Noto Sans SC"/>
                <a:cs typeface="Noto Sans SC"/>
                <a:sym typeface="Noto Sans SC"/>
              </a:rPr>
              <a:t>对比不同模型效果，融合预测结果提升性能。</a:t>
            </a:r>
            <a:endParaRPr lang="en-US" sz="1500" b="0" i="0" u="none" strike="noStrike">
              <a:solidFill>
                <a:srgbClr val="424242"/>
              </a:solidFill>
              <a:latin typeface="Noto Sans SC"/>
              <a:ea typeface="Noto Sans SC"/>
              <a:cs typeface="Noto Sans SC"/>
              <a:sym typeface="Noto Sans SC"/>
            </a:endParaRPr>
          </a:p>
        </p:txBody>
      </p:sp>
      <p:sp>
        <p:nvSpPr>
          <p:cNvPr id="13" name="AutoShape 13"/>
          <p:cNvSpPr/>
          <p:nvPr/>
        </p:nvSpPr>
        <p:spPr>
          <a:xfrm>
            <a:off x="762000" y="3810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持续优化闭环流程</a:t>
            </a:r>
            <a:endParaRPr lang="en-US" sz="1100"/>
          </a:p>
        </p:txBody>
      </p:sp>
      <p:sp>
        <p:nvSpPr>
          <p:cNvPr id="14" name="AutoShape 14"/>
          <p:cNvSpPr/>
          <p:nvPr/>
        </p:nvSpPr>
        <p:spPr>
          <a:xfrm>
            <a:off x="762000" y="4318000"/>
            <a:ext cx="2476500" cy="1270000"/>
          </a:xfrm>
          <a:prstGeom prst="roundRect">
            <a:avLst>
              <a:gd name="adj" fmla="val 10000"/>
            </a:avLst>
          </a:prstGeom>
          <a:solidFill>
            <a:srgbClr val="FFFFFF">
              <a:alpha val="100000"/>
            </a:srgbClr>
          </a:solidFill>
          <a:ln w="12700" cap="flat" cmpd="sng">
            <a:solidFill>
              <a:srgbClr val="0288D1">
                <a:alpha val="10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714500" y="4508500"/>
            <a:ext cx="508000" cy="508000"/>
          </a:xfrm>
          <a:prstGeom prst="rect">
            <a:avLst/>
          </a:prstGeom>
        </p:spPr>
      </p:pic>
      <p:sp>
        <p:nvSpPr>
          <p:cNvPr id="16" name="AutoShape 16"/>
          <p:cNvSpPr/>
          <p:nvPr/>
        </p:nvSpPr>
        <p:spPr>
          <a:xfrm>
            <a:off x="762000" y="5080000"/>
            <a:ext cx="2476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424242"/>
                </a:solidFill>
                <a:latin typeface="Noto Sans SC"/>
                <a:ea typeface="Noto Sans SC"/>
                <a:cs typeface="Noto Sans SC"/>
                <a:sym typeface="Noto Sans SC"/>
              </a:rPr>
              <a:t>数据收集与反馈</a:t>
            </a:r>
            <a:endParaRPr lang="en-US" sz="1100"/>
          </a:p>
        </p:txBody>
      </p:sp>
      <p:pic>
        <p:nvPicPr>
          <p:cNvPr id="17" name="Picture 1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365500" y="4762500"/>
            <a:ext cx="381000" cy="381000"/>
          </a:xfrm>
          <a:prstGeom prst="rect">
            <a:avLst/>
          </a:prstGeom>
        </p:spPr>
      </p:pic>
      <p:sp>
        <p:nvSpPr>
          <p:cNvPr id="18" name="AutoShape 18"/>
          <p:cNvSpPr/>
          <p:nvPr/>
        </p:nvSpPr>
        <p:spPr>
          <a:xfrm>
            <a:off x="3873500" y="4318000"/>
            <a:ext cx="2476500" cy="1270000"/>
          </a:xfrm>
          <a:prstGeom prst="roundRect">
            <a:avLst>
              <a:gd name="adj" fmla="val 10000"/>
            </a:avLst>
          </a:prstGeom>
          <a:solidFill>
            <a:srgbClr val="FFFFFF">
              <a:alpha val="100000"/>
            </a:srgbClr>
          </a:solidFill>
          <a:ln w="12700" cap="flat" cmpd="sng">
            <a:solidFill>
              <a:srgbClr val="0288D1">
                <a:alpha val="100000"/>
              </a:srgbClr>
            </a:solid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826000" y="4508500"/>
            <a:ext cx="508000" cy="508000"/>
          </a:xfrm>
          <a:prstGeom prst="rect">
            <a:avLst/>
          </a:prstGeom>
        </p:spPr>
      </p:pic>
      <p:sp>
        <p:nvSpPr>
          <p:cNvPr id="20" name="AutoShape 20"/>
          <p:cNvSpPr/>
          <p:nvPr/>
        </p:nvSpPr>
        <p:spPr>
          <a:xfrm>
            <a:off x="3873500" y="5080000"/>
            <a:ext cx="2476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424242"/>
                </a:solidFill>
                <a:latin typeface="Noto Sans SC"/>
                <a:ea typeface="Noto Sans SC"/>
                <a:cs typeface="Noto Sans SC"/>
                <a:sym typeface="Noto Sans SC"/>
              </a:rPr>
              <a:t>模型迭代与调优</a:t>
            </a:r>
            <a:endParaRPr lang="en-US" sz="1100"/>
          </a:p>
        </p:txBody>
      </p:sp>
      <p:pic>
        <p:nvPicPr>
          <p:cNvPr id="21" name="Picture 2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4762500"/>
            <a:ext cx="381000" cy="381000"/>
          </a:xfrm>
          <a:prstGeom prst="rect">
            <a:avLst/>
          </a:prstGeom>
        </p:spPr>
      </p:pic>
      <p:sp>
        <p:nvSpPr>
          <p:cNvPr id="22" name="AutoShape 22"/>
          <p:cNvSpPr/>
          <p:nvPr/>
        </p:nvSpPr>
        <p:spPr>
          <a:xfrm>
            <a:off x="6985000" y="4318000"/>
            <a:ext cx="2476500" cy="1270000"/>
          </a:xfrm>
          <a:prstGeom prst="roundRect">
            <a:avLst>
              <a:gd name="adj" fmla="val 10000"/>
            </a:avLst>
          </a:prstGeom>
          <a:solidFill>
            <a:srgbClr val="FFFFFF">
              <a:alpha val="100000"/>
            </a:srgbClr>
          </a:solidFill>
          <a:ln w="12700" cap="flat" cmpd="sng">
            <a:solidFill>
              <a:srgbClr val="0288D1">
                <a:alpha val="100000"/>
              </a:srgbClr>
            </a:solidFill>
            <a:prstDash val="solid"/>
            <a:round/>
          </a:ln>
        </p:spPr>
        <p:txBody>
          <a:bodyPr vert="horz" wrap="square" lIns="63500" tIns="63500" rIns="63500" bIns="63500" rtlCol="0" anchor="ctr"/>
          <a:lstStyle/>
          <a:p>
            <a:pPr algn="ctr">
              <a:defRPr/>
            </a:pPr>
          </a:p>
        </p:txBody>
      </p:sp>
      <p:pic>
        <p:nvPicPr>
          <p:cNvPr id="23" name="Picture 23"/>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937500" y="4508500"/>
            <a:ext cx="508000" cy="508000"/>
          </a:xfrm>
          <a:prstGeom prst="rect">
            <a:avLst/>
          </a:prstGeom>
        </p:spPr>
      </p:pic>
      <p:sp>
        <p:nvSpPr>
          <p:cNvPr id="24" name="AutoShape 24"/>
          <p:cNvSpPr/>
          <p:nvPr/>
        </p:nvSpPr>
        <p:spPr>
          <a:xfrm>
            <a:off x="6985000" y="5080000"/>
            <a:ext cx="2476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424242"/>
                </a:solidFill>
                <a:latin typeface="Noto Sans SC"/>
                <a:ea typeface="Noto Sans SC"/>
                <a:cs typeface="Noto Sans SC"/>
                <a:sym typeface="Noto Sans SC"/>
              </a:rPr>
              <a:t>效果验证与评估</a:t>
            </a:r>
            <a:endParaRPr lang="en-US" sz="1100"/>
          </a:p>
        </p:txBody>
      </p:sp>
      <p:pic>
        <p:nvPicPr>
          <p:cNvPr id="25" name="Picture 2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588500" y="4762500"/>
            <a:ext cx="381000" cy="381000"/>
          </a:xfrm>
          <a:prstGeom prst="rect">
            <a:avLst/>
          </a:prstGeom>
        </p:spPr>
      </p:pic>
      <p:sp>
        <p:nvSpPr>
          <p:cNvPr id="26" name="AutoShape 26"/>
          <p:cNvSpPr/>
          <p:nvPr/>
        </p:nvSpPr>
        <p:spPr>
          <a:xfrm>
            <a:off x="10096500" y="4318000"/>
            <a:ext cx="1333500" cy="1270000"/>
          </a:xfrm>
          <a:prstGeom prst="roundRect">
            <a:avLst>
              <a:gd name="adj" fmla="val 10000"/>
            </a:avLst>
          </a:prstGeom>
          <a:solidFill>
            <a:srgbClr val="FFFFFF">
              <a:alpha val="100000"/>
            </a:srgbClr>
          </a:solidFill>
          <a:ln w="12700" cap="flat" cmpd="sng">
            <a:solidFill>
              <a:srgbClr val="0288D1">
                <a:alpha val="100000"/>
              </a:srgbClr>
            </a:solidFill>
            <a:prstDash val="solid"/>
            <a:round/>
          </a:ln>
        </p:spPr>
        <p:txBody>
          <a:bodyPr vert="horz" wrap="square" lIns="63500" tIns="63500" rIns="63500" bIns="63500" rtlCol="0" anchor="ctr"/>
          <a:lstStyle/>
          <a:p>
            <a:pPr algn="ctr">
              <a:defRPr/>
            </a:pPr>
          </a:p>
        </p:txBody>
      </p:sp>
      <p:pic>
        <p:nvPicPr>
          <p:cNvPr id="27" name="Picture 27"/>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0502900" y="4508500"/>
            <a:ext cx="508000" cy="508000"/>
          </a:xfrm>
          <a:prstGeom prst="rect">
            <a:avLst/>
          </a:prstGeom>
        </p:spPr>
      </p:pic>
      <p:sp>
        <p:nvSpPr>
          <p:cNvPr id="28" name="AutoShape 28"/>
          <p:cNvSpPr/>
          <p:nvPr/>
        </p:nvSpPr>
        <p:spPr>
          <a:xfrm>
            <a:off x="10096500" y="5080000"/>
            <a:ext cx="1333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424242"/>
                </a:solidFill>
                <a:latin typeface="Noto Sans SC"/>
                <a:ea typeface="Noto Sans SC"/>
                <a:cs typeface="Noto Sans SC"/>
                <a:sym typeface="Noto Sans SC"/>
              </a:rPr>
              <a:t>上线应用</a:t>
            </a:r>
            <a:endParaRPr lang="en-US" sz="11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3581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项目总结与展望</a:t>
            </a:r>
            <a:endParaRPr lang="en-US" sz="1100"/>
          </a:p>
        </p:txBody>
      </p:sp>
      <p:sp>
        <p:nvSpPr>
          <p:cNvPr id="3" name="AutoShape 3"/>
          <p:cNvSpPr/>
          <p:nvPr/>
        </p:nvSpPr>
        <p:spPr>
          <a:xfrm>
            <a:off x="762000" y="1397000"/>
            <a:ext cx="5080000" cy="3556000"/>
          </a:xfrm>
          <a:prstGeom prst="roundRect">
            <a:avLst>
              <a:gd name="adj" fmla="val 3571"/>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762000" y="1397000"/>
            <a:ext cx="5080000" cy="635000"/>
          </a:xfrm>
          <a:prstGeom prst="roundRect">
            <a:avLst>
              <a:gd name="adj" fmla="val 2000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1498600"/>
            <a:ext cx="3810000" cy="431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项目总结</a:t>
            </a:r>
            <a:endParaRPr lang="en-US" sz="1100"/>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286000"/>
            <a:ext cx="304800" cy="304800"/>
          </a:xfrm>
          <a:prstGeom prst="rect">
            <a:avLst/>
          </a:prstGeom>
        </p:spPr>
      </p:pic>
      <p:sp>
        <p:nvSpPr>
          <p:cNvPr id="7" name="AutoShape 7"/>
          <p:cNvSpPr/>
          <p:nvPr/>
        </p:nvSpPr>
        <p:spPr>
          <a:xfrm>
            <a:off x="1397000" y="22606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424242"/>
                </a:solidFill>
                <a:latin typeface="Noto Sans SC"/>
                <a:ea typeface="Noto Sans SC"/>
                <a:cs typeface="Noto Sans SC"/>
                <a:sym typeface="Noto Sans SC"/>
              </a:rPr>
              <a:t>成功构建了数字人直播间问答分类系统</a:t>
            </a:r>
            <a:endParaRPr lang="en-US" sz="1100"/>
          </a:p>
        </p:txBody>
      </p:sp>
      <p:pic>
        <p:nvPicPr>
          <p:cNvPr id="8" name="Picture 8"/>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921000"/>
            <a:ext cx="304800" cy="304800"/>
          </a:xfrm>
          <a:prstGeom prst="rect">
            <a:avLst/>
          </a:prstGeom>
        </p:spPr>
      </p:pic>
      <p:sp>
        <p:nvSpPr>
          <p:cNvPr id="9" name="AutoShape 9"/>
          <p:cNvSpPr/>
          <p:nvPr/>
        </p:nvSpPr>
        <p:spPr>
          <a:xfrm>
            <a:off x="1397000" y="28956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424242"/>
                </a:solidFill>
                <a:latin typeface="Noto Sans SC"/>
                <a:ea typeface="Noto Sans SC"/>
                <a:cs typeface="Noto Sans SC"/>
                <a:sym typeface="Noto Sans SC"/>
              </a:rPr>
              <a:t>对比了传统机器学习与大模型方法的优劣</a:t>
            </a:r>
            <a:endParaRPr lang="en-US" sz="1100"/>
          </a:p>
        </p:txBody>
      </p:sp>
      <p:pic>
        <p:nvPicPr>
          <p:cNvPr id="10" name="Picture 10"/>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3556000"/>
            <a:ext cx="304800" cy="304800"/>
          </a:xfrm>
          <a:prstGeom prst="rect">
            <a:avLst/>
          </a:prstGeom>
        </p:spPr>
      </p:pic>
      <p:sp>
        <p:nvSpPr>
          <p:cNvPr id="11" name="AutoShape 11"/>
          <p:cNvSpPr/>
          <p:nvPr/>
        </p:nvSpPr>
        <p:spPr>
          <a:xfrm>
            <a:off x="1397000" y="35306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424242"/>
                </a:solidFill>
                <a:latin typeface="Noto Sans SC"/>
                <a:ea typeface="Noto Sans SC"/>
                <a:cs typeface="Noto Sans SC"/>
                <a:sym typeface="Noto Sans SC"/>
              </a:rPr>
              <a:t>实现了从数据收集到模型部署的完整流程</a:t>
            </a:r>
            <a:endParaRPr lang="en-US" sz="1100"/>
          </a:p>
        </p:txBody>
      </p:sp>
      <p:sp>
        <p:nvSpPr>
          <p:cNvPr id="12" name="AutoShape 12"/>
          <p:cNvSpPr/>
          <p:nvPr/>
        </p:nvSpPr>
        <p:spPr>
          <a:xfrm>
            <a:off x="6350000" y="1397000"/>
            <a:ext cx="5080000" cy="3556000"/>
          </a:xfrm>
          <a:prstGeom prst="roundRect">
            <a:avLst>
              <a:gd name="adj" fmla="val 3571"/>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sp>
        <p:nvSpPr>
          <p:cNvPr id="13" name="AutoShape 13"/>
          <p:cNvSpPr/>
          <p:nvPr/>
        </p:nvSpPr>
        <p:spPr>
          <a:xfrm>
            <a:off x="6350000" y="1397000"/>
            <a:ext cx="5080000" cy="635000"/>
          </a:xfrm>
          <a:prstGeom prst="roundRect">
            <a:avLst>
              <a:gd name="adj" fmla="val 2000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6604000" y="1498600"/>
            <a:ext cx="3810000" cy="431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未来展望</a:t>
            </a:r>
            <a:endParaRPr lang="en-US" sz="1100"/>
          </a:p>
        </p:txBody>
      </p:sp>
      <p:pic>
        <p:nvPicPr>
          <p:cNvPr id="15" name="Picture 1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4000" y="2286000"/>
            <a:ext cx="304800" cy="304800"/>
          </a:xfrm>
          <a:prstGeom prst="rect">
            <a:avLst/>
          </a:prstGeom>
        </p:spPr>
      </p:pic>
      <p:sp>
        <p:nvSpPr>
          <p:cNvPr id="16" name="AutoShape 16"/>
          <p:cNvSpPr/>
          <p:nvPr/>
        </p:nvSpPr>
        <p:spPr>
          <a:xfrm>
            <a:off x="6985000" y="2260600"/>
            <a:ext cx="4191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24242"/>
                </a:solidFill>
                <a:latin typeface="Noto Sans SC"/>
                <a:ea typeface="Noto Sans SC"/>
                <a:cs typeface="Noto Sans SC"/>
                <a:sym typeface="Noto Sans SC"/>
              </a:rPr>
              <a:t>多模态融合：</a:t>
            </a:r>
            <a:r>
              <a:rPr lang="en-US" sz="1600" b="0" i="0" u="none" strike="noStrike">
                <a:solidFill>
                  <a:srgbClr val="616161"/>
                </a:solidFill>
                <a:latin typeface="Noto Sans SC"/>
                <a:ea typeface="Noto Sans SC"/>
                <a:cs typeface="Noto Sans SC"/>
                <a:sym typeface="Noto Sans SC"/>
              </a:rPr>
              <a:t>结合语音、表情信息提升分类准确性</a:t>
            </a:r>
            <a:endParaRPr lang="en-US" sz="1100"/>
          </a:p>
        </p:txBody>
      </p:sp>
      <p:pic>
        <p:nvPicPr>
          <p:cNvPr id="17" name="Picture 1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04000" y="2984500"/>
            <a:ext cx="304800" cy="304800"/>
          </a:xfrm>
          <a:prstGeom prst="rect">
            <a:avLst/>
          </a:prstGeom>
        </p:spPr>
      </p:pic>
      <p:sp>
        <p:nvSpPr>
          <p:cNvPr id="18" name="AutoShape 18"/>
          <p:cNvSpPr/>
          <p:nvPr/>
        </p:nvSpPr>
        <p:spPr>
          <a:xfrm>
            <a:off x="6985000" y="2959100"/>
            <a:ext cx="4191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24242"/>
                </a:solidFill>
                <a:latin typeface="Noto Sans SC"/>
                <a:ea typeface="Noto Sans SC"/>
                <a:cs typeface="Noto Sans SC"/>
                <a:sym typeface="Noto Sans SC"/>
              </a:rPr>
              <a:t>模型压缩：</a:t>
            </a:r>
            <a:r>
              <a:rPr lang="en-US" sz="1600" b="0" i="0" u="none" strike="noStrike">
                <a:solidFill>
                  <a:srgbClr val="616161"/>
                </a:solidFill>
                <a:latin typeface="Noto Sans SC"/>
                <a:ea typeface="Noto Sans SC"/>
                <a:cs typeface="Noto Sans SC"/>
                <a:sym typeface="Noto Sans SC"/>
              </a:rPr>
              <a:t>优化大小与速度，适配实时应用场景</a:t>
            </a:r>
            <a:endParaRPr lang="en-US" sz="1100"/>
          </a:p>
        </p:txBody>
      </p:sp>
      <p:pic>
        <p:nvPicPr>
          <p:cNvPr id="19" name="Picture 1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04000" y="3683000"/>
            <a:ext cx="304800" cy="304800"/>
          </a:xfrm>
          <a:prstGeom prst="rect">
            <a:avLst/>
          </a:prstGeom>
        </p:spPr>
      </p:pic>
      <p:sp>
        <p:nvSpPr>
          <p:cNvPr id="20" name="AutoShape 20"/>
          <p:cNvSpPr/>
          <p:nvPr/>
        </p:nvSpPr>
        <p:spPr>
          <a:xfrm>
            <a:off x="6985000" y="3657600"/>
            <a:ext cx="4191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24242"/>
                </a:solidFill>
                <a:latin typeface="Noto Sans SC"/>
                <a:ea typeface="Noto Sans SC"/>
                <a:cs typeface="Noto Sans SC"/>
                <a:sym typeface="Noto Sans SC"/>
              </a:rPr>
              <a:t>个性化推荐：</a:t>
            </a:r>
            <a:r>
              <a:rPr lang="en-US" sz="1600" b="0" i="0" u="none" strike="noStrike">
                <a:solidFill>
                  <a:srgbClr val="616161"/>
                </a:solidFill>
                <a:latin typeface="Noto Sans SC"/>
                <a:ea typeface="Noto Sans SC"/>
                <a:cs typeface="Noto Sans SC"/>
                <a:sym typeface="Noto Sans SC"/>
              </a:rPr>
              <a:t>基于历史问题提供更精准的回答</a:t>
            </a:r>
            <a:endParaRPr lang="en-US" sz="1100"/>
          </a:p>
        </p:txBody>
      </p:sp>
      <p:sp>
        <p:nvSpPr>
          <p:cNvPr id="21" name="AutoShape 21"/>
          <p:cNvSpPr/>
          <p:nvPr/>
        </p:nvSpPr>
        <p:spPr>
          <a:xfrm>
            <a:off x="762000" y="5334000"/>
            <a:ext cx="10668000" cy="762000"/>
          </a:xfrm>
          <a:prstGeom prst="roundRect">
            <a:avLst>
              <a:gd name="adj" fmla="val 16666"/>
            </a:avLst>
          </a:prstGeom>
          <a:solidFill>
            <a:srgbClr val="0288D1">
              <a:alpha val="10000"/>
            </a:srgbClr>
          </a:solidFill>
          <a:ln w="12700" cap="flat" cmpd="sng">
            <a:solidFill>
              <a:srgbClr val="0288D1">
                <a:alpha val="100000"/>
              </a:srgbClr>
            </a:solidFill>
            <a:prstDash val="solid"/>
            <a:round/>
          </a:ln>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16000" y="5524500"/>
            <a:ext cx="381000" cy="381000"/>
          </a:xfrm>
          <a:prstGeom prst="rect">
            <a:avLst/>
          </a:prstGeom>
        </p:spPr>
      </p:pic>
      <p:sp>
        <p:nvSpPr>
          <p:cNvPr id="23" name="AutoShape 23"/>
          <p:cNvSpPr/>
          <p:nvPr/>
        </p:nvSpPr>
        <p:spPr>
          <a:xfrm>
            <a:off x="1524000" y="5461000"/>
            <a:ext cx="965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24242"/>
                </a:solidFill>
                <a:latin typeface="Noto Sans SC"/>
                <a:ea typeface="Noto Sans SC"/>
                <a:cs typeface="Noto Sans SC"/>
                <a:sym typeface="Noto Sans SC"/>
              </a:rPr>
              <a:t>核心价值：</a:t>
            </a:r>
            <a:r>
              <a:rPr lang="en-US" sz="1600" b="0" i="0" u="none" strike="noStrike">
                <a:solidFill>
                  <a:srgbClr val="424242"/>
                </a:solidFill>
                <a:latin typeface="Noto Sans SC"/>
                <a:ea typeface="Noto Sans SC"/>
                <a:cs typeface="Noto Sans SC"/>
                <a:sym typeface="Noto Sans SC"/>
              </a:rPr>
              <a:t>从理论到实践的跨越，让系统更智能、更高效。</a:t>
            </a:r>
            <a:endParaRPr lang="en-US" sz="11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78816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本章总结</a:t>
            </a:r>
            <a:endParaRPr lang="en-US" sz="1100"/>
          </a:p>
        </p:txBody>
      </p:sp>
      <p:sp>
        <p:nvSpPr>
          <p:cNvPr id="3" name="AutoShape 3"/>
          <p:cNvSpPr/>
          <p:nvPr/>
        </p:nvSpPr>
        <p:spPr>
          <a:xfrm>
            <a:off x="762000" y="1079500"/>
            <a:ext cx="762000" cy="508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524000"/>
            <a:ext cx="3302000" cy="3556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sp>
        <p:nvSpPr>
          <p:cNvPr id="5" name="AutoShape 5"/>
          <p:cNvSpPr/>
          <p:nvPr/>
        </p:nvSpPr>
        <p:spPr>
          <a:xfrm>
            <a:off x="1968500" y="1778000"/>
            <a:ext cx="889000" cy="889000"/>
          </a:xfrm>
          <a:prstGeom prst="ellipse">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159000" y="1968500"/>
            <a:ext cx="508000" cy="508000"/>
          </a:xfrm>
          <a:prstGeom prst="rect">
            <a:avLst/>
          </a:prstGeom>
        </p:spPr>
      </p:pic>
      <p:sp>
        <p:nvSpPr>
          <p:cNvPr id="7" name="AutoShape 7"/>
          <p:cNvSpPr/>
          <p:nvPr/>
        </p:nvSpPr>
        <p:spPr>
          <a:xfrm>
            <a:off x="889000" y="2794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288D1"/>
                </a:solidFill>
                <a:latin typeface="Noto Sans SC"/>
                <a:ea typeface="Noto Sans SC"/>
                <a:cs typeface="Noto Sans SC"/>
                <a:sym typeface="Noto Sans SC"/>
              </a:rPr>
              <a:t>文本分类方法与模型</a:t>
            </a:r>
            <a:endParaRPr lang="en-US" sz="1100"/>
          </a:p>
        </p:txBody>
      </p:sp>
      <p:sp>
        <p:nvSpPr>
          <p:cNvPr id="8" name="AutoShape 8"/>
          <p:cNvSpPr/>
          <p:nvPr/>
        </p:nvSpPr>
        <p:spPr>
          <a:xfrm>
            <a:off x="952500" y="3302000"/>
            <a:ext cx="2921000" cy="1524000"/>
          </a:xfrm>
          <a:prstGeom prst="rect">
            <a:avLst/>
          </a:prstGeom>
          <a:noFill/>
          <a:ln w="12700" cap="flat" cmpd="sng">
            <a:noFill/>
            <a:prstDash val="solid"/>
            <a:round/>
          </a:ln>
        </p:spPr>
        <p:txBody>
          <a:bodyPr vert="horz" wrap="square" lIns="0" tIns="0" rIns="0" bIns="0" rtlCol="0" anchor="t" anchorCtr="0"/>
          <a:lstStyle/>
          <a:p>
            <a:pPr indent="0" algn="just">
              <a:lnSpc>
                <a:spcPct val="108000"/>
              </a:lnSpc>
              <a:defRPr/>
            </a:pPr>
            <a:r>
              <a:rPr lang="en-US" sz="1400" b="0" i="0" u="none" strike="noStrike">
                <a:solidFill>
                  <a:srgbClr val="424242"/>
                </a:solidFill>
                <a:latin typeface="Noto Sans SC"/>
                <a:ea typeface="Noto Sans SC"/>
                <a:cs typeface="Noto Sans SC"/>
                <a:sym typeface="Noto Sans SC"/>
              </a:rPr>
              <a:t>从传统方法到现代大语言模型，深入了解了不同技术的特点、优劣以及各自适用的业务场景。</a:t>
            </a:r>
            <a:endParaRPr lang="en-US" sz="1100"/>
          </a:p>
        </p:txBody>
      </p:sp>
      <p:sp>
        <p:nvSpPr>
          <p:cNvPr id="9" name="AutoShape 9"/>
          <p:cNvSpPr/>
          <p:nvPr/>
        </p:nvSpPr>
        <p:spPr>
          <a:xfrm>
            <a:off x="4445000" y="1524000"/>
            <a:ext cx="3302000" cy="3556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sp>
        <p:nvSpPr>
          <p:cNvPr id="10" name="AutoShape 10"/>
          <p:cNvSpPr/>
          <p:nvPr/>
        </p:nvSpPr>
        <p:spPr>
          <a:xfrm>
            <a:off x="5651500" y="1778000"/>
            <a:ext cx="889000" cy="889000"/>
          </a:xfrm>
          <a:prstGeom prst="ellipse">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842000" y="1968500"/>
            <a:ext cx="508000" cy="508000"/>
          </a:xfrm>
          <a:prstGeom prst="rect">
            <a:avLst/>
          </a:prstGeom>
        </p:spPr>
      </p:pic>
      <p:sp>
        <p:nvSpPr>
          <p:cNvPr id="12" name="AutoShape 12"/>
          <p:cNvSpPr/>
          <p:nvPr/>
        </p:nvSpPr>
        <p:spPr>
          <a:xfrm>
            <a:off x="4572000" y="2794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288D1"/>
                </a:solidFill>
                <a:latin typeface="Noto Sans SC"/>
                <a:ea typeface="Noto Sans SC"/>
                <a:cs typeface="Noto Sans SC"/>
                <a:sym typeface="Noto Sans SC"/>
              </a:rPr>
              <a:t>分类器训练过程</a:t>
            </a:r>
            <a:endParaRPr lang="en-US" sz="1100"/>
          </a:p>
        </p:txBody>
      </p:sp>
      <p:sp>
        <p:nvSpPr>
          <p:cNvPr id="13" name="AutoShape 13"/>
          <p:cNvSpPr/>
          <p:nvPr/>
        </p:nvSpPr>
        <p:spPr>
          <a:xfrm>
            <a:off x="4635500" y="3302000"/>
            <a:ext cx="2921000" cy="1524000"/>
          </a:xfrm>
          <a:prstGeom prst="rect">
            <a:avLst/>
          </a:prstGeom>
          <a:noFill/>
          <a:ln w="12700" cap="flat" cmpd="sng">
            <a:noFill/>
            <a:prstDash val="solid"/>
            <a:round/>
          </a:ln>
        </p:spPr>
        <p:txBody>
          <a:bodyPr vert="horz" wrap="square" lIns="0" tIns="0" rIns="0" bIns="0" rtlCol="0" anchor="t" anchorCtr="0"/>
          <a:lstStyle/>
          <a:p>
            <a:pPr indent="0" algn="just">
              <a:lnSpc>
                <a:spcPct val="108000"/>
              </a:lnSpc>
              <a:defRPr/>
            </a:pPr>
            <a:r>
              <a:rPr lang="en-US" sz="1400" b="0" i="0" u="none" strike="noStrike">
                <a:solidFill>
                  <a:srgbClr val="424242"/>
                </a:solidFill>
                <a:latin typeface="Noto Sans SC"/>
                <a:ea typeface="Noto Sans SC"/>
                <a:cs typeface="Noto Sans SC"/>
                <a:sym typeface="Noto Sans SC"/>
              </a:rPr>
              <a:t>掌握了传统机器学习的完整训练流程，以及基于大语言模型的提示词学习（Prompt）和微调（Fine-tuning）方法。</a:t>
            </a:r>
            <a:endParaRPr lang="en-US" sz="1100"/>
          </a:p>
        </p:txBody>
      </p:sp>
      <p:sp>
        <p:nvSpPr>
          <p:cNvPr id="14" name="AutoShape 14"/>
          <p:cNvSpPr/>
          <p:nvPr/>
        </p:nvSpPr>
        <p:spPr>
          <a:xfrm>
            <a:off x="8128000" y="1524000"/>
            <a:ext cx="3302000" cy="3556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sp>
        <p:nvSpPr>
          <p:cNvPr id="15" name="AutoShape 15"/>
          <p:cNvSpPr/>
          <p:nvPr/>
        </p:nvSpPr>
        <p:spPr>
          <a:xfrm>
            <a:off x="9334500" y="1778000"/>
            <a:ext cx="889000" cy="889000"/>
          </a:xfrm>
          <a:prstGeom prst="ellipse">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25000" y="1968500"/>
            <a:ext cx="508000" cy="508000"/>
          </a:xfrm>
          <a:prstGeom prst="rect">
            <a:avLst/>
          </a:prstGeom>
        </p:spPr>
      </p:pic>
      <p:sp>
        <p:nvSpPr>
          <p:cNvPr id="17" name="AutoShape 17"/>
          <p:cNvSpPr/>
          <p:nvPr/>
        </p:nvSpPr>
        <p:spPr>
          <a:xfrm>
            <a:off x="8255000" y="2794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288D1"/>
                </a:solidFill>
                <a:latin typeface="Noto Sans SC"/>
                <a:ea typeface="Noto Sans SC"/>
                <a:cs typeface="Noto Sans SC"/>
                <a:sym typeface="Noto Sans SC"/>
              </a:rPr>
              <a:t>数字人问答分类实战</a:t>
            </a:r>
            <a:endParaRPr lang="en-US" sz="1100"/>
          </a:p>
        </p:txBody>
      </p:sp>
      <p:sp>
        <p:nvSpPr>
          <p:cNvPr id="18" name="AutoShape 18"/>
          <p:cNvSpPr/>
          <p:nvPr/>
        </p:nvSpPr>
        <p:spPr>
          <a:xfrm>
            <a:off x="8318500" y="3302000"/>
            <a:ext cx="2921000" cy="1524000"/>
          </a:xfrm>
          <a:prstGeom prst="rect">
            <a:avLst/>
          </a:prstGeom>
          <a:noFill/>
          <a:ln w="12700" cap="flat" cmpd="sng">
            <a:noFill/>
            <a:prstDash val="solid"/>
            <a:round/>
          </a:ln>
        </p:spPr>
        <p:txBody>
          <a:bodyPr vert="horz" wrap="square" lIns="0" tIns="0" rIns="0" bIns="0" rtlCol="0" anchor="t" anchorCtr="0"/>
          <a:lstStyle/>
          <a:p>
            <a:pPr indent="0" algn="just">
              <a:lnSpc>
                <a:spcPct val="108000"/>
              </a:lnSpc>
              <a:defRPr/>
            </a:pPr>
            <a:r>
              <a:rPr lang="en-US" sz="1400" b="0" i="0" u="none" strike="noStrike">
                <a:solidFill>
                  <a:srgbClr val="424242"/>
                </a:solidFill>
                <a:latin typeface="Noto Sans SC"/>
                <a:ea typeface="Noto Sans SC"/>
                <a:cs typeface="Noto Sans SC"/>
                <a:sym typeface="Noto Sans SC"/>
              </a:rPr>
              <a:t>通过数字人直播间问答分类项目，将理论知识应用于实际场景，理解文本分类项目的全流程开发与部署。</a:t>
            </a:r>
            <a:endParaRPr lang="en-US" sz="1100"/>
          </a:p>
        </p:txBody>
      </p:sp>
      <p:sp>
        <p:nvSpPr>
          <p:cNvPr id="19" name="AutoShape 19"/>
          <p:cNvSpPr/>
          <p:nvPr/>
        </p:nvSpPr>
        <p:spPr>
          <a:xfrm>
            <a:off x="762000" y="5461000"/>
            <a:ext cx="10668000" cy="762000"/>
          </a:xfrm>
          <a:prstGeom prst="roundRect">
            <a:avLst>
              <a:gd name="adj" fmla="val 16666"/>
            </a:avLst>
          </a:prstGeom>
          <a:solidFill>
            <a:srgbClr val="0288D1">
              <a:alpha val="10000"/>
            </a:srgbClr>
          </a:solidFill>
          <a:ln w="12700" cap="flat" cmpd="sng">
            <a:solidFill>
              <a:srgbClr val="0288D1">
                <a:alpha val="100000"/>
              </a:srgbClr>
            </a:solidFill>
            <a:prstDash val="dash"/>
            <a:round/>
          </a:ln>
        </p:spPr>
        <p:txBody>
          <a:bodyPr vert="horz" wrap="square" lIns="63500" tIns="63500" rIns="63500" bIns="63500" rtlCol="0" anchor="ctr"/>
          <a:lstStyle/>
          <a:p>
            <a:pPr algn="ctr">
              <a:defRPr/>
            </a:pPr>
          </a:p>
        </p:txBody>
      </p:sp>
      <p:sp>
        <p:nvSpPr>
          <p:cNvPr id="20" name="AutoShape 20"/>
          <p:cNvSpPr/>
          <p:nvPr/>
        </p:nvSpPr>
        <p:spPr>
          <a:xfrm>
            <a:off x="1016000" y="5588000"/>
            <a:ext cx="1016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0288D1"/>
                </a:solidFill>
                <a:latin typeface="Noto Sans SC"/>
                <a:ea typeface="Noto Sans SC"/>
                <a:cs typeface="Noto Sans SC"/>
                <a:sym typeface="Noto Sans SC"/>
              </a:rPr>
              <a:t>核心收获：</a:t>
            </a:r>
            <a:r>
              <a:rPr lang="en-US" sz="1600" b="0" i="0" u="none" strike="noStrike">
                <a:solidFill>
                  <a:srgbClr val="424242"/>
                </a:solidFill>
                <a:latin typeface="Noto Sans SC"/>
                <a:ea typeface="Noto Sans SC"/>
                <a:cs typeface="Noto Sans SC"/>
                <a:sym typeface="Noto Sans SC"/>
              </a:rPr>
              <a:t>全面掌握文本分类技术体系，具备从算法选型到项目落地的实战能力。</a:t>
            </a:r>
            <a:endParaRPr lang="en-US" sz="11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556000" y="889000"/>
            <a:ext cx="5080000" cy="5080000"/>
          </a:xfrm>
          <a:prstGeom prst="ellipse">
            <a:avLst/>
          </a:prstGeom>
          <a:solidFill>
            <a:srgbClr val="FFFFFF">
              <a:alpha val="60000"/>
            </a:srgbClr>
          </a:solidFill>
          <a:ln cap="flat" cmpd="sng">
            <a:solidFill>
              <a:srgbClr val="E6CFCF">
                <a:alpha val="60000"/>
              </a:srgbClr>
            </a:solidFill>
            <a:prstDash val="solid"/>
            <a:round/>
          </a:ln>
        </p:spPr>
        <p:txBody>
          <a:bodyPr vert="horz" wrap="square" lIns="63500" tIns="63500" rIns="63500" bIns="63500" rtlCol="0" anchor="ctr"/>
          <a:lstStyle/>
          <a:p>
            <a:pPr algn="ctr">
              <a:defRPr/>
            </a:pPr>
          </a:p>
        </p:txBody>
      </p:sp>
      <p:pic>
        <p:nvPicPr>
          <p:cNvPr id="3" name="Picture 3"/>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588000" y="1651000"/>
            <a:ext cx="1016000" cy="1016000"/>
          </a:xfrm>
          <a:prstGeom prst="rect">
            <a:avLst/>
          </a:prstGeom>
        </p:spPr>
      </p:pic>
      <p:sp>
        <p:nvSpPr>
          <p:cNvPr id="4" name="AutoShape 4"/>
          <p:cNvSpPr/>
          <p:nvPr/>
        </p:nvSpPr>
        <p:spPr>
          <a:xfrm>
            <a:off x="0" y="2794000"/>
            <a:ext cx="121920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4800" b="1" i="0" u="none" strike="noStrike">
                <a:solidFill>
                  <a:srgbClr val="0288D1"/>
                </a:solidFill>
                <a:latin typeface="Noto Sans SC"/>
                <a:ea typeface="Noto Sans SC"/>
                <a:cs typeface="Noto Sans SC"/>
                <a:sym typeface="Noto Sans SC"/>
              </a:rPr>
              <a:t>感谢聆听</a:t>
            </a:r>
            <a:endParaRPr lang="en-US" sz="1100"/>
          </a:p>
        </p:txBody>
      </p:sp>
      <p:sp>
        <p:nvSpPr>
          <p:cNvPr id="5" name="AutoShape 5"/>
          <p:cNvSpPr/>
          <p:nvPr/>
        </p:nvSpPr>
        <p:spPr>
          <a:xfrm>
            <a:off x="0" y="3556000"/>
            <a:ext cx="12192000" cy="381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2000" b="0" i="0" u="none" strike="noStrike">
                <a:solidFill>
                  <a:srgbClr val="424242"/>
                </a:solidFill>
                <a:latin typeface="Noto Sans SC"/>
                <a:ea typeface="Noto Sans SC"/>
                <a:cs typeface="Noto Sans SC"/>
                <a:sym typeface="Noto Sans SC"/>
              </a:rPr>
              <a:t>THANKS FOR LISTENING</a:t>
            </a:r>
            <a:endParaRPr lang="en-US" sz="1100"/>
          </a:p>
        </p:txBody>
      </p:sp>
      <p:cxnSp>
        <p:nvCxnSpPr>
          <p:cNvPr id="6" name="Connector 6"/>
          <p:cNvCxnSpPr/>
          <p:nvPr/>
        </p:nvCxnSpPr>
        <p:spPr>
          <a:xfrm rot="-34376">
            <a:off x="5461032" y="4184650"/>
            <a:ext cx="1270000" cy="12700"/>
          </a:xfrm>
          <a:prstGeom prst="line">
            <a:avLst/>
          </a:prstGeom>
          <a:solidFill>
            <a:srgbClr val="DEE0E3">
              <a:alpha val="100000"/>
            </a:srgbClr>
          </a:solidFill>
          <a:ln w="25400" cap="flat" cmpd="sng">
            <a:solidFill>
              <a:srgbClr val="0288D1">
                <a:alpha val="100000"/>
              </a:srgbClr>
            </a:solidFill>
            <a:prstDash val="solid"/>
            <a:round/>
            <a:headEnd type="none" w="lg" len="lg"/>
            <a:tailEnd type="none" w="lg" len="lg"/>
          </a:ln>
        </p:spPr>
      </p:cxnSp>
      <p:sp>
        <p:nvSpPr>
          <p:cNvPr id="7" name="AutoShape 7"/>
          <p:cNvSpPr/>
          <p:nvPr/>
        </p:nvSpPr>
        <p:spPr>
          <a:xfrm>
            <a:off x="0" y="4445000"/>
            <a:ext cx="12192000" cy="381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1600" b="0" i="0" u="none" strike="noStrike">
                <a:solidFill>
                  <a:srgbClr val="757575"/>
                </a:solidFill>
                <a:latin typeface="Noto Sans SC"/>
                <a:ea typeface="Noto Sans SC"/>
                <a:cs typeface="Noto Sans SC"/>
                <a:sym typeface="Noto Sans SC"/>
              </a:rPr>
              <a:t>欢迎提问与交流</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10580</Words>
  <Application>WPS 演示</Application>
  <PresentationFormat/>
  <Paragraphs>980</Paragraphs>
  <Slides>45</Slides>
  <Notes>0</Notes>
  <HiddenSlides>0</HiddenSlides>
  <MMClips>0</MMClips>
  <ScaleCrop>false</ScaleCrop>
  <HeadingPairs>
    <vt:vector size="6" baseType="variant">
      <vt:variant>
        <vt:lpstr>已用的字体</vt:lpstr>
      </vt:variant>
      <vt:variant>
        <vt:i4>19</vt:i4>
      </vt:variant>
      <vt:variant>
        <vt:lpstr>主题</vt:lpstr>
      </vt:variant>
      <vt:variant>
        <vt:i4>2</vt:i4>
      </vt:variant>
      <vt:variant>
        <vt:lpstr>幻灯片标题</vt:lpstr>
      </vt:variant>
      <vt:variant>
        <vt:i4>45</vt:i4>
      </vt:variant>
    </vt:vector>
  </HeadingPairs>
  <TitlesOfParts>
    <vt:vector size="66" baseType="lpstr">
      <vt:lpstr>Arial</vt:lpstr>
      <vt:lpstr>宋体</vt:lpstr>
      <vt:lpstr>Wingdings</vt:lpstr>
      <vt:lpstr>Arial</vt:lpstr>
      <vt:lpstr>Noto Sans SC</vt:lpstr>
      <vt:lpstr>Thonburi</vt:lpstr>
      <vt:lpstr>宋体</vt:lpstr>
      <vt:lpstr>汉仪书宋二KW</vt:lpstr>
      <vt:lpstr>微软雅黑</vt:lpstr>
      <vt:lpstr>汉仪旗黑</vt:lpstr>
      <vt:lpstr>Arial Unicode MS</vt:lpstr>
      <vt:lpstr>Consolas</vt:lpstr>
      <vt:lpstr>Roboto Mono</vt:lpstr>
      <vt:lpstr>Source Code Pro</vt:lpstr>
      <vt:lpstr>Consolas</vt:lpstr>
      <vt:lpstr>Noto Sans SC</vt:lpstr>
      <vt:lpstr>Roboto Mono</vt:lpstr>
      <vt:lpstr>Source Code Pro</vt:lpstr>
      <vt:lpstr>苹方-简</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Soyoger</cp:lastModifiedBy>
  <cp:revision>2</cp:revision>
  <dcterms:created xsi:type="dcterms:W3CDTF">2026-03-14T05:57:42Z</dcterms:created>
  <dcterms:modified xsi:type="dcterms:W3CDTF">2026-03-14T05:57:42Z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8F965B7FEB2EDB35C2F8B469D7C00791_42</vt:lpwstr>
  </property>
  <property fmtid="{D5CDD505-2E9C-101B-9397-08002B2CF9AE}" pid="3" name="KSOProductBuildVer">
    <vt:lpwstr>2052-7.2.1.8947</vt:lpwstr>
  </property>
</Properties>
</file>