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大家好，欢迎来到本次课程。今天我们将深入探讨自然语言处理领域中的一个核心技术——词嵌入技术。这是第四章的教学内容，希望通过本次学习，大家能够系统地掌握词嵌入的相关知识和应用方法。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四个部分。首先，我们会从基础的词袋模型开始，了解其原理和构建方法。接着，我们将学习更高级的词向量模型，包括One-Hot编码和Word2Vec。然后，我们会探讨如何利用现代大语言模型生成高质量的Embedding。最后，我们将通过实际案例，看看Embedding技术在现实世界中的具体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现在，我们进入第一章节——词袋模型。这是理解文本向量化的基础，我们将从理论和实践两个层面来学习如何构建词袋模型。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词袋模型的基本概念。简单来说，词袋模型就是把一篇文章里的所有词，像装袋子一样集合起来，不考虑它们的顺序和语法关系，只统计每个词出现了多少次。这样做的目的是为了把文字这种非结构化的数据，变成计算机能够理解和计算的数字向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构建词袋模型主要分为三个步骤。第一步是文本预处理，包括分词、去停用词和词干提取，目的是清洗和标准化文本数据。第二步是构建词汇表，也就是把所有出现过的单词汇总起来，形成一个字典。第三步是文本向量化，根据词汇表，将每一篇文章转换成一个数字向量，向量中的每个数字代表对应词汇的出现次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说完了，我们来看一个具体的例子。这里我们使用Python的Jieba分词库来手动构建词袋模型。首先，我们导入必要的库，定义读取文件和停用词的函数。然后准备一些示例文本，并使用Jieba进行分词。大家可以看到，分词后的结果是一个包含词汇列表的列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对分词结果进行清洗，去除停用词和标点符号。然后，我们将所有词汇合并起来，构建一个词汇表。最后，根据词汇表，我们将每一条文本转换为一个由0和1组成的向量，其中1表示该词在文本中出现过。这就是我们手动构建的词袋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除了手动构建，我们还可以使用专门的NLP库来更高效地完成这个任务。这里我们使用Gensim库。首先，我们需要安装Gensim，然后重复之前的步骤，准备数据并进行分词和去停用词处理。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ensim的corpora.Dictionary会自动为我们构建词汇表，并为每个单词分配一个唯一的ID。然后，使用doc2bow方法，我们可以将文本转换为稀疏向量。这种向量只存储有值的位置和对应的频率，更加节省空间。大家可以看到，结果与我们手动构建的是一致的，但过程要简洁得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词袋模型虽然简单，但有其局限性。接下来，我们将学习更强大的词向量模型，它能够更好地捕捉词汇的语义信息。我们将从基础的One-Hot编码开始，然后深入学习经典的Word2Vec模型。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ne-Hot编码是一种非常基础的编码方式。它为每个单词分配一个独一无二的向量，向量的长度等于词汇表的大小，其中只有一个位置是1，代表这个单词，其他都是0。这种方式虽然简单，但它的缺点也很明显：每个向量都是相互独立的，无法反映出“机器学习”和“深度学习”之间的相似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生成One-Hot编码有很多方法。第一种是使用Pandas库中的get_dummies函数，它可以非常方便地将DataFrame中的类别型列转换为One-Hot编码格式。我们只需要传入列名，就可以得到结果。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第二种方法是使用Pandas的apply函数来自定义生成One-Hot编码。这种方法更灵活，可以根据需要进行定制。我们遍历每一个唯一的类别，然后创建一个新的列，用lambda函数判断每行是否属于该类别，从而生成0或1。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种方法是使用深度学习框架PyTorch中的functional.one_hot函数。这种方法非常适合在深度学习模型中使用。我们首先将单词映射到整数索引，然后使用one_hot函数直接生成编码，得到的是一个张量（Tensor），可以直接输入到神经网络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One-Hot编码的优缺点。它的优点是简单、直观，并且能很好地处理类别型数据。但它的缺点也很突出，最大的问题就是无法表达词汇之间的语义关系，而且当词汇量很大时，会产生维度灾难和数据稀疏的问题。这些缺点促使我们寻找更优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One-Hot编码的问题，Word2Vec应运而生。它的核心思想是将每个词映射到一个低维的稠密向量空间中，使得语义相似的词在这个空间中位置也相近。Word2Vec主要包含两种训练模型：CBOW和Skip-Gram，它们分别从不同角度来学习词的向量表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同样，我们使用Gensim库来实现Word2Vec模型。首先，我们准备一些语料，并进行分词和去停用词处理。这一步和构建词袋模型类似，都是为了得到干净的训练数据。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接下来，我们初始化Word2Vec模型。这里有几个关键参数：sg用于选择训练模型，vector_size定义了词向量的维度，window是上下文窗口的大小，min_count用于过滤低频词。设置好参数后，模型会自动开始训练。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模型训练完成后，我们可以将其保存到本地，方便后续使用。要查看某个单词的词向量，只需通过model.wv['单词']的方式即可获取。这个向量就是该单词在低维空间中的稠密表示。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ord2Vec最强大的功能之一就是计算词与词之间的相似度。通过most_similar方法，我们可以找到与某个词最相似的其他词。通过similarity方法，我们可以直接计算两个词之间的相似度得分。这充分体现了Word2Vec能够捕捉词汇语义关系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随着大语言模型的发展，我们有了更强大的工具来生成Embedding。接下来，我们将学习如何利用像ChatGPT这样的大模型，以及一些开源工具来生成高质量的文本Embedding。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语言模型生成的Embedding是当前NLP领域的研究热点。与传统的Word2Vec相比，它能生成与上下文相关的向量，也就是说，同一个词在不同的语境下会有不同的Embedding表示，这使得语义捕捉更加精准。这种技术是构建强大的RAG系统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OpenAI提供了专门的Embedding模型，其中text-embedding-ada-002是目前的主力模型。它在性能、效率和成本之间取得了很好的平衡，非常适合在实际项目中使用。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使用OpenAI的API生成Embedding非常简单。我们只需要安装openai库，初始化客户端，并调用embeddings.create方法，传入要处理的文本和指定的模型即可。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API返回的结果中包含了我们需要的Embedding向量。我们可以从response.data[0].embedding中提取出这个长度为1536的向量，它就代表了输入文本的语义信息。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penAI在2024年又推出了两个新的嵌入模型：text-embedding-3-small和text-embedding-3-large。Small模型更加轻量、便宜，适合大多数场景；Large模型则提供了目前最好的性能，适合对精度要求极高的任务。大家可以根据自己的需求进行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除了调用API，我们也可以使用开源工具在本地生成Embedding。text2vec就是一个非常优秀的选择，它集成了多种主流的Embedding模型，使用起来非常方便，而且完全免费，可以本地化部署，保护数据隐私。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使用text2vec非常简单。我们只需要加载一个预训练的模型，比如针对中文优化的text2vec-base-chinese，然后调用encode方法，传入文本列表，就可以得到对应的Embedding向量。这为我们在本地进行大规模文本处理提供了极大的便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学习了如何生成Embedding之后，我们来看看它在实际中有哪些应用。Embedding技术是很多NLP应用的基础，接下来我们将介绍几个典型的应用场景。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mbedding的应用非常广泛。它可以用于计算文本相似度，进行文本分类，构建强大的信息检索系统（也就是我们常说的RAG），还可以用于聚类分析和推荐系统。可以说，凡是需要理解文本语义的地方，都能看到Embedding的身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文本相似度计算是Embedding最直接的应用之一。我们通过计算两个向量之间的余弦相似度，来判断它们的语义是否相近。比如这两个句子，虽然表述不同，但意思非常接近，所以它们的相似度得分很高。这在文章查重、智能问答等场景中非常有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检索增强生成，也就是RAG，是当前非常热门的应用。它的核心思想就是利用Embedding技术，从海量文档中快速找到与用户问题最相关的信息，然后将这些信息提供给大语言模型作为参考，从而生成更准确、更有依据的回答。这个流程完美地结合了信息检索和生成式AI的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文本分类是另一个重要的应用场景。我们可以将文本的Embedding向量作为特征，交给分类模型去学习。比如进行情感分析，模型可以根据文本的Embedding判断出用户是在表达正面、负面还是中性的情绪。这种方法在处理大量文本数据时非常有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内容到此就结束了。我们一起回顾了从基础的词袋模型，到经典的Word2Vec，再到现代大语言模型生成的Embedding技术。我们学习了它们的原理、实现方法，并探讨了Embedding在多个领域的应用。希望大家能够掌握这些知识，并应用到实际的项目中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感谢大家的聆听。接下来是问答环节，大家有任何问题都可以提出来，我们一起交流探讨。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svg"/><Relationship Id="rId8" Type="http://schemas.openxmlformats.org/officeDocument/2006/relationships/image" Target="../media/image34.png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10.svg"/><Relationship Id="rId4" Type="http://schemas.openxmlformats.org/officeDocument/2006/relationships/image" Target="../media/image31.png"/><Relationship Id="rId3" Type="http://schemas.openxmlformats.org/officeDocument/2006/relationships/image" Target="../media/image22.svg"/><Relationship Id="rId2" Type="http://schemas.openxmlformats.org/officeDocument/2006/relationships/image" Target="../media/image30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svg"/><Relationship Id="rId8" Type="http://schemas.openxmlformats.org/officeDocument/2006/relationships/image" Target="../media/image42.png"/><Relationship Id="rId7" Type="http://schemas.openxmlformats.org/officeDocument/2006/relationships/image" Target="../media/image41.svg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9" Type="http://schemas.openxmlformats.org/officeDocument/2006/relationships/notesSlide" Target="../notesSlides/notesSlide15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51.svg"/><Relationship Id="rId16" Type="http://schemas.openxmlformats.org/officeDocument/2006/relationships/image" Target="../media/image50.png"/><Relationship Id="rId15" Type="http://schemas.openxmlformats.org/officeDocument/2006/relationships/image" Target="../media/image49.svg"/><Relationship Id="rId14" Type="http://schemas.openxmlformats.org/officeDocument/2006/relationships/image" Target="../media/image48.png"/><Relationship Id="rId13" Type="http://schemas.openxmlformats.org/officeDocument/2006/relationships/image" Target="../media/image47.svg"/><Relationship Id="rId12" Type="http://schemas.openxmlformats.org/officeDocument/2006/relationships/image" Target="../media/image46.png"/><Relationship Id="rId11" Type="http://schemas.openxmlformats.org/officeDocument/2006/relationships/image" Target="../media/image45.svg"/><Relationship Id="rId10" Type="http://schemas.openxmlformats.org/officeDocument/2006/relationships/image" Target="../media/image44.pn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svg"/><Relationship Id="rId8" Type="http://schemas.openxmlformats.org/officeDocument/2006/relationships/image" Target="../media/image56.png"/><Relationship Id="rId7" Type="http://schemas.openxmlformats.org/officeDocument/2006/relationships/image" Target="../media/image55.svg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10.svg"/><Relationship Id="rId2" Type="http://schemas.openxmlformats.org/officeDocument/2006/relationships/image" Target="../media/image31.png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svg"/><Relationship Id="rId8" Type="http://schemas.openxmlformats.org/officeDocument/2006/relationships/image" Target="../media/image62.png"/><Relationship Id="rId7" Type="http://schemas.openxmlformats.org/officeDocument/2006/relationships/image" Target="../media/image61.svg"/><Relationship Id="rId6" Type="http://schemas.openxmlformats.org/officeDocument/2006/relationships/image" Target="../media/image6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7" Type="http://schemas.openxmlformats.org/officeDocument/2006/relationships/notesSlide" Target="../notesSlides/notesSlide18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69.svg"/><Relationship Id="rId14" Type="http://schemas.openxmlformats.org/officeDocument/2006/relationships/image" Target="../media/image68.png"/><Relationship Id="rId13" Type="http://schemas.openxmlformats.org/officeDocument/2006/relationships/image" Target="../media/image67.svg"/><Relationship Id="rId12" Type="http://schemas.openxmlformats.org/officeDocument/2006/relationships/image" Target="../media/image66.png"/><Relationship Id="rId11" Type="http://schemas.openxmlformats.org/officeDocument/2006/relationships/image" Target="../media/image65.svg"/><Relationship Id="rId10" Type="http://schemas.openxmlformats.org/officeDocument/2006/relationships/image" Target="../media/image64.png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1.svg"/><Relationship Id="rId4" Type="http://schemas.openxmlformats.org/officeDocument/2006/relationships/image" Target="../media/image70.png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1.svg"/><Relationship Id="rId4" Type="http://schemas.openxmlformats.org/officeDocument/2006/relationships/image" Target="../media/image70.png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svg"/><Relationship Id="rId2" Type="http://schemas.openxmlformats.org/officeDocument/2006/relationships/image" Target="../media/image72.png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4.png"/><Relationship Id="rId7" Type="http://schemas.openxmlformats.org/officeDocument/2006/relationships/image" Target="../media/image12.svg"/><Relationship Id="rId6" Type="http://schemas.openxmlformats.org/officeDocument/2006/relationships/image" Target="../media/image73.png"/><Relationship Id="rId5" Type="http://schemas.openxmlformats.org/officeDocument/2006/relationships/image" Target="../media/image10.svg"/><Relationship Id="rId4" Type="http://schemas.openxmlformats.org/officeDocument/2006/relationships/image" Target="../media/image31.png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0" Type="http://schemas.openxmlformats.org/officeDocument/2006/relationships/notesSlide" Target="../notesSlides/notesSlide22.xml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svg"/><Relationship Id="rId8" Type="http://schemas.openxmlformats.org/officeDocument/2006/relationships/image" Target="../media/image79.png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1" Type="http://schemas.openxmlformats.org/officeDocument/2006/relationships/notesSlide" Target="../notesSlides/notesSlide2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82.svg"/><Relationship Id="rId4" Type="http://schemas.openxmlformats.org/officeDocument/2006/relationships/image" Target="../media/image81.png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svg"/><Relationship Id="rId8" Type="http://schemas.openxmlformats.org/officeDocument/2006/relationships/image" Target="../media/image87.png"/><Relationship Id="rId7" Type="http://schemas.openxmlformats.org/officeDocument/2006/relationships/image" Target="../media/image86.svg"/><Relationship Id="rId6" Type="http://schemas.openxmlformats.org/officeDocument/2006/relationships/image" Target="../media/image85.png"/><Relationship Id="rId5" Type="http://schemas.openxmlformats.org/officeDocument/2006/relationships/image" Target="../media/image84.svg"/><Relationship Id="rId4" Type="http://schemas.openxmlformats.org/officeDocument/2006/relationships/image" Target="../media/image83.png"/><Relationship Id="rId3" Type="http://schemas.openxmlformats.org/officeDocument/2006/relationships/image" Target="../media/image10.svg"/><Relationship Id="rId2" Type="http://schemas.openxmlformats.org/officeDocument/2006/relationships/image" Target="../media/image31.png"/><Relationship Id="rId15" Type="http://schemas.openxmlformats.org/officeDocument/2006/relationships/notesSlide" Target="../notesSlides/notesSlide26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92.svg"/><Relationship Id="rId12" Type="http://schemas.openxmlformats.org/officeDocument/2006/relationships/image" Target="../media/image91.png"/><Relationship Id="rId11" Type="http://schemas.openxmlformats.org/officeDocument/2006/relationships/image" Target="../media/image90.svg"/><Relationship Id="rId10" Type="http://schemas.openxmlformats.org/officeDocument/2006/relationships/image" Target="../media/image89.png"/><Relationship Id="rId1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svg"/><Relationship Id="rId8" Type="http://schemas.openxmlformats.org/officeDocument/2006/relationships/image" Target="../media/image25.png"/><Relationship Id="rId7" Type="http://schemas.openxmlformats.org/officeDocument/2006/relationships/image" Target="../media/image96.svg"/><Relationship Id="rId6" Type="http://schemas.openxmlformats.org/officeDocument/2006/relationships/image" Target="../media/image95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94.svg"/><Relationship Id="rId2" Type="http://schemas.openxmlformats.org/officeDocument/2006/relationships/image" Target="../media/image93.png"/><Relationship Id="rId11" Type="http://schemas.openxmlformats.org/officeDocument/2006/relationships/notesSlide" Target="../notesSlides/notesSlide2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image" Target="../media/image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102.svg"/><Relationship Id="rId6" Type="http://schemas.openxmlformats.org/officeDocument/2006/relationships/image" Target="../media/image101.png"/><Relationship Id="rId5" Type="http://schemas.openxmlformats.org/officeDocument/2006/relationships/image" Target="../media/image100.svg"/><Relationship Id="rId4" Type="http://schemas.openxmlformats.org/officeDocument/2006/relationships/image" Target="../media/image99.png"/><Relationship Id="rId3" Type="http://schemas.openxmlformats.org/officeDocument/2006/relationships/image" Target="../media/image98.svg"/><Relationship Id="rId2" Type="http://schemas.openxmlformats.org/officeDocument/2006/relationships/image" Target="../media/image97.png"/><Relationship Id="rId13" Type="http://schemas.openxmlformats.org/officeDocument/2006/relationships/notesSlide" Target="../notesSlides/notesSlide3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9.svg"/><Relationship Id="rId10" Type="http://schemas.openxmlformats.org/officeDocument/2006/relationships/image" Target="../media/image38.png"/><Relationship Id="rId1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2.svg"/><Relationship Id="rId6" Type="http://schemas.openxmlformats.org/officeDocument/2006/relationships/image" Target="../media/image101.png"/><Relationship Id="rId5" Type="http://schemas.openxmlformats.org/officeDocument/2006/relationships/image" Target="../media/image14.svg"/><Relationship Id="rId4" Type="http://schemas.openxmlformats.org/officeDocument/2006/relationships/image" Target="../media/image103.png"/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svg"/><Relationship Id="rId8" Type="http://schemas.openxmlformats.org/officeDocument/2006/relationships/image" Target="../media/image101.png"/><Relationship Id="rId7" Type="http://schemas.openxmlformats.org/officeDocument/2006/relationships/image" Target="../media/image109.svg"/><Relationship Id="rId6" Type="http://schemas.openxmlformats.org/officeDocument/2006/relationships/image" Target="../media/image108.png"/><Relationship Id="rId5" Type="http://schemas.openxmlformats.org/officeDocument/2006/relationships/image" Target="../media/image107.svg"/><Relationship Id="rId4" Type="http://schemas.openxmlformats.org/officeDocument/2006/relationships/image" Target="../media/image106.png"/><Relationship Id="rId3" Type="http://schemas.openxmlformats.org/officeDocument/2006/relationships/image" Target="../media/image105.svg"/><Relationship Id="rId2" Type="http://schemas.openxmlformats.org/officeDocument/2006/relationships/image" Target="../media/image104.png"/><Relationship Id="rId15" Type="http://schemas.openxmlformats.org/officeDocument/2006/relationships/notesSlide" Target="../notesSlides/notesSlide32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11.svg"/><Relationship Id="rId12" Type="http://schemas.openxmlformats.org/officeDocument/2006/relationships/image" Target="../media/image110.png"/><Relationship Id="rId11" Type="http://schemas.openxmlformats.org/officeDocument/2006/relationships/image" Target="../media/image8.svg"/><Relationship Id="rId10" Type="http://schemas.openxmlformats.org/officeDocument/2006/relationships/image" Target="../media/image72.png"/><Relationship Id="rId1" Type="http://schemas.openxmlformats.org/officeDocument/2006/relationships/image" Target="../media/image4.jpe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.svg"/><Relationship Id="rId6" Type="http://schemas.openxmlformats.org/officeDocument/2006/relationships/image" Target="../media/image73.png"/><Relationship Id="rId5" Type="http://schemas.openxmlformats.org/officeDocument/2006/relationships/image" Target="../media/image113.svg"/><Relationship Id="rId4" Type="http://schemas.openxmlformats.org/officeDocument/2006/relationships/image" Target="../media/image112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image" Target="../media/image4.jpe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73.png"/><Relationship Id="rId7" Type="http://schemas.openxmlformats.org/officeDocument/2006/relationships/image" Target="../media/image10.svg"/><Relationship Id="rId6" Type="http://schemas.openxmlformats.org/officeDocument/2006/relationships/image" Target="../media/image31.png"/><Relationship Id="rId5" Type="http://schemas.openxmlformats.org/officeDocument/2006/relationships/image" Target="../media/image115.svg"/><Relationship Id="rId4" Type="http://schemas.openxmlformats.org/officeDocument/2006/relationships/image" Target="../media/image114.png"/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1" Type="http://schemas.openxmlformats.org/officeDocument/2006/relationships/notesSlide" Target="../notesSlides/notesSlide3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2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1651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66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词嵌入技术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492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第四章教学课件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69">
            <a:off x="5588040" y="4184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6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4.1 词袋模型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85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基本概念与原理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模型构建实践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226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4.2 词向量模型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285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One-Hot编码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Word2Vec模型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4.3 Embedding的生成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1016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5016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使用ChatGPT生成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使用text2vec生成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19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445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4.4 Embedding的应用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291">
            <a:off x="6477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5016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应用场景概述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典型案例分析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286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4.1 词袋模型 (Bag of Words)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4376">
            <a:off x="5461032" y="32321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5757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609600" y="3429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从原理到实践，掌握词袋模型的构建方法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4.1.1 词袋模型的基本概念与原理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3368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3114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基本定义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6215">
            <a:off x="1066815" y="2838450"/>
            <a:ext cx="2692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66800" y="2971800"/>
            <a:ext cx="2692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词袋模型（Bag of Words, BoW）是一种将文本表示为词汇频率向量的方法。它将文本转化为计算机易于处理的数值形式。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336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57800" y="23114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6215">
            <a:off x="4749815" y="2838450"/>
            <a:ext cx="2692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749800" y="2971800"/>
            <a:ext cx="2692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将文本看作一个“袋子”，里面装着各种词汇。该模型忽略词汇的顺序和语法结构，只关注每个词汇在文本中出现的频率。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2800" y="2336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940800" y="23114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本质特征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6215">
            <a:off x="8432815" y="2838450"/>
            <a:ext cx="2692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432800" y="2971800"/>
            <a:ext cx="2692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实现了从非结构化文本数据到结构化数值向量的转换，是自然语言处理中进行特征工程的基础步骤。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词袋模型的构建步骤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032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01 文本预处理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5626">
            <a:off x="1016014" y="253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667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  <a:defRPr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分词：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将句子拆分为独立词汇。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去停用词：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移除“的”、“是”等无意义词汇。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词干提取：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词汇归一化，如“running”变为“run”。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032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02 构建词汇表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5626">
            <a:off x="4699014" y="253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99000" y="2667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  <a:defRPr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收集唯一词汇：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汇总所有出现过的单词，形成字典。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确定维度：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词汇表的大小决定了最终向量的维度。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32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2032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03 文本向量化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8382014" y="253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382000" y="2667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  <a:defRPr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转换为向量：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每个维度对应词汇表中的词，值为出现频率。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常见方法：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词频（TF）、独热编码（One-Hot）、TF-IDF。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案例：使用Jieba构建词袋模型 (1)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10668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2222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代码实现：分词处理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2597150"/>
            <a:ext cx="1016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30500"/>
            <a:ext cx="10160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导入库与定义工具函数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jieba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def</a:t>
            </a: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get_stop_words(file_path):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lines = read_text_file(file_path)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return</a:t>
            </a: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[line.replace("\n", '')</a:t>
            </a:r>
            <a:r>
              <a:rPr lang="en-US" sz="13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for</a:t>
            </a: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line</a:t>
            </a:r>
            <a:r>
              <a:rPr lang="en-US" sz="13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in</a:t>
            </a: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lines]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准备数据与分词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stop_words = get_stop_words("stopwords.txt")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 = ["机器学习推动人工智能的飞速发展。", "深度学习使AI更强大。"]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jieba.add_word('大语言模型')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添加自定义词汇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segments = [jieba.lcut(con)</a:t>
            </a:r>
            <a:r>
              <a:rPr lang="en-US" sz="13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for</a:t>
            </a: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con</a:t>
            </a:r>
            <a:r>
              <a:rPr lang="en-US" sz="13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in</a:t>
            </a: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content]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案例：使用Jieba构建词袋模型 (2)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207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95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33500" y="20701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核心代码实现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9525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5757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603500"/>
            <a:ext cx="4826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1. 去停用词和标点符号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tokenizeds = [[w for w in seg if w not in stop_words] for seg in segments]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2. 构建词汇表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bag_of_words = list(set([w for words in tokenizeds for w in words]))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3. 生成词袋向量 (0/1表示有无)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bow_vec = [[1 if t in tk else 0 for t in bag_of_words] for tk in tokenizeds]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207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095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794500" y="20701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运行输出结果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046">
            <a:off x="64135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5757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13500" y="2603500"/>
            <a:ext cx="4826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分词清洗结果：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[['机器', '学习', '推动', '人工智能', '飞速发展'], ...]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构建词汇表：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['深度', '飞速发展', '变得', '强大', '人工智能', '学习', ...]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词袋向量矩阵：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[[0, 1, 0, 0, 1, 1, 1, 0, 0, 1], [1, 0, 1, 1, 1, 1, 0, 0, 0, 0], ...]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案例：使用Gensim构建词袋模型 (1)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10668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1590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06500" y="21590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460500" y="2159000"/>
            <a:ext cx="152400" cy="1524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603500"/>
            <a:ext cx="10287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安装Gensim: pip install gensim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jieba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gensim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corpora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4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准备数据与停用词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 = [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"机器学习推动人工智能的飞速发展。",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"深度学习使人工智能变得更加强大。"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4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分词和去停用词处理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jieba.add_word('大语言模型')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segments = [jieba.lcut(con)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for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con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in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content]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tokenizeds = [[word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for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word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in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seg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if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word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not in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stop_words]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for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seg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in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segments]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案例：使用Gensim构建词袋模型 (2)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2260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代码实现：构建词典与生成向量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549">
            <a:off x="1016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921000"/>
            <a:ext cx="4572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映射单词与ID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dictionary = corpora.Dictionary(tokenizeds)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print(dictionary.token2id)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生成稀疏向量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corpus = [dictionary.doc2bow(s) for s in segments]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print(corpus)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2032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2260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运行结果：词汇映射与稀疏矩阵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549">
            <a:off x="6604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604000" y="2921000"/>
            <a:ext cx="4572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词汇表 (token2id):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{'人工智能': 0, '学习': 1, '推动': 2, '机器': 3, '飞速发展': 4, '变得': 5, '强大': 6, '深度': 7, '大语言模型': 8, '智能': 9}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稀疏向量 (corpus):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[[(0, 1), (1, 1), (2, 1), (3, 1), (4, 1)], [(0, 1), (1, 1), (5, 1), (6, 1), (7, 1)], [(0, 1), (8, 1), (9, 1)]]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286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4.2 词向量模型 (Word Embedding)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4376">
            <a:off x="5461032" y="32321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5757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609600" y="3429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从One-Hot到Word2Vec，探索稠密向量的魅力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4.2.1 One-Hot编码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226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将类别型变量转换为二进制向量。对于每个类别，向量中只有一个位置为1，其余为0，实现了特征的数字化。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5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53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NLP 应用场景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937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在自然语言处理中，将每个字词映射到唯一的整数索引，再生成对应的One-Hot向量，作为模型的输入。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26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480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主要特点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207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优点：简单直观，计算高效。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缺点：无法表示词与词之间的语义关系。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0" y="2032000"/>
            <a:ext cx="5334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0" y="2286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31000" y="2260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编码示例（词汇表大小=5）</a:t>
            </a:r>
            <a:endParaRPr lang="en-US" sz="1100"/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6350000" y="2794000"/>
          <a:ext cx="4826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3048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277B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词语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77BD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277B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One-Hot 向量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77BD">
                        <a:alpha val="10000"/>
                      </a:srgbClr>
                    </a:solidFill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242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242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[1, 0, 0, 0, 0]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242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云计算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242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[0, 1, 0, 0, 0]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242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机器学习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242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[0, 0, 1, 0, 0]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242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深度学习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242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[0, 0, 0, 1, 0]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242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大语言模型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42424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[0, 0, 0, 0, 1]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One-Hot编码的生成方法 (1)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032000"/>
            <a:ext cx="304800" cy="3048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143000" y="20066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方法一：使用 Pandas 的 get_dummies 函数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10668000" cy="3048000"/>
          </a:xfrm>
          <a:prstGeom prst="roundRect">
            <a:avLst>
              <a:gd name="adj" fmla="val 4166"/>
            </a:avLst>
          </a:prstGeom>
          <a:solidFill>
            <a:srgbClr val="F5F5F5">
              <a:alpha val="9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1016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r>
              <a:rPr lang="en-US" sz="14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pandas</a:t>
            </a:r>
            <a:r>
              <a:rPr lang="en-US" sz="14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sz="14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pd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A9955"/>
                </a:solidFill>
                <a:latin typeface="Noto Sans SC"/>
                <a:ea typeface="Noto Sans SC"/>
                <a:cs typeface="Noto Sans SC"/>
                <a:sym typeface="Noto Sans SC"/>
              </a:rPr>
              <a:t># 准备数据</a:t>
            </a:r>
            <a:endParaRPr lang="en-US" sz="1400" b="0" i="0" u="none" strike="noStrike">
              <a:solidFill>
                <a:srgbClr val="6A99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data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= [</a:t>
            </a:r>
            <a:r>
              <a:rPr lang="en-US" sz="1400" b="0" i="0" u="none" strike="noStrike">
                <a:solidFill>
                  <a:srgbClr val="CE9178"/>
                </a:solidFill>
                <a:latin typeface="Noto Sans SC"/>
                <a:ea typeface="Noto Sans SC"/>
                <a:cs typeface="Noto Sans SC"/>
                <a:sym typeface="Noto Sans SC"/>
              </a:rPr>
              <a:t>'大数据'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sz="1400" b="0" i="0" u="none" strike="noStrike">
                <a:solidFill>
                  <a:srgbClr val="CE9178"/>
                </a:solidFill>
                <a:latin typeface="Noto Sans SC"/>
                <a:ea typeface="Noto Sans SC"/>
                <a:cs typeface="Noto Sans SC"/>
                <a:sym typeface="Noto Sans SC"/>
              </a:rPr>
              <a:t>'云技术'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sz="1400" b="0" i="0" u="none" strike="noStrike">
                <a:solidFill>
                  <a:srgbClr val="CE9178"/>
                </a:solidFill>
                <a:latin typeface="Noto Sans SC"/>
                <a:ea typeface="Noto Sans SC"/>
                <a:cs typeface="Noto Sans SC"/>
                <a:sym typeface="Noto Sans SC"/>
              </a:rPr>
              <a:t>'机器学习'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sz="1400" b="0" i="0" u="none" strike="noStrike">
                <a:solidFill>
                  <a:srgbClr val="CE9178"/>
                </a:solidFill>
                <a:latin typeface="Noto Sans SC"/>
                <a:ea typeface="Noto Sans SC"/>
                <a:cs typeface="Noto Sans SC"/>
                <a:sym typeface="Noto Sans SC"/>
              </a:rPr>
              <a:t>'深度学习'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sz="1400" b="0" i="0" u="none" strike="noStrike">
                <a:solidFill>
                  <a:srgbClr val="CE9178"/>
                </a:solidFill>
                <a:latin typeface="Noto Sans SC"/>
                <a:ea typeface="Noto Sans SC"/>
                <a:cs typeface="Noto Sans SC"/>
                <a:sym typeface="Noto Sans SC"/>
              </a:rPr>
              <a:t>'大语言模型'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  <a:endParaRPr lang="en-US" sz="1400" b="0" i="0" u="none" strike="noStrike">
              <a:solidFill>
                <a:srgbClr val="D4D4D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df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sz="14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pd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.DataFrame({</a:t>
            </a:r>
            <a:r>
              <a:rPr lang="en-US" sz="1400" b="0" i="0" u="none" strike="noStrike">
                <a:solidFill>
                  <a:srgbClr val="CE9178"/>
                </a:solidFill>
                <a:latin typeface="Noto Sans SC"/>
                <a:ea typeface="Noto Sans SC"/>
                <a:cs typeface="Noto Sans SC"/>
                <a:sym typeface="Noto Sans SC"/>
              </a:rPr>
              <a:t>'人工智能技术'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sz="14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data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})</a:t>
            </a:r>
            <a:endParaRPr lang="en-US" sz="1400" b="0" i="0" u="none" strike="noStrike">
              <a:solidFill>
                <a:srgbClr val="D4D4D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A9955"/>
                </a:solidFill>
                <a:latin typeface="Noto Sans SC"/>
                <a:ea typeface="Noto Sans SC"/>
                <a:cs typeface="Noto Sans SC"/>
                <a:sym typeface="Noto Sans SC"/>
              </a:rPr>
              <a:t># 生成One-Hot编码</a:t>
            </a:r>
            <a:endParaRPr lang="en-US" sz="1400" b="0" i="0" u="none" strike="noStrike">
              <a:solidFill>
                <a:srgbClr val="6A99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dummies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sz="14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pd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.get_dummies(</a:t>
            </a:r>
            <a:r>
              <a:rPr lang="en-US" sz="14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df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[</a:t>
            </a:r>
            <a:r>
              <a:rPr lang="en-US" sz="1400" b="0" i="0" u="none" strike="noStrike">
                <a:solidFill>
                  <a:srgbClr val="CE9178"/>
                </a:solidFill>
                <a:latin typeface="Noto Sans SC"/>
                <a:ea typeface="Noto Sans SC"/>
                <a:cs typeface="Noto Sans SC"/>
                <a:sym typeface="Noto Sans SC"/>
              </a:rPr>
              <a:t>'人工智能技术'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], prefix=</a:t>
            </a:r>
            <a:r>
              <a:rPr lang="en-US" sz="1400" b="0" i="0" u="none" strike="noStrike">
                <a:solidFill>
                  <a:srgbClr val="CE9178"/>
                </a:solidFill>
                <a:latin typeface="Noto Sans SC"/>
                <a:ea typeface="Noto Sans SC"/>
                <a:cs typeface="Noto Sans SC"/>
                <a:sym typeface="Noto Sans SC"/>
              </a:rPr>
              <a:t>'人工智能技术'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, dtype=</a:t>
            </a:r>
            <a:r>
              <a:rPr lang="en-US" sz="14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int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0" i="0" u="none" strike="noStrike">
              <a:solidFill>
                <a:srgbClr val="D4D4D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print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4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dummies</a:t>
            </a:r>
            <a:r>
              <a:rPr lang="en-US" sz="14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0" i="0" u="none" strike="noStrike">
              <a:solidFill>
                <a:srgbClr val="D4D4D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One-Hot编码的生成方法 (2)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841500"/>
            <a:ext cx="304800" cy="3048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143000" y="1803400"/>
            <a:ext cx="1028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方法二：使用 Pandas 的 apply 函数自定义生成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10668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1016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import pandas as pd</a:t>
            </a:r>
            <a:endParaRPr lang="en-US" sz="1100"/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def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get_one_hot_by_apply(dataframe: pd.DataFrame):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one_hot_df = pd.DataFrame()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col_name =</a:t>
            </a:r>
            <a:r>
              <a:rPr lang="en-US" sz="1400" b="0" i="0" u="none" strike="noStrike">
                <a:solidFill>
                  <a:srgbClr val="2E8B57"/>
                </a:solidFill>
                <a:latin typeface="Noto Sans SC"/>
                <a:ea typeface="Noto Sans SC"/>
                <a:cs typeface="Noto Sans SC"/>
                <a:sym typeface="Noto Sans SC"/>
              </a:rPr>
              <a:t>'人工智能技术'</a:t>
            </a:r>
            <a:endParaRPr lang="en-US" sz="1400" b="0" i="0" u="none" strike="noStrike">
              <a:solidFill>
                <a:srgbClr val="2E8B5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for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value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in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dataframe[col_name].unique():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new_col = f</a:t>
            </a:r>
            <a:r>
              <a:rPr lang="en-US" sz="1400" b="0" i="0" u="none" strike="noStrike">
                <a:solidFill>
                  <a:srgbClr val="2E8B57"/>
                </a:solidFill>
                <a:latin typeface="Noto Sans SC"/>
                <a:ea typeface="Noto Sans SC"/>
                <a:cs typeface="Noto Sans SC"/>
                <a:sym typeface="Noto Sans SC"/>
              </a:rPr>
              <a:t>'{col_name}_{value}'</a:t>
            </a:r>
            <a:endParaRPr lang="en-US" sz="1400" b="0" i="0" u="none" strike="noStrike">
              <a:solidFill>
                <a:srgbClr val="2E8B5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one_hot_df[new_col] = dataframe[col_name].apply(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lambda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x: 1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if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x == value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else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0)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return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one_hot_df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使用函数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one_hot_df = get_one_hot_by_apply(df)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print(one_hot_df)</a:t>
            </a:r>
            <a:endParaRPr lang="en-US" sz="14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One-Hot编码的生成方法 (3)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方法三：使用 PyTorch 的 functional.one_hot 函数（深度学习场景首选）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10668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76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476500"/>
            <a:ext cx="977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Roboto Mono"/>
                <a:ea typeface="Roboto Mono"/>
                <a:cs typeface="Roboto Mono"/>
                <a:sym typeface="Roboto Mono"/>
              </a:rPr>
              <a:t># 导入必要库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torch</a:t>
            </a:r>
            <a:endParaRPr lang="en-US" sz="14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torch.nn</a:t>
            </a:r>
            <a:r>
              <a:rPr lang="en-US" sz="14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functional</a:t>
            </a:r>
            <a:endParaRPr lang="en-US" sz="14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br>
              <a:rPr lang="en-US" sz="14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lang="en-US" sz="1400" b="0" i="0" u="none" strike="noStrike">
              <a:solidFill>
                <a:srgbClr val="1F23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1400" b="0" i="0" u="none" strike="noStrike">
                <a:solidFill>
                  <a:srgbClr val="61AFEF"/>
                </a:solidFill>
                <a:latin typeface="Roboto Mono"/>
                <a:ea typeface="Roboto Mono"/>
                <a:cs typeface="Roboto Mono"/>
                <a:sym typeface="Roboto Mono"/>
              </a:rPr>
              <a:t>get_one_hot_by_pytorch</a:t>
            </a: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(items: list):</a:t>
            </a:r>
            <a:endParaRPr lang="en-US" sz="14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item_to_index = {item: idx</a:t>
            </a:r>
            <a:r>
              <a:rPr lang="en-US" sz="14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idx, item</a:t>
            </a:r>
            <a:r>
              <a:rPr lang="en-US" sz="14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enumerate(items)}</a:t>
            </a:r>
            <a:endParaRPr lang="en-US" sz="14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labels_indices = torch.tensor([item_to_index[item]</a:t>
            </a:r>
            <a:r>
              <a:rPr lang="en-US" sz="14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item</a:t>
            </a:r>
            <a:r>
              <a:rPr lang="en-US" sz="14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items])</a:t>
            </a:r>
            <a:endParaRPr lang="en-US" sz="14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one_hot = functional.one_hot(labels_indices, num_classes=len(items))</a:t>
            </a:r>
            <a:endParaRPr lang="en-US" sz="14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one_hot</a:t>
            </a:r>
            <a:endParaRPr lang="en-US" sz="14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br>
              <a:rPr lang="en-US" sz="14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lang="en-US" sz="1400" b="0" i="0" u="none" strike="noStrike">
              <a:solidFill>
                <a:srgbClr val="1F23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808080"/>
                </a:solidFill>
                <a:latin typeface="Roboto Mono"/>
                <a:ea typeface="Roboto Mono"/>
                <a:cs typeface="Roboto Mono"/>
                <a:sym typeface="Roboto Mono"/>
              </a:rPr>
              <a:t># 使用示例</a:t>
            </a:r>
            <a:endParaRPr lang="en-US" sz="1400" b="0" i="0" u="none" strike="noStrike">
              <a:solidFill>
                <a:srgbClr val="8080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data = [</a:t>
            </a:r>
            <a:r>
              <a:rPr lang="en-US" sz="1400" b="0" i="0" u="none" strike="noStrike">
                <a:solidFill>
                  <a:srgbClr val="98C379"/>
                </a:solidFill>
                <a:latin typeface="Roboto Mono"/>
                <a:ea typeface="Roboto Mono"/>
                <a:cs typeface="Roboto Mono"/>
                <a:sym typeface="Roboto Mono"/>
              </a:rPr>
              <a:t>'cat'</a:t>
            </a: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US" sz="1400" b="0" i="0" u="none" strike="noStrike">
                <a:solidFill>
                  <a:srgbClr val="98C379"/>
                </a:solidFill>
                <a:latin typeface="Roboto Mono"/>
                <a:ea typeface="Roboto Mono"/>
                <a:cs typeface="Roboto Mono"/>
                <a:sym typeface="Roboto Mono"/>
              </a:rPr>
              <a:t>'dog'</a:t>
            </a: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US" sz="1400" b="0" i="0" u="none" strike="noStrike">
                <a:solidFill>
                  <a:srgbClr val="98C379"/>
                </a:solidFill>
                <a:latin typeface="Roboto Mono"/>
                <a:ea typeface="Roboto Mono"/>
                <a:cs typeface="Roboto Mono"/>
                <a:sym typeface="Roboto Mono"/>
              </a:rPr>
              <a:t>'bird'</a:t>
            </a: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lang="en-US" sz="14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tensor = get_one_hot_by_pytorch(data)</a:t>
            </a:r>
            <a:endParaRPr lang="en-US" sz="1400" b="0" i="0" u="none" strike="noStrike">
              <a:solidFill>
                <a:srgbClr val="37415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One-Hot编码的优缺点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2260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主要优点 (Advantages)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549">
            <a:off x="1016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84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946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简单直观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3251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原理简单，易于理解和实现，是处理类别型数据的基础方法。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873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835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消除数值意义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97000" y="4140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将类别变量转换为无大小关系的向量，避免算法误判数值大小。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762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724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保持独立性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397000" y="5029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每个特征相互独立，有效避免了多重共线性问题。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286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2260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主要缺点 (Disadvantages)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549">
            <a:off x="6604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2984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2946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无法表示语义关联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85000" y="3251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向量之间相互正交，无法反映词与词之间的相似性或语义距离。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3873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3835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维度灾难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985000" y="4140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词汇表越大，向量维度越高，导致计算效率低下，模型训练困难。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04000" y="4762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985000" y="4724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数据稀疏性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985000" y="5029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大部分元素为0，造成存储空间的极大浪费，且不利于模型学习。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4.2.2 Word2Vec模型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模型背景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由Google团队在2013年提出，是一种基于神经网络的高效词嵌入技术，旨在解决传统词向量表示方法的局限性。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2032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730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将高维稀疏的One-Hot向量转换为低维稠密的实数向量（通常几十到几百维），实现降维并保留语义信息。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72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57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关键特性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01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语义相近的词在向量空间中距离也相近，能够有效捕捉词汇的语义信息，支持向量运算（如“国王-男人+女人≈女王”）。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31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572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57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两种训练模型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01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CBOW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：通过上下文预测中心词，训练速度较快。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Skip-Gram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：通过中心词预测上下文，对低频词效果更好。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案例：使用Gensim创建Word2Vec模型 (1)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10668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812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9558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Code: 数据预处理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76500"/>
            <a:ext cx="10287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r>
              <a:rPr lang="en-US" sz="13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jieba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sz="13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gensim.models</a:t>
            </a:r>
            <a:r>
              <a:rPr lang="en-US" sz="13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r>
              <a:rPr lang="en-US" sz="1300" b="0" i="0" u="none" strike="noStrike">
                <a:solidFill>
                  <a:srgbClr val="DCDCAA"/>
                </a:solidFill>
                <a:latin typeface="Noto Sans SC"/>
                <a:ea typeface="Noto Sans SC"/>
                <a:cs typeface="Noto Sans SC"/>
                <a:sym typeface="Noto Sans SC"/>
              </a:rPr>
              <a:t>Word2Vec</a:t>
            </a:r>
            <a:endParaRPr lang="en-US" sz="1300" b="0" i="0" u="none" strike="noStrike">
              <a:solidFill>
                <a:srgbClr val="DCDCA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A9955"/>
                </a:solidFill>
                <a:latin typeface="Noto Sans SC"/>
                <a:ea typeface="Noto Sans SC"/>
                <a:cs typeface="Noto Sans SC"/>
                <a:sym typeface="Noto Sans SC"/>
              </a:rPr>
              <a:t># 准备语料数据</a:t>
            </a:r>
            <a:endParaRPr lang="en-US" sz="1300" b="0" i="0" u="none" strike="noStrike">
              <a:solidFill>
                <a:srgbClr val="6A99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CDCFE"/>
                </a:solidFill>
                <a:latin typeface="Noto Sans SC"/>
                <a:ea typeface="Noto Sans SC"/>
                <a:cs typeface="Noto Sans SC"/>
                <a:sym typeface="Noto Sans SC"/>
              </a:rPr>
              <a:t>sentences</a:t>
            </a:r>
            <a:r>
              <a:rPr lang="en-US" sz="13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= [</a:t>
            </a:r>
            <a:endParaRPr lang="en-US" sz="1300" b="0" i="0" u="none" strike="noStrike">
              <a:solidFill>
                <a:srgbClr val="D4D4D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E9178"/>
                </a:solidFill>
                <a:latin typeface="Noto Sans SC"/>
                <a:ea typeface="Noto Sans SC"/>
                <a:cs typeface="Noto Sans SC"/>
                <a:sym typeface="Noto Sans SC"/>
              </a:rPr>
              <a:t>"这部电影非常精彩，剧情好看，演员非常出色。",</a:t>
            </a:r>
            <a:endParaRPr lang="en-US" sz="1300" b="0" i="0" u="none" strike="noStrike">
              <a:solidFill>
                <a:srgbClr val="CE917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E9178"/>
                </a:solidFill>
                <a:latin typeface="Noto Sans SC"/>
                <a:ea typeface="Noto Sans SC"/>
                <a:cs typeface="Noto Sans SC"/>
                <a:sym typeface="Noto Sans SC"/>
              </a:rPr>
              <a:t>"人工智能正在改变世界，机器学习是其中的核心技术。",</a:t>
            </a:r>
            <a:endParaRPr lang="en-US" sz="1300" b="0" i="0" u="none" strike="noStrike">
              <a:solidFill>
                <a:srgbClr val="CE917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E9178"/>
                </a:solidFill>
                <a:latin typeface="Noto Sans SC"/>
                <a:ea typeface="Noto Sans SC"/>
                <a:cs typeface="Noto Sans SC"/>
                <a:sym typeface="Noto Sans SC"/>
              </a:rPr>
              <a:t>"深度学习在图像识别和自然语言处理领域取得了巨大成功。"</a:t>
            </a:r>
            <a:endParaRPr lang="en-US" sz="1300" b="0" i="0" u="none" strike="noStrike">
              <a:solidFill>
                <a:srgbClr val="CE917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  <a:endParaRPr lang="en-US" sz="1300" b="0" i="0" u="none" strike="noStrike">
              <a:solidFill>
                <a:srgbClr val="D4D4D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A9955"/>
                </a:solidFill>
                <a:latin typeface="Noto Sans SC"/>
                <a:ea typeface="Noto Sans SC"/>
                <a:cs typeface="Noto Sans SC"/>
                <a:sym typeface="Noto Sans SC"/>
              </a:rPr>
              <a:t># 分词处理与去停用词</a:t>
            </a:r>
            <a:endParaRPr lang="en-US" sz="1300" b="0" i="0" u="none" strike="noStrike">
              <a:solidFill>
                <a:srgbClr val="6A99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CDCFE"/>
                </a:solidFill>
                <a:latin typeface="Noto Sans SC"/>
                <a:ea typeface="Noto Sans SC"/>
                <a:cs typeface="Noto Sans SC"/>
                <a:sym typeface="Noto Sans SC"/>
              </a:rPr>
              <a:t>segments</a:t>
            </a:r>
            <a:r>
              <a:rPr lang="en-US" sz="13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= [jieba.lcut(sentence)</a:t>
            </a:r>
            <a:r>
              <a:rPr lang="en-US" sz="13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for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sentence</a:t>
            </a:r>
            <a:r>
              <a:rPr lang="en-US" sz="13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in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sentences]</a:t>
            </a:r>
            <a:endParaRPr lang="en-US" sz="13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CDCFE"/>
                </a:solidFill>
                <a:latin typeface="Noto Sans SC"/>
                <a:ea typeface="Noto Sans SC"/>
                <a:cs typeface="Noto Sans SC"/>
                <a:sym typeface="Noto Sans SC"/>
              </a:rPr>
              <a:t>tokenizeds</a:t>
            </a:r>
            <a:r>
              <a:rPr lang="en-US" sz="1300" b="0" i="0" u="none" strike="noStrike">
                <a:solidFill>
                  <a:srgbClr val="D4D4D4"/>
                </a:solidFill>
                <a:latin typeface="Noto Sans SC"/>
                <a:ea typeface="Noto Sans SC"/>
                <a:cs typeface="Noto Sans SC"/>
                <a:sym typeface="Noto Sans SC"/>
              </a:rPr>
              <a:t>= [[word</a:t>
            </a:r>
            <a:r>
              <a:rPr lang="en-US" sz="13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for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word</a:t>
            </a:r>
            <a:r>
              <a:rPr lang="en-US" sz="13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in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seg</a:t>
            </a:r>
            <a:r>
              <a:rPr lang="en-US" sz="13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if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word</a:t>
            </a:r>
            <a:r>
              <a:rPr lang="en-US" sz="13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not in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stop_words]</a:t>
            </a:r>
            <a:r>
              <a:rPr lang="en-US" sz="13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for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seg</a:t>
            </a:r>
            <a:r>
              <a:rPr lang="en-US" sz="1300" b="0" i="0" u="none" strike="noStrike">
                <a:solidFill>
                  <a:srgbClr val="569CD6"/>
                </a:solidFill>
                <a:latin typeface="Noto Sans SC"/>
                <a:ea typeface="Noto Sans SC"/>
                <a:cs typeface="Noto Sans SC"/>
                <a:sym typeface="Noto Sans SC"/>
              </a:rPr>
              <a:t>in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segments]</a:t>
            </a:r>
            <a:endParaRPr lang="en-US" sz="13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案例：使用Gensim创建Word2Vec模型 (2)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2184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代码实现：初始化模型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30500"/>
            <a:ext cx="4699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初始化并训练Word2Vec模型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model = Word2Vec(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tokenizeds,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sg=1,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1表示使用Skip-Gram模型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vector_size=20,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词向量的维度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window=5,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上下文窗口大小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min_count=1,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忽略低频词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hs=1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使用分层softmax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3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22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2184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关键参数解析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794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2768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sg (Training Algorithm)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训练算法选择，0=CBOW模型，1=Skip-Gram模型。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365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33401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vector_size (Dimension)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输出词向量的维度，即特征向量的长度。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937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3911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window (Context Window)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当前词和预测词之间的最大距离，即上下文窗口大小。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508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44831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min_count (Frequency Filter)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忽略所有频率低于此值的单词，用于过滤低频噪声。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5080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5054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hs (Hierarchical Softmax)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是否使用分层softmax进行模型训练，1表示开启。</a:t>
            </a:r>
            <a:endParaRPr lang="en-US" sz="12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案例：使用Gensim创建Word2Vec模型 (3)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2260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代码实现：保存模型与查看向量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57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保存与加载模型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model.save('word2vec.model')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model = Word2Vec.load('word2vec.model')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查看特定词的词向量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embedding = model.wv['精彩']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print(f"词'精彩'的向量表示：\n{embedding}")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2032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858000" y="2260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运行结果：词向量输出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730500"/>
            <a:ext cx="457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词'精彩'的向量表示：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[-0.00428 0.01413 0.02701 ... 0.00451 0.03196]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案例：使用Gensim创建Word2Vec模型 (4)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2184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代码实现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5757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305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计算最相似的词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most_similar = model.wv.most_similar("精彩", topn=3)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print(f"与'精彩'最相似的词：\n{most_similar}")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计算两个词的相似度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similarity = model.wv.similarity('精彩', '好看')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print(f"'精彩'与'好看'的相似度：{similarity}")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22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2184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运行输出结果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5757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27305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与'精彩'最相似的词：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[('好看', 0.85), ('出色', 0.78), ('电影', 0.65)]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'精彩'与'好看'的相似度：0.85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4.3 Embedding的生成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168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利用大语言模型生成高质量的Embedding向量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4191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大语言模型生成Embedding概述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184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25654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将文本、代码等内容转换为稠密数字向量的过程，用于捕捉语义信息。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92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83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6449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技术优势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40259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大模型生成的Embedding能捕捉上下文信息，语义表示能力更强。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143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5105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主要应用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54864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为检索增强生成(RAG)、文本相似度计算、聚类分析等提供核心支持。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032000"/>
            <a:ext cx="5207000" cy="4191000"/>
          </a:xfrm>
          <a:prstGeom prst="roundRect">
            <a:avLst>
              <a:gd name="adj" fmla="val 3030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l="38660" r="38660"/>
          <a:stretch>
            <a:fillRect/>
          </a:stretch>
        </p:blipFill>
        <p:spPr>
          <a:xfrm>
            <a:off x="6477000" y="2286000"/>
            <a:ext cx="4699000" cy="368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4.3.1 使用ChatGPT生成Embedding (1)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更强的性能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在文本搜索、代码搜索和句子相似性任务上表现优异，准确率大幅提升。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2032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模型统一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730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合并了多种独立模型，提供统一的API接口，开发和使用更加便捷高效。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44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更长的上下文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889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支持8192个token的上下文长度，能够处理更长的文本段落，适用场景更广。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19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445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44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更小的嵌入尺寸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889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仅1536维，相比前代模型更节省存储空间和计算资源，降低了系统负载。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使用ChatGPT生成Embedding (2)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10668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1336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2095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代码示例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10160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Roboto Mono"/>
                <a:ea typeface="Roboto Mono"/>
                <a:cs typeface="Roboto Mono"/>
                <a:sym typeface="Roboto Mono"/>
              </a:rPr>
              <a:t># 初始化客户端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US" sz="14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openai</a:t>
            </a:r>
            <a:r>
              <a:rPr lang="en-US" sz="1400" b="0" i="0" u="none" strike="noStrike">
                <a:solidFill>
                  <a:srgbClr val="0277BD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14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OpenAI</a:t>
            </a:r>
            <a:endParaRPr lang="en-US" sz="1400" b="0" i="0" u="none" strike="noStrike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client = OpenAI(api_key=</a:t>
            </a:r>
            <a:r>
              <a:rPr lang="en-US" sz="1400" b="0" i="0" u="none" strike="noStrike">
                <a:solidFill>
                  <a:srgbClr val="E65100"/>
                </a:solidFill>
                <a:latin typeface="Roboto Mono"/>
                <a:ea typeface="Roboto Mono"/>
                <a:cs typeface="Roboto Mono"/>
                <a:sym typeface="Roboto Mono"/>
              </a:rPr>
              <a:t>"your-api-key"</a:t>
            </a:r>
            <a:r>
              <a:rPr lang="en-US" sz="14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1400" b="0" i="0" u="none" strike="noStrike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Roboto Mono"/>
                <a:ea typeface="Roboto Mono"/>
                <a:cs typeface="Roboto Mono"/>
                <a:sym typeface="Roboto Mono"/>
              </a:rPr>
              <a:t># 生成Embedding</a:t>
            </a:r>
            <a:endParaRPr lang="en-US" sz="1400" b="0" i="0" u="none" strike="noStrike">
              <a:solidFill>
                <a:srgbClr val="75757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response = client.embeddings.create(</a:t>
            </a:r>
            <a:endParaRPr lang="en-US" sz="1400" b="0" i="0" u="none" strike="noStrike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input=</a:t>
            </a:r>
            <a:r>
              <a:rPr lang="en-US" sz="1400" b="0" i="0" u="none" strike="noStrike">
                <a:solidFill>
                  <a:srgbClr val="E65100"/>
                </a:solidFill>
                <a:latin typeface="Roboto Mono"/>
                <a:ea typeface="Roboto Mono"/>
                <a:cs typeface="Roboto Mono"/>
                <a:sym typeface="Roboto Mono"/>
              </a:rPr>
              <a:t>"输入的文本内容"</a:t>
            </a:r>
            <a:r>
              <a:rPr lang="en-US" sz="14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en-US" sz="1400" b="0" i="0" u="none" strike="noStrike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model=</a:t>
            </a:r>
            <a:r>
              <a:rPr lang="en-US" sz="1400" b="0" i="0" u="none" strike="noStrike">
                <a:solidFill>
                  <a:srgbClr val="E65100"/>
                </a:solidFill>
                <a:latin typeface="Roboto Mono"/>
                <a:ea typeface="Roboto Mono"/>
                <a:cs typeface="Roboto Mono"/>
                <a:sym typeface="Roboto Mono"/>
              </a:rPr>
              <a:t>"text-embedding-ada-002"</a:t>
            </a:r>
            <a:endParaRPr lang="en-US" sz="1400" b="0" i="0" u="none" strike="noStrike">
              <a:solidFill>
                <a:srgbClr val="E651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1400" b="0" i="0" u="none" strike="noStrike">
              <a:solidFill>
                <a:srgbClr val="21212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使用ChatGPT生成Embedding (3)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2184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代码实现：提取向量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549">
            <a:off x="1016009" y="2597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30500"/>
            <a:ext cx="4572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从API响应中解析结果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embedding = response.data[0].embedding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print(f"向量长度: {len(embedding)}")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print(f"前5个值: {embedding[:5]}")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2032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222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2184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运行结果：向量详情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549">
            <a:off x="6604009" y="2597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604000" y="2730500"/>
            <a:ext cx="4572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生成的Embedding向量长度:</a:t>
            </a: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1536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Embedding向量前5个值: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[-0.01081, -0.00348, 0.00163, -0.02852, 0.00929]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OpenAI新嵌入模型介绍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3368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311400"/>
            <a:ext cx="4013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text-embedding-3-small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766">
            <a:off x="1066809" y="28384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30988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073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34036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性能更强，价格极具竞争力，比ada-002便宜5倍，是性价比首选。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800" y="42926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42672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97000" y="45974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适用于对性能要求不是极致，追求高性价比的通用场景。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032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54800" y="2336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62800" y="2311400"/>
            <a:ext cx="4013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text-embedding-3-large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766">
            <a:off x="6654809" y="28384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4800" y="30988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3073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985000" y="34036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性能最佳，在多项基准测试中得分显著提升，提供最高精度的语义理解。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54800" y="42926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42672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85000" y="45974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适用于对语义理解精度要求极高，需要最准确结果的专业场景。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4.3.2 使用text2vec生成Embedding (1)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工具简介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开源的文本向量化工具库，集成了Word2Vec、BERT、Sentence-BERT等多种主流模型，适合NLP任务。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2032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730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提供统一的调用接口，能够高效生成词、句子及段落的Embedding向量，屏蔽了底层模型的复杂性。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72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57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主要优势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01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完全开源免费，支持本地化部署以保障数据隐私，并且对中文模型有良好的支持和优化。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31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572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57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快速安装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01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使用pip命令即可一键安装，简单快捷：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pip install -U text2vec</a:t>
            </a:r>
            <a:endParaRPr lang="en-US" sz="1400" b="1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使用text2vec生成Embedding (2)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10668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2184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代码示例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2597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30500"/>
            <a:ext cx="10160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加载预训练模型（支持多种模型，如BERT, Word2Vec）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text2vec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SentenceModel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model = SentenceModel(</a:t>
            </a:r>
            <a:r>
              <a:rPr lang="en-US" sz="1400" b="0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'shibing624/text2vec-base-chinese'</a:t>
            </a: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# 生成句子Embedding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sentences = [</a:t>
            </a:r>
            <a:r>
              <a:rPr lang="en-US" sz="1400" b="0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"机器学习推动人工智能发展"</a:t>
            </a: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sz="1400" b="0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"深度学习让AI更强大"</a:t>
            </a: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embeddings = model.encode(sentences)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print(f</a:t>
            </a:r>
            <a:r>
              <a:rPr lang="en-US" sz="1400" b="0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"Embedding向量形状: {embeddings.shape}"</a:t>
            </a:r>
            <a:r>
              <a:rPr lang="en-US" sz="14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0" i="0" u="none" strike="noStrike">
              <a:solidFill>
                <a:srgbClr val="21212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4.4 Embedding的应用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295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探索Embedding在实际场景中的应用案例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Embedding应用场景概述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文本相似度计算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比较两篇文章或两个句子的语义相似性，量化文本间的关联程度。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2032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文本分类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7305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将Embedding作为特征输入模型，广泛应用于情感分析、主题分类等任务。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2032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信息检索 (RAG)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7305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文档库向量化存储，通过查询向量进行相似度匹配，实现精准检索。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572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57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聚类分析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0165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将相似的文本自动聚合在一起，帮助发现潜在的主题或用户群体。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0" y="4318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4572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207000" y="457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推荐系统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99000" y="50165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基于用户和物品的Embedding计算相似度，实现个性化的精准推荐。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应用案例：文本相似度计算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86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计算方法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5626">
            <a:off x="1016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9845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通过计算两个文本Embedding向量之间的余弦相似度（Cosine Similarity）来衡量语义距离。</a:t>
            </a:r>
            <a:endParaRPr lang="en-US" sz="1100"/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数值越接近1，表明文本语义越相似。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286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应用示例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5626">
            <a:off x="4699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99000" y="29845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句子A："今天天气很好，适合出去游玩。"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句子B："今日阳光明媚，非常适合户外活动。"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计算结果：0.92（高度相似）</a:t>
            </a:r>
            <a:endParaRPr lang="en-US" sz="1400" b="1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2286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8382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382000" y="29845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文章查重与去重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智能问答系统匹配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语义搜索引擎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推荐系统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应用案例：信息检索 (RAG)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286000"/>
            <a:ext cx="1905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0500" y="2540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317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1. 文档预处理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3619500"/>
            <a:ext cx="165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将文档库中的文档进行分割、清洗，为后续处理做准备。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0500" y="355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098800" y="2286000"/>
            <a:ext cx="1905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97300" y="2540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225800" y="317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2. 文档向量化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225800" y="3619500"/>
            <a:ext cx="165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使用Embedding模型将文档片段转换为向量，存入向量数据库。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7300" y="3556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435600" y="2286000"/>
            <a:ext cx="1905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34100" y="2540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62600" y="317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 查询处理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562600" y="3619500"/>
            <a:ext cx="165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将用户的查询文本同样转换为Embedding向量。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04100" y="3556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772400" y="2286000"/>
            <a:ext cx="1905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70900" y="2540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899400" y="317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 相似度匹配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899400" y="3619500"/>
            <a:ext cx="165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在向量数据库中检索与查询向量最相似的文档片段。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0900" y="3556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0109200" y="2286000"/>
            <a:ext cx="1905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rgbClr val="E6CFCF">
                <a:alpha val="9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07700" y="2540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0236200" y="3175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5. 生成回答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236200" y="3619500"/>
            <a:ext cx="165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将检索到的文档作为上下文，输入大模型生成最终回答。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应用案例：文本分类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86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核心方法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5626">
            <a:off x="1016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921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将文本的Embedding向量作为特征，输入到传统的机器学习模型（如SVM、逻辑回归）或神经网络中进行训练和分类。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286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应用示例：情感分析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5626">
            <a:off x="4699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99000" y="2921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"这部电影太棒了，强烈推荐！"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处理：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生成对应的Embedding向量表示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分类模型判断为“正面”情感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2286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典型应用场景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8382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382000" y="2921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垃圾邮件识别与过滤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新闻主题自动分类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用户评论情感分析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社交媒体舆情监测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本章总结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词袋模型 (Bag of Words)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基础的文本向量化方法，简单直观但无法捕捉语义信息，将文本视为无序的词汇集合。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2032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词向量模型 (Word Embedding)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730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One-Hot编码：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映射为独热向量，存在维度灾难问题。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Word2Vec：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生成低维稠密向量，有效捕捉词间语义关联。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72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57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Embedding 生成技术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01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API调用：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使用OpenAI API (如text-embedding-ada-002)生成高质量Embedding。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开源工具：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使用text2vec等开源库在本地私有化部署生成。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31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572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57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Embedding 核心应用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01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广泛应用于文本相似度计算、信息检索(RAG)、文本分类、聚类分析以及推荐系统等领域。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2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30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4184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444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词嵌入技术教学课件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7884</Words>
  <Application>WPS 演示</Application>
  <PresentationFormat/>
  <Paragraphs>599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52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Roboto Mono</vt:lpstr>
      <vt:lpstr>Noto Sans SC</vt:lpstr>
      <vt:lpstr>Roboto Mono</vt:lpstr>
      <vt:lpstr>苹方-简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Soyoger</cp:lastModifiedBy>
  <cp:revision>1</cp:revision>
  <dcterms:created xsi:type="dcterms:W3CDTF">2026-03-10T15:45:41Z</dcterms:created>
  <dcterms:modified xsi:type="dcterms:W3CDTF">2026-03-10T15:45:41Z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E0B18C53C569FA64A53CB069BADB309D_42</vt:lpwstr>
  </property>
  <property fmtid="{D5CDD505-2E9C-101B-9397-08002B2CF9AE}" pid="3" name="KSOProductBuildVer">
    <vt:lpwstr>2052-7.2.1.8947</vt:lpwstr>
  </property>
</Properties>
</file>